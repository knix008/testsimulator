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3"/>
  </p:notesMasterIdLst>
  <p:sldIdLst>
    <p:sldId id="256" r:id="rId2"/>
    <p:sldId id="776" r:id="rId3"/>
    <p:sldId id="1195" r:id="rId4"/>
    <p:sldId id="1196" r:id="rId5"/>
    <p:sldId id="1197" r:id="rId6"/>
    <p:sldId id="1198" r:id="rId7"/>
    <p:sldId id="1199" r:id="rId8"/>
    <p:sldId id="1200" r:id="rId9"/>
    <p:sldId id="1201" r:id="rId10"/>
    <p:sldId id="1202" r:id="rId11"/>
    <p:sldId id="1203" r:id="rId12"/>
    <p:sldId id="1204" r:id="rId13"/>
    <p:sldId id="1205" r:id="rId14"/>
    <p:sldId id="1206" r:id="rId15"/>
    <p:sldId id="1207" r:id="rId16"/>
    <p:sldId id="1208" r:id="rId17"/>
    <p:sldId id="1209" r:id="rId18"/>
    <p:sldId id="1218" r:id="rId19"/>
    <p:sldId id="1210" r:id="rId20"/>
    <p:sldId id="1211" r:id="rId21"/>
    <p:sldId id="1212" r:id="rId22"/>
    <p:sldId id="1213" r:id="rId23"/>
    <p:sldId id="1214" r:id="rId24"/>
    <p:sldId id="1215" r:id="rId25"/>
    <p:sldId id="1216" r:id="rId26"/>
    <p:sldId id="1217" r:id="rId27"/>
    <p:sldId id="1219" r:id="rId28"/>
    <p:sldId id="1220" r:id="rId29"/>
    <p:sldId id="1221" r:id="rId30"/>
    <p:sldId id="1222" r:id="rId31"/>
    <p:sldId id="1223" r:id="rId32"/>
    <p:sldId id="1224" r:id="rId33"/>
    <p:sldId id="1225" r:id="rId34"/>
    <p:sldId id="1226" r:id="rId35"/>
    <p:sldId id="1227" r:id="rId36"/>
    <p:sldId id="1228" r:id="rId37"/>
    <p:sldId id="1229" r:id="rId38"/>
    <p:sldId id="1230" r:id="rId39"/>
    <p:sldId id="1231" r:id="rId40"/>
    <p:sldId id="1232" r:id="rId41"/>
    <p:sldId id="1233" r:id="rId42"/>
    <p:sldId id="1234" r:id="rId43"/>
    <p:sldId id="1235" r:id="rId44"/>
    <p:sldId id="1236" r:id="rId45"/>
    <p:sldId id="1237" r:id="rId46"/>
    <p:sldId id="1238" r:id="rId47"/>
    <p:sldId id="1239" r:id="rId48"/>
    <p:sldId id="1240" r:id="rId49"/>
    <p:sldId id="1241" r:id="rId50"/>
    <p:sldId id="1242" r:id="rId51"/>
    <p:sldId id="1243" r:id="rId52"/>
    <p:sldId id="1244" r:id="rId53"/>
    <p:sldId id="1245" r:id="rId54"/>
    <p:sldId id="1246" r:id="rId55"/>
    <p:sldId id="1247" r:id="rId56"/>
    <p:sldId id="1248" r:id="rId57"/>
    <p:sldId id="1249" r:id="rId58"/>
    <p:sldId id="1250" r:id="rId59"/>
    <p:sldId id="1251" r:id="rId60"/>
    <p:sldId id="1252" r:id="rId61"/>
    <p:sldId id="1253" r:id="rId62"/>
    <p:sldId id="1254" r:id="rId63"/>
    <p:sldId id="1256" r:id="rId64"/>
    <p:sldId id="1255" r:id="rId65"/>
    <p:sldId id="1261" r:id="rId66"/>
    <p:sldId id="1257" r:id="rId67"/>
    <p:sldId id="1258" r:id="rId68"/>
    <p:sldId id="1259" r:id="rId69"/>
    <p:sldId id="1260" r:id="rId70"/>
    <p:sldId id="1263" r:id="rId71"/>
    <p:sldId id="1262" r:id="rId72"/>
    <p:sldId id="1264" r:id="rId73"/>
    <p:sldId id="1265" r:id="rId74"/>
    <p:sldId id="1266" r:id="rId75"/>
    <p:sldId id="1267" r:id="rId76"/>
    <p:sldId id="1268" r:id="rId77"/>
    <p:sldId id="1269" r:id="rId78"/>
    <p:sldId id="1270" r:id="rId79"/>
    <p:sldId id="1271" r:id="rId80"/>
    <p:sldId id="1272" r:id="rId81"/>
    <p:sldId id="1273" r:id="rId82"/>
    <p:sldId id="1274" r:id="rId83"/>
    <p:sldId id="1275" r:id="rId84"/>
    <p:sldId id="1276" r:id="rId85"/>
    <p:sldId id="1277" r:id="rId86"/>
    <p:sldId id="1278" r:id="rId87"/>
    <p:sldId id="1279" r:id="rId88"/>
    <p:sldId id="1292" r:id="rId89"/>
    <p:sldId id="1280" r:id="rId90"/>
    <p:sldId id="1281" r:id="rId91"/>
    <p:sldId id="1282" r:id="rId92"/>
    <p:sldId id="1283" r:id="rId93"/>
    <p:sldId id="1284" r:id="rId94"/>
    <p:sldId id="1285" r:id="rId95"/>
    <p:sldId id="1286" r:id="rId96"/>
    <p:sldId id="1287" r:id="rId97"/>
    <p:sldId id="1288" r:id="rId98"/>
    <p:sldId id="1289" r:id="rId99"/>
    <p:sldId id="1291" r:id="rId100"/>
    <p:sldId id="1290" r:id="rId101"/>
    <p:sldId id="1293" r:id="rId102"/>
    <p:sldId id="1294" r:id="rId103"/>
    <p:sldId id="1295" r:id="rId104"/>
    <p:sldId id="1296" r:id="rId105"/>
    <p:sldId id="1297" r:id="rId106"/>
    <p:sldId id="1298" r:id="rId107"/>
    <p:sldId id="1299" r:id="rId108"/>
    <p:sldId id="1300" r:id="rId109"/>
    <p:sldId id="1301" r:id="rId110"/>
    <p:sldId id="1302" r:id="rId111"/>
    <p:sldId id="1303" r:id="rId112"/>
    <p:sldId id="1304" r:id="rId113"/>
    <p:sldId id="1305" r:id="rId114"/>
    <p:sldId id="1306" r:id="rId115"/>
    <p:sldId id="1307" r:id="rId116"/>
    <p:sldId id="1308" r:id="rId117"/>
    <p:sldId id="1309" r:id="rId118"/>
    <p:sldId id="1310" r:id="rId119"/>
    <p:sldId id="1311" r:id="rId120"/>
    <p:sldId id="281" r:id="rId121"/>
    <p:sldId id="259" r:id="rId12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빅터 (권수호)" initials="빅(" lastIdx="1" clrIdx="0">
    <p:extLst>
      <p:ext uri="{19B8F6BF-5375-455C-9EA6-DF929625EA0E}">
        <p15:presenceInfo xmlns:p15="http://schemas.microsoft.com/office/powerpoint/2012/main" userId="S-1-5-21-736389252-3530206494-3470180472-10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보통 스타일 2 - 강조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7" autoAdjust="0"/>
    <p:restoredTop sz="94660"/>
  </p:normalViewPr>
  <p:slideViewPr>
    <p:cSldViewPr snapToGrid="0">
      <p:cViewPr varScale="1">
        <p:scale>
          <a:sx n="141" d="100"/>
          <a:sy n="141" d="100"/>
        </p:scale>
        <p:origin x="120" y="3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EF9866-EDA7-412E-9943-EC1619E1B9B3}" type="datetimeFigureOut">
              <a:rPr lang="ko-KR" altLang="en-US" smtClean="0"/>
              <a:t>2026-08-20</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B7BD4D-98D7-4ECB-9666-1F944AD0DB97}" type="slidenum">
              <a:rPr lang="ko-KR" altLang="en-US" smtClean="0"/>
              <a:t>‹#›</a:t>
            </a:fld>
            <a:endParaRPr lang="ko-KR" altLang="en-US"/>
          </a:p>
        </p:txBody>
      </p:sp>
    </p:spTree>
    <p:extLst>
      <p:ext uri="{BB962C8B-B14F-4D97-AF65-F5344CB8AC3E}">
        <p14:creationId xmlns:p14="http://schemas.microsoft.com/office/powerpoint/2010/main" val="302718788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23893C-0324-4581-89FE-8A8E43B5E0DB}"/>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D1BF58F6-155A-4478-ADFD-FD3F7A2DC0E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B7BB740-692B-4FA6-BCDC-10D5D007026F}"/>
              </a:ext>
            </a:extLst>
          </p:cNvPr>
          <p:cNvSpPr>
            <a:spLocks noGrp="1"/>
          </p:cNvSpPr>
          <p:nvPr>
            <p:ph type="dt" sz="half" idx="10"/>
          </p:nvPr>
        </p:nvSpPr>
        <p:spPr/>
        <p:txBody>
          <a:bodyPr/>
          <a:lstStyle/>
          <a:p>
            <a:fld id="{7007662A-90A0-422F-86C7-28633F226238}"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4FE33567-1257-4493-B1DD-3F9C1910B965}"/>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74C17BC-E7B6-4C2E-9DE5-9AF1C51D307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389213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1574505-BAB9-46BA-B586-7AAAC888621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AC3A8096-0680-4B11-9CB2-4FED24895F89}"/>
              </a:ext>
            </a:extLst>
          </p:cNvPr>
          <p:cNvSpPr>
            <a:spLocks noGrp="1"/>
          </p:cNvSpPr>
          <p:nvPr>
            <p:ph idx="1"/>
          </p:nvPr>
        </p:nvSpPr>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D0A38AB-D330-49F0-BCCB-4AE64421E11E}"/>
              </a:ext>
            </a:extLst>
          </p:cNvPr>
          <p:cNvSpPr>
            <a:spLocks noGrp="1"/>
          </p:cNvSpPr>
          <p:nvPr>
            <p:ph type="dt" sz="half" idx="10"/>
          </p:nvPr>
        </p:nvSpPr>
        <p:spPr/>
        <p:txBody>
          <a:bodyPr/>
          <a:lstStyle/>
          <a:p>
            <a:fld id="{8864E73B-4F23-434A-A6D7-88271ACC49EC}"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3E8BC20B-0BDE-4AE7-ACF6-D32838B0BFA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DFC554E-AD93-49DB-9B26-67885CECBED7}"/>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60301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59D1DDC-6D57-4F54-B622-9E7ACF8A16B6}"/>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3903737D-6531-49D0-AF79-0B66DE735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 편집</a:t>
            </a:r>
          </a:p>
        </p:txBody>
      </p:sp>
      <p:sp>
        <p:nvSpPr>
          <p:cNvPr id="4" name="날짜 개체 틀 3">
            <a:extLst>
              <a:ext uri="{FF2B5EF4-FFF2-40B4-BE49-F238E27FC236}">
                <a16:creationId xmlns:a16="http://schemas.microsoft.com/office/drawing/2014/main" id="{FE4F4B43-5C46-47D5-918D-ECE0BB87A4E1}"/>
              </a:ext>
            </a:extLst>
          </p:cNvPr>
          <p:cNvSpPr>
            <a:spLocks noGrp="1"/>
          </p:cNvSpPr>
          <p:nvPr>
            <p:ph type="dt" sz="half" idx="10"/>
          </p:nvPr>
        </p:nvSpPr>
        <p:spPr/>
        <p:txBody>
          <a:bodyPr/>
          <a:lstStyle/>
          <a:p>
            <a:fld id="{AF92D8FD-6369-45D3-BF1E-CE092B602C81}"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C11458F6-83EA-4BBC-BAA1-4838180AF15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9BE8959-73C5-4BEE-AADB-B0A1635CE81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9134325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9DC2E9C-31ED-40DF-AFA0-C1EB825022ED}"/>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0C6A1E6D-6737-45A3-839F-1AE39AB88B2A}"/>
              </a:ext>
            </a:extLst>
          </p:cNvPr>
          <p:cNvSpPr>
            <a:spLocks noGrp="1"/>
          </p:cNvSpPr>
          <p:nvPr>
            <p:ph sz="half" idx="1"/>
          </p:nvPr>
        </p:nvSpPr>
        <p:spPr>
          <a:xfrm>
            <a:off x="838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a:extLst>
              <a:ext uri="{FF2B5EF4-FFF2-40B4-BE49-F238E27FC236}">
                <a16:creationId xmlns:a16="http://schemas.microsoft.com/office/drawing/2014/main" id="{411C17ED-85A1-47AD-8EBE-FDF4912BCF5F}"/>
              </a:ext>
            </a:extLst>
          </p:cNvPr>
          <p:cNvSpPr>
            <a:spLocks noGrp="1"/>
          </p:cNvSpPr>
          <p:nvPr>
            <p:ph sz="half" idx="2"/>
          </p:nvPr>
        </p:nvSpPr>
        <p:spPr>
          <a:xfrm>
            <a:off x="6172200" y="1825625"/>
            <a:ext cx="5181600" cy="435133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a:extLst>
              <a:ext uri="{FF2B5EF4-FFF2-40B4-BE49-F238E27FC236}">
                <a16:creationId xmlns:a16="http://schemas.microsoft.com/office/drawing/2014/main" id="{F98E7E8F-808B-43FF-AE3F-12A63339EE61}"/>
              </a:ext>
            </a:extLst>
          </p:cNvPr>
          <p:cNvSpPr>
            <a:spLocks noGrp="1"/>
          </p:cNvSpPr>
          <p:nvPr>
            <p:ph type="dt" sz="half" idx="10"/>
          </p:nvPr>
        </p:nvSpPr>
        <p:spPr/>
        <p:txBody>
          <a:bodyPr/>
          <a:lstStyle/>
          <a:p>
            <a:fld id="{0E884664-AC38-4616-AC26-A81EB70F9B6D}" type="datetime1">
              <a:rPr lang="ko-KR" altLang="en-US" smtClean="0"/>
              <a:t>2026-08-20</a:t>
            </a:fld>
            <a:endParaRPr lang="ko-KR" altLang="en-US"/>
          </a:p>
        </p:txBody>
      </p:sp>
      <p:sp>
        <p:nvSpPr>
          <p:cNvPr id="6" name="바닥글 개체 틀 5">
            <a:extLst>
              <a:ext uri="{FF2B5EF4-FFF2-40B4-BE49-F238E27FC236}">
                <a16:creationId xmlns:a16="http://schemas.microsoft.com/office/drawing/2014/main" id="{A9F181D1-16BF-4533-9146-09F9D6109AD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28688F8-916E-4F95-B2E7-17805EB8B7BE}"/>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139204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A918287-3231-4D9B-9ABC-1B58425DADC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6683157-2E3D-4C8A-84BE-39CAE31B2B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4" name="내용 개체 틀 3">
            <a:extLst>
              <a:ext uri="{FF2B5EF4-FFF2-40B4-BE49-F238E27FC236}">
                <a16:creationId xmlns:a16="http://schemas.microsoft.com/office/drawing/2014/main" id="{EC6FB253-0AA5-4EA5-B266-11F099E92112}"/>
              </a:ext>
            </a:extLst>
          </p:cNvPr>
          <p:cNvSpPr>
            <a:spLocks noGrp="1"/>
          </p:cNvSpPr>
          <p:nvPr>
            <p:ph sz="half" idx="2"/>
          </p:nvPr>
        </p:nvSpPr>
        <p:spPr>
          <a:xfrm>
            <a:off x="839788" y="2505075"/>
            <a:ext cx="5157787"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a:extLst>
              <a:ext uri="{FF2B5EF4-FFF2-40B4-BE49-F238E27FC236}">
                <a16:creationId xmlns:a16="http://schemas.microsoft.com/office/drawing/2014/main" id="{57908119-FD1B-4C5C-ABF4-116C417905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 편집</a:t>
            </a:r>
          </a:p>
        </p:txBody>
      </p:sp>
      <p:sp>
        <p:nvSpPr>
          <p:cNvPr id="6" name="내용 개체 틀 5">
            <a:extLst>
              <a:ext uri="{FF2B5EF4-FFF2-40B4-BE49-F238E27FC236}">
                <a16:creationId xmlns:a16="http://schemas.microsoft.com/office/drawing/2014/main" id="{A850826E-D850-4072-8B69-E26ACBC45485}"/>
              </a:ext>
            </a:extLst>
          </p:cNvPr>
          <p:cNvSpPr>
            <a:spLocks noGrp="1"/>
          </p:cNvSpPr>
          <p:nvPr>
            <p:ph sz="quarter" idx="4"/>
          </p:nvPr>
        </p:nvSpPr>
        <p:spPr>
          <a:xfrm>
            <a:off x="6172200" y="2505075"/>
            <a:ext cx="5183188" cy="3684588"/>
          </a:xfrm>
        </p:spPr>
        <p:txBody>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a:extLst>
              <a:ext uri="{FF2B5EF4-FFF2-40B4-BE49-F238E27FC236}">
                <a16:creationId xmlns:a16="http://schemas.microsoft.com/office/drawing/2014/main" id="{DBF33CD5-555A-4699-A10A-A4FA0409B703}"/>
              </a:ext>
            </a:extLst>
          </p:cNvPr>
          <p:cNvSpPr>
            <a:spLocks noGrp="1"/>
          </p:cNvSpPr>
          <p:nvPr>
            <p:ph type="dt" sz="half" idx="10"/>
          </p:nvPr>
        </p:nvSpPr>
        <p:spPr/>
        <p:txBody>
          <a:bodyPr/>
          <a:lstStyle/>
          <a:p>
            <a:fld id="{D5BB2583-C2D6-4752-93FB-A3B1CCF51AD7}" type="datetime1">
              <a:rPr lang="ko-KR" altLang="en-US" smtClean="0"/>
              <a:t>2026-08-20</a:t>
            </a:fld>
            <a:endParaRPr lang="ko-KR" altLang="en-US"/>
          </a:p>
        </p:txBody>
      </p:sp>
      <p:sp>
        <p:nvSpPr>
          <p:cNvPr id="8" name="바닥글 개체 틀 7">
            <a:extLst>
              <a:ext uri="{FF2B5EF4-FFF2-40B4-BE49-F238E27FC236}">
                <a16:creationId xmlns:a16="http://schemas.microsoft.com/office/drawing/2014/main" id="{9F14D1C8-FC60-4333-ACBB-5ED9C6E1B4E8}"/>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D62093B3-31F5-4892-B533-DC0CA92487D2}"/>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354510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D4FA2BF-534C-44BE-B413-E10AC7FB3513}"/>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44BFA3A-F774-4B7B-8D63-9FDD27B5F136}"/>
              </a:ext>
            </a:extLst>
          </p:cNvPr>
          <p:cNvSpPr>
            <a:spLocks noGrp="1"/>
          </p:cNvSpPr>
          <p:nvPr>
            <p:ph type="dt" sz="half" idx="10"/>
          </p:nvPr>
        </p:nvSpPr>
        <p:spPr/>
        <p:txBody>
          <a:bodyPr/>
          <a:lstStyle/>
          <a:p>
            <a:fld id="{AE591029-0B61-42E7-89A5-1452CC1CC685}" type="datetime1">
              <a:rPr lang="ko-KR" altLang="en-US" smtClean="0"/>
              <a:t>2026-08-20</a:t>
            </a:fld>
            <a:endParaRPr lang="ko-KR" altLang="en-US"/>
          </a:p>
        </p:txBody>
      </p:sp>
      <p:sp>
        <p:nvSpPr>
          <p:cNvPr id="4" name="바닥글 개체 틀 3">
            <a:extLst>
              <a:ext uri="{FF2B5EF4-FFF2-40B4-BE49-F238E27FC236}">
                <a16:creationId xmlns:a16="http://schemas.microsoft.com/office/drawing/2014/main" id="{61C7E7F0-2A3E-4C49-89F0-5D08295F83FC}"/>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6E1E947A-3885-4B82-BA3E-5254653FD596}"/>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460241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7A6FA01D-C650-430A-81EB-396EE011080B}"/>
              </a:ext>
            </a:extLst>
          </p:cNvPr>
          <p:cNvSpPr>
            <a:spLocks noGrp="1"/>
          </p:cNvSpPr>
          <p:nvPr>
            <p:ph type="dt" sz="half" idx="10"/>
          </p:nvPr>
        </p:nvSpPr>
        <p:spPr/>
        <p:txBody>
          <a:bodyPr/>
          <a:lstStyle/>
          <a:p>
            <a:fld id="{946CEB9F-05DB-43E1-892D-90A459D7CCD8}" type="datetime1">
              <a:rPr lang="ko-KR" altLang="en-US" smtClean="0"/>
              <a:t>2026-08-20</a:t>
            </a:fld>
            <a:endParaRPr lang="ko-KR" altLang="en-US"/>
          </a:p>
        </p:txBody>
      </p:sp>
      <p:sp>
        <p:nvSpPr>
          <p:cNvPr id="3" name="바닥글 개체 틀 2">
            <a:extLst>
              <a:ext uri="{FF2B5EF4-FFF2-40B4-BE49-F238E27FC236}">
                <a16:creationId xmlns:a16="http://schemas.microsoft.com/office/drawing/2014/main" id="{C6FB156C-D5FE-42A1-9B0A-D1ED6713F22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1B0973E2-E7B1-4050-85F8-604E107FB9F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6011745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FC49C6F-546E-4387-9D44-0F5381B7FEC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A40AB43D-2905-4CBE-9713-99F290A222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a:extLst>
              <a:ext uri="{FF2B5EF4-FFF2-40B4-BE49-F238E27FC236}">
                <a16:creationId xmlns:a16="http://schemas.microsoft.com/office/drawing/2014/main" id="{4E2BBF02-5C89-4C7F-9590-6454B28FD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B3A3E073-3EF4-4892-AC9C-5A6D183D73E7}"/>
              </a:ext>
            </a:extLst>
          </p:cNvPr>
          <p:cNvSpPr>
            <a:spLocks noGrp="1"/>
          </p:cNvSpPr>
          <p:nvPr>
            <p:ph type="dt" sz="half" idx="10"/>
          </p:nvPr>
        </p:nvSpPr>
        <p:spPr/>
        <p:txBody>
          <a:bodyPr/>
          <a:lstStyle/>
          <a:p>
            <a:fld id="{CECC215A-7973-470B-84A4-F5AF132B8AAF}" type="datetime1">
              <a:rPr lang="ko-KR" altLang="en-US" smtClean="0"/>
              <a:t>2026-08-20</a:t>
            </a:fld>
            <a:endParaRPr lang="ko-KR" altLang="en-US"/>
          </a:p>
        </p:txBody>
      </p:sp>
      <p:sp>
        <p:nvSpPr>
          <p:cNvPr id="6" name="바닥글 개체 틀 5">
            <a:extLst>
              <a:ext uri="{FF2B5EF4-FFF2-40B4-BE49-F238E27FC236}">
                <a16:creationId xmlns:a16="http://schemas.microsoft.com/office/drawing/2014/main" id="{1FA8C830-C0D2-4E34-984D-BFD62710C34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4AE579A-FA23-47BF-A4BA-55EC39640F3C}"/>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1982435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2233AAD-A233-4461-B600-ECA6C77849B3}"/>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4849EC07-44FD-4C4A-9314-3224DF7BA6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305A6D9C-B6D2-4BFA-A079-7D5C12CCF7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 편집</a:t>
            </a:r>
          </a:p>
        </p:txBody>
      </p:sp>
      <p:sp>
        <p:nvSpPr>
          <p:cNvPr id="5" name="날짜 개체 틀 4">
            <a:extLst>
              <a:ext uri="{FF2B5EF4-FFF2-40B4-BE49-F238E27FC236}">
                <a16:creationId xmlns:a16="http://schemas.microsoft.com/office/drawing/2014/main" id="{2CF08306-C9C4-4CE5-8E7B-5E04932FFF5C}"/>
              </a:ext>
            </a:extLst>
          </p:cNvPr>
          <p:cNvSpPr>
            <a:spLocks noGrp="1"/>
          </p:cNvSpPr>
          <p:nvPr>
            <p:ph type="dt" sz="half" idx="10"/>
          </p:nvPr>
        </p:nvSpPr>
        <p:spPr/>
        <p:txBody>
          <a:bodyPr/>
          <a:lstStyle/>
          <a:p>
            <a:fld id="{6F2C50B2-507C-4DE6-835C-CC74E109F16E}" type="datetime1">
              <a:rPr lang="ko-KR" altLang="en-US" smtClean="0"/>
              <a:t>2026-08-20</a:t>
            </a:fld>
            <a:endParaRPr lang="ko-KR" altLang="en-US"/>
          </a:p>
        </p:txBody>
      </p:sp>
      <p:sp>
        <p:nvSpPr>
          <p:cNvPr id="6" name="바닥글 개체 틀 5">
            <a:extLst>
              <a:ext uri="{FF2B5EF4-FFF2-40B4-BE49-F238E27FC236}">
                <a16:creationId xmlns:a16="http://schemas.microsoft.com/office/drawing/2014/main" id="{22B10644-0531-497F-B2C0-377780F41979}"/>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99BEEBFB-DA63-4048-A6CA-C1E1EF828368}"/>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42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CBC8EC7-6E11-4403-BD26-ECBF190F4B4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41DD3C11-4CF8-4044-BAF1-B13CDFF8EEC5}"/>
              </a:ext>
            </a:extLst>
          </p:cNvPr>
          <p:cNvSpPr>
            <a:spLocks noGrp="1"/>
          </p:cNvSpPr>
          <p:nvPr>
            <p:ph type="body" orient="vert" idx="1"/>
          </p:nvPr>
        </p:nvSpPr>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83BC4E7-66FB-40C1-8FCD-5D5E3897EEE9}"/>
              </a:ext>
            </a:extLst>
          </p:cNvPr>
          <p:cNvSpPr>
            <a:spLocks noGrp="1"/>
          </p:cNvSpPr>
          <p:nvPr>
            <p:ph type="dt" sz="half" idx="10"/>
          </p:nvPr>
        </p:nvSpPr>
        <p:spPr/>
        <p:txBody>
          <a:bodyPr/>
          <a:lstStyle/>
          <a:p>
            <a:fld id="{B9D71F2C-84F6-42CA-BB66-E87B622B6B79}"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2707E1BA-7287-48B0-845A-3B6A12C669B6}"/>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D2CF8AD-9CD0-445E-859E-05D7DCB80CC1}"/>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2351141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BA2AAEFD-B44D-4155-9045-4229A5D65009}"/>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3553818F-4461-41C0-996E-171B2484FB42}"/>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1C01757-6CD8-4F39-8D5A-496ED6954279}"/>
              </a:ext>
            </a:extLst>
          </p:cNvPr>
          <p:cNvSpPr>
            <a:spLocks noGrp="1"/>
          </p:cNvSpPr>
          <p:nvPr>
            <p:ph type="dt" sz="half" idx="10"/>
          </p:nvPr>
        </p:nvSpPr>
        <p:spPr/>
        <p:txBody>
          <a:bodyPr/>
          <a:lstStyle/>
          <a:p>
            <a:fld id="{8686B409-5BD5-456C-AF48-4FD374032583}"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6FBAE857-085C-477D-AD27-8CA53DCEE75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7CF7504C-26BC-48B7-8DF3-12010D3DB49D}"/>
              </a:ext>
            </a:extLst>
          </p:cNvPr>
          <p:cNvSpPr>
            <a:spLocks noGrp="1"/>
          </p:cNvSpPr>
          <p:nvPr>
            <p:ph type="sldNum" sz="quarter" idx="12"/>
          </p:nvPr>
        </p:nvSpPr>
        <p:spPr/>
        <p:txBody>
          <a:body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287846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8D87DD47-3055-4794-9EC4-443F56DA11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A8D58F93-79C2-4CFD-A3A1-BA00A0F188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40137D3-CE03-437A-B22E-E71309174D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3538FB-B8FC-4171-87E6-7B07A54FA9FA}" type="datetime1">
              <a:rPr lang="ko-KR" altLang="en-US" smtClean="0"/>
              <a:t>2026-08-20</a:t>
            </a:fld>
            <a:endParaRPr lang="ko-KR" altLang="en-US"/>
          </a:p>
        </p:txBody>
      </p:sp>
      <p:sp>
        <p:nvSpPr>
          <p:cNvPr id="5" name="바닥글 개체 틀 4">
            <a:extLst>
              <a:ext uri="{FF2B5EF4-FFF2-40B4-BE49-F238E27FC236}">
                <a16:creationId xmlns:a16="http://schemas.microsoft.com/office/drawing/2014/main" id="{CE63D692-A5AC-4625-ACF0-0DE38652C8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30B51C3C-2FF0-4757-A7D5-BD00847B2C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C98182-889D-4BA7-ABC9-29B15B402893}" type="slidenum">
              <a:rPr lang="ko-KR" altLang="en-US" smtClean="0"/>
              <a:t>‹#›</a:t>
            </a:fld>
            <a:endParaRPr lang="ko-KR" altLang="en-US"/>
          </a:p>
        </p:txBody>
      </p:sp>
    </p:spTree>
    <p:extLst>
      <p:ext uri="{BB962C8B-B14F-4D97-AF65-F5344CB8AC3E}">
        <p14:creationId xmlns:p14="http://schemas.microsoft.com/office/powerpoint/2010/main" val="36915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kubernetes.io/docs/tasks/tools/#using-zsh"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hyperlink" Target="https://plugins.jetbrains.com/plugin/10485-kubernetes" TargetMode="External"/><Relationship Id="rId7" Type="http://schemas.openxmlformats.org/officeDocument/2006/relationships/image" Target="../media/image11.png"/><Relationship Id="rId2" Type="http://schemas.openxmlformats.org/officeDocument/2006/relationships/hyperlink" Target="https://marketplace.visualstudio.com/items?itemName=ms-kubernetes-tools.vscode-kubernetes-tools"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hyperlink" Target="https://github.com/bitnami-labs/cabin" TargetMode="External"/><Relationship Id="rId4" Type="http://schemas.openxmlformats.org/officeDocument/2006/relationships/hyperlink" Target="https://marketplace.eclipse.org/content/ekube"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www.redhat.com/en/topics/containers/what-is-etcd"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52.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www.oreilly.com/library/view/site-reliability-engineering/9781491929117/"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3.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hyperlink" Target="https://kubernetes.io/docs/reference/generated/kubectl/kubectl-commands#scale" TargetMode="External"/><Relationship Id="rId2" Type="http://schemas.openxmlformats.org/officeDocument/2006/relationships/hyperlink" Target="https://kubernetes.io/docs/reference/generated/kubectl/kubectl-commands#create" TargetMode="Externa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7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emf"/><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77.emf"/><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emf"/><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hyperlink" Target="http://localhost:48858/" TargetMode="External"/><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9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92.emf"/><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hyperlink" Target="https://kubernetes.io/ko/docs/concepts/cluster-administration/manage-deployment/" TargetMode="Externa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hyperlink" Target="http://localhost:48858/" TargetMode="External"/><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101.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hyperlink" Target="https://phoenixnap.com/kb/ssh-to-connect-to-remote-server-linux-or-windows" TargetMode="External"/><Relationship Id="rId2" Type="http://schemas.openxmlformats.org/officeDocument/2006/relationships/hyperlink" Target="http://localhost:8080/" TargetMode="External"/><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105.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12.emf"/><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hyperlink" Target="http://localhost:48858/" TargetMode="Externa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hyperlink" Target="https://www.consul.io/" TargetMode="Externa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18.emf"/><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hyperlink" Target="https://www.oreilly.com/library/view/kubernetes-up-and/9781492046523/" TargetMode="External"/><Relationship Id="rId7" Type="http://schemas.openxmlformats.org/officeDocument/2006/relationships/image" Target="../media/image119.png"/><Relationship Id="rId2" Type="http://schemas.openxmlformats.org/officeDocument/2006/relationships/hyperlink" Target="https://github.com/kubernetes-up-and-running/kuard" TargetMode="External"/><Relationship Id="rId1" Type="http://schemas.openxmlformats.org/officeDocument/2006/relationships/slideLayout" Target="../slideLayouts/slideLayout2.xml"/><Relationship Id="rId6" Type="http://schemas.openxmlformats.org/officeDocument/2006/relationships/hyperlink" Target="https://kubernetes.io/ko/docs/concepts/cluster-administration/manage-deployment/" TargetMode="External"/><Relationship Id="rId5" Type="http://schemas.openxmlformats.org/officeDocument/2006/relationships/hyperlink" Target="https://medium.com/finda-tech/overview-8d169b2a54ff" TargetMode="External"/><Relationship Id="rId4" Type="http://schemas.openxmlformats.org/officeDocument/2006/relationships/hyperlink" Target="https://github.com/surfer190/fixes/blob/master/docs/kubernetes/kubernetes-up-and-running.md" TargetMode="External"/></Relationships>
</file>

<file path=ppt/slides/_rels/slide12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800" b="1" dirty="0"/>
              <a:t>Kubernetes</a:t>
            </a:r>
            <a:endParaRPr lang="ko-KR" altLang="en-US" sz="4800" b="1" dirty="0"/>
          </a:p>
        </p:txBody>
      </p:sp>
      <p:sp>
        <p:nvSpPr>
          <p:cNvPr id="3" name="부제목 2">
            <a:extLst>
              <a:ext uri="{FF2B5EF4-FFF2-40B4-BE49-F238E27FC236}">
                <a16:creationId xmlns:a16="http://schemas.microsoft.com/office/drawing/2014/main" id="{47AEB803-0A24-4323-A770-ED2D6F7EC46E}"/>
              </a:ext>
            </a:extLst>
          </p:cNvPr>
          <p:cNvSpPr>
            <a:spLocks noGrp="1"/>
          </p:cNvSpPr>
          <p:nvPr>
            <p:ph type="subTitle" idx="1"/>
          </p:nvPr>
        </p:nvSpPr>
        <p:spPr/>
        <p:txBody>
          <a:bodyPr>
            <a:normAutofit lnSpcReduction="10000"/>
          </a:bodyPr>
          <a:lstStyle/>
          <a:p>
            <a:r>
              <a:rPr lang="en-US" altLang="ko-KR" b="1" dirty="0"/>
              <a:t>Kubernetes Up &amp; Running</a:t>
            </a:r>
          </a:p>
          <a:p>
            <a:r>
              <a:rPr lang="en-US" altLang="ko-KR" b="1" dirty="0"/>
              <a:t>Part II</a:t>
            </a:r>
          </a:p>
          <a:p>
            <a:endParaRPr lang="en-US" altLang="ko-KR" b="1" dirty="0"/>
          </a:p>
          <a:p>
            <a:r>
              <a:rPr lang="en-US" altLang="ko-KR" sz="2000" b="1" dirty="0"/>
              <a:t>2026.08.25</a:t>
            </a:r>
          </a:p>
          <a:p>
            <a:endParaRPr lang="ko-KR" altLang="en-US" sz="1600"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9403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Common </a:t>
            </a:r>
            <a:r>
              <a:rPr lang="en-US" altLang="ko-KR" sz="4400" b="1" dirty="0" err="1"/>
              <a:t>Kubectl</a:t>
            </a:r>
            <a:r>
              <a:rPr lang="en-US" altLang="ko-KR" sz="4400" b="1" dirty="0"/>
              <a:t> Command</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966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Namespaces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Organizing Objects :</a:t>
            </a:r>
          </a:p>
          <a:p>
            <a:pPr lvl="1">
              <a:buFont typeface="Wingdings" panose="05000000000000000000" pitchFamily="2" charset="2"/>
              <a:buChar char="§"/>
            </a:pPr>
            <a:r>
              <a:rPr lang="en-US" altLang="ko-KR" sz="1400" b="1" dirty="0"/>
              <a:t>Kubernetes uses </a:t>
            </a:r>
            <a:r>
              <a:rPr lang="en-US" altLang="ko-KR" sz="1400" b="1" dirty="0">
                <a:solidFill>
                  <a:srgbClr val="FF0000"/>
                </a:solidFill>
              </a:rPr>
              <a:t>namespaces</a:t>
            </a:r>
            <a:r>
              <a:rPr lang="en-US" altLang="ko-KR" sz="1400" b="1" dirty="0"/>
              <a:t> to organize objects in the cluster</a:t>
            </a:r>
            <a:r>
              <a:rPr lang="en-US" altLang="ko-KR" sz="1400" dirty="0"/>
              <a:t>. You can think of each namespace as a folder that holds a set of objects. By default, the “</a:t>
            </a:r>
            <a:r>
              <a:rPr lang="en-US" altLang="ko-KR" sz="1400" b="1" dirty="0" err="1"/>
              <a:t>kubectl</a:t>
            </a:r>
            <a:r>
              <a:rPr lang="en-US" altLang="ko-KR" sz="1400" b="1" dirty="0"/>
              <a:t> command-line tool</a:t>
            </a:r>
            <a:r>
              <a:rPr lang="en-US" altLang="ko-KR" sz="1400" dirty="0"/>
              <a:t>” interacts with the </a:t>
            </a:r>
            <a:r>
              <a:rPr lang="en-US" altLang="ko-KR" sz="1400" b="1" dirty="0"/>
              <a:t>default namespace</a:t>
            </a:r>
            <a:r>
              <a:rPr lang="en-US" altLang="ko-KR" sz="1400" dirty="0"/>
              <a:t>. If you want to use a different namespace, you can pass </a:t>
            </a:r>
            <a:r>
              <a:rPr lang="en-US" altLang="ko-KR" sz="1400" b="1" dirty="0" err="1"/>
              <a:t>kubectl</a:t>
            </a:r>
            <a:r>
              <a:rPr lang="en-US" altLang="ko-KR" sz="1400" dirty="0"/>
              <a:t> the “</a:t>
            </a:r>
            <a:r>
              <a:rPr lang="en-US" altLang="ko-KR" sz="1400" b="1" dirty="0"/>
              <a:t>--namespace</a:t>
            </a:r>
            <a:r>
              <a:rPr lang="en-US" altLang="ko-KR" sz="1400" dirty="0"/>
              <a:t>” flag. </a:t>
            </a:r>
          </a:p>
          <a:p>
            <a:pPr lvl="1">
              <a:buFont typeface="Wingdings" panose="05000000000000000000" pitchFamily="2" charset="2"/>
              <a:buChar char="§"/>
            </a:pPr>
            <a:r>
              <a:rPr lang="en-US" altLang="ko-KR" sz="1400" dirty="0"/>
              <a:t>For example, “</a:t>
            </a:r>
            <a:r>
              <a:rPr lang="en-US" altLang="ko-KR" sz="1400" b="1" dirty="0" err="1"/>
              <a:t>kubectl</a:t>
            </a:r>
            <a:r>
              <a:rPr lang="en-US" altLang="ko-KR" sz="1400" b="1" dirty="0"/>
              <a:t> --namespace=</a:t>
            </a:r>
            <a:r>
              <a:rPr lang="en-US" altLang="ko-KR" sz="1400" b="1" dirty="0" err="1"/>
              <a:t>mystuff</a:t>
            </a:r>
            <a:r>
              <a:rPr lang="en-US" altLang="ko-KR" sz="1400" dirty="0"/>
              <a:t>” </a:t>
            </a:r>
            <a:r>
              <a:rPr lang="en-US" altLang="ko-KR" sz="1400" b="1" dirty="0"/>
              <a:t>references objects in the “</a:t>
            </a:r>
            <a:r>
              <a:rPr lang="en-US" altLang="ko-KR" sz="1400" b="1" dirty="0" err="1"/>
              <a:t>mystuff</a:t>
            </a:r>
            <a:r>
              <a:rPr lang="en-US" altLang="ko-KR" sz="1400" b="1" dirty="0"/>
              <a:t>” namespace</a:t>
            </a:r>
            <a:r>
              <a:rPr lang="en-US" altLang="ko-KR" sz="1400" dirty="0"/>
              <a:t>. If you want to interact with all namespaces—for example, to list all Pods in your cluster—you can pass the “</a:t>
            </a:r>
            <a:r>
              <a:rPr lang="en-US" altLang="ko-KR" sz="1400" b="1" dirty="0"/>
              <a:t>--all-namespaces</a:t>
            </a:r>
            <a:r>
              <a:rPr lang="en-US" altLang="ko-KR" sz="1400" dirty="0"/>
              <a:t>” flag.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A2C5EB45-500D-428A-A750-BBF5F3B4BABC}"/>
              </a:ext>
            </a:extLst>
          </p:cNvPr>
          <p:cNvPicPr>
            <a:picLocks noChangeAspect="1"/>
          </p:cNvPicPr>
          <p:nvPr/>
        </p:nvPicPr>
        <p:blipFill>
          <a:blip r:embed="rId2"/>
          <a:stretch>
            <a:fillRect/>
          </a:stretch>
        </p:blipFill>
        <p:spPr>
          <a:xfrm>
            <a:off x="3542423" y="2445096"/>
            <a:ext cx="5107154" cy="3685183"/>
          </a:xfrm>
          <a:prstGeom prst="rect">
            <a:avLst/>
          </a:prstGeom>
        </p:spPr>
      </p:pic>
    </p:spTree>
    <p:extLst>
      <p:ext uri="{BB962C8B-B14F-4D97-AF65-F5344CB8AC3E}">
        <p14:creationId xmlns:p14="http://schemas.microsoft.com/office/powerpoint/2010/main" val="504302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Contexts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Changing the Default Namespace :</a:t>
            </a:r>
          </a:p>
          <a:p>
            <a:pPr lvl="1">
              <a:buFont typeface="Wingdings" panose="05000000000000000000" pitchFamily="2" charset="2"/>
              <a:buChar char="§"/>
            </a:pPr>
            <a:r>
              <a:rPr lang="en-US" altLang="ko-KR" sz="1400" b="1" dirty="0"/>
              <a:t>If you want to </a:t>
            </a:r>
            <a:r>
              <a:rPr lang="en-US" altLang="ko-KR" sz="1400" b="1" dirty="0">
                <a:solidFill>
                  <a:srgbClr val="FF0000"/>
                </a:solidFill>
              </a:rPr>
              <a:t>change the default namespace more permanently,</a:t>
            </a:r>
            <a:r>
              <a:rPr lang="en-US" altLang="ko-KR" sz="1400" b="1" dirty="0"/>
              <a:t> you can use a </a:t>
            </a:r>
            <a:r>
              <a:rPr lang="en-US" altLang="ko-KR" sz="1400" b="1" dirty="0">
                <a:solidFill>
                  <a:srgbClr val="FF0000"/>
                </a:solidFill>
              </a:rPr>
              <a:t>context</a:t>
            </a:r>
            <a:r>
              <a:rPr lang="en-US" altLang="ko-KR" sz="1400" dirty="0"/>
              <a:t>. This gets recorded in a “</a:t>
            </a:r>
            <a:r>
              <a:rPr lang="en-US" altLang="ko-KR" sz="1400" b="1" dirty="0" err="1"/>
              <a:t>kubectl</a:t>
            </a:r>
            <a:r>
              <a:rPr lang="en-US" altLang="ko-KR" sz="1400" b="1" dirty="0"/>
              <a:t> configuration file”</a:t>
            </a:r>
            <a:r>
              <a:rPr lang="en-US" altLang="ko-KR" sz="1400" dirty="0"/>
              <a:t>, usually located at “</a:t>
            </a:r>
            <a:r>
              <a:rPr lang="en-US" altLang="ko-KR" sz="1400" b="1" dirty="0"/>
              <a:t>$HOME/.</a:t>
            </a:r>
            <a:r>
              <a:rPr lang="en-US" altLang="ko-KR" sz="1400" b="1" dirty="0" err="1"/>
              <a:t>kube</a:t>
            </a:r>
            <a:r>
              <a:rPr lang="en-US" altLang="ko-KR" sz="1400" b="1" dirty="0"/>
              <a:t>/config</a:t>
            </a:r>
            <a:r>
              <a:rPr lang="en-US" altLang="ko-KR" sz="1400" dirty="0"/>
              <a:t>”. This configuration file also stores how to both find and authenticate to your cluster. For example, you can </a:t>
            </a:r>
            <a:r>
              <a:rPr lang="en-US" altLang="ko-KR" sz="1400" b="1" dirty="0"/>
              <a:t>create a context with a different default namespace </a:t>
            </a:r>
            <a:r>
              <a:rPr lang="en-US" altLang="ko-KR" sz="1400" dirty="0"/>
              <a:t>for your </a:t>
            </a:r>
            <a:r>
              <a:rPr lang="en-US" altLang="ko-KR" sz="1400" b="1" dirty="0" err="1"/>
              <a:t>kubectl</a:t>
            </a:r>
            <a:r>
              <a:rPr lang="en-US" altLang="ko-KR" sz="1400" dirty="0"/>
              <a:t> commands using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creates a new context, but it doesn’t actually start using it yet</a:t>
            </a:r>
            <a:r>
              <a:rPr lang="en-US" altLang="ko-KR" sz="1400" dirty="0"/>
              <a:t>. </a:t>
            </a:r>
            <a:r>
              <a:rPr lang="en-US" altLang="ko-KR" sz="1400" b="1" dirty="0"/>
              <a:t>To use this newly created context</a:t>
            </a:r>
            <a:r>
              <a:rPr lang="en-US" altLang="ko-KR" sz="1400" dirty="0"/>
              <a:t>,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Contexts can also be used to manage different clusters or different users for authenticating </a:t>
            </a:r>
            <a:r>
              <a:rPr lang="en-US" altLang="ko-KR" sz="1400" dirty="0"/>
              <a:t>to those clusters using the “</a:t>
            </a:r>
            <a:r>
              <a:rPr lang="en-US" altLang="ko-KR" sz="1400" b="1" dirty="0"/>
              <a:t>--users</a:t>
            </a:r>
            <a:r>
              <a:rPr lang="en-US" altLang="ko-KR" sz="1400" dirty="0"/>
              <a:t>” or “</a:t>
            </a:r>
            <a:r>
              <a:rPr lang="en-US" altLang="ko-KR" sz="1400" b="1" dirty="0"/>
              <a:t>--clusters</a:t>
            </a:r>
            <a:r>
              <a:rPr lang="en-US" altLang="ko-KR" sz="1400" dirty="0"/>
              <a:t>” flags with the “</a:t>
            </a:r>
            <a:r>
              <a:rPr lang="en-US" altLang="ko-KR" sz="1400" b="1" dirty="0"/>
              <a:t>set-context</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B5080A4-0B6D-46B9-AD0D-2EDC7EAB9F74}"/>
              </a:ext>
            </a:extLst>
          </p:cNvPr>
          <p:cNvSpPr/>
          <p:nvPr/>
        </p:nvSpPr>
        <p:spPr>
          <a:xfrm>
            <a:off x="3048000" y="205507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config </a:t>
            </a:r>
            <a:r>
              <a:rPr lang="en-US" altLang="ko-KR" sz="1000" b="1" dirty="0">
                <a:solidFill>
                  <a:srgbClr val="FF0000"/>
                </a:solidFill>
              </a:rPr>
              <a:t>set-context</a:t>
            </a:r>
            <a:r>
              <a:rPr lang="en-US" altLang="ko-KR" sz="1000" b="1" dirty="0"/>
              <a:t> </a:t>
            </a:r>
            <a:r>
              <a:rPr lang="en-US" altLang="ko-KR" sz="1000" b="1" dirty="0">
                <a:solidFill>
                  <a:srgbClr val="FF0000"/>
                </a:solidFill>
              </a:rPr>
              <a:t>my-context</a:t>
            </a:r>
            <a:r>
              <a:rPr lang="en-US" altLang="ko-KR" sz="1000" b="1" dirty="0"/>
              <a:t> --namespace=</a:t>
            </a:r>
            <a:r>
              <a:rPr lang="en-US" altLang="ko-KR" sz="1000" b="1" dirty="0" err="1">
                <a:solidFill>
                  <a:srgbClr val="FF0000"/>
                </a:solidFill>
              </a:rPr>
              <a:t>mystuff</a:t>
            </a:r>
            <a:endParaRPr lang="en-US" altLang="ko-KR" sz="1000" b="1" dirty="0">
              <a:solidFill>
                <a:srgbClr val="FF0000"/>
              </a:solidFill>
            </a:endParaRPr>
          </a:p>
        </p:txBody>
      </p:sp>
      <p:sp>
        <p:nvSpPr>
          <p:cNvPr id="8" name="직사각형 7">
            <a:extLst>
              <a:ext uri="{FF2B5EF4-FFF2-40B4-BE49-F238E27FC236}">
                <a16:creationId xmlns:a16="http://schemas.microsoft.com/office/drawing/2014/main" id="{90C628F6-F58E-4F09-A1AE-F07BD23F88A4}"/>
              </a:ext>
            </a:extLst>
          </p:cNvPr>
          <p:cNvSpPr/>
          <p:nvPr/>
        </p:nvSpPr>
        <p:spPr>
          <a:xfrm>
            <a:off x="3048000" y="2971275"/>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config </a:t>
            </a:r>
            <a:r>
              <a:rPr lang="en-US" altLang="ko-KR" sz="1000" b="1" dirty="0">
                <a:solidFill>
                  <a:srgbClr val="FF0000"/>
                </a:solidFill>
              </a:rPr>
              <a:t>use-context</a:t>
            </a:r>
            <a:r>
              <a:rPr lang="en-US" altLang="ko-KR" sz="1000" b="1" dirty="0"/>
              <a:t> </a:t>
            </a:r>
            <a:r>
              <a:rPr lang="en-US" altLang="ko-KR" sz="1000" b="1" dirty="0">
                <a:solidFill>
                  <a:srgbClr val="FF0000"/>
                </a:solidFill>
              </a:rPr>
              <a:t>my-context</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F37271FC-134E-46C3-957F-C1084A8992D8}"/>
              </a:ext>
            </a:extLst>
          </p:cNvPr>
          <p:cNvPicPr>
            <a:picLocks noChangeAspect="1"/>
          </p:cNvPicPr>
          <p:nvPr/>
        </p:nvPicPr>
        <p:blipFill>
          <a:blip r:embed="rId2"/>
          <a:stretch>
            <a:fillRect/>
          </a:stretch>
        </p:blipFill>
        <p:spPr>
          <a:xfrm>
            <a:off x="3681663" y="4016414"/>
            <a:ext cx="4828674" cy="2392616"/>
          </a:xfrm>
          <a:prstGeom prst="rect">
            <a:avLst/>
          </a:prstGeom>
        </p:spPr>
      </p:pic>
    </p:spTree>
    <p:extLst>
      <p:ext uri="{BB962C8B-B14F-4D97-AF65-F5344CB8AC3E}">
        <p14:creationId xmlns:p14="http://schemas.microsoft.com/office/powerpoint/2010/main" val="19483918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Viewing Kubernetes API Objects(1/2)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Reading Kubernetes Objects :</a:t>
            </a:r>
          </a:p>
          <a:p>
            <a:pPr lvl="1">
              <a:buFont typeface="Wingdings" panose="05000000000000000000" pitchFamily="2" charset="2"/>
              <a:buChar char="§"/>
            </a:pPr>
            <a:r>
              <a:rPr lang="en-US" altLang="ko-KR" sz="1400" b="1" dirty="0"/>
              <a:t>Everything contained in Kubernetes is represented by a </a:t>
            </a:r>
            <a:r>
              <a:rPr lang="en-US" altLang="ko-KR" sz="1400" b="1" dirty="0">
                <a:solidFill>
                  <a:srgbClr val="FF0000"/>
                </a:solidFill>
              </a:rPr>
              <a:t>RESTful</a:t>
            </a:r>
            <a:r>
              <a:rPr lang="en-US" altLang="ko-KR" sz="1400" b="1" dirty="0"/>
              <a:t> resource</a:t>
            </a:r>
            <a:r>
              <a:rPr lang="en-US" altLang="ko-KR" sz="1400" dirty="0"/>
              <a:t>. We refer to these resources as </a:t>
            </a:r>
            <a:r>
              <a:rPr lang="en-US" altLang="ko-KR" sz="1400" b="1" dirty="0">
                <a:solidFill>
                  <a:srgbClr val="FF0000"/>
                </a:solidFill>
              </a:rPr>
              <a:t>Kubernetes objects</a:t>
            </a:r>
            <a:r>
              <a:rPr lang="en-US" altLang="ko-KR" sz="1400" dirty="0"/>
              <a:t>. </a:t>
            </a:r>
            <a:r>
              <a:rPr lang="en-US" altLang="ko-KR" sz="1400" b="1" dirty="0"/>
              <a:t>Each Kubernetes object exists at a </a:t>
            </a:r>
            <a:r>
              <a:rPr lang="en-US" altLang="ko-KR" sz="1400" b="1" dirty="0">
                <a:solidFill>
                  <a:srgbClr val="FF0000"/>
                </a:solidFill>
              </a:rPr>
              <a:t>unique HTTP path</a:t>
            </a:r>
            <a:r>
              <a:rPr lang="en-US" altLang="ko-KR" sz="1400" dirty="0"/>
              <a:t>; for example, “</a:t>
            </a:r>
            <a:r>
              <a:rPr lang="en-US" altLang="ko-KR" sz="1400" b="1" dirty="0">
                <a:solidFill>
                  <a:srgbClr val="FF0000"/>
                </a:solidFill>
              </a:rPr>
              <a:t>https://your-k8s.com/api/v1/namespaces/default/pods/my-pod</a:t>
            </a:r>
            <a:r>
              <a:rPr lang="en-US" altLang="ko-KR" sz="1400" dirty="0"/>
              <a:t>” leads to the representation of a Pod in the default namespace named “</a:t>
            </a:r>
            <a:r>
              <a:rPr lang="en-US" altLang="ko-KR" sz="1400" b="1" dirty="0"/>
              <a:t>my-pod</a:t>
            </a:r>
            <a:r>
              <a:rPr lang="en-US" altLang="ko-KR" sz="1400" dirty="0"/>
              <a:t>”. </a:t>
            </a:r>
            <a:r>
              <a:rPr lang="en-US" altLang="ko-KR" sz="1400" b="1" dirty="0"/>
              <a:t>The </a:t>
            </a:r>
            <a:r>
              <a:rPr lang="en-US" altLang="ko-KR" sz="1400" b="1" dirty="0" err="1"/>
              <a:t>kubectl</a:t>
            </a:r>
            <a:r>
              <a:rPr lang="en-US" altLang="ko-KR" sz="1400" b="1" dirty="0"/>
              <a:t> command makes HTTP requests to these URLs to access the Kubernetes objects that reside at these paths</a:t>
            </a:r>
            <a:r>
              <a:rPr lang="en-US" altLang="ko-KR" sz="1400" dirty="0"/>
              <a:t>.</a:t>
            </a:r>
          </a:p>
          <a:p>
            <a:pPr lvl="1">
              <a:buFont typeface="Wingdings" panose="05000000000000000000" pitchFamily="2" charset="2"/>
              <a:buChar char="§"/>
            </a:pPr>
            <a:r>
              <a:rPr lang="en-US" altLang="ko-KR" sz="1400" dirty="0"/>
              <a:t>The most basic command for viewing Kubernetes objects via </a:t>
            </a:r>
            <a:r>
              <a:rPr lang="en-US" altLang="ko-KR" sz="1400" b="1" dirty="0" err="1"/>
              <a:t>kubectl</a:t>
            </a:r>
            <a:r>
              <a:rPr lang="en-US" altLang="ko-KR" sz="1400" dirty="0"/>
              <a:t> is </a:t>
            </a:r>
            <a:r>
              <a:rPr lang="en-US" altLang="ko-KR" sz="1400" b="1" dirty="0"/>
              <a:t>get</a:t>
            </a:r>
            <a:r>
              <a:rPr lang="en-US" altLang="ko-KR" sz="1400" dirty="0"/>
              <a:t>. If you run “</a:t>
            </a:r>
            <a:r>
              <a:rPr lang="en-US" altLang="ko-KR" sz="1400" b="1" dirty="0" err="1"/>
              <a:t>kubectl</a:t>
            </a:r>
            <a:r>
              <a:rPr lang="en-US" altLang="ko-KR" sz="1400" b="1" dirty="0"/>
              <a:t> get &lt;resource-name&gt;</a:t>
            </a:r>
            <a:r>
              <a:rPr lang="en-US" altLang="ko-KR" sz="1400" dirty="0"/>
              <a:t>” you will </a:t>
            </a:r>
            <a:r>
              <a:rPr lang="en-US" altLang="ko-KR" sz="1400" b="1" dirty="0"/>
              <a:t>get a listing of all resources in the current namespace</a:t>
            </a:r>
            <a:r>
              <a:rPr lang="en-US" altLang="ko-KR" sz="1400" dirty="0"/>
              <a:t>. If you want to </a:t>
            </a:r>
            <a:r>
              <a:rPr lang="en-US" altLang="ko-KR" sz="1400" b="1" dirty="0"/>
              <a:t>get a specific resource</a:t>
            </a:r>
            <a:r>
              <a:rPr lang="en-US" altLang="ko-KR" sz="1400" dirty="0"/>
              <a:t>, you can use “</a:t>
            </a:r>
            <a:r>
              <a:rPr lang="en-US" altLang="ko-KR" sz="1400" b="1" dirty="0" err="1"/>
              <a:t>kubectl</a:t>
            </a:r>
            <a:r>
              <a:rPr lang="en-US" altLang="ko-KR" sz="1400" b="1" dirty="0"/>
              <a:t> get &lt;resource-name&gt; &lt;obj-name&gt;</a:t>
            </a:r>
            <a:r>
              <a:rPr lang="en-US" altLang="ko-KR" sz="1400" dirty="0"/>
              <a:t>”.</a:t>
            </a:r>
          </a:p>
          <a:p>
            <a:pPr lvl="1">
              <a:buFont typeface="Wingdings" panose="05000000000000000000" pitchFamily="2" charset="2"/>
              <a:buChar char="§"/>
            </a:pPr>
            <a:r>
              <a:rPr lang="en-US" altLang="ko-KR" sz="1400" b="1" dirty="0"/>
              <a:t>By default, </a:t>
            </a:r>
            <a:r>
              <a:rPr lang="en-US" altLang="ko-KR" sz="1400" b="1" dirty="0" err="1"/>
              <a:t>kubectl</a:t>
            </a:r>
            <a:r>
              <a:rPr lang="en-US" altLang="ko-KR" sz="1400" b="1" dirty="0"/>
              <a:t> uses a human-readable printer for viewing the responses from the API server</a:t>
            </a:r>
            <a:r>
              <a:rPr lang="en-US" altLang="ko-KR" sz="1400" dirty="0"/>
              <a:t>, but this human-readable printer removes many of the details of the objects to fit each object on one terminal line. One way to get slightly more information is to add the “</a:t>
            </a:r>
            <a:r>
              <a:rPr lang="en-US" altLang="ko-KR" sz="1400" b="1" dirty="0"/>
              <a:t>-o wide</a:t>
            </a:r>
            <a:r>
              <a:rPr lang="en-US" altLang="ko-KR" sz="1400" dirty="0"/>
              <a:t>” flag, which gives more details, on a longer line. If you want to view the complete object, you can also view the objects as raw JSON or YAML using the “</a:t>
            </a:r>
            <a:r>
              <a:rPr lang="en-US" altLang="ko-KR" sz="1400" b="1" dirty="0"/>
              <a:t>-o json</a:t>
            </a:r>
            <a:r>
              <a:rPr lang="en-US" altLang="ko-KR" sz="1400" dirty="0"/>
              <a:t>” or “</a:t>
            </a:r>
            <a:r>
              <a:rPr lang="en-US" altLang="ko-KR" sz="1400" b="1" dirty="0"/>
              <a:t>-o </a:t>
            </a:r>
            <a:r>
              <a:rPr lang="en-US" altLang="ko-KR" sz="1400" b="1" dirty="0" err="1"/>
              <a:t>yaml</a:t>
            </a:r>
            <a:r>
              <a:rPr lang="en-US" altLang="ko-KR" sz="1400" dirty="0"/>
              <a:t>” flags, respectively.</a:t>
            </a:r>
          </a:p>
          <a:p>
            <a:pPr lvl="1">
              <a:buFont typeface="Wingdings" panose="05000000000000000000" pitchFamily="2" charset="2"/>
              <a:buChar char="§"/>
            </a:pPr>
            <a:r>
              <a:rPr lang="en-US" altLang="ko-KR" sz="1400" b="1" dirty="0"/>
              <a:t>A common option for manipulating the output of </a:t>
            </a:r>
            <a:r>
              <a:rPr lang="en-US" altLang="ko-KR" sz="1400" b="1" dirty="0" err="1"/>
              <a:t>kubectl</a:t>
            </a:r>
            <a:r>
              <a:rPr lang="en-US" altLang="ko-KR" sz="1400" b="1" dirty="0"/>
              <a:t> is to remove the headers</a:t>
            </a:r>
            <a:r>
              <a:rPr lang="en-US" altLang="ko-KR" sz="1400" dirty="0"/>
              <a:t>, which is often useful when </a:t>
            </a:r>
            <a:r>
              <a:rPr lang="en-US" altLang="ko-KR" sz="1400" b="1" dirty="0"/>
              <a:t>combining </a:t>
            </a:r>
            <a:r>
              <a:rPr lang="en-US" altLang="ko-KR" sz="1400" b="1" dirty="0" err="1"/>
              <a:t>kubectl</a:t>
            </a:r>
            <a:r>
              <a:rPr lang="en-US" altLang="ko-KR" sz="1400" b="1" dirty="0"/>
              <a:t> with Unix pipes (e.g., “</a:t>
            </a:r>
            <a:r>
              <a:rPr lang="en-US" altLang="ko-KR" sz="1400" b="1" dirty="0" err="1"/>
              <a:t>kubectl</a:t>
            </a:r>
            <a:r>
              <a:rPr lang="en-US" altLang="ko-KR" sz="1400" b="1" dirty="0"/>
              <a:t> ... | </a:t>
            </a:r>
            <a:r>
              <a:rPr lang="en-US" altLang="ko-KR" sz="1400" b="1" dirty="0" err="1"/>
              <a:t>awk</a:t>
            </a:r>
            <a:r>
              <a:rPr lang="en-US" altLang="ko-KR" sz="1400" b="1" dirty="0"/>
              <a:t> ...”)</a:t>
            </a:r>
            <a:r>
              <a:rPr lang="en-US" altLang="ko-KR" sz="1400" dirty="0"/>
              <a:t>. If you specify the “</a:t>
            </a:r>
            <a:r>
              <a:rPr lang="en-US" altLang="ko-KR" sz="1400" b="1" dirty="0"/>
              <a:t>--no-headers</a:t>
            </a:r>
            <a:r>
              <a:rPr lang="en-US" altLang="ko-KR" sz="1400" dirty="0"/>
              <a:t>” flag, </a:t>
            </a:r>
            <a:r>
              <a:rPr lang="en-US" altLang="ko-KR" sz="1400" b="1" dirty="0" err="1"/>
              <a:t>kubectl</a:t>
            </a:r>
            <a:r>
              <a:rPr lang="en-US" altLang="ko-KR" sz="1400" b="1" dirty="0"/>
              <a:t> will skip the headers at the top of the human-readable table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BF2CEBE-1C60-4BCD-BD93-12092068E0FE}"/>
              </a:ext>
            </a:extLst>
          </p:cNvPr>
          <p:cNvPicPr>
            <a:picLocks noChangeAspect="1"/>
          </p:cNvPicPr>
          <p:nvPr/>
        </p:nvPicPr>
        <p:blipFill>
          <a:blip r:embed="rId2"/>
          <a:stretch>
            <a:fillRect/>
          </a:stretch>
        </p:blipFill>
        <p:spPr>
          <a:xfrm>
            <a:off x="7326191" y="4283243"/>
            <a:ext cx="4027609" cy="2125788"/>
          </a:xfrm>
          <a:prstGeom prst="rect">
            <a:avLst/>
          </a:prstGeom>
        </p:spPr>
      </p:pic>
    </p:spTree>
    <p:extLst>
      <p:ext uri="{BB962C8B-B14F-4D97-AF65-F5344CB8AC3E}">
        <p14:creationId xmlns:p14="http://schemas.microsoft.com/office/powerpoint/2010/main" val="2765745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Viewing Kubernetes API Objects(2/2)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Reading Kubernetes Objects :</a:t>
            </a:r>
          </a:p>
          <a:p>
            <a:pPr lvl="1">
              <a:buFont typeface="Wingdings" panose="05000000000000000000" pitchFamily="2" charset="2"/>
              <a:buChar char="§"/>
            </a:pPr>
            <a:r>
              <a:rPr lang="en-US" altLang="ko-KR" sz="1400" dirty="0"/>
              <a:t>Another common task is extracting specific fields from the object. </a:t>
            </a:r>
            <a:r>
              <a:rPr lang="en-US" altLang="ko-KR" sz="1400" b="1" dirty="0" err="1"/>
              <a:t>kubectl</a:t>
            </a:r>
            <a:r>
              <a:rPr lang="en-US" altLang="ko-KR" sz="1400" b="1" dirty="0"/>
              <a:t> uses the “</a:t>
            </a:r>
            <a:r>
              <a:rPr lang="en-US" altLang="ko-KR" sz="1400" b="1" dirty="0" err="1"/>
              <a:t>JSONPath</a:t>
            </a:r>
            <a:r>
              <a:rPr lang="en-US" altLang="ko-KR" sz="1400" b="1" dirty="0"/>
              <a:t>” query language to select fields in the returned object</a:t>
            </a:r>
            <a:r>
              <a:rPr lang="en-US" altLang="ko-KR" sz="1400" dirty="0"/>
              <a:t>. For example, the following command will extract and print the IP address of the specified Pod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are interested in </a:t>
            </a:r>
            <a:r>
              <a:rPr lang="en-US" altLang="ko-KR" sz="1400" b="1" dirty="0"/>
              <a:t>more detailed information about a particular object</a:t>
            </a:r>
            <a:r>
              <a:rPr lang="en-US" altLang="ko-KR" sz="1400" dirty="0"/>
              <a:t>, use the describe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provide </a:t>
            </a:r>
            <a:r>
              <a:rPr lang="en-US" altLang="ko-KR" sz="1400" b="1" dirty="0"/>
              <a:t>a rich multiline human-readable description of the object</a:t>
            </a:r>
            <a:r>
              <a:rPr lang="en-US" altLang="ko-KR" sz="1400" dirty="0"/>
              <a:t> as well as any other relevant, </a:t>
            </a:r>
            <a:r>
              <a:rPr lang="en-US" altLang="ko-KR" sz="1400" b="1" dirty="0"/>
              <a:t>related objects</a:t>
            </a:r>
            <a:r>
              <a:rPr lang="en-US" altLang="ko-KR" sz="1400" dirty="0"/>
              <a:t> and </a:t>
            </a:r>
            <a:r>
              <a:rPr lang="en-US" altLang="ko-KR" sz="1400" b="1" dirty="0"/>
              <a:t>events</a:t>
            </a:r>
            <a:r>
              <a:rPr lang="en-US" altLang="ko-KR" sz="1400" dirty="0"/>
              <a:t> in the Kubernetes cluster.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AA872C3-5879-4AB2-A79F-DF3B06682C8B}"/>
              </a:ext>
            </a:extLst>
          </p:cNvPr>
          <p:cNvSpPr/>
          <p:nvPr/>
        </p:nvSpPr>
        <p:spPr>
          <a:xfrm>
            <a:off x="3048000" y="183048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my-pod</a:t>
            </a:r>
            <a:r>
              <a:rPr lang="en-US" altLang="ko-KR" sz="1000" b="1" dirty="0"/>
              <a:t> -o </a:t>
            </a:r>
            <a:r>
              <a:rPr lang="en-US" altLang="ko-KR" sz="1000" b="1" dirty="0" err="1"/>
              <a:t>jsonpath</a:t>
            </a:r>
            <a:r>
              <a:rPr lang="en-US" altLang="ko-KR" sz="1000" b="1" dirty="0"/>
              <a:t> --template={.</a:t>
            </a:r>
            <a:r>
              <a:rPr lang="en-US" altLang="ko-KR" sz="1000" b="1" dirty="0" err="1"/>
              <a:t>status.podIP</a:t>
            </a:r>
            <a:r>
              <a:rPr lang="en-US" altLang="ko-KR" sz="1000" b="1" dirty="0"/>
              <a:t>}</a:t>
            </a:r>
            <a:endParaRPr lang="ko-KR" altLang="en-US" sz="1000" b="1" dirty="0"/>
          </a:p>
        </p:txBody>
      </p:sp>
      <p:sp>
        <p:nvSpPr>
          <p:cNvPr id="8" name="직사각형 7">
            <a:extLst>
              <a:ext uri="{FF2B5EF4-FFF2-40B4-BE49-F238E27FC236}">
                <a16:creationId xmlns:a16="http://schemas.microsoft.com/office/drawing/2014/main" id="{AB4DD154-3CFE-41F0-BEC2-E57F760E0BD2}"/>
              </a:ext>
            </a:extLst>
          </p:cNvPr>
          <p:cNvSpPr/>
          <p:nvPr/>
        </p:nvSpPr>
        <p:spPr>
          <a:xfrm>
            <a:off x="3048000" y="2647661"/>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&lt;resource-name&gt; &lt;obj-name&gt;</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21EEE3D2-5C47-40EB-9F4D-16E2FC33693A}"/>
              </a:ext>
            </a:extLst>
          </p:cNvPr>
          <p:cNvGrpSpPr/>
          <p:nvPr/>
        </p:nvGrpSpPr>
        <p:grpSpPr>
          <a:xfrm>
            <a:off x="4243275" y="3515149"/>
            <a:ext cx="3705449" cy="2893881"/>
            <a:chOff x="4243275" y="3515149"/>
            <a:chExt cx="3705449" cy="2893881"/>
          </a:xfrm>
        </p:grpSpPr>
        <p:pic>
          <p:nvPicPr>
            <p:cNvPr id="9" name="그림 8">
              <a:extLst>
                <a:ext uri="{FF2B5EF4-FFF2-40B4-BE49-F238E27FC236}">
                  <a16:creationId xmlns:a16="http://schemas.microsoft.com/office/drawing/2014/main" id="{19483A43-855C-411C-A87F-5A65A2D400FD}"/>
                </a:ext>
              </a:extLst>
            </p:cNvPr>
            <p:cNvPicPr>
              <a:picLocks noChangeAspect="1"/>
            </p:cNvPicPr>
            <p:nvPr/>
          </p:nvPicPr>
          <p:blipFill>
            <a:blip r:embed="rId2"/>
            <a:stretch>
              <a:fillRect/>
            </a:stretch>
          </p:blipFill>
          <p:spPr>
            <a:xfrm>
              <a:off x="4243275" y="3515149"/>
              <a:ext cx="3705449" cy="2893881"/>
            </a:xfrm>
            <a:prstGeom prst="rect">
              <a:avLst/>
            </a:prstGeom>
          </p:spPr>
        </p:pic>
        <p:sp>
          <p:nvSpPr>
            <p:cNvPr id="10" name="직사각형 9">
              <a:extLst>
                <a:ext uri="{FF2B5EF4-FFF2-40B4-BE49-F238E27FC236}">
                  <a16:creationId xmlns:a16="http://schemas.microsoft.com/office/drawing/2014/main" id="{7CE8B862-6A67-4C5B-98DB-CC0F2005FD9A}"/>
                </a:ext>
              </a:extLst>
            </p:cNvPr>
            <p:cNvSpPr/>
            <p:nvPr/>
          </p:nvSpPr>
          <p:spPr>
            <a:xfrm>
              <a:off x="4243275" y="3681662"/>
              <a:ext cx="1299272" cy="17566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226062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Updating, and Destroying Kubernetes Objects(1/2)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Object Creation and Updating :</a:t>
            </a:r>
          </a:p>
          <a:p>
            <a:pPr lvl="1">
              <a:buFont typeface="Wingdings" panose="05000000000000000000" pitchFamily="2" charset="2"/>
              <a:buChar char="§"/>
            </a:pPr>
            <a:r>
              <a:rPr lang="en-US" altLang="ko-KR" sz="1400" b="1" dirty="0"/>
              <a:t>Objects in the Kubernetes API are represented as JSON or YAML files</a:t>
            </a:r>
            <a:r>
              <a:rPr lang="en-US" altLang="ko-KR" sz="1400" dirty="0"/>
              <a:t>. These files are either returned by the server in response to a query or posted to the server as part of an </a:t>
            </a:r>
            <a:r>
              <a:rPr lang="en-US" altLang="ko-KR" sz="1400" b="1" dirty="0"/>
              <a:t>API request</a:t>
            </a:r>
            <a:r>
              <a:rPr lang="en-US" altLang="ko-KR" sz="1400" dirty="0"/>
              <a:t>. </a:t>
            </a:r>
            <a:r>
              <a:rPr lang="en-US" altLang="ko-KR" sz="1400" b="1" dirty="0"/>
              <a:t>You can use these YAML or JSON files to create, update, or delete objects on the Kubernetes server</a:t>
            </a:r>
            <a:r>
              <a:rPr lang="en-US" altLang="ko-KR" sz="1400" dirty="0"/>
              <a:t>.</a:t>
            </a:r>
          </a:p>
          <a:p>
            <a:pPr lvl="1">
              <a:buFont typeface="Wingdings" panose="05000000000000000000" pitchFamily="2" charset="2"/>
              <a:buChar char="§"/>
            </a:pPr>
            <a:r>
              <a:rPr lang="en-US" altLang="ko-KR" sz="1400" dirty="0"/>
              <a:t>Let’s assume that you have a simple object stored in “</a:t>
            </a:r>
            <a:r>
              <a:rPr lang="en-US" altLang="ko-KR" sz="1400" b="1" dirty="0" err="1"/>
              <a:t>obj.yaml</a:t>
            </a:r>
            <a:r>
              <a:rPr lang="en-US" altLang="ko-KR" sz="1400" dirty="0"/>
              <a:t>”. You can use </a:t>
            </a:r>
            <a:r>
              <a:rPr lang="en-US" altLang="ko-KR" sz="1400" b="1" dirty="0" err="1"/>
              <a:t>kubectl</a:t>
            </a:r>
            <a:r>
              <a:rPr lang="en-US" altLang="ko-KR" sz="1400" dirty="0"/>
              <a:t> to </a:t>
            </a:r>
            <a:r>
              <a:rPr lang="en-US" altLang="ko-KR" sz="1400" b="1" dirty="0">
                <a:solidFill>
                  <a:srgbClr val="FF0000"/>
                </a:solidFill>
              </a:rPr>
              <a:t>create</a:t>
            </a:r>
            <a:r>
              <a:rPr lang="en-US" altLang="ko-KR" sz="1400" b="1" dirty="0"/>
              <a:t> the object </a:t>
            </a:r>
            <a:r>
              <a:rPr lang="en-US" altLang="ko-KR" sz="1400" dirty="0"/>
              <a:t>in Kubernetes 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Notice that you don’t need to specify the resource type of the object</a:t>
            </a:r>
            <a:r>
              <a:rPr lang="en-US" altLang="ko-KR" sz="1400" dirty="0"/>
              <a:t>; it’s obtained from the object file itself. </a:t>
            </a:r>
          </a:p>
          <a:p>
            <a:pPr lvl="1">
              <a:buFont typeface="Wingdings" panose="05000000000000000000" pitchFamily="2" charset="2"/>
              <a:buChar char="§"/>
            </a:pPr>
            <a:r>
              <a:rPr lang="en-US" altLang="ko-KR" sz="1400" dirty="0"/>
              <a:t>Similarly, after you make changes to the object, you can </a:t>
            </a:r>
            <a:r>
              <a:rPr lang="en-US" altLang="ko-KR" sz="1400" b="1" dirty="0"/>
              <a:t>use the </a:t>
            </a:r>
            <a:r>
              <a:rPr lang="en-US" altLang="ko-KR" sz="1400" b="1" dirty="0">
                <a:solidFill>
                  <a:srgbClr val="FF0000"/>
                </a:solidFill>
              </a:rPr>
              <a:t>apply</a:t>
            </a:r>
            <a:r>
              <a:rPr lang="en-US" altLang="ko-KR" sz="1400" b="1" dirty="0"/>
              <a:t> command again to </a:t>
            </a:r>
            <a:r>
              <a:rPr lang="en-US" altLang="ko-KR" sz="1400" b="1" dirty="0">
                <a:solidFill>
                  <a:srgbClr val="FF0000"/>
                </a:solidFill>
              </a:rPr>
              <a:t>update</a:t>
            </a:r>
            <a:r>
              <a:rPr lang="en-US" altLang="ko-KR" sz="1400" b="1" dirty="0"/>
              <a:t> the object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apply tool will only modify objects that are different from the current objects in the cluster</a:t>
            </a:r>
            <a:r>
              <a:rPr lang="en-US" altLang="ko-KR" sz="1400" dirty="0"/>
              <a:t>. If the objects you are creating already exist in the cluster, it will simply exit successfully without making any changes. This makes it </a:t>
            </a:r>
            <a:r>
              <a:rPr lang="en-US" altLang="ko-KR" sz="1400" b="1" dirty="0"/>
              <a:t>useful for loops where you want to ensure the state of the cluster matches the state of the filesystem</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AFCA704B-0E6B-4C69-B673-1B1294FB08BE}"/>
              </a:ext>
            </a:extLst>
          </p:cNvPr>
          <p:cNvSpPr/>
          <p:nvPr/>
        </p:nvSpPr>
        <p:spPr>
          <a:xfrm>
            <a:off x="5175716" y="2257745"/>
            <a:ext cx="1840568"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apply -f </a:t>
            </a:r>
            <a:r>
              <a:rPr lang="en-US" altLang="ko-KR" sz="1000" b="1" dirty="0" err="1">
                <a:solidFill>
                  <a:srgbClr val="FF0000"/>
                </a:solidFill>
              </a:rPr>
              <a:t>obj.yaml</a:t>
            </a:r>
            <a:endParaRPr lang="en-US" altLang="ko-KR" sz="1000" b="1" dirty="0">
              <a:solidFill>
                <a:srgbClr val="FF0000"/>
              </a:solidFill>
            </a:endParaRPr>
          </a:p>
        </p:txBody>
      </p:sp>
      <p:sp>
        <p:nvSpPr>
          <p:cNvPr id="8" name="직사각형 7">
            <a:extLst>
              <a:ext uri="{FF2B5EF4-FFF2-40B4-BE49-F238E27FC236}">
                <a16:creationId xmlns:a16="http://schemas.microsoft.com/office/drawing/2014/main" id="{D431D81F-A228-4CFB-BAE6-86A5F66F184B}"/>
              </a:ext>
            </a:extLst>
          </p:cNvPr>
          <p:cNvSpPr/>
          <p:nvPr/>
        </p:nvSpPr>
        <p:spPr>
          <a:xfrm>
            <a:off x="5175716" y="3345497"/>
            <a:ext cx="1840568"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apply -f </a:t>
            </a:r>
            <a:r>
              <a:rPr lang="en-US" altLang="ko-KR" sz="1000" b="1" dirty="0" err="1">
                <a:solidFill>
                  <a:srgbClr val="FF0000"/>
                </a:solidFill>
              </a:rPr>
              <a:t>obj.yaml</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DC92BE26-1FE3-45A6-A726-96E33A4463B4}"/>
              </a:ext>
            </a:extLst>
          </p:cNvPr>
          <p:cNvPicPr>
            <a:picLocks noChangeAspect="1"/>
          </p:cNvPicPr>
          <p:nvPr/>
        </p:nvPicPr>
        <p:blipFill>
          <a:blip r:embed="rId2"/>
          <a:stretch>
            <a:fillRect/>
          </a:stretch>
        </p:blipFill>
        <p:spPr>
          <a:xfrm>
            <a:off x="7668699" y="4574307"/>
            <a:ext cx="3685101" cy="1834723"/>
          </a:xfrm>
          <a:prstGeom prst="rect">
            <a:avLst/>
          </a:prstGeom>
        </p:spPr>
      </p:pic>
    </p:spTree>
    <p:extLst>
      <p:ext uri="{BB962C8B-B14F-4D97-AF65-F5344CB8AC3E}">
        <p14:creationId xmlns:p14="http://schemas.microsoft.com/office/powerpoint/2010/main" val="3432578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Creating, Updating, and Destroying Kubernetes Objects(2/2)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Object Creation and Updating :</a:t>
            </a:r>
          </a:p>
          <a:p>
            <a:pPr lvl="1">
              <a:buFont typeface="Wingdings" panose="05000000000000000000" pitchFamily="2" charset="2"/>
              <a:buChar char="§"/>
            </a:pPr>
            <a:r>
              <a:rPr lang="en-US" altLang="ko-KR" sz="1400" b="1" dirty="0"/>
              <a:t>If you want to see what the apply command will do without actually making the changes, you can use the “</a:t>
            </a:r>
            <a:r>
              <a:rPr lang="en-US" altLang="ko-KR" sz="1400" b="1" dirty="0">
                <a:solidFill>
                  <a:srgbClr val="FF0000"/>
                </a:solidFill>
              </a:rPr>
              <a:t>--dry-run</a:t>
            </a:r>
            <a:r>
              <a:rPr lang="en-US" altLang="ko-KR" sz="1400" b="1" dirty="0"/>
              <a:t>” flag to print the objects to the terminal without actually sending them to the server</a:t>
            </a:r>
            <a:r>
              <a:rPr lang="en-US" altLang="ko-KR" sz="1400" dirty="0"/>
              <a:t>. </a:t>
            </a:r>
          </a:p>
          <a:p>
            <a:pPr lvl="1">
              <a:buFont typeface="Wingdings" panose="05000000000000000000" pitchFamily="2" charset="2"/>
              <a:buChar char="§"/>
            </a:pPr>
            <a:r>
              <a:rPr lang="en-US" altLang="ko-KR" sz="1400" b="1" dirty="0"/>
              <a:t>NOTE : If you feel like making interactive edits instead of editing a local file, you can instead use the “</a:t>
            </a:r>
            <a:r>
              <a:rPr lang="en-US" altLang="ko-KR" sz="1400" b="1" dirty="0">
                <a:solidFill>
                  <a:srgbClr val="FF0000"/>
                </a:solidFill>
              </a:rPr>
              <a:t>edit</a:t>
            </a:r>
            <a:r>
              <a:rPr lang="en-US" altLang="ko-KR" sz="1400" b="1" dirty="0"/>
              <a:t>“ command</a:t>
            </a:r>
            <a:r>
              <a:rPr lang="en-US" altLang="ko-KR" sz="1400" dirty="0"/>
              <a:t>, which will download the latest object state and then launch an editor that contains the definition. After you save the file, it will be </a:t>
            </a:r>
            <a:r>
              <a:rPr lang="en-US" altLang="ko-KR" sz="1400" b="1" dirty="0"/>
              <a:t>automatically uploaded back to the Kubernetes cluster.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“apply” command also records the history of previous configurations in an annotation within the object</a:t>
            </a:r>
            <a:r>
              <a:rPr lang="en-US" altLang="ko-KR" sz="1400" dirty="0"/>
              <a:t>. You can manipulate these records with the “</a:t>
            </a:r>
            <a:r>
              <a:rPr lang="en-US" altLang="ko-KR" sz="1400" b="1" dirty="0"/>
              <a:t>edit-last-applied</a:t>
            </a:r>
            <a:r>
              <a:rPr lang="en-US" altLang="ko-KR" sz="1400" dirty="0"/>
              <a:t>”, “</a:t>
            </a:r>
            <a:r>
              <a:rPr lang="en-US" altLang="ko-KR" sz="1400" b="1" dirty="0"/>
              <a:t>set-last-applied</a:t>
            </a:r>
            <a:r>
              <a:rPr lang="en-US" altLang="ko-KR" sz="1400" dirty="0"/>
              <a:t>”, and “</a:t>
            </a:r>
            <a:r>
              <a:rPr lang="en-US" altLang="ko-KR" sz="1400" b="1" dirty="0"/>
              <a:t>view-last-applied</a:t>
            </a:r>
            <a:r>
              <a:rPr lang="en-US" altLang="ko-KR" sz="1400" dirty="0"/>
              <a:t>” commands. For example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you want to </a:t>
            </a:r>
            <a:r>
              <a:rPr lang="en-US" altLang="ko-KR" sz="1400" b="1" dirty="0"/>
              <a:t>delete an object</a:t>
            </a:r>
            <a:r>
              <a:rPr lang="en-US" altLang="ko-KR" sz="1400" dirty="0"/>
              <a:t>, you can simply run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It is important to note that </a:t>
            </a:r>
            <a:r>
              <a:rPr lang="en-US" altLang="ko-KR" sz="1400" b="1" dirty="0" err="1"/>
              <a:t>kubectl</a:t>
            </a:r>
            <a:r>
              <a:rPr lang="en-US" altLang="ko-KR" sz="1400" b="1" dirty="0"/>
              <a:t> will not prompt you to confirm the deletion</a:t>
            </a:r>
            <a:r>
              <a:rPr lang="en-US" altLang="ko-KR" sz="1400" dirty="0"/>
              <a:t>. Once you issue the command, the object will be deleted. Likewise, you also can </a:t>
            </a:r>
            <a:r>
              <a:rPr lang="en-US" altLang="ko-KR" sz="1400" b="1" dirty="0"/>
              <a:t>delete an object using the resource type and name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8B6E0CB7-4216-47E5-A238-8CB96085ECE2}"/>
              </a:ext>
            </a:extLst>
          </p:cNvPr>
          <p:cNvSpPr/>
          <p:nvPr/>
        </p:nvSpPr>
        <p:spPr>
          <a:xfrm>
            <a:off x="4531308" y="2339649"/>
            <a:ext cx="3129381"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edit &lt;resource-name&gt; &lt;obj-name&gt;</a:t>
            </a:r>
          </a:p>
        </p:txBody>
      </p:sp>
      <p:sp>
        <p:nvSpPr>
          <p:cNvPr id="8" name="직사각형 7">
            <a:extLst>
              <a:ext uri="{FF2B5EF4-FFF2-40B4-BE49-F238E27FC236}">
                <a16:creationId xmlns:a16="http://schemas.microsoft.com/office/drawing/2014/main" id="{563F849C-2307-440F-AFCA-C59006855418}"/>
              </a:ext>
            </a:extLst>
          </p:cNvPr>
          <p:cNvSpPr/>
          <p:nvPr/>
        </p:nvSpPr>
        <p:spPr>
          <a:xfrm>
            <a:off x="4531308" y="3387199"/>
            <a:ext cx="3129381" cy="230832"/>
          </a:xfrm>
          <a:prstGeom prst="rect">
            <a:avLst/>
          </a:prstGeom>
          <a:ln>
            <a:solidFill>
              <a:schemeClr val="bg1">
                <a:lumMod val="50000"/>
              </a:schemeClr>
            </a:solidFill>
          </a:ln>
        </p:spPr>
        <p:txBody>
          <a:bodyPr wrap="square">
            <a:spAutoFit/>
          </a:bodyPr>
          <a:lstStyle/>
          <a:p>
            <a:r>
              <a:rPr lang="en-US" altLang="ko-KR" sz="900" b="1" dirty="0"/>
              <a:t>$ </a:t>
            </a:r>
            <a:r>
              <a:rPr lang="en-US" altLang="ko-KR" sz="900" b="1" dirty="0" err="1"/>
              <a:t>kubectl</a:t>
            </a:r>
            <a:r>
              <a:rPr lang="en-US" altLang="ko-KR" sz="900" b="1" dirty="0"/>
              <a:t> apply -f </a:t>
            </a:r>
            <a:r>
              <a:rPr lang="en-US" altLang="ko-KR" sz="900" b="1" dirty="0" err="1">
                <a:solidFill>
                  <a:srgbClr val="FF0000"/>
                </a:solidFill>
              </a:rPr>
              <a:t>myobj.yaml</a:t>
            </a:r>
            <a:r>
              <a:rPr lang="en-US" altLang="ko-KR" sz="900" b="1" dirty="0">
                <a:solidFill>
                  <a:srgbClr val="FF0000"/>
                </a:solidFill>
              </a:rPr>
              <a:t> view-last-applied</a:t>
            </a:r>
            <a:endParaRPr lang="ko-KR" altLang="en-US" sz="900" b="1" dirty="0">
              <a:solidFill>
                <a:srgbClr val="FF0000"/>
              </a:solidFill>
            </a:endParaRPr>
          </a:p>
        </p:txBody>
      </p:sp>
      <p:sp>
        <p:nvSpPr>
          <p:cNvPr id="9" name="직사각형 8">
            <a:extLst>
              <a:ext uri="{FF2B5EF4-FFF2-40B4-BE49-F238E27FC236}">
                <a16:creationId xmlns:a16="http://schemas.microsoft.com/office/drawing/2014/main" id="{12DF98AC-BE3C-496F-B807-2E185EF64BFD}"/>
              </a:ext>
            </a:extLst>
          </p:cNvPr>
          <p:cNvSpPr/>
          <p:nvPr/>
        </p:nvSpPr>
        <p:spPr>
          <a:xfrm>
            <a:off x="4531309" y="4230329"/>
            <a:ext cx="3129382"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a:t>
            </a:r>
            <a:r>
              <a:rPr lang="en-US" altLang="ko-KR" sz="1000" b="1" dirty="0">
                <a:solidFill>
                  <a:srgbClr val="FF0000"/>
                </a:solidFill>
              </a:rPr>
              <a:t>-f </a:t>
            </a:r>
            <a:r>
              <a:rPr lang="en-US" altLang="ko-KR" sz="1000" b="1" dirty="0" err="1">
                <a:solidFill>
                  <a:srgbClr val="FF0000"/>
                </a:solidFill>
              </a:rPr>
              <a:t>obj.yaml</a:t>
            </a:r>
            <a:endParaRPr lang="en-US" altLang="ko-KR" sz="1000" b="1" dirty="0">
              <a:solidFill>
                <a:srgbClr val="FF0000"/>
              </a:solidFill>
            </a:endParaRPr>
          </a:p>
        </p:txBody>
      </p:sp>
      <p:sp>
        <p:nvSpPr>
          <p:cNvPr id="10" name="직사각형 9">
            <a:extLst>
              <a:ext uri="{FF2B5EF4-FFF2-40B4-BE49-F238E27FC236}">
                <a16:creationId xmlns:a16="http://schemas.microsoft.com/office/drawing/2014/main" id="{58317142-4716-485C-BDF8-BC0F5197DBD6}"/>
              </a:ext>
            </a:extLst>
          </p:cNvPr>
          <p:cNvSpPr/>
          <p:nvPr/>
        </p:nvSpPr>
        <p:spPr>
          <a:xfrm>
            <a:off x="4531306" y="5196568"/>
            <a:ext cx="3129383"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 &lt;resource-name&gt; &lt;obj-name&gt;</a:t>
            </a:r>
          </a:p>
        </p:txBody>
      </p:sp>
    </p:spTree>
    <p:extLst>
      <p:ext uri="{BB962C8B-B14F-4D97-AF65-F5344CB8AC3E}">
        <p14:creationId xmlns:p14="http://schemas.microsoft.com/office/powerpoint/2010/main" val="2865990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Labeling and Annotating Objects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Annotation and Label :</a:t>
            </a:r>
          </a:p>
          <a:p>
            <a:pPr lvl="1">
              <a:buFont typeface="Wingdings" panose="05000000000000000000" pitchFamily="2" charset="2"/>
              <a:buChar char="§"/>
            </a:pPr>
            <a:r>
              <a:rPr lang="en-US" altLang="ko-KR" sz="1400" b="1" dirty="0"/>
              <a:t>Labels and annotations are tags for your objects</a:t>
            </a:r>
            <a:r>
              <a:rPr lang="en-US" altLang="ko-KR" sz="1400" dirty="0"/>
              <a:t>. You can update the labels and annotations on any Kubernetes object using the “</a:t>
            </a:r>
            <a:r>
              <a:rPr lang="en-US" altLang="ko-KR" sz="1400" b="1" dirty="0">
                <a:solidFill>
                  <a:srgbClr val="FF0000"/>
                </a:solidFill>
              </a:rPr>
              <a:t>annotate</a:t>
            </a:r>
            <a:r>
              <a:rPr lang="en-US" altLang="ko-KR" sz="1400" dirty="0"/>
              <a:t>” and “</a:t>
            </a:r>
            <a:r>
              <a:rPr lang="en-US" altLang="ko-KR" sz="1400" b="1" dirty="0">
                <a:solidFill>
                  <a:srgbClr val="FF0000"/>
                </a:solidFill>
              </a:rPr>
              <a:t>label</a:t>
            </a:r>
            <a:r>
              <a:rPr lang="en-US" altLang="ko-KR" sz="1400" dirty="0"/>
              <a:t>” commands. For example, to add the “</a:t>
            </a:r>
            <a:r>
              <a:rPr lang="en-US" altLang="ko-KR" sz="1400" b="1" dirty="0"/>
              <a:t>color=red</a:t>
            </a:r>
            <a:r>
              <a:rPr lang="en-US" altLang="ko-KR" sz="1400" dirty="0"/>
              <a:t>” label to a Pod named “</a:t>
            </a:r>
            <a:r>
              <a:rPr lang="en-US" altLang="ko-KR" sz="1400" b="1" dirty="0"/>
              <a:t>bar</a:t>
            </a:r>
            <a:r>
              <a:rPr lang="en-US" altLang="ko-KR" sz="1400" dirty="0"/>
              <a:t>”,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syntax for annotations is identical</a:t>
            </a:r>
            <a:r>
              <a:rPr lang="en-US" altLang="ko-KR" sz="1400" dirty="0"/>
              <a:t>.</a:t>
            </a:r>
          </a:p>
          <a:p>
            <a:pPr lvl="1">
              <a:buFont typeface="Wingdings" panose="05000000000000000000" pitchFamily="2" charset="2"/>
              <a:buChar char="§"/>
            </a:pPr>
            <a:r>
              <a:rPr lang="en-US" altLang="ko-KR" sz="1400" b="1" dirty="0"/>
              <a:t>By default, label and annotate will not let you overwrite an existing label</a:t>
            </a:r>
            <a:r>
              <a:rPr lang="en-US" altLang="ko-KR" sz="1400" dirty="0"/>
              <a:t>. To do this, you need to </a:t>
            </a:r>
            <a:r>
              <a:rPr lang="en-US" altLang="ko-KR" sz="1400" b="1" dirty="0"/>
              <a:t>add the “--overwrite” flag</a:t>
            </a:r>
            <a:r>
              <a:rPr lang="en-US" altLang="ko-KR" sz="1400" dirty="0"/>
              <a:t>.</a:t>
            </a:r>
          </a:p>
          <a:p>
            <a:pPr lvl="1">
              <a:buFont typeface="Wingdings" panose="05000000000000000000" pitchFamily="2" charset="2"/>
              <a:buChar char="§"/>
            </a:pPr>
            <a:r>
              <a:rPr lang="en-US" altLang="ko-KR" sz="1400" dirty="0"/>
              <a:t>If you want to </a:t>
            </a:r>
            <a:r>
              <a:rPr lang="en-US" altLang="ko-KR" sz="1400" b="1" dirty="0"/>
              <a:t>remove a label</a:t>
            </a:r>
            <a:r>
              <a:rPr lang="en-US" altLang="ko-KR" sz="1400" dirty="0"/>
              <a:t>, you can use the “</a:t>
            </a:r>
            <a:r>
              <a:rPr lang="en-US" altLang="ko-KR" sz="1400" b="1" dirty="0">
                <a:solidFill>
                  <a:srgbClr val="FF0000"/>
                </a:solidFill>
              </a:rPr>
              <a:t>&lt;label-name&gt;-</a:t>
            </a:r>
            <a:r>
              <a:rPr lang="en-US" altLang="ko-KR" sz="1400" dirty="0"/>
              <a:t>” syntax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remove the color label from the Pod named bar.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5ADE8CB1-C520-40ED-8518-86CEE0A9BD0E}"/>
              </a:ext>
            </a:extLst>
          </p:cNvPr>
          <p:cNvSpPr/>
          <p:nvPr/>
        </p:nvSpPr>
        <p:spPr>
          <a:xfrm>
            <a:off x="4071360" y="1776481"/>
            <a:ext cx="404927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label pods bar color=red</a:t>
            </a:r>
          </a:p>
        </p:txBody>
      </p:sp>
      <p:sp>
        <p:nvSpPr>
          <p:cNvPr id="10" name="직사각형 9">
            <a:extLst>
              <a:ext uri="{FF2B5EF4-FFF2-40B4-BE49-F238E27FC236}">
                <a16:creationId xmlns:a16="http://schemas.microsoft.com/office/drawing/2014/main" id="{B080AC4E-F9FB-4CE6-B6D8-9215C135E17C}"/>
              </a:ext>
            </a:extLst>
          </p:cNvPr>
          <p:cNvSpPr/>
          <p:nvPr/>
        </p:nvSpPr>
        <p:spPr>
          <a:xfrm>
            <a:off x="4071360" y="3343602"/>
            <a:ext cx="4049279"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pods bar </a:t>
            </a:r>
            <a:r>
              <a:rPr lang="en-US" altLang="ko-KR" sz="1000" b="1" dirty="0">
                <a:solidFill>
                  <a:srgbClr val="FF0000"/>
                </a:solidFill>
              </a:rPr>
              <a:t>color-</a:t>
            </a:r>
          </a:p>
        </p:txBody>
      </p:sp>
      <p:pic>
        <p:nvPicPr>
          <p:cNvPr id="11" name="그림 10">
            <a:extLst>
              <a:ext uri="{FF2B5EF4-FFF2-40B4-BE49-F238E27FC236}">
                <a16:creationId xmlns:a16="http://schemas.microsoft.com/office/drawing/2014/main" id="{D1B096C3-123E-4525-87A1-8610E46F575C}"/>
              </a:ext>
            </a:extLst>
          </p:cNvPr>
          <p:cNvPicPr>
            <a:picLocks noChangeAspect="1"/>
          </p:cNvPicPr>
          <p:nvPr/>
        </p:nvPicPr>
        <p:blipFill>
          <a:blip r:embed="rId2"/>
          <a:stretch>
            <a:fillRect/>
          </a:stretch>
        </p:blipFill>
        <p:spPr>
          <a:xfrm>
            <a:off x="7058025" y="4138406"/>
            <a:ext cx="4295775" cy="2270624"/>
          </a:xfrm>
          <a:prstGeom prst="rect">
            <a:avLst/>
          </a:prstGeom>
        </p:spPr>
      </p:pic>
    </p:spTree>
    <p:extLst>
      <p:ext uri="{BB962C8B-B14F-4D97-AF65-F5344CB8AC3E}">
        <p14:creationId xmlns:p14="http://schemas.microsoft.com/office/powerpoint/2010/main" val="20688060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Logging :</a:t>
            </a:r>
          </a:p>
          <a:p>
            <a:pPr lvl="1">
              <a:buFont typeface="Wingdings" panose="05000000000000000000" pitchFamily="2" charset="2"/>
              <a:buChar char="§"/>
            </a:pPr>
            <a:r>
              <a:rPr lang="en-US" altLang="ko-KR" sz="1400" b="1" dirty="0" err="1"/>
              <a:t>kubectl</a:t>
            </a:r>
            <a:r>
              <a:rPr lang="en-US" altLang="ko-KR" sz="1400" b="1" dirty="0"/>
              <a:t> also makes a number of commands available for debugging your containers</a:t>
            </a:r>
            <a:r>
              <a:rPr lang="en-US" altLang="ko-KR" sz="1400" dirty="0"/>
              <a:t>. You can use the following to see the </a:t>
            </a:r>
            <a:r>
              <a:rPr lang="en-US" altLang="ko-KR" sz="1400" b="1" dirty="0"/>
              <a:t>logs</a:t>
            </a:r>
            <a:r>
              <a:rPr lang="en-US" altLang="ko-KR" sz="1400" dirty="0"/>
              <a:t> for a running container:</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have multiple containers in your Pod, you can choose the container to view using the “</a:t>
            </a:r>
            <a:r>
              <a:rPr lang="en-US" altLang="ko-KR" sz="1400" b="1" dirty="0"/>
              <a:t>-c</a:t>
            </a:r>
            <a:r>
              <a:rPr lang="en-US" altLang="ko-KR" sz="1400" dirty="0"/>
              <a:t>” flag.</a:t>
            </a:r>
          </a:p>
          <a:p>
            <a:pPr lvl="1">
              <a:buFont typeface="Wingdings" panose="05000000000000000000" pitchFamily="2" charset="2"/>
              <a:buChar char="§"/>
            </a:pPr>
            <a:r>
              <a:rPr lang="en-US" altLang="ko-KR" sz="1400" b="1" dirty="0"/>
              <a:t>By default, </a:t>
            </a:r>
            <a:r>
              <a:rPr lang="en-US" altLang="ko-KR" sz="1400" b="1" dirty="0" err="1"/>
              <a:t>kubectl</a:t>
            </a:r>
            <a:r>
              <a:rPr lang="en-US" altLang="ko-KR" sz="1400" b="1" dirty="0"/>
              <a:t> logs lists the current logs and exits</a:t>
            </a:r>
            <a:r>
              <a:rPr lang="en-US" altLang="ko-KR" sz="1400" dirty="0"/>
              <a:t>. If you instead want to </a:t>
            </a:r>
            <a:r>
              <a:rPr lang="en-US" altLang="ko-KR" sz="1400" b="1" dirty="0"/>
              <a:t>continuously stream the logs back to the terminal without exiting</a:t>
            </a:r>
            <a:r>
              <a:rPr lang="en-US" altLang="ko-KR" sz="1400" dirty="0"/>
              <a:t>, you can add the “</a:t>
            </a:r>
            <a:r>
              <a:rPr lang="en-US" altLang="ko-KR" sz="1400" b="1" dirty="0"/>
              <a:t>-f (follow)</a:t>
            </a:r>
            <a:r>
              <a:rPr lang="en-US" altLang="ko-KR" sz="1400" dirty="0"/>
              <a:t>” command-line flag.</a:t>
            </a:r>
          </a:p>
          <a:p>
            <a:pPr lvl="1">
              <a:buFont typeface="Wingdings" panose="05000000000000000000" pitchFamily="2" charset="2"/>
              <a:buChar char="§"/>
            </a:pPr>
            <a:r>
              <a:rPr lang="en-US" altLang="ko-KR" sz="1400" dirty="0"/>
              <a:t>You can also use the “</a:t>
            </a:r>
            <a:r>
              <a:rPr lang="en-US" altLang="ko-KR" sz="1400" b="1" dirty="0"/>
              <a:t>exec</a:t>
            </a:r>
            <a:r>
              <a:rPr lang="en-US" altLang="ko-KR" sz="1400" dirty="0"/>
              <a:t>” command to execute a command in a running container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provide you with an “</a:t>
            </a:r>
            <a:r>
              <a:rPr lang="en-US" altLang="ko-KR" sz="1400" b="1" dirty="0"/>
              <a:t>interactive(-it) shell(bash)” inside the running container </a:t>
            </a:r>
            <a:r>
              <a:rPr lang="en-US" altLang="ko-KR" sz="1400" dirty="0"/>
              <a:t>so that you can perform more debugging.</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9C41C210-3548-4DC3-AFA2-0606705AB9C5}"/>
              </a:ext>
            </a:extLst>
          </p:cNvPr>
          <p:cNvSpPr/>
          <p:nvPr/>
        </p:nvSpPr>
        <p:spPr>
          <a:xfrm>
            <a:off x="4171061" y="1672208"/>
            <a:ext cx="3849878"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logs &lt;pod-name&gt;</a:t>
            </a:r>
          </a:p>
        </p:txBody>
      </p:sp>
      <p:sp>
        <p:nvSpPr>
          <p:cNvPr id="8" name="직사각형 7">
            <a:extLst>
              <a:ext uri="{FF2B5EF4-FFF2-40B4-BE49-F238E27FC236}">
                <a16:creationId xmlns:a16="http://schemas.microsoft.com/office/drawing/2014/main" id="{19B425E4-F491-4F4D-AF43-494813889BDC}"/>
              </a:ext>
            </a:extLst>
          </p:cNvPr>
          <p:cNvSpPr/>
          <p:nvPr/>
        </p:nvSpPr>
        <p:spPr>
          <a:xfrm>
            <a:off x="4171061" y="3305889"/>
            <a:ext cx="3849878"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exec -it &lt;pod-name&gt; -- bash</a:t>
            </a:r>
          </a:p>
        </p:txBody>
      </p:sp>
      <p:pic>
        <p:nvPicPr>
          <p:cNvPr id="9" name="그림 8">
            <a:extLst>
              <a:ext uri="{FF2B5EF4-FFF2-40B4-BE49-F238E27FC236}">
                <a16:creationId xmlns:a16="http://schemas.microsoft.com/office/drawing/2014/main" id="{9F5E6995-C49D-4571-9B95-F3D93E6C89D9}"/>
              </a:ext>
            </a:extLst>
          </p:cNvPr>
          <p:cNvPicPr>
            <a:picLocks noChangeAspect="1"/>
          </p:cNvPicPr>
          <p:nvPr/>
        </p:nvPicPr>
        <p:blipFill>
          <a:blip r:embed="rId2"/>
          <a:stretch>
            <a:fillRect/>
          </a:stretch>
        </p:blipFill>
        <p:spPr>
          <a:xfrm>
            <a:off x="4206714" y="4090932"/>
            <a:ext cx="3778571" cy="2364782"/>
          </a:xfrm>
          <a:prstGeom prst="rect">
            <a:avLst/>
          </a:prstGeom>
        </p:spPr>
      </p:pic>
    </p:spTree>
    <p:extLst>
      <p:ext uri="{BB962C8B-B14F-4D97-AF65-F5344CB8AC3E}">
        <p14:creationId xmlns:p14="http://schemas.microsoft.com/office/powerpoint/2010/main" val="13648825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Pod :</a:t>
            </a:r>
          </a:p>
          <a:p>
            <a:pPr lvl="1">
              <a:buFont typeface="Wingdings" panose="05000000000000000000" pitchFamily="2" charset="2"/>
              <a:buChar char="§"/>
            </a:pPr>
            <a:r>
              <a:rPr lang="en-US" altLang="ko-KR" sz="1400" dirty="0"/>
              <a:t>If you don’t have </a:t>
            </a:r>
            <a:r>
              <a:rPr lang="en-US" altLang="ko-KR" sz="1400" b="1" dirty="0"/>
              <a:t>bash</a:t>
            </a:r>
            <a:r>
              <a:rPr lang="en-US" altLang="ko-KR" sz="1400" dirty="0"/>
              <a:t> or some other terminal available within your container, you can always </a:t>
            </a:r>
            <a:r>
              <a:rPr lang="en-US" altLang="ko-KR" sz="1400" b="1" dirty="0">
                <a:solidFill>
                  <a:srgbClr val="FF0000"/>
                </a:solidFill>
              </a:rPr>
              <a:t>attach</a:t>
            </a:r>
            <a:r>
              <a:rPr lang="en-US" altLang="ko-KR" sz="1400" b="1" dirty="0"/>
              <a:t> to the running process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will attach to the running process. It is similar to </a:t>
            </a:r>
            <a:r>
              <a:rPr lang="en-US" altLang="ko-KR" sz="1400" dirty="0" err="1"/>
              <a:t>kubectl</a:t>
            </a:r>
            <a:r>
              <a:rPr lang="en-US" altLang="ko-KR" sz="1400" dirty="0"/>
              <a:t> logs but will </a:t>
            </a:r>
            <a:r>
              <a:rPr lang="en-US" altLang="ko-KR" sz="1400" b="1" dirty="0"/>
              <a:t>allow you to send input to the running process</a:t>
            </a:r>
            <a:r>
              <a:rPr lang="en-US" altLang="ko-KR" sz="1400" dirty="0"/>
              <a:t>, assuming that process is set up to read from standard input.</a:t>
            </a:r>
          </a:p>
          <a:p>
            <a:pPr lvl="1">
              <a:buFont typeface="Wingdings" panose="05000000000000000000" pitchFamily="2" charset="2"/>
              <a:buChar char="§"/>
            </a:pPr>
            <a:r>
              <a:rPr lang="en-US" altLang="ko-KR" sz="1400" dirty="0"/>
              <a:t>You can also </a:t>
            </a:r>
            <a:r>
              <a:rPr lang="en-US" altLang="ko-KR" sz="1400" b="1" dirty="0"/>
              <a:t>copy files to and from a container using the cp command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will copy a file from a running container to your local machine</a:t>
            </a:r>
            <a:r>
              <a:rPr lang="en-US" altLang="ko-KR" sz="1400" dirty="0"/>
              <a:t>. You can also specify directories, or reverse the syntax to copy a file from your local machine back out into the container.</a:t>
            </a:r>
          </a:p>
          <a:p>
            <a:pPr lvl="1">
              <a:buFont typeface="Wingdings" panose="05000000000000000000" pitchFamily="2" charset="2"/>
              <a:buChar char="§"/>
            </a:pPr>
            <a:r>
              <a:rPr lang="en-US" altLang="ko-KR" sz="1400" b="1" dirty="0"/>
              <a:t>If you want to access your Pod via the network, you can use the “</a:t>
            </a:r>
            <a:r>
              <a:rPr lang="en-US" altLang="ko-KR" sz="1400" b="1" dirty="0">
                <a:solidFill>
                  <a:srgbClr val="FF0000"/>
                </a:solidFill>
              </a:rPr>
              <a:t>port-forward</a:t>
            </a:r>
            <a:r>
              <a:rPr lang="en-US" altLang="ko-KR" sz="1400" b="1" dirty="0"/>
              <a:t>” command to forward network traffic from the local machine to the Pod</a:t>
            </a:r>
            <a:r>
              <a:rPr lang="en-US" altLang="ko-KR" sz="1400" dirty="0"/>
              <a:t>. This enables you </a:t>
            </a:r>
            <a:r>
              <a:rPr lang="en-US" altLang="ko-KR" sz="1400" b="1" dirty="0"/>
              <a:t>to securely tunnel network traffic </a:t>
            </a:r>
            <a:r>
              <a:rPr lang="en-US" altLang="ko-KR" sz="1400" dirty="0"/>
              <a:t>through to containers that might not be exposed anywhere on the public network. For example, the following command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opens up a connection that forwards traffic from the local machine on port 8080 to the remote container on port 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63E99EC-61BF-4BD5-8844-3951A28A6C87}"/>
              </a:ext>
            </a:extLst>
          </p:cNvPr>
          <p:cNvSpPr/>
          <p:nvPr/>
        </p:nvSpPr>
        <p:spPr>
          <a:xfrm>
            <a:off x="3048000" y="1591998"/>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attach</a:t>
            </a:r>
            <a:r>
              <a:rPr lang="en-US" altLang="ko-KR" sz="1000" b="1" dirty="0"/>
              <a:t> -it &lt;pod-name&gt;</a:t>
            </a:r>
            <a:endParaRPr lang="ko-KR" altLang="en-US" sz="1000" b="1" dirty="0"/>
          </a:p>
        </p:txBody>
      </p:sp>
      <p:sp>
        <p:nvSpPr>
          <p:cNvPr id="8" name="직사각형 7">
            <a:extLst>
              <a:ext uri="{FF2B5EF4-FFF2-40B4-BE49-F238E27FC236}">
                <a16:creationId xmlns:a16="http://schemas.microsoft.com/office/drawing/2014/main" id="{4D16F4EC-37B2-4A91-8692-682E7C9D7B96}"/>
              </a:ext>
            </a:extLst>
          </p:cNvPr>
          <p:cNvSpPr/>
          <p:nvPr/>
        </p:nvSpPr>
        <p:spPr>
          <a:xfrm>
            <a:off x="3048000" y="2890017"/>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a:t>
            </a:r>
            <a:r>
              <a:rPr lang="en-US" altLang="ko-KR" sz="1000" b="1" dirty="0"/>
              <a:t> </a:t>
            </a:r>
            <a:r>
              <a:rPr lang="en-US" altLang="ko-KR" sz="1000" b="1" dirty="0">
                <a:solidFill>
                  <a:srgbClr val="FF0000"/>
                </a:solidFill>
              </a:rPr>
              <a:t>&lt;pod-name&gt;:&lt;/path/to/remote/file&gt; &lt;/path/to/local/file&gt;</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208AD22D-31EF-427E-B5F2-2F388831A8AB}"/>
              </a:ext>
            </a:extLst>
          </p:cNvPr>
          <p:cNvSpPr/>
          <p:nvPr/>
        </p:nvSpPr>
        <p:spPr>
          <a:xfrm>
            <a:off x="3048000" y="4484030"/>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port-forward &lt;pod-name&gt; 8080:80</a:t>
            </a:r>
            <a:endParaRPr lang="ko-KR" altLang="en-US" sz="1000" b="1" dirty="0">
              <a:solidFill>
                <a:srgbClr val="FF0000"/>
              </a:solidFill>
            </a:endParaRPr>
          </a:p>
        </p:txBody>
      </p:sp>
    </p:spTree>
    <p:extLst>
      <p:ext uri="{BB962C8B-B14F-4D97-AF65-F5344CB8AC3E}">
        <p14:creationId xmlns:p14="http://schemas.microsoft.com/office/powerpoint/2010/main" val="25485795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Debugging Commands(3/3)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Resource Usage :</a:t>
            </a:r>
          </a:p>
          <a:p>
            <a:pPr lvl="1">
              <a:buFont typeface="Wingdings" panose="05000000000000000000" pitchFamily="2" charset="2"/>
              <a:buChar char="§"/>
            </a:pPr>
            <a:r>
              <a:rPr lang="en-US" altLang="ko-KR" sz="1400" b="1" dirty="0"/>
              <a:t>You can also use the port-forward command with services by specifying services “/&lt;service-name&gt;” instead of “&lt;pod-name&gt;”</a:t>
            </a:r>
            <a:r>
              <a:rPr lang="en-US" altLang="ko-KR" sz="1400" dirty="0"/>
              <a:t>, but note that if you do port-forward to a service, the requests will only ever be forwarded to a single Pod in that service. </a:t>
            </a:r>
            <a:r>
              <a:rPr lang="en-US" altLang="ko-KR" sz="1400" b="1" dirty="0"/>
              <a:t>They will not go through the service load balancer</a:t>
            </a:r>
            <a:r>
              <a:rPr lang="en-US" altLang="ko-KR" sz="1400" dirty="0"/>
              <a:t>.</a:t>
            </a:r>
          </a:p>
          <a:p>
            <a:pPr lvl="1">
              <a:buFont typeface="Wingdings" panose="05000000000000000000" pitchFamily="2" charset="2"/>
              <a:buChar char="§"/>
            </a:pPr>
            <a:r>
              <a:rPr lang="en-US" altLang="ko-KR" sz="1400" dirty="0"/>
              <a:t>Finally, if you are interested in </a:t>
            </a:r>
            <a:r>
              <a:rPr lang="en-US" altLang="ko-KR" sz="1400" b="1" dirty="0"/>
              <a:t>how your cluster is using resources</a:t>
            </a:r>
            <a:r>
              <a:rPr lang="en-US" altLang="ko-KR" sz="1400" dirty="0"/>
              <a:t>, you can use the “</a:t>
            </a:r>
            <a:r>
              <a:rPr lang="en-US" altLang="ko-KR" sz="1400" b="1" dirty="0"/>
              <a:t>top” command to see the list of resources in use by either nodes or Pods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will display the total CPU and memory in use by the nodes in terms of both absolute units (e.g., cores) and percentage of available resources (e.g., total number of cores)</a:t>
            </a:r>
            <a:r>
              <a:rPr lang="en-US" altLang="ko-KR" sz="1400" dirty="0"/>
              <a:t>. </a:t>
            </a:r>
          </a:p>
          <a:p>
            <a:pPr lvl="1">
              <a:buFont typeface="Wingdings" panose="05000000000000000000" pitchFamily="2" charset="2"/>
              <a:buChar char="§"/>
            </a:pPr>
            <a:r>
              <a:rPr lang="en-US" altLang="ko-KR" sz="1400" dirty="0"/>
              <a:t>Similarly, the following command will show all Pods and their resource usage. By default it only </a:t>
            </a:r>
            <a:r>
              <a:rPr lang="en-US" altLang="ko-KR" sz="1400" b="1" dirty="0"/>
              <a:t>displays Pods in the current namespace</a:t>
            </a:r>
            <a:r>
              <a:rPr lang="en-US" altLang="ko-KR" sz="1400" dirty="0"/>
              <a:t>, but you can add the “</a:t>
            </a:r>
            <a:r>
              <a:rPr lang="en-US" altLang="ko-KR" sz="1400" b="1" dirty="0"/>
              <a:t>--all-namespaces</a:t>
            </a:r>
            <a:r>
              <a:rPr lang="en-US" altLang="ko-KR" sz="1400" dirty="0"/>
              <a:t>” </a:t>
            </a:r>
            <a:r>
              <a:rPr lang="en-US" altLang="ko-KR" sz="1400" b="1" dirty="0"/>
              <a:t>flag to see resource usage by all Pods in the cluster</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Before you run “</a:t>
            </a:r>
            <a:r>
              <a:rPr lang="en-US" altLang="ko-KR" sz="1400" b="1" dirty="0" err="1"/>
              <a:t>kubectl</a:t>
            </a:r>
            <a:r>
              <a:rPr lang="en-US" altLang="ko-KR" sz="1400" b="1" dirty="0"/>
              <a:t> top nodes” command, you need to enable “</a:t>
            </a:r>
            <a:r>
              <a:rPr lang="en-US" altLang="ko-KR" sz="1400" b="1" dirty="0">
                <a:solidFill>
                  <a:srgbClr val="FF0000"/>
                </a:solidFill>
              </a:rPr>
              <a:t>metrics-server</a:t>
            </a:r>
            <a:r>
              <a:rPr lang="en-US" altLang="ko-KR" sz="1400" b="1" dirty="0"/>
              <a:t>” add-on </a:t>
            </a:r>
            <a:r>
              <a:rPr lang="en-US" altLang="ko-KR" sz="1400" dirty="0"/>
              <a:t>with the following command</a:t>
            </a:r>
            <a:r>
              <a:rPr lang="en-US" altLang="ko-KR" sz="1400" b="1" dirty="0"/>
              <a:t> : “</a:t>
            </a:r>
            <a:r>
              <a:rPr lang="en-US" altLang="ko-KR" sz="1400" b="1" dirty="0" err="1"/>
              <a:t>minikube</a:t>
            </a:r>
            <a:r>
              <a:rPr lang="en-US" altLang="ko-KR" sz="1400" b="1" dirty="0"/>
              <a:t> addons enable metric-server”.</a:t>
            </a:r>
            <a:endParaRPr lang="en-US" altLang="ko-KR" sz="1400" dirty="0"/>
          </a:p>
          <a:p>
            <a:pPr lvl="1">
              <a:buFont typeface="Wingdings" panose="05000000000000000000" pitchFamily="2" charset="2"/>
              <a:buChar char="§"/>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129B325-1EF3-4969-9597-31171DC86533}"/>
              </a:ext>
            </a:extLst>
          </p:cNvPr>
          <p:cNvSpPr/>
          <p:nvPr/>
        </p:nvSpPr>
        <p:spPr>
          <a:xfrm>
            <a:off x="4710757" y="2297850"/>
            <a:ext cx="2770486"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a:t>
            </a:r>
            <a:r>
              <a:rPr lang="en-US" altLang="ko-KR" sz="1000" b="1" dirty="0">
                <a:solidFill>
                  <a:srgbClr val="FF0000"/>
                </a:solidFill>
              </a:rPr>
              <a:t>top</a:t>
            </a:r>
            <a:r>
              <a:rPr lang="en-US" altLang="ko-KR" sz="1000" b="1" dirty="0"/>
              <a:t> </a:t>
            </a:r>
            <a:r>
              <a:rPr lang="en-US" altLang="ko-KR" sz="1000" b="1" dirty="0">
                <a:solidFill>
                  <a:srgbClr val="FF0000"/>
                </a:solidFill>
              </a:rPr>
              <a:t>nodes</a:t>
            </a:r>
          </a:p>
        </p:txBody>
      </p:sp>
      <p:sp>
        <p:nvSpPr>
          <p:cNvPr id="8" name="직사각형 7">
            <a:extLst>
              <a:ext uri="{FF2B5EF4-FFF2-40B4-BE49-F238E27FC236}">
                <a16:creationId xmlns:a16="http://schemas.microsoft.com/office/drawing/2014/main" id="{8AD65BFF-BFCD-4E93-BECD-889287C2A9D6}"/>
              </a:ext>
            </a:extLst>
          </p:cNvPr>
          <p:cNvSpPr/>
          <p:nvPr/>
        </p:nvSpPr>
        <p:spPr>
          <a:xfrm>
            <a:off x="4710757" y="3717813"/>
            <a:ext cx="2770486" cy="246221"/>
          </a:xfrm>
          <a:prstGeom prst="rect">
            <a:avLst/>
          </a:prstGeom>
          <a:ln>
            <a:solidFill>
              <a:schemeClr val="bg1">
                <a:lumMod val="50000"/>
              </a:schemeClr>
            </a:solidFill>
          </a:ln>
        </p:spPr>
        <p:txBody>
          <a:bodyPr wrap="square">
            <a:spAutoFit/>
          </a:bodyPr>
          <a:lstStyle/>
          <a:p>
            <a:r>
              <a:rPr lang="en-US" altLang="ko-KR" sz="1000" b="1" dirty="0" err="1"/>
              <a:t>kubectl</a:t>
            </a:r>
            <a:r>
              <a:rPr lang="en-US" altLang="ko-KR" sz="1000" b="1" dirty="0"/>
              <a:t> </a:t>
            </a:r>
            <a:r>
              <a:rPr lang="en-US" altLang="ko-KR" sz="1000" b="1" dirty="0">
                <a:solidFill>
                  <a:srgbClr val="FF0000"/>
                </a:solidFill>
              </a:rPr>
              <a:t>top pods</a:t>
            </a:r>
          </a:p>
        </p:txBody>
      </p:sp>
      <p:grpSp>
        <p:nvGrpSpPr>
          <p:cNvPr id="13" name="그룹 12">
            <a:extLst>
              <a:ext uri="{FF2B5EF4-FFF2-40B4-BE49-F238E27FC236}">
                <a16:creationId xmlns:a16="http://schemas.microsoft.com/office/drawing/2014/main" id="{683FAE70-0EB9-42E2-8240-7B0FB4F17C18}"/>
              </a:ext>
            </a:extLst>
          </p:cNvPr>
          <p:cNvGrpSpPr/>
          <p:nvPr/>
        </p:nvGrpSpPr>
        <p:grpSpPr>
          <a:xfrm>
            <a:off x="1613234" y="4580061"/>
            <a:ext cx="8965532" cy="1828969"/>
            <a:chOff x="1613234" y="4580061"/>
            <a:chExt cx="8965532" cy="1828969"/>
          </a:xfrm>
        </p:grpSpPr>
        <p:pic>
          <p:nvPicPr>
            <p:cNvPr id="9" name="그림 8">
              <a:extLst>
                <a:ext uri="{FF2B5EF4-FFF2-40B4-BE49-F238E27FC236}">
                  <a16:creationId xmlns:a16="http://schemas.microsoft.com/office/drawing/2014/main" id="{E50CC031-03E9-4157-B30B-42F45BC83589}"/>
                </a:ext>
              </a:extLst>
            </p:cNvPr>
            <p:cNvPicPr>
              <a:picLocks noChangeAspect="1"/>
            </p:cNvPicPr>
            <p:nvPr/>
          </p:nvPicPr>
          <p:blipFill>
            <a:blip r:embed="rId2"/>
            <a:stretch>
              <a:fillRect/>
            </a:stretch>
          </p:blipFill>
          <p:spPr>
            <a:xfrm>
              <a:off x="1613234" y="4580061"/>
              <a:ext cx="8965532" cy="1828969"/>
            </a:xfrm>
            <a:prstGeom prst="rect">
              <a:avLst/>
            </a:prstGeom>
          </p:spPr>
        </p:pic>
        <p:sp>
          <p:nvSpPr>
            <p:cNvPr id="10" name="직사각형 9">
              <a:extLst>
                <a:ext uri="{FF2B5EF4-FFF2-40B4-BE49-F238E27FC236}">
                  <a16:creationId xmlns:a16="http://schemas.microsoft.com/office/drawing/2014/main" id="{AE8FA905-3F80-4DD3-AC14-5F56FA3136D3}"/>
                </a:ext>
              </a:extLst>
            </p:cNvPr>
            <p:cNvSpPr/>
            <p:nvPr/>
          </p:nvSpPr>
          <p:spPr>
            <a:xfrm>
              <a:off x="3168316" y="5085347"/>
              <a:ext cx="2770486" cy="1575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ED619BC-FC5F-4A7B-9857-D65A80198E15}"/>
                </a:ext>
              </a:extLst>
            </p:cNvPr>
            <p:cNvSpPr/>
            <p:nvPr/>
          </p:nvSpPr>
          <p:spPr>
            <a:xfrm>
              <a:off x="3168316" y="5542671"/>
              <a:ext cx="2770486" cy="1575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10374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Command Autocompletion</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Autocompletion in Shell Environment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supports integration with your shell to enable tab completion for both commands and resources</a:t>
            </a:r>
            <a:r>
              <a:rPr lang="en-US" altLang="ko-KR" sz="1400" dirty="0"/>
              <a:t>. Depending on your environment, you may need to </a:t>
            </a:r>
            <a:r>
              <a:rPr lang="en-US" altLang="ko-KR" sz="1400" b="1" dirty="0"/>
              <a:t>install the “bash-completion” package</a:t>
            </a:r>
            <a:r>
              <a:rPr lang="en-US" altLang="ko-KR" sz="1400" dirty="0"/>
              <a:t> before you activate command autocompletion. You can do this using the appropriate package manager: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When installing on MacOS, make sure to follow the instructions from “</a:t>
            </a:r>
            <a:r>
              <a:rPr lang="en-US" altLang="ko-KR" sz="1400" b="1" dirty="0"/>
              <a:t>brew</a:t>
            </a:r>
            <a:r>
              <a:rPr lang="en-US" altLang="ko-KR" sz="1400" dirty="0"/>
              <a:t>” about how to activate tab completion using your “</a:t>
            </a:r>
            <a:r>
              <a:rPr lang="en-US" altLang="ko-KR" sz="1400" b="1" dirty="0"/>
              <a:t>${HOME}/.</a:t>
            </a:r>
            <a:r>
              <a:rPr lang="en-US" altLang="ko-KR" sz="1400" b="1" dirty="0" err="1"/>
              <a:t>bash_profile</a:t>
            </a:r>
            <a:r>
              <a:rPr lang="en-US" altLang="ko-KR" sz="1400" dirty="0"/>
              <a:t>”.</a:t>
            </a:r>
          </a:p>
          <a:p>
            <a:pPr lvl="1">
              <a:buFont typeface="Wingdings" panose="05000000000000000000" pitchFamily="2" charset="2"/>
              <a:buChar char="§"/>
            </a:pPr>
            <a:r>
              <a:rPr lang="en-US" altLang="ko-KR" sz="1400" dirty="0"/>
              <a:t>Once “</a:t>
            </a:r>
            <a:r>
              <a:rPr lang="en-US" altLang="ko-KR" sz="1400" b="1" dirty="0"/>
              <a:t>bash-completion</a:t>
            </a:r>
            <a:r>
              <a:rPr lang="en-US" altLang="ko-KR" sz="1400" dirty="0"/>
              <a:t>” is installed, you can temporarily activate it for your terminal using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To make this automatic for every terminal, you can add it to your “</a:t>
            </a:r>
            <a:r>
              <a:rPr lang="en-US" altLang="ko-KR" sz="1400" b="1" dirty="0"/>
              <a:t>${HOME}/.</a:t>
            </a:r>
            <a:r>
              <a:rPr lang="en-US" altLang="ko-KR" sz="1400" b="1" dirty="0" err="1"/>
              <a:t>bashrc</a:t>
            </a:r>
            <a:r>
              <a:rPr lang="en-US" altLang="ko-KR" sz="1400" dirty="0"/>
              <a:t>” file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If you use “</a:t>
            </a:r>
            <a:r>
              <a:rPr lang="en-US" altLang="ko-KR" sz="1400" b="1" dirty="0" err="1"/>
              <a:t>zsh</a:t>
            </a:r>
            <a:r>
              <a:rPr lang="en-US" altLang="ko-KR" sz="1400" b="1" dirty="0"/>
              <a:t>”</a:t>
            </a:r>
            <a:r>
              <a:rPr lang="en-US" altLang="ko-KR" sz="1400" dirty="0"/>
              <a:t> you can find similar instructions in </a:t>
            </a:r>
            <a:r>
              <a:rPr lang="en-US" altLang="ko-KR" sz="1400" b="1" dirty="0">
                <a:hlinkClick r:id="rId2"/>
              </a:rPr>
              <a:t>https://kubernetes.io/docs/tasks/tools/#using-zsh</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CABFAFB-D469-43AB-A644-FC7826B3214B}"/>
              </a:ext>
            </a:extLst>
          </p:cNvPr>
          <p:cNvSpPr/>
          <p:nvPr/>
        </p:nvSpPr>
        <p:spPr>
          <a:xfrm>
            <a:off x="3048000" y="1837963"/>
            <a:ext cx="6096000" cy="1015663"/>
          </a:xfrm>
          <a:prstGeom prst="rect">
            <a:avLst/>
          </a:prstGeom>
          <a:ln>
            <a:solidFill>
              <a:schemeClr val="bg1">
                <a:lumMod val="50000"/>
              </a:schemeClr>
            </a:solidFill>
          </a:ln>
        </p:spPr>
        <p:txBody>
          <a:bodyPr>
            <a:spAutoFit/>
          </a:bodyPr>
          <a:lstStyle/>
          <a:p>
            <a:r>
              <a:rPr lang="en-US" altLang="ko-KR" sz="1000" b="1" dirty="0"/>
              <a:t># MacOS</a:t>
            </a:r>
          </a:p>
          <a:p>
            <a:r>
              <a:rPr lang="en-US" altLang="ko-KR" sz="1000" b="1" dirty="0"/>
              <a:t>brew install bash-completion</a:t>
            </a:r>
          </a:p>
          <a:p>
            <a:r>
              <a:rPr lang="en-US" altLang="ko-KR" sz="1000" b="1" dirty="0"/>
              <a:t># CentOS/Red Hat</a:t>
            </a:r>
          </a:p>
          <a:p>
            <a:r>
              <a:rPr lang="en-US" altLang="ko-KR" sz="1000" b="1" dirty="0"/>
              <a:t>yum install bash-completion</a:t>
            </a:r>
          </a:p>
          <a:p>
            <a:r>
              <a:rPr lang="en-US" altLang="ko-KR" sz="1000" b="1" dirty="0"/>
              <a:t># Debian/Ubuntu</a:t>
            </a:r>
          </a:p>
          <a:p>
            <a:r>
              <a:rPr lang="en-US" altLang="ko-KR" sz="1000" b="1" dirty="0"/>
              <a:t>apt-get install bash-completion</a:t>
            </a:r>
          </a:p>
        </p:txBody>
      </p:sp>
      <p:sp>
        <p:nvSpPr>
          <p:cNvPr id="8" name="직사각형 7">
            <a:extLst>
              <a:ext uri="{FF2B5EF4-FFF2-40B4-BE49-F238E27FC236}">
                <a16:creationId xmlns:a16="http://schemas.microsoft.com/office/drawing/2014/main" id="{AEBBACB3-95F9-4E9D-8915-6552F7188357}"/>
              </a:ext>
            </a:extLst>
          </p:cNvPr>
          <p:cNvSpPr/>
          <p:nvPr/>
        </p:nvSpPr>
        <p:spPr>
          <a:xfrm>
            <a:off x="3048000" y="3842198"/>
            <a:ext cx="6096000" cy="246221"/>
          </a:xfrm>
          <a:prstGeom prst="rect">
            <a:avLst/>
          </a:prstGeom>
          <a:ln>
            <a:solidFill>
              <a:schemeClr val="bg1">
                <a:lumMod val="50000"/>
              </a:schemeClr>
            </a:solidFill>
          </a:ln>
        </p:spPr>
        <p:txBody>
          <a:bodyPr wrap="square">
            <a:spAutoFit/>
          </a:bodyPr>
          <a:lstStyle/>
          <a:p>
            <a:r>
              <a:rPr lang="en-US" altLang="ko-KR" sz="1000" b="1" dirty="0"/>
              <a:t>source &lt;(</a:t>
            </a:r>
            <a:r>
              <a:rPr lang="en-US" altLang="ko-KR" sz="1000" b="1" dirty="0" err="1"/>
              <a:t>kubectl</a:t>
            </a:r>
            <a:r>
              <a:rPr lang="en-US" altLang="ko-KR" sz="1000" b="1" dirty="0"/>
              <a:t> completion bash)</a:t>
            </a:r>
          </a:p>
        </p:txBody>
      </p:sp>
      <p:sp>
        <p:nvSpPr>
          <p:cNvPr id="9" name="직사각형 8">
            <a:extLst>
              <a:ext uri="{FF2B5EF4-FFF2-40B4-BE49-F238E27FC236}">
                <a16:creationId xmlns:a16="http://schemas.microsoft.com/office/drawing/2014/main" id="{19E8DEE3-FBCE-48C6-A5B8-603AEB4E29DA}"/>
              </a:ext>
            </a:extLst>
          </p:cNvPr>
          <p:cNvSpPr/>
          <p:nvPr/>
        </p:nvSpPr>
        <p:spPr>
          <a:xfrm>
            <a:off x="3048000" y="4643668"/>
            <a:ext cx="6096000" cy="230832"/>
          </a:xfrm>
          <a:prstGeom prst="rect">
            <a:avLst/>
          </a:prstGeom>
          <a:ln>
            <a:solidFill>
              <a:schemeClr val="bg1">
                <a:lumMod val="50000"/>
              </a:schemeClr>
            </a:solidFill>
          </a:ln>
        </p:spPr>
        <p:txBody>
          <a:bodyPr>
            <a:spAutoFit/>
          </a:bodyPr>
          <a:lstStyle/>
          <a:p>
            <a:r>
              <a:rPr lang="en-US" altLang="ko-KR" sz="900" b="1" dirty="0"/>
              <a:t>echo "source &lt;(</a:t>
            </a:r>
            <a:r>
              <a:rPr lang="en-US" altLang="ko-KR" sz="900" b="1" dirty="0" err="1"/>
              <a:t>kubectl</a:t>
            </a:r>
            <a:r>
              <a:rPr lang="en-US" altLang="ko-KR" sz="900" b="1" dirty="0"/>
              <a:t> completion bash)" &gt;&gt; ${HOME}/.</a:t>
            </a:r>
            <a:r>
              <a:rPr lang="en-US" altLang="ko-KR" sz="900" b="1" dirty="0" err="1"/>
              <a:t>bashrc</a:t>
            </a:r>
            <a:endParaRPr lang="en-US" altLang="ko-KR" sz="900" b="1" dirty="0"/>
          </a:p>
        </p:txBody>
      </p:sp>
    </p:spTree>
    <p:extLst>
      <p:ext uri="{BB962C8B-B14F-4D97-AF65-F5344CB8AC3E}">
        <p14:creationId xmlns:p14="http://schemas.microsoft.com/office/powerpoint/2010/main" val="3733670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Shell Script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Bash Shell Setup :</a:t>
            </a:r>
          </a:p>
          <a:p>
            <a:pPr lvl="1">
              <a:buFont typeface="Wingdings" panose="05000000000000000000" pitchFamily="2" charset="2"/>
              <a:buChar char="§"/>
            </a:pPr>
            <a:r>
              <a:rPr lang="en-US" altLang="ko-KR" sz="1400" dirty="0"/>
              <a:t>You want to find any changes after running the previous command, you can see the “</a:t>
            </a:r>
            <a:r>
              <a:rPr lang="en-US" altLang="ko-KR" sz="1400" b="1" dirty="0"/>
              <a:t>$HOME/.</a:t>
            </a:r>
            <a:r>
              <a:rPr lang="en-US" altLang="ko-KR" sz="1400" b="1" dirty="0" err="1"/>
              <a:t>bashrc</a:t>
            </a:r>
            <a:r>
              <a:rPr lang="en-US" altLang="ko-KR" sz="1400" dirty="0"/>
              <a:t>” file, which will be run by the bash shell when you login.</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As you can see, the last line is added to the “</a:t>
            </a:r>
            <a:r>
              <a:rPr lang="en-US" altLang="ko-KR" sz="1400" b="1" dirty="0"/>
              <a:t>$HOME/.</a:t>
            </a:r>
            <a:r>
              <a:rPr lang="en-US" altLang="ko-KR" sz="1400" b="1" dirty="0" err="1"/>
              <a:t>bashrc</a:t>
            </a:r>
            <a:r>
              <a:rPr lang="en-US" altLang="ko-KR" sz="1400" dirty="0"/>
              <a:t>” file. “</a:t>
            </a:r>
            <a:r>
              <a:rPr lang="en-US" altLang="ko-KR" sz="1400" b="1" dirty="0"/>
              <a:t>source</a:t>
            </a:r>
            <a:r>
              <a:rPr lang="en-US" altLang="ko-KR" sz="1400" dirty="0"/>
              <a:t>” command will set the bash shell environment with the specified input.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C45A3530-6CDD-4A56-8CA1-3817C9D4579A}"/>
              </a:ext>
            </a:extLst>
          </p:cNvPr>
          <p:cNvGrpSpPr/>
          <p:nvPr/>
        </p:nvGrpSpPr>
        <p:grpSpPr>
          <a:xfrm>
            <a:off x="1681413" y="1834816"/>
            <a:ext cx="8829174" cy="2207294"/>
            <a:chOff x="1681413" y="1770647"/>
            <a:chExt cx="8829174" cy="2207294"/>
          </a:xfrm>
        </p:grpSpPr>
        <p:pic>
          <p:nvPicPr>
            <p:cNvPr id="4" name="그림 3">
              <a:extLst>
                <a:ext uri="{FF2B5EF4-FFF2-40B4-BE49-F238E27FC236}">
                  <a16:creationId xmlns:a16="http://schemas.microsoft.com/office/drawing/2014/main" id="{558A2474-AC33-4E85-90C5-011FF519FEC5}"/>
                </a:ext>
              </a:extLst>
            </p:cNvPr>
            <p:cNvPicPr>
              <a:picLocks noChangeAspect="1"/>
            </p:cNvPicPr>
            <p:nvPr/>
          </p:nvPicPr>
          <p:blipFill>
            <a:blip r:embed="rId2"/>
            <a:stretch>
              <a:fillRect/>
            </a:stretch>
          </p:blipFill>
          <p:spPr>
            <a:xfrm>
              <a:off x="1681413" y="1770647"/>
              <a:ext cx="8829174" cy="2207294"/>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C2B8D16C-7623-4AAB-A766-965FE4A7AA61}"/>
                </a:ext>
              </a:extLst>
            </p:cNvPr>
            <p:cNvSpPr/>
            <p:nvPr/>
          </p:nvSpPr>
          <p:spPr>
            <a:xfrm>
              <a:off x="1740568" y="3429000"/>
              <a:ext cx="2502569" cy="27672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4972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latin typeface="MyriadPro-SemiboldCond"/>
              </a:rPr>
              <a:t>Alternative Ways of Viewing Your Cluster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Plugins and Mobile App :</a:t>
            </a:r>
          </a:p>
          <a:p>
            <a:pPr lvl="1">
              <a:buFont typeface="Wingdings" panose="05000000000000000000" pitchFamily="2" charset="2"/>
              <a:buChar char="§"/>
            </a:pPr>
            <a:r>
              <a:rPr lang="en-US" altLang="ko-KR" sz="1400" dirty="0"/>
              <a:t>In addition to </a:t>
            </a:r>
            <a:r>
              <a:rPr lang="en-US" altLang="ko-KR" sz="1400" b="1" dirty="0" err="1"/>
              <a:t>kubectl</a:t>
            </a:r>
            <a:r>
              <a:rPr lang="en-US" altLang="ko-KR" sz="1400" dirty="0"/>
              <a:t>, there are other tools for interacting with your Kubernetes cluster. For example, </a:t>
            </a:r>
            <a:r>
              <a:rPr lang="en-US" altLang="ko-KR" sz="1400" b="1" dirty="0"/>
              <a:t>there are plug-ins for several editors that integrate Kubernetes and the editor environment</a:t>
            </a:r>
            <a:r>
              <a:rPr lang="en-US" altLang="ko-KR" sz="1400" dirty="0"/>
              <a:t>, including :</a:t>
            </a:r>
          </a:p>
          <a:p>
            <a:pPr lvl="2">
              <a:buFont typeface="Wingdings" panose="05000000000000000000" pitchFamily="2" charset="2"/>
              <a:buChar char="§"/>
            </a:pPr>
            <a:r>
              <a:rPr lang="en-US" altLang="ko-KR" sz="1400" b="1" dirty="0">
                <a:hlinkClick r:id="rId2"/>
              </a:rPr>
              <a:t>Visual Studio Code</a:t>
            </a:r>
            <a:endParaRPr lang="en-US" altLang="ko-KR" sz="1400" b="1" dirty="0"/>
          </a:p>
          <a:p>
            <a:pPr lvl="2">
              <a:buFont typeface="Wingdings" panose="05000000000000000000" pitchFamily="2" charset="2"/>
              <a:buChar char="§"/>
            </a:pPr>
            <a:r>
              <a:rPr lang="en-US" altLang="ko-KR" sz="1400" b="1" dirty="0">
                <a:hlinkClick r:id="rId3"/>
              </a:rPr>
              <a:t>IntelliJ</a:t>
            </a:r>
            <a:endParaRPr lang="en-US" altLang="ko-KR" sz="1400" b="1" dirty="0"/>
          </a:p>
          <a:p>
            <a:pPr lvl="2">
              <a:buFont typeface="Wingdings" panose="05000000000000000000" pitchFamily="2" charset="2"/>
              <a:buChar char="§"/>
            </a:pPr>
            <a:r>
              <a:rPr lang="en-US" altLang="ko-KR" sz="1400" b="1" dirty="0">
                <a:hlinkClick r:id="rId4"/>
              </a:rPr>
              <a:t>Eclipse</a:t>
            </a:r>
            <a:endParaRPr lang="en-US" altLang="ko-KR" sz="1400" b="1" dirty="0"/>
          </a:p>
          <a:p>
            <a:pPr lvl="1">
              <a:buFont typeface="Wingdings" panose="05000000000000000000" pitchFamily="2" charset="2"/>
              <a:buChar char="§"/>
            </a:pPr>
            <a:r>
              <a:rPr lang="en-US" altLang="ko-KR" sz="1400" dirty="0"/>
              <a:t>Additionally, there is </a:t>
            </a:r>
            <a:r>
              <a:rPr lang="en-US" altLang="ko-KR" sz="1400" b="1" dirty="0"/>
              <a:t>an</a:t>
            </a:r>
            <a:r>
              <a:rPr lang="en-US" altLang="ko-KR" sz="1400" dirty="0"/>
              <a:t> </a:t>
            </a:r>
            <a:r>
              <a:rPr lang="en-US" altLang="ko-KR" sz="1400" b="1" dirty="0">
                <a:hlinkClick r:id="rId5"/>
              </a:rPr>
              <a:t>open source mobile application</a:t>
            </a:r>
            <a:r>
              <a:rPr lang="en-US" altLang="ko-KR" sz="1400" b="1" dirty="0"/>
              <a:t> that allows you to access your cluster from your phone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A8F8D1F-7E77-4AB0-AD48-EF959A9AB793}"/>
              </a:ext>
            </a:extLst>
          </p:cNvPr>
          <p:cNvGrpSpPr/>
          <p:nvPr/>
        </p:nvGrpSpPr>
        <p:grpSpPr>
          <a:xfrm>
            <a:off x="3707355" y="3668523"/>
            <a:ext cx="4619749" cy="1167065"/>
            <a:chOff x="3707355" y="3668523"/>
            <a:chExt cx="4619749" cy="1167065"/>
          </a:xfrm>
        </p:grpSpPr>
        <p:pic>
          <p:nvPicPr>
            <p:cNvPr id="4" name="그림 3">
              <a:extLst>
                <a:ext uri="{FF2B5EF4-FFF2-40B4-BE49-F238E27FC236}">
                  <a16:creationId xmlns:a16="http://schemas.microsoft.com/office/drawing/2014/main" id="{05CC72EF-EEE3-4ECE-88B5-157729096838}"/>
                </a:ext>
              </a:extLst>
            </p:cNvPr>
            <p:cNvPicPr>
              <a:picLocks noChangeAspect="1"/>
            </p:cNvPicPr>
            <p:nvPr/>
          </p:nvPicPr>
          <p:blipFill>
            <a:blip r:embed="rId6"/>
            <a:stretch>
              <a:fillRect/>
            </a:stretch>
          </p:blipFill>
          <p:spPr>
            <a:xfrm>
              <a:off x="3707355" y="3668524"/>
              <a:ext cx="1167063" cy="1167063"/>
            </a:xfrm>
            <a:prstGeom prst="rect">
              <a:avLst/>
            </a:prstGeom>
          </p:spPr>
        </p:pic>
        <p:pic>
          <p:nvPicPr>
            <p:cNvPr id="8" name="그림 7">
              <a:extLst>
                <a:ext uri="{FF2B5EF4-FFF2-40B4-BE49-F238E27FC236}">
                  <a16:creationId xmlns:a16="http://schemas.microsoft.com/office/drawing/2014/main" id="{FAA035DD-3562-4D75-AADE-EDBB4DCA73FC}"/>
                </a:ext>
              </a:extLst>
            </p:cNvPr>
            <p:cNvPicPr>
              <a:picLocks noChangeAspect="1"/>
            </p:cNvPicPr>
            <p:nvPr/>
          </p:nvPicPr>
          <p:blipFill>
            <a:blip r:embed="rId7"/>
            <a:stretch>
              <a:fillRect/>
            </a:stretch>
          </p:blipFill>
          <p:spPr>
            <a:xfrm>
              <a:off x="5512468" y="3668525"/>
              <a:ext cx="1167063" cy="1167063"/>
            </a:xfrm>
            <a:prstGeom prst="rect">
              <a:avLst/>
            </a:prstGeom>
          </p:spPr>
        </p:pic>
        <p:pic>
          <p:nvPicPr>
            <p:cNvPr id="9" name="그림 8">
              <a:extLst>
                <a:ext uri="{FF2B5EF4-FFF2-40B4-BE49-F238E27FC236}">
                  <a16:creationId xmlns:a16="http://schemas.microsoft.com/office/drawing/2014/main" id="{2FD4D089-4EEB-4E26-B6DB-98CA89D763EB}"/>
                </a:ext>
              </a:extLst>
            </p:cNvPr>
            <p:cNvPicPr>
              <a:picLocks noChangeAspect="1"/>
            </p:cNvPicPr>
            <p:nvPr/>
          </p:nvPicPr>
          <p:blipFill>
            <a:blip r:embed="rId8"/>
            <a:stretch>
              <a:fillRect/>
            </a:stretch>
          </p:blipFill>
          <p:spPr>
            <a:xfrm>
              <a:off x="7160041" y="3668523"/>
              <a:ext cx="1167063" cy="1167063"/>
            </a:xfrm>
            <a:prstGeom prst="rect">
              <a:avLst/>
            </a:prstGeom>
          </p:spPr>
        </p:pic>
      </p:grpSp>
    </p:spTree>
    <p:extLst>
      <p:ext uri="{BB962C8B-B14F-4D97-AF65-F5344CB8AC3E}">
        <p14:creationId xmlns:p14="http://schemas.microsoft.com/office/powerpoint/2010/main" val="403623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Built-in Help for </a:t>
            </a:r>
            <a:r>
              <a:rPr lang="en-US" altLang="ko-KR" sz="2800" b="1" dirty="0" err="1"/>
              <a:t>Kubectl</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Help :</a:t>
            </a:r>
          </a:p>
          <a:p>
            <a:pPr lvl="1">
              <a:buFont typeface="Wingdings" panose="05000000000000000000" pitchFamily="2" charset="2"/>
              <a:buChar char="§"/>
            </a:pPr>
            <a:r>
              <a:rPr lang="en-US" altLang="ko-KR" sz="1400" b="1" dirty="0"/>
              <a:t>The </a:t>
            </a:r>
            <a:r>
              <a:rPr lang="en-US" altLang="ko-KR" sz="1400" b="1" dirty="0" err="1"/>
              <a:t>kubectl</a:t>
            </a:r>
            <a:r>
              <a:rPr lang="en-US" altLang="ko-KR" sz="1400" b="1" dirty="0"/>
              <a:t> has a great deal of built-in help available</a:t>
            </a:r>
            <a:r>
              <a:rPr lang="en-US" altLang="ko-KR" sz="1400" dirty="0"/>
              <a:t>. You can start viewing this help with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187E951-1B19-4F34-AD9F-9A83ECBDE7AE}"/>
              </a:ext>
            </a:extLst>
          </p:cNvPr>
          <p:cNvGrpSpPr/>
          <p:nvPr/>
        </p:nvGrpSpPr>
        <p:grpSpPr>
          <a:xfrm>
            <a:off x="2824413" y="1446560"/>
            <a:ext cx="6543174" cy="4962470"/>
            <a:chOff x="2824413" y="1446560"/>
            <a:chExt cx="6543174" cy="4962470"/>
          </a:xfrm>
        </p:grpSpPr>
        <p:sp>
          <p:nvSpPr>
            <p:cNvPr id="4" name="직사각형 3">
              <a:extLst>
                <a:ext uri="{FF2B5EF4-FFF2-40B4-BE49-F238E27FC236}">
                  <a16:creationId xmlns:a16="http://schemas.microsoft.com/office/drawing/2014/main" id="{2314C6DF-EA8F-428E-AC13-23AC8AFFB666}"/>
                </a:ext>
              </a:extLst>
            </p:cNvPr>
            <p:cNvSpPr/>
            <p:nvPr/>
          </p:nvSpPr>
          <p:spPr>
            <a:xfrm>
              <a:off x="3048000" y="1446560"/>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help</a:t>
              </a:r>
            </a:p>
            <a:p>
              <a:r>
                <a:rPr lang="en-US" altLang="ko-KR" sz="1000" b="1" dirty="0"/>
                <a:t>or:</a:t>
              </a:r>
            </a:p>
            <a:p>
              <a:r>
                <a:rPr lang="en-US" altLang="ko-KR" sz="1000" b="1" dirty="0"/>
                <a:t>$ </a:t>
              </a:r>
              <a:r>
                <a:rPr lang="en-US" altLang="ko-KR" sz="1000" b="1" dirty="0" err="1"/>
                <a:t>kubectl</a:t>
              </a:r>
              <a:r>
                <a:rPr lang="en-US" altLang="ko-KR" sz="1000" b="1" dirty="0"/>
                <a:t> help &lt;command-name&gt;</a:t>
              </a:r>
              <a:endParaRPr lang="ko-KR" altLang="en-US" sz="1000" b="1" dirty="0"/>
            </a:p>
          </p:txBody>
        </p:sp>
        <p:pic>
          <p:nvPicPr>
            <p:cNvPr id="8" name="그림 7">
              <a:extLst>
                <a:ext uri="{FF2B5EF4-FFF2-40B4-BE49-F238E27FC236}">
                  <a16:creationId xmlns:a16="http://schemas.microsoft.com/office/drawing/2014/main" id="{4756220D-0A52-44D5-BC7D-FB92CBB1C737}"/>
                </a:ext>
              </a:extLst>
            </p:cNvPr>
            <p:cNvPicPr>
              <a:picLocks noChangeAspect="1"/>
            </p:cNvPicPr>
            <p:nvPr/>
          </p:nvPicPr>
          <p:blipFill>
            <a:blip r:embed="rId2"/>
            <a:stretch>
              <a:fillRect/>
            </a:stretch>
          </p:blipFill>
          <p:spPr>
            <a:xfrm>
              <a:off x="2824413" y="2313003"/>
              <a:ext cx="6543174" cy="4096027"/>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D7D3BAB-453F-480D-BC9A-0E92F6E42D92}"/>
                </a:ext>
              </a:extLst>
            </p:cNvPr>
            <p:cNvSpPr/>
            <p:nvPr/>
          </p:nvSpPr>
          <p:spPr>
            <a:xfrm>
              <a:off x="5883442" y="2012662"/>
              <a:ext cx="425116" cy="30034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410186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Help Message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More on Help Message :</a:t>
            </a:r>
          </a:p>
          <a:p>
            <a:pPr lvl="1">
              <a:buFont typeface="Wingdings" panose="05000000000000000000" pitchFamily="2" charset="2"/>
              <a:buChar char="§"/>
            </a:pPr>
            <a:r>
              <a:rPr lang="en-US" altLang="ko-KR" sz="1400" dirty="0"/>
              <a:t>You can see the following </a:t>
            </a:r>
            <a:r>
              <a:rPr lang="en-US" altLang="ko-KR" sz="1400" b="1" dirty="0"/>
              <a:t>help message </a:t>
            </a:r>
            <a:r>
              <a:rPr lang="en-US" altLang="ko-KR" sz="1400" dirty="0"/>
              <a:t>after the previous screenshot.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32D636E-5D00-4F04-B268-E5E9C6404835}"/>
              </a:ext>
            </a:extLst>
          </p:cNvPr>
          <p:cNvPicPr>
            <a:picLocks noChangeAspect="1"/>
          </p:cNvPicPr>
          <p:nvPr/>
        </p:nvPicPr>
        <p:blipFill>
          <a:blip r:embed="rId2"/>
          <a:stretch>
            <a:fillRect/>
          </a:stretch>
        </p:blipFill>
        <p:spPr>
          <a:xfrm>
            <a:off x="2737485" y="1478730"/>
            <a:ext cx="6717030" cy="4930300"/>
          </a:xfrm>
          <a:prstGeom prst="rect">
            <a:avLst/>
          </a:prstGeom>
          <a:ln>
            <a:solidFill>
              <a:schemeClr val="bg1">
                <a:lumMod val="50000"/>
              </a:schemeClr>
            </a:solidFill>
          </a:ln>
        </p:spPr>
      </p:pic>
    </p:spTree>
    <p:extLst>
      <p:ext uri="{BB962C8B-B14F-4D97-AF65-F5344CB8AC3E}">
        <p14:creationId xmlns:p14="http://schemas.microsoft.com/office/powerpoint/2010/main" val="26658024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Pods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1748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Colocating</a:t>
            </a:r>
            <a:r>
              <a:rPr lang="en-US" altLang="ko-KR" sz="1800" b="1" dirty="0"/>
              <a:t> Multiple Applications :</a:t>
            </a:r>
          </a:p>
          <a:p>
            <a:pPr lvl="1">
              <a:buFont typeface="Wingdings" panose="05000000000000000000" pitchFamily="2" charset="2"/>
              <a:buChar char="§"/>
            </a:pPr>
            <a:r>
              <a:rPr lang="en-US" altLang="ko-KR" sz="1400" dirty="0"/>
              <a:t>In real-world deployments of containerized applications you will often want to </a:t>
            </a:r>
            <a:r>
              <a:rPr lang="en-US" altLang="ko-KR" sz="1400" b="1" dirty="0" err="1"/>
              <a:t>colocate</a:t>
            </a:r>
            <a:r>
              <a:rPr lang="en-US" altLang="ko-KR" sz="1400" b="1" dirty="0"/>
              <a:t> multiple applications into a single atomic unit</a:t>
            </a:r>
            <a:r>
              <a:rPr lang="en-US" altLang="ko-KR" sz="1400" dirty="0"/>
              <a:t>, </a:t>
            </a:r>
            <a:r>
              <a:rPr lang="en-US" altLang="ko-KR" sz="1400" b="1" dirty="0"/>
              <a:t>scheduled onto a single machine</a:t>
            </a:r>
            <a:r>
              <a:rPr lang="en-US" altLang="ko-KR" sz="1400" dirty="0"/>
              <a:t>. </a:t>
            </a:r>
          </a:p>
          <a:p>
            <a:pPr lvl="1">
              <a:buFont typeface="Wingdings" panose="05000000000000000000" pitchFamily="2" charset="2"/>
              <a:buChar char="§"/>
            </a:pPr>
            <a:r>
              <a:rPr lang="en-US" altLang="ko-KR" sz="1400" dirty="0"/>
              <a:t>A canonical example of such as the following figure, which consists of </a:t>
            </a:r>
            <a:r>
              <a:rPr lang="en-US" altLang="ko-KR" sz="1400" b="1" dirty="0"/>
              <a:t>a container serving web requests </a:t>
            </a:r>
            <a:r>
              <a:rPr lang="en-US" altLang="ko-KR" sz="1400" dirty="0"/>
              <a:t>and </a:t>
            </a:r>
            <a:r>
              <a:rPr lang="en-US" altLang="ko-KR" sz="1400" b="1" dirty="0"/>
              <a:t>a container synchronizing the filesystem with a remote Git repository</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At first, it might seem tempting to wrap up both the web server and the Git synchronizer into a single container</a:t>
            </a:r>
            <a:r>
              <a:rPr lang="en-US" altLang="ko-KR" sz="1400" dirty="0"/>
              <a:t>. After closer inspection, however, </a:t>
            </a:r>
            <a:r>
              <a:rPr lang="en-US" altLang="ko-KR" sz="1400" b="1" dirty="0"/>
              <a:t>the reasons for the separation become clear</a:t>
            </a:r>
            <a:r>
              <a:rPr lang="en-US" altLang="ko-KR" sz="1400" dirty="0"/>
              <a:t>. </a:t>
            </a:r>
            <a:r>
              <a:rPr lang="en-US" altLang="ko-KR" sz="1400" b="1" dirty="0"/>
              <a:t>First, the two different containers have significantly different requirements in terms of resource usage</a:t>
            </a:r>
            <a:r>
              <a:rPr lang="en-US" altLang="ko-KR" sz="1400" dirty="0"/>
              <a:t>. Take, for example, memory. Because the web server is serving user requests, we want to ensure that it is always available and responsive. </a:t>
            </a:r>
            <a:r>
              <a:rPr lang="en-US" altLang="ko-KR" sz="1400" b="1" dirty="0"/>
              <a:t>On the other hand, the Git synchronizer isn’t really user-facing and has a “best effort” quality of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3538C1-2613-40E2-87CC-5FBCA4E63B3B}"/>
              </a:ext>
            </a:extLst>
          </p:cNvPr>
          <p:cNvPicPr>
            <a:picLocks noChangeAspect="1"/>
          </p:cNvPicPr>
          <p:nvPr/>
        </p:nvPicPr>
        <p:blipFill>
          <a:blip r:embed="rId2"/>
          <a:stretch>
            <a:fillRect/>
          </a:stretch>
        </p:blipFill>
        <p:spPr>
          <a:xfrm>
            <a:off x="5001126" y="2231570"/>
            <a:ext cx="2189748" cy="2010336"/>
          </a:xfrm>
          <a:prstGeom prst="rect">
            <a:avLst/>
          </a:prstGeom>
        </p:spPr>
      </p:pic>
    </p:spTree>
    <p:extLst>
      <p:ext uri="{BB962C8B-B14F-4D97-AF65-F5344CB8AC3E}">
        <p14:creationId xmlns:p14="http://schemas.microsoft.com/office/powerpoint/2010/main" val="3972352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Colocating</a:t>
            </a:r>
            <a:r>
              <a:rPr lang="en-US" altLang="ko-KR" sz="1800" b="1" dirty="0"/>
              <a:t> Multiple Applications :</a:t>
            </a:r>
          </a:p>
          <a:p>
            <a:pPr lvl="1">
              <a:buFont typeface="Wingdings" panose="05000000000000000000" pitchFamily="2" charset="2"/>
              <a:buChar char="§"/>
            </a:pPr>
            <a:r>
              <a:rPr lang="en-US" altLang="ko-KR" sz="1400" b="1" dirty="0"/>
              <a:t>Suppose that our Git synchronizer has a memory leak</a:t>
            </a:r>
            <a:r>
              <a:rPr lang="en-US" altLang="ko-KR" sz="1400" dirty="0"/>
              <a:t>. We need to </a:t>
            </a:r>
            <a:r>
              <a:rPr lang="en-US" altLang="ko-KR" sz="1400" b="1" dirty="0"/>
              <a:t>ensure that the Git synchronizer cannot use up memory</a:t>
            </a:r>
            <a:r>
              <a:rPr lang="en-US" altLang="ko-KR" sz="1400" dirty="0"/>
              <a:t> that we want to use for our web server, since this can affect web server performance or even crash the server.</a:t>
            </a:r>
          </a:p>
          <a:p>
            <a:pPr lvl="1">
              <a:buFont typeface="Wingdings" panose="05000000000000000000" pitchFamily="2" charset="2"/>
              <a:buChar char="§"/>
            </a:pPr>
            <a:r>
              <a:rPr lang="en-US" altLang="ko-KR" sz="1400" b="1" dirty="0"/>
              <a:t>This sort of </a:t>
            </a:r>
            <a:r>
              <a:rPr lang="en-US" altLang="ko-KR" sz="1400" b="1" dirty="0">
                <a:solidFill>
                  <a:srgbClr val="FF0000"/>
                </a:solidFill>
              </a:rPr>
              <a:t>resource isolation </a:t>
            </a:r>
            <a:r>
              <a:rPr lang="en-US" altLang="ko-KR" sz="1400" b="1" dirty="0"/>
              <a:t>is exactly the sort of thing that containers are designed to accomplish</a:t>
            </a:r>
            <a:r>
              <a:rPr lang="en-US" altLang="ko-KR" sz="1400" dirty="0"/>
              <a:t>. By separating the two applications into two separate containers, we can </a:t>
            </a:r>
            <a:r>
              <a:rPr lang="en-US" altLang="ko-KR" sz="1400" b="1" dirty="0"/>
              <a:t>ensure reliable web server operation</a:t>
            </a:r>
            <a:r>
              <a:rPr lang="en-US" altLang="ko-KR" sz="1400" dirty="0"/>
              <a:t>.</a:t>
            </a:r>
          </a:p>
          <a:p>
            <a:pPr lvl="1">
              <a:buFont typeface="Wingdings" panose="05000000000000000000" pitchFamily="2" charset="2"/>
              <a:buChar char="§"/>
            </a:pPr>
            <a:r>
              <a:rPr lang="en-US" altLang="ko-KR" sz="1400" dirty="0"/>
              <a:t>Of course, the two containers are quite </a:t>
            </a:r>
            <a:r>
              <a:rPr lang="en-US" altLang="ko-KR" sz="1400" b="1" dirty="0">
                <a:solidFill>
                  <a:srgbClr val="FF0000"/>
                </a:solidFill>
              </a:rPr>
              <a:t>symbiotic</a:t>
            </a:r>
            <a:r>
              <a:rPr lang="en-US" altLang="ko-KR" sz="1400" dirty="0"/>
              <a:t>; </a:t>
            </a:r>
            <a:r>
              <a:rPr lang="en-US" altLang="ko-KR" sz="1400" b="1" dirty="0"/>
              <a:t>it makes no sense to schedule the web server on one machine and the Git synchronizer on another</a:t>
            </a:r>
            <a:r>
              <a:rPr lang="en-US" altLang="ko-KR" sz="1400" dirty="0"/>
              <a:t>. Consequently, </a:t>
            </a:r>
            <a:r>
              <a:rPr lang="en-US" altLang="ko-KR" sz="1400" b="1" dirty="0"/>
              <a:t>Kubernetes groups multiple containers into a single atomic unit called a </a:t>
            </a:r>
            <a:r>
              <a:rPr lang="en-US" altLang="ko-KR" sz="1400" b="1" dirty="0">
                <a:solidFill>
                  <a:srgbClr val="FF0000"/>
                </a:solidFill>
              </a:rPr>
              <a:t>Pod*</a:t>
            </a:r>
            <a:r>
              <a:rPr lang="en-US" altLang="ko-KR" sz="1400" dirty="0"/>
              <a:t>. (The name goes with the whale theme of Docker containers, since </a:t>
            </a:r>
            <a:r>
              <a:rPr lang="en-US" altLang="ko-KR" sz="1400" b="1" dirty="0"/>
              <a:t>a Pod is also a group of whales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27B64059-0061-4686-B343-D7206AB76517}"/>
              </a:ext>
            </a:extLst>
          </p:cNvPr>
          <p:cNvSpPr/>
          <p:nvPr/>
        </p:nvSpPr>
        <p:spPr>
          <a:xfrm>
            <a:off x="8881648" y="6162809"/>
            <a:ext cx="2472152" cy="246221"/>
          </a:xfrm>
          <a:prstGeom prst="rect">
            <a:avLst/>
          </a:prstGeom>
        </p:spPr>
        <p:txBody>
          <a:bodyPr wrap="none">
            <a:spAutoFit/>
          </a:bodyPr>
          <a:lstStyle/>
          <a:p>
            <a:r>
              <a:rPr lang="en-US" altLang="ko-KR" sz="1000" b="1" dirty="0"/>
              <a:t>*Pod : (</a:t>
            </a:r>
            <a:r>
              <a:rPr lang="ko-KR" altLang="en-US" sz="1000" b="1" dirty="0"/>
              <a:t>새</a:t>
            </a:r>
            <a:r>
              <a:rPr lang="en-US" altLang="ko-KR" sz="1000" b="1" dirty="0"/>
              <a:t>·</a:t>
            </a:r>
            <a:r>
              <a:rPr lang="ko-KR" altLang="en-US" sz="1000" b="1" dirty="0"/>
              <a:t>바다표범</a:t>
            </a:r>
            <a:r>
              <a:rPr lang="en-US" altLang="ko-KR" sz="1000" b="1" dirty="0"/>
              <a:t>·</a:t>
            </a:r>
            <a:r>
              <a:rPr lang="ko-KR" altLang="en-US" sz="1000" b="1" dirty="0"/>
              <a:t>고래 등의</a:t>
            </a:r>
            <a:r>
              <a:rPr lang="en-US" altLang="ko-KR" sz="1000" b="1" dirty="0"/>
              <a:t>) </a:t>
            </a:r>
            <a:r>
              <a:rPr lang="ko-KR" altLang="en-US" sz="1000" b="1" dirty="0"/>
              <a:t>작은 떼</a:t>
            </a:r>
            <a:r>
              <a:rPr lang="en-US" altLang="ko-KR" sz="1000" b="1" dirty="0"/>
              <a:t>.</a:t>
            </a:r>
            <a:endParaRPr lang="ko-KR" altLang="en-US" sz="1000" b="1" dirty="0"/>
          </a:p>
        </p:txBody>
      </p:sp>
      <p:pic>
        <p:nvPicPr>
          <p:cNvPr id="8" name="그림 7">
            <a:extLst>
              <a:ext uri="{FF2B5EF4-FFF2-40B4-BE49-F238E27FC236}">
                <a16:creationId xmlns:a16="http://schemas.microsoft.com/office/drawing/2014/main" id="{5A1A0E8E-CC4B-4B4D-8FC0-C610A4E7A838}"/>
              </a:ext>
            </a:extLst>
          </p:cNvPr>
          <p:cNvPicPr>
            <a:picLocks noChangeAspect="1"/>
          </p:cNvPicPr>
          <p:nvPr/>
        </p:nvPicPr>
        <p:blipFill>
          <a:blip r:embed="rId2"/>
          <a:stretch>
            <a:fillRect/>
          </a:stretch>
        </p:blipFill>
        <p:spPr>
          <a:xfrm>
            <a:off x="3474075" y="3143603"/>
            <a:ext cx="5243850" cy="2900302"/>
          </a:xfrm>
          <a:prstGeom prst="rect">
            <a:avLst/>
          </a:prstGeom>
        </p:spPr>
      </p:pic>
    </p:spTree>
    <p:extLst>
      <p:ext uri="{BB962C8B-B14F-4D97-AF65-F5344CB8AC3E}">
        <p14:creationId xmlns:p14="http://schemas.microsoft.com/office/powerpoint/2010/main" val="19871609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Pods in Kubernetes :</a:t>
            </a:r>
          </a:p>
          <a:p>
            <a:pPr lvl="1">
              <a:buFont typeface="Wingdings" panose="05000000000000000000" pitchFamily="2" charset="2"/>
              <a:buChar char="§"/>
            </a:pPr>
            <a:r>
              <a:rPr lang="en-US" altLang="ko-KR" sz="1400" b="1" dirty="0">
                <a:solidFill>
                  <a:srgbClr val="FF0000"/>
                </a:solidFill>
              </a:rPr>
              <a:t>A Pod represents a collection of application containers and volumes running in the same execution environment</a:t>
            </a:r>
            <a:r>
              <a:rPr lang="en-US" altLang="ko-KR" sz="1400" dirty="0"/>
              <a:t>. </a:t>
            </a:r>
            <a:r>
              <a:rPr lang="en-US" altLang="ko-KR" sz="1400" b="1" dirty="0"/>
              <a:t>Pods, not containers, are </a:t>
            </a:r>
            <a:r>
              <a:rPr lang="en-US" altLang="ko-KR" sz="1400" b="1" dirty="0">
                <a:solidFill>
                  <a:srgbClr val="FF0000"/>
                </a:solidFill>
              </a:rPr>
              <a:t>the smallest deployable artifact </a:t>
            </a:r>
            <a:r>
              <a:rPr lang="en-US" altLang="ko-KR" sz="1400" b="1" dirty="0"/>
              <a:t>in a Kubernetes cluster</a:t>
            </a:r>
            <a:r>
              <a:rPr lang="en-US" altLang="ko-KR" sz="1400" dirty="0"/>
              <a:t>. This means </a:t>
            </a:r>
            <a:r>
              <a:rPr lang="en-US" altLang="ko-KR" sz="1400" b="1" dirty="0"/>
              <a:t>all of the containers in a Pod always land on the same machine</a:t>
            </a:r>
            <a:r>
              <a:rPr lang="en-US" altLang="ko-KR" sz="1400" dirty="0"/>
              <a:t>.</a:t>
            </a:r>
          </a:p>
          <a:p>
            <a:pPr lvl="1">
              <a:buFont typeface="Wingdings" panose="05000000000000000000" pitchFamily="2" charset="2"/>
              <a:buChar char="§"/>
            </a:pPr>
            <a:r>
              <a:rPr lang="en-US" altLang="ko-KR" sz="1400" b="1" dirty="0"/>
              <a:t>Each container within a Pod runs in its own </a:t>
            </a:r>
            <a:r>
              <a:rPr lang="en-US" altLang="ko-KR" sz="1400" b="1" dirty="0" err="1">
                <a:solidFill>
                  <a:srgbClr val="FF0000"/>
                </a:solidFill>
              </a:rPr>
              <a:t>cgroup</a:t>
            </a:r>
            <a:r>
              <a:rPr lang="en-US" altLang="ko-KR" sz="1400" dirty="0"/>
              <a:t>, </a:t>
            </a:r>
            <a:r>
              <a:rPr lang="en-US" altLang="ko-KR" sz="1400" b="1" dirty="0"/>
              <a:t>but they share a number of Linux namespaces</a:t>
            </a:r>
            <a:r>
              <a:rPr lang="en-US" altLang="ko-KR" sz="1400" dirty="0"/>
              <a:t>.</a:t>
            </a:r>
          </a:p>
          <a:p>
            <a:pPr lvl="1">
              <a:buFont typeface="Wingdings" panose="05000000000000000000" pitchFamily="2" charset="2"/>
              <a:buChar char="§"/>
            </a:pPr>
            <a:r>
              <a:rPr lang="en-US" altLang="ko-KR" sz="1400" b="1" dirty="0"/>
              <a:t>Applications running in the same Pod share the same IP address and port space (network namespace), have the same hostname</a:t>
            </a:r>
            <a:r>
              <a:rPr lang="en-US" altLang="ko-KR" sz="1400" dirty="0"/>
              <a:t> </a:t>
            </a:r>
            <a:r>
              <a:rPr lang="en-US" altLang="ko-KR" sz="1400" b="1" dirty="0"/>
              <a:t>(</a:t>
            </a:r>
            <a:r>
              <a:rPr lang="en-US" altLang="ko-KR" sz="1400" b="1" dirty="0">
                <a:solidFill>
                  <a:srgbClr val="FF0000"/>
                </a:solidFill>
              </a:rPr>
              <a:t>UTS : Unix Time Sharing namespace</a:t>
            </a:r>
            <a:r>
              <a:rPr lang="en-US" altLang="ko-KR" sz="1400" b="1" dirty="0"/>
              <a:t>), </a:t>
            </a:r>
            <a:r>
              <a:rPr lang="en-US" altLang="ko-KR" sz="1400" dirty="0"/>
              <a:t>and </a:t>
            </a:r>
            <a:r>
              <a:rPr lang="en-US" altLang="ko-KR" sz="1400" b="1" dirty="0"/>
              <a:t>can communicate using native </a:t>
            </a:r>
            <a:r>
              <a:rPr lang="en-US" altLang="ko-KR" sz="1400" b="1" dirty="0" err="1"/>
              <a:t>interprocess</a:t>
            </a:r>
            <a:r>
              <a:rPr lang="en-US" altLang="ko-KR" sz="1400" b="1" dirty="0"/>
              <a:t> communication channels over System V IPC or POSIX message queues (</a:t>
            </a:r>
            <a:r>
              <a:rPr lang="en-US" altLang="ko-KR" sz="1400" b="1" dirty="0">
                <a:solidFill>
                  <a:srgbClr val="FF0000"/>
                </a:solidFill>
              </a:rPr>
              <a:t>IPC namespace</a:t>
            </a:r>
            <a:r>
              <a:rPr lang="en-US" altLang="ko-KR" sz="1400" b="1" dirty="0"/>
              <a:t>)</a:t>
            </a:r>
            <a:r>
              <a:rPr lang="en-US" altLang="ko-KR" sz="1400" dirty="0"/>
              <a:t>. </a:t>
            </a:r>
          </a:p>
          <a:p>
            <a:pPr lvl="1">
              <a:buFont typeface="Wingdings" panose="05000000000000000000" pitchFamily="2" charset="2"/>
              <a:buChar char="§"/>
            </a:pPr>
            <a:r>
              <a:rPr lang="en-US" altLang="ko-KR" sz="1400" b="1" dirty="0"/>
              <a:t>However, applications in different Pods are </a:t>
            </a:r>
            <a:r>
              <a:rPr lang="en-US" altLang="ko-KR" sz="1400" b="1" dirty="0">
                <a:solidFill>
                  <a:srgbClr val="FF0000"/>
                </a:solidFill>
              </a:rPr>
              <a:t>isolated</a:t>
            </a:r>
            <a:r>
              <a:rPr lang="en-US" altLang="ko-KR" sz="1400" b="1" dirty="0"/>
              <a:t> from each other</a:t>
            </a:r>
            <a:r>
              <a:rPr lang="en-US" altLang="ko-KR" sz="1400" dirty="0"/>
              <a:t>; they have </a:t>
            </a:r>
            <a:r>
              <a:rPr lang="en-US" altLang="ko-KR" sz="1400" b="1" dirty="0"/>
              <a:t>different IP addresses</a:t>
            </a:r>
            <a:r>
              <a:rPr lang="en-US" altLang="ko-KR" sz="1400" dirty="0"/>
              <a:t>, </a:t>
            </a:r>
            <a:r>
              <a:rPr lang="en-US" altLang="ko-KR" sz="1400" b="1" dirty="0"/>
              <a:t>different hostnames, and more</a:t>
            </a:r>
            <a:r>
              <a:rPr lang="en-US" altLang="ko-KR" sz="1400" dirty="0"/>
              <a:t>. </a:t>
            </a:r>
            <a:r>
              <a:rPr lang="en-US" altLang="ko-KR" sz="1400" b="1" dirty="0"/>
              <a:t>Containers in different Pods running on the same node might as well be on different servers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B051A8F-FEB8-485B-85D1-B18F7604E780}"/>
              </a:ext>
            </a:extLst>
          </p:cNvPr>
          <p:cNvPicPr>
            <a:picLocks noChangeAspect="1"/>
          </p:cNvPicPr>
          <p:nvPr/>
        </p:nvPicPr>
        <p:blipFill>
          <a:blip r:embed="rId2"/>
          <a:stretch>
            <a:fillRect/>
          </a:stretch>
        </p:blipFill>
        <p:spPr>
          <a:xfrm>
            <a:off x="4058652" y="3341433"/>
            <a:ext cx="4074695" cy="3067597"/>
          </a:xfrm>
          <a:prstGeom prst="rect">
            <a:avLst/>
          </a:prstGeom>
        </p:spPr>
      </p:pic>
    </p:spTree>
    <p:extLst>
      <p:ext uri="{BB962C8B-B14F-4D97-AF65-F5344CB8AC3E}">
        <p14:creationId xmlns:p14="http://schemas.microsoft.com/office/powerpoint/2010/main" val="10953242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Pods?(4/4)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Thinking with Pods :</a:t>
            </a:r>
          </a:p>
          <a:p>
            <a:pPr lvl="1">
              <a:buFont typeface="Wingdings" panose="05000000000000000000" pitchFamily="2" charset="2"/>
              <a:buChar char="§"/>
            </a:pPr>
            <a:r>
              <a:rPr lang="en-US" altLang="ko-KR" sz="1400" dirty="0"/>
              <a:t>One of the most common questions that occurs in the adoption of Kubernetes is “</a:t>
            </a:r>
            <a:r>
              <a:rPr lang="en-US" altLang="ko-KR" sz="1400" b="1" dirty="0"/>
              <a:t>What should I put in a Pod?</a:t>
            </a:r>
            <a:r>
              <a:rPr lang="en-US" altLang="ko-KR" sz="1400" dirty="0"/>
              <a:t>”.</a:t>
            </a:r>
          </a:p>
          <a:p>
            <a:pPr lvl="1">
              <a:buFont typeface="Wingdings" panose="05000000000000000000" pitchFamily="2" charset="2"/>
              <a:buChar char="§"/>
            </a:pPr>
            <a:r>
              <a:rPr lang="en-US" altLang="ko-KR" sz="1400" dirty="0"/>
              <a:t>Sometimes people see </a:t>
            </a:r>
            <a:r>
              <a:rPr lang="en-US" altLang="ko-KR" sz="1400" b="1" dirty="0"/>
              <a:t>Pods</a:t>
            </a:r>
            <a:r>
              <a:rPr lang="en-US" altLang="ko-KR" sz="1400" dirty="0"/>
              <a:t> and think, “Aha! A </a:t>
            </a:r>
            <a:r>
              <a:rPr lang="en-US" altLang="ko-KR" sz="1400" b="1" dirty="0"/>
              <a:t>WordPress</a:t>
            </a:r>
            <a:r>
              <a:rPr lang="en-US" altLang="ko-KR" sz="1400" dirty="0"/>
              <a:t> container and a </a:t>
            </a:r>
            <a:r>
              <a:rPr lang="en-US" altLang="ko-KR" sz="1400" b="1" dirty="0"/>
              <a:t>MySQL</a:t>
            </a:r>
            <a:r>
              <a:rPr lang="en-US" altLang="ko-KR" sz="1400" dirty="0"/>
              <a:t> database container should be in the same Pod.” However, this kind of Pod is actually an example of an anti-pattern for Pod construction. There are two reasons for this. </a:t>
            </a:r>
            <a:r>
              <a:rPr lang="en-US" altLang="ko-KR" sz="1400" b="1" dirty="0"/>
              <a:t>First, WordPress and its database are not truly </a:t>
            </a:r>
            <a:r>
              <a:rPr lang="en-US" altLang="ko-KR" sz="1400" b="1" dirty="0">
                <a:solidFill>
                  <a:srgbClr val="FF0000"/>
                </a:solidFill>
              </a:rPr>
              <a:t>symbiotic</a:t>
            </a:r>
            <a:r>
              <a:rPr lang="en-US" altLang="ko-KR" sz="1400" dirty="0"/>
              <a:t>. If the WordPress container and the database container land on different machines, they still can work together quite effectively, since they communicate over a network connection. Secondly, </a:t>
            </a:r>
            <a:r>
              <a:rPr lang="en-US" altLang="ko-KR" sz="1400" b="1" dirty="0"/>
              <a:t>you don’t necessarily want to scale WordPress and the database as a unit</a:t>
            </a:r>
            <a:r>
              <a:rPr lang="en-US" altLang="ko-KR" sz="1400" dirty="0"/>
              <a:t>. </a:t>
            </a:r>
            <a:r>
              <a:rPr lang="en-US" altLang="ko-KR" sz="1400" b="1" dirty="0"/>
              <a:t>WordPress itself is mostly stateless, and thus you may want to scale your WordPress frontends in response to frontend load by creating more WordPress Pods</a:t>
            </a:r>
            <a:r>
              <a:rPr lang="en-US" altLang="ko-KR" sz="1400" dirty="0"/>
              <a:t>. Scaling a MySQL database is much trickier, and you would be much more likely to increase the resources dedicated to a single MySQL Pod. </a:t>
            </a:r>
            <a:r>
              <a:rPr lang="en-US" altLang="ko-KR" sz="1400" b="1" dirty="0"/>
              <a:t>If you group the WordPress and MySQL containers together in </a:t>
            </a:r>
            <a:r>
              <a:rPr lang="en-US" altLang="ko-KR" sz="1400" b="1" dirty="0">
                <a:solidFill>
                  <a:srgbClr val="FF0000"/>
                </a:solidFill>
              </a:rPr>
              <a:t>a single Pod</a:t>
            </a:r>
            <a:r>
              <a:rPr lang="en-US" altLang="ko-KR" sz="1400" b="1" dirty="0"/>
              <a:t>, you are forced to </a:t>
            </a:r>
            <a:r>
              <a:rPr lang="en-US" altLang="ko-KR" sz="1400" b="1" dirty="0">
                <a:solidFill>
                  <a:srgbClr val="FF0000"/>
                </a:solidFill>
              </a:rPr>
              <a:t>use the same scaling strategy </a:t>
            </a:r>
            <a:r>
              <a:rPr lang="en-US" altLang="ko-KR" sz="1400" b="1" dirty="0"/>
              <a:t>for both containers</a:t>
            </a:r>
            <a:r>
              <a:rPr lang="en-US" altLang="ko-KR" sz="1400" dirty="0"/>
              <a:t>, which doesn’t fit well.</a:t>
            </a:r>
          </a:p>
          <a:p>
            <a:pPr lvl="1">
              <a:buFont typeface="Wingdings" panose="05000000000000000000" pitchFamily="2" charset="2"/>
              <a:buChar char="§"/>
            </a:pPr>
            <a:r>
              <a:rPr lang="en-US" altLang="ko-KR" sz="1400" b="1" dirty="0"/>
              <a:t>In general, the right question to ask yourself when designing Pods is, “</a:t>
            </a:r>
            <a:r>
              <a:rPr lang="en-US" altLang="ko-KR" sz="1400" b="1" dirty="0">
                <a:solidFill>
                  <a:srgbClr val="FF0000"/>
                </a:solidFill>
              </a:rPr>
              <a:t>Will these containers work correctly if they land on different machines?</a:t>
            </a:r>
            <a:r>
              <a:rPr lang="en-US" altLang="ko-KR" sz="1400" b="1" dirty="0"/>
              <a:t>” </a:t>
            </a:r>
            <a:r>
              <a:rPr lang="en-US" altLang="ko-KR" sz="1400" b="1" dirty="0">
                <a:solidFill>
                  <a:srgbClr val="FF0000"/>
                </a:solidFill>
              </a:rPr>
              <a:t>If the answer is “no,” a Pod is the correct grouping for the containers</a:t>
            </a:r>
            <a:r>
              <a:rPr lang="en-US" altLang="ko-KR" sz="1400" b="1" dirty="0"/>
              <a:t>. If the answer is “yes,” multiple Pods is probably the correct solution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F751EC0-0B72-4922-913A-4ABED11DFFDD}"/>
              </a:ext>
            </a:extLst>
          </p:cNvPr>
          <p:cNvPicPr>
            <a:picLocks noChangeAspect="1"/>
          </p:cNvPicPr>
          <p:nvPr/>
        </p:nvPicPr>
        <p:blipFill>
          <a:blip r:embed="rId2"/>
          <a:stretch>
            <a:fillRect/>
          </a:stretch>
        </p:blipFill>
        <p:spPr>
          <a:xfrm>
            <a:off x="6368716" y="3946718"/>
            <a:ext cx="4985084" cy="2462312"/>
          </a:xfrm>
          <a:prstGeom prst="rect">
            <a:avLst/>
          </a:prstGeom>
        </p:spPr>
      </p:pic>
    </p:spTree>
    <p:extLst>
      <p:ext uri="{BB962C8B-B14F-4D97-AF65-F5344CB8AC3E}">
        <p14:creationId xmlns:p14="http://schemas.microsoft.com/office/powerpoint/2010/main" val="3869688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Declarative Configuration</a:t>
            </a:r>
            <a:r>
              <a:rPr lang="ko-KR" altLang="en-US" sz="1800" b="1" dirty="0"/>
              <a:t> </a:t>
            </a:r>
            <a:r>
              <a:rPr lang="en-US" altLang="ko-KR" sz="1800" b="1" dirty="0"/>
              <a:t>:</a:t>
            </a:r>
          </a:p>
          <a:p>
            <a:pPr lvl="1">
              <a:buFont typeface="Wingdings" panose="05000000000000000000" pitchFamily="2" charset="2"/>
              <a:buChar char="§"/>
            </a:pPr>
            <a:r>
              <a:rPr lang="en-US" altLang="ko-KR" sz="1400" dirty="0"/>
              <a:t>Pods are described in a </a:t>
            </a:r>
            <a:r>
              <a:rPr lang="en-US" altLang="ko-KR" sz="1400" b="1" dirty="0">
                <a:solidFill>
                  <a:srgbClr val="FF0000"/>
                </a:solidFill>
              </a:rPr>
              <a:t>Pod manifest*</a:t>
            </a:r>
            <a:r>
              <a:rPr lang="en-US" altLang="ko-KR" sz="1400" dirty="0"/>
              <a:t>. </a:t>
            </a:r>
            <a:r>
              <a:rPr lang="en-US" altLang="ko-KR" sz="1400" b="1" dirty="0">
                <a:solidFill>
                  <a:srgbClr val="FF0000"/>
                </a:solidFill>
              </a:rPr>
              <a:t>The Pod manifest is just a text-file representation of the Kubernetes API object</a:t>
            </a:r>
            <a:r>
              <a:rPr lang="en-US" altLang="ko-KR" sz="1400" dirty="0"/>
              <a:t>. </a:t>
            </a:r>
            <a:r>
              <a:rPr lang="en-US" altLang="ko-KR" sz="1400" b="1" dirty="0"/>
              <a:t>Kubernetes strongly believes in </a:t>
            </a:r>
            <a:r>
              <a:rPr lang="en-US" altLang="ko-KR" sz="1400" b="1" dirty="0">
                <a:solidFill>
                  <a:srgbClr val="FF0000"/>
                </a:solidFill>
              </a:rPr>
              <a:t>declarative configuration</a:t>
            </a:r>
            <a:r>
              <a:rPr lang="en-US" altLang="ko-KR" sz="1400" dirty="0"/>
              <a:t>. </a:t>
            </a:r>
            <a:r>
              <a:rPr lang="en-US" altLang="ko-KR" sz="1400" b="1" dirty="0"/>
              <a:t>Declarative configuration means that you write down </a:t>
            </a:r>
            <a:r>
              <a:rPr lang="en-US" altLang="ko-KR" sz="1400" b="1" dirty="0">
                <a:solidFill>
                  <a:srgbClr val="FF0000"/>
                </a:solidFill>
              </a:rPr>
              <a:t>the desired state </a:t>
            </a:r>
            <a:r>
              <a:rPr lang="en-US" altLang="ko-KR" sz="1400" b="1" dirty="0"/>
              <a:t>of the world in a configuration </a:t>
            </a:r>
            <a:r>
              <a:rPr lang="en-US" altLang="ko-KR" sz="1400" dirty="0"/>
              <a:t>and then submit that configuration to </a:t>
            </a:r>
            <a:r>
              <a:rPr lang="en-US" altLang="ko-KR" sz="1400" b="1" dirty="0"/>
              <a:t>a service that takes actions to ensure the desired state becomes the actual state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7F8ED5D-11B5-4B35-981A-23693FBE149F}"/>
              </a:ext>
            </a:extLst>
          </p:cNvPr>
          <p:cNvSpPr/>
          <p:nvPr/>
        </p:nvSpPr>
        <p:spPr>
          <a:xfrm>
            <a:off x="9008286" y="6162809"/>
            <a:ext cx="2345514" cy="246221"/>
          </a:xfrm>
          <a:prstGeom prst="rect">
            <a:avLst/>
          </a:prstGeom>
        </p:spPr>
        <p:txBody>
          <a:bodyPr wrap="none">
            <a:spAutoFit/>
          </a:bodyPr>
          <a:lstStyle/>
          <a:p>
            <a:r>
              <a:rPr lang="en-US" altLang="ko-KR" sz="1000" b="1" dirty="0"/>
              <a:t>*</a:t>
            </a:r>
            <a:r>
              <a:rPr lang="en-US" altLang="ko-KR" sz="1000" b="1" dirty="0">
                <a:solidFill>
                  <a:srgbClr val="FF0000"/>
                </a:solidFill>
              </a:rPr>
              <a:t>manifest</a:t>
            </a:r>
            <a:r>
              <a:rPr lang="en-US" altLang="ko-KR" sz="1000" b="1" dirty="0"/>
              <a:t> : </a:t>
            </a:r>
            <a:r>
              <a:rPr lang="ko-KR" altLang="en-US" sz="1000" b="1" dirty="0"/>
              <a:t>선박 적하 목록</a:t>
            </a:r>
            <a:r>
              <a:rPr lang="en-US" altLang="ko-KR" sz="1000" b="1" dirty="0"/>
              <a:t>, </a:t>
            </a:r>
            <a:r>
              <a:rPr lang="ko-KR" altLang="en-US" sz="1000" b="1" dirty="0"/>
              <a:t>승객명단</a:t>
            </a:r>
          </a:p>
        </p:txBody>
      </p:sp>
      <p:grpSp>
        <p:nvGrpSpPr>
          <p:cNvPr id="10" name="그룹 9">
            <a:extLst>
              <a:ext uri="{FF2B5EF4-FFF2-40B4-BE49-F238E27FC236}">
                <a16:creationId xmlns:a16="http://schemas.microsoft.com/office/drawing/2014/main" id="{CAF480AC-8126-44E4-886D-B8140CE9111F}"/>
              </a:ext>
            </a:extLst>
          </p:cNvPr>
          <p:cNvGrpSpPr/>
          <p:nvPr/>
        </p:nvGrpSpPr>
        <p:grpSpPr>
          <a:xfrm>
            <a:off x="3048000" y="2114390"/>
            <a:ext cx="6096000" cy="3875747"/>
            <a:chOff x="3048000" y="2114390"/>
            <a:chExt cx="6096000" cy="3875747"/>
          </a:xfrm>
        </p:grpSpPr>
        <p:sp>
          <p:nvSpPr>
            <p:cNvPr id="8" name="직사각형 7">
              <a:extLst>
                <a:ext uri="{FF2B5EF4-FFF2-40B4-BE49-F238E27FC236}">
                  <a16:creationId xmlns:a16="http://schemas.microsoft.com/office/drawing/2014/main" id="{3706F85F-AF8B-46B0-8718-6D2C3AD6CECA}"/>
                </a:ext>
              </a:extLst>
            </p:cNvPr>
            <p:cNvSpPr/>
            <p:nvPr/>
          </p:nvSpPr>
          <p:spPr>
            <a:xfrm>
              <a:off x="3048000" y="2114390"/>
              <a:ext cx="6096000" cy="1477328"/>
            </a:xfrm>
            <a:prstGeom prst="rect">
              <a:avLst/>
            </a:prstGeom>
            <a:ln>
              <a:solidFill>
                <a:schemeClr val="bg1">
                  <a:lumMod val="50000"/>
                </a:schemeClr>
              </a:solidFill>
            </a:ln>
          </p:spPr>
          <p:txBody>
            <a:bodyPr>
              <a:spAutoFit/>
            </a:bodyPr>
            <a:lstStyle/>
            <a:p>
              <a:r>
                <a:rPr lang="en-US" altLang="ko-KR" sz="1000" b="1" dirty="0">
                  <a:solidFill>
                    <a:srgbClr val="FF0000"/>
                  </a:solidFill>
                </a:rPr>
                <a:t>Declarative configuration </a:t>
              </a:r>
              <a:r>
                <a:rPr lang="en-US" altLang="ko-KR" sz="1000" b="1" dirty="0"/>
                <a:t>is different from </a:t>
              </a:r>
              <a:r>
                <a:rPr lang="en-US" altLang="ko-KR" sz="1000" b="1" dirty="0">
                  <a:solidFill>
                    <a:srgbClr val="FF0000"/>
                  </a:solidFill>
                </a:rPr>
                <a:t>imperative configuration</a:t>
              </a:r>
              <a:r>
                <a:rPr lang="en-US" altLang="ko-KR" sz="1000" b="1" dirty="0"/>
                <a:t>, where you simply take a series of actions (e.g., apt-get install foo) to modify the world. Years of production experience have taught us that </a:t>
              </a:r>
              <a:r>
                <a:rPr lang="en-US" altLang="ko-KR" sz="1000" b="1" dirty="0">
                  <a:solidFill>
                    <a:srgbClr val="FF0000"/>
                  </a:solidFill>
                </a:rPr>
                <a:t>maintaining a written record of the system’s desired state leads to a more manageable, reliable system</a:t>
              </a:r>
              <a:r>
                <a:rPr lang="en-US" altLang="ko-KR" sz="1000" b="1" dirty="0"/>
                <a:t>. </a:t>
              </a:r>
            </a:p>
            <a:p>
              <a:endParaRPr lang="en-US" altLang="ko-KR" sz="1000" b="1" dirty="0"/>
            </a:p>
            <a:p>
              <a:r>
                <a:rPr lang="en-US" altLang="ko-KR" sz="1000" b="1" dirty="0"/>
                <a:t>Declarative configuration enables numerous advantages, including code review for configurations as well as documenting the current state of the world for distributed teams. Additionally, it is the basis for all of the </a:t>
              </a:r>
              <a:r>
                <a:rPr lang="en-US" altLang="ko-KR" sz="1000" b="1" dirty="0">
                  <a:solidFill>
                    <a:srgbClr val="FF0000"/>
                  </a:solidFill>
                </a:rPr>
                <a:t>self-healing behaviors </a:t>
              </a:r>
              <a:r>
                <a:rPr lang="en-US" altLang="ko-KR" sz="1000" b="1" dirty="0"/>
                <a:t>in Kubernetes that keep applications running without user action.</a:t>
              </a:r>
              <a:endParaRPr lang="ko-KR" altLang="en-US" sz="1000" b="1" dirty="0"/>
            </a:p>
          </p:txBody>
        </p:sp>
        <p:pic>
          <p:nvPicPr>
            <p:cNvPr id="9" name="그림 8">
              <a:extLst>
                <a:ext uri="{FF2B5EF4-FFF2-40B4-BE49-F238E27FC236}">
                  <a16:creationId xmlns:a16="http://schemas.microsoft.com/office/drawing/2014/main" id="{A647892C-0316-40EA-9C92-A391244DE12E}"/>
                </a:ext>
              </a:extLst>
            </p:cNvPr>
            <p:cNvPicPr>
              <a:picLocks noChangeAspect="1"/>
            </p:cNvPicPr>
            <p:nvPr/>
          </p:nvPicPr>
          <p:blipFill>
            <a:blip r:embed="rId2"/>
            <a:stretch>
              <a:fillRect/>
            </a:stretch>
          </p:blipFill>
          <p:spPr>
            <a:xfrm>
              <a:off x="3048000" y="3602934"/>
              <a:ext cx="6096000" cy="2387203"/>
            </a:xfrm>
            <a:prstGeom prst="rect">
              <a:avLst/>
            </a:prstGeom>
            <a:ln>
              <a:solidFill>
                <a:schemeClr val="bg1">
                  <a:lumMod val="50000"/>
                </a:schemeClr>
              </a:solidFill>
            </a:ln>
          </p:spPr>
        </p:pic>
      </p:grpSp>
    </p:spTree>
    <p:extLst>
      <p:ext uri="{BB962C8B-B14F-4D97-AF65-F5344CB8AC3E}">
        <p14:creationId xmlns:p14="http://schemas.microsoft.com/office/powerpoint/2010/main" val="3050594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Scheduling :</a:t>
            </a:r>
          </a:p>
          <a:p>
            <a:pPr lvl="1">
              <a:buFont typeface="Wingdings" panose="05000000000000000000" pitchFamily="2" charset="2"/>
              <a:buChar char="§"/>
            </a:pPr>
            <a:r>
              <a:rPr lang="en-US" altLang="ko-KR" sz="1400" b="1" dirty="0"/>
              <a:t>The </a:t>
            </a:r>
            <a:r>
              <a:rPr lang="en-US" altLang="ko-KR" sz="1400" b="1" dirty="0">
                <a:solidFill>
                  <a:srgbClr val="FF0000"/>
                </a:solidFill>
              </a:rPr>
              <a:t>Kubernetes API server </a:t>
            </a:r>
            <a:r>
              <a:rPr lang="en-US" altLang="ko-KR" sz="1400" b="1" dirty="0"/>
              <a:t>accepts and processes Pod manifests before storing them in persistent storage (</a:t>
            </a:r>
            <a:r>
              <a:rPr lang="en-US" altLang="ko-KR" sz="1400" b="1" dirty="0" err="1">
                <a:hlinkClick r:id="rId2"/>
              </a:rPr>
              <a:t>etcd</a:t>
            </a:r>
            <a:r>
              <a:rPr lang="en-US" altLang="ko-KR" sz="1400" b="1" dirty="0"/>
              <a:t>*)</a:t>
            </a:r>
            <a:r>
              <a:rPr lang="en-US" altLang="ko-KR" sz="1400" dirty="0"/>
              <a:t>. </a:t>
            </a:r>
            <a:r>
              <a:rPr lang="en-US" altLang="ko-KR" sz="1400" b="1" dirty="0"/>
              <a:t>The </a:t>
            </a:r>
            <a:r>
              <a:rPr lang="en-US" altLang="ko-KR" sz="1400" b="1" dirty="0">
                <a:solidFill>
                  <a:srgbClr val="FF0000"/>
                </a:solidFill>
              </a:rPr>
              <a:t>scheduler</a:t>
            </a:r>
            <a:r>
              <a:rPr lang="en-US" altLang="ko-KR" sz="1400" b="1" dirty="0"/>
              <a:t> also uses the Kubernetes API to find Pods that haven’t been scheduled to a node. The scheduler then places the Pods onto nodes depending on the resources and other constraints expressed in the Pod manifests</a:t>
            </a:r>
            <a:r>
              <a:rPr lang="en-US" altLang="ko-KR" sz="1400" dirty="0"/>
              <a:t>. </a:t>
            </a:r>
          </a:p>
          <a:p>
            <a:pPr lvl="1">
              <a:buFont typeface="Wingdings" panose="05000000000000000000" pitchFamily="2" charset="2"/>
              <a:buChar char="§"/>
            </a:pPr>
            <a:r>
              <a:rPr lang="en-US" altLang="ko-KR" sz="1400" b="1" dirty="0"/>
              <a:t>Multiple Pods can be placed on the same machine as long as there are sufficient resources</a:t>
            </a:r>
            <a:r>
              <a:rPr lang="en-US" altLang="ko-KR" sz="1400" dirty="0"/>
              <a:t>. However, scheduling multiple replicas of the same application onto the same machine is worse for reliability, since the machine is “</a:t>
            </a:r>
            <a:r>
              <a:rPr lang="en-US" altLang="ko-KR" sz="1400" b="1" dirty="0">
                <a:solidFill>
                  <a:srgbClr val="FF0000"/>
                </a:solidFill>
              </a:rPr>
              <a:t>a single failure domain(A</a:t>
            </a:r>
            <a:r>
              <a:rPr lang="ko-KR" altLang="en-US" sz="1400" b="1" dirty="0">
                <a:solidFill>
                  <a:srgbClr val="FF0000"/>
                </a:solidFill>
              </a:rPr>
              <a:t> </a:t>
            </a:r>
            <a:r>
              <a:rPr lang="en-US" altLang="ko-KR" sz="1400" b="1" dirty="0">
                <a:solidFill>
                  <a:srgbClr val="FF0000"/>
                </a:solidFill>
              </a:rPr>
              <a:t>single point of failure)</a:t>
            </a:r>
            <a:r>
              <a:rPr lang="en-US" altLang="ko-KR" sz="1400" b="1" dirty="0"/>
              <a:t>”</a:t>
            </a:r>
            <a:r>
              <a:rPr lang="en-US" altLang="ko-KR" sz="1400" dirty="0"/>
              <a:t>. </a:t>
            </a:r>
            <a:r>
              <a:rPr lang="en-US" altLang="ko-KR" sz="1400" b="1" dirty="0"/>
              <a:t>Consequently, the Kubernetes scheduler tries to ensure that Pods from the same application are distributed onto different machines for reliability in the presence of such failures</a:t>
            </a:r>
            <a:r>
              <a:rPr lang="en-US" altLang="ko-KR" sz="1400" dirty="0"/>
              <a:t>. </a:t>
            </a:r>
            <a:r>
              <a:rPr lang="en-US" altLang="ko-KR" sz="1400" b="1" dirty="0"/>
              <a:t>Once scheduled to a </a:t>
            </a:r>
            <a:r>
              <a:rPr lang="en-US" altLang="ko-KR" sz="1400" b="1" dirty="0">
                <a:solidFill>
                  <a:srgbClr val="FF0000"/>
                </a:solidFill>
              </a:rPr>
              <a:t>node</a:t>
            </a:r>
            <a:r>
              <a:rPr lang="en-US" altLang="ko-KR" sz="1400" b="1" dirty="0"/>
              <a:t>, Pods don’t move and must be explicitly destroyed and rescheduled</a:t>
            </a:r>
            <a:r>
              <a:rPr lang="en-US" altLang="ko-KR" sz="1400" dirty="0"/>
              <a:t>.</a:t>
            </a:r>
          </a:p>
          <a:p>
            <a:pPr lvl="1">
              <a:buFont typeface="Wingdings" panose="05000000000000000000" pitchFamily="2" charset="2"/>
              <a:buChar char="§"/>
            </a:pPr>
            <a:r>
              <a:rPr lang="en-US" altLang="ko-KR" sz="1400" b="1" dirty="0"/>
              <a:t>Multiple instances of a Pod can be deployed by repeating the workflow</a:t>
            </a:r>
            <a:r>
              <a:rPr lang="en-US" altLang="ko-KR" sz="1400" dirty="0"/>
              <a:t>. However, </a:t>
            </a:r>
            <a:r>
              <a:rPr lang="en-US" altLang="ko-KR" sz="1400" b="1" dirty="0" err="1">
                <a:solidFill>
                  <a:srgbClr val="FF0000"/>
                </a:solidFill>
              </a:rPr>
              <a:t>ReplicaSets</a:t>
            </a:r>
            <a:r>
              <a:rPr lang="en-US" altLang="ko-KR" sz="1400" dirty="0"/>
              <a:t> </a:t>
            </a:r>
            <a:r>
              <a:rPr lang="en-US" altLang="ko-KR" sz="1400" b="1" dirty="0"/>
              <a:t>are better suited for running multiple instances of a Pod</a:t>
            </a:r>
            <a:r>
              <a:rPr lang="en-US" altLang="ko-KR" sz="1400" dirty="0"/>
              <a:t>. (</a:t>
            </a:r>
            <a:r>
              <a:rPr lang="en-US" altLang="ko-KR" sz="1400" b="1" dirty="0"/>
              <a:t>It turns out they’re also better at running a single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099EA1A-8BFD-4082-A195-38B3FA1D394C}"/>
              </a:ext>
            </a:extLst>
          </p:cNvPr>
          <p:cNvPicPr>
            <a:picLocks noChangeAspect="1"/>
          </p:cNvPicPr>
          <p:nvPr/>
        </p:nvPicPr>
        <p:blipFill>
          <a:blip r:embed="rId3"/>
          <a:stretch>
            <a:fillRect/>
          </a:stretch>
        </p:blipFill>
        <p:spPr>
          <a:xfrm>
            <a:off x="2975810" y="3555946"/>
            <a:ext cx="6240379" cy="2800404"/>
          </a:xfrm>
          <a:prstGeom prst="rect">
            <a:avLst/>
          </a:prstGeom>
        </p:spPr>
      </p:pic>
      <p:sp>
        <p:nvSpPr>
          <p:cNvPr id="8" name="직사각형 7">
            <a:extLst>
              <a:ext uri="{FF2B5EF4-FFF2-40B4-BE49-F238E27FC236}">
                <a16:creationId xmlns:a16="http://schemas.microsoft.com/office/drawing/2014/main" id="{1B0B90EF-DCB8-4476-B983-1452913A4520}"/>
              </a:ext>
            </a:extLst>
          </p:cNvPr>
          <p:cNvSpPr/>
          <p:nvPr/>
        </p:nvSpPr>
        <p:spPr>
          <a:xfrm>
            <a:off x="9697453" y="5701144"/>
            <a:ext cx="1656346" cy="707886"/>
          </a:xfrm>
          <a:prstGeom prst="rect">
            <a:avLst/>
          </a:prstGeom>
        </p:spPr>
        <p:txBody>
          <a:bodyPr wrap="square">
            <a:spAutoFit/>
          </a:bodyPr>
          <a:lstStyle/>
          <a:p>
            <a:r>
              <a:rPr lang="en-US" altLang="ko-KR" sz="1000" b="1" dirty="0"/>
              <a:t>* </a:t>
            </a:r>
            <a:r>
              <a:rPr lang="en-US" altLang="ko-KR" sz="1000" b="1" dirty="0" err="1">
                <a:solidFill>
                  <a:srgbClr val="FF0000"/>
                </a:solidFill>
              </a:rPr>
              <a:t>etcd</a:t>
            </a:r>
            <a:r>
              <a:rPr lang="en-US" altLang="ko-KR" sz="1000" b="1" dirty="0"/>
              <a:t>(</a:t>
            </a:r>
            <a:r>
              <a:rPr lang="ko-KR" altLang="en-US" sz="1000" b="1" dirty="0" err="1"/>
              <a:t>엣시디</a:t>
            </a:r>
            <a:r>
              <a:rPr lang="en-US" altLang="ko-KR" sz="1000" b="1" dirty="0"/>
              <a:t>)</a:t>
            </a:r>
            <a:r>
              <a:rPr lang="ko-KR" altLang="en-US" sz="1000" b="1" dirty="0"/>
              <a:t>는 리눅스의 구성 정보를 주로 가지고 있는 </a:t>
            </a:r>
            <a:r>
              <a:rPr lang="en-US" altLang="ko-KR" sz="1000" b="1" dirty="0" err="1"/>
              <a:t>etc</a:t>
            </a:r>
            <a:r>
              <a:rPr lang="en-US" altLang="ko-KR" sz="1000" b="1" dirty="0"/>
              <a:t> </a:t>
            </a:r>
            <a:r>
              <a:rPr lang="ko-KR" altLang="en-US" sz="1000" b="1" dirty="0"/>
              <a:t>디렉터리와 </a:t>
            </a:r>
            <a:r>
              <a:rPr lang="en-US" altLang="ko-KR" sz="1000" b="1" dirty="0"/>
              <a:t>distributed</a:t>
            </a:r>
            <a:r>
              <a:rPr lang="ko-KR" altLang="en-US" sz="1000" b="1" dirty="0"/>
              <a:t>의 합성어</a:t>
            </a:r>
          </a:p>
        </p:txBody>
      </p:sp>
    </p:spTree>
    <p:extLst>
      <p:ext uri="{BB962C8B-B14F-4D97-AF65-F5344CB8AC3E}">
        <p14:creationId xmlns:p14="http://schemas.microsoft.com/office/powerpoint/2010/main" val="8784142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Pod :</a:t>
            </a:r>
          </a:p>
          <a:p>
            <a:pPr lvl="1">
              <a:buFont typeface="Wingdings" panose="05000000000000000000" pitchFamily="2" charset="2"/>
              <a:buChar char="§"/>
            </a:pPr>
            <a:r>
              <a:rPr lang="en-US" altLang="ko-KR" sz="1400" b="1" dirty="0"/>
              <a:t>The simplest way to </a:t>
            </a:r>
            <a:r>
              <a:rPr lang="en-US" altLang="ko-KR" sz="1400" b="1" dirty="0">
                <a:solidFill>
                  <a:srgbClr val="FF0000"/>
                </a:solidFill>
              </a:rPr>
              <a:t>create a Pod </a:t>
            </a:r>
            <a:r>
              <a:rPr lang="en-US" altLang="ko-KR" sz="1400" b="1" dirty="0"/>
              <a:t>is via the imperative “</a:t>
            </a:r>
            <a:r>
              <a:rPr lang="en-US" altLang="ko-KR" sz="1400" b="1" dirty="0" err="1">
                <a:solidFill>
                  <a:srgbClr val="FF0000"/>
                </a:solidFill>
              </a:rPr>
              <a:t>kubectl</a:t>
            </a:r>
            <a:r>
              <a:rPr lang="en-US" altLang="ko-KR" sz="1400" b="1" dirty="0">
                <a:solidFill>
                  <a:srgbClr val="FF0000"/>
                </a:solidFill>
              </a:rPr>
              <a:t> run</a:t>
            </a:r>
            <a:r>
              <a:rPr lang="en-US" altLang="ko-KR" sz="1400" b="1" dirty="0"/>
              <a:t>” command</a:t>
            </a:r>
            <a:r>
              <a:rPr lang="en-US" altLang="ko-KR" sz="1400" dirty="0"/>
              <a:t>. For example, to run our same </a:t>
            </a:r>
            <a:r>
              <a:rPr lang="en-US" altLang="ko-KR" sz="1400" b="1" dirty="0" err="1"/>
              <a:t>kuard</a:t>
            </a:r>
            <a:r>
              <a:rPr lang="en-US" altLang="ko-KR" sz="1400" dirty="0"/>
              <a:t> server, use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see the status of this Pod by running “</a:t>
            </a:r>
            <a:r>
              <a:rPr lang="en-US" altLang="ko-KR" sz="1400" b="1" dirty="0" err="1">
                <a:solidFill>
                  <a:srgbClr val="FF0000"/>
                </a:solidFill>
              </a:rPr>
              <a:t>kubectl</a:t>
            </a:r>
            <a:r>
              <a:rPr lang="en-US" altLang="ko-KR" sz="1400" b="1" dirty="0">
                <a:solidFill>
                  <a:srgbClr val="FF0000"/>
                </a:solidFill>
              </a:rPr>
              <a:t> get pods</a:t>
            </a:r>
            <a:r>
              <a:rPr lang="en-US" altLang="ko-KR" sz="1400" dirty="0"/>
              <a:t>” command. You may initially see the container as Pending, but eventually you will see it transition to </a:t>
            </a:r>
            <a:r>
              <a:rPr lang="en-US" altLang="ko-KR" sz="1400" b="1" dirty="0"/>
              <a:t>Running</a:t>
            </a:r>
            <a:r>
              <a:rPr lang="en-US" altLang="ko-KR" sz="1400" dirty="0"/>
              <a:t>, which means that </a:t>
            </a:r>
            <a:r>
              <a:rPr lang="en-US" altLang="ko-KR" sz="1400" b="1" dirty="0"/>
              <a:t>the Pod and its containers have been successfully created</a:t>
            </a:r>
            <a:r>
              <a:rPr lang="en-US" altLang="ko-KR" sz="1400" dirty="0"/>
              <a:t>.</a:t>
            </a:r>
          </a:p>
          <a:p>
            <a:pPr lvl="1">
              <a:buFont typeface="Wingdings" panose="05000000000000000000" pitchFamily="2" charset="2"/>
              <a:buChar char="§"/>
            </a:pPr>
            <a:r>
              <a:rPr lang="en-US" altLang="ko-KR" sz="1400" b="1" dirty="0"/>
              <a:t>NOTE : Here you can see “</a:t>
            </a:r>
            <a:r>
              <a:rPr lang="en-US" altLang="ko-KR" sz="1400" b="1" dirty="0" err="1">
                <a:solidFill>
                  <a:srgbClr val="FF0000"/>
                </a:solidFill>
              </a:rPr>
              <a:t>ImagePullBackOff</a:t>
            </a:r>
            <a:r>
              <a:rPr lang="en-US" altLang="ko-KR" sz="1400" b="1" dirty="0"/>
              <a:t>” in “STATUS” from “</a:t>
            </a:r>
            <a:r>
              <a:rPr lang="en-US" altLang="ko-KR" sz="1400" b="1" dirty="0" err="1"/>
              <a:t>kubectl</a:t>
            </a:r>
            <a:r>
              <a:rPr lang="en-US" altLang="ko-KR" sz="1400" b="1" dirty="0"/>
              <a:t> get pods” command output. It means there is no image for the “--image=xxx” option in “</a:t>
            </a:r>
            <a:r>
              <a:rPr lang="en-US" altLang="ko-KR" sz="1400" b="1" dirty="0" err="1"/>
              <a:t>kubectl</a:t>
            </a:r>
            <a:r>
              <a:rPr lang="en-US" altLang="ko-KR" sz="1400" b="1" dirty="0"/>
              <a:t> run” command</a:t>
            </a:r>
            <a:r>
              <a:rPr lang="en-US" altLang="ko-KR" sz="1400" dirty="0"/>
              <a:t>. In order to fix this problem, you need to make docker image or pull the image from the docker hub repository.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B598BAD5-E05D-47EE-8BCD-AF5CA37F1834}"/>
              </a:ext>
            </a:extLst>
          </p:cNvPr>
          <p:cNvGrpSpPr/>
          <p:nvPr/>
        </p:nvGrpSpPr>
        <p:grpSpPr>
          <a:xfrm>
            <a:off x="1319212" y="1614649"/>
            <a:ext cx="9553575" cy="3145573"/>
            <a:chOff x="1319212" y="1614649"/>
            <a:chExt cx="9553575" cy="3145573"/>
          </a:xfrm>
        </p:grpSpPr>
        <p:grpSp>
          <p:nvGrpSpPr>
            <p:cNvPr id="10" name="그룹 9">
              <a:extLst>
                <a:ext uri="{FF2B5EF4-FFF2-40B4-BE49-F238E27FC236}">
                  <a16:creationId xmlns:a16="http://schemas.microsoft.com/office/drawing/2014/main" id="{3367636B-56DA-436B-9B30-8673C256D84A}"/>
                </a:ext>
              </a:extLst>
            </p:cNvPr>
            <p:cNvGrpSpPr/>
            <p:nvPr/>
          </p:nvGrpSpPr>
          <p:grpSpPr>
            <a:xfrm>
              <a:off x="1319212" y="1614649"/>
              <a:ext cx="9553575" cy="3145573"/>
              <a:chOff x="1319210" y="1726214"/>
              <a:chExt cx="9553575" cy="3145573"/>
            </a:xfrm>
          </p:grpSpPr>
          <p:sp>
            <p:nvSpPr>
              <p:cNvPr id="4" name="직사각형 3">
                <a:extLst>
                  <a:ext uri="{FF2B5EF4-FFF2-40B4-BE49-F238E27FC236}">
                    <a16:creationId xmlns:a16="http://schemas.microsoft.com/office/drawing/2014/main" id="{2E35756B-499A-441A-9ED0-D0DA4A5503B7}"/>
                  </a:ext>
                </a:extLst>
              </p:cNvPr>
              <p:cNvSpPr/>
              <p:nvPr/>
            </p:nvSpPr>
            <p:spPr>
              <a:xfrm>
                <a:off x="3048000" y="1726214"/>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minikube</a:t>
                </a:r>
                <a:r>
                  <a:rPr lang="en-US" altLang="ko-KR" sz="1000" b="1" dirty="0"/>
                  <a:t> start</a:t>
                </a:r>
              </a:p>
              <a:p>
                <a:r>
                  <a:rPr lang="en-US" altLang="ko-KR" sz="1000" b="1" dirty="0"/>
                  <a:t>$ </a:t>
                </a:r>
                <a:r>
                  <a:rPr lang="en-US" altLang="ko-KR" sz="1000" b="1" dirty="0" err="1"/>
                  <a:t>kubectl</a:t>
                </a:r>
                <a:r>
                  <a:rPr lang="en-US" altLang="ko-KR" sz="1000" b="1" dirty="0"/>
                  <a:t> run </a:t>
                </a:r>
                <a:r>
                  <a:rPr lang="en-US" altLang="ko-KR" sz="1000" b="1" dirty="0" err="1">
                    <a:solidFill>
                      <a:srgbClr val="FF0000"/>
                    </a:solidFill>
                  </a:rPr>
                  <a:t>kuard</a:t>
                </a:r>
                <a:r>
                  <a:rPr lang="en-US" altLang="ko-KR" sz="1000" b="1" dirty="0"/>
                  <a:t> </a:t>
                </a:r>
                <a:r>
                  <a:rPr lang="en-US" altLang="ko-KR" sz="1000" b="1" dirty="0">
                    <a:solidFill>
                      <a:srgbClr val="FF0000"/>
                    </a:solidFill>
                  </a:rPr>
                  <a:t>--image=knix008/kuard-shkwon-amd64:1.0</a:t>
                </a:r>
              </a:p>
              <a:p>
                <a:r>
                  <a:rPr lang="en-US" altLang="ko-KR" sz="1000" b="1" dirty="0"/>
                  <a:t>$ </a:t>
                </a:r>
                <a:r>
                  <a:rPr lang="en-US" altLang="ko-KR" sz="1000" b="1" dirty="0" err="1"/>
                  <a:t>kubectl</a:t>
                </a:r>
                <a:r>
                  <a:rPr lang="en-US" altLang="ko-KR" sz="1000" b="1" dirty="0"/>
                  <a:t> get pods</a:t>
                </a:r>
                <a:endParaRPr lang="ko-KR" altLang="en-US" sz="1000" b="1" dirty="0"/>
              </a:p>
            </p:txBody>
          </p:sp>
          <p:pic>
            <p:nvPicPr>
              <p:cNvPr id="8" name="그림 7">
                <a:extLst>
                  <a:ext uri="{FF2B5EF4-FFF2-40B4-BE49-F238E27FC236}">
                    <a16:creationId xmlns:a16="http://schemas.microsoft.com/office/drawing/2014/main" id="{D5869B45-7FF4-4945-8172-3FC44F0FCA7F}"/>
                  </a:ext>
                </a:extLst>
              </p:cNvPr>
              <p:cNvPicPr>
                <a:picLocks noChangeAspect="1"/>
              </p:cNvPicPr>
              <p:nvPr/>
            </p:nvPicPr>
            <p:blipFill>
              <a:blip r:embed="rId2"/>
              <a:stretch>
                <a:fillRect/>
              </a:stretch>
            </p:blipFill>
            <p:spPr>
              <a:xfrm>
                <a:off x="1319210" y="2566737"/>
                <a:ext cx="9553575" cy="23050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19D276D5-72F8-47F4-993B-FCDD01994E1A}"/>
                  </a:ext>
                </a:extLst>
              </p:cNvPr>
              <p:cNvSpPr/>
              <p:nvPr/>
            </p:nvSpPr>
            <p:spPr>
              <a:xfrm>
                <a:off x="5899483" y="2280212"/>
                <a:ext cx="393031" cy="28652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45FB58E3-A0E5-4C8C-83E6-8C3612D0EDFC}"/>
                </a:ext>
              </a:extLst>
            </p:cNvPr>
            <p:cNvSpPr/>
            <p:nvPr/>
          </p:nvSpPr>
          <p:spPr>
            <a:xfrm>
              <a:off x="2646947" y="4130842"/>
              <a:ext cx="1339516"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1E381E6B-528D-ED5C-ADA9-76F1CAB623FE}"/>
              </a:ext>
            </a:extLst>
          </p:cNvPr>
          <p:cNvSpPr/>
          <p:nvPr/>
        </p:nvSpPr>
        <p:spPr>
          <a:xfrm>
            <a:off x="2048540" y="4130842"/>
            <a:ext cx="361507"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664537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Fixing “</a:t>
            </a:r>
            <a:r>
              <a:rPr lang="en-US" altLang="ko-KR" sz="2800" b="1" dirty="0" err="1"/>
              <a:t>ImagePullBackOff</a:t>
            </a:r>
            <a:r>
              <a:rPr lang="en-US" altLang="ko-KR" sz="2800" b="1" dirty="0"/>
              <a:t>” Error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Pull the Image from Docker Hub :</a:t>
            </a:r>
          </a:p>
          <a:p>
            <a:pPr lvl="1">
              <a:buFont typeface="Wingdings" panose="05000000000000000000" pitchFamily="2" charset="2"/>
              <a:buChar char="§"/>
            </a:pPr>
            <a:r>
              <a:rPr lang="en-US" altLang="ko-KR" sz="1400" dirty="0"/>
              <a:t>In previous presentation, we build “</a:t>
            </a:r>
            <a:r>
              <a:rPr lang="en-US" altLang="ko-KR" sz="1400" b="1" dirty="0" err="1"/>
              <a:t>kuard</a:t>
            </a:r>
            <a:r>
              <a:rPr lang="en-US" altLang="ko-KR" sz="1400" dirty="0"/>
              <a:t>” image and </a:t>
            </a:r>
            <a:r>
              <a:rPr lang="en-US" altLang="ko-KR" sz="1400" b="1" dirty="0"/>
              <a:t>push</a:t>
            </a:r>
            <a:r>
              <a:rPr lang="en-US" altLang="ko-KR" sz="1400" dirty="0"/>
              <a:t> it into </a:t>
            </a:r>
            <a:r>
              <a:rPr lang="en-US" altLang="ko-KR" sz="1400" b="1" dirty="0"/>
              <a:t>Docker Hub</a:t>
            </a:r>
            <a:r>
              <a:rPr lang="en-US" altLang="ko-KR" sz="1400" dirty="0"/>
              <a:t>. Now it’s time to </a:t>
            </a:r>
            <a:r>
              <a:rPr lang="en-US" altLang="ko-KR" sz="1400" b="1" dirty="0">
                <a:solidFill>
                  <a:srgbClr val="FF0000"/>
                </a:solidFill>
              </a:rPr>
              <a:t>pull</a:t>
            </a:r>
            <a:r>
              <a:rPr lang="en-US" altLang="ko-KR" sz="1400" dirty="0"/>
              <a:t> the image.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20" name="그룹 19">
            <a:extLst>
              <a:ext uri="{FF2B5EF4-FFF2-40B4-BE49-F238E27FC236}">
                <a16:creationId xmlns:a16="http://schemas.microsoft.com/office/drawing/2014/main" id="{179369E9-998A-45F1-82E0-2BDDE12C317A}"/>
              </a:ext>
            </a:extLst>
          </p:cNvPr>
          <p:cNvGrpSpPr/>
          <p:nvPr/>
        </p:nvGrpSpPr>
        <p:grpSpPr>
          <a:xfrm>
            <a:off x="1605150" y="1503352"/>
            <a:ext cx="8981700" cy="4825892"/>
            <a:chOff x="1605150" y="1503352"/>
            <a:chExt cx="8981700" cy="4825892"/>
          </a:xfrm>
        </p:grpSpPr>
        <p:grpSp>
          <p:nvGrpSpPr>
            <p:cNvPr id="18" name="그룹 17">
              <a:extLst>
                <a:ext uri="{FF2B5EF4-FFF2-40B4-BE49-F238E27FC236}">
                  <a16:creationId xmlns:a16="http://schemas.microsoft.com/office/drawing/2014/main" id="{399A2461-CA97-43B0-A5CB-8DA8BFE5A882}"/>
                </a:ext>
              </a:extLst>
            </p:cNvPr>
            <p:cNvGrpSpPr/>
            <p:nvPr/>
          </p:nvGrpSpPr>
          <p:grpSpPr>
            <a:xfrm>
              <a:off x="1605150" y="1503352"/>
              <a:ext cx="8981700" cy="4825892"/>
              <a:chOff x="1605150" y="1503352"/>
              <a:chExt cx="8981700" cy="4825892"/>
            </a:xfrm>
          </p:grpSpPr>
          <p:grpSp>
            <p:nvGrpSpPr>
              <p:cNvPr id="16" name="그룹 15">
                <a:extLst>
                  <a:ext uri="{FF2B5EF4-FFF2-40B4-BE49-F238E27FC236}">
                    <a16:creationId xmlns:a16="http://schemas.microsoft.com/office/drawing/2014/main" id="{D4CC5C79-BD28-4F35-B4E0-142002E6E2B7}"/>
                  </a:ext>
                </a:extLst>
              </p:cNvPr>
              <p:cNvGrpSpPr/>
              <p:nvPr/>
            </p:nvGrpSpPr>
            <p:grpSpPr>
              <a:xfrm>
                <a:off x="1605150" y="1503352"/>
                <a:ext cx="8981700" cy="4825892"/>
                <a:chOff x="1319211" y="1509347"/>
                <a:chExt cx="9553576" cy="5318778"/>
              </a:xfrm>
            </p:grpSpPr>
            <p:grpSp>
              <p:nvGrpSpPr>
                <p:cNvPr id="14" name="그룹 13">
                  <a:extLst>
                    <a:ext uri="{FF2B5EF4-FFF2-40B4-BE49-F238E27FC236}">
                      <a16:creationId xmlns:a16="http://schemas.microsoft.com/office/drawing/2014/main" id="{FC90818B-C09E-4E27-81C0-09EDD5A2CDFB}"/>
                    </a:ext>
                  </a:extLst>
                </p:cNvPr>
                <p:cNvGrpSpPr/>
                <p:nvPr/>
              </p:nvGrpSpPr>
              <p:grpSpPr>
                <a:xfrm>
                  <a:off x="1319213" y="1509347"/>
                  <a:ext cx="9553574" cy="2857500"/>
                  <a:chOff x="1319213" y="2046758"/>
                  <a:chExt cx="9553574" cy="2857500"/>
                </a:xfrm>
              </p:grpSpPr>
              <p:pic>
                <p:nvPicPr>
                  <p:cNvPr id="12" name="그림 11">
                    <a:extLst>
                      <a:ext uri="{FF2B5EF4-FFF2-40B4-BE49-F238E27FC236}">
                        <a16:creationId xmlns:a16="http://schemas.microsoft.com/office/drawing/2014/main" id="{1967F137-5AA0-4989-8FC8-80E0C9336FA0}"/>
                      </a:ext>
                    </a:extLst>
                  </p:cNvPr>
                  <p:cNvPicPr>
                    <a:picLocks noChangeAspect="1"/>
                  </p:cNvPicPr>
                  <p:nvPr/>
                </p:nvPicPr>
                <p:blipFill>
                  <a:blip r:embed="rId2"/>
                  <a:stretch>
                    <a:fillRect/>
                  </a:stretch>
                </p:blipFill>
                <p:spPr>
                  <a:xfrm>
                    <a:off x="1319213" y="2046758"/>
                    <a:ext cx="9553574" cy="2857500"/>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CBE387ED-5CC7-4A84-9789-0FA579966D42}"/>
                      </a:ext>
                    </a:extLst>
                  </p:cNvPr>
                  <p:cNvSpPr/>
                  <p:nvPr/>
                </p:nvSpPr>
                <p:spPr>
                  <a:xfrm>
                    <a:off x="1419726" y="4043968"/>
                    <a:ext cx="2101516" cy="16844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5" name="그림 14">
                  <a:extLst>
                    <a:ext uri="{FF2B5EF4-FFF2-40B4-BE49-F238E27FC236}">
                      <a16:creationId xmlns:a16="http://schemas.microsoft.com/office/drawing/2014/main" id="{FA3AE7FB-EBE0-42F2-BB96-80A8C924C22E}"/>
                    </a:ext>
                  </a:extLst>
                </p:cNvPr>
                <p:cNvPicPr>
                  <a:picLocks noChangeAspect="1"/>
                </p:cNvPicPr>
                <p:nvPr/>
              </p:nvPicPr>
              <p:blipFill>
                <a:blip r:embed="rId3"/>
                <a:stretch>
                  <a:fillRect/>
                </a:stretch>
              </p:blipFill>
              <p:spPr>
                <a:xfrm>
                  <a:off x="1319211" y="4418300"/>
                  <a:ext cx="9553574" cy="2409825"/>
                </a:xfrm>
                <a:prstGeom prst="rect">
                  <a:avLst/>
                </a:prstGeom>
              </p:spPr>
            </p:pic>
          </p:grpSp>
          <p:sp>
            <p:nvSpPr>
              <p:cNvPr id="17" name="직사각형 16">
                <a:extLst>
                  <a:ext uri="{FF2B5EF4-FFF2-40B4-BE49-F238E27FC236}">
                    <a16:creationId xmlns:a16="http://schemas.microsoft.com/office/drawing/2014/main" id="{B5590E67-704D-4BAC-8254-FCA96AC526BC}"/>
                  </a:ext>
                </a:extLst>
              </p:cNvPr>
              <p:cNvSpPr/>
              <p:nvPr/>
            </p:nvSpPr>
            <p:spPr>
              <a:xfrm>
                <a:off x="5831305" y="1981200"/>
                <a:ext cx="3112169" cy="18448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9" name="직사각형 18">
              <a:extLst>
                <a:ext uri="{FF2B5EF4-FFF2-40B4-BE49-F238E27FC236}">
                  <a16:creationId xmlns:a16="http://schemas.microsoft.com/office/drawing/2014/main" id="{32E0A031-0A24-4034-A19F-D1E13A60CF91}"/>
                </a:ext>
              </a:extLst>
            </p:cNvPr>
            <p:cNvSpPr/>
            <p:nvPr/>
          </p:nvSpPr>
          <p:spPr>
            <a:xfrm>
              <a:off x="1724526" y="5831306"/>
              <a:ext cx="2975811" cy="14293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701661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a Pod :</a:t>
            </a:r>
          </a:p>
          <a:p>
            <a:pPr lvl="1">
              <a:buFont typeface="Wingdings" panose="05000000000000000000" pitchFamily="2" charset="2"/>
              <a:buChar char="§"/>
            </a:pPr>
            <a:r>
              <a:rPr lang="en-US" altLang="ko-KR" sz="1400" dirty="0"/>
              <a:t>For now, you can </a:t>
            </a:r>
            <a:r>
              <a:rPr lang="en-US" altLang="ko-KR" sz="1400" b="1" dirty="0"/>
              <a:t>delete a Pod </a:t>
            </a:r>
            <a:r>
              <a:rPr lang="en-US" altLang="ko-KR" sz="1400" dirty="0"/>
              <a:t>by running “</a:t>
            </a:r>
            <a:r>
              <a:rPr lang="en-US" altLang="ko-KR" sz="1400" b="1" dirty="0" err="1">
                <a:solidFill>
                  <a:srgbClr val="FF0000"/>
                </a:solidFill>
              </a:rPr>
              <a:t>kubectl</a:t>
            </a:r>
            <a:r>
              <a:rPr lang="en-US" altLang="ko-KR" sz="1400" b="1" dirty="0">
                <a:solidFill>
                  <a:srgbClr val="FF0000"/>
                </a:solidFill>
              </a:rPr>
              <a:t> delete</a:t>
            </a:r>
            <a:r>
              <a:rPr lang="en-US" altLang="ko-KR" sz="1400" dirty="0"/>
              <a:t>” command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206693D6-5998-47B5-ABA9-5E631C6C452C}"/>
              </a:ext>
            </a:extLst>
          </p:cNvPr>
          <p:cNvGrpSpPr/>
          <p:nvPr/>
        </p:nvGrpSpPr>
        <p:grpSpPr>
          <a:xfrm>
            <a:off x="1333500" y="1812760"/>
            <a:ext cx="9525000" cy="2344653"/>
            <a:chOff x="1333499" y="1636296"/>
            <a:chExt cx="9525000" cy="2344653"/>
          </a:xfrm>
        </p:grpSpPr>
        <p:sp>
          <p:nvSpPr>
            <p:cNvPr id="4" name="TextBox 3">
              <a:extLst>
                <a:ext uri="{FF2B5EF4-FFF2-40B4-BE49-F238E27FC236}">
                  <a16:creationId xmlns:a16="http://schemas.microsoft.com/office/drawing/2014/main" id="{617E47BE-F2E4-45AD-A499-99F893F1027E}"/>
                </a:ext>
              </a:extLst>
            </p:cNvPr>
            <p:cNvSpPr txBox="1"/>
            <p:nvPr/>
          </p:nvSpPr>
          <p:spPr>
            <a:xfrm>
              <a:off x="5135640" y="1636296"/>
              <a:ext cx="1920719" cy="246221"/>
            </a:xfrm>
            <a:prstGeom prst="rect">
              <a:avLst/>
            </a:prstGeom>
            <a:noFill/>
            <a:ln>
              <a:solidFill>
                <a:schemeClr val="bg1">
                  <a:lumMod val="50000"/>
                </a:schemeClr>
              </a:solidFill>
            </a:ln>
          </p:spPr>
          <p:txBody>
            <a:bodyPr wrap="none" rtlCol="0">
              <a:spAutoFit/>
            </a:bodyPr>
            <a:lstStyle/>
            <a:p>
              <a:pPr algn="ctr"/>
              <a:r>
                <a:rPr lang="en-US" altLang="ko-KR" sz="1000" b="1" dirty="0"/>
                <a:t>$ </a:t>
              </a:r>
              <a:r>
                <a:rPr lang="en-US" altLang="ko-KR" sz="1000" b="1" dirty="0" err="1"/>
                <a:t>kubectl</a:t>
              </a:r>
              <a:r>
                <a:rPr lang="en-US" altLang="ko-KR" sz="1000" b="1" dirty="0"/>
                <a:t> delete </a:t>
              </a:r>
              <a:r>
                <a:rPr lang="en-US" altLang="ko-KR" sz="1000" b="1" dirty="0">
                  <a:solidFill>
                    <a:srgbClr val="FF0000"/>
                  </a:solidFill>
                </a:rPr>
                <a:t>pods/</a:t>
              </a:r>
              <a:r>
                <a:rPr lang="en-US" altLang="ko-KR" sz="1000" b="1" dirty="0" err="1">
                  <a:solidFill>
                    <a:srgbClr val="FF0000"/>
                  </a:solidFill>
                </a:rPr>
                <a:t>kuard</a:t>
              </a:r>
              <a:endParaRPr lang="ko-KR" altLang="en-US" sz="1000" b="1" dirty="0">
                <a:solidFill>
                  <a:srgbClr val="FF0000"/>
                </a:solidFill>
              </a:endParaRPr>
            </a:p>
          </p:txBody>
        </p:sp>
        <p:grpSp>
          <p:nvGrpSpPr>
            <p:cNvPr id="10" name="그룹 9">
              <a:extLst>
                <a:ext uri="{FF2B5EF4-FFF2-40B4-BE49-F238E27FC236}">
                  <a16:creationId xmlns:a16="http://schemas.microsoft.com/office/drawing/2014/main" id="{4B254753-E89E-41C5-82FC-FA0C7709EDD7}"/>
                </a:ext>
              </a:extLst>
            </p:cNvPr>
            <p:cNvGrpSpPr/>
            <p:nvPr/>
          </p:nvGrpSpPr>
          <p:grpSpPr>
            <a:xfrm>
              <a:off x="1333499" y="1903747"/>
              <a:ext cx="9525000" cy="2077202"/>
              <a:chOff x="1333499" y="1903747"/>
              <a:chExt cx="9525000" cy="2077202"/>
            </a:xfrm>
          </p:grpSpPr>
          <p:pic>
            <p:nvPicPr>
              <p:cNvPr id="8" name="그림 7">
                <a:extLst>
                  <a:ext uri="{FF2B5EF4-FFF2-40B4-BE49-F238E27FC236}">
                    <a16:creationId xmlns:a16="http://schemas.microsoft.com/office/drawing/2014/main" id="{2A6C1663-C356-456B-A74E-C37FFFC72735}"/>
                  </a:ext>
                </a:extLst>
              </p:cNvPr>
              <p:cNvPicPr>
                <a:picLocks noChangeAspect="1"/>
              </p:cNvPicPr>
              <p:nvPr/>
            </p:nvPicPr>
            <p:blipFill>
              <a:blip r:embed="rId2"/>
              <a:stretch>
                <a:fillRect/>
              </a:stretch>
            </p:blipFill>
            <p:spPr>
              <a:xfrm>
                <a:off x="1333499" y="2171199"/>
                <a:ext cx="9525000"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E65EDB4-EFD3-4FBC-99C8-2E766D96785B}"/>
                  </a:ext>
                </a:extLst>
              </p:cNvPr>
              <p:cNvSpPr/>
              <p:nvPr/>
            </p:nvSpPr>
            <p:spPr>
              <a:xfrm>
                <a:off x="5903493" y="1903747"/>
                <a:ext cx="385011"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2772152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Pod Manifest(5/5)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a Pod Manifest :</a:t>
            </a:r>
          </a:p>
          <a:p>
            <a:pPr lvl="1">
              <a:buFont typeface="Wingdings" panose="05000000000000000000" pitchFamily="2" charset="2"/>
              <a:buChar char="§"/>
            </a:pPr>
            <a:r>
              <a:rPr lang="en-US" altLang="ko-KR" sz="1400" b="1" dirty="0"/>
              <a:t>Pod manifests can be written using </a:t>
            </a:r>
            <a:r>
              <a:rPr lang="en-US" altLang="ko-KR" sz="1400" b="1" dirty="0">
                <a:solidFill>
                  <a:srgbClr val="FF0000"/>
                </a:solidFill>
              </a:rPr>
              <a:t>YAML(YAML </a:t>
            </a:r>
            <a:r>
              <a:rPr lang="en-US" altLang="ko-KR" sz="1400" b="1" dirty="0" err="1">
                <a:solidFill>
                  <a:srgbClr val="FF0000"/>
                </a:solidFill>
              </a:rPr>
              <a:t>Ain't</a:t>
            </a:r>
            <a:r>
              <a:rPr lang="en-US" altLang="ko-KR" sz="1400" b="1" dirty="0">
                <a:solidFill>
                  <a:srgbClr val="FF0000"/>
                </a:solidFill>
              </a:rPr>
              <a:t> Markup Language)</a:t>
            </a:r>
            <a:r>
              <a:rPr lang="en-US" altLang="ko-KR" sz="1400" b="1" dirty="0"/>
              <a:t> or JSON(JavaScript Object Notation), but YAML is generally preferred</a:t>
            </a:r>
            <a:r>
              <a:rPr lang="en-US" altLang="ko-KR" sz="1400" dirty="0"/>
              <a:t> because it is slightly </a:t>
            </a:r>
            <a:r>
              <a:rPr lang="en-US" altLang="ko-KR" sz="1400" b="1" dirty="0"/>
              <a:t>more human-editable</a:t>
            </a:r>
            <a:r>
              <a:rPr lang="en-US" altLang="ko-KR" sz="1400" dirty="0"/>
              <a:t> and has </a:t>
            </a:r>
            <a:r>
              <a:rPr lang="en-US" altLang="ko-KR" sz="1400" b="1" dirty="0"/>
              <a:t>the ability to add comments</a:t>
            </a:r>
            <a:r>
              <a:rPr lang="en-US" altLang="ko-KR" sz="1400" dirty="0"/>
              <a:t>. </a:t>
            </a:r>
            <a:r>
              <a:rPr lang="en-US" altLang="ko-KR" sz="1400" b="1" dirty="0">
                <a:solidFill>
                  <a:srgbClr val="FF0000"/>
                </a:solidFill>
              </a:rPr>
              <a:t>Pod manifests (and other Kubernetes API objects) should really be treated in the same way as source code</a:t>
            </a:r>
            <a:r>
              <a:rPr lang="en-US" altLang="ko-KR" sz="1400" dirty="0"/>
              <a:t>, and things like comments help explain the Pod to new team members who are looking at them for the first time.</a:t>
            </a:r>
          </a:p>
          <a:p>
            <a:pPr lvl="1">
              <a:buFont typeface="Wingdings" panose="05000000000000000000" pitchFamily="2" charset="2"/>
              <a:buChar char="§"/>
            </a:pPr>
            <a:r>
              <a:rPr lang="en-US" altLang="ko-KR" sz="1400" b="1" dirty="0"/>
              <a:t>Pod manifests include a couple of </a:t>
            </a:r>
            <a:r>
              <a:rPr lang="en-US" altLang="ko-KR" sz="1400" b="1" dirty="0">
                <a:solidFill>
                  <a:srgbClr val="FF0000"/>
                </a:solidFill>
              </a:rPr>
              <a:t>key fields and attributes</a:t>
            </a:r>
            <a:r>
              <a:rPr lang="en-US" altLang="ko-KR" sz="1400" dirty="0"/>
              <a:t>: namely </a:t>
            </a:r>
            <a:r>
              <a:rPr lang="en-US" altLang="ko-KR" sz="1400" b="1" dirty="0"/>
              <a:t>a </a:t>
            </a:r>
            <a:r>
              <a:rPr lang="en-US" altLang="ko-KR" sz="1400" b="1" dirty="0">
                <a:solidFill>
                  <a:srgbClr val="FF0000"/>
                </a:solidFill>
              </a:rPr>
              <a:t>metadata section </a:t>
            </a:r>
            <a:r>
              <a:rPr lang="en-US" altLang="ko-KR" sz="1400" b="1" dirty="0"/>
              <a:t>for describing the Pod and its labels</a:t>
            </a:r>
            <a:r>
              <a:rPr lang="en-US" altLang="ko-KR" sz="1400" dirty="0"/>
              <a:t>, </a:t>
            </a:r>
            <a:r>
              <a:rPr lang="en-US" altLang="ko-KR" sz="1400" b="1" dirty="0"/>
              <a:t>a </a:t>
            </a:r>
            <a:r>
              <a:rPr lang="en-US" altLang="ko-KR" sz="1400" b="1" dirty="0">
                <a:solidFill>
                  <a:srgbClr val="FF0000"/>
                </a:solidFill>
              </a:rPr>
              <a:t>spec section </a:t>
            </a:r>
            <a:r>
              <a:rPr lang="en-US" altLang="ko-KR" sz="1400" b="1" dirty="0"/>
              <a:t>for describing volumes, and a list of containers that will run in the Pod</a:t>
            </a:r>
            <a:r>
              <a:rPr lang="en-US" altLang="ko-KR" sz="1400" dirty="0"/>
              <a:t>.</a:t>
            </a:r>
          </a:p>
          <a:p>
            <a:pPr lvl="1">
              <a:buFont typeface="Wingdings" panose="05000000000000000000" pitchFamily="2" charset="2"/>
              <a:buChar char="§"/>
            </a:pPr>
            <a:r>
              <a:rPr lang="en-US" altLang="ko-KR" sz="1400" dirty="0"/>
              <a:t>To run the docker image, we already used the following command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A similar result can be achieved by instead writing the following codes to a file named “</a:t>
            </a:r>
            <a:r>
              <a:rPr lang="en-US" altLang="ko-KR" sz="1400" b="1" dirty="0" err="1"/>
              <a:t>kuard-pod.yaml</a:t>
            </a:r>
            <a:r>
              <a:rPr lang="en-US" altLang="ko-KR" sz="1400" dirty="0"/>
              <a:t>” and then using “</a:t>
            </a:r>
            <a:r>
              <a:rPr lang="en-US" altLang="ko-KR" sz="1400" b="1" dirty="0" err="1"/>
              <a:t>kubectl</a:t>
            </a:r>
            <a:r>
              <a:rPr lang="en-US" altLang="ko-KR" sz="1400" dirty="0"/>
              <a:t>” </a:t>
            </a:r>
            <a:r>
              <a:rPr lang="en-US" altLang="ko-KR" sz="1400" b="1" dirty="0"/>
              <a:t>commands to load that manifest to Kubernetes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0EBF8E9-411C-4488-8075-A8335FD60946}"/>
              </a:ext>
            </a:extLst>
          </p:cNvPr>
          <p:cNvSpPr/>
          <p:nvPr/>
        </p:nvSpPr>
        <p:spPr>
          <a:xfrm>
            <a:off x="3048000" y="2783105"/>
            <a:ext cx="6096000" cy="246221"/>
          </a:xfrm>
          <a:prstGeom prst="rect">
            <a:avLst/>
          </a:prstGeom>
          <a:ln>
            <a:solidFill>
              <a:schemeClr val="bg1">
                <a:lumMod val="50000"/>
              </a:schemeClr>
            </a:solidFill>
          </a:ln>
        </p:spPr>
        <p:txBody>
          <a:bodyPr>
            <a:spAutoFit/>
          </a:bodyPr>
          <a:lstStyle/>
          <a:p>
            <a:r>
              <a:rPr lang="en-US" altLang="ko-KR" sz="1000" b="1" dirty="0"/>
              <a:t>docker run -d --name </a:t>
            </a:r>
            <a:r>
              <a:rPr lang="en-US" altLang="ko-KR" sz="1000" b="1" dirty="0" err="1"/>
              <a:t>kuard</a:t>
            </a:r>
            <a:r>
              <a:rPr lang="en-US" altLang="ko-KR" sz="1000" b="1" dirty="0"/>
              <a:t> --publish 8080:8080 knix008/kuard-shkwon-amd64:1.0</a:t>
            </a:r>
          </a:p>
        </p:txBody>
      </p:sp>
      <p:sp>
        <p:nvSpPr>
          <p:cNvPr id="9" name="직사각형 8">
            <a:extLst>
              <a:ext uri="{FF2B5EF4-FFF2-40B4-BE49-F238E27FC236}">
                <a16:creationId xmlns:a16="http://schemas.microsoft.com/office/drawing/2014/main" id="{98756EEA-E2F2-49C5-9276-139B910860BA}"/>
              </a:ext>
            </a:extLst>
          </p:cNvPr>
          <p:cNvSpPr/>
          <p:nvPr/>
        </p:nvSpPr>
        <p:spPr>
          <a:xfrm>
            <a:off x="3048000" y="3749682"/>
            <a:ext cx="6096000" cy="1938992"/>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a:t>
            </a:r>
            <a:r>
              <a:rPr lang="en-US" altLang="ko-KR" sz="1000" b="1" dirty="0">
                <a:solidFill>
                  <a:srgbClr val="FF0000"/>
                </a:solidFill>
              </a:rPr>
              <a:t>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      ports:</a:t>
            </a:r>
          </a:p>
          <a:p>
            <a:r>
              <a:rPr lang="en-US" altLang="ko-KR" sz="1000" b="1" dirty="0"/>
              <a:t>        - </a:t>
            </a:r>
            <a:r>
              <a:rPr lang="en-US" altLang="ko-KR" sz="1000" b="1" dirty="0" err="1"/>
              <a:t>containerPort</a:t>
            </a:r>
            <a:r>
              <a:rPr lang="en-US" altLang="ko-KR" sz="1000" b="1" dirty="0"/>
              <a:t>: </a:t>
            </a:r>
            <a:r>
              <a:rPr lang="en-US" altLang="ko-KR" sz="1000" b="1" dirty="0">
                <a:solidFill>
                  <a:srgbClr val="FF0000"/>
                </a:solidFill>
              </a:rPr>
              <a:t>8080</a:t>
            </a:r>
          </a:p>
          <a:p>
            <a:r>
              <a:rPr lang="en-US" altLang="ko-KR" sz="1000" b="1" dirty="0"/>
              <a:t>          name: </a:t>
            </a:r>
            <a:r>
              <a:rPr lang="en-US" altLang="ko-KR" sz="1000" b="1" dirty="0">
                <a:solidFill>
                  <a:srgbClr val="FF0000"/>
                </a:solidFill>
              </a:rPr>
              <a:t>http</a:t>
            </a:r>
          </a:p>
          <a:p>
            <a:r>
              <a:rPr lang="en-US" altLang="ko-KR" sz="1000" b="1" dirty="0"/>
              <a:t>          protocol: </a:t>
            </a:r>
            <a:r>
              <a:rPr lang="en-US" altLang="ko-KR" sz="1000" b="1" dirty="0">
                <a:solidFill>
                  <a:srgbClr val="FF0000"/>
                </a:solidFill>
              </a:rPr>
              <a:t>TCP</a:t>
            </a:r>
            <a:endParaRPr lang="ko-KR" altLang="en-US" sz="1000" b="1" dirty="0">
              <a:solidFill>
                <a:srgbClr val="FF0000"/>
              </a:solidFill>
            </a:endParaRPr>
          </a:p>
        </p:txBody>
      </p:sp>
    </p:spTree>
    <p:extLst>
      <p:ext uri="{BB962C8B-B14F-4D97-AF65-F5344CB8AC3E}">
        <p14:creationId xmlns:p14="http://schemas.microsoft.com/office/powerpoint/2010/main" val="116637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Pods(1/6)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Launching :</a:t>
            </a:r>
          </a:p>
          <a:p>
            <a:pPr lvl="1">
              <a:buFont typeface="Wingdings" panose="05000000000000000000" pitchFamily="2" charset="2"/>
              <a:buChar char="§"/>
            </a:pPr>
            <a:r>
              <a:rPr lang="en-US" altLang="ko-KR" sz="1400" b="1" dirty="0"/>
              <a:t>Use the “</a:t>
            </a:r>
            <a:r>
              <a:rPr lang="en-US" altLang="ko-KR" sz="1400" b="1" dirty="0" err="1">
                <a:solidFill>
                  <a:srgbClr val="FF0000"/>
                </a:solidFill>
              </a:rPr>
              <a:t>kubectl</a:t>
            </a:r>
            <a:r>
              <a:rPr lang="en-US" altLang="ko-KR" sz="1400" b="1" dirty="0">
                <a:solidFill>
                  <a:srgbClr val="FF0000"/>
                </a:solidFill>
              </a:rPr>
              <a:t> apply</a:t>
            </a:r>
            <a:r>
              <a:rPr lang="en-US" altLang="ko-KR" sz="1400" b="1" dirty="0"/>
              <a:t>” command to launch a single instance of “</a:t>
            </a:r>
            <a:r>
              <a:rPr lang="en-US" altLang="ko-KR" sz="1400" b="1" dirty="0" err="1"/>
              <a:t>kuard</a:t>
            </a:r>
            <a:r>
              <a:rPr lang="en-US" altLang="ko-KR" sz="1400" b="1" dirty="0"/>
              <a:t>”</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Pod manifest will be submitted to the </a:t>
            </a:r>
            <a:r>
              <a:rPr lang="en-US" altLang="ko-KR" sz="1400" b="1" dirty="0">
                <a:solidFill>
                  <a:srgbClr val="FF0000"/>
                </a:solidFill>
              </a:rPr>
              <a:t>Kubernetes API server</a:t>
            </a:r>
            <a:r>
              <a:rPr lang="en-US" altLang="ko-KR" sz="1400" dirty="0"/>
              <a:t>. </a:t>
            </a:r>
            <a:r>
              <a:rPr lang="en-US" altLang="ko-KR" sz="1400" b="1" dirty="0"/>
              <a:t>The Kubernetes system will then </a:t>
            </a:r>
            <a:r>
              <a:rPr lang="en-US" altLang="ko-KR" sz="1400" b="1" dirty="0">
                <a:solidFill>
                  <a:srgbClr val="FF0000"/>
                </a:solidFill>
              </a:rPr>
              <a:t>schedule</a:t>
            </a:r>
            <a:r>
              <a:rPr lang="en-US" altLang="ko-KR" sz="1400" b="1" dirty="0"/>
              <a:t> that Pod to run on a healthy node in the cluster</a:t>
            </a:r>
            <a:r>
              <a:rPr lang="en-US" altLang="ko-KR" sz="1400" dirty="0"/>
              <a:t>, </a:t>
            </a:r>
            <a:r>
              <a:rPr lang="en-US" altLang="ko-KR" sz="1400" b="1" dirty="0"/>
              <a:t>where it will be monitored by the “</a:t>
            </a:r>
            <a:r>
              <a:rPr lang="en-US" altLang="ko-KR" sz="1400" b="1" dirty="0" err="1">
                <a:solidFill>
                  <a:srgbClr val="FF0000"/>
                </a:solidFill>
              </a:rPr>
              <a:t>kubelet</a:t>
            </a:r>
            <a:r>
              <a:rPr lang="en-US" altLang="ko-KR" sz="1400" b="1" dirty="0"/>
              <a:t> daemon process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29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1298E1D4-EE76-4346-BFC1-BD96115E7B6F}"/>
              </a:ext>
            </a:extLst>
          </p:cNvPr>
          <p:cNvGrpSpPr/>
          <p:nvPr/>
        </p:nvGrpSpPr>
        <p:grpSpPr>
          <a:xfrm>
            <a:off x="1333499" y="1523111"/>
            <a:ext cx="9525000" cy="2566069"/>
            <a:chOff x="1333499" y="1523111"/>
            <a:chExt cx="9525000" cy="2566069"/>
          </a:xfrm>
        </p:grpSpPr>
        <p:sp>
          <p:nvSpPr>
            <p:cNvPr id="4" name="직사각형 3">
              <a:extLst>
                <a:ext uri="{FF2B5EF4-FFF2-40B4-BE49-F238E27FC236}">
                  <a16:creationId xmlns:a16="http://schemas.microsoft.com/office/drawing/2014/main" id="{DFC66985-3AFF-4087-9D4A-B2D346FAF965}"/>
                </a:ext>
              </a:extLst>
            </p:cNvPr>
            <p:cNvSpPr/>
            <p:nvPr/>
          </p:nvSpPr>
          <p:spPr>
            <a:xfrm>
              <a:off x="4952898" y="1523111"/>
              <a:ext cx="228620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kuard-pod.yaml</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93569F2-43FE-4F4A-960A-82FB7BBEDA31}"/>
                </a:ext>
              </a:extLst>
            </p:cNvPr>
            <p:cNvPicPr>
              <a:picLocks noChangeAspect="1"/>
            </p:cNvPicPr>
            <p:nvPr/>
          </p:nvPicPr>
          <p:blipFill>
            <a:blip r:embed="rId2"/>
            <a:stretch>
              <a:fillRect/>
            </a:stretch>
          </p:blipFill>
          <p:spPr>
            <a:xfrm>
              <a:off x="1333499" y="2079405"/>
              <a:ext cx="9525000" cy="20097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E4596F9F-C38A-48BD-BB13-FE02E75DE2ED}"/>
                </a:ext>
              </a:extLst>
            </p:cNvPr>
            <p:cNvSpPr/>
            <p:nvPr/>
          </p:nvSpPr>
          <p:spPr>
            <a:xfrm>
              <a:off x="5884688" y="1798848"/>
              <a:ext cx="42262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77160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Pods(2/6)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a:t>
            </a:r>
          </a:p>
          <a:p>
            <a:pPr lvl="1">
              <a:buFont typeface="Wingdings" panose="05000000000000000000" pitchFamily="2" charset="2"/>
              <a:buChar char="§"/>
            </a:pPr>
            <a:r>
              <a:rPr lang="en-US" altLang="ko-KR" sz="1400" dirty="0"/>
              <a:t>Using the “</a:t>
            </a:r>
            <a:r>
              <a:rPr lang="en-US" altLang="ko-KR" sz="1400" b="1" dirty="0" err="1"/>
              <a:t>kubectl</a:t>
            </a:r>
            <a:r>
              <a:rPr lang="en-US" altLang="ko-KR" sz="1400" dirty="0"/>
              <a:t>” command-line tool, we can </a:t>
            </a:r>
            <a:r>
              <a:rPr lang="en-US" altLang="ko-KR" sz="1400" b="1" dirty="0"/>
              <a:t>list all Pods running in the cluster</a:t>
            </a:r>
            <a:r>
              <a:rPr lang="en-US" altLang="ko-KR" sz="1400" dirty="0"/>
              <a:t>. For now, this should only be the single Pod that we created in the previous step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You can see the name of the Pod (“</a:t>
            </a:r>
            <a:r>
              <a:rPr lang="en-US" altLang="ko-KR" sz="1400" b="1" dirty="0" err="1"/>
              <a:t>kuard</a:t>
            </a:r>
            <a:r>
              <a:rPr lang="en-US" altLang="ko-KR" sz="1400" b="1" dirty="0"/>
              <a:t>”) that we gave it in the previous YAML file</a:t>
            </a:r>
            <a:r>
              <a:rPr lang="en-US" altLang="ko-KR" sz="1400" dirty="0"/>
              <a:t>. In addition to </a:t>
            </a:r>
            <a:r>
              <a:rPr lang="en-US" altLang="ko-KR" sz="1400" b="1" dirty="0"/>
              <a:t>the number of ready containers (1/1)</a:t>
            </a:r>
            <a:r>
              <a:rPr lang="en-US" altLang="ko-KR" sz="1400" dirty="0"/>
              <a:t>, the output also shows </a:t>
            </a:r>
            <a:r>
              <a:rPr lang="en-US" altLang="ko-KR" sz="1400" b="1" dirty="0"/>
              <a:t>the status</a:t>
            </a:r>
            <a:r>
              <a:rPr lang="en-US" altLang="ko-KR" sz="1400" dirty="0"/>
              <a:t>, </a:t>
            </a:r>
            <a:r>
              <a:rPr lang="en-US" altLang="ko-KR" sz="1400" b="1" dirty="0"/>
              <a:t>the number of times the Pod was restarted</a:t>
            </a:r>
            <a:r>
              <a:rPr lang="en-US" altLang="ko-KR" sz="1400" dirty="0"/>
              <a:t>, as well as </a:t>
            </a:r>
            <a:r>
              <a:rPr lang="en-US" altLang="ko-KR" sz="1400" b="1" dirty="0"/>
              <a:t>the age of the Pod</a:t>
            </a:r>
            <a:r>
              <a:rPr lang="en-US" altLang="ko-KR" sz="1400" dirty="0"/>
              <a:t>. If you ran this command immediately after the Pod was created, you might see “</a:t>
            </a:r>
            <a:r>
              <a:rPr lang="en-US" altLang="ko-KR" sz="1400" b="1" dirty="0">
                <a:solidFill>
                  <a:srgbClr val="FF0000"/>
                </a:solidFill>
              </a:rPr>
              <a:t>Pending</a:t>
            </a:r>
            <a:r>
              <a:rPr lang="en-US" altLang="ko-KR" sz="1400" dirty="0"/>
              <a:t>” in the status field.</a:t>
            </a:r>
          </a:p>
          <a:p>
            <a:pPr lvl="1">
              <a:buFont typeface="Wingdings" panose="05000000000000000000" pitchFamily="2" charset="2"/>
              <a:buChar char="§"/>
            </a:pPr>
            <a:r>
              <a:rPr lang="en-US" altLang="ko-KR" sz="1400" b="1" dirty="0"/>
              <a:t>The </a:t>
            </a:r>
            <a:r>
              <a:rPr lang="en-US" altLang="ko-KR" sz="1400" b="1" dirty="0">
                <a:solidFill>
                  <a:srgbClr val="FF0000"/>
                </a:solidFill>
              </a:rPr>
              <a:t>Pending</a:t>
            </a:r>
            <a:r>
              <a:rPr lang="en-US" altLang="ko-KR" sz="1400" b="1" dirty="0"/>
              <a:t> state indicates that the Pod has been submitted but </a:t>
            </a:r>
            <a:r>
              <a:rPr lang="en-US" altLang="ko-KR" sz="1400" b="1" dirty="0">
                <a:solidFill>
                  <a:srgbClr val="FF0000"/>
                </a:solidFill>
              </a:rPr>
              <a:t>hasn’t been scheduled yet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DA0B1075-620D-4CFE-8CF0-2729C2972377}"/>
              </a:ext>
            </a:extLst>
          </p:cNvPr>
          <p:cNvGrpSpPr/>
          <p:nvPr/>
        </p:nvGrpSpPr>
        <p:grpSpPr>
          <a:xfrm>
            <a:off x="1333499" y="1669107"/>
            <a:ext cx="9525000" cy="2568441"/>
            <a:chOff x="1333499" y="1669107"/>
            <a:chExt cx="9525000" cy="2568441"/>
          </a:xfrm>
        </p:grpSpPr>
        <p:sp>
          <p:nvSpPr>
            <p:cNvPr id="4" name="직사각형 3">
              <a:extLst>
                <a:ext uri="{FF2B5EF4-FFF2-40B4-BE49-F238E27FC236}">
                  <a16:creationId xmlns:a16="http://schemas.microsoft.com/office/drawing/2014/main" id="{E73AC9CA-0E01-4EAD-8BFF-0DC48D307028}"/>
                </a:ext>
              </a:extLst>
            </p:cNvPr>
            <p:cNvSpPr/>
            <p:nvPr/>
          </p:nvSpPr>
          <p:spPr>
            <a:xfrm>
              <a:off x="5425784" y="1669107"/>
              <a:ext cx="134043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a:t>
              </a:r>
              <a:endParaRPr lang="ko-KR" altLang="en-US" sz="1000" b="1" dirty="0"/>
            </a:p>
          </p:txBody>
        </p:sp>
        <p:sp>
          <p:nvSpPr>
            <p:cNvPr id="8" name="화살표: 아래쪽 7">
              <a:extLst>
                <a:ext uri="{FF2B5EF4-FFF2-40B4-BE49-F238E27FC236}">
                  <a16:creationId xmlns:a16="http://schemas.microsoft.com/office/drawing/2014/main" id="{D1767662-0817-49CA-8F63-53FB82CDBE21}"/>
                </a:ext>
              </a:extLst>
            </p:cNvPr>
            <p:cNvSpPr/>
            <p:nvPr/>
          </p:nvSpPr>
          <p:spPr>
            <a:xfrm>
              <a:off x="5907740" y="1944764"/>
              <a:ext cx="376518" cy="25357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A9A6C334-4A7B-4B09-A548-6E144557AE51}"/>
                </a:ext>
              </a:extLst>
            </p:cNvPr>
            <p:cNvPicPr>
              <a:picLocks noChangeAspect="1"/>
            </p:cNvPicPr>
            <p:nvPr/>
          </p:nvPicPr>
          <p:blipFill>
            <a:blip r:embed="rId2"/>
            <a:stretch>
              <a:fillRect/>
            </a:stretch>
          </p:blipFill>
          <p:spPr>
            <a:xfrm>
              <a:off x="1333499" y="2227773"/>
              <a:ext cx="9525000" cy="2009775"/>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F3E74174-4FF7-5E32-85B1-AB3393472FCC}"/>
              </a:ext>
            </a:extLst>
          </p:cNvPr>
          <p:cNvSpPr/>
          <p:nvPr/>
        </p:nvSpPr>
        <p:spPr>
          <a:xfrm>
            <a:off x="2055628" y="2906233"/>
            <a:ext cx="1247553" cy="3756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57936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Pods(3/6)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Listing Pods :</a:t>
            </a:r>
          </a:p>
          <a:p>
            <a:pPr lvl="1">
              <a:buFont typeface="Wingdings" panose="05000000000000000000" pitchFamily="2" charset="2"/>
              <a:buChar char="§"/>
            </a:pPr>
            <a:r>
              <a:rPr lang="en-US" altLang="ko-KR" sz="1400" dirty="0"/>
              <a:t>If a more significant error occurs (e.g., an attempt to create a Pod with a container image that doesn’t exist like “</a:t>
            </a:r>
            <a:r>
              <a:rPr lang="en-US" altLang="ko-KR" sz="1400" b="1" dirty="0" err="1"/>
              <a:t>ImagePullBackOff</a:t>
            </a:r>
            <a:r>
              <a:rPr lang="en-US" altLang="ko-KR" sz="1400" dirty="0"/>
              <a:t>”), it will also be </a:t>
            </a:r>
            <a:r>
              <a:rPr lang="en-US" altLang="ko-KR" sz="1400" b="1" dirty="0"/>
              <a:t>listed in the </a:t>
            </a:r>
            <a:r>
              <a:rPr lang="en-US" altLang="ko-KR" sz="1400" b="1" dirty="0">
                <a:solidFill>
                  <a:srgbClr val="FF0000"/>
                </a:solidFill>
              </a:rPr>
              <a:t>status</a:t>
            </a:r>
            <a:r>
              <a:rPr lang="en-US" altLang="ko-KR" sz="1400" b="1" dirty="0"/>
              <a:t> field</a:t>
            </a:r>
            <a:r>
              <a:rPr lang="en-US" altLang="ko-KR" sz="1400" dirty="0"/>
              <a:t>.</a:t>
            </a:r>
          </a:p>
          <a:p>
            <a:pPr lvl="1">
              <a:buFont typeface="Wingdings" panose="05000000000000000000" pitchFamily="2" charset="2"/>
              <a:buChar char="§"/>
            </a:pPr>
            <a:r>
              <a:rPr lang="en-US" altLang="ko-KR" sz="1400" b="1" dirty="0"/>
              <a:t>By default, the </a:t>
            </a:r>
            <a:r>
              <a:rPr lang="en-US" altLang="ko-KR" sz="1400" b="1" dirty="0" err="1"/>
              <a:t>kubectl</a:t>
            </a:r>
            <a:r>
              <a:rPr lang="en-US" altLang="ko-KR" sz="1400" b="1" dirty="0"/>
              <a:t> command-line tool tries to be concise in the information it reports</a:t>
            </a:r>
            <a:r>
              <a:rPr lang="en-US" altLang="ko-KR" sz="1400" dirty="0"/>
              <a:t>, but you can get more information via command-line flags. Adding “</a:t>
            </a:r>
            <a:r>
              <a:rPr lang="en-US" altLang="ko-KR" sz="1400" b="1" dirty="0"/>
              <a:t>-o wide</a:t>
            </a:r>
            <a:r>
              <a:rPr lang="en-US" altLang="ko-KR" sz="1400" dirty="0"/>
              <a:t>” </a:t>
            </a:r>
            <a:r>
              <a:rPr lang="en-US" altLang="ko-KR" sz="1400" b="1" dirty="0"/>
              <a:t>to any </a:t>
            </a:r>
            <a:r>
              <a:rPr lang="en-US" altLang="ko-KR" sz="1400" b="1" dirty="0" err="1"/>
              <a:t>kubectl</a:t>
            </a:r>
            <a:r>
              <a:rPr lang="en-US" altLang="ko-KR" sz="1400" b="1" dirty="0"/>
              <a:t> command </a:t>
            </a:r>
            <a:r>
              <a:rPr lang="en-US" altLang="ko-KR" sz="1400" dirty="0"/>
              <a:t>will print out slightly more information (while still trying to keep the information to a single line). Adding “</a:t>
            </a:r>
            <a:r>
              <a:rPr lang="en-US" altLang="ko-KR" sz="1400" b="1" dirty="0"/>
              <a:t>-o json</a:t>
            </a:r>
            <a:r>
              <a:rPr lang="en-US" altLang="ko-KR" sz="1400" dirty="0"/>
              <a:t>” or “</a:t>
            </a:r>
            <a:r>
              <a:rPr lang="en-US" altLang="ko-KR" sz="1400" b="1" dirty="0"/>
              <a:t>-o </a:t>
            </a:r>
            <a:r>
              <a:rPr lang="en-US" altLang="ko-KR" sz="1400" b="1" dirty="0" err="1"/>
              <a:t>yaml</a:t>
            </a:r>
            <a:r>
              <a:rPr lang="en-US" altLang="ko-KR" sz="1400" dirty="0"/>
              <a:t>” will </a:t>
            </a:r>
            <a:r>
              <a:rPr lang="en-US" altLang="ko-KR" sz="1400" b="1" dirty="0"/>
              <a:t>print out the complete objects in JSON or YAML, respectively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8B07F9A-E322-454D-8B6E-61904181C126}"/>
              </a:ext>
            </a:extLst>
          </p:cNvPr>
          <p:cNvGrpSpPr/>
          <p:nvPr/>
        </p:nvGrpSpPr>
        <p:grpSpPr>
          <a:xfrm>
            <a:off x="2025063" y="2598104"/>
            <a:ext cx="8141874" cy="3532175"/>
            <a:chOff x="1900237" y="2524125"/>
            <a:chExt cx="9453563" cy="4250712"/>
          </a:xfrm>
        </p:grpSpPr>
        <p:pic>
          <p:nvPicPr>
            <p:cNvPr id="4" name="그림 3">
              <a:extLst>
                <a:ext uri="{FF2B5EF4-FFF2-40B4-BE49-F238E27FC236}">
                  <a16:creationId xmlns:a16="http://schemas.microsoft.com/office/drawing/2014/main" id="{8E46011E-6F0B-4176-B28A-BECDB72D700E}"/>
                </a:ext>
              </a:extLst>
            </p:cNvPr>
            <p:cNvPicPr>
              <a:picLocks noChangeAspect="1"/>
            </p:cNvPicPr>
            <p:nvPr/>
          </p:nvPicPr>
          <p:blipFill>
            <a:blip r:embed="rId2"/>
            <a:stretch>
              <a:fillRect/>
            </a:stretch>
          </p:blipFill>
          <p:spPr>
            <a:xfrm>
              <a:off x="1900237" y="2524125"/>
              <a:ext cx="8391525" cy="1809750"/>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F91A2CA8-2C7D-4876-BCDE-301BB488D28C}"/>
                </a:ext>
              </a:extLst>
            </p:cNvPr>
            <p:cNvPicPr>
              <a:picLocks noChangeAspect="1"/>
            </p:cNvPicPr>
            <p:nvPr/>
          </p:nvPicPr>
          <p:blipFill>
            <a:blip r:embed="rId3"/>
            <a:stretch>
              <a:fillRect/>
            </a:stretch>
          </p:blipFill>
          <p:spPr>
            <a:xfrm>
              <a:off x="2431256" y="3744606"/>
              <a:ext cx="8391525" cy="1809750"/>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D0AA005B-E50C-414E-B407-65677A6B0F49}"/>
                </a:ext>
              </a:extLst>
            </p:cNvPr>
            <p:cNvPicPr>
              <a:picLocks noChangeAspect="1"/>
            </p:cNvPicPr>
            <p:nvPr/>
          </p:nvPicPr>
          <p:blipFill>
            <a:blip r:embed="rId4"/>
            <a:stretch>
              <a:fillRect/>
            </a:stretch>
          </p:blipFill>
          <p:spPr>
            <a:xfrm>
              <a:off x="2962275" y="4965087"/>
              <a:ext cx="8391525" cy="1809750"/>
            </a:xfrm>
            <a:prstGeom prst="rect">
              <a:avLst/>
            </a:prstGeom>
            <a:ln>
              <a:solidFill>
                <a:schemeClr val="bg1">
                  <a:lumMod val="50000"/>
                </a:schemeClr>
              </a:solidFill>
            </a:ln>
          </p:spPr>
        </p:pic>
      </p:grpSp>
    </p:spTree>
    <p:extLst>
      <p:ext uri="{BB962C8B-B14F-4D97-AF65-F5344CB8AC3E}">
        <p14:creationId xmlns:p14="http://schemas.microsoft.com/office/powerpoint/2010/main" val="6319082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Pods(4/6)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Details :</a:t>
            </a:r>
          </a:p>
          <a:p>
            <a:pPr lvl="1">
              <a:buFont typeface="Wingdings" panose="05000000000000000000" pitchFamily="2" charset="2"/>
              <a:buChar char="§"/>
            </a:pPr>
            <a:r>
              <a:rPr lang="en-US" altLang="ko-KR" sz="1400" b="1" dirty="0"/>
              <a:t>Kubernetes maintains numerous events about Pods that are present in the event stream, not attached to the Pod object</a:t>
            </a:r>
            <a:r>
              <a:rPr lang="en-US" altLang="ko-KR" sz="1400" dirty="0"/>
              <a:t>. To find out more information about a Pod (or any Kubernetes object) you can use the “</a:t>
            </a:r>
            <a:r>
              <a:rPr lang="en-US" altLang="ko-KR" sz="1400" b="1" dirty="0" err="1">
                <a:solidFill>
                  <a:srgbClr val="FF0000"/>
                </a:solidFill>
              </a:rPr>
              <a:t>kubectl</a:t>
            </a:r>
            <a:r>
              <a:rPr lang="en-US" altLang="ko-KR" sz="1400" b="1" dirty="0">
                <a:solidFill>
                  <a:srgbClr val="FF0000"/>
                </a:solidFill>
              </a:rPr>
              <a:t> describe</a:t>
            </a:r>
            <a:r>
              <a:rPr lang="en-US" altLang="ko-KR" sz="1400" b="1" dirty="0"/>
              <a:t>” command.</a:t>
            </a:r>
            <a:r>
              <a:rPr lang="en-US" altLang="ko-KR" sz="1400" dirty="0"/>
              <a:t> For example, to describe the Pod we previously created, you can run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EC284A6-62B5-452D-842B-9F7C368EEE3B}"/>
              </a:ext>
            </a:extLst>
          </p:cNvPr>
          <p:cNvGrpSpPr/>
          <p:nvPr/>
        </p:nvGrpSpPr>
        <p:grpSpPr>
          <a:xfrm>
            <a:off x="1333500" y="1984152"/>
            <a:ext cx="9525000" cy="3993433"/>
            <a:chOff x="1333498" y="1899628"/>
            <a:chExt cx="9525000" cy="3993433"/>
          </a:xfrm>
        </p:grpSpPr>
        <p:sp>
          <p:nvSpPr>
            <p:cNvPr id="4" name="직사각형 3">
              <a:extLst>
                <a:ext uri="{FF2B5EF4-FFF2-40B4-BE49-F238E27FC236}">
                  <a16:creationId xmlns:a16="http://schemas.microsoft.com/office/drawing/2014/main" id="{9752B82A-BC4F-48C7-AA7A-F3E6110D6639}"/>
                </a:ext>
              </a:extLst>
            </p:cNvPr>
            <p:cNvSpPr/>
            <p:nvPr/>
          </p:nvSpPr>
          <p:spPr>
            <a:xfrm>
              <a:off x="5075528" y="1899628"/>
              <a:ext cx="2040943"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pods </a:t>
              </a:r>
              <a:r>
                <a:rPr lang="en-US" altLang="ko-KR" sz="1000" b="1" dirty="0" err="1">
                  <a:solidFill>
                    <a:srgbClr val="FF0000"/>
                  </a:solidFill>
                </a:rPr>
                <a:t>kuard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15D7CBAB-C408-4D1D-A56A-7AC999BD1C17}"/>
                </a:ext>
              </a:extLst>
            </p:cNvPr>
            <p:cNvPicPr>
              <a:picLocks noChangeAspect="1"/>
            </p:cNvPicPr>
            <p:nvPr/>
          </p:nvPicPr>
          <p:blipFill>
            <a:blip r:embed="rId2"/>
            <a:stretch>
              <a:fillRect/>
            </a:stretch>
          </p:blipFill>
          <p:spPr>
            <a:xfrm>
              <a:off x="1333498" y="2435486"/>
              <a:ext cx="9525000" cy="34575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1070056B-9776-477F-805A-37FF264A654D}"/>
                </a:ext>
              </a:extLst>
            </p:cNvPr>
            <p:cNvSpPr/>
            <p:nvPr/>
          </p:nvSpPr>
          <p:spPr>
            <a:xfrm>
              <a:off x="5900055" y="2178961"/>
              <a:ext cx="39188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0031677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Pods(5/6)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Pod Details :</a:t>
            </a:r>
          </a:p>
          <a:p>
            <a:pPr lvl="1">
              <a:buFont typeface="Wingdings" panose="05000000000000000000" pitchFamily="2" charset="2"/>
              <a:buChar char="§"/>
            </a:pPr>
            <a:r>
              <a:rPr lang="en-US" altLang="ko-KR" sz="1400" dirty="0"/>
              <a:t>Then there is </a:t>
            </a:r>
            <a:r>
              <a:rPr lang="en-US" altLang="ko-KR" sz="1400" b="1" dirty="0"/>
              <a:t>information about the containers running in the Pod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Finally, </a:t>
            </a:r>
            <a:r>
              <a:rPr lang="en-US" altLang="ko-KR" sz="1400" b="1" dirty="0"/>
              <a:t>there are events related to the Pod</a:t>
            </a:r>
            <a:r>
              <a:rPr lang="en-US" altLang="ko-KR" sz="1400" dirty="0"/>
              <a:t>, such as when it was </a:t>
            </a:r>
            <a:r>
              <a:rPr lang="en-US" altLang="ko-KR" sz="1400" b="1" dirty="0"/>
              <a:t>scheduled</a:t>
            </a:r>
            <a:r>
              <a:rPr lang="en-US" altLang="ko-KR" sz="1400" dirty="0"/>
              <a:t>, when its image was </a:t>
            </a:r>
            <a:r>
              <a:rPr lang="en-US" altLang="ko-KR" sz="1400" b="1" dirty="0"/>
              <a:t>pulled</a:t>
            </a:r>
            <a:r>
              <a:rPr lang="en-US" altLang="ko-KR" sz="1400" dirty="0"/>
              <a:t>, and if/when it had to be </a:t>
            </a:r>
            <a:r>
              <a:rPr lang="en-US" altLang="ko-KR" sz="1400" b="1" dirty="0"/>
              <a:t>restarted</a:t>
            </a:r>
            <a:r>
              <a:rPr lang="en-US" altLang="ko-KR" sz="1400" dirty="0"/>
              <a:t> because of failing health checks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AFDBD2-9879-4CCD-991A-B96037338D7F}"/>
              </a:ext>
            </a:extLst>
          </p:cNvPr>
          <p:cNvPicPr>
            <a:picLocks noChangeAspect="1"/>
          </p:cNvPicPr>
          <p:nvPr/>
        </p:nvPicPr>
        <p:blipFill>
          <a:blip r:embed="rId2"/>
          <a:stretch>
            <a:fillRect/>
          </a:stretch>
        </p:blipFill>
        <p:spPr>
          <a:xfrm>
            <a:off x="2075159" y="1553505"/>
            <a:ext cx="8041682" cy="2130421"/>
          </a:xfrm>
          <a:prstGeom prst="rect">
            <a:avLst/>
          </a:prstGeom>
          <a:ln>
            <a:solidFill>
              <a:schemeClr val="bg1">
                <a:lumMod val="50000"/>
              </a:schemeClr>
            </a:solidFill>
          </a:ln>
        </p:spPr>
      </p:pic>
      <p:pic>
        <p:nvPicPr>
          <p:cNvPr id="8" name="그림 7">
            <a:extLst>
              <a:ext uri="{FF2B5EF4-FFF2-40B4-BE49-F238E27FC236}">
                <a16:creationId xmlns:a16="http://schemas.microsoft.com/office/drawing/2014/main" id="{AF425515-1C5C-4C70-ACED-1867D01CD0E6}"/>
              </a:ext>
            </a:extLst>
          </p:cNvPr>
          <p:cNvPicPr>
            <a:picLocks noChangeAspect="1"/>
          </p:cNvPicPr>
          <p:nvPr/>
        </p:nvPicPr>
        <p:blipFill>
          <a:blip r:embed="rId3"/>
          <a:stretch>
            <a:fillRect/>
          </a:stretch>
        </p:blipFill>
        <p:spPr>
          <a:xfrm>
            <a:off x="2075159" y="4600930"/>
            <a:ext cx="8041682" cy="1407130"/>
          </a:xfrm>
          <a:prstGeom prst="rect">
            <a:avLst/>
          </a:prstGeom>
          <a:ln>
            <a:solidFill>
              <a:schemeClr val="bg1">
                <a:lumMod val="50000"/>
              </a:schemeClr>
            </a:solidFill>
          </a:ln>
        </p:spPr>
      </p:pic>
    </p:spTree>
    <p:extLst>
      <p:ext uri="{BB962C8B-B14F-4D97-AF65-F5344CB8AC3E}">
        <p14:creationId xmlns:p14="http://schemas.microsoft.com/office/powerpoint/2010/main" val="16464283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Running Pods(6/6)</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a Pod :</a:t>
            </a:r>
          </a:p>
          <a:p>
            <a:pPr lvl="1">
              <a:buFont typeface="Wingdings" panose="05000000000000000000" pitchFamily="2" charset="2"/>
              <a:buChar char="§"/>
            </a:pPr>
            <a:r>
              <a:rPr lang="en-US" altLang="ko-KR" sz="1400" dirty="0"/>
              <a:t>When it is time </a:t>
            </a:r>
            <a:r>
              <a:rPr lang="en-US" altLang="ko-KR" sz="1400" b="1" dirty="0"/>
              <a:t>to delete a Pod</a:t>
            </a:r>
            <a:r>
              <a:rPr lang="en-US" altLang="ko-KR" sz="1400" dirty="0"/>
              <a:t>, you can delete it either </a:t>
            </a:r>
            <a:r>
              <a:rPr lang="en-US" altLang="ko-KR" sz="1400" b="1" dirty="0"/>
              <a:t>by name </a:t>
            </a:r>
            <a:r>
              <a:rPr lang="en-US" altLang="ko-KR" sz="1400" dirty="0"/>
              <a:t>or </a:t>
            </a:r>
            <a:r>
              <a:rPr lang="en-US" altLang="ko-KR" sz="1400" b="1" dirty="0"/>
              <a:t>using the same file </a:t>
            </a:r>
            <a:r>
              <a:rPr lang="en-US" altLang="ko-KR" sz="1400" dirty="0"/>
              <a:t>that you used to create it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When a Pod is deleted, it is not immediately killed</a:t>
            </a:r>
            <a:r>
              <a:rPr lang="en-US" altLang="ko-KR" sz="1400" dirty="0"/>
              <a:t>. Instead, if you run “</a:t>
            </a:r>
            <a:r>
              <a:rPr lang="en-US" altLang="ko-KR" sz="1400" b="1" dirty="0" err="1"/>
              <a:t>kubectl</a:t>
            </a:r>
            <a:r>
              <a:rPr lang="en-US" altLang="ko-KR" sz="1400" b="1" dirty="0"/>
              <a:t> get pods</a:t>
            </a:r>
            <a:r>
              <a:rPr lang="en-US" altLang="ko-KR" sz="1400" dirty="0"/>
              <a:t>” you will see that </a:t>
            </a:r>
            <a:r>
              <a:rPr lang="en-US" altLang="ko-KR" sz="1400" b="1" dirty="0"/>
              <a:t>the Pod is in the </a:t>
            </a:r>
            <a:r>
              <a:rPr lang="en-US" altLang="ko-KR" sz="1400" b="1" dirty="0">
                <a:solidFill>
                  <a:srgbClr val="FF0000"/>
                </a:solidFill>
              </a:rPr>
              <a:t>Terminating</a:t>
            </a:r>
            <a:r>
              <a:rPr lang="en-US" altLang="ko-KR" sz="1400" b="1" dirty="0"/>
              <a:t> state</a:t>
            </a:r>
            <a:r>
              <a:rPr lang="en-US" altLang="ko-KR" sz="1400" dirty="0"/>
              <a:t>. All Pods have </a:t>
            </a:r>
            <a:r>
              <a:rPr lang="en-US" altLang="ko-KR" sz="1400" b="1" dirty="0"/>
              <a:t>a termination grace period</a:t>
            </a:r>
            <a:r>
              <a:rPr lang="en-US" altLang="ko-KR" sz="1400" dirty="0"/>
              <a:t>. By default, this is </a:t>
            </a:r>
            <a:r>
              <a:rPr lang="en-US" altLang="ko-KR" sz="1400" b="1" dirty="0"/>
              <a:t>30 seconds</a:t>
            </a:r>
            <a:r>
              <a:rPr lang="en-US" altLang="ko-KR" sz="1400" dirty="0"/>
              <a:t>. When a Pod is transitioned to Terminating it no longer receives new requests. In a serving scenario, </a:t>
            </a:r>
            <a:r>
              <a:rPr lang="en-US" altLang="ko-KR" sz="1400" b="1" dirty="0"/>
              <a:t>the </a:t>
            </a:r>
            <a:r>
              <a:rPr lang="en-US" altLang="ko-KR" sz="1400" b="1" dirty="0">
                <a:solidFill>
                  <a:srgbClr val="FF0000"/>
                </a:solidFill>
              </a:rPr>
              <a:t>grace period </a:t>
            </a:r>
            <a:r>
              <a:rPr lang="en-US" altLang="ko-KR" sz="1400" b="1" dirty="0"/>
              <a:t>is important for reliability because it allows the Pod to finish any active requests </a:t>
            </a:r>
            <a:r>
              <a:rPr lang="en-US" altLang="ko-KR" sz="1400" dirty="0"/>
              <a:t>that it may be in the middle of processing before it is terminated.</a:t>
            </a:r>
          </a:p>
          <a:p>
            <a:pPr lvl="1">
              <a:buFont typeface="Wingdings" panose="05000000000000000000" pitchFamily="2" charset="2"/>
              <a:buChar char="§"/>
            </a:pPr>
            <a:r>
              <a:rPr lang="en-US" altLang="ko-KR" sz="1400" b="1" dirty="0"/>
              <a:t>It’s important to note that </a:t>
            </a:r>
            <a:r>
              <a:rPr lang="en-US" altLang="ko-KR" sz="1400" b="1" dirty="0">
                <a:solidFill>
                  <a:srgbClr val="FF0000"/>
                </a:solidFill>
              </a:rPr>
              <a:t>when you delete a Pod, any data stored in the containers associated with that Pod will be deleted as well</a:t>
            </a:r>
            <a:r>
              <a:rPr lang="en-US" altLang="ko-KR" sz="1400" dirty="0"/>
              <a:t>. If you want to </a:t>
            </a:r>
            <a:r>
              <a:rPr lang="en-US" altLang="ko-KR" sz="1400" b="1" dirty="0"/>
              <a:t>persist data across multiple instances of a Pod</a:t>
            </a:r>
            <a:r>
              <a:rPr lang="en-US" altLang="ko-KR" sz="1400" dirty="0"/>
              <a:t>, you need to use “</a:t>
            </a:r>
            <a:r>
              <a:rPr lang="en-US" altLang="ko-KR" sz="1400" b="1" dirty="0" err="1">
                <a:solidFill>
                  <a:srgbClr val="FF0000"/>
                </a:solidFill>
              </a:rPr>
              <a:t>PersistentVolumes</a:t>
            </a:r>
            <a:r>
              <a:rPr lang="en-US" altLang="ko-KR" sz="1400" b="1"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19F9D8C7-24DF-4E2B-BA74-182F3B7417E7}"/>
              </a:ext>
            </a:extLst>
          </p:cNvPr>
          <p:cNvGrpSpPr/>
          <p:nvPr/>
        </p:nvGrpSpPr>
        <p:grpSpPr>
          <a:xfrm>
            <a:off x="1864177" y="1707528"/>
            <a:ext cx="8463645" cy="2527456"/>
            <a:chOff x="1864177" y="1415535"/>
            <a:chExt cx="8463645" cy="2527456"/>
          </a:xfrm>
        </p:grpSpPr>
        <p:grpSp>
          <p:nvGrpSpPr>
            <p:cNvPr id="9" name="그룹 8">
              <a:extLst>
                <a:ext uri="{FF2B5EF4-FFF2-40B4-BE49-F238E27FC236}">
                  <a16:creationId xmlns:a16="http://schemas.microsoft.com/office/drawing/2014/main" id="{6CFF824D-08C6-422A-A931-12B1E7F3F7E6}"/>
                </a:ext>
              </a:extLst>
            </p:cNvPr>
            <p:cNvGrpSpPr/>
            <p:nvPr/>
          </p:nvGrpSpPr>
          <p:grpSpPr>
            <a:xfrm>
              <a:off x="4432364" y="1415535"/>
              <a:ext cx="3327271" cy="843191"/>
              <a:chOff x="4432364" y="1546163"/>
              <a:chExt cx="3327271" cy="843191"/>
            </a:xfrm>
          </p:grpSpPr>
          <p:sp>
            <p:nvSpPr>
              <p:cNvPr id="4" name="직사각형 3">
                <a:extLst>
                  <a:ext uri="{FF2B5EF4-FFF2-40B4-BE49-F238E27FC236}">
                    <a16:creationId xmlns:a16="http://schemas.microsoft.com/office/drawing/2014/main" id="{DFB1BDED-D8BE-49BD-9BFF-6592DE4E4677}"/>
                  </a:ext>
                </a:extLst>
              </p:cNvPr>
              <p:cNvSpPr/>
              <p:nvPr/>
            </p:nvSpPr>
            <p:spPr>
              <a:xfrm>
                <a:off x="4432364" y="1546163"/>
                <a:ext cx="3327271"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delete </a:t>
                </a:r>
                <a:r>
                  <a:rPr lang="en-US" altLang="ko-KR" sz="1000" b="1" dirty="0">
                    <a:solidFill>
                      <a:srgbClr val="FF0000"/>
                    </a:solidFill>
                  </a:rPr>
                  <a:t>pods/</a:t>
                </a:r>
                <a:r>
                  <a:rPr lang="en-US" altLang="ko-KR" sz="1000" b="1" dirty="0" err="1">
                    <a:solidFill>
                      <a:srgbClr val="FF0000"/>
                    </a:solidFill>
                  </a:rPr>
                  <a:t>kuard</a:t>
                </a:r>
                <a:endParaRPr lang="en-US" altLang="ko-KR" sz="1000" b="1" dirty="0">
                  <a:solidFill>
                    <a:srgbClr val="FF0000"/>
                  </a:solidFill>
                </a:endParaRPr>
              </a:p>
              <a:p>
                <a:r>
                  <a:rPr lang="en-US" altLang="ko-KR" sz="1000" b="1" dirty="0"/>
                  <a:t>or</a:t>
                </a:r>
              </a:p>
              <a:p>
                <a:r>
                  <a:rPr lang="en-US" altLang="ko-KR" sz="1000" b="1" dirty="0"/>
                  <a:t>$ </a:t>
                </a:r>
                <a:r>
                  <a:rPr lang="en-US" altLang="ko-KR" sz="1000" b="1" dirty="0" err="1"/>
                  <a:t>kubectl</a:t>
                </a:r>
                <a:r>
                  <a:rPr lang="en-US" altLang="ko-KR" sz="1000" b="1" dirty="0"/>
                  <a:t> delete -f </a:t>
                </a:r>
                <a:r>
                  <a:rPr lang="en-US" altLang="ko-KR" sz="1000" b="1" dirty="0" err="1">
                    <a:solidFill>
                      <a:srgbClr val="FF0000"/>
                    </a:solidFill>
                  </a:rPr>
                  <a:t>kuard-pod.yaml</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5982F989-E937-409F-A1AE-376A96CDF68E}"/>
                  </a:ext>
                </a:extLst>
              </p:cNvPr>
              <p:cNvSpPr/>
              <p:nvPr/>
            </p:nvSpPr>
            <p:spPr>
              <a:xfrm>
                <a:off x="5903898" y="2123412"/>
                <a:ext cx="384201" cy="2659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BC1B6F6B-E70E-47D8-A20B-9F34A9716C13}"/>
                </a:ext>
              </a:extLst>
            </p:cNvPr>
            <p:cNvPicPr>
              <a:picLocks noChangeAspect="1"/>
            </p:cNvPicPr>
            <p:nvPr/>
          </p:nvPicPr>
          <p:blipFill>
            <a:blip r:embed="rId2"/>
            <a:stretch>
              <a:fillRect/>
            </a:stretch>
          </p:blipFill>
          <p:spPr>
            <a:xfrm>
              <a:off x="1864177" y="2258726"/>
              <a:ext cx="8463645" cy="1684265"/>
            </a:xfrm>
            <a:prstGeom prst="rect">
              <a:avLst/>
            </a:prstGeom>
            <a:ln>
              <a:solidFill>
                <a:schemeClr val="bg1">
                  <a:lumMod val="50000"/>
                </a:schemeClr>
              </a:solidFill>
            </a:ln>
          </p:spPr>
        </p:pic>
      </p:grpSp>
    </p:spTree>
    <p:extLst>
      <p:ext uri="{BB962C8B-B14F-4D97-AF65-F5344CB8AC3E}">
        <p14:creationId xmlns:p14="http://schemas.microsoft.com/office/powerpoint/2010/main" val="2786928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 Data from the Running Pod : </a:t>
            </a:r>
          </a:p>
          <a:p>
            <a:pPr lvl="1">
              <a:buFont typeface="Wingdings" panose="05000000000000000000" pitchFamily="2" charset="2"/>
              <a:buChar char="§"/>
            </a:pPr>
            <a:r>
              <a:rPr lang="en-US" altLang="ko-KR" sz="1400" b="1" dirty="0"/>
              <a:t>Now that your Pod is running, you’re going to want to access it for a variety of reasons</a:t>
            </a:r>
            <a:r>
              <a:rPr lang="en-US" altLang="ko-KR" sz="1400" dirty="0"/>
              <a:t>. You may want to </a:t>
            </a:r>
            <a:r>
              <a:rPr lang="en-US" altLang="ko-KR" sz="1400" b="1" dirty="0"/>
              <a:t>load the web service </a:t>
            </a:r>
            <a:r>
              <a:rPr lang="en-US" altLang="ko-KR" sz="1400" dirty="0"/>
              <a:t>that is running in the Pod. You may want to </a:t>
            </a:r>
            <a:r>
              <a:rPr lang="en-US" altLang="ko-KR" sz="1400" b="1" dirty="0"/>
              <a:t>view its logs </a:t>
            </a:r>
            <a:r>
              <a:rPr lang="en-US" altLang="ko-KR" sz="1400" dirty="0"/>
              <a:t>to debug a problem that you are seeing, or even </a:t>
            </a:r>
            <a:r>
              <a:rPr lang="en-US" altLang="ko-KR" sz="1400" b="1" dirty="0"/>
              <a:t>execute other commands </a:t>
            </a:r>
            <a:r>
              <a:rPr lang="en-US" altLang="ko-KR" sz="1400" dirty="0"/>
              <a:t>in the context of the Pod to </a:t>
            </a:r>
            <a:r>
              <a:rPr lang="en-US" altLang="ko-KR" sz="1400" b="1" dirty="0"/>
              <a:t>help debug</a:t>
            </a:r>
            <a:r>
              <a:rPr lang="en-US" altLang="ko-KR" sz="1400" dirty="0"/>
              <a:t>.</a:t>
            </a:r>
          </a:p>
          <a:p>
            <a:pPr>
              <a:buFont typeface="Wingdings" panose="05000000000000000000" pitchFamily="2" charset="2"/>
              <a:buChar char="§"/>
            </a:pPr>
            <a:r>
              <a:rPr lang="en-US" altLang="ko-KR" sz="1800" b="1" dirty="0"/>
              <a:t>Using Port Forwarding : </a:t>
            </a:r>
          </a:p>
          <a:p>
            <a:pPr lvl="1">
              <a:buFont typeface="Wingdings" panose="05000000000000000000" pitchFamily="2" charset="2"/>
              <a:buChar char="§"/>
            </a:pPr>
            <a:r>
              <a:rPr lang="en-US" altLang="ko-KR" sz="1400" dirty="0"/>
              <a:t>To access a specific Pod, you can </a:t>
            </a:r>
            <a:r>
              <a:rPr lang="en-US" altLang="ko-KR" sz="1400" b="1" dirty="0"/>
              <a:t>use the </a:t>
            </a:r>
            <a:r>
              <a:rPr lang="en-US" altLang="ko-KR" sz="1400" b="1" dirty="0">
                <a:solidFill>
                  <a:srgbClr val="FF0000"/>
                </a:solidFill>
              </a:rPr>
              <a:t>port-forwarding</a:t>
            </a:r>
            <a:r>
              <a:rPr lang="en-US" altLang="ko-KR" sz="1400" b="1" dirty="0"/>
              <a:t> support built into the Kubernetes API and command-line tools</a:t>
            </a:r>
            <a:r>
              <a:rPr lang="en-US" altLang="ko-KR" sz="1400" dirty="0"/>
              <a:t>. When you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A </a:t>
            </a:r>
            <a:r>
              <a:rPr lang="en-US" altLang="ko-KR" sz="1400" b="1" dirty="0">
                <a:solidFill>
                  <a:srgbClr val="FF0000"/>
                </a:solidFill>
              </a:rPr>
              <a:t>secure tunnel </a:t>
            </a:r>
            <a:r>
              <a:rPr lang="en-US" altLang="ko-KR" sz="1400" b="1" dirty="0"/>
              <a:t>is created from your local machine, through the Kubernetes master</a:t>
            </a:r>
            <a:r>
              <a:rPr lang="en-US" altLang="ko-KR" sz="1400" dirty="0"/>
              <a:t>, </a:t>
            </a:r>
            <a:r>
              <a:rPr lang="en-US" altLang="ko-KR" sz="1400" b="1" dirty="0"/>
              <a:t>to the instance of the Pod </a:t>
            </a:r>
            <a:r>
              <a:rPr lang="en-US" altLang="ko-KR" sz="1400" dirty="0"/>
              <a:t>running on one of the worker nodes. As long as the port-forward command is still running, you can access the Pod (in this case the “</a:t>
            </a:r>
            <a:r>
              <a:rPr lang="en-US" altLang="ko-KR" sz="1400" b="1" dirty="0" err="1"/>
              <a:t>kuard</a:t>
            </a:r>
            <a:r>
              <a:rPr lang="en-US" altLang="ko-KR" sz="1400" b="1" dirty="0"/>
              <a:t>”</a:t>
            </a:r>
            <a:r>
              <a:rPr lang="en-US" altLang="ko-KR" sz="1400" dirty="0"/>
              <a:t> web interface) at </a:t>
            </a:r>
            <a:r>
              <a:rPr lang="en-US" altLang="ko-KR" sz="1400" b="1" dirty="0"/>
              <a:t>http://localhost:8080</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A36FA0B2-3F28-4E71-9E5F-578EB2AD65D2}"/>
              </a:ext>
            </a:extLst>
          </p:cNvPr>
          <p:cNvGrpSpPr/>
          <p:nvPr/>
        </p:nvGrpSpPr>
        <p:grpSpPr>
          <a:xfrm>
            <a:off x="1881973" y="2637295"/>
            <a:ext cx="8428054" cy="2626268"/>
            <a:chOff x="1881973" y="2637295"/>
            <a:chExt cx="8428054" cy="2626268"/>
          </a:xfrm>
        </p:grpSpPr>
        <p:sp>
          <p:nvSpPr>
            <p:cNvPr id="4" name="직사각형 3">
              <a:extLst>
                <a:ext uri="{FF2B5EF4-FFF2-40B4-BE49-F238E27FC236}">
                  <a16:creationId xmlns:a16="http://schemas.microsoft.com/office/drawing/2014/main" id="{9B264C7A-4177-4E9C-9687-F9F618E32626}"/>
                </a:ext>
              </a:extLst>
            </p:cNvPr>
            <p:cNvSpPr/>
            <p:nvPr/>
          </p:nvSpPr>
          <p:spPr>
            <a:xfrm>
              <a:off x="4771756" y="2637295"/>
              <a:ext cx="2648482"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a:t>
              </a:r>
              <a:r>
                <a:rPr lang="en-US" altLang="ko-KR" sz="1000" b="1" dirty="0">
                  <a:solidFill>
                    <a:srgbClr val="FF0000"/>
                  </a:solidFill>
                </a:rPr>
                <a:t> 8080:8080</a:t>
              </a:r>
            </a:p>
          </p:txBody>
        </p:sp>
        <p:pic>
          <p:nvPicPr>
            <p:cNvPr id="8" name="그림 7">
              <a:extLst>
                <a:ext uri="{FF2B5EF4-FFF2-40B4-BE49-F238E27FC236}">
                  <a16:creationId xmlns:a16="http://schemas.microsoft.com/office/drawing/2014/main" id="{04EC0795-BCE6-4AB6-A26A-8F69F842CC3C}"/>
                </a:ext>
              </a:extLst>
            </p:cNvPr>
            <p:cNvPicPr>
              <a:picLocks noChangeAspect="1"/>
            </p:cNvPicPr>
            <p:nvPr/>
          </p:nvPicPr>
          <p:blipFill>
            <a:blip r:embed="rId2"/>
            <a:stretch>
              <a:fillRect/>
            </a:stretch>
          </p:blipFill>
          <p:spPr>
            <a:xfrm>
              <a:off x="1881973" y="3156549"/>
              <a:ext cx="8428054" cy="2107014"/>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4F10B4DD-DED1-4E1D-829E-CFA1F3BA5579}"/>
                </a:ext>
              </a:extLst>
            </p:cNvPr>
            <p:cNvSpPr/>
            <p:nvPr/>
          </p:nvSpPr>
          <p:spPr>
            <a:xfrm>
              <a:off x="5903896" y="2910328"/>
              <a:ext cx="38420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67718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Accessing a Running Pod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Port-Forwarding :</a:t>
            </a:r>
          </a:p>
          <a:p>
            <a:pPr lvl="1">
              <a:buFont typeface="Wingdings" panose="05000000000000000000" pitchFamily="2" charset="2"/>
              <a:buChar char="§"/>
            </a:pPr>
            <a:r>
              <a:rPr lang="en-US" altLang="ko-KR" sz="1400" dirty="0"/>
              <a:t>Access the running Pod using a web browser : </a:t>
            </a:r>
            <a:r>
              <a:rPr lang="en-US" altLang="ko-KR" sz="1400" b="1" dirty="0"/>
              <a:t>http://localhost:8080</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A181FF1-7C64-4C12-BE88-717676CF9854}"/>
              </a:ext>
            </a:extLst>
          </p:cNvPr>
          <p:cNvPicPr>
            <a:picLocks noChangeAspect="1"/>
          </p:cNvPicPr>
          <p:nvPr/>
        </p:nvPicPr>
        <p:blipFill>
          <a:blip r:embed="rId2"/>
          <a:stretch>
            <a:fillRect/>
          </a:stretch>
        </p:blipFill>
        <p:spPr>
          <a:xfrm>
            <a:off x="2330767" y="1479352"/>
            <a:ext cx="7530467" cy="4929678"/>
          </a:xfrm>
          <a:prstGeom prst="rect">
            <a:avLst/>
          </a:prstGeom>
          <a:ln>
            <a:solidFill>
              <a:schemeClr val="bg1">
                <a:lumMod val="50000"/>
              </a:schemeClr>
            </a:solidFill>
          </a:ln>
        </p:spPr>
      </p:pic>
    </p:spTree>
    <p:extLst>
      <p:ext uri="{BB962C8B-B14F-4D97-AF65-F5344CB8AC3E}">
        <p14:creationId xmlns:p14="http://schemas.microsoft.com/office/powerpoint/2010/main" val="484477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More Info with Logs :</a:t>
            </a:r>
          </a:p>
          <a:p>
            <a:pPr lvl="1">
              <a:buFont typeface="Wingdings" panose="05000000000000000000" pitchFamily="2" charset="2"/>
              <a:buChar char="§"/>
            </a:pPr>
            <a:r>
              <a:rPr lang="en-US" altLang="ko-KR" sz="1400" b="1" dirty="0"/>
              <a:t>When your application needs debugging, it’s helpful to be able to dig deeper than describe to understand what the application is doing</a:t>
            </a:r>
            <a:r>
              <a:rPr lang="en-US" altLang="ko-KR" sz="1400" dirty="0"/>
              <a:t>. Kubernetes provides two commands for debugging running containers. The “</a:t>
            </a:r>
            <a:r>
              <a:rPr lang="en-US" altLang="ko-KR" sz="1400" b="1" dirty="0" err="1">
                <a:solidFill>
                  <a:srgbClr val="FF0000"/>
                </a:solidFill>
              </a:rPr>
              <a:t>kubectl</a:t>
            </a:r>
            <a:r>
              <a:rPr lang="en-US" altLang="ko-KR" sz="1400" b="1" dirty="0">
                <a:solidFill>
                  <a:srgbClr val="FF0000"/>
                </a:solidFill>
              </a:rPr>
              <a:t> logs</a:t>
            </a:r>
            <a:r>
              <a:rPr lang="en-US" altLang="ko-KR" sz="1400" dirty="0"/>
              <a:t>” </a:t>
            </a:r>
            <a:r>
              <a:rPr lang="en-US" altLang="ko-KR" sz="1400" b="1" dirty="0"/>
              <a:t>command downloads the current logs from the running instance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Adding the “</a:t>
            </a:r>
            <a:r>
              <a:rPr lang="en-US" altLang="ko-KR" sz="1400" b="1" dirty="0">
                <a:solidFill>
                  <a:srgbClr val="FF0000"/>
                </a:solidFill>
              </a:rPr>
              <a:t>-f</a:t>
            </a:r>
            <a:r>
              <a:rPr lang="en-US" altLang="ko-KR" sz="1400" b="1" dirty="0"/>
              <a:t>” flag will cause you to continuously stream logs</a:t>
            </a:r>
            <a:r>
              <a:rPr lang="en-US" altLang="ko-KR" sz="1400" dirty="0"/>
              <a:t>. </a:t>
            </a:r>
            <a:r>
              <a:rPr lang="en-US" altLang="ko-KR" sz="1400" b="1" dirty="0"/>
              <a:t>The “</a:t>
            </a:r>
            <a:r>
              <a:rPr lang="en-US" altLang="ko-KR" sz="1400" b="1" dirty="0" err="1"/>
              <a:t>kubectl</a:t>
            </a:r>
            <a:r>
              <a:rPr lang="en-US" altLang="ko-KR" sz="1400" b="1" dirty="0"/>
              <a:t> logs” command always tries to get logs from the currently running container</a:t>
            </a:r>
            <a:r>
              <a:rPr lang="en-US" altLang="ko-KR" sz="1400" dirty="0"/>
              <a:t>. </a:t>
            </a:r>
            <a:r>
              <a:rPr lang="en-US" altLang="ko-KR" sz="1400" b="1" dirty="0"/>
              <a:t>Adding the “</a:t>
            </a:r>
            <a:r>
              <a:rPr lang="en-US" altLang="ko-KR" sz="1400" b="1" dirty="0">
                <a:solidFill>
                  <a:srgbClr val="FF0000"/>
                </a:solidFill>
              </a:rPr>
              <a:t>--previous</a:t>
            </a:r>
            <a:r>
              <a:rPr lang="en-US" altLang="ko-KR" sz="1400" b="1" dirty="0"/>
              <a:t>” flag will get logs from a previous instance of the container</a:t>
            </a:r>
            <a:r>
              <a:rPr lang="en-US" altLang="ko-KR" sz="1400" dirty="0"/>
              <a:t>. This is useful, for example, if your containers are continuously restarting due to a problem at container startup.</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38430158-B65B-4455-90D2-ADC5FD75841B}"/>
              </a:ext>
            </a:extLst>
          </p:cNvPr>
          <p:cNvGrpSpPr/>
          <p:nvPr/>
        </p:nvGrpSpPr>
        <p:grpSpPr>
          <a:xfrm>
            <a:off x="1684884" y="2192531"/>
            <a:ext cx="8822231" cy="2745694"/>
            <a:chOff x="1684884" y="1853524"/>
            <a:chExt cx="8822231" cy="2745694"/>
          </a:xfrm>
        </p:grpSpPr>
        <p:grpSp>
          <p:nvGrpSpPr>
            <p:cNvPr id="9" name="그룹 8">
              <a:extLst>
                <a:ext uri="{FF2B5EF4-FFF2-40B4-BE49-F238E27FC236}">
                  <a16:creationId xmlns:a16="http://schemas.microsoft.com/office/drawing/2014/main" id="{75C6B297-A615-4315-AB74-4A5A054FD2C4}"/>
                </a:ext>
              </a:extLst>
            </p:cNvPr>
            <p:cNvGrpSpPr/>
            <p:nvPr/>
          </p:nvGrpSpPr>
          <p:grpSpPr>
            <a:xfrm>
              <a:off x="5374488" y="1853524"/>
              <a:ext cx="1443024" cy="515163"/>
              <a:chOff x="5374488" y="1822788"/>
              <a:chExt cx="1443024" cy="515163"/>
            </a:xfrm>
          </p:grpSpPr>
          <p:sp>
            <p:nvSpPr>
              <p:cNvPr id="4" name="직사각형 3">
                <a:extLst>
                  <a:ext uri="{FF2B5EF4-FFF2-40B4-BE49-F238E27FC236}">
                    <a16:creationId xmlns:a16="http://schemas.microsoft.com/office/drawing/2014/main" id="{28F4319D-3592-4DC7-B1BA-97FB1225ECAD}"/>
                  </a:ext>
                </a:extLst>
              </p:cNvPr>
              <p:cNvSpPr/>
              <p:nvPr/>
            </p:nvSpPr>
            <p:spPr>
              <a:xfrm>
                <a:off x="5374488" y="1822788"/>
                <a:ext cx="144302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logs </a:t>
                </a:r>
                <a:r>
                  <a:rPr lang="en-US" altLang="ko-KR" sz="1000" b="1" dirty="0" err="1"/>
                  <a:t>kuard</a:t>
                </a:r>
                <a:endParaRPr lang="en-US" altLang="ko-KR" sz="1000" b="1" dirty="0"/>
              </a:p>
            </p:txBody>
          </p:sp>
          <p:sp>
            <p:nvSpPr>
              <p:cNvPr id="8" name="화살표: 아래쪽 7">
                <a:extLst>
                  <a:ext uri="{FF2B5EF4-FFF2-40B4-BE49-F238E27FC236}">
                    <a16:creationId xmlns:a16="http://schemas.microsoft.com/office/drawing/2014/main" id="{9B9E1BCA-C9BD-4366-81EA-0951B1A9F29A}"/>
                  </a:ext>
                </a:extLst>
              </p:cNvPr>
              <p:cNvSpPr/>
              <p:nvPr/>
            </p:nvSpPr>
            <p:spPr>
              <a:xfrm>
                <a:off x="5903899" y="2069009"/>
                <a:ext cx="384202" cy="26894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0" name="그림 9">
              <a:extLst>
                <a:ext uri="{FF2B5EF4-FFF2-40B4-BE49-F238E27FC236}">
                  <a16:creationId xmlns:a16="http://schemas.microsoft.com/office/drawing/2014/main" id="{66CEDA44-6D4D-4A2E-96A8-C5226E482AEA}"/>
                </a:ext>
              </a:extLst>
            </p:cNvPr>
            <p:cNvPicPr>
              <a:picLocks noChangeAspect="1"/>
            </p:cNvPicPr>
            <p:nvPr/>
          </p:nvPicPr>
          <p:blipFill>
            <a:blip r:embed="rId2"/>
            <a:stretch>
              <a:fillRect/>
            </a:stretch>
          </p:blipFill>
          <p:spPr>
            <a:xfrm>
              <a:off x="1684884" y="2393660"/>
              <a:ext cx="8822231" cy="2205558"/>
            </a:xfrm>
            <a:prstGeom prst="rect">
              <a:avLst/>
            </a:prstGeom>
            <a:ln>
              <a:solidFill>
                <a:schemeClr val="bg1">
                  <a:lumMod val="50000"/>
                </a:schemeClr>
              </a:solidFill>
            </a:ln>
          </p:spPr>
        </p:pic>
      </p:grpSp>
    </p:spTree>
    <p:extLst>
      <p:ext uri="{BB962C8B-B14F-4D97-AF65-F5344CB8AC3E}">
        <p14:creationId xmlns:p14="http://schemas.microsoft.com/office/powerpoint/2010/main" val="29351602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Getting More Info with Logs :</a:t>
            </a:r>
          </a:p>
          <a:p>
            <a:pPr lvl="1">
              <a:buFont typeface="Wingdings" panose="05000000000000000000" pitchFamily="2" charset="2"/>
              <a:buChar char="§"/>
            </a:pPr>
            <a:r>
              <a:rPr lang="en-US" altLang="ko-KR" sz="1400" b="1" dirty="0"/>
              <a:t>NOTE : While using “</a:t>
            </a:r>
            <a:r>
              <a:rPr lang="en-US" altLang="ko-KR" sz="1400" b="1" dirty="0" err="1"/>
              <a:t>kubectl</a:t>
            </a:r>
            <a:r>
              <a:rPr lang="en-US" altLang="ko-KR" sz="1400" b="1" dirty="0"/>
              <a:t> logs” is useful for one-off debugging of containers in production environments, it’s generally useful to </a:t>
            </a:r>
            <a:r>
              <a:rPr lang="en-US" altLang="ko-KR" sz="1400" b="1" dirty="0">
                <a:solidFill>
                  <a:srgbClr val="FF0000"/>
                </a:solidFill>
              </a:rPr>
              <a:t>use a log aggregation service</a:t>
            </a:r>
            <a:r>
              <a:rPr lang="en-US" altLang="ko-KR" sz="1400" dirty="0"/>
              <a:t>. There are several open source log aggregation tools, like “</a:t>
            </a:r>
            <a:r>
              <a:rPr lang="en-US" altLang="ko-KR" sz="1400" b="1" dirty="0" err="1">
                <a:solidFill>
                  <a:srgbClr val="FF0000"/>
                </a:solidFill>
              </a:rPr>
              <a:t>fluentd</a:t>
            </a:r>
            <a:r>
              <a:rPr lang="en-US" altLang="ko-KR" sz="1400" dirty="0"/>
              <a:t>” and “</a:t>
            </a:r>
            <a:r>
              <a:rPr lang="en-US" altLang="ko-KR" sz="1400" b="1" dirty="0" err="1">
                <a:solidFill>
                  <a:srgbClr val="FF0000"/>
                </a:solidFill>
              </a:rPr>
              <a:t>elasticsearch</a:t>
            </a:r>
            <a:r>
              <a:rPr lang="en-US" altLang="ko-KR" sz="1400" dirty="0"/>
              <a:t>”, as well as numerous cloud logging providers. </a:t>
            </a:r>
            <a:r>
              <a:rPr lang="en-US" altLang="ko-KR" sz="1400" b="1" dirty="0"/>
              <a:t>Log aggregation services provide greater capacity for storing a longer duration of logs, as well as rich log searching and filtering capabilities</a:t>
            </a:r>
            <a:r>
              <a:rPr lang="en-US" altLang="ko-KR" sz="1400" dirty="0"/>
              <a:t>. Finally, they often provide the ability to </a:t>
            </a:r>
            <a:r>
              <a:rPr lang="en-US" altLang="ko-KR" sz="1400" b="1" dirty="0"/>
              <a:t>aggregate logs from multiple Pods into a single view.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2E9583A-7162-40CE-B58B-9D8C2DE5ECD4}"/>
              </a:ext>
            </a:extLst>
          </p:cNvPr>
          <p:cNvPicPr>
            <a:picLocks noChangeAspect="1"/>
          </p:cNvPicPr>
          <p:nvPr/>
        </p:nvPicPr>
        <p:blipFill>
          <a:blip r:embed="rId2"/>
          <a:stretch>
            <a:fillRect/>
          </a:stretch>
        </p:blipFill>
        <p:spPr>
          <a:xfrm>
            <a:off x="2547937" y="2589319"/>
            <a:ext cx="7096125" cy="2924175"/>
          </a:xfrm>
          <a:prstGeom prst="rect">
            <a:avLst/>
          </a:prstGeom>
        </p:spPr>
      </p:pic>
    </p:spTree>
    <p:extLst>
      <p:ext uri="{BB962C8B-B14F-4D97-AF65-F5344CB8AC3E}">
        <p14:creationId xmlns:p14="http://schemas.microsoft.com/office/powerpoint/2010/main" val="6410820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Commands in Your Container with “exec” :</a:t>
            </a:r>
          </a:p>
          <a:p>
            <a:pPr lvl="1">
              <a:buFont typeface="Wingdings" panose="05000000000000000000" pitchFamily="2" charset="2"/>
              <a:buChar char="§"/>
            </a:pPr>
            <a:r>
              <a:rPr lang="en-US" altLang="ko-KR" sz="1400" b="1" dirty="0"/>
              <a:t>Sometimes logs are insufficient, and to truly determine what’s going on you need to execute commands in the context of the container itself.</a:t>
            </a:r>
            <a:r>
              <a:rPr lang="en-US" altLang="ko-KR" sz="1400" dirty="0"/>
              <a:t> To do this you can use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also </a:t>
            </a:r>
            <a:r>
              <a:rPr lang="en-US" altLang="ko-KR" sz="1400" b="1" dirty="0"/>
              <a:t>get an interactive session by adding the “-it”(Interactive) flags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39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68F574F-2EC7-4675-8405-314CC9CBB922}"/>
              </a:ext>
            </a:extLst>
          </p:cNvPr>
          <p:cNvSpPr/>
          <p:nvPr/>
        </p:nvSpPr>
        <p:spPr>
          <a:xfrm>
            <a:off x="4878761" y="1753632"/>
            <a:ext cx="2434474" cy="553998"/>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kuard</a:t>
            </a:r>
            <a:r>
              <a:rPr lang="en-US" altLang="ko-KR" sz="1000" b="1" dirty="0">
                <a:solidFill>
                  <a:srgbClr val="FF0000"/>
                </a:solidFill>
              </a:rPr>
              <a:t> date </a:t>
            </a:r>
          </a:p>
          <a:p>
            <a:r>
              <a:rPr lang="en-US" altLang="ko-KR" sz="1000" b="1" dirty="0"/>
              <a:t>or </a:t>
            </a:r>
          </a:p>
          <a:p>
            <a:r>
              <a:rPr lang="en-US" altLang="ko-KR" sz="1000" b="1" dirty="0"/>
              <a:t>$ </a:t>
            </a:r>
            <a:r>
              <a:rPr lang="en-US" altLang="ko-KR" sz="1000" b="1" dirty="0" err="1"/>
              <a:t>kubectl</a:t>
            </a:r>
            <a:r>
              <a:rPr lang="en-US" altLang="ko-KR" sz="1000" b="1" dirty="0"/>
              <a:t> exec </a:t>
            </a:r>
            <a:r>
              <a:rPr lang="en-US" altLang="ko-KR" sz="1000" b="1" dirty="0" err="1">
                <a:solidFill>
                  <a:srgbClr val="FF0000"/>
                </a:solidFill>
              </a:rPr>
              <a:t>kuard</a:t>
            </a:r>
            <a:r>
              <a:rPr lang="en-US" altLang="ko-KR" sz="1000" b="1" dirty="0">
                <a:solidFill>
                  <a:srgbClr val="FF0000"/>
                </a:solidFill>
              </a:rPr>
              <a:t> -- date</a:t>
            </a:r>
          </a:p>
        </p:txBody>
      </p:sp>
      <p:grpSp>
        <p:nvGrpSpPr>
          <p:cNvPr id="13" name="그룹 12">
            <a:extLst>
              <a:ext uri="{FF2B5EF4-FFF2-40B4-BE49-F238E27FC236}">
                <a16:creationId xmlns:a16="http://schemas.microsoft.com/office/drawing/2014/main" id="{1BD67FAD-6B85-4D9A-B01D-096200450991}"/>
              </a:ext>
            </a:extLst>
          </p:cNvPr>
          <p:cNvGrpSpPr/>
          <p:nvPr/>
        </p:nvGrpSpPr>
        <p:grpSpPr>
          <a:xfrm>
            <a:off x="1530803" y="3099824"/>
            <a:ext cx="9130393" cy="2992972"/>
            <a:chOff x="1530803" y="3099824"/>
            <a:chExt cx="9130393" cy="2992972"/>
          </a:xfrm>
        </p:grpSpPr>
        <p:grpSp>
          <p:nvGrpSpPr>
            <p:cNvPr id="11" name="그룹 10">
              <a:extLst>
                <a:ext uri="{FF2B5EF4-FFF2-40B4-BE49-F238E27FC236}">
                  <a16:creationId xmlns:a16="http://schemas.microsoft.com/office/drawing/2014/main" id="{AC272C35-40AC-481A-94B7-A90450C5C45B}"/>
                </a:ext>
              </a:extLst>
            </p:cNvPr>
            <p:cNvGrpSpPr/>
            <p:nvPr/>
          </p:nvGrpSpPr>
          <p:grpSpPr>
            <a:xfrm>
              <a:off x="4878761" y="3099824"/>
              <a:ext cx="2434474" cy="512310"/>
              <a:chOff x="4878761" y="2412311"/>
              <a:chExt cx="2434474" cy="512310"/>
            </a:xfrm>
          </p:grpSpPr>
          <p:sp>
            <p:nvSpPr>
              <p:cNvPr id="8" name="직사각형 7">
                <a:extLst>
                  <a:ext uri="{FF2B5EF4-FFF2-40B4-BE49-F238E27FC236}">
                    <a16:creationId xmlns:a16="http://schemas.microsoft.com/office/drawing/2014/main" id="{B3684C80-A7C7-42A2-B983-4E37C76BBF70}"/>
                  </a:ext>
                </a:extLst>
              </p:cNvPr>
              <p:cNvSpPr/>
              <p:nvPr/>
            </p:nvSpPr>
            <p:spPr>
              <a:xfrm>
                <a:off x="4878761" y="2412311"/>
                <a:ext cx="2434474"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exec -it </a:t>
                </a:r>
                <a:r>
                  <a:rPr lang="en-US" altLang="ko-KR" sz="1000" b="1" dirty="0" err="1">
                    <a:solidFill>
                      <a:srgbClr val="FF0000"/>
                    </a:solidFill>
                  </a:rPr>
                  <a:t>kuard</a:t>
                </a:r>
                <a:r>
                  <a:rPr lang="en-US" altLang="ko-KR" sz="1000" b="1" dirty="0">
                    <a:solidFill>
                      <a:srgbClr val="FF0000"/>
                    </a:solidFill>
                  </a:rPr>
                  <a:t> -- ash</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56692C9A-3EEC-4226-BF77-C62A645C9087}"/>
                  </a:ext>
                </a:extLst>
              </p:cNvPr>
              <p:cNvSpPr/>
              <p:nvPr/>
            </p:nvSpPr>
            <p:spPr>
              <a:xfrm>
                <a:off x="5907738" y="2678400"/>
                <a:ext cx="376517"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2D3F26CD-34D2-449C-A959-6FEF01F8B941}"/>
                </a:ext>
              </a:extLst>
            </p:cNvPr>
            <p:cNvPicPr>
              <a:picLocks noChangeAspect="1"/>
            </p:cNvPicPr>
            <p:nvPr/>
          </p:nvPicPr>
          <p:blipFill>
            <a:blip r:embed="rId2"/>
            <a:stretch>
              <a:fillRect/>
            </a:stretch>
          </p:blipFill>
          <p:spPr>
            <a:xfrm>
              <a:off x="1530803" y="3632002"/>
              <a:ext cx="9130393" cy="2460794"/>
            </a:xfrm>
            <a:prstGeom prst="rect">
              <a:avLst/>
            </a:prstGeom>
            <a:ln>
              <a:solidFill>
                <a:schemeClr val="bg1">
                  <a:lumMod val="50000"/>
                </a:schemeClr>
              </a:solidFill>
            </a:ln>
          </p:spPr>
        </p:pic>
      </p:grpSp>
      <p:sp>
        <p:nvSpPr>
          <p:cNvPr id="9" name="직사각형 8">
            <a:extLst>
              <a:ext uri="{FF2B5EF4-FFF2-40B4-BE49-F238E27FC236}">
                <a16:creationId xmlns:a16="http://schemas.microsoft.com/office/drawing/2014/main" id="{631E296E-6CF7-962B-6E62-F901CEB832D0}"/>
              </a:ext>
            </a:extLst>
          </p:cNvPr>
          <p:cNvSpPr/>
          <p:nvPr/>
        </p:nvSpPr>
        <p:spPr>
          <a:xfrm>
            <a:off x="7626773" y="4219787"/>
            <a:ext cx="2160694" cy="2302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9483147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Accessing Your Pod(5/5)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Copying Files to and from Containers :</a:t>
            </a:r>
          </a:p>
          <a:p>
            <a:pPr lvl="1">
              <a:buFont typeface="Wingdings" panose="05000000000000000000" pitchFamily="2" charset="2"/>
              <a:buChar char="§"/>
            </a:pPr>
            <a:r>
              <a:rPr lang="en-US" altLang="ko-KR" sz="1400" dirty="0"/>
              <a:t>At times you may need to </a:t>
            </a:r>
            <a:r>
              <a:rPr lang="en-US" altLang="ko-KR" sz="1400" b="1" dirty="0"/>
              <a:t>copy files from a remote container to a local machine </a:t>
            </a:r>
            <a:r>
              <a:rPr lang="en-US" altLang="ko-KR" sz="1400" dirty="0"/>
              <a:t>for more in-depth exploration. For example, you can use a tool like “</a:t>
            </a:r>
            <a:r>
              <a:rPr lang="en-US" altLang="ko-KR" sz="1400" b="1" dirty="0"/>
              <a:t>Wireshark</a:t>
            </a:r>
            <a:r>
              <a:rPr lang="en-US" altLang="ko-KR" sz="1400" dirty="0"/>
              <a:t>” to visualize “</a:t>
            </a:r>
            <a:r>
              <a:rPr lang="en-US" altLang="ko-KR" sz="1400" b="1" dirty="0" err="1"/>
              <a:t>tcpdump</a:t>
            </a:r>
            <a:r>
              <a:rPr lang="en-US" altLang="ko-KR" sz="1400" dirty="0"/>
              <a:t>” packet captures. Suppose you had a file called “</a:t>
            </a:r>
            <a:r>
              <a:rPr lang="en-US" altLang="ko-KR" sz="1400" b="1" dirty="0"/>
              <a:t>/captures/capture3.txt</a:t>
            </a:r>
            <a:r>
              <a:rPr lang="en-US" altLang="ko-KR" sz="1400" dirty="0"/>
              <a:t>” inside a container in your Pod. </a:t>
            </a:r>
            <a:r>
              <a:rPr lang="en-US" altLang="ko-KR" sz="1400" b="1" dirty="0"/>
              <a:t>You could securely copy that file to your local machine </a:t>
            </a:r>
            <a:r>
              <a:rPr lang="en-US" altLang="ko-KR" sz="1400" dirty="0"/>
              <a:t>by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Other times you may need to </a:t>
            </a:r>
            <a:r>
              <a:rPr lang="en-US" altLang="ko-KR" sz="1400" b="1" dirty="0"/>
              <a:t>copy files from your local machine into a container</a:t>
            </a:r>
            <a:r>
              <a:rPr lang="en-US" altLang="ko-KR" sz="1400" dirty="0"/>
              <a:t>. Let’s say you want to copy “</a:t>
            </a:r>
            <a:r>
              <a:rPr lang="en-US" altLang="ko-KR" sz="1400" b="1" dirty="0"/>
              <a:t>$HOME/config.txt</a:t>
            </a:r>
            <a:r>
              <a:rPr lang="en-US" altLang="ko-KR" sz="1400" dirty="0"/>
              <a:t>” to a remote container. In this case, you can run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solidFill>
                  <a:srgbClr val="FF0000"/>
                </a:solidFill>
              </a:rPr>
              <a:t>Generally speaking, copying files into a container is an</a:t>
            </a:r>
            <a:r>
              <a:rPr lang="en-US" altLang="ko-KR" sz="1400" b="1" dirty="0"/>
              <a:t> “</a:t>
            </a:r>
            <a:r>
              <a:rPr lang="en-US" altLang="ko-KR" sz="1400" b="1" dirty="0">
                <a:solidFill>
                  <a:srgbClr val="FF0000"/>
                </a:solidFill>
              </a:rPr>
              <a:t>anti-pattern</a:t>
            </a:r>
            <a:r>
              <a:rPr lang="en-US" altLang="ko-KR" sz="1400" b="1" dirty="0"/>
              <a:t>”</a:t>
            </a:r>
            <a:r>
              <a:rPr lang="en-US" altLang="ko-KR" sz="1400" dirty="0"/>
              <a:t>. </a:t>
            </a:r>
            <a:r>
              <a:rPr lang="en-US" altLang="ko-KR" sz="1400" b="1" dirty="0"/>
              <a:t>You really should treat the contents of a container as “</a:t>
            </a:r>
            <a:r>
              <a:rPr lang="en-US" altLang="ko-KR" sz="1400" b="1" dirty="0">
                <a:solidFill>
                  <a:srgbClr val="FF0000"/>
                </a:solidFill>
              </a:rPr>
              <a:t>immutable</a:t>
            </a:r>
            <a:r>
              <a:rPr lang="en-US" altLang="ko-KR" sz="1400" b="1" dirty="0"/>
              <a:t>”</a:t>
            </a:r>
            <a:r>
              <a:rPr lang="en-US" altLang="ko-KR" sz="1400" dirty="0"/>
              <a:t>. But occasionally it’s the most immediate way to stop the bleeding and restore your service to health, since it is quicker than building, pushing, and rolling out a new image. Once the bleeding is stopped, however, “</a:t>
            </a:r>
            <a:r>
              <a:rPr lang="en-US" altLang="ko-KR" sz="1400" b="1" dirty="0"/>
              <a:t>it is critically important that you immediately go and do the image build and rollout, or you are guaranteed to forget the local change that you made to your container and overwrite it in the subsequent regularly scheduled rollout”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F89427E5-D909-4A3C-BB43-DB5C483AE919}"/>
              </a:ext>
            </a:extLst>
          </p:cNvPr>
          <p:cNvSpPr/>
          <p:nvPr/>
        </p:nvSpPr>
        <p:spPr>
          <a:xfrm>
            <a:off x="3048000" y="2122278"/>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&lt;pod-name&gt;:/captures/capture3.txt ./capture3.txt</a:t>
            </a:r>
            <a:endParaRPr lang="ko-KR" altLang="en-US" sz="1000" b="1" dirty="0">
              <a:solidFill>
                <a:srgbClr val="FF0000"/>
              </a:solidFill>
            </a:endParaRPr>
          </a:p>
        </p:txBody>
      </p:sp>
      <p:sp>
        <p:nvSpPr>
          <p:cNvPr id="8" name="직사각형 7">
            <a:extLst>
              <a:ext uri="{FF2B5EF4-FFF2-40B4-BE49-F238E27FC236}">
                <a16:creationId xmlns:a16="http://schemas.microsoft.com/office/drawing/2014/main" id="{5F25FF12-23B3-4662-A4AD-38ED5EF22E0A}"/>
              </a:ext>
            </a:extLst>
          </p:cNvPr>
          <p:cNvSpPr/>
          <p:nvPr/>
        </p:nvSpPr>
        <p:spPr>
          <a:xfrm>
            <a:off x="3048000" y="3393476"/>
            <a:ext cx="6096000"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cp $HOME/config.txt &lt;pod-name&gt;:/config.txt</a:t>
            </a:r>
          </a:p>
        </p:txBody>
      </p:sp>
    </p:spTree>
    <p:extLst>
      <p:ext uri="{BB962C8B-B14F-4D97-AF65-F5344CB8AC3E}">
        <p14:creationId xmlns:p14="http://schemas.microsoft.com/office/powerpoint/2010/main" val="36115528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Checks(1/7)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Health Checks :</a:t>
            </a:r>
          </a:p>
          <a:p>
            <a:pPr lvl="1">
              <a:buFont typeface="Wingdings" panose="05000000000000000000" pitchFamily="2" charset="2"/>
              <a:buChar char="§"/>
            </a:pPr>
            <a:r>
              <a:rPr lang="en-US" altLang="ko-KR" sz="1400" b="1" dirty="0"/>
              <a:t>When you run your application as a container in Kubernetes, it is automatically kept alive for you using a process </a:t>
            </a:r>
            <a:r>
              <a:rPr lang="en-US" altLang="ko-KR" sz="1400" b="1" dirty="0">
                <a:solidFill>
                  <a:srgbClr val="FF0000"/>
                </a:solidFill>
              </a:rPr>
              <a:t>health check</a:t>
            </a:r>
            <a:r>
              <a:rPr lang="en-US" altLang="ko-KR" sz="1400" dirty="0"/>
              <a:t>. This health check simply </a:t>
            </a:r>
            <a:r>
              <a:rPr lang="en-US" altLang="ko-KR" sz="1400" b="1" dirty="0"/>
              <a:t>ensures that the main process of your application is always running</a:t>
            </a:r>
            <a:r>
              <a:rPr lang="en-US" altLang="ko-KR" sz="1400" dirty="0"/>
              <a:t>. If it isn’t, </a:t>
            </a:r>
            <a:r>
              <a:rPr lang="en-US" altLang="ko-KR" sz="1400" b="1" dirty="0"/>
              <a:t>Kubernetes restarts it</a:t>
            </a:r>
            <a:r>
              <a:rPr lang="en-US" altLang="ko-KR" sz="1400" dirty="0"/>
              <a:t>.</a:t>
            </a:r>
          </a:p>
          <a:p>
            <a:pPr lvl="1">
              <a:buFont typeface="Wingdings" panose="05000000000000000000" pitchFamily="2" charset="2"/>
              <a:buChar char="§"/>
            </a:pPr>
            <a:r>
              <a:rPr lang="en-US" altLang="ko-KR" sz="1400" dirty="0"/>
              <a:t>However, in most cases, a simple process check is insufficient. For example, if your process has </a:t>
            </a:r>
            <a:r>
              <a:rPr lang="en-US" altLang="ko-KR" sz="1400" b="1" dirty="0"/>
              <a:t>deadlocked</a:t>
            </a:r>
            <a:r>
              <a:rPr lang="en-US" altLang="ko-KR" sz="1400" dirty="0"/>
              <a:t> and is </a:t>
            </a:r>
            <a:r>
              <a:rPr lang="en-US" altLang="ko-KR" sz="1400" b="1" dirty="0"/>
              <a:t>unable to serve requests</a:t>
            </a:r>
            <a:r>
              <a:rPr lang="en-US" altLang="ko-KR" sz="1400" dirty="0"/>
              <a:t>, </a:t>
            </a:r>
            <a:r>
              <a:rPr lang="en-US" altLang="ko-KR" sz="1400" b="1" dirty="0"/>
              <a:t>a process health check will still believe that your application is healthy since its process is still running</a:t>
            </a:r>
            <a:r>
              <a:rPr lang="en-US" altLang="ko-KR" sz="1400" dirty="0"/>
              <a:t>.</a:t>
            </a:r>
          </a:p>
          <a:p>
            <a:pPr lvl="1">
              <a:buFont typeface="Wingdings" panose="05000000000000000000" pitchFamily="2" charset="2"/>
              <a:buChar char="§"/>
            </a:pPr>
            <a:r>
              <a:rPr lang="en-US" altLang="ko-KR" sz="1400" b="1" dirty="0"/>
              <a:t>To address this, Kubernetes introduced “health checks” for application liveness</a:t>
            </a:r>
            <a:r>
              <a:rPr lang="en-US" altLang="ko-KR" sz="1400" dirty="0"/>
              <a:t>. “</a:t>
            </a:r>
            <a:r>
              <a:rPr lang="en-US" altLang="ko-KR" sz="1400" b="1" dirty="0">
                <a:solidFill>
                  <a:srgbClr val="FF0000"/>
                </a:solidFill>
              </a:rPr>
              <a:t>Liveness health checks</a:t>
            </a:r>
            <a:r>
              <a:rPr lang="en-US" altLang="ko-KR" sz="1400" dirty="0"/>
              <a:t>” </a:t>
            </a:r>
            <a:r>
              <a:rPr lang="en-US" altLang="ko-KR" sz="1400" b="1" dirty="0">
                <a:solidFill>
                  <a:srgbClr val="FF0000"/>
                </a:solidFill>
              </a:rPr>
              <a:t>run application-specific logic </a:t>
            </a:r>
            <a:r>
              <a:rPr lang="en-US" altLang="ko-KR" sz="1400" dirty="0"/>
              <a:t>(e.g., loading a web page) to verify that the application is </a:t>
            </a:r>
            <a:r>
              <a:rPr lang="en-US" altLang="ko-KR" sz="1400" b="1" dirty="0"/>
              <a:t>not just still running, but is functioning properly</a:t>
            </a:r>
            <a:r>
              <a:rPr lang="en-US" altLang="ko-KR" sz="1400" dirty="0"/>
              <a:t>. Since these </a:t>
            </a:r>
            <a:r>
              <a:rPr lang="en-US" altLang="ko-KR" sz="1400" b="1" dirty="0"/>
              <a:t>liveness health checks are application-specific</a:t>
            </a:r>
            <a:r>
              <a:rPr lang="en-US" altLang="ko-KR" sz="1400" dirty="0"/>
              <a:t>, </a:t>
            </a:r>
            <a:r>
              <a:rPr lang="en-US" altLang="ko-KR" sz="1400" b="1" dirty="0"/>
              <a:t>you have to </a:t>
            </a:r>
            <a:r>
              <a:rPr lang="en-US" altLang="ko-KR" sz="1400" b="1" dirty="0">
                <a:solidFill>
                  <a:srgbClr val="FF0000"/>
                </a:solidFill>
              </a:rPr>
              <a:t>define them in your “Pod manifest”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44CC672-C45B-4FBD-96FA-95513E943D8B}"/>
              </a:ext>
            </a:extLst>
          </p:cNvPr>
          <p:cNvPicPr>
            <a:picLocks noChangeAspect="1"/>
          </p:cNvPicPr>
          <p:nvPr/>
        </p:nvPicPr>
        <p:blipFill>
          <a:blip r:embed="rId2"/>
          <a:stretch>
            <a:fillRect/>
          </a:stretch>
        </p:blipFill>
        <p:spPr>
          <a:xfrm>
            <a:off x="3599089" y="3591718"/>
            <a:ext cx="4993821" cy="2615811"/>
          </a:xfrm>
          <a:prstGeom prst="rect">
            <a:avLst/>
          </a:prstGeom>
          <a:ln w="12700">
            <a:solidFill>
              <a:schemeClr val="tx1"/>
            </a:solidFill>
          </a:ln>
        </p:spPr>
      </p:pic>
    </p:spTree>
    <p:extLst>
      <p:ext uri="{BB962C8B-B14F-4D97-AF65-F5344CB8AC3E}">
        <p14:creationId xmlns:p14="http://schemas.microsoft.com/office/powerpoint/2010/main" val="32942956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Checks(2/7)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dirty="0"/>
              <a:t>Once the “</a:t>
            </a:r>
            <a:r>
              <a:rPr lang="en-US" altLang="ko-KR" sz="1400" b="1" dirty="0" err="1"/>
              <a:t>kuard</a:t>
            </a:r>
            <a:r>
              <a:rPr lang="en-US" altLang="ko-KR" sz="1400" dirty="0"/>
              <a:t>” process is up and running, </a:t>
            </a:r>
            <a:r>
              <a:rPr lang="en-US" altLang="ko-KR" sz="1400" b="1" dirty="0"/>
              <a:t>we need a way to confirm that it is actually healthy and shouldn’t be restarted</a:t>
            </a:r>
            <a:r>
              <a:rPr lang="en-US" altLang="ko-KR" sz="1400" dirty="0"/>
              <a:t>. “</a:t>
            </a:r>
            <a:r>
              <a:rPr lang="en-US" altLang="ko-KR" sz="1400" b="1" dirty="0">
                <a:solidFill>
                  <a:srgbClr val="FF0000"/>
                </a:solidFill>
              </a:rPr>
              <a:t>Liveness probes are defined per container</a:t>
            </a:r>
            <a:r>
              <a:rPr lang="en-US" altLang="ko-KR" sz="1400" dirty="0"/>
              <a:t>”, </a:t>
            </a:r>
            <a:r>
              <a:rPr lang="en-US" altLang="ko-KR" sz="1400" b="1" dirty="0"/>
              <a:t>which means each container inside a Pod is health-checked separately</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Here we add a “</a:t>
            </a:r>
            <a:r>
              <a:rPr lang="en-US" altLang="ko-KR" sz="1400" b="1" dirty="0"/>
              <a:t>liveness probe”</a:t>
            </a:r>
            <a:r>
              <a:rPr lang="en-US" altLang="ko-KR" sz="1400" dirty="0"/>
              <a:t> to our “</a:t>
            </a:r>
            <a:r>
              <a:rPr lang="en-US" altLang="ko-KR" sz="1400" b="1" dirty="0" err="1"/>
              <a:t>kuard</a:t>
            </a:r>
            <a:r>
              <a:rPr lang="en-US" altLang="ko-KR" sz="1400" b="1" dirty="0"/>
              <a:t>” container</a:t>
            </a:r>
            <a:r>
              <a:rPr lang="en-US" altLang="ko-KR" sz="1400" dirty="0"/>
              <a:t>, which </a:t>
            </a:r>
            <a:r>
              <a:rPr lang="en-US" altLang="ko-KR" sz="1400" b="1" dirty="0"/>
              <a:t>runs an HTTP request against the “/healthy” path </a:t>
            </a:r>
            <a:r>
              <a:rPr lang="en-US" altLang="ko-KR" sz="1400" dirty="0"/>
              <a:t>on our container.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761B598-32B7-46EA-8585-5A12AB06B3B4}"/>
              </a:ext>
            </a:extLst>
          </p:cNvPr>
          <p:cNvSpPr/>
          <p:nvPr/>
        </p:nvSpPr>
        <p:spPr>
          <a:xfrm>
            <a:off x="3048000" y="1913106"/>
            <a:ext cx="6096000" cy="3170099"/>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solidFill>
                  <a:srgbClr val="FF0000"/>
                </a:solidFill>
              </a:rPr>
              <a:t>kuard</a:t>
            </a:r>
            <a:endParaRPr lang="en-US" altLang="ko-KR" sz="1000" b="1" dirty="0">
              <a:solidFill>
                <a:srgbClr val="FF0000"/>
              </a:solidFill>
            </a:endParaRPr>
          </a:p>
          <a:p>
            <a:r>
              <a:rPr lang="en-US" altLang="ko-KR" sz="1000" b="1" dirty="0"/>
              <a:t>spec:</a:t>
            </a:r>
          </a:p>
          <a:p>
            <a:r>
              <a:rPr lang="en-US" altLang="ko-KR" sz="1000" b="1" dirty="0"/>
              <a:t>  containers:</a:t>
            </a:r>
          </a:p>
          <a:p>
            <a:r>
              <a:rPr lang="en-US" altLang="ko-KR" sz="1000" b="1" dirty="0"/>
              <a:t>    - image: gcr.io/</a:t>
            </a:r>
            <a:r>
              <a:rPr lang="en-US" altLang="ko-KR" sz="1000" b="1" dirty="0" err="1"/>
              <a:t>kuar</a:t>
            </a:r>
            <a:r>
              <a:rPr lang="en-US" altLang="ko-KR" sz="1000" b="1" dirty="0"/>
              <a:t>-demo/kuard-amd64:blue</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err="1">
                <a:solidFill>
                  <a:srgbClr val="FF0000"/>
                </a:solidFill>
              </a:rPr>
              <a:t>livenessProbe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/healthy</a:t>
            </a:r>
          </a:p>
          <a:p>
            <a:r>
              <a:rPr lang="en-US" altLang="ko-KR" sz="1000" b="1" dirty="0">
                <a:solidFill>
                  <a:srgbClr val="FF0000"/>
                </a:solidFill>
              </a:rPr>
              <a:t>          port: 8080</a:t>
            </a:r>
          </a:p>
          <a:p>
            <a:r>
              <a:rPr lang="en-US" altLang="ko-KR" sz="1000" b="1" dirty="0">
                <a:solidFill>
                  <a:srgbClr val="FF0000"/>
                </a:solidFill>
              </a:rPr>
              <a:t>        </a:t>
            </a:r>
            <a:r>
              <a:rPr lang="en-US" altLang="ko-KR" sz="1000" b="1" dirty="0" err="1">
                <a:solidFill>
                  <a:srgbClr val="FF0000"/>
                </a:solidFill>
              </a:rPr>
              <a:t>initialDelaySeconds</a:t>
            </a:r>
            <a:r>
              <a:rPr lang="en-US" altLang="ko-KR" sz="1000" b="1" dirty="0">
                <a:solidFill>
                  <a:srgbClr val="FF0000"/>
                </a:solidFill>
              </a:rPr>
              <a:t>: 5</a:t>
            </a:r>
          </a:p>
          <a:p>
            <a:r>
              <a:rPr lang="en-US" altLang="ko-KR" sz="1000" b="1" dirty="0">
                <a:solidFill>
                  <a:srgbClr val="FF0000"/>
                </a:solidFill>
              </a:rPr>
              <a:t>        </a:t>
            </a:r>
            <a:r>
              <a:rPr lang="en-US" altLang="ko-KR" sz="1000" b="1" dirty="0" err="1">
                <a:solidFill>
                  <a:srgbClr val="FF0000"/>
                </a:solidFill>
              </a:rPr>
              <a:t>timeoutSeconds</a:t>
            </a:r>
            <a:r>
              <a:rPr lang="en-US" altLang="ko-KR" sz="1000" b="1" dirty="0">
                <a:solidFill>
                  <a:srgbClr val="FF0000"/>
                </a:solidFill>
              </a:rPr>
              <a:t>: 1</a:t>
            </a:r>
          </a:p>
          <a:p>
            <a:r>
              <a:rPr lang="en-US" altLang="ko-KR" sz="1000" b="1" dirty="0">
                <a:solidFill>
                  <a:srgbClr val="FF0000"/>
                </a:solidFill>
              </a:rPr>
              <a:t>        </a:t>
            </a:r>
            <a:r>
              <a:rPr lang="en-US" altLang="ko-KR" sz="1000" b="1" dirty="0" err="1">
                <a:solidFill>
                  <a:srgbClr val="FF0000"/>
                </a:solidFill>
              </a:rPr>
              <a:t>periodSeconds</a:t>
            </a:r>
            <a:r>
              <a:rPr lang="en-US" altLang="ko-KR" sz="1000" b="1" dirty="0">
                <a:solidFill>
                  <a:srgbClr val="FF0000"/>
                </a:solidFill>
              </a:rPr>
              <a:t>: 10</a:t>
            </a:r>
          </a:p>
          <a:p>
            <a:r>
              <a:rPr lang="en-US" altLang="ko-KR" sz="1000" b="1" dirty="0">
                <a:solidFill>
                  <a:srgbClr val="FF0000"/>
                </a:solidFill>
              </a:rPr>
              <a:t>        </a:t>
            </a:r>
            <a:r>
              <a:rPr lang="en-US" altLang="ko-KR" sz="1000" b="1" dirty="0" err="1">
                <a:solidFill>
                  <a:srgbClr val="FF0000"/>
                </a:solidFill>
              </a:rPr>
              <a:t>failureThreshold</a:t>
            </a:r>
            <a:r>
              <a:rPr lang="en-US" altLang="ko-KR" sz="1000" b="1" dirty="0">
                <a:solidFill>
                  <a:srgbClr val="FF0000"/>
                </a:solidFill>
              </a:rPr>
              <a:t>: 3</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17359278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Checks(3/7)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b="1" dirty="0"/>
              <a:t>The preceding Pod manifest uses an “</a:t>
            </a:r>
            <a:r>
              <a:rPr lang="en-US" altLang="ko-KR" sz="1400" b="1" dirty="0" err="1">
                <a:solidFill>
                  <a:srgbClr val="FF0000"/>
                </a:solidFill>
              </a:rPr>
              <a:t>httpGet</a:t>
            </a:r>
            <a:r>
              <a:rPr lang="en-US" altLang="ko-KR" sz="1400" b="1" dirty="0"/>
              <a:t>” probe to perform an HTTP GET request against the “/healthy” endpoint on port “8080” of the “</a:t>
            </a:r>
            <a:r>
              <a:rPr lang="en-US" altLang="ko-KR" sz="1400" b="1" dirty="0" err="1"/>
              <a:t>kuard</a:t>
            </a:r>
            <a:r>
              <a:rPr lang="en-US" altLang="ko-KR" sz="1400" b="1" dirty="0"/>
              <a:t>” container</a:t>
            </a:r>
            <a:r>
              <a:rPr lang="en-US" altLang="ko-KR" sz="1400" dirty="0"/>
              <a:t>. The probe sets an “</a:t>
            </a:r>
            <a:r>
              <a:rPr lang="en-US" altLang="ko-KR" sz="1400" b="1" dirty="0" err="1">
                <a:solidFill>
                  <a:srgbClr val="FF0000"/>
                </a:solidFill>
              </a:rPr>
              <a:t>initialDelaySeconds</a:t>
            </a:r>
            <a:r>
              <a:rPr lang="en-US" altLang="ko-KR" sz="1400" dirty="0"/>
              <a:t>” of </a:t>
            </a:r>
            <a:r>
              <a:rPr lang="en-US" altLang="ko-KR" sz="1400" b="1" dirty="0"/>
              <a:t>5</a:t>
            </a:r>
            <a:r>
              <a:rPr lang="en-US" altLang="ko-KR" sz="1400" dirty="0"/>
              <a:t>, and thus </a:t>
            </a:r>
            <a:r>
              <a:rPr lang="en-US" altLang="ko-KR" sz="1400" b="1" dirty="0"/>
              <a:t>will not be called until 5 seconds after all the containers in the Pod are created</a:t>
            </a:r>
            <a:r>
              <a:rPr lang="en-US" altLang="ko-KR" sz="1400" dirty="0"/>
              <a:t>. The probe must respond within the </a:t>
            </a:r>
            <a:r>
              <a:rPr lang="en-US" altLang="ko-KR" sz="1400" b="1" dirty="0"/>
              <a:t>1-second timeout(“</a:t>
            </a:r>
            <a:r>
              <a:rPr lang="en-US" altLang="ko-KR" sz="1400" b="1" dirty="0" err="1">
                <a:solidFill>
                  <a:srgbClr val="FF0000"/>
                </a:solidFill>
              </a:rPr>
              <a:t>timeoutSeconds</a:t>
            </a:r>
            <a:r>
              <a:rPr lang="en-US" altLang="ko-KR" sz="1400" b="1" dirty="0"/>
              <a:t>”)</a:t>
            </a:r>
            <a:r>
              <a:rPr lang="en-US" altLang="ko-KR" sz="1400" dirty="0"/>
              <a:t>, and “</a:t>
            </a:r>
            <a:r>
              <a:rPr lang="en-US" altLang="ko-KR" sz="1400" b="1" dirty="0"/>
              <a:t>the HTTP status code must be equal to or greater than 200 and less than 400 to be considered successful”</a:t>
            </a:r>
            <a:r>
              <a:rPr lang="en-US" altLang="ko-KR" sz="1400" dirty="0"/>
              <a:t>. </a:t>
            </a:r>
            <a:r>
              <a:rPr lang="en-US" altLang="ko-KR" sz="1400" b="1" dirty="0"/>
              <a:t>Kubernetes will call the probe every 10 seconds(“</a:t>
            </a:r>
            <a:r>
              <a:rPr lang="en-US" altLang="ko-KR" sz="1400" b="1" dirty="0" err="1">
                <a:solidFill>
                  <a:srgbClr val="FF0000"/>
                </a:solidFill>
              </a:rPr>
              <a:t>periodSeconds</a:t>
            </a:r>
            <a:r>
              <a:rPr lang="en-US" altLang="ko-KR" sz="1400" b="1" dirty="0"/>
              <a:t>”)</a:t>
            </a:r>
            <a:r>
              <a:rPr lang="en-US" altLang="ko-KR" sz="1400" dirty="0"/>
              <a:t>. </a:t>
            </a:r>
            <a:r>
              <a:rPr lang="en-US" altLang="ko-KR" sz="1400" b="1" dirty="0"/>
              <a:t>If more than three consecutive probes fail(“</a:t>
            </a:r>
            <a:r>
              <a:rPr lang="en-US" altLang="ko-KR" sz="1400" b="1" dirty="0" err="1">
                <a:solidFill>
                  <a:srgbClr val="FF0000"/>
                </a:solidFill>
              </a:rPr>
              <a:t>failureThreshold</a:t>
            </a:r>
            <a:r>
              <a:rPr lang="en-US" altLang="ko-KR" sz="1400" b="1" dirty="0"/>
              <a:t>”), the container will fail and restart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CF0ABD0-E4FA-4757-9D46-C9353192BE41}"/>
              </a:ext>
            </a:extLst>
          </p:cNvPr>
          <p:cNvPicPr>
            <a:picLocks noChangeAspect="1"/>
          </p:cNvPicPr>
          <p:nvPr/>
        </p:nvPicPr>
        <p:blipFill>
          <a:blip r:embed="rId2"/>
          <a:stretch>
            <a:fillRect/>
          </a:stretch>
        </p:blipFill>
        <p:spPr>
          <a:xfrm>
            <a:off x="2723990" y="2739683"/>
            <a:ext cx="6744020" cy="3175355"/>
          </a:xfrm>
          <a:prstGeom prst="rect">
            <a:avLst/>
          </a:prstGeom>
        </p:spPr>
      </p:pic>
    </p:spTree>
    <p:extLst>
      <p:ext uri="{BB962C8B-B14F-4D97-AF65-F5344CB8AC3E}">
        <p14:creationId xmlns:p14="http://schemas.microsoft.com/office/powerpoint/2010/main" val="28593030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Checks(4/7)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dirty="0"/>
              <a:t>You can see this in action by looking at </a:t>
            </a:r>
            <a:r>
              <a:rPr lang="en-US" altLang="ko-KR" sz="1400" b="1" dirty="0"/>
              <a:t>the “</a:t>
            </a:r>
            <a:r>
              <a:rPr lang="en-US" altLang="ko-KR" sz="1400" b="1" dirty="0" err="1"/>
              <a:t>kuard</a:t>
            </a:r>
            <a:r>
              <a:rPr lang="en-US" altLang="ko-KR" sz="1400" b="1" dirty="0"/>
              <a:t>” status page</a:t>
            </a:r>
            <a:r>
              <a:rPr lang="en-US" altLang="ko-KR" sz="1400" dirty="0"/>
              <a:t>. </a:t>
            </a:r>
            <a:r>
              <a:rPr lang="en-US" altLang="ko-KR" sz="1400" b="1" dirty="0"/>
              <a:t>Create a Pod using this manifest and then “port-forward” to that Pod</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Point your browser to “</a:t>
            </a:r>
            <a:r>
              <a:rPr lang="en-US" altLang="ko-KR" sz="1400" b="1" dirty="0"/>
              <a:t>http://localhost:8080</a:t>
            </a:r>
            <a:r>
              <a:rPr lang="en-US" altLang="ko-KR" sz="1400" dirty="0"/>
              <a:t>”. Click the “</a:t>
            </a:r>
            <a:r>
              <a:rPr lang="en-US" altLang="ko-KR" sz="1400" b="1" dirty="0"/>
              <a:t>Liveness Probe</a:t>
            </a:r>
            <a:r>
              <a:rPr lang="en-US" altLang="ko-KR" sz="1400" dirty="0"/>
              <a:t>” tab. You should see a table that lists all of the probes that this instance of “</a:t>
            </a:r>
            <a:r>
              <a:rPr lang="en-US" altLang="ko-KR" sz="1400" b="1" dirty="0" err="1"/>
              <a:t>kuard</a:t>
            </a:r>
            <a:r>
              <a:rPr lang="en-US" altLang="ko-KR" sz="1400" dirty="0"/>
              <a:t>” has received. If you click the “</a:t>
            </a:r>
            <a:r>
              <a:rPr lang="en-US" altLang="ko-KR" sz="1400" b="1" dirty="0"/>
              <a:t>Fail</a:t>
            </a:r>
            <a:r>
              <a:rPr lang="en-US" altLang="ko-KR" sz="1400" dirty="0"/>
              <a:t>” link on that page, </a:t>
            </a:r>
            <a:r>
              <a:rPr lang="en-US" altLang="ko-KR" sz="1400" b="1" dirty="0"/>
              <a:t>“</a:t>
            </a:r>
            <a:r>
              <a:rPr lang="en-US" altLang="ko-KR" sz="1400" b="1" dirty="0" err="1"/>
              <a:t>kuard</a:t>
            </a:r>
            <a:r>
              <a:rPr lang="en-US" altLang="ko-KR" sz="1400" b="1" dirty="0"/>
              <a:t>” will start to fail health checks</a:t>
            </a:r>
            <a:r>
              <a:rPr lang="en-US" altLang="ko-KR" sz="1400" dirty="0"/>
              <a:t>. </a:t>
            </a:r>
            <a:r>
              <a:rPr lang="en-US" altLang="ko-KR" sz="1400" b="1" dirty="0"/>
              <a:t>Wait long enough and Kubernetes will restart the container</a:t>
            </a:r>
            <a:r>
              <a:rPr lang="en-US" altLang="ko-KR" sz="1400" dirty="0"/>
              <a:t>. At that point the display will reset and start over again. Details of the restart can be found with “</a:t>
            </a:r>
            <a:r>
              <a:rPr lang="en-US" altLang="ko-KR" sz="1400" b="1" dirty="0" err="1">
                <a:solidFill>
                  <a:srgbClr val="FF0000"/>
                </a:solidFill>
              </a:rPr>
              <a:t>kubectl</a:t>
            </a:r>
            <a:r>
              <a:rPr lang="en-US" altLang="ko-KR" sz="1400" b="1" dirty="0">
                <a:solidFill>
                  <a:srgbClr val="FF0000"/>
                </a:solidFill>
              </a:rPr>
              <a:t> describe pods </a:t>
            </a:r>
            <a:r>
              <a:rPr lang="en-US" altLang="ko-KR" sz="1400" b="1" dirty="0" err="1">
                <a:solidFill>
                  <a:srgbClr val="FF0000"/>
                </a:solidFill>
              </a:rPr>
              <a:t>kuard</a:t>
            </a:r>
            <a:r>
              <a:rPr lang="en-US" altLang="ko-KR" sz="1400" dirty="0"/>
              <a:t>”. </a:t>
            </a:r>
            <a:r>
              <a:rPr lang="en-US" altLang="ko-KR" sz="1400" b="1" dirty="0"/>
              <a:t>The “</a:t>
            </a:r>
            <a:r>
              <a:rPr lang="en-US" altLang="ko-KR" sz="1400" b="1" dirty="0">
                <a:solidFill>
                  <a:srgbClr val="FF0000"/>
                </a:solidFill>
              </a:rPr>
              <a:t>Events</a:t>
            </a:r>
            <a:r>
              <a:rPr lang="en-US" altLang="ko-KR" sz="1400" b="1" dirty="0"/>
              <a:t>” section will have text similar to the following</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DB32FB40-3E4F-4BCB-AFEF-9149AAE2006F}"/>
              </a:ext>
            </a:extLst>
          </p:cNvPr>
          <p:cNvSpPr/>
          <p:nvPr/>
        </p:nvSpPr>
        <p:spPr>
          <a:xfrm>
            <a:off x="3048000" y="1653552"/>
            <a:ext cx="6096000" cy="553998"/>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delete pods/</a:t>
            </a:r>
            <a:r>
              <a:rPr lang="en-US" altLang="ko-KR" sz="1000" b="1" dirty="0" err="1"/>
              <a:t>kuard</a:t>
            </a:r>
            <a:endParaRPr lang="en-US" altLang="ko-KR" sz="1000" b="1" dirty="0"/>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-pod-</a:t>
            </a:r>
            <a:r>
              <a:rPr lang="en-US" altLang="ko-KR" sz="1000" b="1" dirty="0" err="1">
                <a:solidFill>
                  <a:srgbClr val="FF0000"/>
                </a:solidFill>
              </a:rPr>
              <a:t>healthcheck.yaml</a:t>
            </a:r>
            <a:endParaRPr lang="en-US" altLang="ko-KR" sz="1000" b="1" dirty="0">
              <a:solidFill>
                <a:srgbClr val="FF0000"/>
              </a:solidFill>
            </a:endParaRPr>
          </a:p>
          <a:p>
            <a:r>
              <a:rPr lang="en-US" altLang="ko-KR" sz="1000" b="1" dirty="0"/>
              <a:t>$ </a:t>
            </a:r>
            <a:r>
              <a:rPr lang="en-US" altLang="ko-KR" sz="1000" b="1" dirty="0" err="1"/>
              <a:t>kubectl</a:t>
            </a:r>
            <a:r>
              <a:rPr lang="en-US" altLang="ko-KR" sz="1000" b="1" dirty="0"/>
              <a:t> port-forward </a:t>
            </a:r>
            <a:r>
              <a:rPr lang="en-US" altLang="ko-KR" sz="1000" b="1" dirty="0" err="1">
                <a:solidFill>
                  <a:srgbClr val="FF0000"/>
                </a:solidFill>
              </a:rPr>
              <a:t>kuard</a:t>
            </a:r>
            <a:r>
              <a:rPr lang="en-US" altLang="ko-KR" sz="1000" b="1" dirty="0">
                <a:solidFill>
                  <a:srgbClr val="FF0000"/>
                </a:solidFill>
              </a:rPr>
              <a:t> 8080:8080</a:t>
            </a:r>
          </a:p>
        </p:txBody>
      </p:sp>
      <p:grpSp>
        <p:nvGrpSpPr>
          <p:cNvPr id="12" name="그룹 11">
            <a:extLst>
              <a:ext uri="{FF2B5EF4-FFF2-40B4-BE49-F238E27FC236}">
                <a16:creationId xmlns:a16="http://schemas.microsoft.com/office/drawing/2014/main" id="{9AFAC62A-D1C6-4EF9-A85A-25047B03EDEA}"/>
              </a:ext>
            </a:extLst>
          </p:cNvPr>
          <p:cNvGrpSpPr/>
          <p:nvPr/>
        </p:nvGrpSpPr>
        <p:grpSpPr>
          <a:xfrm>
            <a:off x="1600054" y="3429000"/>
            <a:ext cx="8991891" cy="2994498"/>
            <a:chOff x="1600054" y="3429000"/>
            <a:chExt cx="8991891" cy="2994498"/>
          </a:xfrm>
        </p:grpSpPr>
        <p:grpSp>
          <p:nvGrpSpPr>
            <p:cNvPr id="10" name="그룹 9">
              <a:extLst>
                <a:ext uri="{FF2B5EF4-FFF2-40B4-BE49-F238E27FC236}">
                  <a16:creationId xmlns:a16="http://schemas.microsoft.com/office/drawing/2014/main" id="{D4BEB9D1-6B08-4831-9B4C-BA4C06AF1E94}"/>
                </a:ext>
              </a:extLst>
            </p:cNvPr>
            <p:cNvGrpSpPr/>
            <p:nvPr/>
          </p:nvGrpSpPr>
          <p:grpSpPr>
            <a:xfrm>
              <a:off x="1600054" y="3429000"/>
              <a:ext cx="8991891" cy="2994498"/>
              <a:chOff x="1600054" y="3429000"/>
              <a:chExt cx="8991891" cy="2994498"/>
            </a:xfrm>
          </p:grpSpPr>
          <p:pic>
            <p:nvPicPr>
              <p:cNvPr id="8" name="그림 7">
                <a:extLst>
                  <a:ext uri="{FF2B5EF4-FFF2-40B4-BE49-F238E27FC236}">
                    <a16:creationId xmlns:a16="http://schemas.microsoft.com/office/drawing/2014/main" id="{19CED6C2-DA0E-4D91-B4D0-9A91A9F1A971}"/>
                  </a:ext>
                </a:extLst>
              </p:cNvPr>
              <p:cNvPicPr>
                <a:picLocks noChangeAspect="1"/>
              </p:cNvPicPr>
              <p:nvPr/>
            </p:nvPicPr>
            <p:blipFill>
              <a:blip r:embed="rId2"/>
              <a:stretch>
                <a:fillRect/>
              </a:stretch>
            </p:blipFill>
            <p:spPr>
              <a:xfrm>
                <a:off x="2364921" y="3429000"/>
                <a:ext cx="7462157" cy="1865539"/>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109AF579-C360-4024-9DA3-AC003D0849DE}"/>
                  </a:ext>
                </a:extLst>
              </p:cNvPr>
              <p:cNvPicPr>
                <a:picLocks noChangeAspect="1"/>
              </p:cNvPicPr>
              <p:nvPr/>
            </p:nvPicPr>
            <p:blipFill>
              <a:blip r:embed="rId3"/>
              <a:stretch>
                <a:fillRect/>
              </a:stretch>
            </p:blipFill>
            <p:spPr>
              <a:xfrm>
                <a:off x="1600054" y="4557960"/>
                <a:ext cx="8991891" cy="1865538"/>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4C4EC11F-5481-4D52-BB4C-6BD996BC8737}"/>
                </a:ext>
              </a:extLst>
            </p:cNvPr>
            <p:cNvSpPr/>
            <p:nvPr/>
          </p:nvSpPr>
          <p:spPr>
            <a:xfrm>
              <a:off x="1798064" y="5885970"/>
              <a:ext cx="7462157" cy="25199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8138266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Liveness Probe Example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Accessing “</a:t>
            </a:r>
            <a:r>
              <a:rPr lang="en-US" altLang="ko-KR" sz="1800" b="1" dirty="0" err="1"/>
              <a:t>kuard</a:t>
            </a:r>
            <a:r>
              <a:rPr lang="en-US" altLang="ko-KR" sz="1800" b="1" dirty="0"/>
              <a:t>” :</a:t>
            </a:r>
          </a:p>
          <a:p>
            <a:pPr lvl="1">
              <a:buFont typeface="Wingdings" panose="05000000000000000000" pitchFamily="2" charset="2"/>
              <a:buChar char="§"/>
            </a:pPr>
            <a:r>
              <a:rPr lang="en-US" altLang="ko-KR" sz="1400" dirty="0"/>
              <a:t>Go to “</a:t>
            </a:r>
            <a:r>
              <a:rPr lang="en-US" altLang="ko-KR" sz="1400" b="1" dirty="0"/>
              <a:t>Liveness Probe</a:t>
            </a:r>
            <a:r>
              <a:rPr lang="en-US" altLang="ko-KR" sz="1400" dirty="0"/>
              <a:t>” tab and click “</a:t>
            </a:r>
            <a:r>
              <a:rPr lang="en-US" altLang="ko-KR" sz="1400" b="1" dirty="0"/>
              <a:t>fail</a:t>
            </a:r>
            <a:r>
              <a:rPr lang="en-US" altLang="ko-KR" sz="1400" dirty="0"/>
              <a:t>” link.</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019D0F2-00D6-48EF-B830-8BE521A2A62C}"/>
              </a:ext>
            </a:extLst>
          </p:cNvPr>
          <p:cNvGrpSpPr/>
          <p:nvPr/>
        </p:nvGrpSpPr>
        <p:grpSpPr>
          <a:xfrm>
            <a:off x="1224322" y="1552174"/>
            <a:ext cx="9743355" cy="4648640"/>
            <a:chOff x="1252497" y="1686570"/>
            <a:chExt cx="10330628" cy="4852342"/>
          </a:xfrm>
        </p:grpSpPr>
        <p:grpSp>
          <p:nvGrpSpPr>
            <p:cNvPr id="11" name="그룹 10">
              <a:extLst>
                <a:ext uri="{FF2B5EF4-FFF2-40B4-BE49-F238E27FC236}">
                  <a16:creationId xmlns:a16="http://schemas.microsoft.com/office/drawing/2014/main" id="{F09932CD-859E-4FA5-9A54-75BE1DBC0464}"/>
                </a:ext>
              </a:extLst>
            </p:cNvPr>
            <p:cNvGrpSpPr/>
            <p:nvPr/>
          </p:nvGrpSpPr>
          <p:grpSpPr>
            <a:xfrm>
              <a:off x="1252497" y="1686570"/>
              <a:ext cx="10330628" cy="4852342"/>
              <a:chOff x="1252497" y="1686570"/>
              <a:chExt cx="10330628" cy="4852342"/>
            </a:xfrm>
          </p:grpSpPr>
          <p:pic>
            <p:nvPicPr>
              <p:cNvPr id="4" name="그림 3">
                <a:extLst>
                  <a:ext uri="{FF2B5EF4-FFF2-40B4-BE49-F238E27FC236}">
                    <a16:creationId xmlns:a16="http://schemas.microsoft.com/office/drawing/2014/main" id="{166F75E9-5084-4B8A-B41A-CD67CA370502}"/>
                  </a:ext>
                </a:extLst>
              </p:cNvPr>
              <p:cNvPicPr>
                <a:picLocks noChangeAspect="1"/>
              </p:cNvPicPr>
              <p:nvPr/>
            </p:nvPicPr>
            <p:blipFill>
              <a:blip r:embed="rId2"/>
              <a:stretch>
                <a:fillRect/>
              </a:stretch>
            </p:blipFill>
            <p:spPr>
              <a:xfrm>
                <a:off x="1252497" y="1686570"/>
                <a:ext cx="5912308" cy="3484859"/>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D2C33C85-73A4-4A19-870D-DC7EC31F7040}"/>
                  </a:ext>
                </a:extLst>
              </p:cNvPr>
              <p:cNvPicPr>
                <a:picLocks noChangeAspect="1"/>
              </p:cNvPicPr>
              <p:nvPr/>
            </p:nvPicPr>
            <p:blipFill>
              <a:blip r:embed="rId3"/>
              <a:stretch>
                <a:fillRect/>
              </a:stretch>
            </p:blipFill>
            <p:spPr>
              <a:xfrm>
                <a:off x="3441763" y="3109912"/>
                <a:ext cx="5817539" cy="3429000"/>
              </a:xfrm>
              <a:prstGeom prst="rect">
                <a:avLst/>
              </a:prstGeom>
              <a:ln>
                <a:solidFill>
                  <a:schemeClr val="bg1">
                    <a:lumMod val="50000"/>
                  </a:schemeClr>
                </a:solidFill>
              </a:ln>
            </p:spPr>
          </p:pic>
          <p:pic>
            <p:nvPicPr>
              <p:cNvPr id="10" name="그림 9">
                <a:extLst>
                  <a:ext uri="{FF2B5EF4-FFF2-40B4-BE49-F238E27FC236}">
                    <a16:creationId xmlns:a16="http://schemas.microsoft.com/office/drawing/2014/main" id="{AB508E1E-D32E-4E31-9C86-9BE8419E9A60}"/>
                  </a:ext>
                </a:extLst>
              </p:cNvPr>
              <p:cNvPicPr>
                <a:picLocks noChangeAspect="1"/>
              </p:cNvPicPr>
              <p:nvPr/>
            </p:nvPicPr>
            <p:blipFill>
              <a:blip r:embed="rId4"/>
              <a:stretch>
                <a:fillRect/>
              </a:stretch>
            </p:blipFill>
            <p:spPr>
              <a:xfrm>
                <a:off x="5765586" y="2445443"/>
                <a:ext cx="5817539" cy="3429000"/>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B5AAAFE2-141C-42AA-B6BE-93BEA6CA7FC3}"/>
                </a:ext>
              </a:extLst>
            </p:cNvPr>
            <p:cNvSpPr/>
            <p:nvPr/>
          </p:nvSpPr>
          <p:spPr>
            <a:xfrm>
              <a:off x="1347265" y="3711388"/>
              <a:ext cx="604480" cy="17673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BDB44829-CAD7-411F-897F-91D34C19E0BA}"/>
                </a:ext>
              </a:extLst>
            </p:cNvPr>
            <p:cNvSpPr/>
            <p:nvPr/>
          </p:nvSpPr>
          <p:spPr>
            <a:xfrm>
              <a:off x="4395267" y="4792601"/>
              <a:ext cx="161365" cy="12518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092F0E29-16CA-41D4-9209-51BED4704AEC}"/>
                </a:ext>
              </a:extLst>
            </p:cNvPr>
            <p:cNvSpPr/>
            <p:nvPr/>
          </p:nvSpPr>
          <p:spPr>
            <a:xfrm>
              <a:off x="6477641" y="4295375"/>
              <a:ext cx="1283234" cy="79913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159365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Checks(5/7)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Liveness Probe :</a:t>
            </a:r>
          </a:p>
          <a:p>
            <a:pPr lvl="1">
              <a:buFont typeface="Wingdings" panose="05000000000000000000" pitchFamily="2" charset="2"/>
              <a:buChar char="§"/>
            </a:pPr>
            <a:r>
              <a:rPr lang="en-US" altLang="ko-KR" sz="1400" b="1" dirty="0"/>
              <a:t>NOTE : While the default response to a failed liveness check is to restart the Pod</a:t>
            </a:r>
            <a:r>
              <a:rPr lang="en-US" altLang="ko-KR" sz="1400" dirty="0"/>
              <a:t>, </a:t>
            </a:r>
            <a:r>
              <a:rPr lang="en-US" altLang="ko-KR" sz="1400" b="1" dirty="0"/>
              <a:t>the actual behavior is governed by the Pod’s “</a:t>
            </a:r>
            <a:r>
              <a:rPr lang="en-US" altLang="ko-KR" sz="1400" b="1" dirty="0" err="1">
                <a:solidFill>
                  <a:srgbClr val="FF0000"/>
                </a:solidFill>
              </a:rPr>
              <a:t>restartPolicy</a:t>
            </a:r>
            <a:r>
              <a:rPr lang="en-US" altLang="ko-KR" sz="1400" dirty="0"/>
              <a:t>”. </a:t>
            </a:r>
            <a:r>
              <a:rPr lang="en-US" altLang="ko-KR" sz="1400" b="1" dirty="0"/>
              <a:t>There are three options for the restart policy</a:t>
            </a:r>
            <a:r>
              <a:rPr lang="en-US" altLang="ko-KR" sz="1400" dirty="0"/>
              <a:t>: </a:t>
            </a:r>
            <a:r>
              <a:rPr lang="en-US" altLang="ko-KR" sz="1400" b="1" dirty="0">
                <a:solidFill>
                  <a:srgbClr val="FF0000"/>
                </a:solidFill>
              </a:rPr>
              <a:t>Always</a:t>
            </a:r>
            <a:r>
              <a:rPr lang="en-US" altLang="ko-KR" sz="1400" b="1" dirty="0"/>
              <a:t> (the default), </a:t>
            </a:r>
            <a:r>
              <a:rPr lang="en-US" altLang="ko-KR" sz="1400" b="1" dirty="0" err="1">
                <a:solidFill>
                  <a:srgbClr val="FF0000"/>
                </a:solidFill>
              </a:rPr>
              <a:t>OnFailure</a:t>
            </a:r>
            <a:r>
              <a:rPr lang="en-US" altLang="ko-KR" sz="1400" b="1" dirty="0"/>
              <a:t> (restart only on liveness failure or nonzero process exit code), or </a:t>
            </a:r>
            <a:r>
              <a:rPr lang="en-US" altLang="ko-KR" sz="1400" b="1" dirty="0">
                <a:solidFill>
                  <a:srgbClr val="FF0000"/>
                </a:solidFill>
              </a:rPr>
              <a:t>Never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A6598F5-2C2A-4C54-A1E7-2DD5EB8A72C9}"/>
              </a:ext>
            </a:extLst>
          </p:cNvPr>
          <p:cNvPicPr>
            <a:picLocks noChangeAspect="1"/>
          </p:cNvPicPr>
          <p:nvPr/>
        </p:nvPicPr>
        <p:blipFill>
          <a:blip r:embed="rId2"/>
          <a:stretch>
            <a:fillRect/>
          </a:stretch>
        </p:blipFill>
        <p:spPr>
          <a:xfrm>
            <a:off x="3414700" y="2159719"/>
            <a:ext cx="5362600" cy="3730092"/>
          </a:xfrm>
          <a:prstGeom prst="rect">
            <a:avLst/>
          </a:prstGeom>
        </p:spPr>
      </p:pic>
    </p:spTree>
    <p:extLst>
      <p:ext uri="{BB962C8B-B14F-4D97-AF65-F5344CB8AC3E}">
        <p14:creationId xmlns:p14="http://schemas.microsoft.com/office/powerpoint/2010/main" val="78764918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Checks(6/7)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Readiness Probe :</a:t>
            </a:r>
          </a:p>
          <a:p>
            <a:pPr lvl="1">
              <a:buFont typeface="Wingdings" panose="05000000000000000000" pitchFamily="2" charset="2"/>
              <a:buChar char="§"/>
            </a:pPr>
            <a:r>
              <a:rPr lang="en-US" altLang="ko-KR" sz="1400" b="1" dirty="0"/>
              <a:t>Of course, liveness isn’t the only kind of health check </a:t>
            </a:r>
            <a:r>
              <a:rPr lang="en-US" altLang="ko-KR" sz="1400" dirty="0"/>
              <a:t>we want to perform. </a:t>
            </a:r>
            <a:r>
              <a:rPr lang="en-US" altLang="ko-KR" sz="1400" b="1" dirty="0"/>
              <a:t>Kubernetes makes a distinction between </a:t>
            </a:r>
            <a:r>
              <a:rPr lang="en-US" altLang="ko-KR" sz="1400" b="1" dirty="0">
                <a:solidFill>
                  <a:srgbClr val="FF0000"/>
                </a:solidFill>
              </a:rPr>
              <a:t>liveness</a:t>
            </a:r>
            <a:r>
              <a:rPr lang="en-US" altLang="ko-KR" sz="1400" b="1" dirty="0"/>
              <a:t> and </a:t>
            </a:r>
            <a:r>
              <a:rPr lang="en-US" altLang="ko-KR" sz="1400" b="1" dirty="0">
                <a:solidFill>
                  <a:srgbClr val="FF0000"/>
                </a:solidFill>
              </a:rPr>
              <a:t>readiness</a:t>
            </a:r>
            <a:r>
              <a:rPr lang="en-US" altLang="ko-KR" sz="1400" dirty="0"/>
              <a:t>. </a:t>
            </a:r>
            <a:r>
              <a:rPr lang="en-US" altLang="ko-KR" sz="1400" b="1" dirty="0"/>
              <a:t>Liveness determines if an application is </a:t>
            </a:r>
            <a:r>
              <a:rPr lang="en-US" altLang="ko-KR" sz="1400" b="1" dirty="0">
                <a:solidFill>
                  <a:srgbClr val="FF0000"/>
                </a:solidFill>
              </a:rPr>
              <a:t>running properly</a:t>
            </a:r>
            <a:r>
              <a:rPr lang="en-US" altLang="ko-KR" sz="1400" dirty="0"/>
              <a:t>. Containers that fail liveness checks are restarted. </a:t>
            </a:r>
            <a:r>
              <a:rPr lang="en-US" altLang="ko-KR" sz="1400" b="1" dirty="0"/>
              <a:t>Readiness describes when a container is </a:t>
            </a:r>
            <a:r>
              <a:rPr lang="en-US" altLang="ko-KR" sz="1400" b="1" dirty="0">
                <a:solidFill>
                  <a:srgbClr val="FF0000"/>
                </a:solidFill>
              </a:rPr>
              <a:t>ready to serve </a:t>
            </a:r>
            <a:r>
              <a:rPr lang="en-US" altLang="ko-KR" sz="1400" b="1" dirty="0"/>
              <a:t>user requests</a:t>
            </a:r>
            <a:r>
              <a:rPr lang="en-US" altLang="ko-KR" sz="1400" dirty="0"/>
              <a:t>. </a:t>
            </a:r>
          </a:p>
          <a:p>
            <a:pPr lvl="1">
              <a:buFont typeface="Wingdings" panose="05000000000000000000" pitchFamily="2" charset="2"/>
              <a:buChar char="§"/>
            </a:pPr>
            <a:r>
              <a:rPr lang="en-US" altLang="ko-KR" sz="1400" b="1" dirty="0"/>
              <a:t>Containers that fail readiness checks are </a:t>
            </a:r>
            <a:r>
              <a:rPr lang="en-US" altLang="ko-KR" sz="1400" b="1" dirty="0">
                <a:solidFill>
                  <a:srgbClr val="FF0000"/>
                </a:solidFill>
              </a:rPr>
              <a:t>removed from service load balancers</a:t>
            </a:r>
            <a:r>
              <a:rPr lang="en-US" altLang="ko-KR" sz="1400" dirty="0"/>
              <a:t>. Readiness probes are configured similarly to liveness probes. </a:t>
            </a:r>
            <a:r>
              <a:rPr lang="en-US" altLang="ko-KR" sz="1400" b="1" dirty="0"/>
              <a:t>Combining the readiness and liveness probes helps ensure only healthy containers are running within the cluster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2A5CF856-E28B-C517-65B5-C357120CBA73}"/>
              </a:ext>
            </a:extLst>
          </p:cNvPr>
          <p:cNvGrpSpPr/>
          <p:nvPr/>
        </p:nvGrpSpPr>
        <p:grpSpPr>
          <a:xfrm>
            <a:off x="2881512" y="2702173"/>
            <a:ext cx="6428975" cy="3341732"/>
            <a:chOff x="2881512" y="2702173"/>
            <a:chExt cx="6428975" cy="3341732"/>
          </a:xfrm>
        </p:grpSpPr>
        <p:pic>
          <p:nvPicPr>
            <p:cNvPr id="4" name="그림 3">
              <a:extLst>
                <a:ext uri="{FF2B5EF4-FFF2-40B4-BE49-F238E27FC236}">
                  <a16:creationId xmlns:a16="http://schemas.microsoft.com/office/drawing/2014/main" id="{C03C4B2E-CA63-4C81-BA16-D27406A06BD5}"/>
                </a:ext>
              </a:extLst>
            </p:cNvPr>
            <p:cNvPicPr>
              <a:picLocks noChangeAspect="1"/>
            </p:cNvPicPr>
            <p:nvPr/>
          </p:nvPicPr>
          <p:blipFill>
            <a:blip r:embed="rId2"/>
            <a:stretch>
              <a:fillRect/>
            </a:stretch>
          </p:blipFill>
          <p:spPr>
            <a:xfrm>
              <a:off x="2881512" y="2702173"/>
              <a:ext cx="6428975" cy="3341732"/>
            </a:xfrm>
            <a:prstGeom prst="rect">
              <a:avLst/>
            </a:prstGeom>
          </p:spPr>
        </p:pic>
        <p:sp>
          <p:nvSpPr>
            <p:cNvPr id="8" name="십자형 7">
              <a:extLst>
                <a:ext uri="{FF2B5EF4-FFF2-40B4-BE49-F238E27FC236}">
                  <a16:creationId xmlns:a16="http://schemas.microsoft.com/office/drawing/2014/main" id="{6FCFAC41-6F2F-EA60-6172-8D41E6B93C41}"/>
                </a:ext>
              </a:extLst>
            </p:cNvPr>
            <p:cNvSpPr/>
            <p:nvPr/>
          </p:nvSpPr>
          <p:spPr>
            <a:xfrm rot="18777247">
              <a:off x="4427510" y="3634054"/>
              <a:ext cx="494465" cy="513407"/>
            </a:xfrm>
            <a:prstGeom prst="plus">
              <a:avLst>
                <a:gd name="adj" fmla="val 40111"/>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302521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Health Checks(7/7)</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Types of Health Checks :</a:t>
            </a:r>
          </a:p>
          <a:p>
            <a:pPr lvl="1">
              <a:buFont typeface="Wingdings" panose="05000000000000000000" pitchFamily="2" charset="2"/>
              <a:buChar char="§"/>
            </a:pPr>
            <a:r>
              <a:rPr lang="en-US" altLang="ko-KR" sz="1400" b="1" dirty="0"/>
              <a:t>In addition to HTTP checks, Kubernetes also supports “</a:t>
            </a:r>
            <a:r>
              <a:rPr lang="en-US" altLang="ko-KR" sz="1400" b="1" dirty="0" err="1">
                <a:solidFill>
                  <a:srgbClr val="FF0000"/>
                </a:solidFill>
              </a:rPr>
              <a:t>tcpSocket</a:t>
            </a:r>
            <a:r>
              <a:rPr lang="en-US" altLang="ko-KR" sz="1400" b="1" dirty="0"/>
              <a:t>” health checks that open a TCP socket; if the connection is successful, the probe succeeds</a:t>
            </a:r>
            <a:r>
              <a:rPr lang="en-US" altLang="ko-KR" sz="1400" dirty="0"/>
              <a:t>. This style of probe is </a:t>
            </a:r>
            <a:r>
              <a:rPr lang="en-US" altLang="ko-KR" sz="1400" b="1" dirty="0"/>
              <a:t>useful for “non-HTTP applications”</a:t>
            </a:r>
            <a:r>
              <a:rPr lang="en-US" altLang="ko-KR" sz="1400" dirty="0"/>
              <a:t>; for example, </a:t>
            </a:r>
            <a:r>
              <a:rPr lang="en-US" altLang="ko-KR" sz="1400" b="1" dirty="0"/>
              <a:t>databases</a:t>
            </a:r>
            <a:r>
              <a:rPr lang="en-US" altLang="ko-KR" sz="1400" dirty="0"/>
              <a:t> or </a:t>
            </a:r>
            <a:r>
              <a:rPr lang="en-US" altLang="ko-KR" sz="1400" b="1" dirty="0"/>
              <a:t>other non–HTTP-based APIs</a:t>
            </a:r>
            <a:r>
              <a:rPr lang="en-US" altLang="ko-KR" sz="1400" dirty="0"/>
              <a:t>.</a:t>
            </a:r>
          </a:p>
          <a:p>
            <a:pPr lvl="1">
              <a:buFont typeface="Wingdings" panose="05000000000000000000" pitchFamily="2" charset="2"/>
              <a:buChar char="§"/>
            </a:pPr>
            <a:r>
              <a:rPr lang="en-US" altLang="ko-KR" sz="1400" b="1" dirty="0"/>
              <a:t>Finally, Kubernetes allows “</a:t>
            </a:r>
            <a:r>
              <a:rPr lang="en-US" altLang="ko-KR" sz="1400" b="1" dirty="0">
                <a:solidFill>
                  <a:srgbClr val="FF0000"/>
                </a:solidFill>
              </a:rPr>
              <a:t>exec</a:t>
            </a:r>
            <a:r>
              <a:rPr lang="en-US" altLang="ko-KR" sz="1400" b="1" dirty="0"/>
              <a:t>” probes</a:t>
            </a:r>
            <a:r>
              <a:rPr lang="en-US" altLang="ko-KR" sz="1400" dirty="0"/>
              <a:t>. </a:t>
            </a:r>
            <a:r>
              <a:rPr lang="en-US" altLang="ko-KR" sz="1400" b="1" dirty="0"/>
              <a:t>These execute a script or program in the context of the container</a:t>
            </a:r>
            <a:r>
              <a:rPr lang="en-US" altLang="ko-KR" sz="1400" dirty="0"/>
              <a:t>. </a:t>
            </a:r>
            <a:r>
              <a:rPr lang="en-US" altLang="ko-KR" sz="1400" b="1" dirty="0"/>
              <a:t>Following typical convention, if this script returns “</a:t>
            </a:r>
            <a:r>
              <a:rPr lang="en-US" altLang="ko-KR" sz="1400" b="1" dirty="0">
                <a:solidFill>
                  <a:srgbClr val="FF0000"/>
                </a:solidFill>
              </a:rPr>
              <a:t>a zero exit code</a:t>
            </a:r>
            <a:r>
              <a:rPr lang="en-US" altLang="ko-KR" sz="1400" b="1" dirty="0"/>
              <a:t>”, the probe succeeds</a:t>
            </a:r>
            <a:r>
              <a:rPr lang="en-US" altLang="ko-KR" sz="1400" dirty="0"/>
              <a:t>; otherwise, it fails. </a:t>
            </a:r>
            <a:r>
              <a:rPr lang="en-US" altLang="ko-KR" sz="1400" b="1" dirty="0"/>
              <a:t>exec</a:t>
            </a:r>
            <a:r>
              <a:rPr lang="en-US" altLang="ko-KR" sz="1400" dirty="0"/>
              <a:t> scripts are often </a:t>
            </a:r>
            <a:r>
              <a:rPr lang="en-US" altLang="ko-KR" sz="1400" b="1" dirty="0"/>
              <a:t>useful for custom application validation logic </a:t>
            </a:r>
            <a:r>
              <a:rPr lang="en-US" altLang="ko-KR" sz="1400" dirty="0"/>
              <a:t>that doesn’t fit neatly into an HTTP call.</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7A7E5B06-7F30-4226-BA26-E51DADE04424}"/>
              </a:ext>
            </a:extLst>
          </p:cNvPr>
          <p:cNvPicPr>
            <a:picLocks noChangeAspect="1"/>
          </p:cNvPicPr>
          <p:nvPr/>
        </p:nvPicPr>
        <p:blipFill>
          <a:blip r:embed="rId2"/>
          <a:stretch>
            <a:fillRect/>
          </a:stretch>
        </p:blipFill>
        <p:spPr>
          <a:xfrm>
            <a:off x="1483018" y="2739644"/>
            <a:ext cx="9225963" cy="3304261"/>
          </a:xfrm>
          <a:prstGeom prst="rect">
            <a:avLst/>
          </a:prstGeom>
        </p:spPr>
      </p:pic>
    </p:spTree>
    <p:extLst>
      <p:ext uri="{BB962C8B-B14F-4D97-AF65-F5344CB8AC3E}">
        <p14:creationId xmlns:p14="http://schemas.microsoft.com/office/powerpoint/2010/main" val="34514054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Increasing the Utilization :</a:t>
            </a:r>
          </a:p>
          <a:p>
            <a:pPr lvl="1">
              <a:buFont typeface="Wingdings" panose="05000000000000000000" pitchFamily="2" charset="2"/>
              <a:buChar char="§"/>
            </a:pPr>
            <a:r>
              <a:rPr lang="en-US" altLang="ko-KR" sz="1400" b="1" dirty="0"/>
              <a:t>Most people move into containers and orchestrators like Kubernetes because of the radical improvements in </a:t>
            </a:r>
            <a:r>
              <a:rPr lang="en-US" altLang="ko-KR" sz="1400" b="1" dirty="0">
                <a:solidFill>
                  <a:srgbClr val="FF0000"/>
                </a:solidFill>
              </a:rPr>
              <a:t>image packaging </a:t>
            </a:r>
            <a:r>
              <a:rPr lang="en-US" altLang="ko-KR" sz="1400" b="1" dirty="0"/>
              <a:t>and </a:t>
            </a:r>
            <a:r>
              <a:rPr lang="en-US" altLang="ko-KR" sz="1400" b="1" dirty="0">
                <a:solidFill>
                  <a:srgbClr val="FF0000"/>
                </a:solidFill>
              </a:rPr>
              <a:t>reliable deployment </a:t>
            </a:r>
            <a:r>
              <a:rPr lang="en-US" altLang="ko-KR" sz="1400" b="1" dirty="0"/>
              <a:t>they provide</a:t>
            </a:r>
            <a:r>
              <a:rPr lang="en-US" altLang="ko-KR" sz="1400" dirty="0"/>
              <a:t>. In addition to application-oriented primitives that simplify distributed system development, equally important is </a:t>
            </a:r>
            <a:r>
              <a:rPr lang="en-US" altLang="ko-KR" sz="1400" b="1" dirty="0"/>
              <a:t>the ability to </a:t>
            </a:r>
            <a:r>
              <a:rPr lang="en-US" altLang="ko-KR" sz="1400" b="1" dirty="0">
                <a:solidFill>
                  <a:srgbClr val="FF0000"/>
                </a:solidFill>
              </a:rPr>
              <a:t>increase the overall utilization </a:t>
            </a:r>
            <a:r>
              <a:rPr lang="en-US" altLang="ko-KR" sz="1400" b="1" dirty="0"/>
              <a:t>of the compute nodes that make up the cluster</a:t>
            </a:r>
            <a:r>
              <a:rPr lang="en-US" altLang="ko-KR" sz="1400" dirty="0"/>
              <a:t>. </a:t>
            </a:r>
          </a:p>
          <a:p>
            <a:pPr lvl="1">
              <a:buFont typeface="Wingdings" panose="05000000000000000000" pitchFamily="2" charset="2"/>
              <a:buChar char="§"/>
            </a:pPr>
            <a:r>
              <a:rPr lang="en-US" altLang="ko-KR" sz="1400" b="1" dirty="0"/>
              <a:t>The basic cost of operating a machine, either virtual or physical, is basically constant regardless of whether it is idle or fully loaded</a:t>
            </a:r>
            <a:r>
              <a:rPr lang="en-US" altLang="ko-KR" sz="1400" dirty="0"/>
              <a:t>. Consequently, </a:t>
            </a:r>
            <a:r>
              <a:rPr lang="en-US" altLang="ko-KR" sz="1400" b="1" dirty="0"/>
              <a:t>ensuring that these machines are maximally active increases the efficiency of every dollar spent on infrastructure</a:t>
            </a:r>
            <a:r>
              <a:rPr lang="en-US" altLang="ko-KR" sz="1400" dirty="0"/>
              <a:t>.</a:t>
            </a:r>
          </a:p>
          <a:p>
            <a:pPr lvl="1">
              <a:buFont typeface="Wingdings" panose="05000000000000000000" pitchFamily="2" charset="2"/>
              <a:buChar char="§"/>
            </a:pPr>
            <a:r>
              <a:rPr lang="en-US" altLang="ko-KR" sz="1400" dirty="0"/>
              <a:t>Generally speaking, we measure this efficiency with </a:t>
            </a:r>
            <a:r>
              <a:rPr lang="en-US" altLang="ko-KR" sz="1400" b="1" dirty="0"/>
              <a:t>the utilization metric</a:t>
            </a:r>
            <a:r>
              <a:rPr lang="en-US" altLang="ko-KR" sz="1400" dirty="0"/>
              <a:t>. </a:t>
            </a:r>
            <a:r>
              <a:rPr lang="en-US" altLang="ko-KR" sz="1400" b="1" dirty="0">
                <a:solidFill>
                  <a:srgbClr val="FF0000"/>
                </a:solidFill>
              </a:rPr>
              <a:t>Utilization</a:t>
            </a:r>
            <a:r>
              <a:rPr lang="en-US" altLang="ko-KR" sz="1400" b="1" dirty="0"/>
              <a:t> is defined as </a:t>
            </a:r>
            <a:r>
              <a:rPr lang="en-US" altLang="ko-KR" sz="1400" b="1" dirty="0">
                <a:solidFill>
                  <a:srgbClr val="FF0000"/>
                </a:solidFill>
              </a:rPr>
              <a:t>the amount of a resource actively being used divided by the amount of a resource that has been purchased</a:t>
            </a:r>
            <a:r>
              <a:rPr lang="en-US" altLang="ko-KR" sz="1400" dirty="0"/>
              <a:t>. For example, if you purchase a one-core machine, and your application uses one-tenth of a core, then your utilization is 10%. With “</a:t>
            </a:r>
            <a:r>
              <a:rPr lang="en-US" altLang="ko-KR" sz="1400" b="1" dirty="0"/>
              <a:t>scheduling systems” </a:t>
            </a:r>
            <a:r>
              <a:rPr lang="en-US" altLang="ko-KR" sz="1400" dirty="0"/>
              <a:t>like Kubernetes managing resource packing, you can drive your utilization to greater than 50%. </a:t>
            </a:r>
          </a:p>
          <a:p>
            <a:pPr lvl="1">
              <a:buFont typeface="Wingdings" panose="05000000000000000000" pitchFamily="2" charset="2"/>
              <a:buChar char="§"/>
            </a:pPr>
            <a:r>
              <a:rPr lang="en-US" altLang="ko-KR" sz="1400" b="1" dirty="0"/>
              <a:t>To achieve this, you have to </a:t>
            </a:r>
            <a:r>
              <a:rPr lang="en-US" altLang="ko-KR" sz="1400" b="1" dirty="0">
                <a:solidFill>
                  <a:srgbClr val="FF0000"/>
                </a:solidFill>
              </a:rPr>
              <a:t>tell Kubernetes about the resources your application requires</a:t>
            </a:r>
            <a:r>
              <a:rPr lang="en-US" altLang="ko-KR" sz="1400" b="1" dirty="0"/>
              <a:t>, so that Kubernetes can find the optimal packing of containers onto purchased machines</a:t>
            </a:r>
            <a:r>
              <a:rPr lang="en-US" altLang="ko-KR" sz="1400" dirty="0"/>
              <a:t>.</a:t>
            </a:r>
          </a:p>
          <a:p>
            <a:pPr lvl="1">
              <a:buFont typeface="Wingdings" panose="05000000000000000000" pitchFamily="2" charset="2"/>
              <a:buChar char="§"/>
            </a:pPr>
            <a:r>
              <a:rPr lang="en-US" altLang="ko-KR" sz="1400" b="1" dirty="0"/>
              <a:t>Kubernetes allows users to specify two different resource metrics</a:t>
            </a:r>
            <a:r>
              <a:rPr lang="en-US" altLang="ko-KR" sz="1400" dirty="0"/>
              <a:t>. </a:t>
            </a:r>
            <a:r>
              <a:rPr lang="en-US" altLang="ko-KR" sz="1400" b="1" dirty="0">
                <a:solidFill>
                  <a:srgbClr val="FF0000"/>
                </a:solidFill>
              </a:rPr>
              <a:t>Resource requests </a:t>
            </a:r>
            <a:r>
              <a:rPr lang="en-US" altLang="ko-KR" sz="1400" b="1" dirty="0"/>
              <a:t>specify the </a:t>
            </a:r>
            <a:r>
              <a:rPr lang="en-US" altLang="ko-KR" sz="1400" b="1" dirty="0">
                <a:solidFill>
                  <a:srgbClr val="FF0000"/>
                </a:solidFill>
              </a:rPr>
              <a:t>minimum amount of a resource required to run the application</a:t>
            </a:r>
            <a:r>
              <a:rPr lang="en-US" altLang="ko-KR" sz="1400" dirty="0"/>
              <a:t>. </a:t>
            </a:r>
            <a:r>
              <a:rPr lang="en-US" altLang="ko-KR" sz="1400" b="1" dirty="0">
                <a:solidFill>
                  <a:srgbClr val="FF0000"/>
                </a:solidFill>
              </a:rPr>
              <a:t>Resource limits </a:t>
            </a:r>
            <a:r>
              <a:rPr lang="en-US" altLang="ko-KR" sz="1400" b="1" dirty="0"/>
              <a:t>specify </a:t>
            </a:r>
            <a:r>
              <a:rPr lang="en-US" altLang="ko-KR" sz="1400" b="1" dirty="0">
                <a:solidFill>
                  <a:srgbClr val="FF0000"/>
                </a:solidFill>
              </a:rPr>
              <a:t>the maximum amount of a resource that an application can consume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49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9CE5402-B27E-40A9-8352-4D69052C5EDF}"/>
              </a:ext>
            </a:extLst>
          </p:cNvPr>
          <p:cNvPicPr>
            <a:picLocks noChangeAspect="1"/>
          </p:cNvPicPr>
          <p:nvPr/>
        </p:nvPicPr>
        <p:blipFill>
          <a:blip r:embed="rId2"/>
          <a:stretch>
            <a:fillRect/>
          </a:stretch>
        </p:blipFill>
        <p:spPr>
          <a:xfrm>
            <a:off x="5721626" y="4526544"/>
            <a:ext cx="5632174" cy="1882486"/>
          </a:xfrm>
          <a:prstGeom prst="rect">
            <a:avLst/>
          </a:prstGeom>
        </p:spPr>
      </p:pic>
    </p:spTree>
    <p:extLst>
      <p:ext uri="{BB962C8B-B14F-4D97-AF65-F5344CB8AC3E}">
        <p14:creationId xmlns:p14="http://schemas.microsoft.com/office/powerpoint/2010/main" val="2565938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Resource Requests : Minimum Required Resources</a:t>
            </a:r>
          </a:p>
          <a:p>
            <a:pPr lvl="1">
              <a:buFont typeface="Wingdings" panose="05000000000000000000" pitchFamily="2" charset="2"/>
              <a:buChar char="§"/>
            </a:pPr>
            <a:r>
              <a:rPr lang="en-US" altLang="ko-KR" sz="1400" b="1" dirty="0"/>
              <a:t>With Kubernetes, a Pod </a:t>
            </a:r>
            <a:r>
              <a:rPr lang="en-US" altLang="ko-KR" sz="1400" b="1" dirty="0">
                <a:solidFill>
                  <a:srgbClr val="FF0000"/>
                </a:solidFill>
              </a:rPr>
              <a:t>requests</a:t>
            </a:r>
            <a:r>
              <a:rPr lang="en-US" altLang="ko-KR" sz="1400" b="1" dirty="0"/>
              <a:t> the resources required to run its containers</a:t>
            </a:r>
            <a:r>
              <a:rPr lang="en-US" altLang="ko-KR" sz="1400" dirty="0"/>
              <a:t>. </a:t>
            </a:r>
            <a:r>
              <a:rPr lang="en-US" altLang="ko-KR" sz="1400" b="1" dirty="0"/>
              <a:t>Kubernetes </a:t>
            </a:r>
            <a:r>
              <a:rPr lang="en-US" altLang="ko-KR" sz="1400" b="1" dirty="0">
                <a:solidFill>
                  <a:srgbClr val="FF0000"/>
                </a:solidFill>
              </a:rPr>
              <a:t>guarantees</a:t>
            </a:r>
            <a:r>
              <a:rPr lang="en-US" altLang="ko-KR" sz="1400" b="1" dirty="0"/>
              <a:t> that these resources are available to the Pod</a:t>
            </a:r>
            <a:r>
              <a:rPr lang="en-US" altLang="ko-KR" sz="1400" dirty="0"/>
              <a:t>. The most commonly requested resources are </a:t>
            </a:r>
            <a:r>
              <a:rPr lang="en-US" altLang="ko-KR" sz="1400" b="1" dirty="0"/>
              <a:t>CPU</a:t>
            </a:r>
            <a:r>
              <a:rPr lang="en-US" altLang="ko-KR" sz="1400" dirty="0"/>
              <a:t> and </a:t>
            </a:r>
            <a:r>
              <a:rPr lang="en-US" altLang="ko-KR" sz="1400" b="1" dirty="0"/>
              <a:t>memory</a:t>
            </a:r>
            <a:r>
              <a:rPr lang="en-US" altLang="ko-KR" sz="1400" dirty="0"/>
              <a:t>, but Kubernetes has support for other resource types as well, such as </a:t>
            </a:r>
            <a:r>
              <a:rPr lang="en-US" altLang="ko-KR" sz="1400" b="1" dirty="0"/>
              <a:t>GPUs</a:t>
            </a:r>
            <a:r>
              <a:rPr lang="en-US" altLang="ko-KR" sz="1400" dirty="0"/>
              <a:t> and more.</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t>
            </a:r>
            <a:r>
              <a:rPr lang="en-US" altLang="ko-KR" sz="1400" b="1" dirty="0">
                <a:solidFill>
                  <a:srgbClr val="FF0000"/>
                </a:solidFill>
              </a:rPr>
              <a:t>Resources are requested per container, not per Pod</a:t>
            </a:r>
            <a:r>
              <a:rPr lang="en-US" altLang="ko-KR" sz="1400" dirty="0"/>
              <a:t>. </a:t>
            </a:r>
            <a:r>
              <a:rPr lang="en-US" altLang="ko-KR" sz="1400" b="1" dirty="0"/>
              <a:t>The total resources requested by the Pod is the sum of all resources requested by all containers in the Pod</a:t>
            </a:r>
            <a:r>
              <a:rPr lang="en-US" altLang="ko-KR" sz="1400" dirty="0"/>
              <a:t>. The reason for this is that </a:t>
            </a:r>
            <a:r>
              <a:rPr lang="en-US" altLang="ko-KR" sz="1400" b="1" dirty="0"/>
              <a:t>in many cases the different containers have very different CPU requirements</a:t>
            </a:r>
            <a:r>
              <a:rPr lang="en-US" altLang="ko-KR" sz="1400" dirty="0"/>
              <a:t>. For example, in the web server and data synchronizer Pod, the web server is user-facing and likely needs a great deal of CPU, while the data synchronizer can make do with very little.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C8B87A42-120F-4EC7-B16D-588545E0A4F8}"/>
              </a:ext>
            </a:extLst>
          </p:cNvPr>
          <p:cNvSpPr/>
          <p:nvPr/>
        </p:nvSpPr>
        <p:spPr>
          <a:xfrm>
            <a:off x="3048000" y="1942246"/>
            <a:ext cx="6096000" cy="2554545"/>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a:t>
            </a:r>
            <a:r>
              <a:rPr lang="en-US" altLang="ko-KR" sz="1000" b="1" dirty="0">
                <a:solidFill>
                  <a:srgbClr val="FF0000"/>
                </a:solidFill>
              </a:rPr>
              <a:t>containers</a:t>
            </a:r>
            <a:r>
              <a:rPr lang="en-US" altLang="ko-KR" sz="1000" b="1" dirty="0"/>
              <a:t>:</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a:solidFill>
                  <a:srgbClr val="FF0000"/>
                </a:solidFill>
              </a:rPr>
              <a:t>resources:</a:t>
            </a:r>
          </a:p>
          <a:p>
            <a:r>
              <a:rPr lang="en-US" altLang="ko-KR" sz="1000" b="1" dirty="0">
                <a:solidFill>
                  <a:srgbClr val="FF0000"/>
                </a:solidFill>
              </a:rPr>
              <a:t>        requests: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"500m"</a:t>
            </a:r>
          </a:p>
          <a:p>
            <a:r>
              <a:rPr lang="en-US" altLang="ko-KR" sz="1000" b="1" dirty="0">
                <a:solidFill>
                  <a:srgbClr val="FF0000"/>
                </a:solidFill>
              </a:rPr>
              <a:t>          memory: "128Mi"</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5326976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To run the Pod manifest, you need to run “</a:t>
            </a:r>
            <a:r>
              <a:rPr lang="en-US" altLang="ko-KR" sz="1400" b="1" dirty="0" err="1"/>
              <a:t>minikube</a:t>
            </a:r>
            <a:r>
              <a:rPr lang="en-US" altLang="ko-KR" sz="1400" b="1" dirty="0"/>
              <a:t> start</a:t>
            </a:r>
            <a:r>
              <a:rPr lang="en-US" altLang="ko-KR" sz="1400" dirty="0"/>
              <a:t>” command first. After that run “</a:t>
            </a:r>
            <a:r>
              <a:rPr lang="en-US" altLang="ko-KR" sz="1400" b="1" dirty="0" err="1"/>
              <a:t>kubectl</a:t>
            </a:r>
            <a:r>
              <a:rPr lang="en-US" altLang="ko-KR" sz="1400" b="1" dirty="0"/>
              <a:t> apply -f</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4" name="그룹 3">
            <a:extLst>
              <a:ext uri="{FF2B5EF4-FFF2-40B4-BE49-F238E27FC236}">
                <a16:creationId xmlns:a16="http://schemas.microsoft.com/office/drawing/2014/main" id="{3B408946-1B94-4206-9943-B49792AC1405}"/>
              </a:ext>
            </a:extLst>
          </p:cNvPr>
          <p:cNvGrpSpPr/>
          <p:nvPr/>
        </p:nvGrpSpPr>
        <p:grpSpPr>
          <a:xfrm>
            <a:off x="2320125" y="2064862"/>
            <a:ext cx="7662075" cy="2168348"/>
            <a:chOff x="2320125" y="2017154"/>
            <a:chExt cx="7662075" cy="2168348"/>
          </a:xfrm>
        </p:grpSpPr>
        <p:pic>
          <p:nvPicPr>
            <p:cNvPr id="8" name="그림 7">
              <a:extLst>
                <a:ext uri="{FF2B5EF4-FFF2-40B4-BE49-F238E27FC236}">
                  <a16:creationId xmlns:a16="http://schemas.microsoft.com/office/drawing/2014/main" id="{003BB5C6-EBD0-475C-850D-FE4DACE7348B}"/>
                </a:ext>
              </a:extLst>
            </p:cNvPr>
            <p:cNvPicPr>
              <a:picLocks noChangeAspect="1"/>
            </p:cNvPicPr>
            <p:nvPr/>
          </p:nvPicPr>
          <p:blipFill>
            <a:blip r:embed="rId2"/>
            <a:stretch>
              <a:fillRect/>
            </a:stretch>
          </p:blipFill>
          <p:spPr>
            <a:xfrm>
              <a:off x="2320125" y="2729708"/>
              <a:ext cx="7662075" cy="1455794"/>
            </a:xfrm>
            <a:prstGeom prst="rect">
              <a:avLst/>
            </a:prstGeom>
            <a:ln>
              <a:solidFill>
                <a:schemeClr val="bg1">
                  <a:lumMod val="50000"/>
                </a:schemeClr>
              </a:solidFill>
            </a:ln>
          </p:spPr>
        </p:pic>
        <p:sp>
          <p:nvSpPr>
            <p:cNvPr id="9" name="TextBox 8">
              <a:extLst>
                <a:ext uri="{FF2B5EF4-FFF2-40B4-BE49-F238E27FC236}">
                  <a16:creationId xmlns:a16="http://schemas.microsoft.com/office/drawing/2014/main" id="{F34B270D-45C2-4FC8-8796-985511306FAA}"/>
                </a:ext>
              </a:extLst>
            </p:cNvPr>
            <p:cNvSpPr txBox="1"/>
            <p:nvPr/>
          </p:nvSpPr>
          <p:spPr>
            <a:xfrm>
              <a:off x="4436730" y="2017154"/>
              <a:ext cx="3318537" cy="400110"/>
            </a:xfrm>
            <a:prstGeom prst="rect">
              <a:avLst/>
            </a:prstGeom>
            <a:noFill/>
            <a:ln>
              <a:solidFill>
                <a:schemeClr val="bg1">
                  <a:lumMod val="50000"/>
                </a:schemeClr>
              </a:solidFill>
            </a:ln>
          </p:spPr>
          <p:txBody>
            <a:bodyPr wrap="none" rtlCol="0">
              <a:spAutoFit/>
            </a:bodyPr>
            <a:lstStyle/>
            <a:p>
              <a:r>
                <a:rPr lang="en-US" altLang="ko-KR" sz="1000" b="1" dirty="0"/>
                <a:t>$ </a:t>
              </a:r>
              <a:r>
                <a:rPr lang="en-US" altLang="ko-KR" sz="1000" b="1" dirty="0" err="1"/>
                <a:t>minikube</a:t>
              </a:r>
              <a:r>
                <a:rPr lang="en-US" altLang="ko-KR" sz="1000" b="1" dirty="0"/>
                <a:t> start</a:t>
              </a:r>
            </a:p>
            <a:p>
              <a:r>
                <a:rPr lang="en-US" altLang="ko-KR" sz="1000" b="1" dirty="0"/>
                <a:t>$ </a:t>
              </a:r>
              <a:r>
                <a:rPr lang="en-US" altLang="ko-KR" sz="1000" b="1" dirty="0" err="1"/>
                <a:t>kubectl</a:t>
              </a:r>
              <a:r>
                <a:rPr lang="en-US" altLang="ko-KR" sz="1000" b="1" dirty="0"/>
                <a:t> apply -f </a:t>
              </a:r>
              <a:r>
                <a:rPr lang="en-US" altLang="ko-KR" sz="1000" b="1" dirty="0" err="1">
                  <a:solidFill>
                    <a:srgbClr val="FF0000"/>
                  </a:solidFill>
                </a:rPr>
                <a:t>kuard</a:t>
              </a:r>
              <a:r>
                <a:rPr lang="en-US" altLang="ko-KR" sz="1000" b="1" dirty="0">
                  <a:solidFill>
                    <a:srgbClr val="FF0000"/>
                  </a:solidFill>
                </a:rPr>
                <a:t>-pod-</a:t>
              </a:r>
              <a:r>
                <a:rPr lang="en-US" altLang="ko-KR" sz="1000" b="1" dirty="0" err="1">
                  <a:solidFill>
                    <a:srgbClr val="FF0000"/>
                  </a:solidFill>
                </a:rPr>
                <a:t>resourcerequest.yaml</a:t>
              </a:r>
              <a:endParaRPr lang="ko-KR" altLang="en-US" sz="1000" b="1" dirty="0">
                <a:solidFill>
                  <a:srgbClr val="FF0000"/>
                </a:solidFill>
              </a:endParaRPr>
            </a:p>
          </p:txBody>
        </p:sp>
        <p:sp>
          <p:nvSpPr>
            <p:cNvPr id="10" name="화살표: 아래쪽 9">
              <a:extLst>
                <a:ext uri="{FF2B5EF4-FFF2-40B4-BE49-F238E27FC236}">
                  <a16:creationId xmlns:a16="http://schemas.microsoft.com/office/drawing/2014/main" id="{9273569C-CD4B-488A-8F6F-49C709776D60}"/>
                </a:ext>
              </a:extLst>
            </p:cNvPr>
            <p:cNvSpPr/>
            <p:nvPr/>
          </p:nvSpPr>
          <p:spPr>
            <a:xfrm>
              <a:off x="5913118" y="2427197"/>
              <a:ext cx="365760" cy="292578"/>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5361913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Request Limit :</a:t>
            </a:r>
          </a:p>
          <a:p>
            <a:pPr lvl="1">
              <a:buFont typeface="Wingdings" panose="05000000000000000000" pitchFamily="2" charset="2"/>
              <a:buChar char="§"/>
            </a:pPr>
            <a:r>
              <a:rPr lang="en-US" altLang="ko-KR" sz="1400" b="1" dirty="0">
                <a:solidFill>
                  <a:srgbClr val="FF0000"/>
                </a:solidFill>
              </a:rPr>
              <a:t>Requests</a:t>
            </a:r>
            <a:r>
              <a:rPr lang="en-US" altLang="ko-KR" sz="1400" b="1" dirty="0"/>
              <a:t> are used when scheduling Pods to nodes</a:t>
            </a:r>
            <a:r>
              <a:rPr lang="en-US" altLang="ko-KR" sz="1400" dirty="0"/>
              <a:t>. </a:t>
            </a:r>
            <a:r>
              <a:rPr lang="en-US" altLang="ko-KR" sz="1400" b="1" dirty="0"/>
              <a:t>The Kubernetes scheduler will ensure that the sum of all requests of all Pods on a node does not exceed the capacity of the node</a:t>
            </a:r>
            <a:r>
              <a:rPr lang="en-US" altLang="ko-KR" sz="1400" dirty="0"/>
              <a:t>. Therefore, a Pod is guaranteed to have at least the requested resources when running on the node. </a:t>
            </a:r>
            <a:r>
              <a:rPr lang="en-US" altLang="ko-KR" sz="1400" b="1" dirty="0">
                <a:solidFill>
                  <a:srgbClr val="FF0000"/>
                </a:solidFill>
              </a:rPr>
              <a:t>Importantly, “request” specifies a minimum</a:t>
            </a:r>
            <a:r>
              <a:rPr lang="en-US" altLang="ko-KR" sz="1400" dirty="0"/>
              <a:t>. </a:t>
            </a:r>
            <a:r>
              <a:rPr lang="en-US" altLang="ko-KR" sz="1400" b="1" dirty="0"/>
              <a:t>It does not specify a maximum cap on the resources a Pod may use</a:t>
            </a:r>
            <a:r>
              <a:rPr lang="en-US" altLang="ko-KR" sz="1400" dirty="0"/>
              <a:t>.</a:t>
            </a:r>
          </a:p>
          <a:p>
            <a:pPr lvl="1">
              <a:buFont typeface="Wingdings" panose="05000000000000000000" pitchFamily="2" charset="2"/>
              <a:buChar char="§"/>
            </a:pPr>
            <a:r>
              <a:rPr lang="en-US" altLang="ko-KR" sz="1400" dirty="0"/>
              <a:t>For example, imagine that we have container whose code attempts to use all available CPU cores. Suppose that we create a Pod with this container that requests 0.5 CPU. Kubernetes schedules this Pod onto a machine with a total of 2 CPU cores. As long as it is the only Pod on the machine, it will consume all 2.0 of the available cores, despite only requesting 0.5 CPU. If a second Pod with the same container and the same request of 0.5 CPU lands on the machine, then each Pod will receive 1.0 cores. If a third identical Pod is scheduled, each Pod will receive 0.66 cores. Finally, if a fourth identical Pod is scheduled, each Pod will receive the 0.5 core it requested, and the node will be at capacity. </a:t>
            </a:r>
            <a:r>
              <a:rPr lang="en-US" altLang="ko-KR" sz="1400" b="1" dirty="0"/>
              <a:t>CPU requests are implemented using the “</a:t>
            </a:r>
            <a:r>
              <a:rPr lang="en-US" altLang="ko-KR" sz="1400" b="1" dirty="0" err="1">
                <a:solidFill>
                  <a:srgbClr val="FF0000"/>
                </a:solidFill>
              </a:rPr>
              <a:t>cpu</a:t>
            </a:r>
            <a:r>
              <a:rPr lang="en-US" altLang="ko-KR" sz="1400" b="1" dirty="0">
                <a:solidFill>
                  <a:srgbClr val="FF0000"/>
                </a:solidFill>
              </a:rPr>
              <a:t>-shares</a:t>
            </a:r>
            <a:r>
              <a:rPr lang="en-US" altLang="ko-KR" sz="1400" b="1" dirty="0"/>
              <a:t>” functionality in the Linux kernel</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E5F966D5-B12D-4862-B4A0-BEBACA09E162}"/>
              </a:ext>
            </a:extLst>
          </p:cNvPr>
          <p:cNvPicPr>
            <a:picLocks noChangeAspect="1"/>
          </p:cNvPicPr>
          <p:nvPr/>
        </p:nvPicPr>
        <p:blipFill>
          <a:blip r:embed="rId2"/>
          <a:stretch>
            <a:fillRect/>
          </a:stretch>
        </p:blipFill>
        <p:spPr>
          <a:xfrm>
            <a:off x="3957637" y="3412363"/>
            <a:ext cx="4276725" cy="2996667"/>
          </a:xfrm>
          <a:prstGeom prst="rect">
            <a:avLst/>
          </a:prstGeom>
        </p:spPr>
      </p:pic>
    </p:spTree>
    <p:extLst>
      <p:ext uri="{BB962C8B-B14F-4D97-AF65-F5344CB8AC3E}">
        <p14:creationId xmlns:p14="http://schemas.microsoft.com/office/powerpoint/2010/main" val="359113905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Request Limit :</a:t>
            </a:r>
          </a:p>
          <a:p>
            <a:pPr lvl="1">
              <a:buFont typeface="Wingdings" panose="05000000000000000000" pitchFamily="2" charset="2"/>
              <a:buChar char="§"/>
            </a:pPr>
            <a:r>
              <a:rPr lang="en-US" altLang="ko-KR" sz="1400" b="1" dirty="0"/>
              <a:t>NOTE : Memory requests are handled similarly to CPU</a:t>
            </a:r>
            <a:r>
              <a:rPr lang="en-US" altLang="ko-KR" sz="1400" dirty="0"/>
              <a:t>, but there is an important difference. </a:t>
            </a:r>
            <a:r>
              <a:rPr lang="en-US" altLang="ko-KR" sz="1400" b="1" dirty="0"/>
              <a:t>If a container is over its memory request, the OS can’t just remove memory from the process</a:t>
            </a:r>
            <a:r>
              <a:rPr lang="en-US" altLang="ko-KR" sz="1400" dirty="0"/>
              <a:t>, </a:t>
            </a:r>
            <a:r>
              <a:rPr lang="en-US" altLang="ko-KR" sz="1400" b="1" dirty="0"/>
              <a:t>because it’s been allocated</a:t>
            </a:r>
            <a:r>
              <a:rPr lang="en-US" altLang="ko-KR" sz="1400" dirty="0"/>
              <a:t>. Consequently, when the system runs out of memory, </a:t>
            </a:r>
            <a:r>
              <a:rPr lang="en-US" altLang="ko-KR" sz="1400" b="1" dirty="0">
                <a:solidFill>
                  <a:srgbClr val="FF0000"/>
                </a:solidFill>
              </a:rPr>
              <a:t>the “</a:t>
            </a:r>
            <a:r>
              <a:rPr lang="en-US" altLang="ko-KR" sz="1400" b="1" dirty="0" err="1">
                <a:solidFill>
                  <a:srgbClr val="FF0000"/>
                </a:solidFill>
              </a:rPr>
              <a:t>kubelet</a:t>
            </a:r>
            <a:r>
              <a:rPr lang="en-US" altLang="ko-KR" sz="1400" b="1" dirty="0">
                <a:solidFill>
                  <a:srgbClr val="FF0000"/>
                </a:solidFill>
              </a:rPr>
              <a:t>” terminates containers whose memory usage is greater than their requested memory</a:t>
            </a:r>
            <a:r>
              <a:rPr lang="en-US" altLang="ko-KR" sz="1400" dirty="0"/>
              <a:t>. </a:t>
            </a:r>
            <a:r>
              <a:rPr lang="en-US" altLang="ko-KR" sz="1400" b="1" dirty="0"/>
              <a:t>These containers are automatically restarted, but with less available memory on the machine for the container to consume</a:t>
            </a:r>
            <a:r>
              <a:rPr lang="en-US" altLang="ko-KR" sz="1400" dirty="0"/>
              <a:t>.</a:t>
            </a:r>
          </a:p>
          <a:p>
            <a:pPr lvl="1">
              <a:buFont typeface="Wingdings" panose="05000000000000000000" pitchFamily="2" charset="2"/>
              <a:buChar char="§"/>
            </a:pPr>
            <a:r>
              <a:rPr lang="en-US" altLang="ko-KR" sz="1400" b="1" dirty="0"/>
              <a:t>Since resource requests guarantee resource availability to a Pod, they are critical to ensuring that containers have sufficient resources in high-load situations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1DA2248-93F3-4B35-8A1F-35C24F09272B}"/>
              </a:ext>
            </a:extLst>
          </p:cNvPr>
          <p:cNvPicPr>
            <a:picLocks noChangeAspect="1"/>
          </p:cNvPicPr>
          <p:nvPr/>
        </p:nvPicPr>
        <p:blipFill>
          <a:blip r:embed="rId2"/>
          <a:stretch>
            <a:fillRect/>
          </a:stretch>
        </p:blipFill>
        <p:spPr>
          <a:xfrm>
            <a:off x="2665441" y="2698565"/>
            <a:ext cx="6861118" cy="3657785"/>
          </a:xfrm>
          <a:prstGeom prst="rect">
            <a:avLst/>
          </a:prstGeom>
        </p:spPr>
      </p:pic>
    </p:spTree>
    <p:extLst>
      <p:ext uri="{BB962C8B-B14F-4D97-AF65-F5344CB8AC3E}">
        <p14:creationId xmlns:p14="http://schemas.microsoft.com/office/powerpoint/2010/main" val="2547255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Resource Management(5/5)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Capping Resource Usage with Limits :</a:t>
            </a:r>
          </a:p>
          <a:p>
            <a:pPr lvl="1">
              <a:buFont typeface="Wingdings" panose="05000000000000000000" pitchFamily="2" charset="2"/>
              <a:buChar char="§"/>
            </a:pPr>
            <a:r>
              <a:rPr lang="en-US" altLang="ko-KR" sz="1400" dirty="0"/>
              <a:t>In addition to setting the resources required by a Pod, which </a:t>
            </a:r>
            <a:r>
              <a:rPr lang="en-US" altLang="ko-KR" sz="1400" b="1" dirty="0"/>
              <a:t>establishes the minimum resources available to the Pod</a:t>
            </a:r>
            <a:r>
              <a:rPr lang="en-US" altLang="ko-KR" sz="1400" dirty="0"/>
              <a:t>,</a:t>
            </a:r>
            <a:r>
              <a:rPr lang="en-US" altLang="ko-KR" sz="1400" b="1" dirty="0"/>
              <a:t> you can also set a maximum on a Pod’s resource usage via </a:t>
            </a:r>
            <a:r>
              <a:rPr lang="en-US" altLang="ko-KR" sz="1400" b="1" dirty="0">
                <a:solidFill>
                  <a:srgbClr val="FF0000"/>
                </a:solidFill>
              </a:rPr>
              <a:t>resource limits</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When you establish limits on a container, the kernel is configured to ensure that consumption cannot exceed these limits.</a:t>
            </a:r>
            <a:r>
              <a:rPr lang="en-US" altLang="ko-KR" sz="1400" dirty="0"/>
              <a:t> A container with a CPU limit of 0.5 cores will only ever get </a:t>
            </a:r>
            <a:r>
              <a:rPr lang="en-US" altLang="ko-KR" sz="1400" b="1" dirty="0"/>
              <a:t>0.5 cores(500m)</a:t>
            </a:r>
            <a:r>
              <a:rPr lang="en-US" altLang="ko-KR" sz="1400" dirty="0"/>
              <a:t>, even if the CPU is otherwise idle. A container with a memory limit of 256 MB will not be allowed additional memory (e.g., “</a:t>
            </a:r>
            <a:r>
              <a:rPr lang="en-US" altLang="ko-KR" sz="1400" b="1" dirty="0"/>
              <a:t>malloc : memory allocation”</a:t>
            </a:r>
            <a:r>
              <a:rPr lang="en-US" altLang="ko-KR" sz="1400" dirty="0"/>
              <a:t> will fail) if its memory usage exceeds 256 MB.</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E40D95D0-12D0-4079-AE05-52D375BBFA2F}"/>
              </a:ext>
            </a:extLst>
          </p:cNvPr>
          <p:cNvSpPr/>
          <p:nvPr/>
        </p:nvSpPr>
        <p:spPr>
          <a:xfrm>
            <a:off x="3048000" y="1689598"/>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containers:</a:t>
            </a:r>
          </a:p>
          <a:p>
            <a:r>
              <a:rPr lang="en-US" altLang="ko-KR" sz="1000" b="1" dirty="0"/>
              <a:t>    - image: </a:t>
            </a:r>
            <a:r>
              <a:rPr lang="en-US" altLang="ko-KR" sz="1000" b="1" dirty="0">
                <a:solidFill>
                  <a:srgbClr val="FF0000"/>
                </a:solidFill>
              </a:rPr>
              <a:t>knix008/kuard-shkwon-amd64:1.0</a:t>
            </a:r>
          </a:p>
          <a:p>
            <a:r>
              <a:rPr lang="en-US" altLang="ko-KR" sz="1000" b="1" dirty="0"/>
              <a:t>      name: </a:t>
            </a:r>
            <a:r>
              <a:rPr lang="en-US" altLang="ko-KR" sz="1000" b="1" dirty="0" err="1"/>
              <a:t>kuard</a:t>
            </a:r>
            <a:endParaRPr lang="en-US" altLang="ko-KR" sz="1000" b="1" dirty="0"/>
          </a:p>
          <a:p>
            <a:r>
              <a:rPr lang="en-US" altLang="ko-KR" sz="1000" b="1" dirty="0"/>
              <a:t>      resources:</a:t>
            </a:r>
          </a:p>
          <a:p>
            <a:r>
              <a:rPr lang="en-US" altLang="ko-KR" sz="1000" b="1" dirty="0"/>
              <a:t>        requests:</a:t>
            </a:r>
          </a:p>
          <a:p>
            <a:r>
              <a:rPr lang="en-US" altLang="ko-KR" sz="1000" b="1" dirty="0"/>
              <a:t>          </a:t>
            </a:r>
            <a:r>
              <a:rPr lang="en-US" altLang="ko-KR" sz="1000" b="1" dirty="0" err="1"/>
              <a:t>cpu</a:t>
            </a:r>
            <a:r>
              <a:rPr lang="en-US" altLang="ko-KR" sz="1000" b="1" dirty="0"/>
              <a:t>: "500m"</a:t>
            </a:r>
          </a:p>
          <a:p>
            <a:r>
              <a:rPr lang="en-US" altLang="ko-KR" sz="1000" b="1" dirty="0"/>
              <a:t>          memory: "128Mi"</a:t>
            </a:r>
          </a:p>
          <a:p>
            <a:r>
              <a:rPr lang="en-US" altLang="ko-KR" sz="1000" b="1" dirty="0">
                <a:solidFill>
                  <a:srgbClr val="FF0000"/>
                </a:solidFill>
              </a:rPr>
              <a:t>        limits:</a:t>
            </a:r>
          </a:p>
          <a:p>
            <a:r>
              <a:rPr lang="en-US" altLang="ko-KR" sz="1000" b="1" dirty="0">
                <a:solidFill>
                  <a:srgbClr val="FF0000"/>
                </a:solidFill>
              </a:rPr>
              <a:t>          </a:t>
            </a:r>
            <a:r>
              <a:rPr lang="en-US" altLang="ko-KR" sz="1000" b="1" dirty="0" err="1">
                <a:solidFill>
                  <a:srgbClr val="FF0000"/>
                </a:solidFill>
              </a:rPr>
              <a:t>cpu</a:t>
            </a:r>
            <a:r>
              <a:rPr lang="en-US" altLang="ko-KR" sz="1000" b="1" dirty="0">
                <a:solidFill>
                  <a:srgbClr val="FF0000"/>
                </a:solidFill>
              </a:rPr>
              <a:t>: "1000m"</a:t>
            </a:r>
          </a:p>
          <a:p>
            <a:r>
              <a:rPr lang="en-US" altLang="ko-KR" sz="1000" b="1" dirty="0">
                <a:solidFill>
                  <a:srgbClr val="FF0000"/>
                </a:solidFill>
              </a:rPr>
              <a:t>          memory: "256Mi"</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165051491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AE9FBA8-4FDD-4A02-BF95-2413456167D1}"/>
              </a:ext>
            </a:extLst>
          </p:cNvPr>
          <p:cNvGrpSpPr/>
          <p:nvPr/>
        </p:nvGrpSpPr>
        <p:grpSpPr>
          <a:xfrm>
            <a:off x="2136476" y="1582310"/>
            <a:ext cx="7919047" cy="4826720"/>
            <a:chOff x="2136476" y="1582310"/>
            <a:chExt cx="7919047" cy="4826720"/>
          </a:xfrm>
        </p:grpSpPr>
        <p:pic>
          <p:nvPicPr>
            <p:cNvPr id="8" name="그림 7">
              <a:extLst>
                <a:ext uri="{FF2B5EF4-FFF2-40B4-BE49-F238E27FC236}">
                  <a16:creationId xmlns:a16="http://schemas.microsoft.com/office/drawing/2014/main" id="{249EDFA3-35F4-42AB-9E37-CA9AC60B9594}"/>
                </a:ext>
              </a:extLst>
            </p:cNvPr>
            <p:cNvPicPr>
              <a:picLocks noChangeAspect="1"/>
            </p:cNvPicPr>
            <p:nvPr/>
          </p:nvPicPr>
          <p:blipFill>
            <a:blip r:embed="rId2"/>
            <a:stretch>
              <a:fillRect/>
            </a:stretch>
          </p:blipFill>
          <p:spPr>
            <a:xfrm>
              <a:off x="2136476" y="1582310"/>
              <a:ext cx="7919047" cy="4826720"/>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ABA16703-7706-493E-8916-C78FE0DD7509}"/>
                </a:ext>
              </a:extLst>
            </p:cNvPr>
            <p:cNvSpPr/>
            <p:nvPr/>
          </p:nvSpPr>
          <p:spPr>
            <a:xfrm>
              <a:off x="2385391" y="5160396"/>
              <a:ext cx="1296063" cy="7235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225707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Volumes(1/5)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Volume :</a:t>
            </a:r>
          </a:p>
          <a:p>
            <a:pPr lvl="1">
              <a:buFont typeface="Wingdings" panose="05000000000000000000" pitchFamily="2" charset="2"/>
              <a:buChar char="§"/>
            </a:pPr>
            <a:r>
              <a:rPr lang="en-US" altLang="ko-KR" sz="1400" b="1" dirty="0"/>
              <a:t>When a Pod is deleted or a container restarts, any and all data in the container’s filesystem is also deleted</a:t>
            </a:r>
            <a:r>
              <a:rPr lang="en-US" altLang="ko-KR" sz="1400" dirty="0"/>
              <a:t>. This is often a good thing, since you don’t want to leave around cruft* that happened to be written by your stateless web application. In other cases, </a:t>
            </a:r>
            <a:r>
              <a:rPr lang="en-US" altLang="ko-KR" sz="1400" b="1" dirty="0"/>
              <a:t>having access to persistent disk storage is an important part of a healthy application</a:t>
            </a:r>
            <a:r>
              <a:rPr lang="en-US" altLang="ko-KR" sz="1400" dirty="0"/>
              <a:t>. </a:t>
            </a:r>
            <a:r>
              <a:rPr lang="en-US" altLang="ko-KR" sz="1400" b="1" dirty="0"/>
              <a:t>Kubernetes models such </a:t>
            </a:r>
            <a:r>
              <a:rPr lang="en-US" altLang="ko-KR" sz="1400" b="1" dirty="0">
                <a:solidFill>
                  <a:srgbClr val="FF0000"/>
                </a:solidFill>
              </a:rPr>
              <a:t>persistent storage(volume)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E4DAF2EA-60C8-4583-B450-B5529FBF50E9}"/>
              </a:ext>
            </a:extLst>
          </p:cNvPr>
          <p:cNvPicPr>
            <a:picLocks noChangeAspect="1"/>
          </p:cNvPicPr>
          <p:nvPr/>
        </p:nvPicPr>
        <p:blipFill>
          <a:blip r:embed="rId2"/>
          <a:stretch>
            <a:fillRect/>
          </a:stretch>
        </p:blipFill>
        <p:spPr>
          <a:xfrm>
            <a:off x="2009029" y="2427176"/>
            <a:ext cx="8173941" cy="3520223"/>
          </a:xfrm>
          <a:prstGeom prst="rect">
            <a:avLst/>
          </a:prstGeom>
        </p:spPr>
      </p:pic>
      <p:sp>
        <p:nvSpPr>
          <p:cNvPr id="8" name="TextBox 7">
            <a:extLst>
              <a:ext uri="{FF2B5EF4-FFF2-40B4-BE49-F238E27FC236}">
                <a16:creationId xmlns:a16="http://schemas.microsoft.com/office/drawing/2014/main" id="{79686E44-D3C5-509D-8835-39811BDF822F}"/>
              </a:ext>
            </a:extLst>
          </p:cNvPr>
          <p:cNvSpPr txBox="1"/>
          <p:nvPr/>
        </p:nvSpPr>
        <p:spPr>
          <a:xfrm>
            <a:off x="8102589" y="6162809"/>
            <a:ext cx="3251211" cy="246221"/>
          </a:xfrm>
          <a:prstGeom prst="rect">
            <a:avLst/>
          </a:prstGeom>
          <a:noFill/>
        </p:spPr>
        <p:txBody>
          <a:bodyPr wrap="none" rtlCol="0">
            <a:spAutoFit/>
          </a:bodyPr>
          <a:lstStyle/>
          <a:p>
            <a:pPr algn="ctr"/>
            <a:r>
              <a:rPr lang="en-US" altLang="ko-KR" sz="1000" b="1" dirty="0"/>
              <a:t>* Cruft : </a:t>
            </a:r>
            <a:r>
              <a:rPr lang="ko-KR" altLang="en-US" sz="1000" b="1" dirty="0"/>
              <a:t>불필요하거나 쓸모 없이 남은 코드나 데이터</a:t>
            </a:r>
          </a:p>
        </p:txBody>
      </p:sp>
    </p:spTree>
    <p:extLst>
      <p:ext uri="{BB962C8B-B14F-4D97-AF65-F5344CB8AC3E}">
        <p14:creationId xmlns:p14="http://schemas.microsoft.com/office/powerpoint/2010/main" val="19994268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Volumes(2/5)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Volumes with Pods : </a:t>
            </a:r>
          </a:p>
          <a:p>
            <a:pPr lvl="1">
              <a:buFont typeface="Wingdings" panose="05000000000000000000" pitchFamily="2" charset="2"/>
              <a:buChar char="§"/>
            </a:pPr>
            <a:r>
              <a:rPr lang="en-US" altLang="ko-KR" sz="1400" b="1" dirty="0"/>
              <a:t>To add a volume to a Pod manifest, there are two new stanzas(room) to add to our configuration. </a:t>
            </a:r>
            <a:r>
              <a:rPr lang="en-US" altLang="ko-KR" sz="1400" dirty="0"/>
              <a:t>The first is </a:t>
            </a:r>
            <a:r>
              <a:rPr lang="en-US" altLang="ko-KR" sz="1400" b="1" dirty="0"/>
              <a:t>a new </a:t>
            </a:r>
            <a:r>
              <a:rPr lang="en-US" altLang="ko-KR" sz="1400" b="1" dirty="0" err="1">
                <a:solidFill>
                  <a:srgbClr val="FF0000"/>
                </a:solidFill>
              </a:rPr>
              <a:t>spec.volumes</a:t>
            </a:r>
            <a:r>
              <a:rPr lang="en-US" altLang="ko-KR" sz="1400" b="1" dirty="0">
                <a:solidFill>
                  <a:srgbClr val="FF0000"/>
                </a:solidFill>
              </a:rPr>
              <a:t> </a:t>
            </a:r>
            <a:r>
              <a:rPr lang="en-US" altLang="ko-KR" sz="1400" b="1" dirty="0"/>
              <a:t>section</a:t>
            </a:r>
            <a:r>
              <a:rPr lang="en-US" altLang="ko-KR" sz="1400" dirty="0"/>
              <a:t>. This array </a:t>
            </a:r>
            <a:r>
              <a:rPr lang="en-US" altLang="ko-KR" sz="1400" b="1" dirty="0"/>
              <a:t>defines all of the volumes that may be accessed by containers in the Pod manifest</a:t>
            </a:r>
            <a:r>
              <a:rPr lang="en-US" altLang="ko-KR" sz="1400" dirty="0"/>
              <a:t>. It’s important to note that </a:t>
            </a:r>
            <a:r>
              <a:rPr lang="en-US" altLang="ko-KR" sz="1400" b="1" dirty="0"/>
              <a:t>not all containers are required to mount all volumes defined in the Pod</a:t>
            </a:r>
            <a:r>
              <a:rPr lang="en-US" altLang="ko-KR" sz="1400" dirty="0"/>
              <a:t>. The second addition is </a:t>
            </a:r>
            <a:r>
              <a:rPr lang="en-US" altLang="ko-KR" sz="1400" b="1" dirty="0"/>
              <a:t>the </a:t>
            </a:r>
            <a:r>
              <a:rPr lang="en-US" altLang="ko-KR" sz="1400" b="1" dirty="0" err="1">
                <a:solidFill>
                  <a:srgbClr val="FF0000"/>
                </a:solidFill>
              </a:rPr>
              <a:t>volumeMounts</a:t>
            </a:r>
            <a:r>
              <a:rPr lang="en-US" altLang="ko-KR" sz="1400" b="1" dirty="0"/>
              <a:t> array in the container definition</a:t>
            </a:r>
            <a:r>
              <a:rPr lang="en-US" altLang="ko-KR" sz="1400" dirty="0"/>
              <a:t>. </a:t>
            </a:r>
            <a:r>
              <a:rPr lang="en-US" altLang="ko-KR" sz="1400" b="1" dirty="0"/>
              <a:t>This array defines the volumes that are mounted into a particular container</a:t>
            </a:r>
            <a:r>
              <a:rPr lang="en-US" altLang="ko-KR" sz="1400" dirty="0"/>
              <a:t>, and </a:t>
            </a:r>
            <a:r>
              <a:rPr lang="en-US" altLang="ko-KR" sz="1400" b="1" dirty="0">
                <a:solidFill>
                  <a:srgbClr val="FF0000"/>
                </a:solidFill>
              </a:rPr>
              <a:t>the path </a:t>
            </a:r>
            <a:r>
              <a:rPr lang="en-US" altLang="ko-KR" sz="1400" b="1" dirty="0"/>
              <a:t>where each volume should be mounted</a:t>
            </a:r>
            <a:r>
              <a:rPr lang="en-US" altLang="ko-KR" sz="1400" dirty="0"/>
              <a:t>. </a:t>
            </a:r>
          </a:p>
          <a:p>
            <a:pPr lvl="1">
              <a:buFont typeface="Wingdings" panose="05000000000000000000" pitchFamily="2" charset="2"/>
              <a:buChar char="§"/>
            </a:pPr>
            <a:r>
              <a:rPr lang="en-US" altLang="ko-KR" sz="1400" b="1" dirty="0"/>
              <a:t>Note that two different containers in a Pod can mount the same volume at different mount paths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4002E86-402C-48DC-B223-62F9C15A4630}"/>
              </a:ext>
            </a:extLst>
          </p:cNvPr>
          <p:cNvSpPr/>
          <p:nvPr/>
        </p:nvSpPr>
        <p:spPr>
          <a:xfrm>
            <a:off x="3048000" y="2619900"/>
            <a:ext cx="6096000" cy="3016210"/>
          </a:xfrm>
          <a:prstGeom prst="rect">
            <a:avLst/>
          </a:prstGeom>
          <a:ln>
            <a:solidFill>
              <a:schemeClr val="bg1">
                <a:lumMod val="50000"/>
              </a:schemeClr>
            </a:solidFill>
          </a:ln>
        </p:spPr>
        <p:txBody>
          <a:bodyPr>
            <a:sp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solidFill>
                  <a:srgbClr val="FF0000"/>
                </a:solidFill>
              </a:rPr>
              <a:t>spec</a:t>
            </a:r>
            <a:r>
              <a:rPr lang="en-US" altLang="ko-KR" sz="1000" b="1" dirty="0"/>
              <a:t>:</a:t>
            </a:r>
          </a:p>
          <a:p>
            <a:r>
              <a:rPr lang="en-US" altLang="ko-KR" sz="1000" b="1" dirty="0"/>
              <a:t>  </a:t>
            </a:r>
            <a:r>
              <a:rPr lang="en-US" altLang="ko-KR" sz="1000" b="1" dirty="0">
                <a:solidFill>
                  <a:srgbClr val="FF0000"/>
                </a:solidFill>
              </a:rPr>
              <a:t>volumes:</a:t>
            </a:r>
          </a:p>
          <a:p>
            <a:r>
              <a:rPr lang="en-US" altLang="ko-KR" sz="1000" b="1" dirty="0">
                <a:solidFill>
                  <a:srgbClr val="FF0000"/>
                </a:solidFill>
              </a:rPr>
              <a:t>    - name: "</a:t>
            </a:r>
            <a:r>
              <a:rPr lang="en-US" altLang="ko-KR" sz="1000" b="1" dirty="0" err="1">
                <a:solidFill>
                  <a:srgbClr val="FF0000"/>
                </a:solidFill>
              </a:rPr>
              <a:t>kuard</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hostPath</a:t>
            </a:r>
            <a:r>
              <a:rPr lang="en-US" altLang="ko-KR" sz="1000" b="1" dirty="0">
                <a:solidFill>
                  <a:srgbClr val="FF0000"/>
                </a:solidFill>
              </a:rPr>
              <a:t>:</a:t>
            </a:r>
          </a:p>
          <a:p>
            <a:r>
              <a:rPr lang="en-US" altLang="ko-KR" sz="1000" b="1" dirty="0">
                <a:solidFill>
                  <a:srgbClr val="FF0000"/>
                </a:solidFill>
              </a:rPr>
              <a:t>        path: "/var/lib/</a:t>
            </a:r>
            <a:r>
              <a:rPr lang="en-US" altLang="ko-KR" sz="1000" b="1" dirty="0" err="1">
                <a:solidFill>
                  <a:srgbClr val="FF0000"/>
                </a:solidFill>
              </a:rPr>
              <a:t>kuard</a:t>
            </a:r>
            <a:r>
              <a:rPr lang="en-US" altLang="ko-KR" sz="1000" b="1" dirty="0">
                <a:solidFill>
                  <a:srgbClr val="FF0000"/>
                </a:solidFill>
              </a:rPr>
              <a:t>"</a:t>
            </a:r>
          </a:p>
          <a:p>
            <a:r>
              <a:rPr lang="en-US" altLang="ko-KR" sz="1000" b="1" dirty="0"/>
              <a:t>  containers:</a:t>
            </a:r>
          </a:p>
          <a:p>
            <a:r>
              <a:rPr lang="en-US" altLang="ko-KR" sz="1000" b="1" dirty="0"/>
              <a:t>    - image: knix008/kuard-shkwon-amd64:1.0</a:t>
            </a:r>
          </a:p>
          <a:p>
            <a:r>
              <a:rPr lang="en-US" altLang="ko-KR" sz="1000" b="1" dirty="0"/>
              <a:t>      name: </a:t>
            </a:r>
            <a:r>
              <a:rPr lang="en-US" altLang="ko-KR" sz="1000" b="1" dirty="0" err="1"/>
              <a:t>kuard</a:t>
            </a:r>
            <a:endParaRPr lang="en-US" altLang="ko-KR" sz="1000" b="1" dirty="0"/>
          </a:p>
          <a:p>
            <a:r>
              <a:rPr lang="en-US" altLang="ko-KR" sz="1000" b="1" dirty="0"/>
              <a:t>      </a:t>
            </a:r>
            <a:r>
              <a:rPr lang="en-US" altLang="ko-KR" sz="1000" b="1" dirty="0" err="1">
                <a:solidFill>
                  <a:srgbClr val="FF0000"/>
                </a:solidFill>
              </a:rPr>
              <a:t>volumeMounts</a:t>
            </a:r>
            <a:r>
              <a:rPr lang="en-US" altLang="ko-KR" sz="1000" b="1" dirty="0">
                <a:solidFill>
                  <a:srgbClr val="FF0000"/>
                </a:solidFill>
              </a:rPr>
              <a:t>:</a:t>
            </a:r>
          </a:p>
          <a:p>
            <a:r>
              <a:rPr lang="en-US" altLang="ko-KR" sz="1000" b="1" dirty="0">
                <a:solidFill>
                  <a:srgbClr val="FF0000"/>
                </a:solidFill>
              </a:rPr>
              <a:t>        - </a:t>
            </a:r>
            <a:r>
              <a:rPr lang="en-US" altLang="ko-KR" sz="1000" b="1" dirty="0" err="1">
                <a:solidFill>
                  <a:srgbClr val="FF0000"/>
                </a:solidFill>
              </a:rPr>
              <a:t>mountPath</a:t>
            </a:r>
            <a:r>
              <a:rPr lang="en-US" altLang="ko-KR" sz="1000" b="1" dirty="0">
                <a:solidFill>
                  <a:srgbClr val="FF0000"/>
                </a:solidFill>
              </a:rPr>
              <a:t>: "/data"</a:t>
            </a:r>
          </a:p>
          <a:p>
            <a:r>
              <a:rPr lang="en-US" altLang="ko-KR" sz="1000" b="1" dirty="0">
                <a:solidFill>
                  <a:srgbClr val="FF0000"/>
                </a:solidFill>
              </a:rPr>
              <a:t>          name: "</a:t>
            </a:r>
            <a:r>
              <a:rPr lang="en-US" altLang="ko-KR" sz="1000" b="1" dirty="0" err="1">
                <a:solidFill>
                  <a:srgbClr val="FF0000"/>
                </a:solidFill>
              </a:rPr>
              <a:t>kuard</a:t>
            </a:r>
            <a:r>
              <a:rPr lang="en-US" altLang="ko-KR" sz="1000" b="1" dirty="0">
                <a:solidFill>
                  <a:srgbClr val="FF0000"/>
                </a:solidFill>
              </a:rPr>
              <a:t>-data"</a:t>
            </a:r>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endParaRPr lang="ko-KR" altLang="en-US" sz="1000" b="1" dirty="0"/>
          </a:p>
        </p:txBody>
      </p:sp>
    </p:spTree>
    <p:extLst>
      <p:ext uri="{BB962C8B-B14F-4D97-AF65-F5344CB8AC3E}">
        <p14:creationId xmlns:p14="http://schemas.microsoft.com/office/powerpoint/2010/main" val="31966128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D220D9A-841A-4E34-B75A-91A434932976}"/>
              </a:ext>
            </a:extLst>
          </p:cNvPr>
          <p:cNvGrpSpPr/>
          <p:nvPr/>
        </p:nvGrpSpPr>
        <p:grpSpPr>
          <a:xfrm>
            <a:off x="1625710" y="1946291"/>
            <a:ext cx="8940579" cy="3495655"/>
            <a:chOff x="1625707" y="1906534"/>
            <a:chExt cx="8940579" cy="3495655"/>
          </a:xfrm>
        </p:grpSpPr>
        <p:pic>
          <p:nvPicPr>
            <p:cNvPr id="4" name="그림 3">
              <a:extLst>
                <a:ext uri="{FF2B5EF4-FFF2-40B4-BE49-F238E27FC236}">
                  <a16:creationId xmlns:a16="http://schemas.microsoft.com/office/drawing/2014/main" id="{65D8F7AC-DDBD-4604-A576-24A9AC70FCD1}"/>
                </a:ext>
              </a:extLst>
            </p:cNvPr>
            <p:cNvPicPr>
              <a:picLocks noChangeAspect="1"/>
            </p:cNvPicPr>
            <p:nvPr/>
          </p:nvPicPr>
          <p:blipFill>
            <a:blip r:embed="rId2"/>
            <a:stretch>
              <a:fillRect/>
            </a:stretch>
          </p:blipFill>
          <p:spPr>
            <a:xfrm>
              <a:off x="1625707" y="2661476"/>
              <a:ext cx="8940579" cy="2740713"/>
            </a:xfrm>
            <a:prstGeom prst="rect">
              <a:avLst/>
            </a:prstGeom>
            <a:ln>
              <a:solidFill>
                <a:schemeClr val="bg1">
                  <a:lumMod val="50000"/>
                </a:schemeClr>
              </a:solidFill>
            </a:ln>
          </p:spPr>
        </p:pic>
        <p:sp>
          <p:nvSpPr>
            <p:cNvPr id="8" name="TextBox 7">
              <a:extLst>
                <a:ext uri="{FF2B5EF4-FFF2-40B4-BE49-F238E27FC236}">
                  <a16:creationId xmlns:a16="http://schemas.microsoft.com/office/drawing/2014/main" id="{512799C3-669E-4E4A-9AA2-A7E68C648E92}"/>
                </a:ext>
              </a:extLst>
            </p:cNvPr>
            <p:cNvSpPr txBox="1"/>
            <p:nvPr/>
          </p:nvSpPr>
          <p:spPr>
            <a:xfrm>
              <a:off x="4700423" y="1906534"/>
              <a:ext cx="2791149" cy="400110"/>
            </a:xfrm>
            <a:prstGeom prst="rect">
              <a:avLst/>
            </a:prstGeom>
            <a:noFill/>
            <a:ln>
              <a:solidFill>
                <a:schemeClr val="bg1">
                  <a:lumMod val="50000"/>
                </a:schemeClr>
              </a:solidFill>
            </a:ln>
          </p:spPr>
          <p:txBody>
            <a:bodyPr wrap="none" rtlCol="0">
              <a:spAutoFit/>
            </a:bodyPr>
            <a:lstStyle/>
            <a:p>
              <a:r>
                <a:rPr lang="en-US" altLang="ko-KR" sz="1000" b="1" dirty="0"/>
                <a:t>$ </a:t>
              </a:r>
              <a:r>
                <a:rPr lang="en-US" altLang="ko-KR" sz="1000" b="1" dirty="0" err="1"/>
                <a:t>kubectl</a:t>
              </a:r>
              <a:r>
                <a:rPr lang="en-US" altLang="ko-KR" sz="1000" b="1" dirty="0"/>
                <a:t> apply -f </a:t>
              </a:r>
              <a:r>
                <a:rPr lang="en-US" altLang="ko-KR" sz="1000" b="1" dirty="0" err="1"/>
                <a:t>kuard</a:t>
              </a:r>
              <a:r>
                <a:rPr lang="en-US" altLang="ko-KR" sz="1000" b="1" dirty="0"/>
                <a:t>-pod-</a:t>
              </a:r>
              <a:r>
                <a:rPr lang="en-US" altLang="ko-KR" sz="1000" b="1" dirty="0" err="1"/>
                <a:t>volume.yaml</a:t>
              </a:r>
              <a:endParaRPr lang="en-US" altLang="ko-KR" sz="1000" b="1" dirty="0"/>
            </a:p>
            <a:p>
              <a:r>
                <a:rPr lang="en-US" altLang="ko-KR" sz="1000" b="1" dirty="0"/>
                <a:t>$ </a:t>
              </a:r>
              <a:r>
                <a:rPr lang="en-US" altLang="ko-KR" sz="1000" b="1" dirty="0" err="1"/>
                <a:t>kubectl</a:t>
              </a:r>
              <a:r>
                <a:rPr lang="en-US" altLang="ko-KR" sz="1000" b="1" dirty="0"/>
                <a:t> describe pods/</a:t>
              </a:r>
              <a:r>
                <a:rPr lang="en-US" altLang="ko-KR" sz="1000" b="1" dirty="0" err="1"/>
                <a:t>kuard</a:t>
              </a:r>
              <a:endParaRPr lang="ko-KR" altLang="en-US" sz="1000" b="1" dirty="0"/>
            </a:p>
          </p:txBody>
        </p:sp>
        <p:sp>
          <p:nvSpPr>
            <p:cNvPr id="9" name="화살표: 아래쪽 8">
              <a:extLst>
                <a:ext uri="{FF2B5EF4-FFF2-40B4-BE49-F238E27FC236}">
                  <a16:creationId xmlns:a16="http://schemas.microsoft.com/office/drawing/2014/main" id="{FEA0D8EC-4F91-40D4-9AB6-77DBA26AB2EC}"/>
                </a:ext>
              </a:extLst>
            </p:cNvPr>
            <p:cNvSpPr/>
            <p:nvPr/>
          </p:nvSpPr>
          <p:spPr>
            <a:xfrm>
              <a:off x="5881313" y="2329732"/>
              <a:ext cx="429371" cy="318052"/>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57AEB679-3A9C-E549-56DF-118D241980EE}"/>
              </a:ext>
            </a:extLst>
          </p:cNvPr>
          <p:cNvSpPr/>
          <p:nvPr/>
        </p:nvSpPr>
        <p:spPr>
          <a:xfrm>
            <a:off x="1862666" y="3501812"/>
            <a:ext cx="3948853" cy="6299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0037912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Volumes(3/5)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Different Ways of Using Volumes with Pods :</a:t>
            </a:r>
          </a:p>
          <a:p>
            <a:pPr lvl="1">
              <a:buFont typeface="Wingdings" panose="05000000000000000000" pitchFamily="2" charset="2"/>
              <a:buChar char="§"/>
            </a:pPr>
            <a:r>
              <a:rPr lang="en-US" altLang="ko-KR" sz="1400" b="1" dirty="0">
                <a:solidFill>
                  <a:srgbClr val="FF0000"/>
                </a:solidFill>
              </a:rPr>
              <a:t>Communication/synchronization </a:t>
            </a:r>
            <a:r>
              <a:rPr lang="en-US" altLang="ko-KR" sz="1400" dirty="0"/>
              <a:t>- In the first example of a Pod, we saw how two containers used a </a:t>
            </a:r>
            <a:r>
              <a:rPr lang="en-US" altLang="ko-KR" sz="1400" b="1" dirty="0"/>
              <a:t>shared volume to serve a site while keeping it synchronized to a remote Git location</a:t>
            </a:r>
            <a:r>
              <a:rPr lang="en-US" altLang="ko-KR" sz="1400" dirty="0"/>
              <a:t>. To achieve this, the Pod uses an “</a:t>
            </a:r>
            <a:r>
              <a:rPr lang="en-US" altLang="ko-KR" sz="1400" b="1" dirty="0" err="1"/>
              <a:t>emptyDir</a:t>
            </a:r>
            <a:r>
              <a:rPr lang="en-US" altLang="ko-KR" sz="1400" b="1" dirty="0"/>
              <a:t>”</a:t>
            </a:r>
            <a:r>
              <a:rPr lang="en-US" altLang="ko-KR" sz="1400" dirty="0"/>
              <a:t> volume. </a:t>
            </a:r>
            <a:r>
              <a:rPr lang="en-US" altLang="ko-KR" sz="1400" b="1" dirty="0"/>
              <a:t>Such a volume is scoped to the Pod’s lifespan, but it can be </a:t>
            </a:r>
            <a:r>
              <a:rPr lang="en-US" altLang="ko-KR" sz="1400" b="1" dirty="0">
                <a:solidFill>
                  <a:srgbClr val="FF0000"/>
                </a:solidFill>
              </a:rPr>
              <a:t>shared</a:t>
            </a:r>
            <a:r>
              <a:rPr lang="en-US" altLang="ko-KR" sz="1400" b="1" dirty="0"/>
              <a:t> between two containers, forming the basis for </a:t>
            </a:r>
            <a:r>
              <a:rPr lang="en-US" altLang="ko-KR" sz="1400" b="1" dirty="0">
                <a:solidFill>
                  <a:srgbClr val="FF0000"/>
                </a:solidFill>
              </a:rPr>
              <a:t>communication</a:t>
            </a:r>
            <a:r>
              <a:rPr lang="en-US" altLang="ko-KR" sz="1400" b="1" dirty="0"/>
              <a:t> between our Git sync and web serving containers</a:t>
            </a:r>
            <a:r>
              <a:rPr lang="en-US" altLang="ko-KR" sz="1400" dirty="0"/>
              <a:t>.</a:t>
            </a:r>
          </a:p>
          <a:p>
            <a:pPr lvl="1">
              <a:buFont typeface="Wingdings" panose="05000000000000000000" pitchFamily="2" charset="2"/>
              <a:buChar char="§"/>
            </a:pPr>
            <a:r>
              <a:rPr lang="en-US" altLang="ko-KR" sz="1400" b="1" dirty="0">
                <a:solidFill>
                  <a:srgbClr val="FF0000"/>
                </a:solidFill>
              </a:rPr>
              <a:t>Cache</a:t>
            </a:r>
            <a:r>
              <a:rPr lang="en-US" altLang="ko-KR" sz="1400" dirty="0"/>
              <a:t> - </a:t>
            </a:r>
            <a:r>
              <a:rPr lang="en-US" altLang="ko-KR" sz="1400" b="1" dirty="0"/>
              <a:t>An application may use a volume that is valuable for performance</a:t>
            </a:r>
            <a:r>
              <a:rPr lang="en-US" altLang="ko-KR" sz="1400" dirty="0"/>
              <a:t>, but not required for correct operation of the application. For example, perhaps the application keeps prerendered thumbnails of larger images. Of course, they can be reconstructed from the original images, but that makes serving the thumbnails more expensive. </a:t>
            </a:r>
            <a:r>
              <a:rPr lang="en-US" altLang="ko-KR" sz="1400" b="1" dirty="0"/>
              <a:t>You want such a cache to survive a container restart due to a health-check failure, and thus “</a:t>
            </a:r>
            <a:r>
              <a:rPr lang="en-US" altLang="ko-KR" sz="1400" b="1" dirty="0" err="1">
                <a:solidFill>
                  <a:srgbClr val="FF0000"/>
                </a:solidFill>
              </a:rPr>
              <a:t>emptyDir</a:t>
            </a:r>
            <a:r>
              <a:rPr lang="en-US" altLang="ko-KR" sz="1400" b="1" dirty="0"/>
              <a:t>” works well for the cache use case as well</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59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67DCA6A-5305-4C83-A779-8CE8C874738F}"/>
              </a:ext>
            </a:extLst>
          </p:cNvPr>
          <p:cNvPicPr>
            <a:picLocks noChangeAspect="1"/>
          </p:cNvPicPr>
          <p:nvPr/>
        </p:nvPicPr>
        <p:blipFill>
          <a:blip r:embed="rId2"/>
          <a:stretch>
            <a:fillRect/>
          </a:stretch>
        </p:blipFill>
        <p:spPr>
          <a:xfrm>
            <a:off x="3473224" y="3150249"/>
            <a:ext cx="5245551" cy="2980030"/>
          </a:xfrm>
          <a:prstGeom prst="rect">
            <a:avLst/>
          </a:prstGeom>
        </p:spPr>
      </p:pic>
    </p:spTree>
    <p:extLst>
      <p:ext uri="{BB962C8B-B14F-4D97-AF65-F5344CB8AC3E}">
        <p14:creationId xmlns:p14="http://schemas.microsoft.com/office/powerpoint/2010/main" val="10372550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Volumes(4/5)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Different Ways of Using Volumes with Pods :</a:t>
            </a:r>
          </a:p>
          <a:p>
            <a:pPr lvl="1">
              <a:buFont typeface="Wingdings" panose="05000000000000000000" pitchFamily="2" charset="2"/>
              <a:buChar char="§"/>
            </a:pPr>
            <a:r>
              <a:rPr lang="en-US" altLang="ko-KR" sz="1400" b="1" dirty="0">
                <a:solidFill>
                  <a:srgbClr val="FF0000"/>
                </a:solidFill>
              </a:rPr>
              <a:t>Persistent data</a:t>
            </a:r>
            <a:r>
              <a:rPr lang="en-US" altLang="ko-KR" sz="1400" b="1" dirty="0"/>
              <a:t> </a:t>
            </a:r>
            <a:r>
              <a:rPr lang="en-US" altLang="ko-KR" sz="1400" dirty="0"/>
              <a:t>- </a:t>
            </a:r>
            <a:r>
              <a:rPr lang="en-US" altLang="ko-KR" sz="1400" b="1" dirty="0"/>
              <a:t>Sometimes you will use a volume for </a:t>
            </a:r>
            <a:r>
              <a:rPr lang="en-US" altLang="ko-KR" sz="1400" b="1" dirty="0">
                <a:solidFill>
                  <a:srgbClr val="FF0000"/>
                </a:solidFill>
              </a:rPr>
              <a:t>truly persistent data</a:t>
            </a:r>
            <a:r>
              <a:rPr lang="en-US" altLang="ko-KR" sz="1400" dirty="0"/>
              <a:t>—</a:t>
            </a:r>
            <a:r>
              <a:rPr lang="en-US" altLang="ko-KR" sz="1400" b="1" dirty="0"/>
              <a:t>data that is independent of the lifespan of a particular Pod</a:t>
            </a:r>
            <a:r>
              <a:rPr lang="en-US" altLang="ko-KR" sz="1400" dirty="0"/>
              <a:t>, </a:t>
            </a:r>
            <a:r>
              <a:rPr lang="en-US" altLang="ko-KR" sz="1400" b="1" dirty="0"/>
              <a:t>and should move between nodes in the cluster if a node fails or a Pod moves to a different machine for some reason</a:t>
            </a:r>
            <a:r>
              <a:rPr lang="en-US" altLang="ko-KR" sz="1400" dirty="0"/>
              <a:t>. To achieve this, </a:t>
            </a:r>
            <a:r>
              <a:rPr lang="en-US" altLang="ko-KR" sz="1400" b="1" dirty="0"/>
              <a:t>Kubernetes supports a wide variety of </a:t>
            </a:r>
            <a:r>
              <a:rPr lang="en-US" altLang="ko-KR" sz="1400" b="1" dirty="0">
                <a:solidFill>
                  <a:srgbClr val="FF0000"/>
                </a:solidFill>
              </a:rPr>
              <a:t>remote network storage volumes</a:t>
            </a:r>
            <a:r>
              <a:rPr lang="en-US" altLang="ko-KR" sz="1400" dirty="0"/>
              <a:t>, including widely supported protocols like </a:t>
            </a:r>
            <a:r>
              <a:rPr lang="en-US" altLang="ko-KR" sz="1400" b="1" dirty="0"/>
              <a:t>NFS</a:t>
            </a:r>
            <a:r>
              <a:rPr lang="en-US" altLang="ko-KR" sz="1400" dirty="0"/>
              <a:t> and </a:t>
            </a:r>
            <a:r>
              <a:rPr lang="en-US" altLang="ko-KR" sz="1400" b="1" dirty="0"/>
              <a:t>iSCSI</a:t>
            </a:r>
            <a:r>
              <a:rPr lang="en-US" altLang="ko-KR" sz="1400" dirty="0"/>
              <a:t> as well as cloud provider network storage like </a:t>
            </a:r>
            <a:r>
              <a:rPr lang="en-US" altLang="ko-KR" sz="1400" b="1" dirty="0"/>
              <a:t>Amazon’s Elastic Block Store</a:t>
            </a:r>
            <a:r>
              <a:rPr lang="en-US" altLang="ko-KR" sz="1400" dirty="0"/>
              <a:t>, </a:t>
            </a:r>
            <a:r>
              <a:rPr lang="en-US" altLang="ko-KR" sz="1400" b="1" dirty="0"/>
              <a:t>Azure’s Files and Disk Storage</a:t>
            </a:r>
            <a:r>
              <a:rPr lang="en-US" altLang="ko-KR" sz="1400" dirty="0"/>
              <a:t>, as well as </a:t>
            </a:r>
            <a:r>
              <a:rPr lang="en-US" altLang="ko-KR" sz="1400" b="1" dirty="0"/>
              <a:t>Google’s Persistent Disk</a:t>
            </a:r>
            <a:r>
              <a:rPr lang="en-US" altLang="ko-KR" sz="1400" dirty="0"/>
              <a:t>.</a:t>
            </a:r>
          </a:p>
          <a:p>
            <a:pPr lvl="1">
              <a:buFont typeface="Wingdings" panose="05000000000000000000" pitchFamily="2" charset="2"/>
              <a:buChar char="§"/>
            </a:pPr>
            <a:r>
              <a:rPr lang="en-US" altLang="ko-KR" sz="1400" b="1" dirty="0">
                <a:solidFill>
                  <a:srgbClr val="FF0000"/>
                </a:solidFill>
              </a:rPr>
              <a:t>Mounting the host filesystem </a:t>
            </a:r>
            <a:r>
              <a:rPr lang="en-US" altLang="ko-KR" sz="1400" dirty="0"/>
              <a:t>- </a:t>
            </a:r>
            <a:r>
              <a:rPr lang="en-US" altLang="ko-KR" sz="1400" b="1" dirty="0"/>
              <a:t>Other applications don’t actually need a persistent volume, but they do need some access to the underlying host filesystem</a:t>
            </a:r>
            <a:r>
              <a:rPr lang="en-US" altLang="ko-KR" sz="1400" dirty="0"/>
              <a:t>. For example, they may need access to the “</a:t>
            </a:r>
            <a:r>
              <a:rPr lang="en-US" altLang="ko-KR" sz="1400" b="1" dirty="0"/>
              <a:t>/dev</a:t>
            </a:r>
            <a:r>
              <a:rPr lang="en-US" altLang="ko-KR" sz="1400" dirty="0"/>
              <a:t>” filesystem in order to perform raw block-level access to a device on the system. For these cases, Kubernetes supports </a:t>
            </a:r>
            <a:r>
              <a:rPr lang="en-US" altLang="ko-KR" sz="1400" b="1" dirty="0"/>
              <a:t>the “</a:t>
            </a:r>
            <a:r>
              <a:rPr lang="en-US" altLang="ko-KR" sz="1400" b="1" dirty="0" err="1">
                <a:solidFill>
                  <a:srgbClr val="FF0000"/>
                </a:solidFill>
              </a:rPr>
              <a:t>hostPath</a:t>
            </a:r>
            <a:r>
              <a:rPr lang="en-US" altLang="ko-KR" sz="1400" b="1" dirty="0"/>
              <a:t>” volume, which can mount arbitrary locations on the worker node into the container</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C6130B9-A89D-43FD-BA03-1C2D04A6D4A1}"/>
              </a:ext>
            </a:extLst>
          </p:cNvPr>
          <p:cNvPicPr>
            <a:picLocks noChangeAspect="1"/>
          </p:cNvPicPr>
          <p:nvPr/>
        </p:nvPicPr>
        <p:blipFill>
          <a:blip r:embed="rId2"/>
          <a:stretch>
            <a:fillRect/>
          </a:stretch>
        </p:blipFill>
        <p:spPr>
          <a:xfrm>
            <a:off x="4980510" y="3008586"/>
            <a:ext cx="2230979" cy="3400444"/>
          </a:xfrm>
          <a:prstGeom prst="rect">
            <a:avLst/>
          </a:prstGeom>
        </p:spPr>
      </p:pic>
    </p:spTree>
    <p:extLst>
      <p:ext uri="{BB962C8B-B14F-4D97-AF65-F5344CB8AC3E}">
        <p14:creationId xmlns:p14="http://schemas.microsoft.com/office/powerpoint/2010/main" val="2697540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Persisting Data with Volumes(5/5)</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Persisting Data Using Remote Disks :</a:t>
            </a:r>
          </a:p>
          <a:p>
            <a:pPr lvl="1">
              <a:buFont typeface="Wingdings" panose="05000000000000000000" pitchFamily="2" charset="2"/>
              <a:buChar char="§"/>
            </a:pPr>
            <a:r>
              <a:rPr lang="en-US" altLang="ko-KR" sz="1400" b="1" dirty="0"/>
              <a:t>Oftentimes, you want the data a Pod is using to stay with the Pod, even if it is restarted on a different host machine</a:t>
            </a:r>
            <a:r>
              <a:rPr lang="en-US" altLang="ko-KR" sz="1400" dirty="0"/>
              <a:t>. To achieve this, you can </a:t>
            </a:r>
            <a:r>
              <a:rPr lang="en-US" altLang="ko-KR" sz="1400" b="1" dirty="0"/>
              <a:t>mount a remote network storage volume into your Pod</a:t>
            </a:r>
            <a:r>
              <a:rPr lang="en-US" altLang="ko-KR" sz="1400" dirty="0"/>
              <a:t>. </a:t>
            </a:r>
            <a:r>
              <a:rPr lang="en-US" altLang="ko-KR" sz="1400" b="1" dirty="0"/>
              <a:t>When using network-based storage, </a:t>
            </a:r>
            <a:r>
              <a:rPr lang="en-US" altLang="ko-KR" sz="1400" b="1" dirty="0">
                <a:solidFill>
                  <a:srgbClr val="FF0000"/>
                </a:solidFill>
              </a:rPr>
              <a:t>Kubernetes automatically mounts and unmounts the appropriate storage </a:t>
            </a:r>
            <a:r>
              <a:rPr lang="en-US" altLang="ko-KR" sz="1400" b="1" dirty="0"/>
              <a:t>whenever a Pod using that volume is scheduled onto a particular machine</a:t>
            </a:r>
            <a:r>
              <a:rPr lang="en-US" altLang="ko-KR" sz="1400" dirty="0"/>
              <a:t>.</a:t>
            </a:r>
          </a:p>
          <a:p>
            <a:pPr lvl="1">
              <a:buFont typeface="Wingdings" panose="05000000000000000000" pitchFamily="2" charset="2"/>
              <a:buChar char="§"/>
            </a:pPr>
            <a:r>
              <a:rPr lang="en-US" altLang="ko-KR" sz="1400" dirty="0"/>
              <a:t>Kubernetes includes support for standard protocols such as </a:t>
            </a:r>
            <a:r>
              <a:rPr lang="en-US" altLang="ko-KR" sz="1400" b="1" dirty="0"/>
              <a:t>NFS(Network File System)</a:t>
            </a:r>
            <a:r>
              <a:rPr lang="en-US" altLang="ko-KR" sz="1400" dirty="0"/>
              <a:t> and </a:t>
            </a:r>
            <a:r>
              <a:rPr lang="en-US" altLang="ko-KR" sz="1400" b="1" dirty="0"/>
              <a:t>iSCSI(Internet SCSI)</a:t>
            </a:r>
            <a:r>
              <a:rPr lang="en-US" altLang="ko-KR" sz="1400" dirty="0"/>
              <a:t> as well as </a:t>
            </a:r>
            <a:r>
              <a:rPr lang="en-US" altLang="ko-KR" sz="1400" b="1" dirty="0"/>
              <a:t>cloud provider–based storage APIs</a:t>
            </a:r>
            <a:r>
              <a:rPr lang="en-US" altLang="ko-KR" sz="1400" dirty="0"/>
              <a:t> for the major cloud providers (</a:t>
            </a:r>
            <a:r>
              <a:rPr lang="en-US" altLang="ko-KR" sz="1400" b="1" dirty="0"/>
              <a:t>both public and private</a:t>
            </a:r>
            <a:r>
              <a:rPr lang="en-US" altLang="ko-KR" sz="1400" dirty="0"/>
              <a:t>). In many cases, </a:t>
            </a:r>
            <a:r>
              <a:rPr lang="en-US" altLang="ko-KR" sz="1400" b="1" dirty="0"/>
              <a:t>the cloud providers will also create the disk for you if it doesn’t already exist</a:t>
            </a:r>
            <a:r>
              <a:rPr lang="en-US" altLang="ko-KR" sz="1400" dirty="0"/>
              <a:t>.</a:t>
            </a:r>
          </a:p>
          <a:p>
            <a:pPr lvl="1">
              <a:buFont typeface="Wingdings" panose="05000000000000000000" pitchFamily="2" charset="2"/>
              <a:buChar char="§"/>
            </a:pPr>
            <a:r>
              <a:rPr lang="en-US" altLang="ko-KR" sz="1400" dirty="0"/>
              <a:t>Here is an example of using an NFS server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B0682EFA-A6F3-41F0-BF09-41A1AB35E302}"/>
              </a:ext>
            </a:extLst>
          </p:cNvPr>
          <p:cNvSpPr/>
          <p:nvPr/>
        </p:nvSpPr>
        <p:spPr>
          <a:xfrm>
            <a:off x="3048000" y="3033540"/>
            <a:ext cx="6096000" cy="1323439"/>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 Rest of pod definition above here</a:t>
            </a:r>
          </a:p>
          <a:p>
            <a:r>
              <a:rPr lang="en-US" altLang="ko-KR" sz="1000" b="1" dirty="0"/>
              <a:t>volumes:</a:t>
            </a:r>
          </a:p>
          <a:p>
            <a:r>
              <a:rPr lang="en-US" altLang="ko-KR" sz="1000" b="1" dirty="0"/>
              <a:t>     - name: "</a:t>
            </a:r>
            <a:r>
              <a:rPr lang="en-US" altLang="ko-KR" sz="1000" b="1" dirty="0" err="1"/>
              <a:t>kuard</a:t>
            </a:r>
            <a:r>
              <a:rPr lang="en-US" altLang="ko-KR" sz="1000" b="1" dirty="0"/>
              <a:t>-data"</a:t>
            </a:r>
          </a:p>
          <a:p>
            <a:r>
              <a:rPr lang="en-US" altLang="ko-KR" sz="1000" b="1" dirty="0"/>
              <a:t>       </a:t>
            </a:r>
            <a:r>
              <a:rPr lang="en-US" altLang="ko-KR" sz="1000" b="1" dirty="0" err="1">
                <a:solidFill>
                  <a:srgbClr val="FF0000"/>
                </a:solidFill>
              </a:rPr>
              <a:t>nfs</a:t>
            </a:r>
            <a:r>
              <a:rPr lang="en-US" altLang="ko-KR" sz="1000" b="1" dirty="0"/>
              <a:t>:</a:t>
            </a:r>
          </a:p>
          <a:p>
            <a:r>
              <a:rPr lang="en-US" altLang="ko-KR" sz="1000" b="1" dirty="0"/>
              <a:t>           server: </a:t>
            </a:r>
            <a:r>
              <a:rPr lang="en-US" altLang="ko-KR" sz="1000" b="1" dirty="0" err="1">
                <a:solidFill>
                  <a:srgbClr val="FF0000"/>
                </a:solidFill>
              </a:rPr>
              <a:t>my.nfs.server.local</a:t>
            </a:r>
            <a:endParaRPr lang="en-US" altLang="ko-KR" sz="1000" b="1" dirty="0">
              <a:solidFill>
                <a:srgbClr val="FF0000"/>
              </a:solidFill>
            </a:endParaRPr>
          </a:p>
          <a:p>
            <a:r>
              <a:rPr lang="en-US" altLang="ko-KR" sz="1000" b="1" dirty="0"/>
              <a:t>           path: "</a:t>
            </a:r>
            <a:r>
              <a:rPr lang="en-US" altLang="ko-KR" sz="1000" b="1" dirty="0">
                <a:solidFill>
                  <a:srgbClr val="FF0000"/>
                </a:solidFill>
              </a:rPr>
              <a:t>/exports</a:t>
            </a:r>
            <a:r>
              <a:rPr lang="en-US" altLang="ko-KR" sz="1000" b="1" dirty="0"/>
              <a:t>“</a:t>
            </a:r>
          </a:p>
          <a:p>
            <a:r>
              <a:rPr lang="en-US" altLang="ko-KR" sz="1000" b="1" dirty="0"/>
              <a:t>…</a:t>
            </a:r>
            <a:endParaRPr lang="ko-KR" altLang="en-US" sz="1000" b="1" dirty="0"/>
          </a:p>
        </p:txBody>
      </p:sp>
      <p:pic>
        <p:nvPicPr>
          <p:cNvPr id="8" name="그림 7">
            <a:extLst>
              <a:ext uri="{FF2B5EF4-FFF2-40B4-BE49-F238E27FC236}">
                <a16:creationId xmlns:a16="http://schemas.microsoft.com/office/drawing/2014/main" id="{3376B716-4717-4497-A6E9-B439991848F4}"/>
              </a:ext>
            </a:extLst>
          </p:cNvPr>
          <p:cNvPicPr>
            <a:picLocks noChangeAspect="1"/>
          </p:cNvPicPr>
          <p:nvPr/>
        </p:nvPicPr>
        <p:blipFill>
          <a:blip r:embed="rId2"/>
          <a:stretch>
            <a:fillRect/>
          </a:stretch>
        </p:blipFill>
        <p:spPr>
          <a:xfrm>
            <a:off x="5726554" y="3767414"/>
            <a:ext cx="4034707" cy="2641616"/>
          </a:xfrm>
          <a:prstGeom prst="rect">
            <a:avLst/>
          </a:prstGeom>
        </p:spPr>
      </p:pic>
    </p:spTree>
    <p:extLst>
      <p:ext uri="{BB962C8B-B14F-4D97-AF65-F5344CB8AC3E}">
        <p14:creationId xmlns:p14="http://schemas.microsoft.com/office/powerpoint/2010/main" val="5002054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Putting It All Together</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Running Reliable and Stateful Applications :</a:t>
            </a:r>
          </a:p>
          <a:p>
            <a:pPr lvl="1">
              <a:buFont typeface="Wingdings" panose="05000000000000000000" pitchFamily="2" charset="2"/>
              <a:buChar char="§"/>
            </a:pPr>
            <a:r>
              <a:rPr lang="en-US" altLang="ko-KR" sz="1400" b="1" dirty="0"/>
              <a:t>Many applications are </a:t>
            </a:r>
            <a:r>
              <a:rPr lang="en-US" altLang="ko-KR" sz="1400" b="1" dirty="0">
                <a:solidFill>
                  <a:srgbClr val="FF0000"/>
                </a:solidFill>
              </a:rPr>
              <a:t>stateful</a:t>
            </a:r>
            <a:r>
              <a:rPr lang="en-US" altLang="ko-KR" sz="1400" b="1" dirty="0"/>
              <a:t>, and as such we must preserve any data and ensure access to the underlying storage volume regardless of what machine the application runs on</a:t>
            </a:r>
            <a:r>
              <a:rPr lang="en-US" altLang="ko-KR" sz="1400" dirty="0"/>
              <a:t>. This can be achieved using a </a:t>
            </a:r>
            <a:r>
              <a:rPr lang="en-US" altLang="ko-KR" sz="1400" b="1" dirty="0"/>
              <a:t>persistent volume backed by network-attached storage</a:t>
            </a:r>
            <a:r>
              <a:rPr lang="en-US" altLang="ko-KR" sz="1400" dirty="0"/>
              <a:t>. </a:t>
            </a:r>
            <a:r>
              <a:rPr lang="en-US" altLang="ko-KR" sz="1400" b="1" dirty="0"/>
              <a:t>We also want to ensure that a healthy instance of the. application is running at all times</a:t>
            </a:r>
            <a:r>
              <a:rPr lang="en-US" altLang="ko-KR" sz="1400" dirty="0"/>
              <a:t>, which means we want to make sure the container running “</a:t>
            </a:r>
            <a:r>
              <a:rPr lang="en-US" altLang="ko-KR" sz="1400" b="1" dirty="0" err="1"/>
              <a:t>kuard</a:t>
            </a:r>
            <a:r>
              <a:rPr lang="en-US" altLang="ko-KR" sz="1400" dirty="0"/>
              <a:t>” is ready before we </a:t>
            </a:r>
            <a:r>
              <a:rPr lang="en-US" altLang="ko-KR" sz="1400" b="1" dirty="0">
                <a:solidFill>
                  <a:srgbClr val="FF0000"/>
                </a:solidFill>
              </a:rPr>
              <a:t>expose</a:t>
            </a:r>
            <a:r>
              <a:rPr lang="en-US" altLang="ko-KR" sz="1400" dirty="0"/>
              <a:t> it to clients. </a:t>
            </a:r>
          </a:p>
          <a:p>
            <a:pPr lvl="1">
              <a:buFont typeface="Wingdings" panose="05000000000000000000" pitchFamily="2" charset="2"/>
              <a:buChar char="§"/>
            </a:pPr>
            <a:r>
              <a:rPr lang="en-US" altLang="ko-KR" sz="1400" b="1" dirty="0"/>
              <a:t>Through a combination of </a:t>
            </a:r>
            <a:r>
              <a:rPr lang="en-US" altLang="ko-KR" sz="1400" b="1" dirty="0">
                <a:solidFill>
                  <a:srgbClr val="FF0000"/>
                </a:solidFill>
              </a:rPr>
              <a:t>persistent volumes</a:t>
            </a:r>
            <a:r>
              <a:rPr lang="en-US" altLang="ko-KR" sz="1400" b="1" dirty="0"/>
              <a:t>, </a:t>
            </a:r>
            <a:r>
              <a:rPr lang="en-US" altLang="ko-KR" sz="1400" b="1" dirty="0">
                <a:solidFill>
                  <a:srgbClr val="FF0000"/>
                </a:solidFill>
              </a:rPr>
              <a:t>readiness</a:t>
            </a:r>
            <a:r>
              <a:rPr lang="en-US" altLang="ko-KR" sz="1400" b="1" dirty="0"/>
              <a:t> and </a:t>
            </a:r>
            <a:r>
              <a:rPr lang="en-US" altLang="ko-KR" sz="1400" b="1" dirty="0">
                <a:solidFill>
                  <a:srgbClr val="FF0000"/>
                </a:solidFill>
              </a:rPr>
              <a:t>liveness probes</a:t>
            </a:r>
            <a:r>
              <a:rPr lang="en-US" altLang="ko-KR" sz="1400" b="1" dirty="0"/>
              <a:t>, and </a:t>
            </a:r>
            <a:r>
              <a:rPr lang="en-US" altLang="ko-KR" sz="1400" b="1" dirty="0">
                <a:solidFill>
                  <a:srgbClr val="FF0000"/>
                </a:solidFill>
              </a:rPr>
              <a:t>resource restrictions</a:t>
            </a:r>
            <a:r>
              <a:rPr lang="en-US" altLang="ko-KR" sz="1400" b="1" dirty="0"/>
              <a:t>, Kubernetes provides everything needed to run stateful applications reliably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9A0DCC1C-4B75-48F0-8F42-0799CD3CDC88}"/>
              </a:ext>
            </a:extLst>
          </p:cNvPr>
          <p:cNvGrpSpPr/>
          <p:nvPr/>
        </p:nvGrpSpPr>
        <p:grpSpPr>
          <a:xfrm>
            <a:off x="3071854" y="2616826"/>
            <a:ext cx="6212620" cy="3792204"/>
            <a:chOff x="3071854" y="2616826"/>
            <a:chExt cx="6212620" cy="3792204"/>
          </a:xfrm>
        </p:grpSpPr>
        <p:sp>
          <p:nvSpPr>
            <p:cNvPr id="4" name="직사각형 3">
              <a:extLst>
                <a:ext uri="{FF2B5EF4-FFF2-40B4-BE49-F238E27FC236}">
                  <a16:creationId xmlns:a16="http://schemas.microsoft.com/office/drawing/2014/main" id="{F9BF9DE5-7379-4183-BECB-D174D9011363}"/>
                </a:ext>
              </a:extLst>
            </p:cNvPr>
            <p:cNvSpPr/>
            <p:nvPr/>
          </p:nvSpPr>
          <p:spPr>
            <a:xfrm>
              <a:off x="3071854" y="2623378"/>
              <a:ext cx="3106310" cy="3785652"/>
            </a:xfrm>
            <a:prstGeom prst="rect">
              <a:avLst/>
            </a:prstGeom>
            <a:ln>
              <a:solidFill>
                <a:schemeClr val="bg1">
                  <a:lumMod val="50000"/>
                </a:schemeClr>
              </a:solidFill>
            </a:ln>
          </p:spPr>
          <p:txBody>
            <a:bodyPr wrap="square">
              <a:noAutofit/>
            </a:bodyPr>
            <a:lstStyle/>
            <a:p>
              <a:r>
                <a:rPr lang="en-US" altLang="ko-KR" sz="1000" b="1" dirty="0" err="1"/>
                <a:t>apiVersion</a:t>
              </a:r>
              <a:r>
                <a:rPr lang="en-US" altLang="ko-KR" sz="1000" b="1" dirty="0"/>
                <a:t>: v1</a:t>
              </a:r>
            </a:p>
            <a:p>
              <a:r>
                <a:rPr lang="en-US" altLang="ko-KR" sz="1000" b="1" dirty="0"/>
                <a:t>kind: Pod</a:t>
              </a:r>
            </a:p>
            <a:p>
              <a:r>
                <a:rPr lang="en-US" altLang="ko-KR" sz="1000" b="1" dirty="0"/>
                <a:t>metadata:</a:t>
              </a:r>
            </a:p>
            <a:p>
              <a:r>
                <a:rPr lang="en-US" altLang="ko-KR" sz="1000" b="1" dirty="0"/>
                <a:t>  name: </a:t>
              </a:r>
              <a:r>
                <a:rPr lang="en-US" altLang="ko-KR" sz="1000" b="1" dirty="0" err="1"/>
                <a:t>kuard</a:t>
              </a:r>
              <a:endParaRPr lang="en-US" altLang="ko-KR" sz="1000" b="1" dirty="0"/>
            </a:p>
            <a:p>
              <a:r>
                <a:rPr lang="en-US" altLang="ko-KR" sz="1000" b="1" dirty="0"/>
                <a:t>spec:</a:t>
              </a:r>
            </a:p>
            <a:p>
              <a:r>
                <a:rPr lang="en-US" altLang="ko-KR" sz="1000" b="1" dirty="0"/>
                <a:t>  volumes:</a:t>
              </a:r>
            </a:p>
            <a:p>
              <a:r>
                <a:rPr lang="en-US" altLang="ko-KR" sz="1000" b="1" dirty="0">
                  <a:solidFill>
                    <a:srgbClr val="FF0000"/>
                  </a:solidFill>
                </a:rPr>
                <a:t>    - name: "</a:t>
              </a:r>
              <a:r>
                <a:rPr lang="en-US" altLang="ko-KR" sz="1000" b="1" dirty="0" err="1">
                  <a:solidFill>
                    <a:srgbClr val="FF0000"/>
                  </a:solidFill>
                </a:rPr>
                <a:t>kuard</a:t>
              </a:r>
              <a:r>
                <a:rPr lang="en-US" altLang="ko-KR" sz="1000" b="1" dirty="0">
                  <a:solidFill>
                    <a:srgbClr val="FF0000"/>
                  </a:solidFill>
                </a:rPr>
                <a:t>-data"</a:t>
              </a:r>
            </a:p>
            <a:p>
              <a:r>
                <a:rPr lang="en-US" altLang="ko-KR" sz="1000" b="1" dirty="0">
                  <a:solidFill>
                    <a:srgbClr val="FF0000"/>
                  </a:solidFill>
                </a:rPr>
                <a:t>      </a:t>
              </a:r>
              <a:r>
                <a:rPr lang="en-US" altLang="ko-KR" sz="1000" b="1" dirty="0" err="1">
                  <a:solidFill>
                    <a:srgbClr val="FF0000"/>
                  </a:solidFill>
                </a:rPr>
                <a:t>hostPath</a:t>
              </a:r>
              <a:r>
                <a:rPr lang="en-US" altLang="ko-KR" sz="1000" b="1" dirty="0">
                  <a:solidFill>
                    <a:srgbClr val="FF0000"/>
                  </a:solidFill>
                </a:rPr>
                <a:t>:</a:t>
              </a:r>
            </a:p>
            <a:p>
              <a:r>
                <a:rPr lang="en-US" altLang="ko-KR" sz="1000" b="1" dirty="0">
                  <a:solidFill>
                    <a:srgbClr val="FF0000"/>
                  </a:solidFill>
                </a:rPr>
                <a:t>        path: "/var/lib/</a:t>
              </a:r>
              <a:r>
                <a:rPr lang="en-US" altLang="ko-KR" sz="1000" b="1" dirty="0" err="1">
                  <a:solidFill>
                    <a:srgbClr val="FF0000"/>
                  </a:solidFill>
                </a:rPr>
                <a:t>kuard</a:t>
              </a:r>
              <a:r>
                <a:rPr lang="en-US" altLang="ko-KR" sz="1000" b="1" dirty="0">
                  <a:solidFill>
                    <a:srgbClr val="FF0000"/>
                  </a:solidFill>
                </a:rPr>
                <a:t>“</a:t>
              </a:r>
            </a:p>
            <a:p>
              <a:r>
                <a:rPr lang="en-US" altLang="ko-KR" sz="1000" b="1" dirty="0"/>
                <a:t>  containers:</a:t>
              </a:r>
            </a:p>
            <a:p>
              <a:r>
                <a:rPr lang="en-US" altLang="ko-KR" sz="1000" b="1" dirty="0"/>
                <a:t>    - image: knix008/kuard-shkwon-amd64:1.0</a:t>
              </a:r>
            </a:p>
            <a:p>
              <a:r>
                <a:rPr lang="en-US" altLang="ko-KR" sz="1000" b="1" dirty="0"/>
                <a:t>      name: </a:t>
              </a:r>
              <a:r>
                <a:rPr lang="en-US" altLang="ko-KR" sz="1000" b="1" dirty="0" err="1"/>
                <a:t>kuard</a:t>
              </a:r>
              <a:endParaRPr lang="en-US" altLang="ko-KR" sz="1000" b="1" dirty="0"/>
            </a:p>
            <a:p>
              <a:r>
                <a:rPr lang="en-US" altLang="ko-KR" sz="1000" b="1" dirty="0"/>
                <a:t>      ports:</a:t>
              </a:r>
            </a:p>
            <a:p>
              <a:r>
                <a:rPr lang="en-US" altLang="ko-KR" sz="1000" b="1" dirty="0"/>
                <a:t>        - </a:t>
              </a:r>
              <a:r>
                <a:rPr lang="en-US" altLang="ko-KR" sz="1000" b="1" dirty="0" err="1"/>
                <a:t>containerPort</a:t>
              </a:r>
              <a:r>
                <a:rPr lang="en-US" altLang="ko-KR" sz="1000" b="1" dirty="0"/>
                <a:t>: 8080</a:t>
              </a:r>
            </a:p>
            <a:p>
              <a:r>
                <a:rPr lang="en-US" altLang="ko-KR" sz="1000" b="1" dirty="0"/>
                <a:t>          name: http</a:t>
              </a:r>
            </a:p>
            <a:p>
              <a:r>
                <a:rPr lang="en-US" altLang="ko-KR" sz="1000" b="1" dirty="0"/>
                <a:t>          protocol: TCP</a:t>
              </a:r>
            </a:p>
            <a:p>
              <a:r>
                <a:rPr lang="en-US" altLang="ko-KR" sz="1000" b="1" dirty="0"/>
                <a:t>      resources:</a:t>
              </a:r>
            </a:p>
            <a:p>
              <a:r>
                <a:rPr lang="en-US" altLang="ko-KR" sz="1000" b="1" dirty="0"/>
                <a:t>        requests:</a:t>
              </a:r>
            </a:p>
            <a:p>
              <a:r>
                <a:rPr lang="en-US" altLang="ko-KR" sz="1000" b="1" dirty="0"/>
                <a:t>          </a:t>
              </a:r>
              <a:r>
                <a:rPr lang="en-US" altLang="ko-KR" sz="1000" b="1" dirty="0" err="1"/>
                <a:t>cpu</a:t>
              </a:r>
              <a:r>
                <a:rPr lang="en-US" altLang="ko-KR" sz="1000" b="1" dirty="0"/>
                <a:t>: "500m"</a:t>
              </a:r>
            </a:p>
            <a:p>
              <a:r>
                <a:rPr lang="en-US" altLang="ko-KR" sz="1000" b="1" dirty="0"/>
                <a:t>          memory: "128Mi"</a:t>
              </a:r>
            </a:p>
            <a:p>
              <a:r>
                <a:rPr lang="en-US" altLang="ko-KR" sz="1000" b="1" dirty="0"/>
                <a:t>        limits:</a:t>
              </a:r>
            </a:p>
            <a:p>
              <a:r>
                <a:rPr lang="en-US" altLang="ko-KR" sz="1000" b="1" dirty="0"/>
                <a:t>          </a:t>
              </a:r>
              <a:r>
                <a:rPr lang="en-US" altLang="ko-KR" sz="1000" b="1" dirty="0" err="1"/>
                <a:t>cpu</a:t>
              </a:r>
              <a:r>
                <a:rPr lang="en-US" altLang="ko-KR" sz="1000" b="1" dirty="0"/>
                <a:t>: "1000m"</a:t>
              </a:r>
            </a:p>
            <a:p>
              <a:r>
                <a:rPr lang="en-US" altLang="ko-KR" sz="1000" b="1" dirty="0"/>
                <a:t>          memory: "256Mi"</a:t>
              </a:r>
            </a:p>
          </p:txBody>
        </p:sp>
        <p:sp>
          <p:nvSpPr>
            <p:cNvPr id="11" name="직사각형 10">
              <a:extLst>
                <a:ext uri="{FF2B5EF4-FFF2-40B4-BE49-F238E27FC236}">
                  <a16:creationId xmlns:a16="http://schemas.microsoft.com/office/drawing/2014/main" id="{275772E3-31B7-4FEE-8163-3392ED7E9FBB}"/>
                </a:ext>
              </a:extLst>
            </p:cNvPr>
            <p:cNvSpPr/>
            <p:nvPr/>
          </p:nvSpPr>
          <p:spPr>
            <a:xfrm>
              <a:off x="6178164" y="2616826"/>
              <a:ext cx="3106310" cy="3792204"/>
            </a:xfrm>
            <a:prstGeom prst="rect">
              <a:avLst/>
            </a:prstGeom>
            <a:ln>
              <a:solidFill>
                <a:schemeClr val="bg1">
                  <a:lumMod val="50000"/>
                </a:schemeClr>
              </a:solidFill>
            </a:ln>
          </p:spPr>
          <p:txBody>
            <a:bodyPr wrap="square">
              <a:noAutofit/>
            </a:bodyPr>
            <a:lstStyle/>
            <a:p>
              <a:pPr lvl="0"/>
              <a:r>
                <a:rPr lang="en-US" altLang="ko-KR" sz="1000" b="1" dirty="0">
                  <a:solidFill>
                    <a:prstClr val="black"/>
                  </a:solidFill>
                </a:rPr>
                <a:t>      </a:t>
              </a:r>
              <a:r>
                <a:rPr lang="en-US" altLang="ko-KR" sz="1000" b="1" dirty="0" err="1">
                  <a:solidFill>
                    <a:prstClr val="black"/>
                  </a:solidFill>
                </a:rPr>
                <a:t>volumeMounts</a:t>
              </a:r>
              <a:r>
                <a:rPr lang="en-US" altLang="ko-KR" sz="1000" b="1" dirty="0">
                  <a:solidFill>
                    <a:prstClr val="black"/>
                  </a:solidFill>
                </a:rPr>
                <a:t>:</a:t>
              </a:r>
            </a:p>
            <a:p>
              <a:pPr lvl="0"/>
              <a:r>
                <a:rPr lang="en-US" altLang="ko-KR" sz="1000" b="1" dirty="0">
                  <a:solidFill>
                    <a:prstClr val="black"/>
                  </a:solidFill>
                </a:rPr>
                <a:t>        - </a:t>
              </a:r>
              <a:r>
                <a:rPr lang="en-US" altLang="ko-KR" sz="1000" b="1" dirty="0" err="1">
                  <a:solidFill>
                    <a:prstClr val="black"/>
                  </a:solidFill>
                </a:rPr>
                <a:t>mountPath</a:t>
              </a:r>
              <a:r>
                <a:rPr lang="en-US" altLang="ko-KR" sz="1000" b="1" dirty="0">
                  <a:solidFill>
                    <a:prstClr val="black"/>
                  </a:solidFill>
                </a:rPr>
                <a:t>: "/data"</a:t>
              </a:r>
            </a:p>
            <a:p>
              <a:pPr lvl="0"/>
              <a:r>
                <a:rPr lang="en-US" altLang="ko-KR" sz="1000" b="1" dirty="0">
                  <a:solidFill>
                    <a:prstClr val="black"/>
                  </a:solidFill>
                </a:rPr>
                <a:t>          name: "</a:t>
              </a:r>
              <a:r>
                <a:rPr lang="en-US" altLang="ko-KR" sz="1000" b="1" dirty="0" err="1">
                  <a:solidFill>
                    <a:prstClr val="black"/>
                  </a:solidFill>
                </a:rPr>
                <a:t>kuard</a:t>
              </a:r>
              <a:r>
                <a:rPr lang="en-US" altLang="ko-KR" sz="1000" b="1" dirty="0">
                  <a:solidFill>
                    <a:prstClr val="black"/>
                  </a:solidFill>
                </a:rPr>
                <a:t>-data"</a:t>
              </a:r>
            </a:p>
            <a:p>
              <a:pPr lvl="0"/>
              <a:r>
                <a:rPr lang="en-US" altLang="ko-KR" sz="1000" b="1" dirty="0">
                  <a:solidFill>
                    <a:prstClr val="black"/>
                  </a:solidFill>
                </a:rPr>
                <a:t>      </a:t>
              </a:r>
              <a:r>
                <a:rPr lang="en-US" altLang="ko-KR" sz="1000" b="1" dirty="0" err="1">
                  <a:solidFill>
                    <a:prstClr val="black"/>
                  </a:solidFill>
                </a:rPr>
                <a:t>livenessProbe</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prstClr val="black"/>
                  </a:solidFill>
                </a:rPr>
                <a:t>httpGet</a:t>
              </a:r>
              <a:r>
                <a:rPr lang="en-US" altLang="ko-KR" sz="1000" b="1" dirty="0">
                  <a:solidFill>
                    <a:prstClr val="black"/>
                  </a:solidFill>
                </a:rPr>
                <a:t>:</a:t>
              </a:r>
            </a:p>
            <a:p>
              <a:pPr lvl="0"/>
              <a:r>
                <a:rPr lang="en-US" altLang="ko-KR" sz="1000" b="1" dirty="0">
                  <a:solidFill>
                    <a:prstClr val="black"/>
                  </a:solidFill>
                </a:rPr>
                <a:t>          path: /healthy</a:t>
              </a:r>
            </a:p>
            <a:p>
              <a:pPr lvl="0"/>
              <a:r>
                <a:rPr lang="en-US" altLang="ko-KR" sz="1000" b="1" dirty="0">
                  <a:solidFill>
                    <a:prstClr val="black"/>
                  </a:solidFill>
                </a:rPr>
                <a:t>          port: 8080</a:t>
              </a:r>
            </a:p>
            <a:p>
              <a:pPr lvl="0"/>
              <a:r>
                <a:rPr lang="en-US" altLang="ko-KR" sz="1000" b="1" dirty="0">
                  <a:solidFill>
                    <a:prstClr val="black"/>
                  </a:solidFill>
                </a:rPr>
                <a:t>        </a:t>
              </a:r>
              <a:r>
                <a:rPr lang="en-US" altLang="ko-KR" sz="1000" b="1" dirty="0" err="1">
                  <a:solidFill>
                    <a:prstClr val="black"/>
                  </a:solidFill>
                </a:rPr>
                <a:t>initialDelaySeconds</a:t>
              </a:r>
              <a:r>
                <a:rPr lang="en-US" altLang="ko-KR" sz="1000" b="1" dirty="0">
                  <a:solidFill>
                    <a:prstClr val="black"/>
                  </a:solidFill>
                </a:rPr>
                <a:t>: 5</a:t>
              </a:r>
            </a:p>
            <a:p>
              <a:pPr lvl="0"/>
              <a:r>
                <a:rPr lang="en-US" altLang="ko-KR" sz="1000" b="1" dirty="0">
                  <a:solidFill>
                    <a:prstClr val="black"/>
                  </a:solidFill>
                </a:rPr>
                <a:t>        </a:t>
              </a:r>
              <a:r>
                <a:rPr lang="en-US" altLang="ko-KR" sz="1000" b="1" dirty="0" err="1">
                  <a:solidFill>
                    <a:prstClr val="black"/>
                  </a:solidFill>
                </a:rPr>
                <a:t>timeoutSeconds</a:t>
              </a:r>
              <a:r>
                <a:rPr lang="en-US" altLang="ko-KR" sz="1000" b="1" dirty="0">
                  <a:solidFill>
                    <a:prstClr val="black"/>
                  </a:solidFill>
                </a:rPr>
                <a:t>: 1</a:t>
              </a:r>
            </a:p>
            <a:p>
              <a:pPr lvl="0"/>
              <a:r>
                <a:rPr lang="en-US" altLang="ko-KR" sz="1000" b="1" dirty="0">
                  <a:solidFill>
                    <a:prstClr val="black"/>
                  </a:solidFill>
                </a:rPr>
                <a:t>        </a:t>
              </a:r>
              <a:r>
                <a:rPr lang="en-US" altLang="ko-KR" sz="1000" b="1" dirty="0" err="1">
                  <a:solidFill>
                    <a:prstClr val="black"/>
                  </a:solidFill>
                </a:rPr>
                <a:t>periodSeconds</a:t>
              </a:r>
              <a:r>
                <a:rPr lang="en-US" altLang="ko-KR" sz="1000" b="1" dirty="0">
                  <a:solidFill>
                    <a:prstClr val="black"/>
                  </a:solidFill>
                </a:rPr>
                <a:t>: 10</a:t>
              </a:r>
            </a:p>
            <a:p>
              <a:pPr lvl="0"/>
              <a:r>
                <a:rPr lang="en-US" altLang="ko-KR" sz="1000" b="1" dirty="0">
                  <a:solidFill>
                    <a:prstClr val="black"/>
                  </a:solidFill>
                </a:rPr>
                <a:t>        </a:t>
              </a:r>
              <a:r>
                <a:rPr lang="en-US" altLang="ko-KR" sz="1000" b="1" dirty="0" err="1">
                  <a:solidFill>
                    <a:prstClr val="black"/>
                  </a:solidFill>
                </a:rPr>
                <a:t>failureThreshold</a:t>
              </a:r>
              <a:r>
                <a:rPr lang="en-US" altLang="ko-KR" sz="1000" b="1" dirty="0">
                  <a:solidFill>
                    <a:prstClr val="black"/>
                  </a:solidFill>
                </a:rPr>
                <a:t>: 3</a:t>
              </a:r>
            </a:p>
            <a:p>
              <a:pPr lvl="0"/>
              <a:r>
                <a:rPr lang="en-US" altLang="ko-KR" sz="1000" b="1" dirty="0">
                  <a:solidFill>
                    <a:prstClr val="black"/>
                  </a:solidFill>
                </a:rPr>
                <a:t>      </a:t>
              </a:r>
              <a:r>
                <a:rPr lang="en-US" altLang="ko-KR" sz="1000" b="1" dirty="0" err="1">
                  <a:solidFill>
                    <a:prstClr val="black"/>
                  </a:solidFill>
                </a:rPr>
                <a:t>readinessProbe</a:t>
              </a:r>
              <a:r>
                <a:rPr lang="en-US" altLang="ko-KR" sz="1000" b="1" dirty="0">
                  <a:solidFill>
                    <a:prstClr val="black"/>
                  </a:solidFill>
                </a:rPr>
                <a:t>:</a:t>
              </a:r>
            </a:p>
            <a:p>
              <a:pPr lvl="0"/>
              <a:r>
                <a:rPr lang="en-US" altLang="ko-KR" sz="1000" b="1" dirty="0">
                  <a:solidFill>
                    <a:prstClr val="black"/>
                  </a:solidFill>
                </a:rPr>
                <a:t>        </a:t>
              </a:r>
              <a:r>
                <a:rPr lang="en-US" altLang="ko-KR" sz="1000" b="1" dirty="0" err="1">
                  <a:solidFill>
                    <a:prstClr val="black"/>
                  </a:solidFill>
                </a:rPr>
                <a:t>httpGet</a:t>
              </a:r>
              <a:r>
                <a:rPr lang="en-US" altLang="ko-KR" sz="1000" b="1" dirty="0">
                  <a:solidFill>
                    <a:prstClr val="black"/>
                  </a:solidFill>
                </a:rPr>
                <a:t>:</a:t>
              </a:r>
            </a:p>
            <a:p>
              <a:pPr lvl="0"/>
              <a:r>
                <a:rPr lang="en-US" altLang="ko-KR" sz="1000" b="1" dirty="0">
                  <a:solidFill>
                    <a:prstClr val="black"/>
                  </a:solidFill>
                </a:rPr>
                <a:t>          path: /ready</a:t>
              </a:r>
            </a:p>
            <a:p>
              <a:pPr lvl="0"/>
              <a:r>
                <a:rPr lang="en-US" altLang="ko-KR" sz="1000" b="1" dirty="0">
                  <a:solidFill>
                    <a:prstClr val="black"/>
                  </a:solidFill>
                </a:rPr>
                <a:t>          port: 8080</a:t>
              </a:r>
            </a:p>
            <a:p>
              <a:pPr lvl="0"/>
              <a:r>
                <a:rPr lang="en-US" altLang="ko-KR" sz="1000" b="1" dirty="0">
                  <a:solidFill>
                    <a:prstClr val="black"/>
                  </a:solidFill>
                </a:rPr>
                <a:t>        </a:t>
              </a:r>
              <a:r>
                <a:rPr lang="en-US" altLang="ko-KR" sz="1000" b="1" dirty="0" err="1">
                  <a:solidFill>
                    <a:prstClr val="black"/>
                  </a:solidFill>
                </a:rPr>
                <a:t>initialDelaySeconds</a:t>
              </a:r>
              <a:r>
                <a:rPr lang="en-US" altLang="ko-KR" sz="1000" b="1" dirty="0">
                  <a:solidFill>
                    <a:prstClr val="black"/>
                  </a:solidFill>
                </a:rPr>
                <a:t>: 30</a:t>
              </a:r>
            </a:p>
            <a:p>
              <a:pPr lvl="0"/>
              <a:r>
                <a:rPr lang="en-US" altLang="ko-KR" sz="1000" b="1" dirty="0">
                  <a:solidFill>
                    <a:prstClr val="black"/>
                  </a:solidFill>
                </a:rPr>
                <a:t>        </a:t>
              </a:r>
              <a:r>
                <a:rPr lang="en-US" altLang="ko-KR" sz="1000" b="1" dirty="0" err="1">
                  <a:solidFill>
                    <a:prstClr val="black"/>
                  </a:solidFill>
                </a:rPr>
                <a:t>timeoutSeconds</a:t>
              </a:r>
              <a:r>
                <a:rPr lang="en-US" altLang="ko-KR" sz="1000" b="1" dirty="0">
                  <a:solidFill>
                    <a:prstClr val="black"/>
                  </a:solidFill>
                </a:rPr>
                <a:t>: 1</a:t>
              </a:r>
            </a:p>
            <a:p>
              <a:pPr lvl="0"/>
              <a:r>
                <a:rPr lang="en-US" altLang="ko-KR" sz="1000" b="1" dirty="0">
                  <a:solidFill>
                    <a:prstClr val="black"/>
                  </a:solidFill>
                </a:rPr>
                <a:t>        </a:t>
              </a:r>
              <a:r>
                <a:rPr lang="en-US" altLang="ko-KR" sz="1000" b="1" dirty="0" err="1">
                  <a:solidFill>
                    <a:prstClr val="black"/>
                  </a:solidFill>
                </a:rPr>
                <a:t>periodSeconds</a:t>
              </a:r>
              <a:r>
                <a:rPr lang="en-US" altLang="ko-KR" sz="1000" b="1" dirty="0">
                  <a:solidFill>
                    <a:prstClr val="black"/>
                  </a:solidFill>
                </a:rPr>
                <a:t>: 10</a:t>
              </a:r>
            </a:p>
            <a:p>
              <a:pPr lvl="0"/>
              <a:r>
                <a:rPr lang="en-US" altLang="ko-KR" sz="1000" b="1" dirty="0">
                  <a:solidFill>
                    <a:prstClr val="black"/>
                  </a:solidFill>
                </a:rPr>
                <a:t>        </a:t>
              </a:r>
              <a:r>
                <a:rPr lang="en-US" altLang="ko-KR" sz="1000" b="1" dirty="0" err="1">
                  <a:solidFill>
                    <a:prstClr val="black"/>
                  </a:solidFill>
                </a:rPr>
                <a:t>failureThreshold</a:t>
              </a:r>
              <a:r>
                <a:rPr lang="en-US" altLang="ko-KR" sz="1000" b="1" dirty="0">
                  <a:solidFill>
                    <a:prstClr val="black"/>
                  </a:solidFill>
                </a:rPr>
                <a:t>: 3</a:t>
              </a:r>
            </a:p>
            <a:p>
              <a:pPr lvl="0"/>
              <a:endParaRPr lang="en-US" altLang="ko-KR" sz="1000" b="1" dirty="0">
                <a:solidFill>
                  <a:prstClr val="black"/>
                </a:solidFill>
              </a:endParaRPr>
            </a:p>
            <a:p>
              <a:pPr lvl="0"/>
              <a:endParaRPr lang="en-US" altLang="ko-KR" sz="1000" b="1" dirty="0">
                <a:solidFill>
                  <a:prstClr val="black"/>
                </a:solidFill>
              </a:endParaRPr>
            </a:p>
            <a:p>
              <a:pPr lvl="0"/>
              <a:endParaRPr lang="ko-KR" altLang="en-US" dirty="0"/>
            </a:p>
          </p:txBody>
        </p:sp>
      </p:grpSp>
    </p:spTree>
    <p:extLst>
      <p:ext uri="{BB962C8B-B14F-4D97-AF65-F5344CB8AC3E}">
        <p14:creationId xmlns:p14="http://schemas.microsoft.com/office/powerpoint/2010/main" val="12164454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Running Pod Manifest </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The Result :</a:t>
            </a:r>
          </a:p>
          <a:p>
            <a:pPr lvl="1">
              <a:buFont typeface="Wingdings" panose="05000000000000000000" pitchFamily="2" charset="2"/>
              <a:buChar char="§"/>
            </a:pPr>
            <a:r>
              <a:rPr lang="en-US" altLang="ko-KR" sz="1400" dirty="0"/>
              <a:t>We assume that you are running “</a:t>
            </a:r>
            <a:r>
              <a:rPr lang="en-US" altLang="ko-KR" sz="1400" b="1" dirty="0" err="1"/>
              <a:t>minikube</a:t>
            </a:r>
            <a:r>
              <a:rPr lang="en-US" altLang="ko-KR" sz="1400" dirty="0"/>
              <a:t>” now. Use “</a:t>
            </a:r>
            <a:r>
              <a:rPr lang="en-US" altLang="ko-KR" sz="1400" b="1" dirty="0" err="1"/>
              <a:t>kubectl</a:t>
            </a:r>
            <a:r>
              <a:rPr lang="en-US" altLang="ko-KR" sz="1400" b="1" dirty="0"/>
              <a:t> apply -f </a:t>
            </a:r>
            <a:r>
              <a:rPr lang="en-US" altLang="ko-KR" sz="1400" b="1" dirty="0" err="1"/>
              <a:t>xxx.yaml</a:t>
            </a:r>
            <a:r>
              <a:rPr lang="en-US" altLang="ko-KR" sz="1400" dirty="0"/>
              <a:t>” and “</a:t>
            </a:r>
            <a:r>
              <a:rPr lang="en-US" altLang="ko-KR" sz="1400" b="1" dirty="0" err="1"/>
              <a:t>kubectl</a:t>
            </a:r>
            <a:r>
              <a:rPr lang="en-US" altLang="ko-KR" sz="1400" b="1" dirty="0"/>
              <a:t> describe pods/xxx</a:t>
            </a:r>
            <a:r>
              <a:rPr lang="en-US" altLang="ko-KR" sz="1400" dirty="0"/>
              <a:t>” commands. To remove pod, use “</a:t>
            </a:r>
            <a:r>
              <a:rPr lang="en-US" altLang="ko-KR" sz="1400" b="1" dirty="0" err="1"/>
              <a:t>kubectl</a:t>
            </a:r>
            <a:r>
              <a:rPr lang="en-US" altLang="ko-KR" sz="1400" b="1" dirty="0"/>
              <a:t> delete pods/xxx</a:t>
            </a:r>
            <a:r>
              <a:rPr lang="en-US" altLang="ko-KR" sz="1400" dirty="0"/>
              <a:t>” command.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E5E16D71-CDD0-457A-A454-F36CAAB43173}"/>
              </a:ext>
            </a:extLst>
          </p:cNvPr>
          <p:cNvGrpSpPr/>
          <p:nvPr/>
        </p:nvGrpSpPr>
        <p:grpSpPr>
          <a:xfrm>
            <a:off x="2538142" y="1623571"/>
            <a:ext cx="7115716" cy="4785459"/>
            <a:chOff x="2538142" y="1623571"/>
            <a:chExt cx="7115716" cy="4785459"/>
          </a:xfrm>
        </p:grpSpPr>
        <p:pic>
          <p:nvPicPr>
            <p:cNvPr id="4" name="그림 3">
              <a:extLst>
                <a:ext uri="{FF2B5EF4-FFF2-40B4-BE49-F238E27FC236}">
                  <a16:creationId xmlns:a16="http://schemas.microsoft.com/office/drawing/2014/main" id="{AFB05E19-5B81-4577-A705-CD878EB1EFA4}"/>
                </a:ext>
              </a:extLst>
            </p:cNvPr>
            <p:cNvPicPr>
              <a:picLocks noChangeAspect="1"/>
            </p:cNvPicPr>
            <p:nvPr/>
          </p:nvPicPr>
          <p:blipFill>
            <a:blip r:embed="rId2"/>
            <a:stretch>
              <a:fillRect/>
            </a:stretch>
          </p:blipFill>
          <p:spPr>
            <a:xfrm>
              <a:off x="2538142" y="1623571"/>
              <a:ext cx="7115716" cy="4785459"/>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B8C8DF70-09E8-4981-822F-43C4A8548497}"/>
                </a:ext>
              </a:extLst>
            </p:cNvPr>
            <p:cNvSpPr/>
            <p:nvPr/>
          </p:nvSpPr>
          <p:spPr>
            <a:xfrm>
              <a:off x="2615979" y="3784821"/>
              <a:ext cx="6965343" cy="252484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7782585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solidFill>
                  <a:srgbClr val="FF0000"/>
                </a:solidFill>
              </a:rPr>
              <a:t>Pods</a:t>
            </a:r>
            <a:r>
              <a:rPr lang="en-US" altLang="ko-KR" sz="1400" b="1" dirty="0"/>
              <a:t> represent </a:t>
            </a:r>
            <a:r>
              <a:rPr lang="en-US" altLang="ko-KR" sz="1400" b="1" dirty="0">
                <a:solidFill>
                  <a:srgbClr val="FF0000"/>
                </a:solidFill>
              </a:rPr>
              <a:t>the atomic unit of work </a:t>
            </a:r>
            <a:r>
              <a:rPr lang="en-US" altLang="ko-KR" sz="1400" b="1" dirty="0"/>
              <a:t>in a Kubernetes cluster</a:t>
            </a:r>
            <a:r>
              <a:rPr lang="en-US" altLang="ko-KR" sz="1400" dirty="0"/>
              <a:t>. </a:t>
            </a:r>
            <a:r>
              <a:rPr lang="en-US" altLang="ko-KR" sz="1400" b="1" dirty="0"/>
              <a:t>Pods are comprised of one or more containers working together symbiotically</a:t>
            </a:r>
            <a:r>
              <a:rPr lang="en-US" altLang="ko-KR" sz="1400" dirty="0"/>
              <a:t>. To create a Pod, you write a </a:t>
            </a:r>
            <a:r>
              <a:rPr lang="en-US" altLang="ko-KR" sz="1400" b="1" dirty="0">
                <a:solidFill>
                  <a:srgbClr val="FF0000"/>
                </a:solidFill>
              </a:rPr>
              <a:t>Pod manifest </a:t>
            </a:r>
            <a:r>
              <a:rPr lang="en-US" altLang="ko-KR" sz="1400" dirty="0"/>
              <a:t>and submit it to the </a:t>
            </a:r>
            <a:r>
              <a:rPr lang="en-US" altLang="ko-KR" sz="1400" b="1" dirty="0">
                <a:solidFill>
                  <a:srgbClr val="FF0000"/>
                </a:solidFill>
              </a:rPr>
              <a:t>Kubernetes API server </a:t>
            </a:r>
            <a:r>
              <a:rPr lang="en-US" altLang="ko-KR" sz="1400" dirty="0"/>
              <a:t>by using the command-line tool or (less frequently) by making HTTP and JSON calls to the server directly. </a:t>
            </a:r>
          </a:p>
          <a:p>
            <a:pPr lvl="1">
              <a:buFont typeface="Wingdings" panose="05000000000000000000" pitchFamily="2" charset="2"/>
              <a:buChar char="§"/>
            </a:pPr>
            <a:r>
              <a:rPr lang="en-US" altLang="ko-KR" sz="1400" b="1" dirty="0"/>
              <a:t>Once you’ve submitted the manifest to the API server, the </a:t>
            </a:r>
            <a:r>
              <a:rPr lang="en-US" altLang="ko-KR" sz="1400" b="1" dirty="0">
                <a:solidFill>
                  <a:srgbClr val="FF0000"/>
                </a:solidFill>
              </a:rPr>
              <a:t>Kubernetes scheduler </a:t>
            </a:r>
            <a:r>
              <a:rPr lang="en-US" altLang="ko-KR" sz="1400" b="1" dirty="0"/>
              <a:t>finds a machine where the Pod can fit and schedules the Pod to that machine</a:t>
            </a:r>
            <a:r>
              <a:rPr lang="en-US" altLang="ko-KR" sz="1400" dirty="0"/>
              <a:t>. Once scheduled, the </a:t>
            </a:r>
            <a:r>
              <a:rPr lang="en-US" altLang="ko-KR" sz="1400" b="1" dirty="0" err="1">
                <a:solidFill>
                  <a:srgbClr val="FF0000"/>
                </a:solidFill>
              </a:rPr>
              <a:t>kubelet</a:t>
            </a:r>
            <a:r>
              <a:rPr lang="en-US" altLang="ko-KR" sz="1400" dirty="0"/>
              <a:t> </a:t>
            </a:r>
            <a:r>
              <a:rPr lang="en-US" altLang="ko-KR" sz="1400" b="1" dirty="0"/>
              <a:t>daemon on that machine is responsible for creating the containers that correspond to the Pod, as well as performing any health checks defined in the Pod manifest</a:t>
            </a:r>
            <a:r>
              <a:rPr lang="en-US" altLang="ko-KR" sz="1400" dirty="0"/>
              <a:t>.</a:t>
            </a:r>
          </a:p>
          <a:p>
            <a:pPr lvl="1">
              <a:buFont typeface="Wingdings" panose="05000000000000000000" pitchFamily="2" charset="2"/>
              <a:buChar char="§"/>
            </a:pPr>
            <a:r>
              <a:rPr lang="en-US" altLang="ko-KR" sz="1400" b="1" dirty="0">
                <a:solidFill>
                  <a:srgbClr val="FF0000"/>
                </a:solidFill>
              </a:rPr>
              <a:t>Once a Pod is scheduled to a node, no rescheduling occurs if that node fails</a:t>
            </a:r>
            <a:r>
              <a:rPr lang="en-US" altLang="ko-KR" sz="1400" dirty="0"/>
              <a:t>. </a:t>
            </a:r>
            <a:r>
              <a:rPr lang="en-US" altLang="ko-KR" sz="1400" b="1" dirty="0"/>
              <a:t>Additionally, to create multiple replicas of the same Pod you have to create and name them manually</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32D3F1A-DA3E-4255-AD1C-FA358F36BECD}"/>
              </a:ext>
            </a:extLst>
          </p:cNvPr>
          <p:cNvPicPr>
            <a:picLocks noChangeAspect="1"/>
          </p:cNvPicPr>
          <p:nvPr/>
        </p:nvPicPr>
        <p:blipFill>
          <a:blip r:embed="rId2"/>
          <a:stretch>
            <a:fillRect/>
          </a:stretch>
        </p:blipFill>
        <p:spPr>
          <a:xfrm>
            <a:off x="3404152" y="3192272"/>
            <a:ext cx="5383695" cy="3216758"/>
          </a:xfrm>
          <a:prstGeom prst="rect">
            <a:avLst/>
          </a:prstGeom>
        </p:spPr>
      </p:pic>
    </p:spTree>
    <p:extLst>
      <p:ext uri="{BB962C8B-B14F-4D97-AF65-F5344CB8AC3E}">
        <p14:creationId xmlns:p14="http://schemas.microsoft.com/office/powerpoint/2010/main" val="36302693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Labels and Annotations</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0322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Labels and Annotations?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Labels &amp; Annotations :</a:t>
            </a:r>
          </a:p>
          <a:p>
            <a:pPr lvl="1">
              <a:buFont typeface="Wingdings" panose="05000000000000000000" pitchFamily="2" charset="2"/>
              <a:buChar char="§"/>
            </a:pPr>
            <a:r>
              <a:rPr lang="en-US" altLang="ko-KR" sz="1400" b="1" dirty="0"/>
              <a:t>Kubernetes was made to grow with you as your application scales in both size and complexity</a:t>
            </a:r>
            <a:r>
              <a:rPr lang="en-US" altLang="ko-KR" sz="1400" dirty="0"/>
              <a:t>. With this in mind, labels and annotations were added as </a:t>
            </a:r>
            <a:r>
              <a:rPr lang="en-US" altLang="ko-KR" sz="1400" b="1" dirty="0"/>
              <a:t>foundational concepts</a:t>
            </a:r>
            <a:r>
              <a:rPr lang="en-US" altLang="ko-KR" sz="1400" dirty="0"/>
              <a:t>. </a:t>
            </a:r>
            <a:r>
              <a:rPr lang="en-US" altLang="ko-KR" sz="1400" b="1" dirty="0">
                <a:solidFill>
                  <a:srgbClr val="FF0000"/>
                </a:solidFill>
              </a:rPr>
              <a:t>Labels and annotations let you work in sets of things that map to how you think about your application</a:t>
            </a:r>
            <a:r>
              <a:rPr lang="en-US" altLang="ko-KR" sz="1400" dirty="0"/>
              <a:t>. </a:t>
            </a:r>
            <a:r>
              <a:rPr lang="en-US" altLang="ko-KR" sz="1400" b="1" dirty="0"/>
              <a:t>You can organize, mark, and cross-index all of your resources to represent the groups </a:t>
            </a:r>
            <a:r>
              <a:rPr lang="en-US" altLang="ko-KR" sz="1400" dirty="0"/>
              <a:t>that make the most sense for your application.</a:t>
            </a:r>
          </a:p>
          <a:p>
            <a:pPr lvl="1">
              <a:buFont typeface="Wingdings" panose="05000000000000000000" pitchFamily="2" charset="2"/>
              <a:buChar char="§"/>
            </a:pPr>
            <a:r>
              <a:rPr lang="en-US" altLang="ko-KR" sz="1400" b="1" dirty="0">
                <a:solidFill>
                  <a:srgbClr val="FF0000"/>
                </a:solidFill>
              </a:rPr>
              <a:t>Labels </a:t>
            </a:r>
            <a:r>
              <a:rPr lang="en-US" altLang="ko-KR" sz="1400" b="1" dirty="0"/>
              <a:t>are </a:t>
            </a:r>
            <a:r>
              <a:rPr lang="en-US" altLang="ko-KR" sz="1400" b="1" dirty="0">
                <a:solidFill>
                  <a:srgbClr val="FF0000"/>
                </a:solidFill>
              </a:rPr>
              <a:t>key/value pairs </a:t>
            </a:r>
            <a:r>
              <a:rPr lang="en-US" altLang="ko-KR" sz="1400" b="1" dirty="0"/>
              <a:t>that can be attached to Kubernetes objects such as </a:t>
            </a:r>
            <a:r>
              <a:rPr lang="en-US" altLang="ko-KR" sz="1400" b="1" dirty="0">
                <a:solidFill>
                  <a:srgbClr val="FF0000"/>
                </a:solidFill>
              </a:rPr>
              <a:t>Pods</a:t>
            </a:r>
            <a:r>
              <a:rPr lang="en-US" altLang="ko-KR" sz="1400" b="1" dirty="0"/>
              <a:t> and </a:t>
            </a:r>
            <a:r>
              <a:rPr lang="en-US" altLang="ko-KR" sz="1400" b="1" dirty="0" err="1">
                <a:solidFill>
                  <a:srgbClr val="FF0000"/>
                </a:solidFill>
              </a:rPr>
              <a:t>ReplicaSets</a:t>
            </a:r>
            <a:r>
              <a:rPr lang="en-US" altLang="ko-KR" sz="1400" dirty="0"/>
              <a:t>. They can be arbitrary, and are useful for </a:t>
            </a:r>
            <a:r>
              <a:rPr lang="en-US" altLang="ko-KR" sz="1400" b="1" dirty="0"/>
              <a:t>attaching </a:t>
            </a:r>
            <a:r>
              <a:rPr lang="en-US" altLang="ko-KR" sz="1400" b="1" dirty="0">
                <a:solidFill>
                  <a:srgbClr val="FF0000"/>
                </a:solidFill>
              </a:rPr>
              <a:t>identifying information to Kubernetes objects</a:t>
            </a:r>
            <a:r>
              <a:rPr lang="en-US" altLang="ko-KR" sz="1400" dirty="0"/>
              <a:t>. </a:t>
            </a:r>
            <a:r>
              <a:rPr lang="en-US" altLang="ko-KR" sz="1400" b="1" dirty="0"/>
              <a:t>Labels provide the foundation for grouping objects</a:t>
            </a:r>
            <a:r>
              <a:rPr lang="en-US" altLang="ko-KR" sz="1400" dirty="0"/>
              <a:t>.</a:t>
            </a:r>
          </a:p>
          <a:p>
            <a:pPr lvl="1">
              <a:buFont typeface="Wingdings" panose="05000000000000000000" pitchFamily="2" charset="2"/>
              <a:buChar char="§"/>
            </a:pPr>
            <a:r>
              <a:rPr lang="en-US" altLang="ko-KR" sz="1400" b="1" dirty="0">
                <a:solidFill>
                  <a:srgbClr val="FF0000"/>
                </a:solidFill>
              </a:rPr>
              <a:t>Annotations</a:t>
            </a:r>
            <a:r>
              <a:rPr lang="en-US" altLang="ko-KR" sz="1400" dirty="0"/>
              <a:t>, </a:t>
            </a:r>
            <a:r>
              <a:rPr lang="en-US" altLang="ko-KR" sz="1400" b="1" dirty="0"/>
              <a:t>on the other hand, provide a storage mechanism that resembles labels</a:t>
            </a:r>
            <a:r>
              <a:rPr lang="en-US" altLang="ko-KR" sz="1400" dirty="0"/>
              <a:t>: </a:t>
            </a:r>
            <a:r>
              <a:rPr lang="en-US" altLang="ko-KR" sz="1400" b="1" dirty="0"/>
              <a:t>annotations are </a:t>
            </a:r>
            <a:r>
              <a:rPr lang="en-US" altLang="ko-KR" sz="1400" b="1" dirty="0">
                <a:solidFill>
                  <a:srgbClr val="FF0000"/>
                </a:solidFill>
              </a:rPr>
              <a:t>key/value pairs</a:t>
            </a:r>
            <a:r>
              <a:rPr lang="en-US" altLang="ko-KR" sz="1400" b="1" dirty="0"/>
              <a:t> designed to </a:t>
            </a:r>
            <a:r>
              <a:rPr lang="en-US" altLang="ko-KR" sz="1400" b="1" dirty="0">
                <a:solidFill>
                  <a:srgbClr val="FF0000"/>
                </a:solidFill>
              </a:rPr>
              <a:t>hold nonidentifying information </a:t>
            </a:r>
            <a:r>
              <a:rPr lang="en-US" altLang="ko-KR" sz="1400" dirty="0"/>
              <a:t>that can be leveraged by tools and libraries.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916DA55D-7010-4473-A987-CE922CF8D6C8}"/>
              </a:ext>
            </a:extLst>
          </p:cNvPr>
          <p:cNvGrpSpPr/>
          <p:nvPr/>
        </p:nvGrpSpPr>
        <p:grpSpPr>
          <a:xfrm>
            <a:off x="3889960" y="3181174"/>
            <a:ext cx="4412080" cy="3227856"/>
            <a:chOff x="3889960" y="3181174"/>
            <a:chExt cx="4412080" cy="3227856"/>
          </a:xfrm>
        </p:grpSpPr>
        <p:pic>
          <p:nvPicPr>
            <p:cNvPr id="4" name="그림 3">
              <a:extLst>
                <a:ext uri="{FF2B5EF4-FFF2-40B4-BE49-F238E27FC236}">
                  <a16:creationId xmlns:a16="http://schemas.microsoft.com/office/drawing/2014/main" id="{FFD7245E-9993-492F-99BA-3882EBFCDD4F}"/>
                </a:ext>
              </a:extLst>
            </p:cNvPr>
            <p:cNvPicPr>
              <a:picLocks noChangeAspect="1"/>
            </p:cNvPicPr>
            <p:nvPr/>
          </p:nvPicPr>
          <p:blipFill>
            <a:blip r:embed="rId2"/>
            <a:stretch>
              <a:fillRect/>
            </a:stretch>
          </p:blipFill>
          <p:spPr>
            <a:xfrm>
              <a:off x="3889960" y="3181174"/>
              <a:ext cx="4412080" cy="3227856"/>
            </a:xfrm>
            <a:prstGeom prst="rect">
              <a:avLst/>
            </a:prstGeom>
          </p:spPr>
        </p:pic>
        <p:sp>
          <p:nvSpPr>
            <p:cNvPr id="8" name="직사각형 7">
              <a:extLst>
                <a:ext uri="{FF2B5EF4-FFF2-40B4-BE49-F238E27FC236}">
                  <a16:creationId xmlns:a16="http://schemas.microsoft.com/office/drawing/2014/main" id="{5EDB0E19-CAE9-44B9-8FCE-E43C5F123198}"/>
                </a:ext>
              </a:extLst>
            </p:cNvPr>
            <p:cNvSpPr/>
            <p:nvPr/>
          </p:nvSpPr>
          <p:spPr>
            <a:xfrm>
              <a:off x="6520070" y="4118776"/>
              <a:ext cx="962107" cy="60429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438725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Identifying Metadata for Objects :</a:t>
            </a:r>
          </a:p>
          <a:p>
            <a:pPr lvl="1">
              <a:buFont typeface="Wingdings" panose="05000000000000000000" pitchFamily="2" charset="2"/>
              <a:buChar char="§"/>
            </a:pPr>
            <a:r>
              <a:rPr lang="en-US" altLang="ko-KR" sz="1400" b="1" dirty="0"/>
              <a:t>Labels provide identifying metadata for objects</a:t>
            </a:r>
            <a:r>
              <a:rPr lang="en-US" altLang="ko-KR" sz="1400" dirty="0"/>
              <a:t>. These are </a:t>
            </a:r>
            <a:r>
              <a:rPr lang="en-US" altLang="ko-KR" sz="1400" b="1" dirty="0"/>
              <a:t>fundamental qualities of the object</a:t>
            </a:r>
            <a:r>
              <a:rPr lang="en-US" altLang="ko-KR" sz="1400" dirty="0"/>
              <a:t> that will be used for </a:t>
            </a:r>
            <a:r>
              <a:rPr lang="en-US" altLang="ko-KR" sz="1400" b="1" dirty="0">
                <a:solidFill>
                  <a:srgbClr val="FF0000"/>
                </a:solidFill>
              </a:rPr>
              <a:t>grouping</a:t>
            </a:r>
            <a:r>
              <a:rPr lang="en-US" altLang="ko-KR" sz="1400" dirty="0"/>
              <a:t>, </a:t>
            </a:r>
            <a:r>
              <a:rPr lang="en-US" altLang="ko-KR" sz="1400" b="1" dirty="0">
                <a:solidFill>
                  <a:srgbClr val="FF0000"/>
                </a:solidFill>
              </a:rPr>
              <a:t>viewing</a:t>
            </a:r>
            <a:r>
              <a:rPr lang="en-US" altLang="ko-KR" sz="1400" dirty="0"/>
              <a:t>, and </a:t>
            </a:r>
            <a:r>
              <a:rPr lang="en-US" altLang="ko-KR" sz="1400" b="1" dirty="0">
                <a:solidFill>
                  <a:srgbClr val="FF0000"/>
                </a:solidFill>
              </a:rPr>
              <a:t>operating</a:t>
            </a:r>
            <a:r>
              <a:rPr lang="en-US" altLang="ko-KR" sz="1400" dirty="0"/>
              <a:t>.</a:t>
            </a:r>
          </a:p>
          <a:p>
            <a:pPr lvl="1">
              <a:buFont typeface="Wingdings" panose="05000000000000000000" pitchFamily="2" charset="2"/>
              <a:buChar char="§"/>
            </a:pPr>
            <a:r>
              <a:rPr lang="en-US" altLang="ko-KR" sz="1400" b="1" dirty="0"/>
              <a:t>NOTE : The motivations for labels grew out of Google’s experience in running large and complex applications</a:t>
            </a:r>
            <a:r>
              <a:rPr lang="en-US" altLang="ko-KR" sz="1400" dirty="0"/>
              <a:t>. There were a couple of lessons that emerged from this experience. See the great site reliability book </a:t>
            </a:r>
            <a:r>
              <a:rPr lang="en-US" altLang="ko-KR" sz="1400" b="1" dirty="0">
                <a:hlinkClick r:id="rId2"/>
              </a:rPr>
              <a:t>Site Reliability Engineering by Betsy Beyer et al. (O’Reilly)</a:t>
            </a:r>
            <a:r>
              <a:rPr lang="en-US" altLang="ko-KR" sz="1400" dirty="0"/>
              <a:t> for some deeper background on how Google approaches production systems. </a:t>
            </a:r>
          </a:p>
          <a:p>
            <a:pPr lvl="2">
              <a:buFont typeface="Wingdings" panose="05000000000000000000" pitchFamily="2" charset="2"/>
              <a:buChar char="§"/>
            </a:pPr>
            <a:r>
              <a:rPr lang="en-US" altLang="ko-KR" sz="1400" b="1" dirty="0"/>
              <a:t>The first lesson is that production abhors a singleton</a:t>
            </a:r>
            <a:r>
              <a:rPr lang="en-US" altLang="ko-KR" sz="1400" dirty="0"/>
              <a:t>. When deploying software, users will often start with a single instance. However, </a:t>
            </a:r>
            <a:r>
              <a:rPr lang="en-US" altLang="ko-KR" sz="1400" b="1" dirty="0"/>
              <a:t>as the application matures, these singletons often multiply and become sets of objects</a:t>
            </a:r>
            <a:r>
              <a:rPr lang="en-US" altLang="ko-KR" sz="1400" dirty="0"/>
              <a:t>. With this in mind, </a:t>
            </a:r>
            <a:r>
              <a:rPr lang="en-US" altLang="ko-KR" sz="1400" b="1" dirty="0"/>
              <a:t>Kubernetes uses labels to </a:t>
            </a:r>
            <a:r>
              <a:rPr lang="en-US" altLang="ko-KR" sz="1400" b="1" dirty="0">
                <a:solidFill>
                  <a:srgbClr val="FF0000"/>
                </a:solidFill>
              </a:rPr>
              <a:t>deal with sets of objects </a:t>
            </a:r>
            <a:r>
              <a:rPr lang="en-US" altLang="ko-KR" sz="1400" b="1" dirty="0"/>
              <a:t>instead of single instances</a:t>
            </a:r>
            <a:r>
              <a:rPr lang="en-US" altLang="ko-KR" sz="1400" dirty="0"/>
              <a:t>. </a:t>
            </a:r>
          </a:p>
          <a:p>
            <a:pPr lvl="2">
              <a:buFont typeface="Wingdings" panose="05000000000000000000" pitchFamily="2" charset="2"/>
              <a:buChar char="§"/>
            </a:pPr>
            <a:r>
              <a:rPr lang="en-US" altLang="ko-KR" sz="1400" b="1" dirty="0"/>
              <a:t>The second lesson is that any hierarchy imposed by the system will fall short for many users</a:t>
            </a:r>
            <a:r>
              <a:rPr lang="en-US" altLang="ko-KR" sz="1400" dirty="0"/>
              <a:t>. In addition, user groupings and hierarchies are subject to change over time. For instance, a user may start out with the idea that all apps are made up of many services. However, </a:t>
            </a:r>
            <a:r>
              <a:rPr lang="en-US" altLang="ko-KR" sz="1400" b="1" dirty="0"/>
              <a:t>over time, a service may be shared across multiple apps. </a:t>
            </a:r>
            <a:r>
              <a:rPr lang="en-US" altLang="ko-KR" sz="1400" b="1" dirty="0">
                <a:solidFill>
                  <a:srgbClr val="FF0000"/>
                </a:solidFill>
              </a:rPr>
              <a:t>Kubernetes labels are flexible </a:t>
            </a:r>
            <a:r>
              <a:rPr lang="en-US" altLang="ko-KR" sz="1400" b="1" dirty="0"/>
              <a:t>enough to adapt to these situations and more.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69964CB3-2121-46E2-A86C-158ADCF353A2}"/>
              </a:ext>
            </a:extLst>
          </p:cNvPr>
          <p:cNvPicPr>
            <a:picLocks noChangeAspect="1"/>
          </p:cNvPicPr>
          <p:nvPr/>
        </p:nvPicPr>
        <p:blipFill>
          <a:blip r:embed="rId3"/>
          <a:stretch>
            <a:fillRect/>
          </a:stretch>
        </p:blipFill>
        <p:spPr>
          <a:xfrm>
            <a:off x="7865456" y="3824224"/>
            <a:ext cx="3488344" cy="2584806"/>
          </a:xfrm>
          <a:prstGeom prst="rect">
            <a:avLst/>
          </a:prstGeom>
        </p:spPr>
      </p:pic>
    </p:spTree>
    <p:extLst>
      <p:ext uri="{BB962C8B-B14F-4D97-AF65-F5344CB8AC3E}">
        <p14:creationId xmlns:p14="http://schemas.microsoft.com/office/powerpoint/2010/main" val="299750938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Identifying Metadata for Objects :</a:t>
            </a:r>
          </a:p>
          <a:p>
            <a:pPr lvl="1">
              <a:buFont typeface="Wingdings" panose="05000000000000000000" pitchFamily="2" charset="2"/>
              <a:buChar char="§"/>
            </a:pPr>
            <a:r>
              <a:rPr lang="en-US" altLang="ko-KR" sz="1400" b="1" dirty="0"/>
              <a:t>Labels have simple syntax. They are “</a:t>
            </a:r>
            <a:r>
              <a:rPr lang="en-US" altLang="ko-KR" sz="1400" b="1" dirty="0">
                <a:solidFill>
                  <a:srgbClr val="FF0000"/>
                </a:solidFill>
              </a:rPr>
              <a:t>key/value pairs</a:t>
            </a:r>
            <a:r>
              <a:rPr lang="en-US" altLang="ko-KR" sz="1400" b="1" dirty="0"/>
              <a:t>”, where both the key and value are represented by strings</a:t>
            </a:r>
            <a:r>
              <a:rPr lang="en-US" altLang="ko-KR" sz="1400" dirty="0"/>
              <a:t>. Label keys can be broken down into two parts: </a:t>
            </a:r>
            <a:r>
              <a:rPr lang="en-US" altLang="ko-KR" sz="1400" b="1" dirty="0"/>
              <a:t>an optional </a:t>
            </a:r>
            <a:r>
              <a:rPr lang="en-US" altLang="ko-KR" sz="1400" b="1" dirty="0">
                <a:solidFill>
                  <a:srgbClr val="FF0000"/>
                </a:solidFill>
              </a:rPr>
              <a:t>prefix</a:t>
            </a:r>
            <a:r>
              <a:rPr lang="en-US" altLang="ko-KR" sz="1400" b="1" dirty="0"/>
              <a:t> and a </a:t>
            </a:r>
            <a:r>
              <a:rPr lang="en-US" altLang="ko-KR" sz="1400" b="1" dirty="0">
                <a:solidFill>
                  <a:srgbClr val="FF0000"/>
                </a:solidFill>
              </a:rPr>
              <a:t>name</a:t>
            </a:r>
            <a:r>
              <a:rPr lang="en-US" altLang="ko-KR" sz="1400" dirty="0"/>
              <a:t>, </a:t>
            </a:r>
            <a:r>
              <a:rPr lang="en-US" altLang="ko-KR" sz="1400" b="1" dirty="0"/>
              <a:t>separated by a slash</a:t>
            </a:r>
            <a:r>
              <a:rPr lang="en-US" altLang="ko-KR" sz="1400" dirty="0"/>
              <a:t>. </a:t>
            </a:r>
            <a:r>
              <a:rPr lang="en-US" altLang="ko-KR" sz="1400" b="1" dirty="0">
                <a:solidFill>
                  <a:srgbClr val="FF0000"/>
                </a:solidFill>
              </a:rPr>
              <a:t>The prefix, if specified, must be a “DNS subdomain” with a 253-character limit</a:t>
            </a:r>
            <a:r>
              <a:rPr lang="en-US" altLang="ko-KR" sz="1400" dirty="0"/>
              <a:t>. </a:t>
            </a:r>
            <a:r>
              <a:rPr lang="en-US" altLang="ko-KR" sz="1400" b="1" dirty="0">
                <a:solidFill>
                  <a:srgbClr val="FF0000"/>
                </a:solidFill>
              </a:rPr>
              <a:t>The key name is required and must be shorter than 63 characters</a:t>
            </a:r>
            <a:r>
              <a:rPr lang="en-US" altLang="ko-KR" sz="1400" dirty="0"/>
              <a:t>. Names must also start and end with an alphanumeric character and permit the use of dashes (-), underscores (_), and dots (.) between characters.</a:t>
            </a:r>
          </a:p>
          <a:p>
            <a:pPr lvl="1">
              <a:buFont typeface="Wingdings" panose="05000000000000000000" pitchFamily="2" charset="2"/>
              <a:buChar char="§"/>
            </a:pPr>
            <a:r>
              <a:rPr lang="en-US" altLang="ko-KR" sz="1400" b="1" dirty="0"/>
              <a:t>Label values are strings with a maximum length of 63 characters</a:t>
            </a:r>
            <a:r>
              <a:rPr lang="en-US" altLang="ko-KR" sz="1400" dirty="0"/>
              <a:t>. The contents of the label values follow the same rules as for label keys.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When domain names are used in labels and annotations they are expected to be aligned to that particular entity in some way. </a:t>
            </a:r>
            <a:r>
              <a:rPr lang="en-US" altLang="ko-KR" sz="1400" dirty="0"/>
              <a:t>For example, a project might define a canonical set of labels used to </a:t>
            </a:r>
            <a:r>
              <a:rPr lang="en-US" altLang="ko-KR" sz="1400" b="1" dirty="0"/>
              <a:t>identify the various stages of application deployment </a:t>
            </a:r>
            <a:r>
              <a:rPr lang="en-US" altLang="ko-KR" sz="1400" dirty="0"/>
              <a:t>(e.g., </a:t>
            </a:r>
            <a:r>
              <a:rPr lang="en-US" altLang="ko-KR" sz="1400" b="1" dirty="0"/>
              <a:t>staging</a:t>
            </a:r>
            <a:r>
              <a:rPr lang="en-US" altLang="ko-KR" sz="1400" dirty="0"/>
              <a:t>, </a:t>
            </a:r>
            <a:r>
              <a:rPr lang="en-US" altLang="ko-KR" sz="1400" b="1" dirty="0"/>
              <a:t>canary</a:t>
            </a:r>
            <a:r>
              <a:rPr lang="en-US" altLang="ko-KR" sz="1400" dirty="0"/>
              <a:t>, </a:t>
            </a:r>
            <a:r>
              <a:rPr lang="en-US" altLang="ko-KR" sz="1400" b="1" dirty="0"/>
              <a:t>production</a:t>
            </a:r>
            <a:r>
              <a:rPr lang="en-US" altLang="ko-KR" sz="1400" dirty="0"/>
              <a:t>). Or a cloud provider might define </a:t>
            </a:r>
            <a:r>
              <a:rPr lang="en-US" altLang="ko-KR" sz="1400" b="1" dirty="0"/>
              <a:t>provider-specific annotations</a:t>
            </a:r>
            <a:r>
              <a:rPr lang="en-US" altLang="ko-KR" sz="1400" dirty="0"/>
              <a:t> </a:t>
            </a:r>
            <a:r>
              <a:rPr lang="en-US" altLang="ko-KR" sz="1400" b="1" dirty="0"/>
              <a:t>that extend Kubernetes objects to activate features specific to their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ADFDC8EF-DDB4-40F2-8AF2-4BB0582DD0B2}"/>
              </a:ext>
            </a:extLst>
          </p:cNvPr>
          <p:cNvPicPr>
            <a:picLocks noChangeAspect="1"/>
          </p:cNvPicPr>
          <p:nvPr/>
        </p:nvPicPr>
        <p:blipFill>
          <a:blip r:embed="rId2"/>
          <a:stretch>
            <a:fillRect/>
          </a:stretch>
        </p:blipFill>
        <p:spPr>
          <a:xfrm>
            <a:off x="4760720" y="2786087"/>
            <a:ext cx="2670559" cy="1285825"/>
          </a:xfrm>
          <a:prstGeom prst="rect">
            <a:avLst/>
          </a:prstGeom>
        </p:spPr>
      </p:pic>
    </p:spTree>
    <p:extLst>
      <p:ext uri="{BB962C8B-B14F-4D97-AF65-F5344CB8AC3E}">
        <p14:creationId xmlns:p14="http://schemas.microsoft.com/office/powerpoint/2010/main" val="27408299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Labels :</a:t>
            </a:r>
          </a:p>
          <a:p>
            <a:pPr lvl="1">
              <a:buFont typeface="Wingdings" panose="05000000000000000000" pitchFamily="2" charset="2"/>
              <a:buChar char="§"/>
            </a:pPr>
            <a:r>
              <a:rPr lang="en-US" altLang="ko-KR" sz="1400" b="1" dirty="0"/>
              <a:t>Here we create a few deployments (a way to create an array of Pods) with some interesting labels</a:t>
            </a:r>
            <a:r>
              <a:rPr lang="en-US" altLang="ko-KR" sz="1400" dirty="0"/>
              <a:t>. We’ll take two apps (called </a:t>
            </a:r>
            <a:r>
              <a:rPr lang="en-US" altLang="ko-KR" sz="1400" b="1" dirty="0"/>
              <a:t>alpaca</a:t>
            </a:r>
            <a:r>
              <a:rPr lang="en-US" altLang="ko-KR" sz="1400" dirty="0"/>
              <a:t> and </a:t>
            </a:r>
            <a:r>
              <a:rPr lang="en-US" altLang="ko-KR" sz="1400" b="1" dirty="0"/>
              <a:t>bandicoot</a:t>
            </a:r>
            <a:r>
              <a:rPr lang="en-US" altLang="ko-KR" sz="1400" dirty="0"/>
              <a:t>) and have two environments for each. </a:t>
            </a:r>
            <a:r>
              <a:rPr lang="en-US" altLang="ko-KR" sz="1400" b="1" dirty="0"/>
              <a:t>We will also have two different versions </a:t>
            </a:r>
            <a:r>
              <a:rPr lang="en-US" altLang="ko-KR" sz="1400" dirty="0"/>
              <a:t>:</a:t>
            </a:r>
          </a:p>
          <a:p>
            <a:pPr marL="1257300" lvl="2" indent="-342900">
              <a:buFont typeface="+mj-lt"/>
              <a:buAutoNum type="arabicPeriod"/>
            </a:pPr>
            <a:r>
              <a:rPr lang="en-US" altLang="ko-KR" sz="1400" dirty="0"/>
              <a:t>First, create the </a:t>
            </a:r>
            <a:r>
              <a:rPr lang="en-US" altLang="ko-KR" sz="1400" b="1" dirty="0"/>
              <a:t>alpaca-prod</a:t>
            </a:r>
            <a:r>
              <a:rPr lang="en-US" altLang="ko-KR" sz="1400" dirty="0"/>
              <a:t> deployment and set the </a:t>
            </a:r>
            <a:r>
              <a:rPr lang="en-US" altLang="ko-KR" sz="1400" b="1" dirty="0" err="1"/>
              <a:t>ver</a:t>
            </a:r>
            <a:r>
              <a:rPr lang="en-US" altLang="ko-KR" sz="1400" dirty="0"/>
              <a:t>, </a:t>
            </a:r>
            <a:r>
              <a:rPr lang="en-US" altLang="ko-KR" sz="1400" b="1" dirty="0"/>
              <a:t>app</a:t>
            </a:r>
            <a:r>
              <a:rPr lang="en-US" altLang="ko-KR" sz="1400" dirty="0"/>
              <a:t>, and </a:t>
            </a:r>
            <a:r>
              <a:rPr lang="en-US" altLang="ko-KR" sz="1400" b="1" dirty="0"/>
              <a:t>env</a:t>
            </a:r>
            <a:r>
              <a:rPr lang="en-US" altLang="ko-KR" sz="1400" dirty="0"/>
              <a:t> labels with the following command :</a:t>
            </a:r>
          </a:p>
          <a:p>
            <a:pPr marL="1257300" lvl="2" indent="-342900">
              <a:buFont typeface="+mj-lt"/>
              <a:buAutoNum type="arabicPeriod"/>
            </a:pPr>
            <a:endParaRPr lang="en-US" altLang="ko-KR" sz="1400" dirty="0"/>
          </a:p>
          <a:p>
            <a:pPr marL="1257300" lvl="2" indent="-342900">
              <a:buFont typeface="+mj-lt"/>
              <a:buAutoNum type="arabicPeriod"/>
            </a:pPr>
            <a:endParaRPr lang="en-US" altLang="ko-KR" sz="1400" dirty="0"/>
          </a:p>
          <a:p>
            <a:pPr marL="1257300" lvl="2" indent="-342900">
              <a:buFont typeface="+mj-lt"/>
              <a:buAutoNum type="arabicPeriod"/>
            </a:pPr>
            <a:r>
              <a:rPr lang="en-US" altLang="ko-KR" sz="1400" dirty="0"/>
              <a:t>Next, create the </a:t>
            </a:r>
            <a:r>
              <a:rPr lang="en-US" altLang="ko-KR" sz="1400" b="1" dirty="0"/>
              <a:t>alpaca-test</a:t>
            </a:r>
            <a:r>
              <a:rPr lang="en-US" altLang="ko-KR" sz="1400" dirty="0"/>
              <a:t> deployment and set the </a:t>
            </a:r>
            <a:r>
              <a:rPr lang="en-US" altLang="ko-KR" sz="1400" b="1" dirty="0" err="1"/>
              <a:t>ver</a:t>
            </a:r>
            <a:r>
              <a:rPr lang="en-US" altLang="ko-KR" sz="1400" dirty="0"/>
              <a:t>, </a:t>
            </a:r>
            <a:r>
              <a:rPr lang="en-US" altLang="ko-KR" sz="1400" b="1" dirty="0"/>
              <a:t>app</a:t>
            </a:r>
            <a:r>
              <a:rPr lang="en-US" altLang="ko-KR" sz="1400" dirty="0"/>
              <a:t>, and </a:t>
            </a:r>
            <a:r>
              <a:rPr lang="en-US" altLang="ko-KR" sz="1400" b="1" dirty="0"/>
              <a:t>env</a:t>
            </a:r>
            <a:r>
              <a:rPr lang="en-US" altLang="ko-KR" sz="1400" dirty="0"/>
              <a:t> labels with the appropriate values :</a:t>
            </a:r>
          </a:p>
          <a:p>
            <a:pPr marL="1257300" lvl="2" indent="-342900">
              <a:buFont typeface="+mj-lt"/>
              <a:buAutoNum type="arabicPeriod"/>
            </a:pPr>
            <a:endParaRPr lang="en-US" altLang="ko-KR" sz="1400" dirty="0"/>
          </a:p>
          <a:p>
            <a:pPr marL="1257300" lvl="2" indent="-342900">
              <a:buFont typeface="+mj-lt"/>
              <a:buAutoNum type="arabicPeriod"/>
            </a:pPr>
            <a:endParaRPr lang="en-US" altLang="ko-KR" sz="1400" dirty="0"/>
          </a:p>
          <a:p>
            <a:pPr marL="1257300" lvl="2" indent="-342900">
              <a:buFont typeface="+mj-lt"/>
              <a:buAutoNum type="arabicPeriod"/>
            </a:pPr>
            <a:r>
              <a:rPr lang="en-US" altLang="ko-KR" sz="1400" dirty="0"/>
              <a:t>Finally, create two deployments for </a:t>
            </a:r>
            <a:r>
              <a:rPr lang="en-US" altLang="ko-KR" sz="1400" b="1" dirty="0"/>
              <a:t>bandicoot</a:t>
            </a:r>
            <a:r>
              <a:rPr lang="en-US" altLang="ko-KR" sz="1400" dirty="0"/>
              <a:t>. Here we name the environments </a:t>
            </a:r>
            <a:r>
              <a:rPr lang="en-US" altLang="ko-KR" sz="1400" b="1" dirty="0"/>
              <a:t>prod</a:t>
            </a:r>
            <a:r>
              <a:rPr lang="en-US" altLang="ko-KR" sz="1400" dirty="0"/>
              <a:t> and </a:t>
            </a:r>
            <a:r>
              <a:rPr lang="en-US" altLang="ko-KR" sz="1400" b="1" dirty="0"/>
              <a:t>staging</a:t>
            </a:r>
            <a:r>
              <a:rPr lang="en-US" altLang="ko-KR" sz="1400" dirty="0"/>
              <a:t> :</a:t>
            </a:r>
          </a:p>
          <a:p>
            <a:pPr marL="1257300" lvl="2" indent="-342900">
              <a:buFont typeface="+mj-lt"/>
              <a:buAutoNum type="arabicPeriod"/>
            </a:pPr>
            <a:endParaRPr lang="en-US" altLang="ko-KR" sz="1400" dirty="0"/>
          </a:p>
          <a:p>
            <a:pPr marL="457200" lvl="1" indent="0">
              <a:buNone/>
            </a:pPr>
            <a:endParaRPr lang="en-US" altLang="ko-KR" sz="1400" dirty="0"/>
          </a:p>
          <a:p>
            <a:pPr marL="1257300" lvl="2" indent="-342900">
              <a:buFont typeface="+mj-lt"/>
              <a:buAutoNum type="arabicPeriod"/>
            </a:pP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69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1FF6DF9B-A1C9-4ED0-AE89-84617F00C953}"/>
              </a:ext>
            </a:extLst>
          </p:cNvPr>
          <p:cNvSpPr/>
          <p:nvPr/>
        </p:nvSpPr>
        <p:spPr>
          <a:xfrm>
            <a:off x="2014330" y="1938291"/>
            <a:ext cx="7702163"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alpaca-prod</a:t>
            </a:r>
            <a:r>
              <a:rPr lang="en-US" altLang="ko-KR" sz="1000" b="1" dirty="0"/>
              <a:t>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=1,app=</a:t>
            </a:r>
            <a:r>
              <a:rPr lang="en-US" altLang="ko-KR" sz="1000" b="1" dirty="0" err="1">
                <a:solidFill>
                  <a:srgbClr val="FF0000"/>
                </a:solidFill>
              </a:rPr>
              <a:t>alpaca,env</a:t>
            </a:r>
            <a:r>
              <a:rPr lang="en-US" altLang="ko-KR" sz="1000" b="1" dirty="0">
                <a:solidFill>
                  <a:srgbClr val="FF0000"/>
                </a:solidFill>
              </a:rPr>
              <a:t>=prod"</a:t>
            </a:r>
            <a:endParaRPr lang="ko-KR" altLang="en-US" sz="1000" b="1" dirty="0">
              <a:solidFill>
                <a:srgbClr val="FF0000"/>
              </a:solidFill>
            </a:endParaRPr>
          </a:p>
        </p:txBody>
      </p:sp>
      <p:sp>
        <p:nvSpPr>
          <p:cNvPr id="9" name="직사각형 8">
            <a:extLst>
              <a:ext uri="{FF2B5EF4-FFF2-40B4-BE49-F238E27FC236}">
                <a16:creationId xmlns:a16="http://schemas.microsoft.com/office/drawing/2014/main" id="{1D18F44E-8D13-43B0-896F-FB96DF61D383}"/>
              </a:ext>
            </a:extLst>
          </p:cNvPr>
          <p:cNvSpPr/>
          <p:nvPr/>
        </p:nvSpPr>
        <p:spPr>
          <a:xfrm>
            <a:off x="2014330" y="2692298"/>
            <a:ext cx="7702164"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a:t>
            </a:r>
            <a:r>
              <a:rPr lang="en-US" altLang="ko-KR" sz="1000" b="1" dirty="0">
                <a:solidFill>
                  <a:srgbClr val="FF0000"/>
                </a:solidFill>
              </a:rPr>
              <a:t>alpaca-test</a:t>
            </a:r>
            <a:r>
              <a:rPr lang="en-US" altLang="ko-KR" sz="1000" b="1" dirty="0"/>
              <a:t>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alpaca,env</a:t>
            </a:r>
            <a:r>
              <a:rPr lang="en-US" altLang="ko-KR" sz="1000" b="1" dirty="0">
                <a:solidFill>
                  <a:srgbClr val="FF0000"/>
                </a:solidFill>
              </a:rPr>
              <a:t>=test"</a:t>
            </a:r>
            <a:endParaRPr lang="ko-KR" altLang="en-US" sz="1000" b="1" dirty="0">
              <a:solidFill>
                <a:srgbClr val="FF0000"/>
              </a:solidFill>
            </a:endParaRPr>
          </a:p>
        </p:txBody>
      </p:sp>
      <p:sp>
        <p:nvSpPr>
          <p:cNvPr id="10" name="직사각형 9">
            <a:extLst>
              <a:ext uri="{FF2B5EF4-FFF2-40B4-BE49-F238E27FC236}">
                <a16:creationId xmlns:a16="http://schemas.microsoft.com/office/drawing/2014/main" id="{9754BEF5-752D-4CA0-B771-1D00371D067D}"/>
              </a:ext>
            </a:extLst>
          </p:cNvPr>
          <p:cNvSpPr/>
          <p:nvPr/>
        </p:nvSpPr>
        <p:spPr>
          <a:xfrm>
            <a:off x="2014330" y="3446305"/>
            <a:ext cx="7702162" cy="400110"/>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run bandicoot-prod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bandicoot,env</a:t>
            </a:r>
            <a:r>
              <a:rPr lang="en-US" altLang="ko-KR" sz="1000" b="1" dirty="0">
                <a:solidFill>
                  <a:srgbClr val="FF0000"/>
                </a:solidFill>
              </a:rPr>
              <a:t>=prod"</a:t>
            </a:r>
          </a:p>
          <a:p>
            <a:r>
              <a:rPr lang="en-US" altLang="ko-KR" sz="1000" b="1" dirty="0"/>
              <a:t>$ </a:t>
            </a:r>
            <a:r>
              <a:rPr lang="en-US" altLang="ko-KR" sz="1000" b="1" dirty="0" err="1"/>
              <a:t>kubectl</a:t>
            </a:r>
            <a:r>
              <a:rPr lang="en-US" altLang="ko-KR" sz="1000" b="1" dirty="0"/>
              <a:t> run bandicoot-staging --image=</a:t>
            </a:r>
            <a:r>
              <a:rPr lang="en-US" altLang="ko-KR" sz="1000" b="1" dirty="0">
                <a:solidFill>
                  <a:srgbClr val="FF0000"/>
                </a:solidFill>
              </a:rPr>
              <a:t>knix008/kuard-shkwon-amd64:1.0 --labels="</a:t>
            </a:r>
            <a:r>
              <a:rPr lang="en-US" altLang="ko-KR" sz="1000" b="1" dirty="0" err="1">
                <a:solidFill>
                  <a:srgbClr val="FF0000"/>
                </a:solidFill>
              </a:rPr>
              <a:t>ver</a:t>
            </a:r>
            <a:r>
              <a:rPr lang="en-US" altLang="ko-KR" sz="1000" b="1" dirty="0">
                <a:solidFill>
                  <a:srgbClr val="FF0000"/>
                </a:solidFill>
              </a:rPr>
              <a:t>=2,app=</a:t>
            </a:r>
            <a:r>
              <a:rPr lang="en-US" altLang="ko-KR" sz="1000" b="1" dirty="0" err="1">
                <a:solidFill>
                  <a:srgbClr val="FF0000"/>
                </a:solidFill>
              </a:rPr>
              <a:t>bandicoot,env</a:t>
            </a:r>
            <a:r>
              <a:rPr lang="en-US" altLang="ko-KR" sz="1000" b="1" dirty="0">
                <a:solidFill>
                  <a:srgbClr val="FF0000"/>
                </a:solidFill>
              </a:rPr>
              <a:t>=staging"</a:t>
            </a:r>
            <a:endParaRPr lang="ko-KR" altLang="en-US" sz="1000" b="1" dirty="0">
              <a:solidFill>
                <a:srgbClr val="FF0000"/>
              </a:solidFill>
            </a:endParaRPr>
          </a:p>
        </p:txBody>
      </p:sp>
    </p:spTree>
    <p:extLst>
      <p:ext uri="{BB962C8B-B14F-4D97-AF65-F5344CB8AC3E}">
        <p14:creationId xmlns:p14="http://schemas.microsoft.com/office/powerpoint/2010/main" val="14460527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Not Supporting “Replicas” in Run Command</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Kubectl</a:t>
            </a:r>
            <a:r>
              <a:rPr lang="en-US" altLang="ko-KR" sz="1800" b="1" dirty="0"/>
              <a:t> Version :</a:t>
            </a:r>
          </a:p>
          <a:p>
            <a:pPr lvl="1">
              <a:buFont typeface="Wingdings" panose="05000000000000000000" pitchFamily="2" charset="2"/>
              <a:buChar char="§"/>
            </a:pPr>
            <a:r>
              <a:rPr lang="en-US" altLang="ko-KR" sz="1400" b="1" dirty="0"/>
              <a:t>The latest(2022.02.14) “</a:t>
            </a:r>
            <a:r>
              <a:rPr lang="en-US" altLang="ko-KR" sz="1400" b="1" dirty="0" err="1"/>
              <a:t>kubectl</a:t>
            </a:r>
            <a:r>
              <a:rPr lang="en-US" altLang="ko-KR" sz="1400" b="1" dirty="0"/>
              <a:t>” version is 1.23.3 </a:t>
            </a:r>
            <a:r>
              <a:rPr lang="en-US" altLang="ko-KR" sz="1400" dirty="0"/>
              <a:t>and you cannot use “</a:t>
            </a:r>
            <a:r>
              <a:rPr lang="en-US" altLang="ko-KR" sz="1400" b="1" dirty="0" err="1"/>
              <a:t>kubectl</a:t>
            </a:r>
            <a:r>
              <a:rPr lang="en-US" altLang="ko-KR" sz="1400" b="1" dirty="0"/>
              <a:t> run … --replicas=x</a:t>
            </a:r>
            <a:r>
              <a:rPr lang="en-US" altLang="ko-KR" sz="1400" dirty="0"/>
              <a:t>” command, which is not supported in this version. Instead, you can use “</a:t>
            </a:r>
            <a:r>
              <a:rPr lang="en-US" altLang="ko-KR" sz="1400" b="1" dirty="0" err="1"/>
              <a:t>kubectl</a:t>
            </a:r>
            <a:r>
              <a:rPr lang="en-US" altLang="ko-KR" sz="1400" b="1" dirty="0"/>
              <a:t> create</a:t>
            </a:r>
            <a:r>
              <a:rPr lang="en-US" altLang="ko-KR" sz="1400" dirty="0"/>
              <a:t>” and “</a:t>
            </a:r>
            <a:r>
              <a:rPr lang="en-US" altLang="ko-KR" sz="1400" b="1" dirty="0" err="1"/>
              <a:t>kubectl</a:t>
            </a:r>
            <a:r>
              <a:rPr lang="en-US" altLang="ko-KR" sz="1400" b="1" dirty="0"/>
              <a:t> scale</a:t>
            </a:r>
            <a:r>
              <a:rPr lang="en-US" altLang="ko-KR" sz="1400" dirty="0"/>
              <a:t>” commands to make replicas.</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The “</a:t>
            </a:r>
            <a:r>
              <a:rPr lang="en-US" altLang="ko-KR" sz="1400" b="1" dirty="0" err="1">
                <a:hlinkClick r:id="rId2"/>
              </a:rPr>
              <a:t>kubectl</a:t>
            </a:r>
            <a:r>
              <a:rPr lang="en-US" altLang="ko-KR" sz="1400" b="1" dirty="0">
                <a:hlinkClick r:id="rId2"/>
              </a:rPr>
              <a:t> create</a:t>
            </a:r>
            <a:r>
              <a:rPr lang="en-US" altLang="ko-KR" sz="1400" b="1" dirty="0"/>
              <a:t>” command create a resource by filename or stdin and the “</a:t>
            </a:r>
            <a:r>
              <a:rPr lang="en-US" altLang="ko-KR" sz="1400" b="1" dirty="0" err="1">
                <a:hlinkClick r:id="rId3"/>
              </a:rPr>
              <a:t>kubectl</a:t>
            </a:r>
            <a:r>
              <a:rPr lang="en-US" altLang="ko-KR" sz="1400" b="1" dirty="0">
                <a:hlinkClick r:id="rId3"/>
              </a:rPr>
              <a:t> scale</a:t>
            </a:r>
            <a:r>
              <a:rPr lang="en-US" altLang="ko-KR" sz="1400" b="1" dirty="0"/>
              <a:t>” command set a new size for a deployment, replica set, replication controller, or stateful set. Scale also allows users to specify one or more preconditions for the scale action.</a:t>
            </a:r>
          </a:p>
          <a:p>
            <a:pPr lvl="1">
              <a:buFont typeface="Wingdings" panose="05000000000000000000" pitchFamily="2" charset="2"/>
              <a:buChar char="§"/>
            </a:pPr>
            <a:r>
              <a:rPr lang="en-US" altLang="ko-KR" sz="1400" dirty="0"/>
              <a:t>If you want to </a:t>
            </a:r>
            <a:r>
              <a:rPr lang="en-US" altLang="ko-KR" sz="1400" b="1" dirty="0"/>
              <a:t>delete all pods in the “deployment” namespace</a:t>
            </a:r>
            <a:r>
              <a:rPr lang="en-US" altLang="ko-KR" sz="1400" dirty="0"/>
              <a:t>, use “</a:t>
            </a:r>
            <a:r>
              <a:rPr lang="en-US" altLang="ko-KR" sz="1400" b="1" dirty="0" err="1">
                <a:solidFill>
                  <a:srgbClr val="FF0000"/>
                </a:solidFill>
              </a:rPr>
              <a:t>kubectl</a:t>
            </a:r>
            <a:r>
              <a:rPr lang="en-US" altLang="ko-KR" sz="1400" b="1" dirty="0">
                <a:solidFill>
                  <a:srgbClr val="FF0000"/>
                </a:solidFill>
              </a:rPr>
              <a:t> delete deployment --all</a:t>
            </a:r>
            <a:r>
              <a:rPr lang="en-US" altLang="ko-KR" sz="1400" dirty="0"/>
              <a:t>” command</a:t>
            </a:r>
            <a:r>
              <a:rPr lang="en-US" altLang="ko-KR" sz="1400" b="1" dirty="0"/>
              <a:t>.</a:t>
            </a:r>
            <a:endParaRPr lang="en-US" altLang="ko-KR" sz="1400" dirty="0"/>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54DC5EE5-AEFC-4C09-B7B8-A2C8B7DA8281}"/>
              </a:ext>
            </a:extLst>
          </p:cNvPr>
          <p:cNvGrpSpPr/>
          <p:nvPr/>
        </p:nvGrpSpPr>
        <p:grpSpPr>
          <a:xfrm>
            <a:off x="1721406" y="2016441"/>
            <a:ext cx="8749188" cy="2992176"/>
            <a:chOff x="1721406" y="2016441"/>
            <a:chExt cx="8749188" cy="2992176"/>
          </a:xfrm>
        </p:grpSpPr>
        <p:grpSp>
          <p:nvGrpSpPr>
            <p:cNvPr id="10" name="그룹 9">
              <a:extLst>
                <a:ext uri="{FF2B5EF4-FFF2-40B4-BE49-F238E27FC236}">
                  <a16:creationId xmlns:a16="http://schemas.microsoft.com/office/drawing/2014/main" id="{FD4DC3C8-7778-4937-B4B6-46596F7D2850}"/>
                </a:ext>
              </a:extLst>
            </p:cNvPr>
            <p:cNvGrpSpPr/>
            <p:nvPr/>
          </p:nvGrpSpPr>
          <p:grpSpPr>
            <a:xfrm>
              <a:off x="1721406" y="2016441"/>
              <a:ext cx="8749188" cy="2992176"/>
              <a:chOff x="1721405" y="1925528"/>
              <a:chExt cx="8749188" cy="2992176"/>
            </a:xfrm>
          </p:grpSpPr>
          <p:pic>
            <p:nvPicPr>
              <p:cNvPr id="4" name="그림 3">
                <a:extLst>
                  <a:ext uri="{FF2B5EF4-FFF2-40B4-BE49-F238E27FC236}">
                    <a16:creationId xmlns:a16="http://schemas.microsoft.com/office/drawing/2014/main" id="{E3E006B8-D6CB-4147-9A40-8B62A3B2F688}"/>
                  </a:ext>
                </a:extLst>
              </p:cNvPr>
              <p:cNvPicPr>
                <a:picLocks noChangeAspect="1"/>
              </p:cNvPicPr>
              <p:nvPr/>
            </p:nvPicPr>
            <p:blipFill>
              <a:blip r:embed="rId4"/>
              <a:stretch>
                <a:fillRect/>
              </a:stretch>
            </p:blipFill>
            <p:spPr>
              <a:xfrm>
                <a:off x="1721405" y="2637812"/>
                <a:ext cx="8749188" cy="2279892"/>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DB19FD73-FD58-472B-9B80-3B728E7B261F}"/>
                  </a:ext>
                </a:extLst>
              </p:cNvPr>
              <p:cNvSpPr/>
              <p:nvPr/>
            </p:nvSpPr>
            <p:spPr>
              <a:xfrm>
                <a:off x="3048000" y="1925528"/>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create </a:t>
                </a:r>
                <a:r>
                  <a:rPr lang="en-US" altLang="ko-KR" sz="1000" b="1" dirty="0">
                    <a:solidFill>
                      <a:srgbClr val="FF0000"/>
                    </a:solidFill>
                  </a:rPr>
                  <a:t>deployment</a:t>
                </a:r>
                <a:r>
                  <a:rPr lang="en-US" altLang="ko-KR" sz="1000" b="1" dirty="0"/>
                  <a:t> --image=knix008/kuard-shkwon-amd64:1.0 </a:t>
                </a:r>
                <a:r>
                  <a:rPr lang="en-US" altLang="ko-KR" sz="1000" b="1" dirty="0">
                    <a:solidFill>
                      <a:srgbClr val="FF0000"/>
                    </a:solidFill>
                  </a:rPr>
                  <a:t>my-example-app</a:t>
                </a:r>
              </a:p>
              <a:p>
                <a:r>
                  <a:rPr lang="en-US" altLang="ko-KR" sz="1000" b="1" dirty="0"/>
                  <a:t>$ </a:t>
                </a:r>
                <a:r>
                  <a:rPr lang="en-US" altLang="ko-KR" sz="1000" b="1" dirty="0" err="1"/>
                  <a:t>kubectl</a:t>
                </a:r>
                <a:r>
                  <a:rPr lang="en-US" altLang="ko-KR" sz="1000" b="1" dirty="0"/>
                  <a:t> scale </a:t>
                </a:r>
                <a:r>
                  <a:rPr lang="en-US" altLang="ko-KR" sz="1000" b="1" dirty="0">
                    <a:solidFill>
                      <a:srgbClr val="FF0000"/>
                    </a:solidFill>
                  </a:rPr>
                  <a:t>deployment</a:t>
                </a:r>
                <a:r>
                  <a:rPr lang="en-US" altLang="ko-KR" sz="1000" b="1" dirty="0"/>
                  <a:t> --replicas=</a:t>
                </a:r>
                <a:r>
                  <a:rPr lang="en-US" altLang="ko-KR" sz="1000" b="1" dirty="0">
                    <a:solidFill>
                      <a:srgbClr val="FF0000"/>
                    </a:solidFill>
                  </a:rPr>
                  <a:t>5 </a:t>
                </a:r>
                <a:r>
                  <a:rPr lang="en-US" altLang="ko-KR" sz="1000" b="1" dirty="0"/>
                  <a:t>my-example-app</a:t>
                </a:r>
                <a:endParaRPr lang="ko-KR" altLang="en-US" sz="1000" b="1" dirty="0"/>
              </a:p>
            </p:txBody>
          </p:sp>
          <p:sp>
            <p:nvSpPr>
              <p:cNvPr id="9" name="화살표: 아래쪽 8">
                <a:extLst>
                  <a:ext uri="{FF2B5EF4-FFF2-40B4-BE49-F238E27FC236}">
                    <a16:creationId xmlns:a16="http://schemas.microsoft.com/office/drawing/2014/main" id="{2CBF7F28-A089-486F-88B2-598D790CFBE8}"/>
                  </a:ext>
                </a:extLst>
              </p:cNvPr>
              <p:cNvSpPr/>
              <p:nvPr/>
            </p:nvSpPr>
            <p:spPr>
              <a:xfrm>
                <a:off x="5889266" y="2342577"/>
                <a:ext cx="413467" cy="27829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2B838188-2AF1-47A6-BBDD-427F9A4DF1E4}"/>
                </a:ext>
              </a:extLst>
            </p:cNvPr>
            <p:cNvSpPr/>
            <p:nvPr/>
          </p:nvSpPr>
          <p:spPr>
            <a:xfrm>
              <a:off x="1789043" y="4031311"/>
              <a:ext cx="2178658" cy="7156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3035751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Applying Labels :</a:t>
            </a:r>
          </a:p>
          <a:p>
            <a:pPr lvl="1">
              <a:buFont typeface="Wingdings" panose="05000000000000000000" pitchFamily="2" charset="2"/>
              <a:buChar char="§"/>
            </a:pPr>
            <a:r>
              <a:rPr lang="en-US" altLang="ko-KR" sz="1400" dirty="0"/>
              <a:t>At this point you should have </a:t>
            </a:r>
            <a:r>
              <a:rPr lang="en-US" altLang="ko-KR" sz="1400" b="1" dirty="0"/>
              <a:t>four pods</a:t>
            </a:r>
            <a:r>
              <a:rPr lang="en-US" altLang="ko-KR" sz="1400" dirty="0"/>
              <a:t>—</a:t>
            </a:r>
            <a:r>
              <a:rPr lang="en-US" altLang="ko-KR" sz="1400" b="1" dirty="0"/>
              <a:t>alpaca-prod, alpaca-test, bandicoot-prod, and bandicoot-staging </a:t>
            </a:r>
            <a:r>
              <a:rPr lang="en-US" altLang="ko-KR" sz="1400" dirty="0"/>
              <a:t>: To see them use “</a:t>
            </a:r>
            <a:r>
              <a:rPr lang="en-US" altLang="ko-KR" sz="1400" b="1" dirty="0" err="1"/>
              <a:t>kubectl</a:t>
            </a:r>
            <a:r>
              <a:rPr lang="en-US" altLang="ko-KR" sz="1400" b="1" dirty="0"/>
              <a:t> get pods --show-labels</a:t>
            </a:r>
            <a:r>
              <a:rPr lang="en-US" altLang="ko-KR" sz="1400" dirty="0"/>
              <a:t>” command.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We can visualize this as a </a:t>
            </a:r>
            <a:r>
              <a:rPr lang="en-US" altLang="ko-KR" sz="1400" b="1" dirty="0"/>
              <a:t>Venn diagram </a:t>
            </a:r>
            <a:r>
              <a:rPr lang="en-US" altLang="ko-KR" sz="1400" dirty="0"/>
              <a:t>based on the labels.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9852E38-C400-4180-ABFD-D7ECFD73D7D6}"/>
              </a:ext>
            </a:extLst>
          </p:cNvPr>
          <p:cNvPicPr>
            <a:picLocks noChangeAspect="1"/>
          </p:cNvPicPr>
          <p:nvPr/>
        </p:nvPicPr>
        <p:blipFill>
          <a:blip r:embed="rId2"/>
          <a:stretch>
            <a:fillRect/>
          </a:stretch>
        </p:blipFill>
        <p:spPr>
          <a:xfrm>
            <a:off x="3404641" y="4214987"/>
            <a:ext cx="5382719" cy="2194043"/>
          </a:xfrm>
          <a:prstGeom prst="rect">
            <a:avLst/>
          </a:prstGeom>
        </p:spPr>
      </p:pic>
      <p:pic>
        <p:nvPicPr>
          <p:cNvPr id="8" name="그림 7">
            <a:extLst>
              <a:ext uri="{FF2B5EF4-FFF2-40B4-BE49-F238E27FC236}">
                <a16:creationId xmlns:a16="http://schemas.microsoft.com/office/drawing/2014/main" id="{B985AEF2-5A4B-4AF2-A52F-A39EFAC12F02}"/>
              </a:ext>
            </a:extLst>
          </p:cNvPr>
          <p:cNvPicPr>
            <a:picLocks noChangeAspect="1"/>
          </p:cNvPicPr>
          <p:nvPr/>
        </p:nvPicPr>
        <p:blipFill>
          <a:blip r:embed="rId3"/>
          <a:stretch>
            <a:fillRect/>
          </a:stretch>
        </p:blipFill>
        <p:spPr>
          <a:xfrm>
            <a:off x="1865009" y="1777306"/>
            <a:ext cx="8461981" cy="1731414"/>
          </a:xfrm>
          <a:prstGeom prst="rect">
            <a:avLst/>
          </a:prstGeom>
        </p:spPr>
      </p:pic>
      <p:sp>
        <p:nvSpPr>
          <p:cNvPr id="9" name="직사각형 8">
            <a:extLst>
              <a:ext uri="{FF2B5EF4-FFF2-40B4-BE49-F238E27FC236}">
                <a16:creationId xmlns:a16="http://schemas.microsoft.com/office/drawing/2014/main" id="{D13F9A93-505D-4FFE-BB33-0EE7E7C3738B}"/>
              </a:ext>
            </a:extLst>
          </p:cNvPr>
          <p:cNvSpPr/>
          <p:nvPr/>
        </p:nvSpPr>
        <p:spPr>
          <a:xfrm>
            <a:off x="6035040" y="2576223"/>
            <a:ext cx="2377440" cy="683812"/>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3561294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Labels(5/14)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a:t>
            </a:r>
          </a:p>
          <a:p>
            <a:pPr lvl="1">
              <a:buFont typeface="Wingdings" panose="05000000000000000000" pitchFamily="2" charset="2"/>
              <a:buChar char="§"/>
            </a:pPr>
            <a:r>
              <a:rPr lang="en-US" altLang="ko-KR" sz="1400" b="1" dirty="0"/>
              <a:t>Labels can also be applied (or updated) on objects </a:t>
            </a:r>
            <a:r>
              <a:rPr lang="en-US" altLang="ko-KR" sz="1400" dirty="0"/>
              <a:t>after they are created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313306DC-7867-4722-BEA6-1AD886E83486}"/>
              </a:ext>
            </a:extLst>
          </p:cNvPr>
          <p:cNvGrpSpPr/>
          <p:nvPr/>
        </p:nvGrpSpPr>
        <p:grpSpPr>
          <a:xfrm>
            <a:off x="1372904" y="1542755"/>
            <a:ext cx="9446191" cy="2590432"/>
            <a:chOff x="1372904" y="1487096"/>
            <a:chExt cx="9446191" cy="2590432"/>
          </a:xfrm>
        </p:grpSpPr>
        <p:grpSp>
          <p:nvGrpSpPr>
            <p:cNvPr id="10" name="그룹 9">
              <a:extLst>
                <a:ext uri="{FF2B5EF4-FFF2-40B4-BE49-F238E27FC236}">
                  <a16:creationId xmlns:a16="http://schemas.microsoft.com/office/drawing/2014/main" id="{7FCA839D-D929-443D-8CC4-F503713F4CA3}"/>
                </a:ext>
              </a:extLst>
            </p:cNvPr>
            <p:cNvGrpSpPr/>
            <p:nvPr/>
          </p:nvGrpSpPr>
          <p:grpSpPr>
            <a:xfrm>
              <a:off x="1372904" y="1487096"/>
              <a:ext cx="9446191" cy="2590432"/>
              <a:chOff x="1372904" y="1487096"/>
              <a:chExt cx="9446191" cy="2590432"/>
            </a:xfrm>
          </p:grpSpPr>
          <p:sp>
            <p:nvSpPr>
              <p:cNvPr id="4" name="직사각형 3">
                <a:extLst>
                  <a:ext uri="{FF2B5EF4-FFF2-40B4-BE49-F238E27FC236}">
                    <a16:creationId xmlns:a16="http://schemas.microsoft.com/office/drawing/2014/main" id="{C50F45CD-8FC0-4983-8274-CA040A3589DF}"/>
                  </a:ext>
                </a:extLst>
              </p:cNvPr>
              <p:cNvSpPr/>
              <p:nvPr/>
            </p:nvSpPr>
            <p:spPr>
              <a:xfrm>
                <a:off x="3110639" y="1487096"/>
                <a:ext cx="5970722"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pods/alpaca-test </a:t>
                </a:r>
                <a:r>
                  <a:rPr lang="en-US" altLang="ko-KR" sz="1000" b="1" dirty="0">
                    <a:solidFill>
                      <a:srgbClr val="FF0000"/>
                    </a:solidFill>
                  </a:rPr>
                  <a:t>"canary=true"</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D3E7B66B-46F8-412B-93A0-966367D0983E}"/>
                  </a:ext>
                </a:extLst>
              </p:cNvPr>
              <p:cNvSpPr/>
              <p:nvPr/>
            </p:nvSpPr>
            <p:spPr>
              <a:xfrm>
                <a:off x="5899868" y="1747819"/>
                <a:ext cx="38166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301BEAD-A5CB-4DD8-BFA4-91F4D18B79D0}"/>
                  </a:ext>
                </a:extLst>
              </p:cNvPr>
              <p:cNvPicPr>
                <a:picLocks noChangeAspect="1"/>
              </p:cNvPicPr>
              <p:nvPr/>
            </p:nvPicPr>
            <p:blipFill>
              <a:blip r:embed="rId2"/>
              <a:stretch>
                <a:fillRect/>
              </a:stretch>
            </p:blipFill>
            <p:spPr>
              <a:xfrm>
                <a:off x="1372904" y="1994040"/>
                <a:ext cx="9446191" cy="2083488"/>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2C9F278B-7057-427E-B3A8-612F43CD375D}"/>
                </a:ext>
              </a:extLst>
            </p:cNvPr>
            <p:cNvSpPr/>
            <p:nvPr/>
          </p:nvSpPr>
          <p:spPr>
            <a:xfrm>
              <a:off x="4309607" y="3093057"/>
              <a:ext cx="289427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4AB211D-076A-411F-8C52-FF3B123FF5C7}"/>
                </a:ext>
              </a:extLst>
            </p:cNvPr>
            <p:cNvSpPr/>
            <p:nvPr/>
          </p:nvSpPr>
          <p:spPr>
            <a:xfrm>
              <a:off x="5263764" y="3625795"/>
              <a:ext cx="824285"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7356136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Labels(6/14)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Modifying Labels :</a:t>
            </a:r>
          </a:p>
          <a:p>
            <a:pPr lvl="1">
              <a:buFont typeface="Wingdings" panose="05000000000000000000" pitchFamily="2" charset="2"/>
              <a:buChar char="§"/>
            </a:pPr>
            <a:r>
              <a:rPr lang="en-US" altLang="ko-KR" sz="1400" dirty="0"/>
              <a:t>You can also use the “</a:t>
            </a:r>
            <a:r>
              <a:rPr lang="en-US" altLang="ko-KR" sz="1400" b="1" dirty="0"/>
              <a:t>-L</a:t>
            </a:r>
            <a:r>
              <a:rPr lang="en-US" altLang="ko-KR" sz="1400" dirty="0"/>
              <a:t>” option to “</a:t>
            </a:r>
            <a:r>
              <a:rPr lang="en-US" altLang="ko-KR" sz="1400" b="1" dirty="0" err="1"/>
              <a:t>kubectl</a:t>
            </a:r>
            <a:r>
              <a:rPr lang="en-US" altLang="ko-KR" sz="1400" b="1" dirty="0"/>
              <a:t> get</a:t>
            </a:r>
            <a:r>
              <a:rPr lang="en-US" altLang="ko-KR" sz="1400" dirty="0"/>
              <a:t>” to show a label value as a column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can </a:t>
            </a:r>
            <a:r>
              <a:rPr lang="en-US" altLang="ko-KR" sz="1400" b="1" dirty="0"/>
              <a:t>remove a label by applying a “dash suffix”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B7C3960E-2376-40B5-8D24-522C30CD3040}"/>
              </a:ext>
            </a:extLst>
          </p:cNvPr>
          <p:cNvGrpSpPr/>
          <p:nvPr/>
        </p:nvGrpSpPr>
        <p:grpSpPr>
          <a:xfrm>
            <a:off x="2755582" y="1471193"/>
            <a:ext cx="6680835" cy="2082803"/>
            <a:chOff x="2755581" y="1526852"/>
            <a:chExt cx="6680835" cy="2082803"/>
          </a:xfrm>
        </p:grpSpPr>
        <p:sp>
          <p:nvSpPr>
            <p:cNvPr id="4" name="직사각형 3">
              <a:extLst>
                <a:ext uri="{FF2B5EF4-FFF2-40B4-BE49-F238E27FC236}">
                  <a16:creationId xmlns:a16="http://schemas.microsoft.com/office/drawing/2014/main" id="{7FEEFBDB-ADFE-4774-939A-305695C64F77}"/>
                </a:ext>
              </a:extLst>
            </p:cNvPr>
            <p:cNvSpPr/>
            <p:nvPr/>
          </p:nvSpPr>
          <p:spPr>
            <a:xfrm>
              <a:off x="4113727" y="1526852"/>
              <a:ext cx="3964545"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-L canary</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62DACDE-D055-44D6-B269-495F806B0E48}"/>
                </a:ext>
              </a:extLst>
            </p:cNvPr>
            <p:cNvPicPr>
              <a:picLocks noChangeAspect="1"/>
            </p:cNvPicPr>
            <p:nvPr/>
          </p:nvPicPr>
          <p:blipFill>
            <a:blip r:embed="rId2"/>
            <a:stretch>
              <a:fillRect/>
            </a:stretch>
          </p:blipFill>
          <p:spPr>
            <a:xfrm>
              <a:off x="2755581" y="2050246"/>
              <a:ext cx="6680835" cy="1559409"/>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D240A2AB-7E4A-41D4-8631-3A86413EA321}"/>
                </a:ext>
              </a:extLst>
            </p:cNvPr>
            <p:cNvSpPr/>
            <p:nvPr/>
          </p:nvSpPr>
          <p:spPr>
            <a:xfrm>
              <a:off x="5883965" y="1788549"/>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4" name="그룹 13">
            <a:extLst>
              <a:ext uri="{FF2B5EF4-FFF2-40B4-BE49-F238E27FC236}">
                <a16:creationId xmlns:a16="http://schemas.microsoft.com/office/drawing/2014/main" id="{5BB99DD2-134B-473C-84F2-C37635BA1782}"/>
              </a:ext>
            </a:extLst>
          </p:cNvPr>
          <p:cNvGrpSpPr/>
          <p:nvPr/>
        </p:nvGrpSpPr>
        <p:grpSpPr>
          <a:xfrm>
            <a:off x="2755582" y="3996482"/>
            <a:ext cx="6680835" cy="2412548"/>
            <a:chOff x="2755582" y="4346458"/>
            <a:chExt cx="6680835" cy="2412548"/>
          </a:xfrm>
        </p:grpSpPr>
        <p:sp>
          <p:nvSpPr>
            <p:cNvPr id="11" name="직사각형 10">
              <a:extLst>
                <a:ext uri="{FF2B5EF4-FFF2-40B4-BE49-F238E27FC236}">
                  <a16:creationId xmlns:a16="http://schemas.microsoft.com/office/drawing/2014/main" id="{F7AF42FF-6F06-4802-A43F-A5D4FE8C80F1}"/>
                </a:ext>
              </a:extLst>
            </p:cNvPr>
            <p:cNvSpPr/>
            <p:nvPr/>
          </p:nvSpPr>
          <p:spPr>
            <a:xfrm>
              <a:off x="4113728" y="4346458"/>
              <a:ext cx="3964545"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label pods alpaca-test "</a:t>
              </a:r>
              <a:r>
                <a:rPr lang="en-US" altLang="ko-KR" sz="1000" b="1" dirty="0">
                  <a:solidFill>
                    <a:srgbClr val="FF0000"/>
                  </a:solidFill>
                </a:rPr>
                <a:t>canary-</a:t>
              </a:r>
              <a:r>
                <a:rPr lang="en-US" altLang="ko-KR" sz="1000" b="1" dirty="0"/>
                <a:t>"</a:t>
              </a:r>
              <a:endParaRPr lang="ko-KR" altLang="en-US" sz="1000" b="1" dirty="0"/>
            </a:p>
          </p:txBody>
        </p:sp>
        <p:pic>
          <p:nvPicPr>
            <p:cNvPr id="12" name="그림 11">
              <a:extLst>
                <a:ext uri="{FF2B5EF4-FFF2-40B4-BE49-F238E27FC236}">
                  <a16:creationId xmlns:a16="http://schemas.microsoft.com/office/drawing/2014/main" id="{D08E4587-2224-4793-A06D-C41C30B94EC6}"/>
                </a:ext>
              </a:extLst>
            </p:cNvPr>
            <p:cNvPicPr>
              <a:picLocks noChangeAspect="1"/>
            </p:cNvPicPr>
            <p:nvPr/>
          </p:nvPicPr>
          <p:blipFill>
            <a:blip r:embed="rId3"/>
            <a:stretch>
              <a:fillRect/>
            </a:stretch>
          </p:blipFill>
          <p:spPr>
            <a:xfrm>
              <a:off x="2755582" y="4861979"/>
              <a:ext cx="6680835" cy="1897027"/>
            </a:xfrm>
            <a:prstGeom prst="rect">
              <a:avLst/>
            </a:prstGeom>
          </p:spPr>
        </p:pic>
        <p:sp>
          <p:nvSpPr>
            <p:cNvPr id="13" name="화살표: 아래쪽 12">
              <a:extLst>
                <a:ext uri="{FF2B5EF4-FFF2-40B4-BE49-F238E27FC236}">
                  <a16:creationId xmlns:a16="http://schemas.microsoft.com/office/drawing/2014/main" id="{C093B205-D766-4CDE-8B49-46C1F65D62DF}"/>
                </a:ext>
              </a:extLst>
            </p:cNvPr>
            <p:cNvSpPr/>
            <p:nvPr/>
          </p:nvSpPr>
          <p:spPr>
            <a:xfrm>
              <a:off x="5902163" y="4615758"/>
              <a:ext cx="38166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9722751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Labels(7/14)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solidFill>
                  <a:srgbClr val="FF0000"/>
                </a:solidFill>
              </a:rPr>
              <a:t>Label selectors </a:t>
            </a:r>
            <a:r>
              <a:rPr lang="en-US" altLang="ko-KR" sz="1400" b="1" dirty="0"/>
              <a:t>are used to filter Kubernetes objects based on a set of labels</a:t>
            </a:r>
            <a:r>
              <a:rPr lang="en-US" altLang="ko-KR" sz="1400" dirty="0"/>
              <a:t>. Selectors use a simple Boolean language. They are used both </a:t>
            </a:r>
            <a:r>
              <a:rPr lang="en-US" altLang="ko-KR" sz="1400" b="1" dirty="0"/>
              <a:t>by end users</a:t>
            </a:r>
            <a:r>
              <a:rPr lang="en-US" altLang="ko-KR" sz="1400" dirty="0"/>
              <a:t> (via tools like </a:t>
            </a:r>
            <a:r>
              <a:rPr lang="en-US" altLang="ko-KR" sz="1400" b="1" dirty="0" err="1"/>
              <a:t>kubectl</a:t>
            </a:r>
            <a:r>
              <a:rPr lang="en-US" altLang="ko-KR" sz="1400" dirty="0"/>
              <a:t>) and </a:t>
            </a:r>
            <a:r>
              <a:rPr lang="en-US" altLang="ko-KR" sz="1400" b="1" dirty="0"/>
              <a:t>by different types of objects </a:t>
            </a:r>
            <a:r>
              <a:rPr lang="en-US" altLang="ko-KR" sz="1400" dirty="0"/>
              <a:t>(such as how a </a:t>
            </a:r>
            <a:r>
              <a:rPr lang="en-US" altLang="ko-KR" sz="1400" b="1" dirty="0" err="1"/>
              <a:t>ReplicaSet</a:t>
            </a:r>
            <a:r>
              <a:rPr lang="en-US" altLang="ko-KR" sz="1400" dirty="0"/>
              <a:t> relates to its Pods).</a:t>
            </a:r>
          </a:p>
          <a:p>
            <a:pPr lvl="1">
              <a:buFont typeface="Wingdings" panose="05000000000000000000" pitchFamily="2" charset="2"/>
              <a:buChar char="§"/>
            </a:pPr>
            <a:r>
              <a:rPr lang="en-US" altLang="ko-KR" sz="1400" b="1" dirty="0"/>
              <a:t>Each deployment (via a </a:t>
            </a:r>
            <a:r>
              <a:rPr lang="en-US" altLang="ko-KR" sz="1400" b="1" dirty="0" err="1"/>
              <a:t>ReplicaSet</a:t>
            </a:r>
            <a:r>
              <a:rPr lang="en-US" altLang="ko-KR" sz="1400" b="1" dirty="0"/>
              <a:t>) creates a set of Pods using the labels specified in the template embedded in the deployment</a:t>
            </a:r>
            <a:r>
              <a:rPr lang="en-US" altLang="ko-KR" sz="1400" dirty="0"/>
              <a:t>. This is configured by the “</a:t>
            </a:r>
            <a:r>
              <a:rPr lang="en-US" altLang="ko-KR" sz="1400" b="1" dirty="0" err="1"/>
              <a:t>kubectl</a:t>
            </a:r>
            <a:r>
              <a:rPr lang="en-US" altLang="ko-KR" sz="1400" b="1" dirty="0"/>
              <a:t> run” command</a:t>
            </a:r>
            <a:r>
              <a:rPr lang="en-US" altLang="ko-KR" sz="1400" dirty="0"/>
              <a:t>. Running the “</a:t>
            </a:r>
            <a:r>
              <a:rPr lang="en-US" altLang="ko-KR" sz="1400" b="1" dirty="0" err="1"/>
              <a:t>kubectl</a:t>
            </a:r>
            <a:r>
              <a:rPr lang="en-US" altLang="ko-KR" sz="1400" b="1" dirty="0"/>
              <a:t> get pods</a:t>
            </a:r>
            <a:r>
              <a:rPr lang="en-US" altLang="ko-KR" sz="1400" dirty="0"/>
              <a:t>” command should </a:t>
            </a:r>
            <a:r>
              <a:rPr lang="en-US" altLang="ko-KR" sz="1400" b="1" dirty="0"/>
              <a:t>return all the Pods currently running in the cluster</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You may see a new label that we haven’t seen yet: </a:t>
            </a:r>
            <a:r>
              <a:rPr lang="en-US" altLang="ko-KR" sz="1400" b="1" dirty="0">
                <a:solidFill>
                  <a:srgbClr val="FF0000"/>
                </a:solidFill>
              </a:rPr>
              <a:t>pod-template-hash</a:t>
            </a:r>
            <a:r>
              <a:rPr lang="en-US" altLang="ko-KR" sz="1400" dirty="0"/>
              <a:t>. </a:t>
            </a:r>
            <a:r>
              <a:rPr lang="en-US" altLang="ko-KR" sz="1400" b="1" dirty="0"/>
              <a:t>This label is applied by the “deployment” so it can keep track of which Pods were generated from which template versions</a:t>
            </a:r>
            <a:r>
              <a:rPr lang="en-US" altLang="ko-KR" sz="1400" dirty="0"/>
              <a:t>. This allows the deployment to manage updates in a clean way,</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92751A24-940B-4800-9971-F6EC653727F8}"/>
              </a:ext>
            </a:extLst>
          </p:cNvPr>
          <p:cNvGrpSpPr/>
          <p:nvPr/>
        </p:nvGrpSpPr>
        <p:grpSpPr>
          <a:xfrm>
            <a:off x="1739886" y="2432044"/>
            <a:ext cx="8712228" cy="3173117"/>
            <a:chOff x="1739885" y="2522058"/>
            <a:chExt cx="8712228" cy="3173117"/>
          </a:xfrm>
        </p:grpSpPr>
        <p:sp>
          <p:nvSpPr>
            <p:cNvPr id="4" name="직사각형 3">
              <a:extLst>
                <a:ext uri="{FF2B5EF4-FFF2-40B4-BE49-F238E27FC236}">
                  <a16:creationId xmlns:a16="http://schemas.microsoft.com/office/drawing/2014/main" id="{FE5A8B39-A720-4882-8ABA-6C7FD09406C3}"/>
                </a:ext>
              </a:extLst>
            </p:cNvPr>
            <p:cNvSpPr/>
            <p:nvPr/>
          </p:nvSpPr>
          <p:spPr>
            <a:xfrm>
              <a:off x="3392622" y="2522058"/>
              <a:ext cx="5406755"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--show-labels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E81ED66C-B7C5-4360-ABD6-E80598DEDAAD}"/>
                </a:ext>
              </a:extLst>
            </p:cNvPr>
            <p:cNvSpPr/>
            <p:nvPr/>
          </p:nvSpPr>
          <p:spPr>
            <a:xfrm>
              <a:off x="5882787" y="2801391"/>
              <a:ext cx="426423"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36F6FE11-058B-4885-806A-60BD0BE46636}"/>
                </a:ext>
              </a:extLst>
            </p:cNvPr>
            <p:cNvPicPr>
              <a:picLocks noChangeAspect="1"/>
            </p:cNvPicPr>
            <p:nvPr/>
          </p:nvPicPr>
          <p:blipFill>
            <a:blip r:embed="rId2"/>
            <a:stretch>
              <a:fillRect/>
            </a:stretch>
          </p:blipFill>
          <p:spPr>
            <a:xfrm>
              <a:off x="1739885" y="3080724"/>
              <a:ext cx="8712228" cy="2614451"/>
            </a:xfrm>
            <a:prstGeom prst="rect">
              <a:avLst/>
            </a:prstGeom>
            <a:ln>
              <a:solidFill>
                <a:schemeClr val="bg1">
                  <a:lumMod val="50000"/>
                </a:schemeClr>
              </a:solidFill>
            </a:ln>
          </p:spPr>
        </p:pic>
      </p:grpSp>
    </p:spTree>
    <p:extLst>
      <p:ext uri="{BB962C8B-B14F-4D97-AF65-F5344CB8AC3E}">
        <p14:creationId xmlns:p14="http://schemas.microsoft.com/office/powerpoint/2010/main" val="149368883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Labels(8/14)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If we only wanted to list Pods that had the “</a:t>
            </a:r>
            <a:r>
              <a:rPr lang="en-US" altLang="ko-KR" sz="1400" b="1" dirty="0" err="1"/>
              <a:t>ver</a:t>
            </a:r>
            <a:r>
              <a:rPr lang="en-US" altLang="ko-KR" sz="1400" dirty="0"/>
              <a:t>” label set to 2, we could use the --selector flag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5" name="그룹 14">
            <a:extLst>
              <a:ext uri="{FF2B5EF4-FFF2-40B4-BE49-F238E27FC236}">
                <a16:creationId xmlns:a16="http://schemas.microsoft.com/office/drawing/2014/main" id="{1759C0EC-D88F-4EEA-B0D2-0C7EB4592166}"/>
              </a:ext>
            </a:extLst>
          </p:cNvPr>
          <p:cNvGrpSpPr/>
          <p:nvPr/>
        </p:nvGrpSpPr>
        <p:grpSpPr>
          <a:xfrm>
            <a:off x="1129105" y="1669974"/>
            <a:ext cx="9933790" cy="3199396"/>
            <a:chOff x="1129105" y="1495046"/>
            <a:chExt cx="9933790" cy="3199396"/>
          </a:xfrm>
        </p:grpSpPr>
        <p:grpSp>
          <p:nvGrpSpPr>
            <p:cNvPr id="11" name="그룹 10">
              <a:extLst>
                <a:ext uri="{FF2B5EF4-FFF2-40B4-BE49-F238E27FC236}">
                  <a16:creationId xmlns:a16="http://schemas.microsoft.com/office/drawing/2014/main" id="{9CE73160-A1A2-4E0F-AED1-CB7E683204A8}"/>
                </a:ext>
              </a:extLst>
            </p:cNvPr>
            <p:cNvGrpSpPr/>
            <p:nvPr/>
          </p:nvGrpSpPr>
          <p:grpSpPr>
            <a:xfrm>
              <a:off x="1129105" y="1495046"/>
              <a:ext cx="9933790" cy="3199396"/>
              <a:chOff x="1129105" y="1495046"/>
              <a:chExt cx="9933790" cy="3199396"/>
            </a:xfrm>
          </p:grpSpPr>
          <p:sp>
            <p:nvSpPr>
              <p:cNvPr id="4" name="직사각형 3">
                <a:extLst>
                  <a:ext uri="{FF2B5EF4-FFF2-40B4-BE49-F238E27FC236}">
                    <a16:creationId xmlns:a16="http://schemas.microsoft.com/office/drawing/2014/main" id="{79433132-12A9-4840-A862-72655E81E278}"/>
                  </a:ext>
                </a:extLst>
              </p:cNvPr>
              <p:cNvSpPr/>
              <p:nvPr/>
            </p:nvSpPr>
            <p:spPr>
              <a:xfrm>
                <a:off x="3892635" y="1495046"/>
                <a:ext cx="428130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a:t>
                </a:r>
                <a:r>
                  <a:rPr lang="en-US" altLang="ko-KR" sz="1000" b="1" dirty="0" err="1">
                    <a:solidFill>
                      <a:srgbClr val="FF0000"/>
                    </a:solidFill>
                  </a:rPr>
                  <a:t>ver</a:t>
                </a:r>
                <a:r>
                  <a:rPr lang="en-US" altLang="ko-KR" sz="1000" b="1" dirty="0">
                    <a:solidFill>
                      <a:srgbClr val="FF0000"/>
                    </a:solidFill>
                  </a:rPr>
                  <a:t>=2"</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11A84496-9E86-4E1B-854B-AA74C434822D}"/>
                  </a:ext>
                </a:extLst>
              </p:cNvPr>
              <p:cNvSpPr/>
              <p:nvPr/>
            </p:nvSpPr>
            <p:spPr>
              <a:xfrm>
                <a:off x="5881314" y="1766293"/>
                <a:ext cx="429371" cy="26239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10" name="그림 9">
                <a:extLst>
                  <a:ext uri="{FF2B5EF4-FFF2-40B4-BE49-F238E27FC236}">
                    <a16:creationId xmlns:a16="http://schemas.microsoft.com/office/drawing/2014/main" id="{CD6AF259-7C16-43C2-A483-DC3EA6FA2678}"/>
                  </a:ext>
                </a:extLst>
              </p:cNvPr>
              <p:cNvPicPr>
                <a:picLocks noChangeAspect="1"/>
              </p:cNvPicPr>
              <p:nvPr/>
            </p:nvPicPr>
            <p:blipFill>
              <a:blip r:embed="rId2"/>
              <a:stretch>
                <a:fillRect/>
              </a:stretch>
            </p:blipFill>
            <p:spPr>
              <a:xfrm>
                <a:off x="1129105" y="2028686"/>
                <a:ext cx="9933790" cy="2665756"/>
              </a:xfrm>
              <a:prstGeom prst="rect">
                <a:avLst/>
              </a:prstGeom>
              <a:ln>
                <a:solidFill>
                  <a:schemeClr val="bg1">
                    <a:lumMod val="50000"/>
                  </a:schemeClr>
                </a:solidFill>
              </a:ln>
            </p:spPr>
          </p:pic>
        </p:grpSp>
        <p:sp>
          <p:nvSpPr>
            <p:cNvPr id="12" name="직사각형 11">
              <a:extLst>
                <a:ext uri="{FF2B5EF4-FFF2-40B4-BE49-F238E27FC236}">
                  <a16:creationId xmlns:a16="http://schemas.microsoft.com/office/drawing/2014/main" id="{38ADEC4E-C949-41ED-AAFF-89655C7F9787}"/>
                </a:ext>
              </a:extLst>
            </p:cNvPr>
            <p:cNvSpPr/>
            <p:nvPr/>
          </p:nvSpPr>
          <p:spPr>
            <a:xfrm>
              <a:off x="8849802" y="2989690"/>
              <a:ext cx="1781092" cy="246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B065BDC6-13F4-49A9-B600-B26DA808B696}"/>
                </a:ext>
              </a:extLst>
            </p:cNvPr>
            <p:cNvSpPr/>
            <p:nvPr/>
          </p:nvSpPr>
          <p:spPr>
            <a:xfrm>
              <a:off x="8849802" y="3268289"/>
              <a:ext cx="1781092" cy="24649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22B319D-957E-4621-B7F4-BFC93B1F3C28}"/>
                </a:ext>
              </a:extLst>
            </p:cNvPr>
            <p:cNvSpPr/>
            <p:nvPr/>
          </p:nvSpPr>
          <p:spPr>
            <a:xfrm>
              <a:off x="1216550" y="3857968"/>
              <a:ext cx="5295568" cy="58681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6381166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Labels(9/14)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t>If we specify two selectors separated by a comma, only the objects that satisfy both will be returned</a:t>
            </a:r>
            <a:r>
              <a:rPr lang="en-US" altLang="ko-KR" sz="1400" dirty="0"/>
              <a:t>. This is a </a:t>
            </a:r>
            <a:r>
              <a:rPr lang="en-US" altLang="ko-KR" sz="1400" b="1" dirty="0"/>
              <a:t>logical AND</a:t>
            </a:r>
            <a:r>
              <a:rPr lang="en-US" altLang="ko-KR" sz="1400" dirty="0"/>
              <a:t> operation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0CEB890F-B1F7-4546-A450-2173ED389DEC}"/>
              </a:ext>
            </a:extLst>
          </p:cNvPr>
          <p:cNvGrpSpPr/>
          <p:nvPr/>
        </p:nvGrpSpPr>
        <p:grpSpPr>
          <a:xfrm>
            <a:off x="1230837" y="1755346"/>
            <a:ext cx="9730326" cy="3347308"/>
            <a:chOff x="1230837" y="1701782"/>
            <a:chExt cx="9730326" cy="3347308"/>
          </a:xfrm>
        </p:grpSpPr>
        <p:grpSp>
          <p:nvGrpSpPr>
            <p:cNvPr id="10" name="그룹 9">
              <a:extLst>
                <a:ext uri="{FF2B5EF4-FFF2-40B4-BE49-F238E27FC236}">
                  <a16:creationId xmlns:a16="http://schemas.microsoft.com/office/drawing/2014/main" id="{85D1A6A1-82A9-464C-87DC-479913C87EC3}"/>
                </a:ext>
              </a:extLst>
            </p:cNvPr>
            <p:cNvGrpSpPr/>
            <p:nvPr/>
          </p:nvGrpSpPr>
          <p:grpSpPr>
            <a:xfrm>
              <a:off x="1230837" y="1701782"/>
              <a:ext cx="9730326" cy="3347308"/>
              <a:chOff x="1230837" y="1701782"/>
              <a:chExt cx="9730326" cy="3347308"/>
            </a:xfrm>
          </p:grpSpPr>
          <p:sp>
            <p:nvSpPr>
              <p:cNvPr id="4" name="직사각형 3">
                <a:extLst>
                  <a:ext uri="{FF2B5EF4-FFF2-40B4-BE49-F238E27FC236}">
                    <a16:creationId xmlns:a16="http://schemas.microsoft.com/office/drawing/2014/main" id="{E0248E1A-59FC-4554-AB01-E9F1556231A2}"/>
                  </a:ext>
                </a:extLst>
              </p:cNvPr>
              <p:cNvSpPr/>
              <p:nvPr/>
            </p:nvSpPr>
            <p:spPr>
              <a:xfrm>
                <a:off x="3275032" y="1701782"/>
                <a:ext cx="5641936" cy="246221"/>
              </a:xfrm>
              <a:prstGeom prst="rect">
                <a:avLst/>
              </a:prstGeom>
              <a:ln>
                <a:solidFill>
                  <a:schemeClr val="bg1">
                    <a:lumMod val="50000"/>
                  </a:schemeClr>
                </a:solidFill>
              </a:ln>
            </p:spPr>
            <p:txBody>
              <a:bodyPr wrap="square">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--selector="app=</a:t>
                </a:r>
                <a:r>
                  <a:rPr lang="en-US" altLang="ko-KR" sz="1000" b="1" dirty="0" err="1">
                    <a:solidFill>
                      <a:srgbClr val="FF0000"/>
                    </a:solidFill>
                  </a:rPr>
                  <a:t>bandicoot,ver</a:t>
                </a:r>
                <a:r>
                  <a:rPr lang="en-US" altLang="ko-KR" sz="1000" b="1" dirty="0">
                    <a:solidFill>
                      <a:srgbClr val="FF0000"/>
                    </a:solidFill>
                  </a:rPr>
                  <a:t>=2"</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CE890F6-080E-416F-9ED1-101A7FD55207}"/>
                  </a:ext>
                </a:extLst>
              </p:cNvPr>
              <p:cNvPicPr>
                <a:picLocks noChangeAspect="1"/>
              </p:cNvPicPr>
              <p:nvPr/>
            </p:nvPicPr>
            <p:blipFill>
              <a:blip r:embed="rId2"/>
              <a:stretch>
                <a:fillRect/>
              </a:stretch>
            </p:blipFill>
            <p:spPr>
              <a:xfrm>
                <a:off x="1230837" y="2246084"/>
                <a:ext cx="9730326" cy="280300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8D8AE10-56BF-4611-8211-7CB5858FDE6B}"/>
                  </a:ext>
                </a:extLst>
              </p:cNvPr>
              <p:cNvSpPr/>
              <p:nvPr/>
            </p:nvSpPr>
            <p:spPr>
              <a:xfrm>
                <a:off x="5893242" y="1973933"/>
                <a:ext cx="405516"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391C795F-76EB-4F69-9EC9-E135E5DE165C}"/>
                </a:ext>
              </a:extLst>
            </p:cNvPr>
            <p:cNvSpPr/>
            <p:nvPr/>
          </p:nvSpPr>
          <p:spPr>
            <a:xfrm>
              <a:off x="4063117" y="3697356"/>
              <a:ext cx="3474720"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D1D26C47-BF2F-4CF1-B9D3-502D5DADE50B}"/>
                </a:ext>
              </a:extLst>
            </p:cNvPr>
            <p:cNvSpPr/>
            <p:nvPr/>
          </p:nvSpPr>
          <p:spPr>
            <a:xfrm>
              <a:off x="4063117" y="4094922"/>
              <a:ext cx="2902226" cy="18288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827354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Labels(10/14)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b="1" dirty="0"/>
              <a:t>We can also ask if a label is one of a set of values</a:t>
            </a:r>
            <a:r>
              <a:rPr lang="en-US" altLang="ko-KR" sz="1400" dirty="0"/>
              <a:t>. Here we ask for all Pods where the “</a:t>
            </a:r>
            <a:r>
              <a:rPr lang="en-US" altLang="ko-KR" sz="1400" b="1" dirty="0"/>
              <a:t>app” </a:t>
            </a:r>
            <a:r>
              <a:rPr lang="en-US" altLang="ko-KR" sz="1400" dirty="0"/>
              <a:t>label</a:t>
            </a:r>
            <a:r>
              <a:rPr lang="en-US" altLang="ko-KR" sz="1400" b="1" dirty="0"/>
              <a:t> </a:t>
            </a:r>
            <a:r>
              <a:rPr lang="en-US" altLang="ko-KR" sz="1400" dirty="0"/>
              <a:t>is set to “</a:t>
            </a:r>
            <a:r>
              <a:rPr lang="en-US" altLang="ko-KR" sz="1400" b="1" dirty="0"/>
              <a:t>alpaca</a:t>
            </a:r>
            <a:r>
              <a:rPr lang="en-US" altLang="ko-KR" sz="1400" dirty="0"/>
              <a:t>” or “</a:t>
            </a:r>
            <a:r>
              <a:rPr lang="en-US" altLang="ko-KR" sz="1400" b="1" dirty="0"/>
              <a:t>bandicoot</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E41B80BC-8C78-4ACC-9F50-850BFE782F63}"/>
              </a:ext>
            </a:extLst>
          </p:cNvPr>
          <p:cNvGrpSpPr/>
          <p:nvPr/>
        </p:nvGrpSpPr>
        <p:grpSpPr>
          <a:xfrm>
            <a:off x="1871662" y="2154678"/>
            <a:ext cx="8448675" cy="2548643"/>
            <a:chOff x="1871661" y="1730259"/>
            <a:chExt cx="8448675" cy="2548643"/>
          </a:xfrm>
        </p:grpSpPr>
        <p:sp>
          <p:nvSpPr>
            <p:cNvPr id="4" name="직사각형 3">
              <a:extLst>
                <a:ext uri="{FF2B5EF4-FFF2-40B4-BE49-F238E27FC236}">
                  <a16:creationId xmlns:a16="http://schemas.microsoft.com/office/drawing/2014/main" id="{C06ECCEF-65D7-449B-AB1C-767964EAA4BA}"/>
                </a:ext>
              </a:extLst>
            </p:cNvPr>
            <p:cNvSpPr/>
            <p:nvPr/>
          </p:nvSpPr>
          <p:spPr>
            <a:xfrm>
              <a:off x="3048000" y="1730259"/>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--selector="app in (</a:t>
              </a:r>
              <a:r>
                <a:rPr lang="en-US" altLang="ko-KR" sz="1000" b="1" dirty="0" err="1">
                  <a:solidFill>
                    <a:srgbClr val="FF0000"/>
                  </a:solidFill>
                </a:rPr>
                <a:t>alpaca,bandicoot</a:t>
              </a:r>
              <a:r>
                <a:rPr lang="en-US" altLang="ko-KR" sz="1000" b="1" dirty="0">
                  <a:solidFill>
                    <a:srgbClr val="FF0000"/>
                  </a:solidFill>
                </a:rPr>
                <a:t>)"</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83F0F995-710D-403F-B67B-FC82BB9FC6D9}"/>
                </a:ext>
              </a:extLst>
            </p:cNvPr>
            <p:cNvSpPr/>
            <p:nvPr/>
          </p:nvSpPr>
          <p:spPr>
            <a:xfrm>
              <a:off x="5917095" y="2009457"/>
              <a:ext cx="357809" cy="2464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F72CCB5B-2927-42D4-82D3-FF8CC144A8C4}"/>
                </a:ext>
              </a:extLst>
            </p:cNvPr>
            <p:cNvPicPr>
              <a:picLocks noChangeAspect="1"/>
            </p:cNvPicPr>
            <p:nvPr/>
          </p:nvPicPr>
          <p:blipFill>
            <a:blip r:embed="rId2"/>
            <a:stretch>
              <a:fillRect/>
            </a:stretch>
          </p:blipFill>
          <p:spPr>
            <a:xfrm>
              <a:off x="1871661" y="2269127"/>
              <a:ext cx="8448675" cy="2009775"/>
            </a:xfrm>
            <a:prstGeom prst="rect">
              <a:avLst/>
            </a:prstGeom>
            <a:ln>
              <a:solidFill>
                <a:schemeClr val="bg1">
                  <a:lumMod val="50000"/>
                </a:schemeClr>
              </a:solidFill>
            </a:ln>
          </p:spPr>
        </p:pic>
      </p:grpSp>
    </p:spTree>
    <p:extLst>
      <p:ext uri="{BB962C8B-B14F-4D97-AF65-F5344CB8AC3E}">
        <p14:creationId xmlns:p14="http://schemas.microsoft.com/office/powerpoint/2010/main" val="40012570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Labels(11/14)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Finally, </a:t>
            </a:r>
            <a:r>
              <a:rPr lang="en-US" altLang="ko-KR" sz="1400" b="1" dirty="0"/>
              <a:t>we can ask if a label is set at all</a:t>
            </a:r>
            <a:r>
              <a:rPr lang="en-US" altLang="ko-KR" sz="1400" dirty="0"/>
              <a:t>. Here we are asking for all of the pods with the “</a:t>
            </a:r>
            <a:r>
              <a:rPr lang="en-US" altLang="ko-KR" sz="1400" b="1" dirty="0"/>
              <a:t>canary</a:t>
            </a:r>
            <a:r>
              <a:rPr lang="en-US" altLang="ko-KR" sz="1400" dirty="0"/>
              <a:t>” label set to anything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7E9E8CDF-CA32-46BD-BF19-DAE26332D5BD}"/>
              </a:ext>
            </a:extLst>
          </p:cNvPr>
          <p:cNvGrpSpPr/>
          <p:nvPr/>
        </p:nvGrpSpPr>
        <p:grpSpPr>
          <a:xfrm>
            <a:off x="1731457" y="1715629"/>
            <a:ext cx="8729082" cy="2944442"/>
            <a:chOff x="1731457" y="1715629"/>
            <a:chExt cx="8729082" cy="2944442"/>
          </a:xfrm>
        </p:grpSpPr>
        <p:pic>
          <p:nvPicPr>
            <p:cNvPr id="4" name="그림 3">
              <a:extLst>
                <a:ext uri="{FF2B5EF4-FFF2-40B4-BE49-F238E27FC236}">
                  <a16:creationId xmlns:a16="http://schemas.microsoft.com/office/drawing/2014/main" id="{C8421087-8AC8-4102-8557-F75DF06463BE}"/>
                </a:ext>
              </a:extLst>
            </p:cNvPr>
            <p:cNvPicPr>
              <a:picLocks noChangeAspect="1"/>
            </p:cNvPicPr>
            <p:nvPr/>
          </p:nvPicPr>
          <p:blipFill>
            <a:blip r:embed="rId2"/>
            <a:stretch>
              <a:fillRect/>
            </a:stretch>
          </p:blipFill>
          <p:spPr>
            <a:xfrm>
              <a:off x="1731457" y="2250255"/>
              <a:ext cx="8729082" cy="2409816"/>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829858B3-474D-43C5-A636-C054BA821133}"/>
                </a:ext>
              </a:extLst>
            </p:cNvPr>
            <p:cNvSpPr/>
            <p:nvPr/>
          </p:nvSpPr>
          <p:spPr>
            <a:xfrm>
              <a:off x="5905167" y="1975911"/>
              <a:ext cx="381663" cy="274344"/>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1A6D95C5-02F1-2C5D-C98F-8D5C980A4902}"/>
                </a:ext>
              </a:extLst>
            </p:cNvPr>
            <p:cNvSpPr txBox="1"/>
            <p:nvPr/>
          </p:nvSpPr>
          <p:spPr>
            <a:xfrm>
              <a:off x="4770154" y="1715629"/>
              <a:ext cx="2651688" cy="246221"/>
            </a:xfrm>
            <a:prstGeom prst="rect">
              <a:avLst/>
            </a:prstGeom>
            <a:noFill/>
            <a:ln>
              <a:solidFill>
                <a:schemeClr val="tx1">
                  <a:lumMod val="95000"/>
                  <a:lumOff val="5000"/>
                </a:schemeClr>
              </a:solidFill>
            </a:ln>
          </p:spPr>
          <p:txBody>
            <a:bodyPr wrap="none" rtlCol="0">
              <a:spAutoFit/>
            </a:bodyPr>
            <a:lstStyle/>
            <a:p>
              <a:pPr algn="ctr"/>
              <a:r>
                <a:rPr lang="en-US" altLang="ko-KR" sz="1000" b="1" dirty="0"/>
                <a:t>$ </a:t>
              </a:r>
              <a:r>
                <a:rPr lang="en-US" altLang="ko-KR" sz="1000" b="1" dirty="0" err="1"/>
                <a:t>kubectl</a:t>
              </a:r>
              <a:r>
                <a:rPr lang="ko-KR" altLang="en-US" sz="1000" b="1" dirty="0"/>
                <a:t> </a:t>
              </a:r>
              <a:r>
                <a:rPr lang="en-US" altLang="ko-KR" sz="1000" b="1" dirty="0"/>
                <a:t>get</a:t>
              </a:r>
              <a:r>
                <a:rPr lang="ko-KR" altLang="en-US" sz="1000" b="1" dirty="0"/>
                <a:t> </a:t>
              </a:r>
              <a:r>
                <a:rPr lang="en-US" altLang="ko-KR" sz="1000" b="1" dirty="0"/>
                <a:t>pods </a:t>
              </a:r>
              <a:r>
                <a:rPr lang="en-US" altLang="ko-KR" sz="1000" b="1" dirty="0">
                  <a:solidFill>
                    <a:srgbClr val="FF0000"/>
                  </a:solidFill>
                </a:rPr>
                <a:t>--selector=“</a:t>
              </a:r>
              <a:r>
                <a:rPr lang="en-US" altLang="ko-KR" sz="1000" b="1" dirty="0" err="1">
                  <a:solidFill>
                    <a:srgbClr val="FF0000"/>
                  </a:solidFill>
                </a:rPr>
                <a:t>cannary</a:t>
              </a:r>
              <a:r>
                <a:rPr lang="en-US" altLang="ko-KR" sz="1000" b="1" dirty="0">
                  <a:solidFill>
                    <a:srgbClr val="FF0000"/>
                  </a:solidFill>
                </a:rPr>
                <a:t>”</a:t>
              </a:r>
              <a:endParaRPr lang="ko-KR" altLang="en-US" sz="1000" b="1" dirty="0">
                <a:solidFill>
                  <a:srgbClr val="FF0000"/>
                </a:solidFill>
              </a:endParaRPr>
            </a:p>
          </p:txBody>
        </p:sp>
      </p:grpSp>
    </p:spTree>
    <p:extLst>
      <p:ext uri="{BB962C8B-B14F-4D97-AF65-F5344CB8AC3E}">
        <p14:creationId xmlns:p14="http://schemas.microsoft.com/office/powerpoint/2010/main" val="396807373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Labels(12/14)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a:t>
            </a:r>
          </a:p>
          <a:p>
            <a:pPr lvl="1">
              <a:buFont typeface="Wingdings" panose="05000000000000000000" pitchFamily="2" charset="2"/>
              <a:buChar char="§"/>
            </a:pPr>
            <a:r>
              <a:rPr lang="en-US" altLang="ko-KR" sz="1400" dirty="0"/>
              <a:t>There are also </a:t>
            </a:r>
            <a:r>
              <a:rPr lang="en-US" altLang="ko-KR" sz="1400" b="1" dirty="0"/>
              <a:t>“negative” versions of “label selector”</a:t>
            </a:r>
            <a:r>
              <a:rPr lang="en-US" altLang="ko-KR" sz="1400" dirty="0"/>
              <a:t>. See the following table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For example, asking if a key, “</a:t>
            </a:r>
            <a:r>
              <a:rPr lang="en-US" altLang="ko-KR" sz="1400" b="1" dirty="0"/>
              <a:t>canary</a:t>
            </a:r>
            <a:r>
              <a:rPr lang="en-US" altLang="ko-KR" sz="1400" dirty="0"/>
              <a:t>”, </a:t>
            </a:r>
            <a:r>
              <a:rPr lang="en-US" altLang="ko-KR" sz="1400" b="1" dirty="0"/>
              <a:t>is not set </a:t>
            </a:r>
            <a:r>
              <a:rPr lang="en-US" altLang="ko-KR" sz="1400" dirty="0"/>
              <a:t>can look like the following screen shot : Similarly, you can combine positive and negative selectors together as well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79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1259F690-D373-47AA-8094-852771EE68CF}"/>
              </a:ext>
            </a:extLst>
          </p:cNvPr>
          <p:cNvPicPr>
            <a:picLocks noChangeAspect="1"/>
          </p:cNvPicPr>
          <p:nvPr/>
        </p:nvPicPr>
        <p:blipFill>
          <a:blip r:embed="rId2"/>
          <a:stretch>
            <a:fillRect/>
          </a:stretch>
        </p:blipFill>
        <p:spPr>
          <a:xfrm>
            <a:off x="4184549" y="1426960"/>
            <a:ext cx="3822902" cy="1666394"/>
          </a:xfrm>
          <a:prstGeom prst="rect">
            <a:avLst/>
          </a:prstGeom>
        </p:spPr>
      </p:pic>
      <p:grpSp>
        <p:nvGrpSpPr>
          <p:cNvPr id="11" name="그룹 10">
            <a:extLst>
              <a:ext uri="{FF2B5EF4-FFF2-40B4-BE49-F238E27FC236}">
                <a16:creationId xmlns:a16="http://schemas.microsoft.com/office/drawing/2014/main" id="{FE69DD2A-EB97-4E92-944D-729F2908EE7F}"/>
              </a:ext>
            </a:extLst>
          </p:cNvPr>
          <p:cNvGrpSpPr/>
          <p:nvPr/>
        </p:nvGrpSpPr>
        <p:grpSpPr>
          <a:xfrm>
            <a:off x="1791093" y="3745908"/>
            <a:ext cx="8609814" cy="2663122"/>
            <a:chOff x="1791093" y="3745908"/>
            <a:chExt cx="8609814" cy="2663122"/>
          </a:xfrm>
        </p:grpSpPr>
        <p:sp>
          <p:nvSpPr>
            <p:cNvPr id="8" name="직사각형 7">
              <a:extLst>
                <a:ext uri="{FF2B5EF4-FFF2-40B4-BE49-F238E27FC236}">
                  <a16:creationId xmlns:a16="http://schemas.microsoft.com/office/drawing/2014/main" id="{B5D98898-0D40-4E22-8E94-793112A612A5}"/>
                </a:ext>
              </a:extLst>
            </p:cNvPr>
            <p:cNvSpPr/>
            <p:nvPr/>
          </p:nvSpPr>
          <p:spPr>
            <a:xfrm>
              <a:off x="3048000" y="3745908"/>
              <a:ext cx="6096000" cy="400110"/>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--selector='!canary'</a:t>
              </a:r>
            </a:p>
            <a:p>
              <a:r>
                <a:rPr lang="en-US" altLang="ko-KR" sz="1000" b="1" dirty="0"/>
                <a:t>$ </a:t>
              </a:r>
              <a:r>
                <a:rPr lang="en-US" altLang="ko-KR" sz="1000" b="1" dirty="0" err="1"/>
                <a:t>kubectl</a:t>
              </a:r>
              <a:r>
                <a:rPr lang="en-US" altLang="ko-KR" sz="1000" b="1" dirty="0"/>
                <a:t> get pods </a:t>
              </a:r>
              <a:r>
                <a:rPr lang="en-US" altLang="ko-KR" sz="1000" b="1" dirty="0">
                  <a:solidFill>
                    <a:srgbClr val="FF0000"/>
                  </a:solidFill>
                </a:rPr>
                <a:t>-l '</a:t>
              </a:r>
              <a:r>
                <a:rPr lang="en-US" altLang="ko-KR" sz="1000" b="1" dirty="0" err="1">
                  <a:solidFill>
                    <a:srgbClr val="FF0000"/>
                  </a:solidFill>
                </a:rPr>
                <a:t>ver</a:t>
              </a:r>
              <a:r>
                <a:rPr lang="en-US" altLang="ko-KR" sz="1000" b="1" dirty="0">
                  <a:solidFill>
                    <a:srgbClr val="FF0000"/>
                  </a:solidFill>
                </a:rPr>
                <a:t>=2,!canary'</a:t>
              </a:r>
            </a:p>
          </p:txBody>
        </p:sp>
        <p:pic>
          <p:nvPicPr>
            <p:cNvPr id="9" name="그림 8">
              <a:extLst>
                <a:ext uri="{FF2B5EF4-FFF2-40B4-BE49-F238E27FC236}">
                  <a16:creationId xmlns:a16="http://schemas.microsoft.com/office/drawing/2014/main" id="{6FD0185E-BF8A-468E-A06C-E835D657BCF9}"/>
                </a:ext>
              </a:extLst>
            </p:cNvPr>
            <p:cNvPicPr>
              <a:picLocks noChangeAspect="1"/>
            </p:cNvPicPr>
            <p:nvPr/>
          </p:nvPicPr>
          <p:blipFill>
            <a:blip r:embed="rId3"/>
            <a:stretch>
              <a:fillRect/>
            </a:stretch>
          </p:blipFill>
          <p:spPr>
            <a:xfrm>
              <a:off x="1791093" y="4459638"/>
              <a:ext cx="8609814" cy="1949392"/>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49DA6E83-3876-4F11-AE01-05CBF6C03479}"/>
                </a:ext>
              </a:extLst>
            </p:cNvPr>
            <p:cNvSpPr/>
            <p:nvPr/>
          </p:nvSpPr>
          <p:spPr>
            <a:xfrm>
              <a:off x="5913120" y="4168828"/>
              <a:ext cx="365760" cy="29081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2811421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Labels(13/14)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 Selectors in API Objects :</a:t>
            </a:r>
          </a:p>
          <a:p>
            <a:pPr lvl="1">
              <a:buFont typeface="Wingdings" panose="05000000000000000000" pitchFamily="2" charset="2"/>
              <a:buChar char="§"/>
            </a:pPr>
            <a:r>
              <a:rPr lang="en-US" altLang="ko-KR" sz="1400" b="1" dirty="0"/>
              <a:t>When a Kubernetes object refers to a set of other Kubernetes objects, a label selector is used</a:t>
            </a:r>
            <a:r>
              <a:rPr lang="en-US" altLang="ko-KR" sz="1400" dirty="0"/>
              <a:t>. Instead of a simple string as described in the previous section, we use a </a:t>
            </a:r>
            <a:r>
              <a:rPr lang="en-US" altLang="ko-KR" sz="1400" b="1" dirty="0">
                <a:solidFill>
                  <a:srgbClr val="FF0000"/>
                </a:solidFill>
              </a:rPr>
              <a:t>parsed structure</a:t>
            </a:r>
            <a:r>
              <a:rPr lang="en-US" altLang="ko-KR" sz="1400" dirty="0"/>
              <a:t>.</a:t>
            </a:r>
          </a:p>
          <a:p>
            <a:pPr lvl="1">
              <a:buFont typeface="Wingdings" panose="05000000000000000000" pitchFamily="2" charset="2"/>
              <a:buChar char="§"/>
            </a:pPr>
            <a:r>
              <a:rPr lang="en-US" altLang="ko-KR" sz="1400" b="1" dirty="0"/>
              <a:t>For historical reasons (Kubernetes doesn’t break API compatibility!), there are two forms</a:t>
            </a:r>
            <a:r>
              <a:rPr lang="en-US" altLang="ko-KR" sz="1400" dirty="0"/>
              <a:t>. Most objects support a newer, more powerful set of selector operators. </a:t>
            </a:r>
          </a:p>
          <a:p>
            <a:pPr lvl="1">
              <a:buFont typeface="Wingdings" panose="05000000000000000000" pitchFamily="2" charset="2"/>
              <a:buChar char="§"/>
            </a:pPr>
            <a:r>
              <a:rPr lang="en-US" altLang="ko-KR" sz="1400" dirty="0"/>
              <a:t>A selector of “</a:t>
            </a:r>
            <a:r>
              <a:rPr lang="en-US" altLang="ko-KR" sz="1400" b="1" dirty="0"/>
              <a:t>app=</a:t>
            </a:r>
            <a:r>
              <a:rPr lang="en-US" altLang="ko-KR" sz="1400" b="1" dirty="0" err="1"/>
              <a:t>alpaca,ver</a:t>
            </a:r>
            <a:r>
              <a:rPr lang="en-US" altLang="ko-KR" sz="1400" b="1" dirty="0"/>
              <a:t> in (1, 2)</a:t>
            </a:r>
            <a:r>
              <a:rPr lang="en-US" altLang="ko-KR" sz="1400" dirty="0"/>
              <a:t>” would be converted to this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All of the terms are evaluated as a “logical AND”</a:t>
            </a:r>
            <a:r>
              <a:rPr lang="en-US" altLang="ko-KR" sz="1400" dirty="0"/>
              <a:t>. The only way to represent the “</a:t>
            </a:r>
            <a:r>
              <a:rPr lang="en-US" altLang="ko-KR" sz="1400" b="1" dirty="0"/>
              <a:t>!=</a:t>
            </a:r>
            <a:r>
              <a:rPr lang="en-US" altLang="ko-KR" sz="1400" dirty="0"/>
              <a:t>“ </a:t>
            </a:r>
            <a:r>
              <a:rPr lang="en-US" altLang="ko-KR" sz="1400" b="1" dirty="0"/>
              <a:t>operator is to convert it to a “</a:t>
            </a:r>
            <a:r>
              <a:rPr lang="en-US" altLang="ko-KR" sz="1400" b="1" dirty="0" err="1"/>
              <a:t>NotIn</a:t>
            </a:r>
            <a:r>
              <a:rPr lang="en-US" altLang="ko-KR" sz="1400" b="1" dirty="0"/>
              <a:t>” expression with a single value</a:t>
            </a:r>
            <a:r>
              <a:rPr lang="en-US" altLang="ko-KR" sz="1400" dirty="0"/>
              <a:t>. The older form of specifying selectors (used in “</a:t>
            </a:r>
            <a:r>
              <a:rPr lang="en-US" altLang="ko-KR" sz="1400" b="1" dirty="0" err="1"/>
              <a:t>ReplicationControllers</a:t>
            </a:r>
            <a:r>
              <a:rPr lang="en-US" altLang="ko-KR" sz="1400" b="1" dirty="0"/>
              <a:t>”</a:t>
            </a:r>
            <a:r>
              <a:rPr lang="en-US" altLang="ko-KR" sz="1400" dirty="0"/>
              <a:t> and “</a:t>
            </a:r>
            <a:r>
              <a:rPr lang="en-US" altLang="ko-KR" sz="1400" b="1" dirty="0"/>
              <a:t>services</a:t>
            </a:r>
            <a:r>
              <a:rPr lang="en-US" altLang="ko-KR" sz="1400" dirty="0"/>
              <a:t>”) only </a:t>
            </a:r>
            <a:r>
              <a:rPr lang="en-US" altLang="ko-KR" sz="1400" b="1" dirty="0"/>
              <a:t>supports the “=“ operator</a:t>
            </a:r>
            <a:r>
              <a:rPr lang="en-US" altLang="ko-KR" sz="1400" dirty="0"/>
              <a:t>. </a:t>
            </a:r>
            <a:r>
              <a:rPr lang="en-US" altLang="ko-KR" sz="1400" b="1" dirty="0"/>
              <a:t>This is a simple set of key/value pairs </a:t>
            </a:r>
            <a:r>
              <a:rPr lang="en-US" altLang="ko-KR" sz="1400" dirty="0"/>
              <a:t>that must all match a target object to be selected.</a:t>
            </a:r>
          </a:p>
          <a:p>
            <a:pPr lvl="1">
              <a:buFont typeface="Wingdings" panose="05000000000000000000" pitchFamily="2" charset="2"/>
              <a:buChar char="§"/>
            </a:pPr>
            <a:r>
              <a:rPr lang="en-US" altLang="ko-KR" sz="1400" dirty="0"/>
              <a:t>The selector “</a:t>
            </a:r>
            <a:r>
              <a:rPr lang="en-US" altLang="ko-KR" sz="1400" b="1" dirty="0"/>
              <a:t>app=</a:t>
            </a:r>
            <a:r>
              <a:rPr lang="en-US" altLang="ko-KR" sz="1400" b="1" dirty="0" err="1"/>
              <a:t>alpaca,ver</a:t>
            </a:r>
            <a:r>
              <a:rPr lang="en-US" altLang="ko-KR" sz="1400" b="1" dirty="0"/>
              <a:t>=1</a:t>
            </a:r>
            <a:r>
              <a:rPr lang="en-US" altLang="ko-KR" sz="1400" dirty="0"/>
              <a:t>” would be represented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53838DD-AD14-4F21-AEF6-B91D2A908E93}"/>
              </a:ext>
            </a:extLst>
          </p:cNvPr>
          <p:cNvGrpSpPr/>
          <p:nvPr/>
        </p:nvGrpSpPr>
        <p:grpSpPr>
          <a:xfrm>
            <a:off x="3048000" y="2402791"/>
            <a:ext cx="6096000" cy="1261884"/>
            <a:chOff x="3048000" y="2378938"/>
            <a:chExt cx="6096000" cy="1261884"/>
          </a:xfrm>
        </p:grpSpPr>
        <p:sp>
          <p:nvSpPr>
            <p:cNvPr id="4" name="직사각형 3">
              <a:extLst>
                <a:ext uri="{FF2B5EF4-FFF2-40B4-BE49-F238E27FC236}">
                  <a16:creationId xmlns:a16="http://schemas.microsoft.com/office/drawing/2014/main" id="{2714F615-3D39-43DF-810B-6DCD4B9F1811}"/>
                </a:ext>
              </a:extLst>
            </p:cNvPr>
            <p:cNvSpPr/>
            <p:nvPr/>
          </p:nvSpPr>
          <p:spPr>
            <a:xfrm>
              <a:off x="3048000" y="2378938"/>
              <a:ext cx="6096000" cy="861774"/>
            </a:xfrm>
            <a:prstGeom prst="rect">
              <a:avLst/>
            </a:prstGeom>
            <a:ln>
              <a:solidFill>
                <a:schemeClr val="bg1">
                  <a:lumMod val="50000"/>
                </a:schemeClr>
              </a:solidFill>
            </a:ln>
          </p:spPr>
          <p:txBody>
            <a:bodyPr>
              <a:spAutoFit/>
            </a:bodyPr>
            <a:lstStyle/>
            <a:p>
              <a:r>
                <a:rPr lang="en-US" altLang="ko-KR" sz="1000" b="1" dirty="0"/>
                <a:t>selector:</a:t>
              </a:r>
            </a:p>
            <a:p>
              <a:r>
                <a:rPr lang="en-US" altLang="ko-KR" sz="1000" b="1" dirty="0"/>
                <a:t>  </a:t>
              </a:r>
              <a:r>
                <a:rPr lang="en-US" altLang="ko-KR" sz="1000" b="1" dirty="0" err="1"/>
                <a:t>matchLabels</a:t>
              </a:r>
              <a:r>
                <a:rPr lang="en-US" altLang="ko-KR" sz="1000" b="1" dirty="0"/>
                <a:t>:</a:t>
              </a:r>
            </a:p>
            <a:p>
              <a:r>
                <a:rPr lang="en-US" altLang="ko-KR" sz="1000" b="1" dirty="0"/>
                <a:t>    app: alpaca</a:t>
              </a:r>
            </a:p>
            <a:p>
              <a:r>
                <a:rPr lang="en-US" altLang="ko-KR" sz="1000" b="1" dirty="0"/>
                <a:t>  </a:t>
              </a:r>
              <a:r>
                <a:rPr lang="en-US" altLang="ko-KR" sz="1000" b="1" dirty="0" err="1"/>
                <a:t>matchExpressions</a:t>
              </a:r>
              <a:r>
                <a:rPr lang="en-US" altLang="ko-KR" sz="1000" b="1" dirty="0"/>
                <a:t>:</a:t>
              </a:r>
            </a:p>
            <a:p>
              <a:r>
                <a:rPr lang="en-US" altLang="ko-KR" sz="1000" b="1" dirty="0"/>
                <a:t>    - {key: </a:t>
              </a:r>
              <a:r>
                <a:rPr lang="en-US" altLang="ko-KR" sz="1000" b="1" dirty="0" err="1"/>
                <a:t>ver</a:t>
              </a:r>
              <a:r>
                <a:rPr lang="en-US" altLang="ko-KR" sz="1000" b="1" dirty="0"/>
                <a:t>, operator: In, values: [1, 2]}</a:t>
              </a:r>
              <a:endParaRPr lang="ko-KR" altLang="en-US" sz="1000" b="1" dirty="0"/>
            </a:p>
          </p:txBody>
        </p:sp>
        <p:sp>
          <p:nvSpPr>
            <p:cNvPr id="8" name="직사각형 7">
              <a:extLst>
                <a:ext uri="{FF2B5EF4-FFF2-40B4-BE49-F238E27FC236}">
                  <a16:creationId xmlns:a16="http://schemas.microsoft.com/office/drawing/2014/main" id="{CAA47977-5D33-426C-90D5-038840935537}"/>
                </a:ext>
              </a:extLst>
            </p:cNvPr>
            <p:cNvSpPr/>
            <p:nvPr/>
          </p:nvSpPr>
          <p:spPr>
            <a:xfrm>
              <a:off x="3048000" y="3240712"/>
              <a:ext cx="6096000" cy="400110"/>
            </a:xfrm>
            <a:prstGeom prst="rect">
              <a:avLst/>
            </a:prstGeom>
          </p:spPr>
          <p:txBody>
            <a:bodyPr>
              <a:spAutoFit/>
            </a:bodyPr>
            <a:lstStyle/>
            <a:p>
              <a:r>
                <a:rPr lang="en-US" altLang="ko-KR" sz="1000" b="1" dirty="0">
                  <a:solidFill>
                    <a:srgbClr val="FF0000"/>
                  </a:solidFill>
                </a:rPr>
                <a:t>Compact YAML syntax</a:t>
              </a:r>
              <a:r>
                <a:rPr lang="en-US" altLang="ko-KR" sz="1000" b="1" dirty="0"/>
                <a:t>. This is an item in a list (</a:t>
              </a:r>
              <a:r>
                <a:rPr lang="en-US" altLang="ko-KR" sz="1000" b="1" dirty="0" err="1">
                  <a:solidFill>
                    <a:srgbClr val="FF0000"/>
                  </a:solidFill>
                </a:rPr>
                <a:t>matchExpressions</a:t>
              </a:r>
              <a:r>
                <a:rPr lang="en-US" altLang="ko-KR" sz="1000" b="1" dirty="0"/>
                <a:t>) that is a </a:t>
              </a:r>
              <a:r>
                <a:rPr lang="en-US" altLang="ko-KR" sz="1000" b="1" dirty="0">
                  <a:solidFill>
                    <a:srgbClr val="FF0000"/>
                  </a:solidFill>
                </a:rPr>
                <a:t>map</a:t>
              </a:r>
              <a:r>
                <a:rPr lang="en-US" altLang="ko-KR" sz="1000" b="1" dirty="0"/>
                <a:t> with three entries. The last entry (</a:t>
              </a:r>
              <a:r>
                <a:rPr lang="en-US" altLang="ko-KR" sz="1000" b="1" dirty="0">
                  <a:solidFill>
                    <a:srgbClr val="FF0000"/>
                  </a:solidFill>
                </a:rPr>
                <a:t>values</a:t>
              </a:r>
              <a:r>
                <a:rPr lang="en-US" altLang="ko-KR" sz="1000" b="1" dirty="0"/>
                <a:t>) has a value that is a list with two items.</a:t>
              </a:r>
              <a:endParaRPr lang="ko-KR" altLang="en-US" sz="1000" b="1" dirty="0"/>
            </a:p>
          </p:txBody>
        </p:sp>
      </p:grpSp>
      <p:sp>
        <p:nvSpPr>
          <p:cNvPr id="9" name="직사각형 8">
            <a:extLst>
              <a:ext uri="{FF2B5EF4-FFF2-40B4-BE49-F238E27FC236}">
                <a16:creationId xmlns:a16="http://schemas.microsoft.com/office/drawing/2014/main" id="{ECDBCD35-FD7C-472E-BDDE-33E2B72F3D02}"/>
              </a:ext>
            </a:extLst>
          </p:cNvPr>
          <p:cNvSpPr/>
          <p:nvPr/>
        </p:nvSpPr>
        <p:spPr>
          <a:xfrm>
            <a:off x="3048000" y="5035477"/>
            <a:ext cx="6096000" cy="553998"/>
          </a:xfrm>
          <a:prstGeom prst="rect">
            <a:avLst/>
          </a:prstGeom>
          <a:ln>
            <a:solidFill>
              <a:schemeClr val="bg1">
                <a:lumMod val="50000"/>
              </a:schemeClr>
            </a:solidFill>
          </a:ln>
        </p:spPr>
        <p:txBody>
          <a:bodyPr>
            <a:spAutoFit/>
          </a:bodyPr>
          <a:lstStyle/>
          <a:p>
            <a:r>
              <a:rPr lang="en-US" altLang="ko-KR" sz="1000" b="1" dirty="0"/>
              <a:t>selector:</a:t>
            </a:r>
          </a:p>
          <a:p>
            <a:r>
              <a:rPr lang="en-US" altLang="ko-KR" sz="1000" b="1" dirty="0"/>
              <a:t>  app: alpaca</a:t>
            </a:r>
          </a:p>
          <a:p>
            <a:r>
              <a:rPr lang="en-US" altLang="ko-KR" sz="1000" b="1" dirty="0"/>
              <a:t>  </a:t>
            </a:r>
            <a:r>
              <a:rPr lang="en-US" altLang="ko-KR" sz="1000" b="1" dirty="0" err="1"/>
              <a:t>ver</a:t>
            </a:r>
            <a:r>
              <a:rPr lang="en-US" altLang="ko-KR" sz="1000" b="1" dirty="0"/>
              <a:t>: 1</a:t>
            </a:r>
            <a:endParaRPr lang="ko-KR" altLang="en-US" sz="1000" b="1" dirty="0"/>
          </a:p>
        </p:txBody>
      </p:sp>
    </p:spTree>
    <p:extLst>
      <p:ext uri="{BB962C8B-B14F-4D97-AF65-F5344CB8AC3E}">
        <p14:creationId xmlns:p14="http://schemas.microsoft.com/office/powerpoint/2010/main" val="21071065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Labels(14/14)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Labels in the Kubernetes Architecture :</a:t>
            </a:r>
          </a:p>
          <a:p>
            <a:pPr lvl="1">
              <a:buFont typeface="Wingdings" panose="05000000000000000000" pitchFamily="2" charset="2"/>
              <a:buChar char="§"/>
            </a:pPr>
            <a:r>
              <a:rPr lang="en-US" altLang="ko-KR" sz="1400" b="1" dirty="0"/>
              <a:t>In addition to enabling users to organize their infrastructure, labels play a critical role in </a:t>
            </a:r>
            <a:r>
              <a:rPr lang="en-US" altLang="ko-KR" sz="1400" b="1" dirty="0">
                <a:solidFill>
                  <a:srgbClr val="FF0000"/>
                </a:solidFill>
              </a:rPr>
              <a:t>linking various related Kubernetes objects</a:t>
            </a:r>
            <a:r>
              <a:rPr lang="en-US" altLang="ko-KR" sz="1400" dirty="0"/>
              <a:t>. </a:t>
            </a:r>
            <a:r>
              <a:rPr lang="en-US" altLang="ko-KR" sz="1400" b="1" dirty="0"/>
              <a:t>Kubernetes is a purposefully decoupled system</a:t>
            </a:r>
            <a:r>
              <a:rPr lang="en-US" altLang="ko-KR" sz="1400" dirty="0"/>
              <a:t>. There is no hierarchy and all components operate independently. However, in many cases </a:t>
            </a:r>
            <a:r>
              <a:rPr lang="en-US" altLang="ko-KR" sz="1400" b="1" dirty="0"/>
              <a:t>objects need to relate to one another</a:t>
            </a:r>
            <a:r>
              <a:rPr lang="en-US" altLang="ko-KR" sz="1400" dirty="0"/>
              <a:t>, and </a:t>
            </a:r>
            <a:r>
              <a:rPr lang="en-US" altLang="ko-KR" sz="1400" b="1" dirty="0"/>
              <a:t>these relationships are defined by labels and label selectors</a:t>
            </a:r>
            <a:r>
              <a:rPr lang="en-US" altLang="ko-KR" sz="1400" dirty="0"/>
              <a:t>.</a:t>
            </a:r>
          </a:p>
          <a:p>
            <a:pPr lvl="1">
              <a:buFont typeface="Wingdings" panose="05000000000000000000" pitchFamily="2" charset="2"/>
              <a:buChar char="§"/>
            </a:pPr>
            <a:r>
              <a:rPr lang="en-US" altLang="ko-KR" sz="1400" dirty="0"/>
              <a:t>For example, “</a:t>
            </a:r>
            <a:r>
              <a:rPr lang="en-US" altLang="ko-KR" sz="1400" b="1" dirty="0" err="1"/>
              <a:t>ReplicaSets</a:t>
            </a:r>
            <a:r>
              <a:rPr lang="en-US" altLang="ko-KR" sz="1400" b="1" dirty="0"/>
              <a:t>”</a:t>
            </a:r>
            <a:r>
              <a:rPr lang="en-US" altLang="ko-KR" sz="1400" dirty="0"/>
              <a:t>, </a:t>
            </a:r>
            <a:r>
              <a:rPr lang="en-US" altLang="ko-KR" sz="1400" b="1" dirty="0"/>
              <a:t>which </a:t>
            </a:r>
            <a:r>
              <a:rPr lang="en-US" altLang="ko-KR" sz="1400" b="1" dirty="0">
                <a:solidFill>
                  <a:srgbClr val="FF0000"/>
                </a:solidFill>
              </a:rPr>
              <a:t>create and maintain multiple replicas </a:t>
            </a:r>
            <a:r>
              <a:rPr lang="en-US" altLang="ko-KR" sz="1400" b="1" dirty="0"/>
              <a:t>of a Pod</a:t>
            </a:r>
            <a:r>
              <a:rPr lang="en-US" altLang="ko-KR" sz="1400" dirty="0"/>
              <a:t>, </a:t>
            </a:r>
            <a:r>
              <a:rPr lang="en-US" altLang="ko-KR" sz="1400" b="1" dirty="0">
                <a:solidFill>
                  <a:srgbClr val="FF0000"/>
                </a:solidFill>
              </a:rPr>
              <a:t>find the Pods </a:t>
            </a:r>
            <a:r>
              <a:rPr lang="en-US" altLang="ko-KR" sz="1400" b="1" dirty="0"/>
              <a:t>that they are managing via a selector</a:t>
            </a:r>
            <a:r>
              <a:rPr lang="en-US" altLang="ko-KR" sz="1400" dirty="0"/>
              <a:t>. Likewise, “</a:t>
            </a:r>
            <a:r>
              <a:rPr lang="en-US" altLang="ko-KR" sz="1400" b="1" dirty="0"/>
              <a:t>a service load balancer</a:t>
            </a:r>
            <a:r>
              <a:rPr lang="en-US" altLang="ko-KR" sz="1400" dirty="0"/>
              <a:t>” finds the Pods it should bring traffic to via a </a:t>
            </a:r>
            <a:r>
              <a:rPr lang="en-US" altLang="ko-KR" sz="1400" b="1" dirty="0">
                <a:solidFill>
                  <a:srgbClr val="FF0000"/>
                </a:solidFill>
              </a:rPr>
              <a:t>selector query</a:t>
            </a:r>
            <a:r>
              <a:rPr lang="en-US" altLang="ko-KR" sz="1400" dirty="0"/>
              <a:t>. </a:t>
            </a:r>
            <a:r>
              <a:rPr lang="en-US" altLang="ko-KR" sz="1400" b="1" dirty="0"/>
              <a:t>When a Pod is created, it can use </a:t>
            </a:r>
            <a:r>
              <a:rPr lang="en-US" altLang="ko-KR" sz="1400" b="1" dirty="0">
                <a:solidFill>
                  <a:srgbClr val="FF0000"/>
                </a:solidFill>
              </a:rPr>
              <a:t>a node selector </a:t>
            </a:r>
            <a:r>
              <a:rPr lang="en-US" altLang="ko-KR" sz="1400" b="1" dirty="0"/>
              <a:t>to </a:t>
            </a:r>
            <a:r>
              <a:rPr lang="en-US" altLang="ko-KR" sz="1400" b="1" dirty="0">
                <a:solidFill>
                  <a:srgbClr val="FF0000"/>
                </a:solidFill>
              </a:rPr>
              <a:t>identify a particular set of nodes </a:t>
            </a:r>
            <a:r>
              <a:rPr lang="en-US" altLang="ko-KR" sz="1400" dirty="0"/>
              <a:t>that it can be scheduled onto. When people want to </a:t>
            </a:r>
            <a:r>
              <a:rPr lang="en-US" altLang="ko-KR" sz="1400" b="1" dirty="0"/>
              <a:t>restrict network traffic in their cluster, they use “</a:t>
            </a:r>
            <a:r>
              <a:rPr lang="en-US" altLang="ko-KR" sz="1400" b="1" dirty="0" err="1"/>
              <a:t>NetworkPolicy</a:t>
            </a:r>
            <a:r>
              <a:rPr lang="en-US" altLang="ko-KR" sz="1400" b="1" dirty="0"/>
              <a:t>” in conjunction with specific labels</a:t>
            </a:r>
            <a:r>
              <a:rPr lang="en-US" altLang="ko-KR" sz="1400" dirty="0"/>
              <a:t> to identify Pods that should or should not be allowed to communicate with each other. </a:t>
            </a:r>
          </a:p>
          <a:p>
            <a:pPr lvl="1">
              <a:buFont typeface="Wingdings" panose="05000000000000000000" pitchFamily="2" charset="2"/>
              <a:buChar char="§"/>
            </a:pPr>
            <a:r>
              <a:rPr lang="en-US" altLang="ko-KR" sz="1400" b="1" dirty="0"/>
              <a:t>Labels are a powerful and ubiquitous glue that holds a Kubernetes application together</a:t>
            </a:r>
            <a:r>
              <a:rPr lang="en-US" altLang="ko-KR" sz="1400" dirty="0"/>
              <a:t>. Though your application will likely start out with a simple set of labels and queries, you should expect it to grow in size and sophistication with time.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9FD600E5-C68B-4B99-BD02-DA0332F393FB}"/>
              </a:ext>
            </a:extLst>
          </p:cNvPr>
          <p:cNvPicPr>
            <a:picLocks noChangeAspect="1"/>
          </p:cNvPicPr>
          <p:nvPr/>
        </p:nvPicPr>
        <p:blipFill>
          <a:blip r:embed="rId2"/>
          <a:stretch>
            <a:fillRect/>
          </a:stretch>
        </p:blipFill>
        <p:spPr>
          <a:xfrm>
            <a:off x="2796159" y="4100332"/>
            <a:ext cx="6599682" cy="1800450"/>
          </a:xfrm>
          <a:prstGeom prst="rect">
            <a:avLst/>
          </a:prstGeom>
        </p:spPr>
      </p:pic>
    </p:spTree>
    <p:extLst>
      <p:ext uri="{BB962C8B-B14F-4D97-AF65-F5344CB8AC3E}">
        <p14:creationId xmlns:p14="http://schemas.microsoft.com/office/powerpoint/2010/main" val="29045040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Storing Extra Information :</a:t>
            </a:r>
          </a:p>
          <a:p>
            <a:pPr lvl="1">
              <a:buFont typeface="Wingdings" panose="05000000000000000000" pitchFamily="2" charset="2"/>
              <a:buChar char="§"/>
            </a:pPr>
            <a:r>
              <a:rPr lang="en-US" altLang="ko-KR" sz="1400" b="1" dirty="0">
                <a:solidFill>
                  <a:srgbClr val="FF0000"/>
                </a:solidFill>
              </a:rPr>
              <a:t>Annotations</a:t>
            </a:r>
            <a:r>
              <a:rPr lang="en-US" altLang="ko-KR" sz="1400" b="1" dirty="0"/>
              <a:t> provide a place to </a:t>
            </a:r>
            <a:r>
              <a:rPr lang="en-US" altLang="ko-KR" sz="1400" b="1" dirty="0">
                <a:solidFill>
                  <a:srgbClr val="FF0000"/>
                </a:solidFill>
              </a:rPr>
              <a:t>store additional metadata for Kubernetes objects </a:t>
            </a:r>
            <a:r>
              <a:rPr lang="en-US" altLang="ko-KR" sz="1400" b="1" dirty="0"/>
              <a:t>with the sole purpose of assisting tools and libraries</a:t>
            </a:r>
            <a:r>
              <a:rPr lang="en-US" altLang="ko-KR" sz="1400" dirty="0"/>
              <a:t>. They are a way for other programs driving Kubernetes via an API to store some opaque data with an object. </a:t>
            </a:r>
            <a:r>
              <a:rPr lang="en-US" altLang="ko-KR" sz="1400" b="1" dirty="0"/>
              <a:t>Annotations can be used for the tool itself or to pass configuration information between external systems</a:t>
            </a:r>
            <a:r>
              <a:rPr lang="en-US" altLang="ko-KR" sz="1400" dirty="0"/>
              <a:t>.</a:t>
            </a:r>
          </a:p>
          <a:p>
            <a:pPr lvl="1">
              <a:buFont typeface="Wingdings" panose="05000000000000000000" pitchFamily="2" charset="2"/>
              <a:buChar char="§"/>
            </a:pPr>
            <a:r>
              <a:rPr lang="en-US" altLang="ko-KR" sz="1400" b="1" dirty="0"/>
              <a:t>While </a:t>
            </a:r>
            <a:r>
              <a:rPr lang="en-US" altLang="ko-KR" sz="1400" b="1" dirty="0">
                <a:solidFill>
                  <a:srgbClr val="FF0000"/>
                </a:solidFill>
              </a:rPr>
              <a:t>labels are used to identify and group objects</a:t>
            </a:r>
            <a:r>
              <a:rPr lang="en-US" altLang="ko-KR" sz="1400" b="1" dirty="0"/>
              <a:t>, </a:t>
            </a:r>
            <a:r>
              <a:rPr lang="en-US" altLang="ko-KR" sz="1400" b="1" dirty="0">
                <a:solidFill>
                  <a:srgbClr val="FF0000"/>
                </a:solidFill>
              </a:rPr>
              <a:t>annotations are used to provide extra information </a:t>
            </a:r>
            <a:r>
              <a:rPr lang="en-US" altLang="ko-KR" sz="1400" b="1" dirty="0"/>
              <a:t>about where an object came from, how to use it, or policy around that object</a:t>
            </a:r>
            <a:r>
              <a:rPr lang="en-US" altLang="ko-KR" sz="1400" dirty="0"/>
              <a:t>. There is overlap, and it is a matter of taste as to when to use an annotation or a label. When in doubt, </a:t>
            </a:r>
            <a:r>
              <a:rPr lang="en-US" altLang="ko-KR" sz="1400" b="1" dirty="0"/>
              <a:t>add information to an object as an annotation and promote it to a label</a:t>
            </a:r>
            <a:r>
              <a:rPr lang="en-US" altLang="ko-KR" sz="1400" dirty="0"/>
              <a:t> if you find yourself wanting to use it in a selector.</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2CAE01C8-929E-448F-9991-6FF620BAF64F}"/>
              </a:ext>
            </a:extLst>
          </p:cNvPr>
          <p:cNvPicPr>
            <a:picLocks noChangeAspect="1"/>
          </p:cNvPicPr>
          <p:nvPr/>
        </p:nvPicPr>
        <p:blipFill>
          <a:blip r:embed="rId2"/>
          <a:stretch>
            <a:fillRect/>
          </a:stretch>
        </p:blipFill>
        <p:spPr>
          <a:xfrm>
            <a:off x="2286000" y="3084215"/>
            <a:ext cx="7620000" cy="2857500"/>
          </a:xfrm>
          <a:prstGeom prst="rect">
            <a:avLst/>
          </a:prstGeom>
        </p:spPr>
      </p:pic>
    </p:spTree>
    <p:extLst>
      <p:ext uri="{BB962C8B-B14F-4D97-AF65-F5344CB8AC3E}">
        <p14:creationId xmlns:p14="http://schemas.microsoft.com/office/powerpoint/2010/main" val="30427003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Usage :</a:t>
            </a:r>
          </a:p>
          <a:p>
            <a:pPr lvl="1">
              <a:buFont typeface="Wingdings" panose="05000000000000000000" pitchFamily="2" charset="2"/>
              <a:buChar char="§"/>
            </a:pPr>
            <a:r>
              <a:rPr lang="en-US" altLang="ko-KR" sz="1400" dirty="0"/>
              <a:t>Keep track of a “</a:t>
            </a:r>
            <a:r>
              <a:rPr lang="en-US" altLang="ko-KR" sz="1400" b="1" dirty="0">
                <a:solidFill>
                  <a:srgbClr val="FF0000"/>
                </a:solidFill>
              </a:rPr>
              <a:t>reason</a:t>
            </a:r>
            <a:r>
              <a:rPr lang="en-US" altLang="ko-KR" sz="1400" dirty="0"/>
              <a:t>” </a:t>
            </a:r>
            <a:r>
              <a:rPr lang="en-US" altLang="ko-KR" sz="1400" b="1" dirty="0"/>
              <a:t>for the latest update to an object</a:t>
            </a:r>
            <a:r>
              <a:rPr lang="en-US" altLang="ko-KR" sz="1400" dirty="0"/>
              <a:t>.</a:t>
            </a:r>
          </a:p>
          <a:p>
            <a:pPr lvl="1">
              <a:buFont typeface="Wingdings" panose="05000000000000000000" pitchFamily="2" charset="2"/>
              <a:buChar char="§"/>
            </a:pPr>
            <a:r>
              <a:rPr lang="en-US" altLang="ko-KR" sz="1400" b="1" dirty="0"/>
              <a:t>Communicate a specialized </a:t>
            </a:r>
            <a:r>
              <a:rPr lang="en-US" altLang="ko-KR" sz="1400" b="1" dirty="0">
                <a:solidFill>
                  <a:srgbClr val="FF0000"/>
                </a:solidFill>
              </a:rPr>
              <a:t>scheduling policy </a:t>
            </a:r>
            <a:r>
              <a:rPr lang="en-US" altLang="ko-KR" sz="1400" dirty="0"/>
              <a:t>to a specialized scheduler.</a:t>
            </a:r>
          </a:p>
          <a:p>
            <a:pPr lvl="1">
              <a:buFont typeface="Wingdings" panose="05000000000000000000" pitchFamily="2" charset="2"/>
              <a:buChar char="§"/>
            </a:pPr>
            <a:r>
              <a:rPr lang="en-US" altLang="ko-KR" sz="1400" b="1" dirty="0"/>
              <a:t>Extend data </a:t>
            </a:r>
            <a:r>
              <a:rPr lang="en-US" altLang="ko-KR" sz="1400" dirty="0"/>
              <a:t>about the last tool to update the resource and how it was updated (used for </a:t>
            </a:r>
            <a:r>
              <a:rPr lang="en-US" altLang="ko-KR" sz="1400" b="1" dirty="0"/>
              <a:t>detecting changes </a:t>
            </a:r>
            <a:r>
              <a:rPr lang="en-US" altLang="ko-KR" sz="1400" dirty="0"/>
              <a:t>by other tools and doing a smart merge).</a:t>
            </a:r>
          </a:p>
          <a:p>
            <a:pPr lvl="1">
              <a:buFont typeface="Wingdings" panose="05000000000000000000" pitchFamily="2" charset="2"/>
              <a:buChar char="§"/>
            </a:pPr>
            <a:r>
              <a:rPr lang="en-US" altLang="ko-KR" sz="1400" b="1" dirty="0"/>
              <a:t>Attach build, release, or image </a:t>
            </a:r>
            <a:r>
              <a:rPr lang="en-US" altLang="ko-KR" sz="1400" b="1" dirty="0">
                <a:solidFill>
                  <a:srgbClr val="FF0000"/>
                </a:solidFill>
              </a:rPr>
              <a:t>information</a:t>
            </a:r>
            <a:r>
              <a:rPr lang="en-US" altLang="ko-KR" sz="1400" b="1" dirty="0"/>
              <a:t> </a:t>
            </a:r>
            <a:r>
              <a:rPr lang="en-US" altLang="ko-KR" sz="1400" dirty="0"/>
              <a:t>that isn’t appropriate for labels (may include a </a:t>
            </a:r>
            <a:r>
              <a:rPr lang="en-US" altLang="ko-KR" sz="1400" b="1" dirty="0"/>
              <a:t>Git hash</a:t>
            </a:r>
            <a:r>
              <a:rPr lang="en-US" altLang="ko-KR" sz="1400" dirty="0"/>
              <a:t>, </a:t>
            </a:r>
            <a:r>
              <a:rPr lang="en-US" altLang="ko-KR" sz="1400" b="1" dirty="0"/>
              <a:t>timestamp</a:t>
            </a:r>
            <a:r>
              <a:rPr lang="en-US" altLang="ko-KR" sz="1400" dirty="0"/>
              <a:t>, </a:t>
            </a:r>
            <a:r>
              <a:rPr lang="en-US" altLang="ko-KR" sz="1400" b="1" dirty="0"/>
              <a:t>PR number</a:t>
            </a:r>
            <a:r>
              <a:rPr lang="en-US" altLang="ko-KR" sz="1400" dirty="0"/>
              <a:t>, etc.).</a:t>
            </a:r>
          </a:p>
          <a:p>
            <a:pPr lvl="1">
              <a:buFont typeface="Wingdings" panose="05000000000000000000" pitchFamily="2" charset="2"/>
              <a:buChar char="§"/>
            </a:pPr>
            <a:r>
              <a:rPr lang="en-US" altLang="ko-KR" sz="1400" b="1" dirty="0"/>
              <a:t>Enable the “Deployment” object</a:t>
            </a:r>
            <a:r>
              <a:rPr lang="en-US" altLang="ko-KR" sz="1400" dirty="0"/>
              <a:t> </a:t>
            </a:r>
            <a:r>
              <a:rPr lang="en-US" altLang="ko-KR" sz="1400" b="1" dirty="0"/>
              <a:t>to keep track of “</a:t>
            </a:r>
            <a:r>
              <a:rPr lang="en-US" altLang="ko-KR" sz="1400" b="1" dirty="0" err="1"/>
              <a:t>ReplicaSets</a:t>
            </a:r>
            <a:r>
              <a:rPr lang="en-US" altLang="ko-KR" sz="1400" b="1" dirty="0"/>
              <a:t>” that it is managing for rollouts</a:t>
            </a:r>
            <a:r>
              <a:rPr lang="en-US" altLang="ko-KR" sz="1400" dirty="0"/>
              <a:t>.</a:t>
            </a:r>
          </a:p>
          <a:p>
            <a:pPr lvl="1">
              <a:buFont typeface="Wingdings" panose="05000000000000000000" pitchFamily="2" charset="2"/>
              <a:buChar char="§"/>
            </a:pPr>
            <a:r>
              <a:rPr lang="en-US" altLang="ko-KR" sz="1400" b="1" dirty="0"/>
              <a:t>Provide </a:t>
            </a:r>
            <a:r>
              <a:rPr lang="en-US" altLang="ko-KR" sz="1400" b="1" dirty="0">
                <a:solidFill>
                  <a:srgbClr val="FF0000"/>
                </a:solidFill>
              </a:rPr>
              <a:t>extra data </a:t>
            </a:r>
            <a:r>
              <a:rPr lang="en-US" altLang="ko-KR" sz="1400" dirty="0"/>
              <a:t>to enhance the visual quality or usability of a UI. For example, objects could include </a:t>
            </a:r>
            <a:r>
              <a:rPr lang="en-US" altLang="ko-KR" sz="1400" b="1" dirty="0"/>
              <a:t>a link to an icon</a:t>
            </a:r>
            <a:r>
              <a:rPr lang="en-US" altLang="ko-KR" sz="1400" dirty="0"/>
              <a:t> (or a base64-encoded version of an icon).</a:t>
            </a:r>
          </a:p>
          <a:p>
            <a:pPr lvl="1">
              <a:buFont typeface="Wingdings" panose="05000000000000000000" pitchFamily="2" charset="2"/>
              <a:buChar char="§"/>
            </a:pPr>
            <a:r>
              <a:rPr lang="en-US" altLang="ko-KR" sz="1400" b="1" dirty="0">
                <a:solidFill>
                  <a:srgbClr val="FF0000"/>
                </a:solidFill>
              </a:rPr>
              <a:t>Prototype alpha functionality </a:t>
            </a:r>
            <a:r>
              <a:rPr lang="en-US" altLang="ko-KR" sz="1400" b="1" dirty="0"/>
              <a:t>in Kubernetes </a:t>
            </a:r>
            <a:r>
              <a:rPr lang="en-US" altLang="ko-KR" sz="1400" dirty="0"/>
              <a:t>(instead of creating a first-class API field, </a:t>
            </a:r>
            <a:r>
              <a:rPr lang="en-US" altLang="ko-KR" sz="1400" b="1" dirty="0"/>
              <a:t>the parameters for that functionality are encoded in an annotation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3F3BBF07-4151-40E0-900B-3A127DCD65FF}"/>
              </a:ext>
            </a:extLst>
          </p:cNvPr>
          <p:cNvPicPr>
            <a:picLocks noChangeAspect="1"/>
          </p:cNvPicPr>
          <p:nvPr/>
        </p:nvPicPr>
        <p:blipFill>
          <a:blip r:embed="rId2"/>
          <a:stretch>
            <a:fillRect/>
          </a:stretch>
        </p:blipFill>
        <p:spPr>
          <a:xfrm>
            <a:off x="6975695" y="4118777"/>
            <a:ext cx="4378105" cy="2290254"/>
          </a:xfrm>
          <a:prstGeom prst="rect">
            <a:avLst/>
          </a:prstGeom>
          <a:ln>
            <a:solidFill>
              <a:schemeClr val="bg1">
                <a:lumMod val="50000"/>
              </a:schemeClr>
            </a:solidFill>
          </a:ln>
        </p:spPr>
      </p:pic>
    </p:spTree>
    <p:extLst>
      <p:ext uri="{BB962C8B-B14F-4D97-AF65-F5344CB8AC3E}">
        <p14:creationId xmlns:p14="http://schemas.microsoft.com/office/powerpoint/2010/main" val="1681275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Using Annotations :</a:t>
            </a:r>
          </a:p>
          <a:p>
            <a:pPr lvl="1">
              <a:buFont typeface="Wingdings" panose="05000000000000000000" pitchFamily="2" charset="2"/>
              <a:buChar char="§"/>
            </a:pPr>
            <a:r>
              <a:rPr lang="en-US" altLang="ko-KR" sz="1400" b="1" dirty="0"/>
              <a:t>Annotations are used in various places in Kubernetes, with the primary use case being </a:t>
            </a:r>
            <a:r>
              <a:rPr lang="en-US" altLang="ko-KR" sz="1400" b="1" dirty="0">
                <a:solidFill>
                  <a:srgbClr val="FF0000"/>
                </a:solidFill>
              </a:rPr>
              <a:t>rolling deployments</a:t>
            </a:r>
            <a:r>
              <a:rPr lang="en-US" altLang="ko-KR" sz="1400" dirty="0"/>
              <a:t>. During rolling deployments, annotations are </a:t>
            </a:r>
            <a:r>
              <a:rPr lang="en-US" altLang="ko-KR" sz="1400" b="1" dirty="0"/>
              <a:t>used to </a:t>
            </a:r>
            <a:r>
              <a:rPr lang="en-US" altLang="ko-KR" sz="1400" b="1" dirty="0">
                <a:solidFill>
                  <a:srgbClr val="FF0000"/>
                </a:solidFill>
              </a:rPr>
              <a:t>track rollout status </a:t>
            </a:r>
            <a:r>
              <a:rPr lang="en-US" altLang="ko-KR" sz="1400" b="1" dirty="0"/>
              <a:t>and provide the necessary information required to roll back a deployment to a previous state</a:t>
            </a:r>
            <a:r>
              <a:rPr lang="en-US" altLang="ko-KR" sz="1400" dirty="0"/>
              <a:t>.</a:t>
            </a:r>
          </a:p>
          <a:p>
            <a:pPr lvl="1">
              <a:buFont typeface="Wingdings" panose="05000000000000000000" pitchFamily="2" charset="2"/>
              <a:buChar char="§"/>
            </a:pPr>
            <a:r>
              <a:rPr lang="en-US" altLang="ko-KR" sz="1400" b="1" dirty="0"/>
              <a:t>Users should avoid using the Kubernetes API server as a general-purpose database</a:t>
            </a:r>
            <a:r>
              <a:rPr lang="en-US" altLang="ko-KR" sz="1400" dirty="0"/>
              <a:t>. </a:t>
            </a:r>
            <a:r>
              <a:rPr lang="en-US" altLang="ko-KR" sz="1400" b="1" dirty="0">
                <a:solidFill>
                  <a:srgbClr val="FF0000"/>
                </a:solidFill>
              </a:rPr>
              <a:t>Annotations are good for small bits of data that are highly associated with a specific resource</a:t>
            </a:r>
            <a:r>
              <a:rPr lang="en-US" altLang="ko-KR" sz="1400" dirty="0"/>
              <a:t>. If you want to store data in Kubernetes but you don’t have an obvious object to associate it with, consider storing that data in some other, more appropriate database.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F37B6FAE-16C0-4862-AE77-0311C2BCDA93}"/>
              </a:ext>
            </a:extLst>
          </p:cNvPr>
          <p:cNvPicPr>
            <a:picLocks noChangeAspect="1"/>
          </p:cNvPicPr>
          <p:nvPr/>
        </p:nvPicPr>
        <p:blipFill>
          <a:blip r:embed="rId2"/>
          <a:stretch>
            <a:fillRect/>
          </a:stretch>
        </p:blipFill>
        <p:spPr>
          <a:xfrm>
            <a:off x="3485253" y="2647784"/>
            <a:ext cx="5221495" cy="3761246"/>
          </a:xfrm>
          <a:prstGeom prst="rect">
            <a:avLst/>
          </a:prstGeom>
        </p:spPr>
      </p:pic>
      <p:sp>
        <p:nvSpPr>
          <p:cNvPr id="8" name="직사각형 7">
            <a:extLst>
              <a:ext uri="{FF2B5EF4-FFF2-40B4-BE49-F238E27FC236}">
                <a16:creationId xmlns:a16="http://schemas.microsoft.com/office/drawing/2014/main" id="{73A57D11-66CE-54D9-F88B-C29D1009BA5F}"/>
              </a:ext>
            </a:extLst>
          </p:cNvPr>
          <p:cNvSpPr/>
          <p:nvPr/>
        </p:nvSpPr>
        <p:spPr>
          <a:xfrm>
            <a:off x="6637867" y="3989493"/>
            <a:ext cx="1029546" cy="44704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8098647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Annotations(4/4)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Defining Annotations :</a:t>
            </a:r>
          </a:p>
          <a:p>
            <a:pPr lvl="1">
              <a:buFont typeface="Wingdings" panose="05000000000000000000" pitchFamily="2" charset="2"/>
              <a:buChar char="§"/>
            </a:pPr>
            <a:r>
              <a:rPr lang="en-US" altLang="ko-KR" sz="1400" b="1" dirty="0"/>
              <a:t>Annotation keys use the same format as label keys</a:t>
            </a:r>
            <a:r>
              <a:rPr lang="en-US" altLang="ko-KR" sz="1400" dirty="0"/>
              <a:t>. However, because they are often used to communicate information between tools, </a:t>
            </a:r>
            <a:r>
              <a:rPr lang="en-US" altLang="ko-KR" sz="1400" b="1" dirty="0"/>
              <a:t>the “</a:t>
            </a:r>
            <a:r>
              <a:rPr lang="en-US" altLang="ko-KR" sz="1400" b="1" dirty="0">
                <a:solidFill>
                  <a:srgbClr val="FF0000"/>
                </a:solidFill>
              </a:rPr>
              <a:t>namespace</a:t>
            </a:r>
            <a:r>
              <a:rPr lang="en-US" altLang="ko-KR" sz="1400" b="1" dirty="0"/>
              <a:t>” part of the key is more important</a:t>
            </a:r>
            <a:r>
              <a:rPr lang="en-US" altLang="ko-KR" sz="1400" dirty="0"/>
              <a:t>. Example keys include “</a:t>
            </a:r>
            <a:r>
              <a:rPr lang="en-US" altLang="ko-KR" sz="1400" b="1" dirty="0"/>
              <a:t>deployment.kubernetes.io/revision</a:t>
            </a:r>
            <a:r>
              <a:rPr lang="en-US" altLang="ko-KR" sz="1400" dirty="0"/>
              <a:t>” or “</a:t>
            </a:r>
            <a:r>
              <a:rPr lang="en-US" altLang="ko-KR" sz="1400" b="1" dirty="0"/>
              <a:t>kubernetes.io/change-cause</a:t>
            </a:r>
            <a:r>
              <a:rPr lang="en-US" altLang="ko-KR" sz="1400" dirty="0"/>
              <a:t>”.</a:t>
            </a:r>
          </a:p>
          <a:p>
            <a:pPr lvl="1">
              <a:buFont typeface="Wingdings" panose="05000000000000000000" pitchFamily="2" charset="2"/>
              <a:buChar char="§"/>
            </a:pPr>
            <a:r>
              <a:rPr lang="en-US" altLang="ko-KR" sz="1400" b="1" dirty="0"/>
              <a:t>The value component of an annotation is a free-form string field</a:t>
            </a:r>
            <a:r>
              <a:rPr lang="en-US" altLang="ko-KR" sz="1400" dirty="0"/>
              <a:t>. While this allows maximum flexibility as users can store arbitrary data, because this is arbitrary text, </a:t>
            </a:r>
            <a:r>
              <a:rPr lang="en-US" altLang="ko-KR" sz="1400" b="1" dirty="0"/>
              <a:t>there is no validation of any format</a:t>
            </a:r>
            <a:r>
              <a:rPr lang="en-US" altLang="ko-KR" sz="1400" dirty="0"/>
              <a:t>. For example, it is not uncommon for </a:t>
            </a:r>
            <a:r>
              <a:rPr lang="en-US" altLang="ko-KR" sz="1400" b="1" dirty="0"/>
              <a:t>a JSON document to be encoded as a string and stored in an annotation</a:t>
            </a:r>
            <a:r>
              <a:rPr lang="en-US" altLang="ko-KR" sz="1400" dirty="0"/>
              <a:t>. </a:t>
            </a:r>
            <a:r>
              <a:rPr lang="en-US" altLang="ko-KR" sz="1400" b="1" dirty="0"/>
              <a:t>It is important to note that </a:t>
            </a:r>
            <a:r>
              <a:rPr lang="en-US" altLang="ko-KR" sz="1400" b="1" dirty="0">
                <a:solidFill>
                  <a:srgbClr val="FF0000"/>
                </a:solidFill>
              </a:rPr>
              <a:t>the Kubernetes server has no knowledge of the required format of annotation values</a:t>
            </a:r>
            <a:r>
              <a:rPr lang="en-US" altLang="ko-KR" sz="1400" dirty="0"/>
              <a:t>. </a:t>
            </a:r>
            <a:r>
              <a:rPr lang="en-US" altLang="ko-KR" sz="1400" b="1" dirty="0"/>
              <a:t>If annotations are used to pass or store data, there is no guarantee the data is valid</a:t>
            </a:r>
            <a:r>
              <a:rPr lang="en-US" altLang="ko-KR" sz="1400" dirty="0"/>
              <a:t>. This can make tracking down errors more difficult.</a:t>
            </a:r>
          </a:p>
          <a:p>
            <a:pPr lvl="1">
              <a:buFont typeface="Wingdings" panose="05000000000000000000" pitchFamily="2" charset="2"/>
              <a:buChar char="§"/>
            </a:pPr>
            <a:r>
              <a:rPr lang="en-US" altLang="ko-KR" sz="1400" b="1" dirty="0"/>
              <a:t>Annotations are defined in the common metadata section in every Kubernetes object </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Annotations are very convenient and provide powerful loose coupling. However, they should be used judiciously to avoid an untyped mess of data</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4EB5B341-1319-4FF9-9314-8DFA543426C2}"/>
              </a:ext>
            </a:extLst>
          </p:cNvPr>
          <p:cNvSpPr/>
          <p:nvPr/>
        </p:nvSpPr>
        <p:spPr>
          <a:xfrm>
            <a:off x="3048000" y="3429000"/>
            <a:ext cx="6096000" cy="861774"/>
          </a:xfrm>
          <a:prstGeom prst="rect">
            <a:avLst/>
          </a:prstGeom>
          <a:ln>
            <a:solidFill>
              <a:schemeClr val="bg1">
                <a:lumMod val="50000"/>
              </a:schemeClr>
            </a:solidFill>
          </a:ln>
        </p:spPr>
        <p:txBody>
          <a:bodyPr>
            <a:spAutoFit/>
          </a:bodyPr>
          <a:lstStyle/>
          <a:p>
            <a:r>
              <a:rPr lang="en-US" altLang="ko-KR" sz="1000" b="1" dirty="0"/>
              <a:t>...</a:t>
            </a:r>
          </a:p>
          <a:p>
            <a:r>
              <a:rPr lang="en-US" altLang="ko-KR" sz="1000" b="1" dirty="0"/>
              <a:t>metadata:</a:t>
            </a:r>
          </a:p>
          <a:p>
            <a:r>
              <a:rPr lang="en-US" altLang="ko-KR" sz="1000" b="1" dirty="0"/>
              <a:t>  annotations:</a:t>
            </a:r>
          </a:p>
          <a:p>
            <a:r>
              <a:rPr lang="en-US" altLang="ko-KR" sz="1000" b="1" dirty="0">
                <a:solidFill>
                  <a:srgbClr val="FF0000"/>
                </a:solidFill>
              </a:rPr>
              <a:t>    example.com/icon-url: "https://example.com/icon.png"</a:t>
            </a:r>
          </a:p>
          <a:p>
            <a:r>
              <a:rPr lang="en-US" altLang="ko-KR" sz="1000" b="1" dirty="0"/>
              <a:t>...</a:t>
            </a:r>
            <a:endParaRPr lang="ko-KR" altLang="en-US" sz="1000" b="1" dirty="0"/>
          </a:p>
        </p:txBody>
      </p:sp>
    </p:spTree>
    <p:extLst>
      <p:ext uri="{BB962C8B-B14F-4D97-AF65-F5344CB8AC3E}">
        <p14:creationId xmlns:p14="http://schemas.microsoft.com/office/powerpoint/2010/main" val="17074737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Removing Pods :</a:t>
            </a:r>
          </a:p>
          <a:p>
            <a:pPr lvl="1">
              <a:buFont typeface="Wingdings" panose="05000000000000000000" pitchFamily="2" charset="2"/>
              <a:buChar char="§"/>
            </a:pPr>
            <a:r>
              <a:rPr lang="en-US" altLang="ko-KR" sz="1400" b="1" dirty="0"/>
              <a:t>It is easy to clean up all of the Pods</a:t>
            </a:r>
            <a:r>
              <a:rPr lang="en-US" altLang="ko-KR" sz="1400" dirty="0"/>
              <a:t>. Use the following command. If you want to be </a:t>
            </a:r>
            <a:r>
              <a:rPr lang="en-US" altLang="ko-KR" sz="1400" b="1" dirty="0"/>
              <a:t>more selective</a:t>
            </a:r>
            <a:r>
              <a:rPr lang="en-US" altLang="ko-KR" sz="1400" dirty="0"/>
              <a:t>, you can </a:t>
            </a:r>
            <a:r>
              <a:rPr lang="en-US" altLang="ko-KR" sz="1400" b="1" dirty="0"/>
              <a:t>use the “--selector” flag to choose which Pods to delete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7E9D3149-C803-428D-BA1C-E9F1DDD41BBB}"/>
              </a:ext>
            </a:extLst>
          </p:cNvPr>
          <p:cNvGrpSpPr/>
          <p:nvPr/>
        </p:nvGrpSpPr>
        <p:grpSpPr>
          <a:xfrm>
            <a:off x="1598832" y="1766846"/>
            <a:ext cx="8994336" cy="4316748"/>
            <a:chOff x="1598832" y="1849864"/>
            <a:chExt cx="8994336" cy="4316748"/>
          </a:xfrm>
        </p:grpSpPr>
        <p:sp>
          <p:nvSpPr>
            <p:cNvPr id="4" name="직사각형 3">
              <a:extLst>
                <a:ext uri="{FF2B5EF4-FFF2-40B4-BE49-F238E27FC236}">
                  <a16:creationId xmlns:a16="http://schemas.microsoft.com/office/drawing/2014/main" id="{ACB55D81-810E-4AB5-975D-89AFA6473033}"/>
                </a:ext>
              </a:extLst>
            </p:cNvPr>
            <p:cNvSpPr/>
            <p:nvPr/>
          </p:nvSpPr>
          <p:spPr>
            <a:xfrm>
              <a:off x="5192547" y="1849864"/>
              <a:ext cx="1806905" cy="246221"/>
            </a:xfrm>
            <a:prstGeom prst="rect">
              <a:avLst/>
            </a:prstGeom>
            <a:ln>
              <a:solidFill>
                <a:schemeClr val="bg1">
                  <a:lumMod val="50000"/>
                </a:schemeClr>
              </a:solidFill>
            </a:ln>
          </p:spPr>
          <p:txBody>
            <a:bodyPr wrap="none">
              <a:spAutoFit/>
            </a:bodyPr>
            <a:lstStyle/>
            <a:p>
              <a:r>
                <a:rPr lang="en-US" altLang="ko-KR" sz="1000" b="1" dirty="0"/>
                <a:t>$ </a:t>
              </a:r>
              <a:r>
                <a:rPr lang="en-US" altLang="ko-KR" sz="1000" b="1" dirty="0" err="1"/>
                <a:t>kubectl</a:t>
              </a:r>
              <a:r>
                <a:rPr lang="en-US" altLang="ko-KR" sz="1000" b="1" dirty="0"/>
                <a:t> delete pods </a:t>
              </a:r>
              <a:r>
                <a:rPr lang="en-US" altLang="ko-KR" sz="1000" b="1" dirty="0">
                  <a:solidFill>
                    <a:srgbClr val="FF0000"/>
                  </a:solidFill>
                </a:rPr>
                <a:t>--all</a:t>
              </a:r>
            </a:p>
          </p:txBody>
        </p:sp>
        <p:pic>
          <p:nvPicPr>
            <p:cNvPr id="8" name="그림 7">
              <a:extLst>
                <a:ext uri="{FF2B5EF4-FFF2-40B4-BE49-F238E27FC236}">
                  <a16:creationId xmlns:a16="http://schemas.microsoft.com/office/drawing/2014/main" id="{93C357EF-1D87-4D2C-A981-07D619C861AE}"/>
                </a:ext>
              </a:extLst>
            </p:cNvPr>
            <p:cNvPicPr>
              <a:picLocks noChangeAspect="1"/>
            </p:cNvPicPr>
            <p:nvPr/>
          </p:nvPicPr>
          <p:blipFill>
            <a:blip r:embed="rId2"/>
            <a:stretch>
              <a:fillRect/>
            </a:stretch>
          </p:blipFill>
          <p:spPr>
            <a:xfrm>
              <a:off x="1598832" y="2388991"/>
              <a:ext cx="8994336" cy="3777621"/>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C0F0F00B-B929-4D8C-A249-FB2AE37A3A15}"/>
                </a:ext>
              </a:extLst>
            </p:cNvPr>
            <p:cNvSpPr/>
            <p:nvPr/>
          </p:nvSpPr>
          <p:spPr>
            <a:xfrm>
              <a:off x="5885289" y="2096085"/>
              <a:ext cx="421419" cy="26576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22136511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solidFill>
                  <a:srgbClr val="FF0000"/>
                </a:solidFill>
              </a:rPr>
              <a:t>Labels</a:t>
            </a:r>
            <a:r>
              <a:rPr lang="en-US" altLang="ko-KR" sz="1400" b="1" dirty="0"/>
              <a:t> are used to </a:t>
            </a:r>
            <a:r>
              <a:rPr lang="en-US" altLang="ko-KR" sz="1400" b="1" dirty="0">
                <a:solidFill>
                  <a:srgbClr val="FF0000"/>
                </a:solidFill>
              </a:rPr>
              <a:t>identify and optionally group objects</a:t>
            </a:r>
            <a:r>
              <a:rPr lang="en-US" altLang="ko-KR" sz="1400" b="1" dirty="0"/>
              <a:t> in a Kubernetes cluster</a:t>
            </a:r>
            <a:r>
              <a:rPr lang="en-US" altLang="ko-KR" sz="1400" dirty="0"/>
              <a:t>. Labels are also used in </a:t>
            </a:r>
            <a:r>
              <a:rPr lang="en-US" altLang="ko-KR" sz="1400" b="1" dirty="0"/>
              <a:t>selector queries</a:t>
            </a:r>
            <a:r>
              <a:rPr lang="en-US" altLang="ko-KR" sz="1400" dirty="0"/>
              <a:t> to provide flexible runtime grouping of objects such as Pods.</a:t>
            </a:r>
          </a:p>
          <a:p>
            <a:pPr lvl="1">
              <a:buFont typeface="Wingdings" panose="05000000000000000000" pitchFamily="2" charset="2"/>
              <a:buChar char="§"/>
            </a:pPr>
            <a:r>
              <a:rPr lang="en-US" altLang="ko-KR" sz="1400" b="1" dirty="0">
                <a:solidFill>
                  <a:srgbClr val="FF0000"/>
                </a:solidFill>
              </a:rPr>
              <a:t>Annotations</a:t>
            </a:r>
            <a:r>
              <a:rPr lang="en-US" altLang="ko-KR" sz="1400" b="1" dirty="0"/>
              <a:t> provide </a:t>
            </a:r>
            <a:r>
              <a:rPr lang="en-US" altLang="ko-KR" sz="1400" b="1" dirty="0">
                <a:solidFill>
                  <a:srgbClr val="FF0000"/>
                </a:solidFill>
              </a:rPr>
              <a:t>object-scoped key/value storage of metadata </a:t>
            </a:r>
            <a:r>
              <a:rPr lang="en-US" altLang="ko-KR" sz="1400" b="1" dirty="0"/>
              <a:t>that can be used by automation tooling and client libraries</a:t>
            </a:r>
            <a:r>
              <a:rPr lang="en-US" altLang="ko-KR" sz="1400" dirty="0"/>
              <a:t>. Annotations can also be used to </a:t>
            </a:r>
            <a:r>
              <a:rPr lang="en-US" altLang="ko-KR" sz="1400" b="1" dirty="0"/>
              <a:t>hold configuration data </a:t>
            </a:r>
            <a:r>
              <a:rPr lang="en-US" altLang="ko-KR" sz="1400" dirty="0"/>
              <a:t>for external tools such as third-party schedulers and monitoring tools.</a:t>
            </a:r>
          </a:p>
          <a:p>
            <a:pPr lvl="1">
              <a:buFont typeface="Wingdings" panose="05000000000000000000" pitchFamily="2" charset="2"/>
              <a:buChar char="§"/>
            </a:pPr>
            <a:r>
              <a:rPr lang="en-US" altLang="ko-KR" sz="1400" b="1" dirty="0"/>
              <a:t>Labels and annotations are vital to understanding how key components in a Kubernetes cluster work together to </a:t>
            </a:r>
            <a:r>
              <a:rPr lang="en-US" altLang="ko-KR" sz="1400" b="1" dirty="0">
                <a:solidFill>
                  <a:srgbClr val="FF0000"/>
                </a:solidFill>
              </a:rPr>
              <a:t>ensure the desired cluster state</a:t>
            </a:r>
            <a:r>
              <a:rPr lang="en-US" altLang="ko-KR" sz="1400" dirty="0"/>
              <a:t>. Using labels and annotations properly unlocks the true power of Kubernetes’s flexibility and provides the starting point for </a:t>
            </a:r>
            <a:r>
              <a:rPr lang="en-US" altLang="ko-KR" sz="1400" b="1" dirty="0"/>
              <a:t>building automation tools</a:t>
            </a:r>
            <a:r>
              <a:rPr lang="en-US" altLang="ko-KR" sz="1400" dirty="0"/>
              <a:t> and </a:t>
            </a:r>
            <a:r>
              <a:rPr lang="en-US" altLang="ko-KR" sz="1400" b="1" dirty="0"/>
              <a:t>deployment workflows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E3B108F-7794-494E-B536-2771A5FB9840}"/>
              </a:ext>
            </a:extLst>
          </p:cNvPr>
          <p:cNvPicPr>
            <a:picLocks noChangeAspect="1"/>
          </p:cNvPicPr>
          <p:nvPr/>
        </p:nvPicPr>
        <p:blipFill>
          <a:blip r:embed="rId2"/>
          <a:stretch>
            <a:fillRect/>
          </a:stretch>
        </p:blipFill>
        <p:spPr>
          <a:xfrm>
            <a:off x="3472297" y="3097786"/>
            <a:ext cx="5247405" cy="2946119"/>
          </a:xfrm>
          <a:prstGeom prst="rect">
            <a:avLst/>
          </a:prstGeom>
        </p:spPr>
      </p:pic>
    </p:spTree>
    <p:extLst>
      <p:ext uri="{BB962C8B-B14F-4D97-AF65-F5344CB8AC3E}">
        <p14:creationId xmlns:p14="http://schemas.microsoft.com/office/powerpoint/2010/main" val="219973995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E702FFF-01AB-4779-B408-42E2E4E9C43E}"/>
              </a:ext>
            </a:extLst>
          </p:cNvPr>
          <p:cNvSpPr>
            <a:spLocks noGrp="1"/>
          </p:cNvSpPr>
          <p:nvPr>
            <p:ph type="ctrTitle"/>
          </p:nvPr>
        </p:nvSpPr>
        <p:spPr>
          <a:xfrm>
            <a:off x="1075173" y="1122363"/>
            <a:ext cx="10098593" cy="2387600"/>
          </a:xfrm>
        </p:spPr>
        <p:txBody>
          <a:bodyPr>
            <a:normAutofit/>
          </a:bodyPr>
          <a:lstStyle/>
          <a:p>
            <a:r>
              <a:rPr lang="en-US" altLang="ko-KR" sz="4400" b="1" dirty="0"/>
              <a:t>Service Discovery</a:t>
            </a:r>
            <a:endParaRPr lang="ko-KR" altLang="en-US" sz="4400" b="1" dirty="0"/>
          </a:p>
        </p:txBody>
      </p:sp>
      <p:cxnSp>
        <p:nvCxnSpPr>
          <p:cNvPr id="5" name="직선 연결선 4">
            <a:extLst>
              <a:ext uri="{FF2B5EF4-FFF2-40B4-BE49-F238E27FC236}">
                <a16:creationId xmlns:a16="http://schemas.microsoft.com/office/drawing/2014/main" id="{AAC595A7-AC89-45DB-BE94-EB85A23F72EB}"/>
              </a:ext>
            </a:extLst>
          </p:cNvPr>
          <p:cNvCxnSpPr>
            <a:cxnSpLocks/>
          </p:cNvCxnSpPr>
          <p:nvPr/>
        </p:nvCxnSpPr>
        <p:spPr>
          <a:xfrm>
            <a:off x="1283368" y="3509963"/>
            <a:ext cx="9721516"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2866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Dynamic 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Autoscaling :</a:t>
            </a:r>
          </a:p>
          <a:p>
            <a:pPr lvl="1">
              <a:buFont typeface="Wingdings" panose="05000000000000000000" pitchFamily="2" charset="2"/>
              <a:buChar char="§"/>
            </a:pPr>
            <a:r>
              <a:rPr lang="en-US" altLang="ko-KR" sz="1400" b="1" dirty="0"/>
              <a:t>Kubernetes is a very dynamic system</a:t>
            </a:r>
            <a:r>
              <a:rPr lang="en-US" altLang="ko-KR" sz="1400" dirty="0"/>
              <a:t>. The system is involved in </a:t>
            </a:r>
            <a:r>
              <a:rPr lang="en-US" altLang="ko-KR" sz="1400" b="1" dirty="0"/>
              <a:t>placing Pods on nodes</a:t>
            </a:r>
            <a:r>
              <a:rPr lang="en-US" altLang="ko-KR" sz="1400" dirty="0"/>
              <a:t>, </a:t>
            </a:r>
            <a:r>
              <a:rPr lang="en-US" altLang="ko-KR" sz="1400" b="1" dirty="0"/>
              <a:t>making sure they are up and running</a:t>
            </a:r>
            <a:r>
              <a:rPr lang="en-US" altLang="ko-KR" sz="1400" dirty="0"/>
              <a:t>, and </a:t>
            </a:r>
            <a:r>
              <a:rPr lang="en-US" altLang="ko-KR" sz="1400" b="1" dirty="0"/>
              <a:t>rescheduling them as needed</a:t>
            </a:r>
            <a:r>
              <a:rPr lang="en-US" altLang="ko-KR" sz="1400" dirty="0"/>
              <a:t>. There are ways to </a:t>
            </a:r>
            <a:r>
              <a:rPr lang="en-US" altLang="ko-KR" sz="1400" b="1" dirty="0"/>
              <a:t>automatically change the number of Pods based on load (such as </a:t>
            </a:r>
            <a:r>
              <a:rPr lang="en-US" altLang="ko-KR" sz="1400" b="1" dirty="0">
                <a:solidFill>
                  <a:srgbClr val="FF0000"/>
                </a:solidFill>
              </a:rPr>
              <a:t>horizontal Pod autoscaling</a:t>
            </a:r>
            <a:r>
              <a:rPr lang="en-US" altLang="ko-KR" sz="1400" b="1" dirty="0"/>
              <a:t>)</a:t>
            </a:r>
            <a:r>
              <a:rPr lang="en-US" altLang="ko-KR" sz="1400" dirty="0"/>
              <a:t>. The </a:t>
            </a:r>
            <a:r>
              <a:rPr lang="en-US" altLang="ko-KR" sz="1400" b="1" dirty="0"/>
              <a:t>API-driven</a:t>
            </a:r>
            <a:r>
              <a:rPr lang="en-US" altLang="ko-KR" sz="1400" dirty="0"/>
              <a:t> nature of the system encourages others to create higher and higher levels of automation.</a:t>
            </a:r>
          </a:p>
          <a:p>
            <a:pPr lvl="1">
              <a:buFont typeface="Wingdings" panose="05000000000000000000" pitchFamily="2" charset="2"/>
              <a:buChar char="§"/>
            </a:pPr>
            <a:r>
              <a:rPr lang="en-US" altLang="ko-KR" sz="1400" b="1" dirty="0"/>
              <a:t>While the dynamic nature of Kubernetes makes it easy to run a lot of things, it creates problems when it comes to finding those things</a:t>
            </a:r>
            <a:r>
              <a:rPr lang="en-US" altLang="ko-KR" sz="1400" dirty="0"/>
              <a:t>. Most of the traditional network infrastructure wasn’t built for the level of </a:t>
            </a:r>
            <a:r>
              <a:rPr lang="en-US" altLang="ko-KR" sz="1400" b="1" dirty="0"/>
              <a:t>dynamism</a:t>
            </a:r>
            <a:r>
              <a:rPr lang="en-US" altLang="ko-KR" sz="1400" dirty="0"/>
              <a:t> that Kubernetes presents.</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89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42987E8-8ECA-4063-8899-31FC0B71D80B}"/>
              </a:ext>
            </a:extLst>
          </p:cNvPr>
          <p:cNvPicPr>
            <a:picLocks noChangeAspect="1"/>
          </p:cNvPicPr>
          <p:nvPr/>
        </p:nvPicPr>
        <p:blipFill>
          <a:blip r:embed="rId2"/>
          <a:stretch>
            <a:fillRect/>
          </a:stretch>
        </p:blipFill>
        <p:spPr>
          <a:xfrm>
            <a:off x="3919117" y="2848456"/>
            <a:ext cx="4353765" cy="3365487"/>
          </a:xfrm>
          <a:prstGeom prst="rect">
            <a:avLst/>
          </a:prstGeom>
        </p:spPr>
      </p:pic>
    </p:spTree>
    <p:extLst>
      <p:ext uri="{BB962C8B-B14F-4D97-AF65-F5344CB8AC3E}">
        <p14:creationId xmlns:p14="http://schemas.microsoft.com/office/powerpoint/2010/main" val="44432749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What Is Service Discovery?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Service Discovery :</a:t>
            </a:r>
          </a:p>
          <a:p>
            <a:pPr lvl="1">
              <a:buFont typeface="Wingdings" panose="05000000000000000000" pitchFamily="2" charset="2"/>
              <a:buChar char="§"/>
            </a:pPr>
            <a:r>
              <a:rPr lang="en-US" altLang="ko-KR" sz="1400" b="1" dirty="0">
                <a:solidFill>
                  <a:srgbClr val="FF0000"/>
                </a:solidFill>
              </a:rPr>
              <a:t>Service-discovery </a:t>
            </a:r>
            <a:r>
              <a:rPr lang="en-US" altLang="ko-KR" sz="1400" b="1" dirty="0"/>
              <a:t>tools help solve the problem of </a:t>
            </a:r>
            <a:r>
              <a:rPr lang="en-US" altLang="ko-KR" sz="1400" b="1" dirty="0">
                <a:solidFill>
                  <a:srgbClr val="FF0000"/>
                </a:solidFill>
              </a:rPr>
              <a:t>finding which processes are listening at which addresses for which services</a:t>
            </a:r>
            <a:r>
              <a:rPr lang="en-US" altLang="ko-KR" sz="1400" dirty="0"/>
              <a:t>. A good service-discovery system will enable users to resolve this information </a:t>
            </a:r>
            <a:r>
              <a:rPr lang="en-US" altLang="ko-KR" sz="1400" b="1" dirty="0"/>
              <a:t>quickly and reliably</a:t>
            </a:r>
            <a:r>
              <a:rPr lang="en-US" altLang="ko-KR" sz="1400" dirty="0"/>
              <a:t>. A good system is also </a:t>
            </a:r>
            <a:r>
              <a:rPr lang="en-US" altLang="ko-KR" sz="1400" b="1" dirty="0"/>
              <a:t>low-latency</a:t>
            </a:r>
            <a:r>
              <a:rPr lang="en-US" altLang="ko-KR" sz="1400" dirty="0"/>
              <a:t>; </a:t>
            </a:r>
            <a:r>
              <a:rPr lang="en-US" altLang="ko-KR" sz="1400" b="1" dirty="0"/>
              <a:t>clients are updated soon after the information associated with a service changes</a:t>
            </a:r>
            <a:r>
              <a:rPr lang="en-US" altLang="ko-KR" sz="1400" dirty="0"/>
              <a:t>. </a:t>
            </a:r>
            <a:r>
              <a:rPr lang="en-US" altLang="ko-KR" sz="1400" b="1" dirty="0"/>
              <a:t>Finally, a good service-discovery system can store a richer definition of what that service is</a:t>
            </a:r>
            <a:r>
              <a:rPr lang="en-US" altLang="ko-KR" sz="1400" dirty="0"/>
              <a:t>. For example, perhaps there are multiple ports associated with the service.</a:t>
            </a:r>
          </a:p>
          <a:p>
            <a:pPr lvl="1">
              <a:buFont typeface="Wingdings" panose="05000000000000000000" pitchFamily="2" charset="2"/>
              <a:buChar char="§"/>
            </a:pPr>
            <a:r>
              <a:rPr lang="en-US" altLang="ko-KR" sz="1400" b="1" dirty="0">
                <a:solidFill>
                  <a:srgbClr val="FF0000"/>
                </a:solidFill>
              </a:rPr>
              <a:t>The Domain Name System (DNS) </a:t>
            </a:r>
            <a:r>
              <a:rPr lang="en-US" altLang="ko-KR" sz="1400" b="1" dirty="0"/>
              <a:t>is the traditional system of service discovery on the internet</a:t>
            </a:r>
            <a:r>
              <a:rPr lang="en-US" altLang="ko-KR" sz="1400" dirty="0"/>
              <a:t>. DNS is designed for relatively stable </a:t>
            </a:r>
            <a:r>
              <a:rPr lang="en-US" altLang="ko-KR" sz="1400" b="1" dirty="0"/>
              <a:t>name resolution with wide and efficient caching</a:t>
            </a:r>
            <a:r>
              <a:rPr lang="en-US" altLang="ko-KR" sz="1400" dirty="0"/>
              <a:t>. It is a great system for the internet but falls short in the dynamic world of Kubernetes.</a:t>
            </a:r>
          </a:p>
          <a:p>
            <a:pPr lvl="1">
              <a:buFont typeface="Wingdings" panose="05000000000000000000" pitchFamily="2" charset="2"/>
              <a:buChar char="§"/>
            </a:pPr>
            <a:r>
              <a:rPr lang="en-US" altLang="ko-KR" sz="1400" b="1" dirty="0"/>
              <a:t>Unfortunately, many systems (for example, Java, by default) look up a name in DNS directly and never re-resolve</a:t>
            </a:r>
            <a:r>
              <a:rPr lang="en-US" altLang="ko-KR" sz="1400" dirty="0"/>
              <a:t>. </a:t>
            </a:r>
            <a:r>
              <a:rPr lang="en-US" altLang="ko-KR" sz="1400" b="1" dirty="0"/>
              <a:t>This can lead to clients caching stale mappings and talking to the wrong IP</a:t>
            </a:r>
            <a:r>
              <a:rPr lang="en-US" altLang="ko-KR" sz="1400" dirty="0"/>
              <a:t>. Even with short TTLs(Time-To-Lives) and well-behaved clients, </a:t>
            </a:r>
            <a:r>
              <a:rPr lang="en-US" altLang="ko-KR" sz="1400" b="1" dirty="0"/>
              <a:t>there is a natural delay between when a name resolution changes and when the client notices</a:t>
            </a:r>
            <a:r>
              <a:rPr lang="en-US" altLang="ko-KR" sz="1400" dirty="0"/>
              <a:t>. </a:t>
            </a:r>
            <a:r>
              <a:rPr lang="en-US" altLang="ko-KR" sz="1400" b="1" dirty="0"/>
              <a:t>There are natural limits to the amount and type of information that can be returned in a typical DNS query, too.</a:t>
            </a:r>
            <a:r>
              <a:rPr lang="en-US" altLang="ko-KR" sz="1400" dirty="0"/>
              <a:t> Things start to break past 20–30 “</a:t>
            </a:r>
            <a:r>
              <a:rPr lang="en-US" altLang="ko-KR" sz="1400" b="1" dirty="0">
                <a:solidFill>
                  <a:srgbClr val="FF0000"/>
                </a:solidFill>
              </a:rPr>
              <a:t>A records</a:t>
            </a:r>
            <a:r>
              <a:rPr lang="en-US" altLang="ko-KR" sz="1400" b="1" dirty="0"/>
              <a:t>”</a:t>
            </a:r>
            <a:r>
              <a:rPr lang="en-US" altLang="ko-KR" sz="1400" dirty="0"/>
              <a:t> for a single name. </a:t>
            </a:r>
            <a:r>
              <a:rPr lang="en-US" altLang="ko-KR" sz="1400" b="1" dirty="0"/>
              <a:t>SRV records </a:t>
            </a:r>
            <a:r>
              <a:rPr lang="en-US" altLang="ko-KR" sz="1400" dirty="0"/>
              <a:t>solve some problems, but are often very hard to use. </a:t>
            </a:r>
            <a:r>
              <a:rPr lang="en-US" altLang="ko-KR" sz="1400" b="1" dirty="0"/>
              <a:t>Finally, the way that clients handle multiple IPs in a DNS record is usually to take the first IP address and rely on the DNS server to randomize or round-robin the order of records</a:t>
            </a:r>
            <a:r>
              <a:rPr lang="en-US" altLang="ko-KR" sz="1400" dirty="0"/>
              <a:t>. This is no substitute for more </a:t>
            </a:r>
            <a:r>
              <a:rPr lang="en-US" altLang="ko-KR" sz="1400" b="1" dirty="0"/>
              <a:t>purpose-built </a:t>
            </a:r>
            <a:r>
              <a:rPr lang="en-US" altLang="ko-KR" sz="1400" b="1" dirty="0">
                <a:solidFill>
                  <a:srgbClr val="FF0000"/>
                </a:solidFill>
              </a:rPr>
              <a:t>load balancing</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D04AB599-31E0-4E88-BD32-F95917F3B7E3}"/>
              </a:ext>
            </a:extLst>
          </p:cNvPr>
          <p:cNvPicPr>
            <a:picLocks noChangeAspect="1"/>
          </p:cNvPicPr>
          <p:nvPr/>
        </p:nvPicPr>
        <p:blipFill>
          <a:blip r:embed="rId2"/>
          <a:stretch>
            <a:fillRect/>
          </a:stretch>
        </p:blipFill>
        <p:spPr>
          <a:xfrm>
            <a:off x="8730532" y="4503339"/>
            <a:ext cx="2623268" cy="1905692"/>
          </a:xfrm>
          <a:prstGeom prst="rect">
            <a:avLst/>
          </a:prstGeom>
          <a:ln>
            <a:solidFill>
              <a:schemeClr val="bg1">
                <a:lumMod val="50000"/>
              </a:schemeClr>
            </a:solidFill>
          </a:ln>
        </p:spPr>
      </p:pic>
    </p:spTree>
    <p:extLst>
      <p:ext uri="{BB962C8B-B14F-4D97-AF65-F5344CB8AC3E}">
        <p14:creationId xmlns:p14="http://schemas.microsoft.com/office/powerpoint/2010/main" val="8732616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Domain Name System</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A Record :</a:t>
            </a:r>
          </a:p>
          <a:p>
            <a:pPr lvl="1">
              <a:buFont typeface="Wingdings" panose="05000000000000000000" pitchFamily="2" charset="2"/>
              <a:buChar char="§"/>
            </a:pPr>
            <a:r>
              <a:rPr lang="en-US" altLang="ko-KR" sz="1400" b="1" dirty="0"/>
              <a:t>The "</a:t>
            </a:r>
            <a:r>
              <a:rPr lang="en-US" altLang="ko-KR" sz="1400" b="1" dirty="0">
                <a:solidFill>
                  <a:srgbClr val="FF0000"/>
                </a:solidFill>
              </a:rPr>
              <a:t>A</a:t>
            </a:r>
            <a:r>
              <a:rPr lang="en-US" altLang="ko-KR" sz="1400" b="1" dirty="0"/>
              <a:t>" stands for "address" and this is the most fundamental type of DNS record </a:t>
            </a:r>
            <a:r>
              <a:rPr lang="en-US" altLang="ko-KR" sz="1400" dirty="0"/>
              <a:t>: </a:t>
            </a:r>
            <a:r>
              <a:rPr lang="en-US" altLang="ko-KR" sz="1400" b="1" dirty="0"/>
              <a:t>it indicates the IP address of a given domain</a:t>
            </a:r>
            <a:r>
              <a:rPr lang="en-US" altLang="ko-KR" sz="1400" dirty="0"/>
              <a:t>. For example, if you pull the DNS records of </a:t>
            </a:r>
            <a:r>
              <a:rPr lang="en-US" altLang="ko-KR" sz="1400" b="1" dirty="0"/>
              <a:t>cloudflare.com</a:t>
            </a:r>
            <a:r>
              <a:rPr lang="en-US" altLang="ko-KR" sz="1400" dirty="0"/>
              <a:t>, the “</a:t>
            </a:r>
            <a:r>
              <a:rPr lang="en-US" altLang="ko-KR" sz="1400" b="1" dirty="0">
                <a:solidFill>
                  <a:srgbClr val="FF0000"/>
                </a:solidFill>
              </a:rPr>
              <a:t>A</a:t>
            </a:r>
            <a:r>
              <a:rPr lang="en-US" altLang="ko-KR" sz="1400" b="1" dirty="0"/>
              <a:t>”</a:t>
            </a:r>
            <a:r>
              <a:rPr lang="en-US" altLang="ko-KR" sz="1400" b="1" dirty="0">
                <a:solidFill>
                  <a:srgbClr val="FF0000"/>
                </a:solidFill>
              </a:rPr>
              <a:t> record</a:t>
            </a:r>
            <a:r>
              <a:rPr lang="en-US" altLang="ko-KR" sz="1400" dirty="0">
                <a:solidFill>
                  <a:srgbClr val="FF0000"/>
                </a:solidFill>
              </a:rPr>
              <a:t> </a:t>
            </a:r>
            <a:r>
              <a:rPr lang="en-US" altLang="ko-KR" sz="1400" dirty="0"/>
              <a:t>currently returns an IP address of: “</a:t>
            </a:r>
            <a:r>
              <a:rPr lang="en-US" altLang="ko-KR" sz="1400" b="1" dirty="0"/>
              <a:t>104.17.210.9</a:t>
            </a:r>
            <a:r>
              <a:rPr lang="en-US" altLang="ko-KR" sz="1400" dirty="0"/>
              <a:t>”.</a:t>
            </a:r>
          </a:p>
          <a:p>
            <a:pPr lvl="1">
              <a:buFont typeface="Wingdings" panose="05000000000000000000" pitchFamily="2" charset="2"/>
              <a:buChar char="§"/>
            </a:pPr>
            <a:r>
              <a:rPr lang="en-US" altLang="ko-KR" sz="1400" b="1" dirty="0"/>
              <a:t>“A” records only hold IPv4 addresses</a:t>
            </a:r>
            <a:r>
              <a:rPr lang="en-US" altLang="ko-KR" sz="1400" dirty="0"/>
              <a:t>. If a website has an IPv6 address, it will instead use an </a:t>
            </a:r>
            <a:r>
              <a:rPr lang="en-US" altLang="ko-KR" sz="1400" b="1" dirty="0">
                <a:solidFill>
                  <a:srgbClr val="FF0000"/>
                </a:solidFill>
              </a:rPr>
              <a:t>"AAAA" record</a:t>
            </a:r>
            <a:r>
              <a:rPr lang="en-US" altLang="ko-KR" sz="1400" dirty="0"/>
              <a:t>.</a:t>
            </a:r>
          </a:p>
          <a:p>
            <a:pPr lvl="1">
              <a:buFont typeface="Wingdings" panose="05000000000000000000" pitchFamily="2" charset="2"/>
              <a:buChar char="§"/>
            </a:pPr>
            <a:r>
              <a:rPr lang="en-US" altLang="ko-KR" sz="1400" dirty="0"/>
              <a:t>Here is an example of an “</a:t>
            </a:r>
            <a:r>
              <a:rPr lang="en-US" altLang="ko-KR" sz="1400" b="1" dirty="0"/>
              <a:t>A” record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The "@" symbol in this example indicates that this is a record for the “</a:t>
            </a:r>
            <a:r>
              <a:rPr lang="en-US" altLang="ko-KR" sz="1400" b="1" dirty="0">
                <a:solidFill>
                  <a:srgbClr val="FF0000"/>
                </a:solidFill>
              </a:rPr>
              <a:t>root domain</a:t>
            </a:r>
            <a:r>
              <a:rPr lang="en-US" altLang="ko-KR" sz="1400" b="1" dirty="0"/>
              <a:t>”</a:t>
            </a:r>
            <a:r>
              <a:rPr lang="en-US" altLang="ko-KR" sz="1400" dirty="0"/>
              <a:t>, and </a:t>
            </a:r>
            <a:r>
              <a:rPr lang="en-US" altLang="ko-KR" sz="1400" b="1" dirty="0"/>
              <a:t>the "14400" value is the TTL (time to live), listed in seconds.</a:t>
            </a:r>
            <a:r>
              <a:rPr lang="en-US" altLang="ko-KR" sz="1400" dirty="0"/>
              <a:t> </a:t>
            </a:r>
            <a:r>
              <a:rPr lang="en-US" altLang="ko-KR" sz="1400" b="1" dirty="0"/>
              <a:t>The default TTL for “A” records is “14,400” seconds</a:t>
            </a:r>
            <a:r>
              <a:rPr lang="en-US" altLang="ko-KR" sz="1400" dirty="0"/>
              <a:t>. This means that if an A record gets updated, it takes </a:t>
            </a:r>
            <a:r>
              <a:rPr lang="en-US" altLang="ko-KR" sz="1400" b="1" dirty="0"/>
              <a:t>“240” minutes </a:t>
            </a:r>
            <a:r>
              <a:rPr lang="en-US" altLang="ko-KR" sz="1400" dirty="0"/>
              <a:t>(</a:t>
            </a:r>
            <a:r>
              <a:rPr lang="en-US" altLang="ko-KR" sz="1400" b="1" dirty="0"/>
              <a:t>14,400 seconds</a:t>
            </a:r>
            <a:r>
              <a:rPr lang="en-US" altLang="ko-KR" sz="1400" dirty="0"/>
              <a:t>) to take effect.</a:t>
            </a:r>
          </a:p>
          <a:p>
            <a:pPr lvl="1">
              <a:buFont typeface="Wingdings" panose="05000000000000000000" pitchFamily="2" charset="2"/>
              <a:buChar char="§"/>
            </a:pPr>
            <a:r>
              <a:rPr lang="en-US" altLang="ko-KR" sz="1400" b="1" dirty="0"/>
              <a:t>The vast majority of websites only have one “A” record</a:t>
            </a:r>
            <a:r>
              <a:rPr lang="en-US" altLang="ko-KR" sz="1400" dirty="0"/>
              <a:t>, </a:t>
            </a:r>
            <a:r>
              <a:rPr lang="en-US" altLang="ko-KR" sz="1400" b="1" dirty="0"/>
              <a:t>but it is possible to have several</a:t>
            </a:r>
            <a:r>
              <a:rPr lang="en-US" altLang="ko-KR" sz="1400" dirty="0"/>
              <a:t>. Some higher profile websites will have several different “A” records as part of a technique called “</a:t>
            </a:r>
            <a:r>
              <a:rPr lang="en-US" altLang="ko-KR" sz="1400" b="1" dirty="0">
                <a:solidFill>
                  <a:srgbClr val="FF0000"/>
                </a:solidFill>
              </a:rPr>
              <a:t>round robin load balancing</a:t>
            </a:r>
            <a:r>
              <a:rPr lang="en-US" altLang="ko-KR" sz="1400" b="1" dirty="0"/>
              <a:t>”</a:t>
            </a:r>
            <a:r>
              <a:rPr lang="en-US" altLang="ko-KR" sz="1400" dirty="0"/>
              <a:t>, </a:t>
            </a:r>
            <a:r>
              <a:rPr lang="en-US" altLang="ko-KR" sz="1400" b="1" dirty="0"/>
              <a:t>which can distribute request traffic to one of several IP addresses, each hosting identical content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01B77750-C8A6-4749-8F82-235D58B6FEF7}"/>
              </a:ext>
            </a:extLst>
          </p:cNvPr>
          <p:cNvPicPr>
            <a:picLocks noChangeAspect="1"/>
          </p:cNvPicPr>
          <p:nvPr/>
        </p:nvPicPr>
        <p:blipFill>
          <a:blip r:embed="rId2"/>
          <a:stretch>
            <a:fillRect/>
          </a:stretch>
        </p:blipFill>
        <p:spPr>
          <a:xfrm>
            <a:off x="2991852" y="2321049"/>
            <a:ext cx="6208295" cy="625642"/>
          </a:xfrm>
          <a:prstGeom prst="rect">
            <a:avLst/>
          </a:prstGeom>
        </p:spPr>
      </p:pic>
      <p:pic>
        <p:nvPicPr>
          <p:cNvPr id="8" name="그림 7">
            <a:extLst>
              <a:ext uri="{FF2B5EF4-FFF2-40B4-BE49-F238E27FC236}">
                <a16:creationId xmlns:a16="http://schemas.microsoft.com/office/drawing/2014/main" id="{F29707BB-D2DE-40AE-B73E-DED72127EAC9}"/>
              </a:ext>
            </a:extLst>
          </p:cNvPr>
          <p:cNvPicPr>
            <a:picLocks noChangeAspect="1"/>
          </p:cNvPicPr>
          <p:nvPr/>
        </p:nvPicPr>
        <p:blipFill>
          <a:blip r:embed="rId3"/>
          <a:stretch>
            <a:fillRect/>
          </a:stretch>
        </p:blipFill>
        <p:spPr>
          <a:xfrm>
            <a:off x="4390297" y="4435289"/>
            <a:ext cx="3411404" cy="1973741"/>
          </a:xfrm>
          <a:prstGeom prst="rect">
            <a:avLst/>
          </a:prstGeom>
          <a:ln>
            <a:solidFill>
              <a:schemeClr val="bg1">
                <a:lumMod val="50000"/>
              </a:schemeClr>
            </a:solidFill>
          </a:ln>
        </p:spPr>
      </p:pic>
    </p:spTree>
    <p:extLst>
      <p:ext uri="{BB962C8B-B14F-4D97-AF65-F5344CB8AC3E}">
        <p14:creationId xmlns:p14="http://schemas.microsoft.com/office/powerpoint/2010/main" val="39222384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b="1" dirty="0"/>
              <a:t>Real service discovery in Kubernetes starts with a </a:t>
            </a:r>
            <a:r>
              <a:rPr lang="en-US" altLang="ko-KR" sz="1400" b="1" dirty="0">
                <a:solidFill>
                  <a:srgbClr val="FF0000"/>
                </a:solidFill>
              </a:rPr>
              <a:t>Service object</a:t>
            </a:r>
            <a:r>
              <a:rPr lang="en-US" altLang="ko-KR" sz="1400" dirty="0"/>
              <a:t>. </a:t>
            </a:r>
            <a:r>
              <a:rPr lang="en-US" altLang="ko-KR" sz="1400" b="1" dirty="0"/>
              <a:t>A Service object is a way to </a:t>
            </a:r>
            <a:r>
              <a:rPr lang="en-US" altLang="ko-KR" sz="1400" b="1" dirty="0">
                <a:solidFill>
                  <a:srgbClr val="FF0000"/>
                </a:solidFill>
              </a:rPr>
              <a:t>create a named label selector</a:t>
            </a:r>
            <a:r>
              <a:rPr lang="en-US" altLang="ko-KR" sz="1400" dirty="0"/>
              <a:t>. As the “</a:t>
            </a:r>
            <a:r>
              <a:rPr lang="en-US" altLang="ko-KR" sz="1400" b="1" dirty="0" err="1"/>
              <a:t>kubectl</a:t>
            </a:r>
            <a:r>
              <a:rPr lang="en-US" altLang="ko-KR" sz="1400" b="1" dirty="0"/>
              <a:t> run</a:t>
            </a:r>
            <a:r>
              <a:rPr lang="en-US" altLang="ko-KR" sz="1400" dirty="0"/>
              <a:t>” command is an easy way to create a Kubernetes deployment, we can use </a:t>
            </a:r>
            <a:r>
              <a:rPr lang="en-US" altLang="ko-KR" sz="1400" b="1" dirty="0">
                <a:solidFill>
                  <a:srgbClr val="FF0000"/>
                </a:solidFill>
              </a:rPr>
              <a:t>“</a:t>
            </a:r>
            <a:r>
              <a:rPr lang="en-US" altLang="ko-KR" sz="1400" b="1" dirty="0" err="1">
                <a:solidFill>
                  <a:srgbClr val="FF0000"/>
                </a:solidFill>
              </a:rPr>
              <a:t>kubectl</a:t>
            </a:r>
            <a:r>
              <a:rPr lang="en-US" altLang="ko-KR" sz="1400" b="1" dirty="0">
                <a:solidFill>
                  <a:srgbClr val="FF0000"/>
                </a:solidFill>
              </a:rPr>
              <a:t> expose” to create a service</a:t>
            </a:r>
            <a:r>
              <a:rPr lang="en-US" altLang="ko-KR" sz="1400" dirty="0"/>
              <a:t>. </a:t>
            </a:r>
          </a:p>
          <a:p>
            <a:pPr lvl="1">
              <a:buFont typeface="Wingdings" panose="05000000000000000000" pitchFamily="2" charset="2"/>
              <a:buChar char="§"/>
            </a:pPr>
            <a:r>
              <a:rPr lang="en-US" altLang="ko-KR" sz="1400" b="1" dirty="0"/>
              <a:t>Let’s create some deployments and </a:t>
            </a:r>
            <a:r>
              <a:rPr lang="en-US" altLang="ko-KR" sz="1400" b="1" dirty="0">
                <a:solidFill>
                  <a:srgbClr val="FF0000"/>
                </a:solidFill>
              </a:rPr>
              <a:t>services</a:t>
            </a:r>
            <a:r>
              <a:rPr lang="en-US" altLang="ko-KR" sz="1400" b="1" dirty="0"/>
              <a:t> </a:t>
            </a:r>
            <a:r>
              <a:rPr lang="en-US" altLang="ko-KR" sz="1400" dirty="0"/>
              <a:t>so we can see how they work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6F08DCA3-7894-49D4-B697-08486CBE9F0E}"/>
              </a:ext>
            </a:extLst>
          </p:cNvPr>
          <p:cNvGrpSpPr/>
          <p:nvPr/>
        </p:nvGrpSpPr>
        <p:grpSpPr>
          <a:xfrm>
            <a:off x="1203628" y="2449032"/>
            <a:ext cx="9784743" cy="3192361"/>
            <a:chOff x="1569057" y="2099175"/>
            <a:chExt cx="9784743" cy="3192361"/>
          </a:xfrm>
        </p:grpSpPr>
        <p:sp>
          <p:nvSpPr>
            <p:cNvPr id="4" name="직사각형 3">
              <a:extLst>
                <a:ext uri="{FF2B5EF4-FFF2-40B4-BE49-F238E27FC236}">
                  <a16:creationId xmlns:a16="http://schemas.microsoft.com/office/drawing/2014/main" id="{59C48A43-5CED-40C8-A0A2-2FBA060D3751}"/>
                </a:ext>
              </a:extLst>
            </p:cNvPr>
            <p:cNvSpPr/>
            <p:nvPr/>
          </p:nvSpPr>
          <p:spPr>
            <a:xfrm>
              <a:off x="1569057" y="2099175"/>
              <a:ext cx="6096000" cy="1938992"/>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solidFill>
                    <a:srgbClr val="FF0000"/>
                  </a:solidFill>
                </a:rPr>
                <a:t>minikube</a:t>
              </a:r>
              <a:r>
                <a:rPr lang="en-US" altLang="ko-KR" sz="1000" b="1" dirty="0">
                  <a:solidFill>
                    <a:srgbClr val="FF0000"/>
                  </a:solidFill>
                </a:rPr>
                <a:t> start</a:t>
              </a:r>
            </a:p>
            <a:p>
              <a:r>
                <a:rPr lang="en-US" altLang="ko-KR" sz="1000" b="1" dirty="0"/>
                <a:t>$ </a:t>
              </a:r>
              <a:r>
                <a:rPr lang="en-US" altLang="ko-KR" sz="1000" b="1" dirty="0" err="1"/>
                <a:t>kubectl</a:t>
              </a:r>
              <a:r>
                <a:rPr lang="en-US" altLang="ko-KR" sz="1000" b="1" dirty="0"/>
                <a:t> run alpaca-prod \</a:t>
              </a:r>
            </a:p>
            <a:p>
              <a:r>
                <a:rPr lang="en-US" altLang="ko-KR" sz="1000" b="1" dirty="0"/>
                <a:t>--image=knix008/kuard-shkwon-amd64:1.0 \</a:t>
              </a:r>
            </a:p>
            <a:p>
              <a:r>
                <a:rPr lang="en-US" altLang="ko-KR" sz="1000" b="1" dirty="0"/>
                <a:t>--port=</a:t>
              </a:r>
              <a:r>
                <a:rPr lang="en-US" altLang="ko-KR" sz="1000" b="1" dirty="0">
                  <a:solidFill>
                    <a:srgbClr val="FF0000"/>
                  </a:solidFill>
                </a:rPr>
                <a:t>8080</a:t>
              </a:r>
              <a:r>
                <a:rPr lang="en-US" altLang="ko-KR" sz="1000" b="1" dirty="0"/>
                <a:t> \</a:t>
              </a:r>
            </a:p>
            <a:p>
              <a:r>
                <a:rPr lang="en-US" altLang="ko-KR" sz="1000" b="1" dirty="0"/>
                <a:t>--labels="</a:t>
              </a:r>
              <a:r>
                <a:rPr lang="en-US" altLang="ko-KR" sz="1000" b="1" dirty="0" err="1"/>
                <a:t>ver</a:t>
              </a:r>
              <a:r>
                <a:rPr lang="en-US" altLang="ko-KR" sz="1000" b="1" dirty="0"/>
                <a:t>=1,app=</a:t>
              </a:r>
              <a:r>
                <a:rPr lang="en-US" altLang="ko-KR" sz="1000" b="1" dirty="0" err="1"/>
                <a:t>alpaca,env</a:t>
              </a:r>
              <a:r>
                <a:rPr lang="en-US" altLang="ko-KR" sz="1000" b="1" dirty="0"/>
                <a:t>=prod"</a:t>
              </a:r>
            </a:p>
            <a:p>
              <a:r>
                <a:rPr lang="en-US" altLang="ko-KR" sz="1000" b="1" dirty="0">
                  <a:solidFill>
                    <a:srgbClr val="FF0000"/>
                  </a:solidFill>
                </a:rPr>
                <a:t>$ </a:t>
              </a:r>
              <a:r>
                <a:rPr lang="en-US" altLang="ko-KR" sz="1000" b="1" dirty="0" err="1">
                  <a:solidFill>
                    <a:srgbClr val="FF0000"/>
                  </a:solidFill>
                </a:rPr>
                <a:t>kubectl</a:t>
              </a:r>
              <a:r>
                <a:rPr lang="en-US" altLang="ko-KR" sz="1000" b="1" dirty="0">
                  <a:solidFill>
                    <a:srgbClr val="FF0000"/>
                  </a:solidFill>
                </a:rPr>
                <a:t> expose pods/alpaca-prod</a:t>
              </a:r>
            </a:p>
            <a:p>
              <a:r>
                <a:rPr lang="en-US" altLang="ko-KR" sz="1000" b="1" dirty="0"/>
                <a:t>$ </a:t>
              </a:r>
              <a:r>
                <a:rPr lang="en-US" altLang="ko-KR" sz="1000" b="1" dirty="0" err="1"/>
                <a:t>kubectl</a:t>
              </a:r>
              <a:r>
                <a:rPr lang="en-US" altLang="ko-KR" sz="1000" b="1" dirty="0"/>
                <a:t> run bandicoot-prod \</a:t>
              </a:r>
            </a:p>
            <a:p>
              <a:r>
                <a:rPr lang="en-US" altLang="ko-KR" sz="1000" b="1" dirty="0"/>
                <a:t>--image=knix008/kuard-shkwon-amd64:1.0 \</a:t>
              </a:r>
            </a:p>
            <a:p>
              <a:r>
                <a:rPr lang="en-US" altLang="ko-KR" sz="1000" b="1" dirty="0"/>
                <a:t>--port=</a:t>
              </a:r>
              <a:r>
                <a:rPr lang="en-US" altLang="ko-KR" sz="1000" b="1" dirty="0">
                  <a:solidFill>
                    <a:srgbClr val="FF0000"/>
                  </a:solidFill>
                </a:rPr>
                <a:t>8080</a:t>
              </a:r>
              <a:r>
                <a:rPr lang="en-US" altLang="ko-KR" sz="1000" b="1" dirty="0"/>
                <a:t> \</a:t>
              </a:r>
            </a:p>
            <a:p>
              <a:r>
                <a:rPr lang="en-US" altLang="ko-KR" sz="1000" b="1" dirty="0"/>
                <a:t>--labels="</a:t>
              </a:r>
              <a:r>
                <a:rPr lang="en-US" altLang="ko-KR" sz="1000" b="1" dirty="0" err="1"/>
                <a:t>ver</a:t>
              </a:r>
              <a:r>
                <a:rPr lang="en-US" altLang="ko-KR" sz="1000" b="1" dirty="0"/>
                <a:t>=2,app=</a:t>
              </a:r>
              <a:r>
                <a:rPr lang="en-US" altLang="ko-KR" sz="1000" b="1" dirty="0" err="1"/>
                <a:t>bandicoot,env</a:t>
              </a:r>
              <a:r>
                <a:rPr lang="en-US" altLang="ko-KR" sz="1000" b="1" dirty="0"/>
                <a:t>=prod"</a:t>
              </a:r>
            </a:p>
            <a:p>
              <a:r>
                <a:rPr lang="en-US" altLang="ko-KR" sz="1000" b="1" dirty="0"/>
                <a:t>$ </a:t>
              </a:r>
              <a:r>
                <a:rPr lang="en-US" altLang="ko-KR" sz="1000" b="1" dirty="0" err="1">
                  <a:solidFill>
                    <a:srgbClr val="FF0000"/>
                  </a:solidFill>
                </a:rPr>
                <a:t>kubectl</a:t>
              </a:r>
              <a:r>
                <a:rPr lang="en-US" altLang="ko-KR" sz="1000" b="1" dirty="0">
                  <a:solidFill>
                    <a:srgbClr val="FF0000"/>
                  </a:solidFill>
                </a:rPr>
                <a:t> expose pods/bandicoot-prod</a:t>
              </a:r>
            </a:p>
            <a:p>
              <a:r>
                <a:rPr lang="en-US" altLang="ko-KR" sz="1000" b="1" dirty="0"/>
                <a:t>$ </a:t>
              </a:r>
              <a:r>
                <a:rPr lang="en-US" altLang="ko-KR" sz="1000" b="1" dirty="0" err="1">
                  <a:solidFill>
                    <a:srgbClr val="FF0000"/>
                  </a:solidFill>
                </a:rPr>
                <a:t>kubectl</a:t>
              </a:r>
              <a:r>
                <a:rPr lang="en-US" altLang="ko-KR" sz="1000" b="1" dirty="0">
                  <a:solidFill>
                    <a:srgbClr val="FF0000"/>
                  </a:solidFill>
                </a:rPr>
                <a:t> get services -o wide</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C91925AF-E837-441B-BDE7-9C10753CC1FF}"/>
                </a:ext>
              </a:extLst>
            </p:cNvPr>
            <p:cNvPicPr>
              <a:picLocks noChangeAspect="1"/>
            </p:cNvPicPr>
            <p:nvPr/>
          </p:nvPicPr>
          <p:blipFill>
            <a:blip r:embed="rId2"/>
            <a:stretch>
              <a:fillRect/>
            </a:stretch>
          </p:blipFill>
          <p:spPr>
            <a:xfrm>
              <a:off x="4648863" y="3068671"/>
              <a:ext cx="6704937" cy="2222865"/>
            </a:xfrm>
            <a:prstGeom prst="rect">
              <a:avLst/>
            </a:prstGeom>
            <a:ln>
              <a:solidFill>
                <a:schemeClr val="bg1">
                  <a:lumMod val="50000"/>
                </a:schemeClr>
              </a:solidFill>
            </a:ln>
          </p:spPr>
        </p:pic>
      </p:grpSp>
      <p:sp>
        <p:nvSpPr>
          <p:cNvPr id="10" name="직사각형 9">
            <a:extLst>
              <a:ext uri="{FF2B5EF4-FFF2-40B4-BE49-F238E27FC236}">
                <a16:creationId xmlns:a16="http://schemas.microsoft.com/office/drawing/2014/main" id="{85E67850-DE5C-41D6-A526-C5EE95580A35}"/>
              </a:ext>
            </a:extLst>
          </p:cNvPr>
          <p:cNvSpPr/>
          <p:nvPr/>
        </p:nvSpPr>
        <p:spPr>
          <a:xfrm>
            <a:off x="4341707" y="5113867"/>
            <a:ext cx="5296746" cy="20320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8441072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dirty="0"/>
              <a:t>After running the previous commands, we have three services. The ones we just created are </a:t>
            </a:r>
            <a:r>
              <a:rPr lang="en-US" altLang="ko-KR" sz="1400" b="1" dirty="0"/>
              <a:t>alpaca-prod</a:t>
            </a:r>
            <a:r>
              <a:rPr lang="en-US" altLang="ko-KR" sz="1400" dirty="0"/>
              <a:t> and </a:t>
            </a:r>
            <a:r>
              <a:rPr lang="en-US" altLang="ko-KR" sz="1400" b="1" dirty="0"/>
              <a:t>bandicoot-prod</a:t>
            </a:r>
            <a:r>
              <a:rPr lang="en-US" altLang="ko-KR" sz="1400" dirty="0"/>
              <a:t>. </a:t>
            </a:r>
            <a:r>
              <a:rPr lang="en-US" altLang="ko-KR" sz="1400" b="1" dirty="0"/>
              <a:t>The </a:t>
            </a:r>
            <a:r>
              <a:rPr lang="en-US" altLang="ko-KR" sz="1400" b="1" dirty="0" err="1"/>
              <a:t>kubernetes</a:t>
            </a:r>
            <a:r>
              <a:rPr lang="en-US" altLang="ko-KR" sz="1400" b="1" dirty="0"/>
              <a:t> service is automatically created for you so that you can find and talk to the Kubernetes API from within the app</a:t>
            </a:r>
            <a:r>
              <a:rPr lang="en-US" altLang="ko-KR" sz="1400" dirty="0"/>
              <a:t>. </a:t>
            </a:r>
          </a:p>
          <a:p>
            <a:pPr lvl="1">
              <a:buFont typeface="Wingdings" panose="05000000000000000000" pitchFamily="2" charset="2"/>
              <a:buChar char="§"/>
            </a:pPr>
            <a:r>
              <a:rPr lang="en-US" altLang="ko-KR" sz="1400" dirty="0"/>
              <a:t>If we look at the “</a:t>
            </a:r>
            <a:r>
              <a:rPr lang="en-US" altLang="ko-KR" sz="1400" b="1" dirty="0">
                <a:solidFill>
                  <a:srgbClr val="FF0000"/>
                </a:solidFill>
              </a:rPr>
              <a:t>SELECTOR</a:t>
            </a:r>
            <a:r>
              <a:rPr lang="en-US" altLang="ko-KR" sz="1400" b="1" dirty="0"/>
              <a:t>” column</a:t>
            </a:r>
            <a:r>
              <a:rPr lang="en-US" altLang="ko-KR" sz="1400" dirty="0"/>
              <a:t>, we see that the “</a:t>
            </a:r>
            <a:r>
              <a:rPr lang="en-US" altLang="ko-KR" sz="1400" b="1" dirty="0"/>
              <a:t>alpaca-prod service</a:t>
            </a:r>
            <a:r>
              <a:rPr lang="en-US" altLang="ko-KR" sz="1400" dirty="0"/>
              <a:t>” </a:t>
            </a:r>
            <a:r>
              <a:rPr lang="en-US" altLang="ko-KR" sz="1400" b="1" dirty="0"/>
              <a:t>simply gives a name to a selector and specifies which ports to talk to for that service</a:t>
            </a:r>
            <a:r>
              <a:rPr lang="en-US" altLang="ko-KR" sz="1400" dirty="0"/>
              <a:t>. </a:t>
            </a:r>
            <a:r>
              <a:rPr lang="en-US" altLang="ko-KR" sz="1400" b="1" dirty="0"/>
              <a:t>The “</a:t>
            </a:r>
            <a:r>
              <a:rPr lang="en-US" altLang="ko-KR" sz="1400" b="1" dirty="0" err="1">
                <a:solidFill>
                  <a:srgbClr val="FF0000"/>
                </a:solidFill>
              </a:rPr>
              <a:t>kubectl</a:t>
            </a:r>
            <a:r>
              <a:rPr lang="en-US" altLang="ko-KR" sz="1400" b="1" dirty="0">
                <a:solidFill>
                  <a:srgbClr val="FF0000"/>
                </a:solidFill>
              </a:rPr>
              <a:t> expose</a:t>
            </a:r>
            <a:r>
              <a:rPr lang="en-US" altLang="ko-KR" sz="1400" b="1" dirty="0"/>
              <a:t>” command will conveniently </a:t>
            </a:r>
            <a:r>
              <a:rPr lang="en-US" altLang="ko-KR" sz="1400" b="1" dirty="0">
                <a:solidFill>
                  <a:srgbClr val="FF0000"/>
                </a:solidFill>
              </a:rPr>
              <a:t>pull both the label selector and the relevant ports (8080, in this case) from the “pods” definition</a:t>
            </a:r>
            <a:r>
              <a:rPr lang="en-US" altLang="ko-KR" sz="1400" dirty="0"/>
              <a:t>.</a:t>
            </a:r>
          </a:p>
          <a:p>
            <a:pPr lvl="1">
              <a:buFont typeface="Wingdings" panose="05000000000000000000" pitchFamily="2" charset="2"/>
              <a:buChar char="§"/>
            </a:pPr>
            <a:r>
              <a:rPr lang="en-US" altLang="ko-KR" sz="1400" b="1" dirty="0"/>
              <a:t>NOTE</a:t>
            </a:r>
            <a:r>
              <a:rPr lang="en-US" altLang="ko-KR" sz="1400" dirty="0"/>
              <a:t> : If you use “</a:t>
            </a:r>
            <a:r>
              <a:rPr lang="en-US" altLang="ko-KR" sz="1400" b="1" dirty="0" err="1"/>
              <a:t>kubectl</a:t>
            </a:r>
            <a:r>
              <a:rPr lang="en-US" altLang="ko-KR" sz="1400" b="1" dirty="0"/>
              <a:t> create</a:t>
            </a:r>
            <a:r>
              <a:rPr lang="en-US" altLang="ko-KR" sz="1400" dirty="0"/>
              <a:t>” command, you can use “</a:t>
            </a:r>
            <a:r>
              <a:rPr lang="en-US" altLang="ko-KR" sz="1400" b="1" dirty="0"/>
              <a:t>deployment</a:t>
            </a:r>
            <a:r>
              <a:rPr lang="en-US" altLang="ko-KR" sz="1400" dirty="0"/>
              <a:t>” definition instead.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8" name="그림 7">
            <a:extLst>
              <a:ext uri="{FF2B5EF4-FFF2-40B4-BE49-F238E27FC236}">
                <a16:creationId xmlns:a16="http://schemas.microsoft.com/office/drawing/2014/main" id="{F7C2E66F-2AF9-40E1-99AF-6F8FAE6D41E7}"/>
              </a:ext>
            </a:extLst>
          </p:cNvPr>
          <p:cNvPicPr>
            <a:picLocks noChangeAspect="1"/>
          </p:cNvPicPr>
          <p:nvPr/>
        </p:nvPicPr>
        <p:blipFill>
          <a:blip r:embed="rId2"/>
          <a:stretch>
            <a:fillRect/>
          </a:stretch>
        </p:blipFill>
        <p:spPr>
          <a:xfrm>
            <a:off x="3683918" y="2834404"/>
            <a:ext cx="4824164" cy="3574626"/>
          </a:xfrm>
          <a:prstGeom prst="rect">
            <a:avLst/>
          </a:prstGeom>
        </p:spPr>
      </p:pic>
      <p:sp>
        <p:nvSpPr>
          <p:cNvPr id="4" name="직사각형 3">
            <a:extLst>
              <a:ext uri="{FF2B5EF4-FFF2-40B4-BE49-F238E27FC236}">
                <a16:creationId xmlns:a16="http://schemas.microsoft.com/office/drawing/2014/main" id="{A6665E6A-AF5D-5E21-0315-5BA6388294B4}"/>
              </a:ext>
            </a:extLst>
          </p:cNvPr>
          <p:cNvSpPr/>
          <p:nvPr/>
        </p:nvSpPr>
        <p:spPr>
          <a:xfrm>
            <a:off x="3481493" y="3908213"/>
            <a:ext cx="2147147" cy="123952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4112281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The Service Object(3/3)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Creating Service Object :</a:t>
            </a:r>
          </a:p>
          <a:p>
            <a:pPr lvl="1">
              <a:buFont typeface="Wingdings" panose="05000000000000000000" pitchFamily="2" charset="2"/>
              <a:buChar char="§"/>
            </a:pPr>
            <a:r>
              <a:rPr lang="en-US" altLang="ko-KR" sz="1400" b="1" dirty="0"/>
              <a:t>Furthermore, that service is assigned a new type of </a:t>
            </a:r>
            <a:r>
              <a:rPr lang="en-US" altLang="ko-KR" sz="1400" b="1" dirty="0">
                <a:solidFill>
                  <a:srgbClr val="FF0000"/>
                </a:solidFill>
              </a:rPr>
              <a:t>virtual IP </a:t>
            </a:r>
            <a:r>
              <a:rPr lang="en-US" altLang="ko-KR" sz="1400" b="1" dirty="0"/>
              <a:t>called a “</a:t>
            </a:r>
            <a:r>
              <a:rPr lang="en-US" altLang="ko-KR" sz="1400" b="1" dirty="0">
                <a:solidFill>
                  <a:srgbClr val="FF0000"/>
                </a:solidFill>
              </a:rPr>
              <a:t>cluster IP</a:t>
            </a:r>
            <a:r>
              <a:rPr lang="en-US" altLang="ko-KR" sz="1400" b="1" dirty="0"/>
              <a:t>”</a:t>
            </a:r>
            <a:r>
              <a:rPr lang="en-US" altLang="ko-KR" sz="1400" dirty="0"/>
              <a:t>. </a:t>
            </a:r>
            <a:r>
              <a:rPr lang="en-US" altLang="ko-KR" sz="1400" b="1" dirty="0"/>
              <a:t>This is a special IP address </a:t>
            </a:r>
            <a:r>
              <a:rPr lang="en-US" altLang="ko-KR" sz="1400" b="1" dirty="0">
                <a:solidFill>
                  <a:srgbClr val="FF0000"/>
                </a:solidFill>
              </a:rPr>
              <a:t>the system will load-balance across all of the Pods that are identified by the selector</a:t>
            </a:r>
            <a:r>
              <a:rPr lang="en-US" altLang="ko-KR" sz="1400" dirty="0"/>
              <a:t>.</a:t>
            </a:r>
          </a:p>
          <a:p>
            <a:pPr lvl="1">
              <a:buFont typeface="Wingdings" panose="05000000000000000000" pitchFamily="2" charset="2"/>
              <a:buChar char="§"/>
            </a:pPr>
            <a:r>
              <a:rPr lang="en-US" altLang="ko-KR" sz="1400" b="1" dirty="0"/>
              <a:t>To interact with services, we are going to “</a:t>
            </a:r>
            <a:r>
              <a:rPr lang="en-US" altLang="ko-KR" sz="1400" b="1" dirty="0">
                <a:solidFill>
                  <a:srgbClr val="FF0000"/>
                </a:solidFill>
              </a:rPr>
              <a:t>port forward</a:t>
            </a:r>
            <a:r>
              <a:rPr lang="en-US" altLang="ko-KR" sz="1400" b="1" dirty="0"/>
              <a:t>“ to the “alpaca Pods”</a:t>
            </a:r>
            <a:r>
              <a:rPr lang="en-US" altLang="ko-KR" sz="1400" dirty="0"/>
              <a:t>. Start and leave this command running in a terminal window. You can see the </a:t>
            </a:r>
            <a:r>
              <a:rPr lang="en-US" altLang="ko-KR" sz="1400" b="1" dirty="0"/>
              <a:t>port forward </a:t>
            </a:r>
            <a:r>
              <a:rPr lang="en-US" altLang="ko-KR" sz="1400" dirty="0"/>
              <a:t>working by accessing the “</a:t>
            </a:r>
            <a:r>
              <a:rPr lang="en-US" altLang="ko-KR" sz="1400" b="1" dirty="0"/>
              <a:t>alpaca Pod</a:t>
            </a:r>
            <a:r>
              <a:rPr lang="en-US" altLang="ko-KR" sz="1400" dirty="0"/>
              <a:t>” at </a:t>
            </a:r>
            <a:r>
              <a:rPr lang="en-US" altLang="ko-KR" sz="1400" b="1" dirty="0">
                <a:hlinkClick r:id="rId2"/>
              </a:rPr>
              <a:t>http://localhost:48858</a:t>
            </a:r>
            <a:r>
              <a:rPr lang="en-US" altLang="ko-KR" sz="1400" b="1" dirty="0"/>
              <a:t> </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2A15970D-FE2B-428E-A7E8-0165CD139C77}"/>
              </a:ext>
            </a:extLst>
          </p:cNvPr>
          <p:cNvGrpSpPr/>
          <p:nvPr/>
        </p:nvGrpSpPr>
        <p:grpSpPr>
          <a:xfrm>
            <a:off x="1976437" y="2323279"/>
            <a:ext cx="9377362" cy="4085751"/>
            <a:chOff x="1976437" y="2323279"/>
            <a:chExt cx="9377362" cy="4085751"/>
          </a:xfrm>
        </p:grpSpPr>
        <p:grpSp>
          <p:nvGrpSpPr>
            <p:cNvPr id="10" name="그룹 9">
              <a:extLst>
                <a:ext uri="{FF2B5EF4-FFF2-40B4-BE49-F238E27FC236}">
                  <a16:creationId xmlns:a16="http://schemas.microsoft.com/office/drawing/2014/main" id="{8572CA5F-905A-4BF4-A473-A0482201B4C5}"/>
                </a:ext>
              </a:extLst>
            </p:cNvPr>
            <p:cNvGrpSpPr/>
            <p:nvPr/>
          </p:nvGrpSpPr>
          <p:grpSpPr>
            <a:xfrm>
              <a:off x="1976437" y="2323279"/>
              <a:ext cx="8239125" cy="2670554"/>
              <a:chOff x="1976437" y="2323279"/>
              <a:chExt cx="8239125" cy="2670554"/>
            </a:xfrm>
          </p:grpSpPr>
          <p:sp>
            <p:nvSpPr>
              <p:cNvPr id="8" name="직사각형 7">
                <a:extLst>
                  <a:ext uri="{FF2B5EF4-FFF2-40B4-BE49-F238E27FC236}">
                    <a16:creationId xmlns:a16="http://schemas.microsoft.com/office/drawing/2014/main" id="{C5B2A41F-C2C4-43E5-A10C-3F4FD42C001D}"/>
                  </a:ext>
                </a:extLst>
              </p:cNvPr>
              <p:cNvSpPr/>
              <p:nvPr/>
            </p:nvSpPr>
            <p:spPr>
              <a:xfrm>
                <a:off x="3048000" y="2323279"/>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t>
                </a:r>
                <a:r>
                  <a:rPr lang="en-US" altLang="ko-KR" sz="1000" b="1" dirty="0">
                    <a:solidFill>
                      <a:srgbClr val="FF0000"/>
                    </a:solidFill>
                  </a:rPr>
                  <a:t>alpaca</a:t>
                </a:r>
                <a:r>
                  <a:rPr lang="en-US" altLang="ko-KR" sz="1000" b="1" dirty="0"/>
                  <a:t>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port-forward $ALPACA_POD 48858:8080</a:t>
                </a:r>
                <a:endParaRPr lang="ko-KR" altLang="en-US" sz="1000" b="1" dirty="0">
                  <a:solidFill>
                    <a:srgbClr val="FF0000"/>
                  </a:solidFill>
                </a:endParaRPr>
              </a:p>
            </p:txBody>
          </p:sp>
          <p:pic>
            <p:nvPicPr>
              <p:cNvPr id="4" name="그림 3">
                <a:extLst>
                  <a:ext uri="{FF2B5EF4-FFF2-40B4-BE49-F238E27FC236}">
                    <a16:creationId xmlns:a16="http://schemas.microsoft.com/office/drawing/2014/main" id="{E4270B50-5D29-4BE6-8F18-240AEE06A630}"/>
                  </a:ext>
                </a:extLst>
              </p:cNvPr>
              <p:cNvPicPr>
                <a:picLocks noChangeAspect="1"/>
              </p:cNvPicPr>
              <p:nvPr/>
            </p:nvPicPr>
            <p:blipFill>
              <a:blip r:embed="rId3"/>
              <a:stretch>
                <a:fillRect/>
              </a:stretch>
            </p:blipFill>
            <p:spPr>
              <a:xfrm>
                <a:off x="1976437" y="3184083"/>
                <a:ext cx="8239125" cy="180975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70939F61-478E-414E-BCCD-23230E625F43}"/>
                  </a:ext>
                </a:extLst>
              </p:cNvPr>
              <p:cNvSpPr/>
              <p:nvPr/>
            </p:nvSpPr>
            <p:spPr>
              <a:xfrm>
                <a:off x="5889265" y="2893149"/>
                <a:ext cx="413468" cy="27246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1" name="그림 10">
              <a:extLst>
                <a:ext uri="{FF2B5EF4-FFF2-40B4-BE49-F238E27FC236}">
                  <a16:creationId xmlns:a16="http://schemas.microsoft.com/office/drawing/2014/main" id="{42BCED9C-0CCD-4577-B4FA-D7CA955054A3}"/>
                </a:ext>
              </a:extLst>
            </p:cNvPr>
            <p:cNvPicPr>
              <a:picLocks noChangeAspect="1"/>
            </p:cNvPicPr>
            <p:nvPr/>
          </p:nvPicPr>
          <p:blipFill>
            <a:blip r:embed="rId4"/>
            <a:stretch>
              <a:fillRect/>
            </a:stretch>
          </p:blipFill>
          <p:spPr>
            <a:xfrm>
              <a:off x="5693009" y="4351708"/>
              <a:ext cx="5660790" cy="2057322"/>
            </a:xfrm>
            <a:prstGeom prst="rect">
              <a:avLst/>
            </a:prstGeom>
            <a:ln>
              <a:solidFill>
                <a:schemeClr val="bg1">
                  <a:lumMod val="50000"/>
                </a:schemeClr>
              </a:solidFill>
            </a:ln>
          </p:spPr>
        </p:pic>
      </p:grpSp>
    </p:spTree>
    <p:extLst>
      <p:ext uri="{BB962C8B-B14F-4D97-AF65-F5344CB8AC3E}">
        <p14:creationId xmlns:p14="http://schemas.microsoft.com/office/powerpoint/2010/main" val="10637119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Service DNS(1/2)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Service :</a:t>
            </a:r>
          </a:p>
          <a:p>
            <a:pPr lvl="1">
              <a:buFont typeface="Wingdings" panose="05000000000000000000" pitchFamily="2" charset="2"/>
              <a:buChar char="§"/>
            </a:pPr>
            <a:r>
              <a:rPr lang="en-US" altLang="ko-KR" sz="1400" b="1" dirty="0"/>
              <a:t>Because </a:t>
            </a:r>
            <a:r>
              <a:rPr lang="en-US" altLang="ko-KR" sz="1400" b="1" dirty="0">
                <a:solidFill>
                  <a:srgbClr val="FF0000"/>
                </a:solidFill>
              </a:rPr>
              <a:t>the cluster IP is virtual</a:t>
            </a:r>
            <a:r>
              <a:rPr lang="en-US" altLang="ko-KR" sz="1400" b="1" dirty="0"/>
              <a:t>, </a:t>
            </a:r>
            <a:r>
              <a:rPr lang="en-US" altLang="ko-KR" sz="1400" b="1" dirty="0">
                <a:solidFill>
                  <a:srgbClr val="FF0000"/>
                </a:solidFill>
              </a:rPr>
              <a:t>it is stable</a:t>
            </a:r>
            <a:r>
              <a:rPr lang="en-US" altLang="ko-KR" sz="1400" b="1" dirty="0"/>
              <a:t>, and it is appropriate to give it a </a:t>
            </a:r>
            <a:r>
              <a:rPr lang="en-US" altLang="ko-KR" sz="1400" b="1" dirty="0">
                <a:solidFill>
                  <a:srgbClr val="FF0000"/>
                </a:solidFill>
              </a:rPr>
              <a:t>DNS address</a:t>
            </a:r>
            <a:r>
              <a:rPr lang="en-US" altLang="ko-KR" sz="1400" dirty="0"/>
              <a:t>. All of the issues around clients caching DNS results no longer apply. Within a namespace, it is as easy as just </a:t>
            </a:r>
            <a:r>
              <a:rPr lang="en-US" altLang="ko-KR" sz="1400" b="1" dirty="0"/>
              <a:t>using the service name to connect to the Pods identified by a service</a:t>
            </a:r>
            <a:r>
              <a:rPr lang="en-US" altLang="ko-KR" sz="1400" dirty="0"/>
              <a:t>.</a:t>
            </a:r>
          </a:p>
          <a:p>
            <a:pPr lvl="1">
              <a:buFont typeface="Wingdings" panose="05000000000000000000" pitchFamily="2" charset="2"/>
              <a:buChar char="§"/>
            </a:pPr>
            <a:r>
              <a:rPr lang="en-US" altLang="ko-KR" sz="1400" b="1" dirty="0">
                <a:solidFill>
                  <a:srgbClr val="FF0000"/>
                </a:solidFill>
              </a:rPr>
              <a:t>Kubernetes provides a DNS service exposed to Pods running in the cluster</a:t>
            </a:r>
            <a:r>
              <a:rPr lang="en-US" altLang="ko-KR" sz="1400" dirty="0"/>
              <a:t>. </a:t>
            </a:r>
            <a:r>
              <a:rPr lang="en-US" altLang="ko-KR" sz="1400" b="1" dirty="0"/>
              <a:t>This Kubernetes DNS service was installed as a </a:t>
            </a:r>
            <a:r>
              <a:rPr lang="en-US" altLang="ko-KR" sz="1400" b="1" dirty="0">
                <a:solidFill>
                  <a:srgbClr val="FF0000"/>
                </a:solidFill>
              </a:rPr>
              <a:t>system component </a:t>
            </a:r>
            <a:r>
              <a:rPr lang="en-US" altLang="ko-KR" sz="1400" b="1" dirty="0"/>
              <a:t>when the cluster was first created</a:t>
            </a:r>
            <a:r>
              <a:rPr lang="en-US" altLang="ko-KR" sz="1400" dirty="0"/>
              <a:t>. The DNS service is, itself, managed by Kubernetes and is a great example of Kubernetes building on Kubernetes. </a:t>
            </a:r>
            <a:r>
              <a:rPr lang="en-US" altLang="ko-KR" sz="1400" b="1" dirty="0"/>
              <a:t>The Kubernetes DNS service provides DNS names for cluster IPs</a:t>
            </a:r>
            <a:r>
              <a:rPr lang="en-US" altLang="ko-KR" sz="1400" dirty="0"/>
              <a:t>. </a:t>
            </a:r>
          </a:p>
          <a:p>
            <a:pPr lvl="1">
              <a:buFont typeface="Wingdings" panose="05000000000000000000" pitchFamily="2" charset="2"/>
              <a:buChar char="§"/>
            </a:pPr>
            <a:r>
              <a:rPr lang="en-US" altLang="ko-KR" sz="1400" dirty="0"/>
              <a:t>You can try this out by expanding the “</a:t>
            </a:r>
            <a:r>
              <a:rPr lang="en-US" altLang="ko-KR" sz="1400" b="1" dirty="0"/>
              <a:t>DNS Query</a:t>
            </a:r>
            <a:r>
              <a:rPr lang="en-US" altLang="ko-KR" sz="1400" dirty="0"/>
              <a:t>” </a:t>
            </a:r>
            <a:r>
              <a:rPr lang="en-US" altLang="ko-KR" sz="1400" b="1" dirty="0"/>
              <a:t>section on the “</a:t>
            </a:r>
            <a:r>
              <a:rPr lang="en-US" altLang="ko-KR" sz="1400" b="1" dirty="0" err="1"/>
              <a:t>kuard</a:t>
            </a:r>
            <a:r>
              <a:rPr lang="en-US" altLang="ko-KR" sz="1400" b="1" dirty="0"/>
              <a:t>” server status page</a:t>
            </a:r>
            <a:r>
              <a:rPr lang="en-US" altLang="ko-KR" sz="1400" dirty="0"/>
              <a:t>. Query the “</a:t>
            </a:r>
            <a:r>
              <a:rPr lang="en-US" altLang="ko-KR" sz="1400" b="1" dirty="0"/>
              <a:t>A record</a:t>
            </a:r>
            <a:r>
              <a:rPr lang="en-US" altLang="ko-KR" sz="1400" dirty="0"/>
              <a:t>” for “</a:t>
            </a:r>
            <a:r>
              <a:rPr lang="en-US" altLang="ko-KR" sz="1400" b="1" dirty="0"/>
              <a:t>alpaca-prod</a:t>
            </a:r>
            <a:r>
              <a:rPr lang="en-US" altLang="ko-KR" sz="1400" dirty="0"/>
              <a:t>”. The output should look something like this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6" name="그룹 15">
            <a:extLst>
              <a:ext uri="{FF2B5EF4-FFF2-40B4-BE49-F238E27FC236}">
                <a16:creationId xmlns:a16="http://schemas.microsoft.com/office/drawing/2014/main" id="{AD7838F5-229A-42C8-89A2-D73E05C8669C}"/>
              </a:ext>
            </a:extLst>
          </p:cNvPr>
          <p:cNvGrpSpPr/>
          <p:nvPr/>
        </p:nvGrpSpPr>
        <p:grpSpPr>
          <a:xfrm>
            <a:off x="3804956" y="3063249"/>
            <a:ext cx="7548844" cy="3345781"/>
            <a:chOff x="3804956" y="3063249"/>
            <a:chExt cx="7548844" cy="3345781"/>
          </a:xfrm>
        </p:grpSpPr>
        <p:grpSp>
          <p:nvGrpSpPr>
            <p:cNvPr id="11" name="그룹 10">
              <a:extLst>
                <a:ext uri="{FF2B5EF4-FFF2-40B4-BE49-F238E27FC236}">
                  <a16:creationId xmlns:a16="http://schemas.microsoft.com/office/drawing/2014/main" id="{6D1320BB-2900-4EA7-B5A3-E0B8F2BE1FCC}"/>
                </a:ext>
              </a:extLst>
            </p:cNvPr>
            <p:cNvGrpSpPr/>
            <p:nvPr/>
          </p:nvGrpSpPr>
          <p:grpSpPr>
            <a:xfrm>
              <a:off x="3804956" y="3063249"/>
              <a:ext cx="4582088" cy="3345781"/>
              <a:chOff x="3804956" y="3063249"/>
              <a:chExt cx="4582088" cy="3345781"/>
            </a:xfrm>
          </p:grpSpPr>
          <p:pic>
            <p:nvPicPr>
              <p:cNvPr id="4" name="그림 3">
                <a:extLst>
                  <a:ext uri="{FF2B5EF4-FFF2-40B4-BE49-F238E27FC236}">
                    <a16:creationId xmlns:a16="http://schemas.microsoft.com/office/drawing/2014/main" id="{4B045C5A-1EAD-47DD-B544-692897F4570D}"/>
                  </a:ext>
                </a:extLst>
              </p:cNvPr>
              <p:cNvPicPr>
                <a:picLocks noChangeAspect="1"/>
              </p:cNvPicPr>
              <p:nvPr/>
            </p:nvPicPr>
            <p:blipFill>
              <a:blip r:embed="rId2"/>
              <a:stretch>
                <a:fillRect/>
              </a:stretch>
            </p:blipFill>
            <p:spPr>
              <a:xfrm>
                <a:off x="3804956" y="3063249"/>
                <a:ext cx="4582088" cy="3345781"/>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7D13E6FB-CD1C-48E3-B326-5805EDCFF3BB}"/>
                  </a:ext>
                </a:extLst>
              </p:cNvPr>
              <p:cNvSpPr/>
              <p:nvPr/>
            </p:nvSpPr>
            <p:spPr>
              <a:xfrm>
                <a:off x="3812907" y="5217234"/>
                <a:ext cx="623921" cy="18788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3AF7AB74-2ED5-46CF-AE32-101B9A1C9A70}"/>
                  </a:ext>
                </a:extLst>
              </p:cNvPr>
              <p:cNvSpPr/>
              <p:nvPr/>
            </p:nvSpPr>
            <p:spPr>
              <a:xfrm>
                <a:off x="4723075" y="4810539"/>
                <a:ext cx="826935" cy="111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3430A8F5-6248-4267-83C3-7D3581629E39}"/>
                  </a:ext>
                </a:extLst>
              </p:cNvPr>
              <p:cNvSpPr/>
              <p:nvPr/>
            </p:nvSpPr>
            <p:spPr>
              <a:xfrm>
                <a:off x="4595854" y="5025225"/>
                <a:ext cx="286247" cy="111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pic>
          <p:nvPicPr>
            <p:cNvPr id="12" name="그림 11">
              <a:extLst>
                <a:ext uri="{FF2B5EF4-FFF2-40B4-BE49-F238E27FC236}">
                  <a16:creationId xmlns:a16="http://schemas.microsoft.com/office/drawing/2014/main" id="{97A81969-B1D6-46C6-831E-B24E75F6710D}"/>
                </a:ext>
              </a:extLst>
            </p:cNvPr>
            <p:cNvPicPr>
              <a:picLocks noChangeAspect="1"/>
            </p:cNvPicPr>
            <p:nvPr/>
          </p:nvPicPr>
          <p:blipFill>
            <a:blip r:embed="rId3"/>
            <a:stretch>
              <a:fillRect/>
            </a:stretch>
          </p:blipFill>
          <p:spPr>
            <a:xfrm>
              <a:off x="5830625" y="4285837"/>
              <a:ext cx="5523175" cy="1049403"/>
            </a:xfrm>
            <a:prstGeom prst="rect">
              <a:avLst/>
            </a:prstGeom>
            <a:ln>
              <a:solidFill>
                <a:schemeClr val="bg1">
                  <a:lumMod val="50000"/>
                </a:schemeClr>
              </a:solidFill>
            </a:ln>
          </p:spPr>
        </p:pic>
        <p:sp>
          <p:nvSpPr>
            <p:cNvPr id="13" name="직사각형 12">
              <a:extLst>
                <a:ext uri="{FF2B5EF4-FFF2-40B4-BE49-F238E27FC236}">
                  <a16:creationId xmlns:a16="http://schemas.microsoft.com/office/drawing/2014/main" id="{420A5C28-FA61-45F9-8C04-65D40E53F5D9}"/>
                </a:ext>
              </a:extLst>
            </p:cNvPr>
            <p:cNvSpPr/>
            <p:nvPr/>
          </p:nvSpPr>
          <p:spPr>
            <a:xfrm>
              <a:off x="4444779" y="5915770"/>
              <a:ext cx="2464904" cy="21450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5" name="연결선: 꺾임 14">
              <a:extLst>
                <a:ext uri="{FF2B5EF4-FFF2-40B4-BE49-F238E27FC236}">
                  <a16:creationId xmlns:a16="http://schemas.microsoft.com/office/drawing/2014/main" id="{EA2D1BA4-B84D-43BD-9C35-A9D6932E783B}"/>
                </a:ext>
              </a:extLst>
            </p:cNvPr>
            <p:cNvCxnSpPr>
              <a:stCxn id="12" idx="2"/>
              <a:endCxn id="13" idx="3"/>
            </p:cNvCxnSpPr>
            <p:nvPr/>
          </p:nvCxnSpPr>
          <p:spPr>
            <a:xfrm rot="5400000">
              <a:off x="7407056" y="4837867"/>
              <a:ext cx="687785" cy="1682530"/>
            </a:xfrm>
            <a:prstGeom prst="bentConnector2">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직사각형 13">
            <a:extLst>
              <a:ext uri="{FF2B5EF4-FFF2-40B4-BE49-F238E27FC236}">
                <a16:creationId xmlns:a16="http://schemas.microsoft.com/office/drawing/2014/main" id="{67D03F19-B12C-62DC-7D72-BB8472EFED48}"/>
              </a:ext>
            </a:extLst>
          </p:cNvPr>
          <p:cNvSpPr/>
          <p:nvPr/>
        </p:nvSpPr>
        <p:spPr>
          <a:xfrm>
            <a:off x="7186612" y="4781961"/>
            <a:ext cx="666750" cy="1113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926244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Service DNS(2/2)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DNS Service :</a:t>
            </a:r>
          </a:p>
          <a:p>
            <a:pPr lvl="1">
              <a:buFont typeface="Wingdings" panose="05000000000000000000" pitchFamily="2" charset="2"/>
              <a:buChar char="§"/>
            </a:pPr>
            <a:r>
              <a:rPr lang="en-US" altLang="ko-KR" sz="1400" b="1" dirty="0"/>
              <a:t>The full DNS name</a:t>
            </a:r>
            <a:r>
              <a:rPr lang="en-US" altLang="ko-KR" sz="1400" dirty="0"/>
              <a:t> here is “</a:t>
            </a:r>
            <a:r>
              <a:rPr lang="en-US" altLang="ko-KR" sz="1400" b="1" dirty="0"/>
              <a:t>alpaca-</a:t>
            </a:r>
            <a:r>
              <a:rPr lang="en-US" altLang="ko-KR" sz="1400" b="1" dirty="0" err="1"/>
              <a:t>prod.default.svc.cluster.local</a:t>
            </a:r>
            <a:r>
              <a:rPr lang="en-US" altLang="ko-KR" sz="1400" b="1" dirty="0"/>
              <a:t>.</a:t>
            </a:r>
            <a:r>
              <a:rPr lang="en-US" altLang="ko-KR" sz="1400" dirty="0"/>
              <a:t>”.</a:t>
            </a:r>
          </a:p>
          <a:p>
            <a:pPr lvl="2">
              <a:buFont typeface="Wingdings" panose="05000000000000000000" pitchFamily="2" charset="2"/>
              <a:buChar char="§"/>
            </a:pPr>
            <a:r>
              <a:rPr lang="en-US" altLang="ko-KR" sz="1400" b="1" dirty="0"/>
              <a:t>“alpaca-prod”</a:t>
            </a:r>
            <a:r>
              <a:rPr lang="en-US" altLang="ko-KR" sz="1400" dirty="0"/>
              <a:t> - </a:t>
            </a:r>
            <a:r>
              <a:rPr lang="en-US" altLang="ko-KR" sz="1400" b="1" dirty="0"/>
              <a:t>The name of the service in question</a:t>
            </a:r>
            <a:r>
              <a:rPr lang="en-US" altLang="ko-KR" sz="1400" dirty="0"/>
              <a:t>.</a:t>
            </a:r>
          </a:p>
          <a:p>
            <a:pPr lvl="2">
              <a:buFont typeface="Wingdings" panose="05000000000000000000" pitchFamily="2" charset="2"/>
              <a:buChar char="§"/>
            </a:pPr>
            <a:r>
              <a:rPr lang="en-US" altLang="ko-KR" sz="1400" b="1" dirty="0"/>
              <a:t>“default”</a:t>
            </a:r>
            <a:r>
              <a:rPr lang="en-US" altLang="ko-KR" sz="1400" dirty="0"/>
              <a:t> - </a:t>
            </a:r>
            <a:r>
              <a:rPr lang="en-US" altLang="ko-KR" sz="1400" b="1" dirty="0"/>
              <a:t>The namespace that this service is in</a:t>
            </a:r>
            <a:r>
              <a:rPr lang="en-US" altLang="ko-KR" sz="1400" dirty="0"/>
              <a:t>.</a:t>
            </a:r>
          </a:p>
          <a:p>
            <a:pPr lvl="2">
              <a:buFont typeface="Wingdings" panose="05000000000000000000" pitchFamily="2" charset="2"/>
              <a:buChar char="§"/>
            </a:pPr>
            <a:r>
              <a:rPr lang="en-US" altLang="ko-KR" sz="1400" dirty="0"/>
              <a:t>“</a:t>
            </a:r>
            <a:r>
              <a:rPr lang="en-US" altLang="ko-KR" sz="1400" b="1" dirty="0"/>
              <a:t>svc</a:t>
            </a:r>
            <a:r>
              <a:rPr lang="en-US" altLang="ko-KR" sz="1400" dirty="0"/>
              <a:t>” - </a:t>
            </a:r>
            <a:r>
              <a:rPr lang="en-US" altLang="ko-KR" sz="1400" b="1" dirty="0"/>
              <a:t>Recognizing that this is a service</a:t>
            </a:r>
            <a:r>
              <a:rPr lang="en-US" altLang="ko-KR" sz="1400" dirty="0"/>
              <a:t>. </a:t>
            </a:r>
            <a:r>
              <a:rPr lang="en-US" altLang="ko-KR" sz="1400" b="1" dirty="0"/>
              <a:t>This allows Kubernetes to expose other types of things as DNS </a:t>
            </a:r>
            <a:r>
              <a:rPr lang="en-US" altLang="ko-KR" sz="1400" dirty="0"/>
              <a:t>in the future.</a:t>
            </a:r>
          </a:p>
          <a:p>
            <a:pPr lvl="2">
              <a:buFont typeface="Wingdings" panose="05000000000000000000" pitchFamily="2" charset="2"/>
              <a:buChar char="§"/>
            </a:pPr>
            <a:r>
              <a:rPr lang="en-US" altLang="ko-KR" sz="1400" dirty="0"/>
              <a:t>“</a:t>
            </a:r>
            <a:r>
              <a:rPr lang="en-US" altLang="ko-KR" sz="1400" b="1" dirty="0" err="1"/>
              <a:t>cluster.local</a:t>
            </a:r>
            <a:r>
              <a:rPr lang="en-US" altLang="ko-KR" sz="1400" b="1" dirty="0"/>
              <a:t>.</a:t>
            </a:r>
            <a:r>
              <a:rPr lang="en-US" altLang="ko-KR" sz="1400" dirty="0"/>
              <a:t>” - </a:t>
            </a:r>
            <a:r>
              <a:rPr lang="en-US" altLang="ko-KR" sz="1400" b="1" dirty="0"/>
              <a:t>The base domain name for the cluster</a:t>
            </a:r>
            <a:r>
              <a:rPr lang="en-US" altLang="ko-KR" sz="1400" dirty="0"/>
              <a:t>. This is the default and what you will see for most clusters. </a:t>
            </a:r>
            <a:r>
              <a:rPr lang="en-US" altLang="ko-KR" sz="1400" b="1" dirty="0"/>
              <a:t>Administrators may change this to allow unique DNS names across multiple clusters</a:t>
            </a:r>
            <a:r>
              <a:rPr lang="en-US" altLang="ko-KR" sz="1400" dirty="0"/>
              <a:t>.</a:t>
            </a:r>
          </a:p>
          <a:p>
            <a:pPr lvl="1">
              <a:buFont typeface="Wingdings" panose="05000000000000000000" pitchFamily="2" charset="2"/>
              <a:buChar char="§"/>
            </a:pPr>
            <a:r>
              <a:rPr lang="en-US" altLang="ko-KR" sz="1400" b="1" dirty="0"/>
              <a:t>When referring to a service in your own namespace you can just use </a:t>
            </a:r>
            <a:r>
              <a:rPr lang="en-US" altLang="ko-KR" sz="1400" b="1" dirty="0">
                <a:solidFill>
                  <a:srgbClr val="FF0000"/>
                </a:solidFill>
              </a:rPr>
              <a:t>the service name </a:t>
            </a:r>
            <a:r>
              <a:rPr lang="en-US" altLang="ko-KR" sz="1400" b="1" dirty="0"/>
              <a:t>(“alpaca-prod”). </a:t>
            </a:r>
            <a:r>
              <a:rPr lang="en-US" altLang="ko-KR" sz="1400" dirty="0"/>
              <a:t>You can also </a:t>
            </a:r>
            <a:r>
              <a:rPr lang="en-US" altLang="ko-KR" sz="1400" b="1" dirty="0"/>
              <a:t>refer to a service in another namespace with “alpaca-</a:t>
            </a:r>
            <a:r>
              <a:rPr lang="en-US" altLang="ko-KR" sz="1400" b="1" dirty="0" err="1"/>
              <a:t>prod.default</a:t>
            </a:r>
            <a:r>
              <a:rPr lang="en-US" altLang="ko-KR" sz="1400" dirty="0"/>
              <a:t>”. And, of course, you can use </a:t>
            </a:r>
            <a:r>
              <a:rPr lang="en-US" altLang="ko-KR" sz="1400" b="1" dirty="0">
                <a:solidFill>
                  <a:srgbClr val="FF0000"/>
                </a:solidFill>
              </a:rPr>
              <a:t>the fully qualified service name </a:t>
            </a:r>
            <a:r>
              <a:rPr lang="en-US" altLang="ko-KR" sz="1400" dirty="0"/>
              <a:t>(“</a:t>
            </a:r>
            <a:r>
              <a:rPr lang="en-US" altLang="ko-KR" sz="1400" b="1" dirty="0"/>
              <a:t>alpaca-</a:t>
            </a:r>
            <a:r>
              <a:rPr lang="en-US" altLang="ko-KR" sz="1400" b="1" dirty="0" err="1"/>
              <a:t>prod.default.svc.cluster.local</a:t>
            </a:r>
            <a:r>
              <a:rPr lang="en-US" altLang="ko-KR" sz="1400" b="1" dirty="0"/>
              <a:t>.</a:t>
            </a:r>
            <a:r>
              <a:rPr lang="en-US" altLang="ko-KR" sz="1400" dirty="0"/>
              <a:t>”). Try each of these out in the “</a:t>
            </a:r>
            <a:r>
              <a:rPr lang="en-US" altLang="ko-KR" sz="1400" b="1" dirty="0"/>
              <a:t>DNS Query</a:t>
            </a:r>
            <a:r>
              <a:rPr lang="en-US" altLang="ko-KR" sz="1400" dirty="0"/>
              <a:t>” section of “</a:t>
            </a:r>
            <a:r>
              <a:rPr lang="en-US" altLang="ko-KR" sz="1400" b="1" dirty="0" err="1"/>
              <a:t>kuard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96F6AECF-83B4-8C8F-5B04-5224D27A7462}"/>
              </a:ext>
            </a:extLst>
          </p:cNvPr>
          <p:cNvGrpSpPr/>
          <p:nvPr/>
        </p:nvGrpSpPr>
        <p:grpSpPr>
          <a:xfrm>
            <a:off x="3220277" y="3498034"/>
            <a:ext cx="5721656" cy="2957680"/>
            <a:chOff x="3220277" y="3498034"/>
            <a:chExt cx="5721656" cy="2957680"/>
          </a:xfrm>
        </p:grpSpPr>
        <p:grpSp>
          <p:nvGrpSpPr>
            <p:cNvPr id="9" name="그룹 8">
              <a:extLst>
                <a:ext uri="{FF2B5EF4-FFF2-40B4-BE49-F238E27FC236}">
                  <a16:creationId xmlns:a16="http://schemas.microsoft.com/office/drawing/2014/main" id="{D99A1DA4-C06D-4CCB-AD52-4F25EA9429C6}"/>
                </a:ext>
              </a:extLst>
            </p:cNvPr>
            <p:cNvGrpSpPr/>
            <p:nvPr/>
          </p:nvGrpSpPr>
          <p:grpSpPr>
            <a:xfrm>
              <a:off x="3220277" y="3498034"/>
              <a:ext cx="5721656" cy="2957680"/>
              <a:chOff x="3220277" y="3498034"/>
              <a:chExt cx="5721656" cy="2957680"/>
            </a:xfrm>
          </p:grpSpPr>
          <p:pic>
            <p:nvPicPr>
              <p:cNvPr id="4" name="그림 3">
                <a:extLst>
                  <a:ext uri="{FF2B5EF4-FFF2-40B4-BE49-F238E27FC236}">
                    <a16:creationId xmlns:a16="http://schemas.microsoft.com/office/drawing/2014/main" id="{44F18474-939C-4246-970F-CB3A7F53F0DC}"/>
                  </a:ext>
                </a:extLst>
              </p:cNvPr>
              <p:cNvPicPr>
                <a:picLocks noChangeAspect="1"/>
              </p:cNvPicPr>
              <p:nvPr/>
            </p:nvPicPr>
            <p:blipFill>
              <a:blip r:embed="rId2"/>
              <a:stretch>
                <a:fillRect/>
              </a:stretch>
            </p:blipFill>
            <p:spPr>
              <a:xfrm>
                <a:off x="3281871" y="3586038"/>
                <a:ext cx="5628258" cy="2822992"/>
              </a:xfrm>
              <a:prstGeom prst="rect">
                <a:avLst/>
              </a:prstGeom>
            </p:spPr>
          </p:pic>
          <p:sp>
            <p:nvSpPr>
              <p:cNvPr id="8" name="사각형: 둥근 모서리 7">
                <a:extLst>
                  <a:ext uri="{FF2B5EF4-FFF2-40B4-BE49-F238E27FC236}">
                    <a16:creationId xmlns:a16="http://schemas.microsoft.com/office/drawing/2014/main" id="{BB8D45FE-D639-4D89-BB2E-C84603F0DC59}"/>
                  </a:ext>
                </a:extLst>
              </p:cNvPr>
              <p:cNvSpPr/>
              <p:nvPr/>
            </p:nvSpPr>
            <p:spPr>
              <a:xfrm>
                <a:off x="3220277" y="3498034"/>
                <a:ext cx="5721656" cy="2957680"/>
              </a:xfrm>
              <a:prstGeom prst="roundRect">
                <a:avLst>
                  <a:gd name="adj" fmla="val 4475"/>
                </a:avLst>
              </a:prstGeom>
              <a:no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0" name="직사각형 9">
              <a:extLst>
                <a:ext uri="{FF2B5EF4-FFF2-40B4-BE49-F238E27FC236}">
                  <a16:creationId xmlns:a16="http://schemas.microsoft.com/office/drawing/2014/main" id="{5F6D9EA1-20AC-2817-0974-D5F213F0FB35}"/>
                </a:ext>
              </a:extLst>
            </p:cNvPr>
            <p:cNvSpPr/>
            <p:nvPr/>
          </p:nvSpPr>
          <p:spPr>
            <a:xfrm>
              <a:off x="3386667" y="4240107"/>
              <a:ext cx="1679786" cy="36512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59246898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Checks(1/4)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Often, when an application first starts up it isn’t ready to handle requests</a:t>
            </a:r>
            <a:r>
              <a:rPr lang="en-US" altLang="ko-KR" sz="1400" dirty="0"/>
              <a:t>. </a:t>
            </a:r>
            <a:r>
              <a:rPr lang="en-US" altLang="ko-KR" sz="1400" b="1" dirty="0"/>
              <a:t>There is usually some amount of initialization that can take anywhere from under a second to several minutes</a:t>
            </a:r>
            <a:r>
              <a:rPr lang="en-US" altLang="ko-KR" sz="1400" dirty="0"/>
              <a:t>. One nice thing </a:t>
            </a:r>
            <a:r>
              <a:rPr lang="en-US" altLang="ko-KR" sz="1400" b="1" dirty="0">
                <a:solidFill>
                  <a:srgbClr val="FF0000"/>
                </a:solidFill>
              </a:rPr>
              <a:t>the Service object does is track which of your Pods are ready via a readiness check</a:t>
            </a:r>
            <a:r>
              <a:rPr lang="en-US" altLang="ko-KR" sz="1400" b="1" dirty="0"/>
              <a:t>.</a:t>
            </a:r>
            <a:r>
              <a:rPr lang="en-US" altLang="ko-KR" sz="1400" dirty="0"/>
              <a:t> Let’s modify our deployment to </a:t>
            </a:r>
            <a:r>
              <a:rPr lang="en-US" altLang="ko-KR" sz="1400" b="1" dirty="0"/>
              <a:t>add a readiness check</a:t>
            </a:r>
            <a:r>
              <a:rPr lang="en-US" altLang="ko-KR" sz="1400" dirty="0"/>
              <a:t> that is attached to a Pod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This command will fetch the current version of the alpaca-prod Pods and bring it up in an editor</a:t>
            </a:r>
            <a:r>
              <a:rPr lang="en-US" altLang="ko-KR" sz="1400" dirty="0"/>
              <a:t>. After you save and quit your editor, it’ll then </a:t>
            </a:r>
            <a:r>
              <a:rPr lang="en-US" altLang="ko-KR" sz="1400" b="1" dirty="0"/>
              <a:t>write the object back to Kubernetes</a:t>
            </a:r>
            <a:r>
              <a:rPr lang="en-US" altLang="ko-KR" sz="1400" dirty="0"/>
              <a:t>. This is </a:t>
            </a:r>
            <a:r>
              <a:rPr lang="en-US" altLang="ko-KR" sz="1400" b="1" dirty="0"/>
              <a:t>a quick way to edit an object without saving it to a YAML file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03CE211B-D43A-461F-9818-13DDA816AA1E}"/>
              </a:ext>
            </a:extLst>
          </p:cNvPr>
          <p:cNvSpPr/>
          <p:nvPr/>
        </p:nvSpPr>
        <p:spPr>
          <a:xfrm>
            <a:off x="5016217" y="2027785"/>
            <a:ext cx="2159566"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edit pods/alpaca-prod</a:t>
            </a:r>
          </a:p>
        </p:txBody>
      </p:sp>
      <p:pic>
        <p:nvPicPr>
          <p:cNvPr id="8" name="그림 7">
            <a:extLst>
              <a:ext uri="{FF2B5EF4-FFF2-40B4-BE49-F238E27FC236}">
                <a16:creationId xmlns:a16="http://schemas.microsoft.com/office/drawing/2014/main" id="{C7BEEF96-8FDE-4F20-B5D3-A2375E982898}"/>
              </a:ext>
            </a:extLst>
          </p:cNvPr>
          <p:cNvPicPr>
            <a:picLocks noChangeAspect="1"/>
          </p:cNvPicPr>
          <p:nvPr/>
        </p:nvPicPr>
        <p:blipFill>
          <a:blip r:embed="rId2"/>
          <a:stretch>
            <a:fillRect/>
          </a:stretch>
        </p:blipFill>
        <p:spPr>
          <a:xfrm>
            <a:off x="1477783" y="3429000"/>
            <a:ext cx="9236434" cy="2309109"/>
          </a:xfrm>
          <a:prstGeom prst="rect">
            <a:avLst/>
          </a:prstGeom>
          <a:ln>
            <a:solidFill>
              <a:schemeClr val="bg1">
                <a:lumMod val="50000"/>
              </a:schemeClr>
            </a:solidFill>
          </a:ln>
        </p:spPr>
      </p:pic>
    </p:spTree>
    <p:extLst>
      <p:ext uri="{BB962C8B-B14F-4D97-AF65-F5344CB8AC3E}">
        <p14:creationId xmlns:p14="http://schemas.microsoft.com/office/powerpoint/2010/main" val="24910927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Checks(2/4)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Add the following section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sets up the Pods so that </a:t>
            </a:r>
            <a:r>
              <a:rPr lang="en-US" altLang="ko-KR" sz="1400" b="1" dirty="0"/>
              <a:t>they will be checked for readiness via an HTTP GET to /ready on port 8080</a:t>
            </a:r>
            <a:r>
              <a:rPr lang="en-US" altLang="ko-KR" sz="1400" dirty="0"/>
              <a:t>. This </a:t>
            </a:r>
            <a:r>
              <a:rPr lang="en-US" altLang="ko-KR" sz="1400" b="1" dirty="0"/>
              <a:t>check is done every 2 seconds starting </a:t>
            </a:r>
            <a:r>
              <a:rPr lang="en-US" altLang="ko-KR" sz="1400" dirty="0"/>
              <a:t>as soon as the Pod comes up. </a:t>
            </a:r>
            <a:r>
              <a:rPr lang="en-US" altLang="ko-KR" sz="1400" b="1" dirty="0"/>
              <a:t>If three successive checks fail, then the Pod will be considered not ready</a:t>
            </a:r>
            <a:r>
              <a:rPr lang="en-US" altLang="ko-KR" sz="1400" dirty="0"/>
              <a:t>. However, </a:t>
            </a:r>
            <a:r>
              <a:rPr lang="en-US" altLang="ko-KR" sz="1400" b="1" dirty="0"/>
              <a:t>if only one check succeeds, the Pod will again be considered ready</a:t>
            </a:r>
            <a:r>
              <a:rPr lang="en-US" altLang="ko-KR" sz="1400" dirty="0"/>
              <a:t>. </a:t>
            </a:r>
          </a:p>
          <a:p>
            <a:pPr lvl="1">
              <a:buFont typeface="Wingdings" panose="05000000000000000000" pitchFamily="2" charset="2"/>
              <a:buChar char="§"/>
            </a:pPr>
            <a:r>
              <a:rPr lang="en-US" altLang="ko-KR" sz="1400" b="1" dirty="0">
                <a:solidFill>
                  <a:srgbClr val="FF0000"/>
                </a:solidFill>
              </a:rPr>
              <a:t>NOTICE : Only ready Pods are sent traffic</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2" name="그룹 11">
            <a:extLst>
              <a:ext uri="{FF2B5EF4-FFF2-40B4-BE49-F238E27FC236}">
                <a16:creationId xmlns:a16="http://schemas.microsoft.com/office/drawing/2014/main" id="{31F8AE6B-C454-49FC-AA59-534ACC3275BF}"/>
              </a:ext>
            </a:extLst>
          </p:cNvPr>
          <p:cNvGrpSpPr/>
          <p:nvPr/>
        </p:nvGrpSpPr>
        <p:grpSpPr>
          <a:xfrm>
            <a:off x="1616765" y="1559303"/>
            <a:ext cx="9737035" cy="3445839"/>
            <a:chOff x="1616765" y="1424131"/>
            <a:chExt cx="9737035" cy="3445839"/>
          </a:xfrm>
        </p:grpSpPr>
        <p:sp>
          <p:nvSpPr>
            <p:cNvPr id="8" name="직사각형 7">
              <a:extLst>
                <a:ext uri="{FF2B5EF4-FFF2-40B4-BE49-F238E27FC236}">
                  <a16:creationId xmlns:a16="http://schemas.microsoft.com/office/drawing/2014/main" id="{A915F0BF-38EC-482F-9FBB-68B022378942}"/>
                </a:ext>
              </a:extLst>
            </p:cNvPr>
            <p:cNvSpPr/>
            <p:nvPr/>
          </p:nvSpPr>
          <p:spPr>
            <a:xfrm>
              <a:off x="1616765" y="1424131"/>
              <a:ext cx="6096000" cy="2554545"/>
            </a:xfrm>
            <a:prstGeom prst="rect">
              <a:avLst/>
            </a:prstGeom>
            <a:ln>
              <a:solidFill>
                <a:schemeClr val="bg1">
                  <a:lumMod val="50000"/>
                </a:schemeClr>
              </a:solidFill>
            </a:ln>
          </p:spPr>
          <p:txBody>
            <a:bodyPr>
              <a:spAutoFit/>
            </a:bodyPr>
            <a:lstStyle/>
            <a:p>
              <a:r>
                <a:rPr lang="en-US" altLang="ko-KR" sz="1000" b="1" dirty="0"/>
                <a:t>spec:</a:t>
              </a:r>
            </a:p>
            <a:p>
              <a:r>
                <a:rPr lang="en-US" altLang="ko-KR" sz="1000" b="1" dirty="0"/>
                <a:t>  ...</a:t>
              </a:r>
            </a:p>
            <a:p>
              <a:r>
                <a:rPr lang="en-US" altLang="ko-KR" sz="1000" b="1" dirty="0"/>
                <a:t>  template:</a:t>
              </a:r>
            </a:p>
            <a:p>
              <a:r>
                <a:rPr lang="en-US" altLang="ko-KR" sz="1000" b="1" dirty="0"/>
                <a:t>    ...</a:t>
              </a:r>
            </a:p>
            <a:p>
              <a:r>
                <a:rPr lang="en-US" altLang="ko-KR" sz="1000" b="1" dirty="0"/>
                <a:t>    spec:</a:t>
              </a:r>
            </a:p>
            <a:p>
              <a:r>
                <a:rPr lang="en-US" altLang="ko-KR" sz="1000" b="1" dirty="0"/>
                <a:t>      containers:</a:t>
              </a:r>
            </a:p>
            <a:p>
              <a:r>
                <a:rPr lang="en-US" altLang="ko-KR" sz="1000" b="1" dirty="0"/>
                <a:t>        ...</a:t>
              </a:r>
            </a:p>
            <a:p>
              <a:r>
                <a:rPr lang="en-US" altLang="ko-KR" sz="1000" b="1" dirty="0"/>
                <a:t>        name: alpaca-prod</a:t>
              </a:r>
            </a:p>
            <a:p>
              <a:r>
                <a:rPr lang="en-US" altLang="ko-KR" sz="1000" b="1" dirty="0">
                  <a:solidFill>
                    <a:srgbClr val="FF0000"/>
                  </a:solidFill>
                </a:rPr>
                <a:t>        </a:t>
              </a:r>
              <a:r>
                <a:rPr lang="en-US" altLang="ko-KR" sz="1000" b="1" dirty="0" err="1">
                  <a:solidFill>
                    <a:srgbClr val="FF0000"/>
                  </a:solidFill>
                </a:rPr>
                <a:t>readinessProbe</a:t>
              </a:r>
              <a:r>
                <a:rPr lang="en-US" altLang="ko-KR" sz="1000" b="1" dirty="0">
                  <a:solidFill>
                    <a:srgbClr val="FF0000"/>
                  </a:solidFill>
                </a:rPr>
                <a:t>:</a:t>
              </a:r>
            </a:p>
            <a:p>
              <a:r>
                <a:rPr lang="en-US" altLang="ko-KR" sz="1000" b="1" dirty="0">
                  <a:solidFill>
                    <a:srgbClr val="FF0000"/>
                  </a:solidFill>
                </a:rPr>
                <a:t>          </a:t>
              </a:r>
              <a:r>
                <a:rPr lang="en-US" altLang="ko-KR" sz="1000" b="1" dirty="0" err="1">
                  <a:solidFill>
                    <a:srgbClr val="FF0000"/>
                  </a:solidFill>
                </a:rPr>
                <a:t>httpGet</a:t>
              </a:r>
              <a:r>
                <a:rPr lang="en-US" altLang="ko-KR" sz="1000" b="1" dirty="0">
                  <a:solidFill>
                    <a:srgbClr val="FF0000"/>
                  </a:solidFill>
                </a:rPr>
                <a:t>:</a:t>
              </a:r>
            </a:p>
            <a:p>
              <a:r>
                <a:rPr lang="en-US" altLang="ko-KR" sz="1000" b="1" dirty="0">
                  <a:solidFill>
                    <a:srgbClr val="FF0000"/>
                  </a:solidFill>
                </a:rPr>
                <a:t>            path: /ready</a:t>
              </a:r>
            </a:p>
            <a:p>
              <a:r>
                <a:rPr lang="en-US" altLang="ko-KR" sz="1000" b="1" dirty="0">
                  <a:solidFill>
                    <a:srgbClr val="FF0000"/>
                  </a:solidFill>
                </a:rPr>
                <a:t>            port: 8080</a:t>
              </a:r>
            </a:p>
            <a:p>
              <a:r>
                <a:rPr lang="en-US" altLang="ko-KR" sz="1000" b="1" dirty="0">
                  <a:solidFill>
                    <a:srgbClr val="FF0000"/>
                  </a:solidFill>
                </a:rPr>
                <a:t>          </a:t>
              </a:r>
              <a:r>
                <a:rPr lang="en-US" altLang="ko-KR" sz="1000" b="1" dirty="0" err="1">
                  <a:solidFill>
                    <a:srgbClr val="FF0000"/>
                  </a:solidFill>
                </a:rPr>
                <a:t>periodSeconds</a:t>
              </a:r>
              <a:r>
                <a:rPr lang="en-US" altLang="ko-KR" sz="1000" b="1" dirty="0">
                  <a:solidFill>
                    <a:srgbClr val="FF0000"/>
                  </a:solidFill>
                </a:rPr>
                <a:t>: 2</a:t>
              </a:r>
            </a:p>
            <a:p>
              <a:r>
                <a:rPr lang="en-US" altLang="ko-KR" sz="1000" b="1" dirty="0">
                  <a:solidFill>
                    <a:srgbClr val="FF0000"/>
                  </a:solidFill>
                </a:rPr>
                <a:t>          </a:t>
              </a:r>
              <a:r>
                <a:rPr lang="en-US" altLang="ko-KR" sz="1000" b="1" dirty="0" err="1">
                  <a:solidFill>
                    <a:srgbClr val="FF0000"/>
                  </a:solidFill>
                </a:rPr>
                <a:t>initialDelaySeconds</a:t>
              </a:r>
              <a:r>
                <a:rPr lang="en-US" altLang="ko-KR" sz="1000" b="1" dirty="0">
                  <a:solidFill>
                    <a:srgbClr val="FF0000"/>
                  </a:solidFill>
                </a:rPr>
                <a:t>: 0</a:t>
              </a:r>
            </a:p>
            <a:p>
              <a:r>
                <a:rPr lang="en-US" altLang="ko-KR" sz="1000" b="1" dirty="0">
                  <a:solidFill>
                    <a:srgbClr val="FF0000"/>
                  </a:solidFill>
                </a:rPr>
                <a:t>          </a:t>
              </a:r>
              <a:r>
                <a:rPr lang="en-US" altLang="ko-KR" sz="1000" b="1" dirty="0" err="1">
                  <a:solidFill>
                    <a:srgbClr val="FF0000"/>
                  </a:solidFill>
                </a:rPr>
                <a:t>failureThreshold</a:t>
              </a:r>
              <a:r>
                <a:rPr lang="en-US" altLang="ko-KR" sz="1000" b="1" dirty="0">
                  <a:solidFill>
                    <a:srgbClr val="FF0000"/>
                  </a:solidFill>
                </a:rPr>
                <a:t>: 3</a:t>
              </a:r>
            </a:p>
            <a:p>
              <a:r>
                <a:rPr lang="en-US" altLang="ko-KR" sz="1000" b="1" dirty="0">
                  <a:solidFill>
                    <a:srgbClr val="FF0000"/>
                  </a:solidFill>
                </a:rPr>
                <a:t>          </a:t>
              </a:r>
              <a:r>
                <a:rPr lang="en-US" altLang="ko-KR" sz="1000" b="1" dirty="0" err="1">
                  <a:solidFill>
                    <a:srgbClr val="FF0000"/>
                  </a:solidFill>
                </a:rPr>
                <a:t>successThreshold</a:t>
              </a:r>
              <a:r>
                <a:rPr lang="en-US" altLang="ko-KR" sz="1000" b="1" dirty="0">
                  <a:solidFill>
                    <a:srgbClr val="FF0000"/>
                  </a:solidFill>
                </a:rPr>
                <a:t>: 1</a:t>
              </a:r>
              <a:endParaRPr lang="ko-KR" altLang="en-US" sz="1000" b="1" dirty="0">
                <a:solidFill>
                  <a:srgbClr val="FF0000"/>
                </a:solidFill>
              </a:endParaRPr>
            </a:p>
          </p:txBody>
        </p:sp>
        <p:grpSp>
          <p:nvGrpSpPr>
            <p:cNvPr id="11" name="그룹 10">
              <a:extLst>
                <a:ext uri="{FF2B5EF4-FFF2-40B4-BE49-F238E27FC236}">
                  <a16:creationId xmlns:a16="http://schemas.microsoft.com/office/drawing/2014/main" id="{22D464EF-D8EB-4CFC-95FD-0D3BFE11A195}"/>
                </a:ext>
              </a:extLst>
            </p:cNvPr>
            <p:cNvGrpSpPr/>
            <p:nvPr/>
          </p:nvGrpSpPr>
          <p:grpSpPr>
            <a:xfrm>
              <a:off x="3673809" y="1943894"/>
              <a:ext cx="7679991" cy="2926076"/>
              <a:chOff x="3673809" y="1943894"/>
              <a:chExt cx="7679991" cy="2926076"/>
            </a:xfrm>
          </p:grpSpPr>
          <p:pic>
            <p:nvPicPr>
              <p:cNvPr id="9" name="그림 8">
                <a:extLst>
                  <a:ext uri="{FF2B5EF4-FFF2-40B4-BE49-F238E27FC236}">
                    <a16:creationId xmlns:a16="http://schemas.microsoft.com/office/drawing/2014/main" id="{C843E054-4CD4-4CB2-8589-DC66B50F85C5}"/>
                  </a:ext>
                </a:extLst>
              </p:cNvPr>
              <p:cNvPicPr>
                <a:picLocks noChangeAspect="1"/>
              </p:cNvPicPr>
              <p:nvPr/>
            </p:nvPicPr>
            <p:blipFill>
              <a:blip r:embed="rId2"/>
              <a:stretch>
                <a:fillRect/>
              </a:stretch>
            </p:blipFill>
            <p:spPr>
              <a:xfrm>
                <a:off x="3673809" y="1943894"/>
                <a:ext cx="7679991" cy="2926076"/>
              </a:xfrm>
              <a:prstGeom prst="rect">
                <a:avLst/>
              </a:prstGeom>
              <a:ln>
                <a:solidFill>
                  <a:schemeClr val="bg1">
                    <a:lumMod val="50000"/>
                  </a:schemeClr>
                </a:solidFill>
              </a:ln>
            </p:spPr>
          </p:pic>
          <p:sp>
            <p:nvSpPr>
              <p:cNvPr id="10" name="직사각형 9">
                <a:extLst>
                  <a:ext uri="{FF2B5EF4-FFF2-40B4-BE49-F238E27FC236}">
                    <a16:creationId xmlns:a16="http://schemas.microsoft.com/office/drawing/2014/main" id="{3F4DF5C7-A89F-444D-90CE-9FFEB95284EA}"/>
                  </a:ext>
                </a:extLst>
              </p:cNvPr>
              <p:cNvSpPr/>
              <p:nvPr/>
            </p:nvSpPr>
            <p:spPr>
              <a:xfrm>
                <a:off x="4015404" y="2759104"/>
                <a:ext cx="1812897" cy="106547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77151477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Editing Configuration File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Editing :</a:t>
            </a:r>
          </a:p>
          <a:p>
            <a:pPr lvl="1">
              <a:buFont typeface="Wingdings" panose="05000000000000000000" pitchFamily="2" charset="2"/>
              <a:buChar char="§"/>
            </a:pPr>
            <a:r>
              <a:rPr lang="en-US" altLang="ko-KR" sz="1400" b="1" dirty="0">
                <a:solidFill>
                  <a:prstClr val="black"/>
                </a:solidFill>
              </a:rPr>
              <a:t>NOTE</a:t>
            </a:r>
            <a:r>
              <a:rPr lang="en-US" altLang="ko-KR" sz="1400" dirty="0">
                <a:solidFill>
                  <a:prstClr val="black"/>
                </a:solidFill>
              </a:rPr>
              <a:t> : For more information about “</a:t>
            </a:r>
            <a:r>
              <a:rPr lang="en-US" altLang="ko-KR" sz="1400" b="1" dirty="0" err="1">
                <a:solidFill>
                  <a:prstClr val="black"/>
                </a:solidFill>
              </a:rPr>
              <a:t>kubectl</a:t>
            </a:r>
            <a:r>
              <a:rPr lang="en-US" altLang="ko-KR" sz="1400" b="1" dirty="0">
                <a:solidFill>
                  <a:prstClr val="black"/>
                </a:solidFill>
              </a:rPr>
              <a:t> edit</a:t>
            </a:r>
            <a:r>
              <a:rPr lang="en-US" altLang="ko-KR" sz="1400" dirty="0">
                <a:solidFill>
                  <a:prstClr val="black"/>
                </a:solidFill>
              </a:rPr>
              <a:t>” command, refer to </a:t>
            </a:r>
            <a:r>
              <a:rPr lang="en-US" altLang="ko-KR" sz="1400" b="1" dirty="0">
                <a:solidFill>
                  <a:prstClr val="black"/>
                </a:solidFill>
                <a:hlinkClick r:id="rId2"/>
              </a:rPr>
              <a:t>https://kubernetes.io/ko/docs/concepts/cluster-administration/manage-deployment/</a:t>
            </a:r>
            <a:r>
              <a:rPr lang="en-US" altLang="ko-KR" sz="1400" dirty="0">
                <a:solidFill>
                  <a:prstClr val="black"/>
                </a:solidFill>
              </a:rPr>
              <a:t>.  </a:t>
            </a:r>
          </a:p>
          <a:p>
            <a:pPr lvl="1">
              <a:buFont typeface="Wingdings" panose="05000000000000000000" pitchFamily="2" charset="2"/>
              <a:buChar char="§"/>
            </a:pPr>
            <a:r>
              <a:rPr lang="en-US" altLang="ko-KR" sz="1400" b="1" dirty="0"/>
              <a:t>You can use the following commands to re-configure the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99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C07EE6B-B305-4C31-AF09-3D98B998B661}"/>
              </a:ext>
            </a:extLst>
          </p:cNvPr>
          <p:cNvGrpSpPr/>
          <p:nvPr/>
        </p:nvGrpSpPr>
        <p:grpSpPr>
          <a:xfrm>
            <a:off x="1333500" y="1977312"/>
            <a:ext cx="9525000" cy="3537908"/>
            <a:chOff x="1333499" y="1969361"/>
            <a:chExt cx="9525000" cy="3537908"/>
          </a:xfrm>
        </p:grpSpPr>
        <p:sp>
          <p:nvSpPr>
            <p:cNvPr id="8" name="직사각형 7">
              <a:extLst>
                <a:ext uri="{FF2B5EF4-FFF2-40B4-BE49-F238E27FC236}">
                  <a16:creationId xmlns:a16="http://schemas.microsoft.com/office/drawing/2014/main" id="{8FBFEFF0-3D2E-41B8-8D45-46D1ACEEBB87}"/>
                </a:ext>
              </a:extLst>
            </p:cNvPr>
            <p:cNvSpPr/>
            <p:nvPr/>
          </p:nvSpPr>
          <p:spPr>
            <a:xfrm>
              <a:off x="3048000" y="1969361"/>
              <a:ext cx="6096000" cy="1015663"/>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a:t>
              </a:r>
              <a:r>
                <a:rPr lang="en-US" altLang="ko-KR" sz="1000" b="1" dirty="0">
                  <a:solidFill>
                    <a:srgbClr val="FF0000"/>
                  </a:solidFill>
                </a:rPr>
                <a:t>pods/alpaca-prod </a:t>
              </a:r>
              <a:r>
                <a:rPr lang="en-US" altLang="ko-KR" sz="1000" b="1" dirty="0"/>
                <a:t>-o </a:t>
              </a:r>
              <a:r>
                <a:rPr lang="en-US" altLang="ko-KR" sz="1000" b="1" dirty="0" err="1"/>
                <a:t>yaml</a:t>
              </a:r>
              <a:r>
                <a:rPr lang="en-US" altLang="ko-KR" sz="1000" b="1" dirty="0"/>
                <a:t> &gt; </a:t>
              </a:r>
              <a:r>
                <a:rPr lang="en-US" altLang="ko-KR" sz="1000" b="1" dirty="0">
                  <a:solidFill>
                    <a:srgbClr val="FF0000"/>
                  </a:solidFill>
                </a:rPr>
                <a:t>./kuard-shkwon-amd64.yaml</a:t>
              </a:r>
            </a:p>
            <a:p>
              <a:r>
                <a:rPr lang="en-US" altLang="ko-KR" sz="1000" b="1" dirty="0"/>
                <a:t>$ vi </a:t>
              </a:r>
              <a:r>
                <a:rPr lang="en-US" altLang="ko-KR" sz="1000" b="1" dirty="0">
                  <a:solidFill>
                    <a:srgbClr val="FF0000"/>
                  </a:solidFill>
                </a:rPr>
                <a:t>kuard-shkwon-amd64.yaml</a:t>
              </a:r>
            </a:p>
            <a:p>
              <a:r>
                <a:rPr lang="en-US" altLang="ko-KR" sz="1000" b="1" dirty="0"/>
                <a:t># After done editing, save the file. with “:</a:t>
              </a:r>
              <a:r>
                <a:rPr lang="en-US" altLang="ko-KR" sz="1000" b="1" dirty="0" err="1"/>
                <a:t>wq</a:t>
              </a:r>
              <a:r>
                <a:rPr lang="en-US" altLang="ko-KR" sz="1000" b="1" dirty="0"/>
                <a:t>” command in “vi”</a:t>
              </a:r>
            </a:p>
            <a:p>
              <a:endParaRPr lang="en-US" altLang="ko-KR" sz="1000" b="1" dirty="0"/>
            </a:p>
            <a:p>
              <a:r>
                <a:rPr lang="en-US" altLang="ko-KR" sz="1000" b="1" dirty="0"/>
                <a:t>$ </a:t>
              </a:r>
              <a:r>
                <a:rPr lang="en-US" altLang="ko-KR" sz="1000" b="1" dirty="0" err="1"/>
                <a:t>kubectl</a:t>
              </a:r>
              <a:r>
                <a:rPr lang="en-US" altLang="ko-KR" sz="1000" b="1" dirty="0"/>
                <a:t> apply -f </a:t>
              </a:r>
              <a:r>
                <a:rPr lang="en-US" altLang="ko-KR" sz="1000" b="1" dirty="0">
                  <a:solidFill>
                    <a:srgbClr val="FF0000"/>
                  </a:solidFill>
                </a:rPr>
                <a:t>kuard-shkwon-amd64.yaml</a:t>
              </a:r>
            </a:p>
            <a:p>
              <a:r>
                <a:rPr lang="en-US" altLang="ko-KR" sz="1000" b="1" dirty="0"/>
                <a:t>$ rm </a:t>
              </a:r>
              <a:r>
                <a:rPr lang="en-US" altLang="ko-KR" sz="1000" b="1" dirty="0">
                  <a:solidFill>
                    <a:srgbClr val="FF0000"/>
                  </a:solidFill>
                </a:rPr>
                <a:t>./kuard-shkwon-amd64.yaml</a:t>
              </a:r>
              <a:endParaRPr lang="ko-KR" altLang="en-US" sz="1000" b="1" dirty="0"/>
            </a:p>
          </p:txBody>
        </p:sp>
        <p:pic>
          <p:nvPicPr>
            <p:cNvPr id="9" name="그림 8">
              <a:extLst>
                <a:ext uri="{FF2B5EF4-FFF2-40B4-BE49-F238E27FC236}">
                  <a16:creationId xmlns:a16="http://schemas.microsoft.com/office/drawing/2014/main" id="{1358013D-B0B2-4FB0-A281-F20FA66C01AB}"/>
                </a:ext>
              </a:extLst>
            </p:cNvPr>
            <p:cNvPicPr>
              <a:picLocks noChangeAspect="1"/>
            </p:cNvPicPr>
            <p:nvPr/>
          </p:nvPicPr>
          <p:blipFill>
            <a:blip r:embed="rId3"/>
            <a:stretch>
              <a:fillRect/>
            </a:stretch>
          </p:blipFill>
          <p:spPr>
            <a:xfrm>
              <a:off x="1333499" y="3297469"/>
              <a:ext cx="9525000" cy="2209800"/>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B534E79D-3E39-46BA-97AB-564E6278D89C}"/>
                </a:ext>
              </a:extLst>
            </p:cNvPr>
            <p:cNvSpPr/>
            <p:nvPr/>
          </p:nvSpPr>
          <p:spPr>
            <a:xfrm>
              <a:off x="5873363" y="3007205"/>
              <a:ext cx="445273" cy="268083"/>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4931106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Checks(3/4)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solidFill>
                  <a:srgbClr val="FF0000"/>
                </a:solidFill>
              </a:rPr>
              <a:t>Updating the Pods definition will delete and recreate the alpaca Pods</a:t>
            </a:r>
            <a:r>
              <a:rPr lang="en-US" altLang="ko-KR" sz="1400" dirty="0"/>
              <a:t>. As such, we </a:t>
            </a:r>
            <a:r>
              <a:rPr lang="en-US" altLang="ko-KR" sz="1400" b="1" dirty="0"/>
              <a:t>need to restart our port-forward command from earlier</a:t>
            </a:r>
            <a:r>
              <a:rPr lang="en-US" altLang="ko-KR" sz="1400" dirty="0"/>
              <a:t>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Point your browser to </a:t>
            </a:r>
            <a:r>
              <a:rPr lang="en-US" altLang="ko-KR" sz="1400" b="1" dirty="0">
                <a:hlinkClick r:id="rId2"/>
              </a:rPr>
              <a:t>http://localhost:48858</a:t>
            </a:r>
            <a:r>
              <a:rPr lang="en-US" altLang="ko-KR" sz="1400" b="1" dirty="0"/>
              <a:t> </a:t>
            </a:r>
            <a:r>
              <a:rPr lang="en-US" altLang="ko-KR" sz="1400" dirty="0"/>
              <a:t>and you should see the </a:t>
            </a:r>
            <a:r>
              <a:rPr lang="en-US" altLang="ko-KR" sz="1400" b="1" dirty="0"/>
              <a:t>debug page </a:t>
            </a:r>
            <a:r>
              <a:rPr lang="en-US" altLang="ko-KR" sz="1400" dirty="0"/>
              <a:t>for that instance of “</a:t>
            </a:r>
            <a:r>
              <a:rPr lang="en-US" altLang="ko-KR" sz="1400" b="1" dirty="0" err="1"/>
              <a:t>kuard</a:t>
            </a:r>
            <a:r>
              <a:rPr lang="en-US" altLang="ko-KR" sz="1400" dirty="0"/>
              <a:t>”. Expand the “</a:t>
            </a:r>
            <a:r>
              <a:rPr lang="en-US" altLang="ko-KR" sz="1400" b="1" dirty="0"/>
              <a:t>Readiness Probe</a:t>
            </a:r>
            <a:r>
              <a:rPr lang="en-US" altLang="ko-KR" sz="1400" dirty="0"/>
              <a:t>” section. You should see this page update every time there is </a:t>
            </a:r>
            <a:r>
              <a:rPr lang="en-US" altLang="ko-KR" sz="1400" b="1" dirty="0"/>
              <a:t>a new readiness check from the system, which should happen every 2 seconds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7BA1851-201A-4D03-BFC9-A0AC7298E31F}"/>
              </a:ext>
            </a:extLst>
          </p:cNvPr>
          <p:cNvSpPr/>
          <p:nvPr/>
        </p:nvSpPr>
        <p:spPr>
          <a:xfrm>
            <a:off x="3048000" y="1623564"/>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app=alpaca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solidFill>
                  <a:srgbClr val="FF0000"/>
                </a:solidFill>
              </a:rPr>
              <a:t> port-forward $ALPACA_POD 48858:8080</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82C4F3E2-AA1B-4945-8869-E5914AD9B14E}"/>
              </a:ext>
            </a:extLst>
          </p:cNvPr>
          <p:cNvPicPr>
            <a:picLocks noChangeAspect="1"/>
          </p:cNvPicPr>
          <p:nvPr/>
        </p:nvPicPr>
        <p:blipFill>
          <a:blip r:embed="rId3"/>
          <a:stretch>
            <a:fillRect/>
          </a:stretch>
        </p:blipFill>
        <p:spPr>
          <a:xfrm>
            <a:off x="1587775" y="3083880"/>
            <a:ext cx="8099397" cy="1879060"/>
          </a:xfrm>
          <a:prstGeom prst="rect">
            <a:avLst/>
          </a:prstGeom>
          <a:ln>
            <a:solidFill>
              <a:schemeClr val="bg1">
                <a:lumMod val="50000"/>
              </a:schemeClr>
            </a:solidFill>
          </a:ln>
        </p:spPr>
      </p:pic>
      <p:grpSp>
        <p:nvGrpSpPr>
          <p:cNvPr id="11" name="그룹 10">
            <a:extLst>
              <a:ext uri="{FF2B5EF4-FFF2-40B4-BE49-F238E27FC236}">
                <a16:creationId xmlns:a16="http://schemas.microsoft.com/office/drawing/2014/main" id="{4CC5394C-5183-45ED-B96A-B5267B0137ED}"/>
              </a:ext>
            </a:extLst>
          </p:cNvPr>
          <p:cNvGrpSpPr/>
          <p:nvPr/>
        </p:nvGrpSpPr>
        <p:grpSpPr>
          <a:xfrm>
            <a:off x="6615485" y="4110824"/>
            <a:ext cx="4738315" cy="2298206"/>
            <a:chOff x="6615485" y="4110824"/>
            <a:chExt cx="4738315" cy="2298206"/>
          </a:xfrm>
        </p:grpSpPr>
        <p:pic>
          <p:nvPicPr>
            <p:cNvPr id="9" name="그림 8">
              <a:extLst>
                <a:ext uri="{FF2B5EF4-FFF2-40B4-BE49-F238E27FC236}">
                  <a16:creationId xmlns:a16="http://schemas.microsoft.com/office/drawing/2014/main" id="{0744534A-17A4-40D6-8C59-82EAE9BD8CE4}"/>
                </a:ext>
              </a:extLst>
            </p:cNvPr>
            <p:cNvPicPr>
              <a:picLocks noChangeAspect="1"/>
            </p:cNvPicPr>
            <p:nvPr/>
          </p:nvPicPr>
          <p:blipFill>
            <a:blip r:embed="rId4"/>
            <a:stretch>
              <a:fillRect/>
            </a:stretch>
          </p:blipFill>
          <p:spPr>
            <a:xfrm>
              <a:off x="6896311" y="4110824"/>
              <a:ext cx="4457489" cy="2298206"/>
            </a:xfrm>
            <a:prstGeom prst="rect">
              <a:avLst/>
            </a:prstGeom>
            <a:ln>
              <a:solidFill>
                <a:schemeClr val="bg1">
                  <a:lumMod val="50000"/>
                </a:schemeClr>
              </a:solidFill>
            </a:ln>
          </p:spPr>
        </p:pic>
        <p:sp>
          <p:nvSpPr>
            <p:cNvPr id="10" name="화살표: 오른쪽 9">
              <a:extLst>
                <a:ext uri="{FF2B5EF4-FFF2-40B4-BE49-F238E27FC236}">
                  <a16:creationId xmlns:a16="http://schemas.microsoft.com/office/drawing/2014/main" id="{6BBA1474-1209-4D29-9BD3-113158E238C1}"/>
                </a:ext>
              </a:extLst>
            </p:cNvPr>
            <p:cNvSpPr/>
            <p:nvPr/>
          </p:nvSpPr>
          <p:spPr>
            <a:xfrm>
              <a:off x="6615485" y="5100900"/>
              <a:ext cx="280826" cy="318053"/>
            </a:xfrm>
            <a:prstGeom prst="righ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89072479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Readiness Checks(4/4)</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Updating Service Readiness :</a:t>
            </a:r>
          </a:p>
          <a:p>
            <a:pPr lvl="1">
              <a:buFont typeface="Wingdings" panose="05000000000000000000" pitchFamily="2" charset="2"/>
              <a:buChar char="§"/>
            </a:pPr>
            <a:r>
              <a:rPr lang="en-US" altLang="ko-KR" sz="1400" b="1" dirty="0"/>
              <a:t>In another terminal window, start a </a:t>
            </a:r>
            <a:r>
              <a:rPr lang="en-US" altLang="ko-KR" sz="1400" b="1" dirty="0">
                <a:solidFill>
                  <a:srgbClr val="FF0000"/>
                </a:solidFill>
              </a:rPr>
              <a:t>watch</a:t>
            </a:r>
            <a:r>
              <a:rPr lang="en-US" altLang="ko-KR" sz="1400" b="1" dirty="0"/>
              <a:t> command on the endpoints for the “alpaca-prod” service</a:t>
            </a:r>
            <a:r>
              <a:rPr lang="en-US" altLang="ko-KR" sz="1400" dirty="0"/>
              <a:t>. </a:t>
            </a:r>
            <a:r>
              <a:rPr lang="en-US" altLang="ko-KR" sz="1400" b="1" dirty="0">
                <a:solidFill>
                  <a:srgbClr val="FF0000"/>
                </a:solidFill>
              </a:rPr>
              <a:t>Endpoints</a:t>
            </a:r>
            <a:r>
              <a:rPr lang="en-US" altLang="ko-KR" sz="1400" b="1" dirty="0"/>
              <a:t> are a lower-level way of finding what a service is sending traffic to</a:t>
            </a:r>
            <a:r>
              <a:rPr lang="en-US" altLang="ko-KR" sz="1400" dirty="0"/>
              <a:t>. The “</a:t>
            </a:r>
            <a:r>
              <a:rPr lang="en-US" altLang="ko-KR" sz="1400" b="1" dirty="0">
                <a:solidFill>
                  <a:srgbClr val="FF0000"/>
                </a:solidFill>
              </a:rPr>
              <a:t>--watch</a:t>
            </a:r>
            <a:r>
              <a:rPr lang="en-US" altLang="ko-KR" sz="1400" dirty="0"/>
              <a:t>” option here causes the “</a:t>
            </a:r>
            <a:r>
              <a:rPr lang="en-US" altLang="ko-KR" sz="1400" b="1" dirty="0" err="1"/>
              <a:t>kubectl</a:t>
            </a:r>
            <a:r>
              <a:rPr lang="en-US" altLang="ko-KR" sz="1400" dirty="0"/>
              <a:t>” command to hang around and output any updates. </a:t>
            </a:r>
            <a:r>
              <a:rPr lang="en-US" altLang="ko-KR" sz="1400" b="1" dirty="0"/>
              <a:t>This is an easy way to see how a Kubernetes object changes over time </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go back to your browser and hit the “</a:t>
            </a:r>
            <a:r>
              <a:rPr lang="en-US" altLang="ko-KR" sz="1400" b="1" dirty="0">
                <a:solidFill>
                  <a:srgbClr val="FF0000"/>
                </a:solidFill>
              </a:rPr>
              <a:t>Fail</a:t>
            </a:r>
            <a:r>
              <a:rPr lang="en-US" altLang="ko-KR" sz="1400" b="1" dirty="0"/>
              <a:t>” link for the readiness check</a:t>
            </a:r>
            <a:r>
              <a:rPr lang="en-US" altLang="ko-KR" sz="1400" dirty="0"/>
              <a:t>. </a:t>
            </a:r>
            <a:r>
              <a:rPr lang="en-US" altLang="ko-KR" sz="1400" b="1" dirty="0"/>
              <a:t>You should see that the server is now returning 500s</a:t>
            </a:r>
            <a:r>
              <a:rPr lang="en-US" altLang="ko-KR" sz="1400" dirty="0"/>
              <a:t>. </a:t>
            </a:r>
            <a:r>
              <a:rPr lang="en-US" altLang="ko-KR" sz="1400" b="1" dirty="0"/>
              <a:t>After three of these, this server is removed from the list of endpoints for the service</a:t>
            </a:r>
            <a:r>
              <a:rPr lang="en-US" altLang="ko-KR" sz="1400" dirty="0"/>
              <a:t>. </a:t>
            </a:r>
            <a:r>
              <a:rPr lang="en-US" altLang="ko-KR" sz="1400" b="1" dirty="0"/>
              <a:t>Hit the “</a:t>
            </a:r>
            <a:r>
              <a:rPr lang="en-US" altLang="ko-KR" sz="1400" b="1" dirty="0">
                <a:solidFill>
                  <a:srgbClr val="FF0000"/>
                </a:solidFill>
              </a:rPr>
              <a:t>Succeed</a:t>
            </a:r>
            <a:r>
              <a:rPr lang="en-US" altLang="ko-KR" sz="1400" b="1" dirty="0"/>
              <a:t>” link and notice that after a single readiness check the endpoint is added back</a:t>
            </a:r>
            <a:r>
              <a:rPr lang="en-US" altLang="ko-KR" sz="1400" dirty="0"/>
              <a:t>. </a:t>
            </a:r>
          </a:p>
          <a:p>
            <a:pPr lvl="1">
              <a:buFont typeface="Wingdings" panose="05000000000000000000" pitchFamily="2" charset="2"/>
              <a:buChar char="§"/>
            </a:pPr>
            <a:r>
              <a:rPr lang="en-US" altLang="ko-KR" sz="1400" b="1" dirty="0"/>
              <a:t>This </a:t>
            </a:r>
            <a:r>
              <a:rPr lang="en-US" altLang="ko-KR" sz="1400" b="1" dirty="0">
                <a:solidFill>
                  <a:srgbClr val="FF0000"/>
                </a:solidFill>
              </a:rPr>
              <a:t>readiness check </a:t>
            </a:r>
            <a:r>
              <a:rPr lang="en-US" altLang="ko-KR" sz="1400" b="1" dirty="0"/>
              <a:t>is </a:t>
            </a:r>
            <a:r>
              <a:rPr lang="en-US" altLang="ko-KR" sz="1400" b="1" dirty="0">
                <a:solidFill>
                  <a:srgbClr val="FF0000"/>
                </a:solidFill>
              </a:rPr>
              <a:t>a way for an overloaded or sick server to signal to the system </a:t>
            </a:r>
            <a:r>
              <a:rPr lang="en-US" altLang="ko-KR" sz="1400" b="1" dirty="0"/>
              <a:t>that it doesn’t want to receive traffic anymore</a:t>
            </a:r>
            <a:r>
              <a:rPr lang="en-US" altLang="ko-KR" sz="1400" dirty="0"/>
              <a:t>. </a:t>
            </a:r>
            <a:r>
              <a:rPr lang="en-US" altLang="ko-KR" sz="1400" b="1" dirty="0"/>
              <a:t>This is a great way to implement “</a:t>
            </a:r>
            <a:r>
              <a:rPr lang="en-US" altLang="ko-KR" sz="1400" b="1" dirty="0">
                <a:solidFill>
                  <a:srgbClr val="FF0000"/>
                </a:solidFill>
              </a:rPr>
              <a:t>graceful shutdown</a:t>
            </a:r>
            <a:r>
              <a:rPr lang="en-US" altLang="ko-KR" sz="1400" b="1" dirty="0"/>
              <a:t>”</a:t>
            </a:r>
            <a:r>
              <a:rPr lang="en-US" altLang="ko-KR" sz="1400" dirty="0"/>
              <a:t>. The server can signal that it no longer wants traffic, wait until existing connections are closed, and then cleanly exit. </a:t>
            </a:r>
          </a:p>
          <a:p>
            <a:pPr lvl="1">
              <a:buFont typeface="Wingdings" panose="05000000000000000000" pitchFamily="2" charset="2"/>
              <a:buChar char="§"/>
            </a:pPr>
            <a:r>
              <a:rPr lang="en-US" altLang="ko-KR" sz="1400" b="1" dirty="0"/>
              <a:t>Press “</a:t>
            </a:r>
            <a:r>
              <a:rPr lang="en-US" altLang="ko-KR" sz="1400" b="1" dirty="0">
                <a:solidFill>
                  <a:srgbClr val="FF0000"/>
                </a:solidFill>
              </a:rPr>
              <a:t>Ctrl-C</a:t>
            </a:r>
            <a:r>
              <a:rPr lang="en-US" altLang="ko-KR" sz="1400" b="1" dirty="0"/>
              <a:t>” to exit out of both the port-forward and watch commands in your terminals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12" name="직사각형 11">
            <a:extLst>
              <a:ext uri="{FF2B5EF4-FFF2-40B4-BE49-F238E27FC236}">
                <a16:creationId xmlns:a16="http://schemas.microsoft.com/office/drawing/2014/main" id="{CABEFA39-BF59-40C0-88BD-20F9F0E75482}"/>
              </a:ext>
            </a:extLst>
          </p:cNvPr>
          <p:cNvSpPr/>
          <p:nvPr/>
        </p:nvSpPr>
        <p:spPr>
          <a:xfrm>
            <a:off x="4626687" y="2003930"/>
            <a:ext cx="29386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a:t>
            </a:r>
            <a:r>
              <a:rPr lang="en-US" altLang="ko-KR" sz="1000" b="1" dirty="0">
                <a:solidFill>
                  <a:srgbClr val="FF0000"/>
                </a:solidFill>
              </a:rPr>
              <a:t>endpoints</a:t>
            </a:r>
            <a:r>
              <a:rPr lang="en-US" altLang="ko-KR" sz="1000" b="1" dirty="0"/>
              <a:t> alpaca-prod </a:t>
            </a:r>
            <a:r>
              <a:rPr lang="en-US" altLang="ko-KR" sz="1000" b="1" dirty="0">
                <a:solidFill>
                  <a:srgbClr val="FF0000"/>
                </a:solidFill>
              </a:rPr>
              <a:t>--watch</a:t>
            </a:r>
            <a:endParaRPr lang="ko-KR" altLang="en-US" sz="1000" b="1" dirty="0">
              <a:solidFill>
                <a:srgbClr val="FF0000"/>
              </a:solidFill>
            </a:endParaRPr>
          </a:p>
        </p:txBody>
      </p:sp>
      <p:grpSp>
        <p:nvGrpSpPr>
          <p:cNvPr id="18" name="그룹 17">
            <a:extLst>
              <a:ext uri="{FF2B5EF4-FFF2-40B4-BE49-F238E27FC236}">
                <a16:creationId xmlns:a16="http://schemas.microsoft.com/office/drawing/2014/main" id="{3171012F-1569-492C-8482-91B1483615DD}"/>
              </a:ext>
            </a:extLst>
          </p:cNvPr>
          <p:cNvGrpSpPr/>
          <p:nvPr/>
        </p:nvGrpSpPr>
        <p:grpSpPr>
          <a:xfrm>
            <a:off x="1639045" y="4126727"/>
            <a:ext cx="8913911" cy="2282303"/>
            <a:chOff x="2439889" y="4126727"/>
            <a:chExt cx="8913911" cy="2282303"/>
          </a:xfrm>
        </p:grpSpPr>
        <p:pic>
          <p:nvPicPr>
            <p:cNvPr id="14" name="그림 13">
              <a:extLst>
                <a:ext uri="{FF2B5EF4-FFF2-40B4-BE49-F238E27FC236}">
                  <a16:creationId xmlns:a16="http://schemas.microsoft.com/office/drawing/2014/main" id="{50E7D423-A583-405E-A275-C10C7DC86923}"/>
                </a:ext>
              </a:extLst>
            </p:cNvPr>
            <p:cNvPicPr>
              <a:picLocks noChangeAspect="1"/>
            </p:cNvPicPr>
            <p:nvPr/>
          </p:nvPicPr>
          <p:blipFill>
            <a:blip r:embed="rId2"/>
            <a:stretch>
              <a:fillRect/>
            </a:stretch>
          </p:blipFill>
          <p:spPr>
            <a:xfrm>
              <a:off x="2439889" y="4126727"/>
              <a:ext cx="7312219" cy="1828055"/>
            </a:xfrm>
            <a:prstGeom prst="rect">
              <a:avLst/>
            </a:prstGeom>
          </p:spPr>
        </p:pic>
        <p:grpSp>
          <p:nvGrpSpPr>
            <p:cNvPr id="17" name="그룹 16">
              <a:extLst>
                <a:ext uri="{FF2B5EF4-FFF2-40B4-BE49-F238E27FC236}">
                  <a16:creationId xmlns:a16="http://schemas.microsoft.com/office/drawing/2014/main" id="{3F50B96D-230A-408B-9323-A808A2CEA5FB}"/>
                </a:ext>
              </a:extLst>
            </p:cNvPr>
            <p:cNvGrpSpPr/>
            <p:nvPr/>
          </p:nvGrpSpPr>
          <p:grpSpPr>
            <a:xfrm>
              <a:off x="6591631" y="4126727"/>
              <a:ext cx="4762169" cy="2282303"/>
              <a:chOff x="6591631" y="4126727"/>
              <a:chExt cx="4762169" cy="2282303"/>
            </a:xfrm>
          </p:grpSpPr>
          <p:pic>
            <p:nvPicPr>
              <p:cNvPr id="13" name="그림 12">
                <a:extLst>
                  <a:ext uri="{FF2B5EF4-FFF2-40B4-BE49-F238E27FC236}">
                    <a16:creationId xmlns:a16="http://schemas.microsoft.com/office/drawing/2014/main" id="{36238352-179E-4618-BFE0-AA054F970A2F}"/>
                  </a:ext>
                </a:extLst>
              </p:cNvPr>
              <p:cNvPicPr>
                <a:picLocks noChangeAspect="1"/>
              </p:cNvPicPr>
              <p:nvPr/>
            </p:nvPicPr>
            <p:blipFill>
              <a:blip r:embed="rId3"/>
              <a:stretch>
                <a:fillRect/>
              </a:stretch>
            </p:blipFill>
            <p:spPr>
              <a:xfrm>
                <a:off x="6927157" y="4126727"/>
                <a:ext cx="4426643" cy="2282303"/>
              </a:xfrm>
              <a:prstGeom prst="rect">
                <a:avLst/>
              </a:prstGeom>
              <a:ln>
                <a:solidFill>
                  <a:schemeClr val="bg1">
                    <a:lumMod val="50000"/>
                  </a:schemeClr>
                </a:solidFill>
              </a:ln>
            </p:spPr>
          </p:pic>
          <p:sp>
            <p:nvSpPr>
              <p:cNvPr id="15" name="화살표: 왼쪽 14">
                <a:extLst>
                  <a:ext uri="{FF2B5EF4-FFF2-40B4-BE49-F238E27FC236}">
                    <a16:creationId xmlns:a16="http://schemas.microsoft.com/office/drawing/2014/main" id="{E7832758-C3C0-47E9-B938-A73709C561D9}"/>
                  </a:ext>
                </a:extLst>
              </p:cNvPr>
              <p:cNvSpPr/>
              <p:nvPr/>
            </p:nvSpPr>
            <p:spPr>
              <a:xfrm>
                <a:off x="6591631" y="5164511"/>
                <a:ext cx="335526" cy="334594"/>
              </a:xfrm>
              <a:prstGeom prst="left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99DE3799-69D0-49FF-BEE4-E4EC3394CE31}"/>
                  </a:ext>
                </a:extLst>
              </p:cNvPr>
              <p:cNvSpPr/>
              <p:nvPr/>
            </p:nvSpPr>
            <p:spPr>
              <a:xfrm>
                <a:off x="7565312" y="5578619"/>
                <a:ext cx="346236" cy="11451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spTree>
    <p:extLst>
      <p:ext uri="{BB962C8B-B14F-4D97-AF65-F5344CB8AC3E}">
        <p14:creationId xmlns:p14="http://schemas.microsoft.com/office/powerpoint/2010/main" val="7943448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Cluster(1/3)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Oftentimes, the IPs for Pods are only reachable from within the cluster</a:t>
            </a:r>
            <a:r>
              <a:rPr lang="en-US" altLang="ko-KR" sz="1400" dirty="0"/>
              <a:t>. At some point, </a:t>
            </a:r>
            <a:r>
              <a:rPr lang="en-US" altLang="ko-KR" sz="1400" b="1" dirty="0"/>
              <a:t>we have to </a:t>
            </a:r>
            <a:r>
              <a:rPr lang="en-US" altLang="ko-KR" sz="1400" b="1" dirty="0">
                <a:solidFill>
                  <a:srgbClr val="FF0000"/>
                </a:solidFill>
              </a:rPr>
              <a:t>allow new traffic in</a:t>
            </a:r>
            <a:r>
              <a:rPr lang="en-US" altLang="ko-KR" sz="1400" b="1" dirty="0"/>
              <a:t>!. </a:t>
            </a:r>
          </a:p>
          <a:p>
            <a:pPr lvl="1">
              <a:buFont typeface="Wingdings" panose="05000000000000000000" pitchFamily="2" charset="2"/>
              <a:buChar char="§"/>
            </a:pPr>
            <a:r>
              <a:rPr lang="en-US" altLang="ko-KR" sz="1400" dirty="0"/>
              <a:t>The most portable way to do this is to </a:t>
            </a:r>
            <a:r>
              <a:rPr lang="en-US" altLang="ko-KR" sz="1400" b="1" dirty="0"/>
              <a:t>use a feature called </a:t>
            </a:r>
            <a:r>
              <a:rPr lang="en-US" altLang="ko-KR" sz="1400" dirty="0"/>
              <a:t>“</a:t>
            </a:r>
            <a:r>
              <a:rPr lang="en-US" altLang="ko-KR" sz="1400" b="1" dirty="0" err="1">
                <a:solidFill>
                  <a:srgbClr val="FF0000"/>
                </a:solidFill>
              </a:rPr>
              <a:t>NodePorts</a:t>
            </a:r>
            <a:r>
              <a:rPr lang="en-US" altLang="ko-KR" sz="1400" dirty="0"/>
              <a:t>”, which enhance a service even further. </a:t>
            </a:r>
            <a:r>
              <a:rPr lang="en-US" altLang="ko-KR" sz="1400" b="1" dirty="0"/>
              <a:t>In addition to a cluster IP, </a:t>
            </a:r>
            <a:r>
              <a:rPr lang="en-US" altLang="ko-KR" sz="1400" b="1" dirty="0">
                <a:solidFill>
                  <a:srgbClr val="FF0000"/>
                </a:solidFill>
              </a:rPr>
              <a:t>the system picks a port (or the user can specify one), </a:t>
            </a:r>
            <a:r>
              <a:rPr lang="en-US" altLang="ko-KR" sz="1400" b="1" dirty="0"/>
              <a:t>and every node in the cluster then forwards traffic to that port to the service</a:t>
            </a:r>
            <a:r>
              <a:rPr lang="en-US" altLang="ko-KR" sz="1400" dirty="0"/>
              <a:t>.</a:t>
            </a:r>
          </a:p>
          <a:p>
            <a:pPr lvl="1">
              <a:buFont typeface="Wingdings" panose="05000000000000000000" pitchFamily="2" charset="2"/>
              <a:buChar char="§"/>
            </a:pPr>
            <a:r>
              <a:rPr lang="en-US" altLang="ko-KR" sz="1400" b="1" dirty="0"/>
              <a:t>With this feature, if you can reach any node in the cluster you can contact a service</a:t>
            </a:r>
            <a:r>
              <a:rPr lang="en-US" altLang="ko-KR" sz="1400" dirty="0"/>
              <a:t>. You use the “</a:t>
            </a:r>
            <a:r>
              <a:rPr lang="en-US" altLang="ko-KR" sz="1400" b="1" dirty="0" err="1">
                <a:solidFill>
                  <a:srgbClr val="FF0000"/>
                </a:solidFill>
              </a:rPr>
              <a:t>NodePort</a:t>
            </a:r>
            <a:r>
              <a:rPr lang="en-US" altLang="ko-KR" sz="1400" dirty="0"/>
              <a:t>” </a:t>
            </a:r>
            <a:r>
              <a:rPr lang="en-US" altLang="ko-KR" sz="1400" b="1" dirty="0"/>
              <a:t>without knowing where any of the Pods for that service are running</a:t>
            </a:r>
            <a:r>
              <a:rPr lang="en-US" altLang="ko-KR" sz="1400" dirty="0"/>
              <a:t>. </a:t>
            </a:r>
            <a:r>
              <a:rPr lang="en-US" altLang="ko-KR" sz="1400" b="1" dirty="0"/>
              <a:t>This can be integrated with hardware or software load balancers to expose the service further</a:t>
            </a:r>
            <a:r>
              <a:rPr lang="en-US" altLang="ko-KR" sz="1400" dirty="0"/>
              <a:t>.</a:t>
            </a:r>
          </a:p>
          <a:p>
            <a:pPr lvl="1">
              <a:buFont typeface="Wingdings" panose="05000000000000000000" pitchFamily="2" charset="2"/>
              <a:buChar char="§"/>
            </a:pPr>
            <a:r>
              <a:rPr lang="en-US" altLang="ko-KR" sz="1400" dirty="0"/>
              <a:t>Try this out by modifying the “</a:t>
            </a:r>
            <a:r>
              <a:rPr lang="en-US" altLang="ko-KR" sz="1400" b="1" dirty="0"/>
              <a:t>alpaca-prod</a:t>
            </a:r>
            <a:r>
              <a:rPr lang="en-US" altLang="ko-KR" sz="1400" dirty="0"/>
              <a:t>” service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3" name="그룹 12">
            <a:extLst>
              <a:ext uri="{FF2B5EF4-FFF2-40B4-BE49-F238E27FC236}">
                <a16:creationId xmlns:a16="http://schemas.microsoft.com/office/drawing/2014/main" id="{A40000E8-C038-40E9-BDE2-456EADF295B8}"/>
              </a:ext>
            </a:extLst>
          </p:cNvPr>
          <p:cNvGrpSpPr/>
          <p:nvPr/>
        </p:nvGrpSpPr>
        <p:grpSpPr>
          <a:xfrm>
            <a:off x="2155614" y="3134812"/>
            <a:ext cx="7880771" cy="3274218"/>
            <a:chOff x="2155614" y="3134812"/>
            <a:chExt cx="7880771" cy="3274218"/>
          </a:xfrm>
        </p:grpSpPr>
        <p:grpSp>
          <p:nvGrpSpPr>
            <p:cNvPr id="11" name="그룹 10">
              <a:extLst>
                <a:ext uri="{FF2B5EF4-FFF2-40B4-BE49-F238E27FC236}">
                  <a16:creationId xmlns:a16="http://schemas.microsoft.com/office/drawing/2014/main" id="{8EDAA691-9A2E-4396-A18C-2707C2ECBE11}"/>
                </a:ext>
              </a:extLst>
            </p:cNvPr>
            <p:cNvGrpSpPr/>
            <p:nvPr/>
          </p:nvGrpSpPr>
          <p:grpSpPr>
            <a:xfrm>
              <a:off x="2155614" y="3134812"/>
              <a:ext cx="7880771" cy="3274218"/>
              <a:chOff x="2155613" y="3114463"/>
              <a:chExt cx="7880771" cy="3274218"/>
            </a:xfrm>
          </p:grpSpPr>
          <p:sp>
            <p:nvSpPr>
              <p:cNvPr id="4" name="직사각형 3">
                <a:extLst>
                  <a:ext uri="{FF2B5EF4-FFF2-40B4-BE49-F238E27FC236}">
                    <a16:creationId xmlns:a16="http://schemas.microsoft.com/office/drawing/2014/main" id="{77552ACB-1C37-43B9-B17C-9FBE5F05BA81}"/>
                  </a:ext>
                </a:extLst>
              </p:cNvPr>
              <p:cNvSpPr/>
              <p:nvPr/>
            </p:nvSpPr>
            <p:spPr>
              <a:xfrm>
                <a:off x="4963317" y="3114463"/>
                <a:ext cx="226536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edit service alpaca-prod</a:t>
                </a:r>
                <a:endParaRPr lang="ko-KR" altLang="en-US" sz="1000" b="1" dirty="0">
                  <a:solidFill>
                    <a:srgbClr val="FF0000"/>
                  </a:solidFill>
                </a:endParaRPr>
              </a:p>
            </p:txBody>
          </p:sp>
          <p:pic>
            <p:nvPicPr>
              <p:cNvPr id="9" name="그림 8">
                <a:extLst>
                  <a:ext uri="{FF2B5EF4-FFF2-40B4-BE49-F238E27FC236}">
                    <a16:creationId xmlns:a16="http://schemas.microsoft.com/office/drawing/2014/main" id="{0E7A66BE-FAC0-4F1D-8F7A-294417F326D8}"/>
                  </a:ext>
                </a:extLst>
              </p:cNvPr>
              <p:cNvPicPr>
                <a:picLocks noChangeAspect="1"/>
              </p:cNvPicPr>
              <p:nvPr/>
            </p:nvPicPr>
            <p:blipFill>
              <a:blip r:embed="rId2"/>
              <a:stretch>
                <a:fillRect/>
              </a:stretch>
            </p:blipFill>
            <p:spPr>
              <a:xfrm>
                <a:off x="2155613" y="3652780"/>
                <a:ext cx="7880771" cy="2735901"/>
              </a:xfrm>
              <a:prstGeom prst="rect">
                <a:avLst/>
              </a:prstGeom>
              <a:ln>
                <a:solidFill>
                  <a:schemeClr val="bg1">
                    <a:lumMod val="50000"/>
                  </a:schemeClr>
                </a:solidFill>
              </a:ln>
            </p:spPr>
          </p:pic>
          <p:sp>
            <p:nvSpPr>
              <p:cNvPr id="10" name="화살표: 아래쪽 9">
                <a:extLst>
                  <a:ext uri="{FF2B5EF4-FFF2-40B4-BE49-F238E27FC236}">
                    <a16:creationId xmlns:a16="http://schemas.microsoft.com/office/drawing/2014/main" id="{3529BEDC-1A1E-4820-8B6D-3182072B260F}"/>
                  </a:ext>
                </a:extLst>
              </p:cNvPr>
              <p:cNvSpPr/>
              <p:nvPr/>
            </p:nvSpPr>
            <p:spPr>
              <a:xfrm>
                <a:off x="5869387" y="3386211"/>
                <a:ext cx="45322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2" name="직사각형 11">
              <a:extLst>
                <a:ext uri="{FF2B5EF4-FFF2-40B4-BE49-F238E27FC236}">
                  <a16:creationId xmlns:a16="http://schemas.microsoft.com/office/drawing/2014/main" id="{9BC68CF3-C3A3-44CC-9969-ED66BAD1C50B}"/>
                </a:ext>
              </a:extLst>
            </p:cNvPr>
            <p:cNvSpPr/>
            <p:nvPr/>
          </p:nvSpPr>
          <p:spPr>
            <a:xfrm>
              <a:off x="2329732" y="6249725"/>
              <a:ext cx="1017767" cy="12252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8608128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Cluster(2/3)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Change the “</a:t>
            </a:r>
            <a:r>
              <a:rPr lang="en-US" altLang="ko-KR" sz="1400" b="1" dirty="0" err="1">
                <a:solidFill>
                  <a:srgbClr val="FF0000"/>
                </a:solidFill>
              </a:rPr>
              <a:t>spec.type</a:t>
            </a:r>
            <a:r>
              <a:rPr lang="en-US" altLang="ko-KR" sz="1400" b="1" dirty="0"/>
              <a:t>” field to “</a:t>
            </a:r>
            <a:r>
              <a:rPr lang="en-US" altLang="ko-KR" sz="1400" b="1" dirty="0" err="1">
                <a:solidFill>
                  <a:srgbClr val="FF0000"/>
                </a:solidFill>
              </a:rPr>
              <a:t>NodePort</a:t>
            </a:r>
            <a:r>
              <a:rPr lang="en-US" altLang="ko-KR" sz="1400" b="1" dirty="0"/>
              <a:t>”</a:t>
            </a:r>
            <a:r>
              <a:rPr lang="en-US" altLang="ko-KR" sz="1400" dirty="0"/>
              <a:t>. </a:t>
            </a:r>
            <a:r>
              <a:rPr lang="en-US" altLang="ko-KR" sz="1400" b="1" dirty="0"/>
              <a:t>You can also do this when creating the service via “</a:t>
            </a:r>
            <a:r>
              <a:rPr lang="en-US" altLang="ko-KR" sz="1400" b="1" dirty="0" err="1">
                <a:solidFill>
                  <a:srgbClr val="FF0000"/>
                </a:solidFill>
              </a:rPr>
              <a:t>kubectl</a:t>
            </a:r>
            <a:r>
              <a:rPr lang="en-US" altLang="ko-KR" sz="1400" b="1" dirty="0">
                <a:solidFill>
                  <a:srgbClr val="FF0000"/>
                </a:solidFill>
              </a:rPr>
              <a:t> expose</a:t>
            </a:r>
            <a:r>
              <a:rPr lang="en-US" altLang="ko-KR" sz="1400" b="1" dirty="0"/>
              <a:t>” command by specifying “</a:t>
            </a:r>
            <a:r>
              <a:rPr lang="en-US" altLang="ko-KR" sz="1400" b="1" dirty="0">
                <a:solidFill>
                  <a:srgbClr val="FF0000"/>
                </a:solidFill>
              </a:rPr>
              <a:t>--type=</a:t>
            </a:r>
            <a:r>
              <a:rPr lang="en-US" altLang="ko-KR" sz="1400" b="1" dirty="0" err="1">
                <a:solidFill>
                  <a:srgbClr val="FF0000"/>
                </a:solidFill>
              </a:rPr>
              <a:t>NodePort</a:t>
            </a:r>
            <a:r>
              <a:rPr lang="en-US" altLang="ko-KR" sz="1400" b="1" dirty="0"/>
              <a:t>”</a:t>
            </a:r>
            <a:r>
              <a:rPr lang="en-US" altLang="ko-KR" sz="1400" dirty="0"/>
              <a:t>. The system will assign a new “</a:t>
            </a:r>
            <a:r>
              <a:rPr lang="en-US" altLang="ko-KR" sz="1400" b="1" dirty="0" err="1"/>
              <a:t>NodePort</a:t>
            </a:r>
            <a:r>
              <a:rPr lang="en-US" altLang="ko-KR" sz="1400" dirty="0"/>
              <a:t>”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C774DE3E-873F-4D1A-9CCF-548170A9F5C9}"/>
              </a:ext>
            </a:extLst>
          </p:cNvPr>
          <p:cNvGrpSpPr/>
          <p:nvPr/>
        </p:nvGrpSpPr>
        <p:grpSpPr>
          <a:xfrm>
            <a:off x="2278087" y="1749490"/>
            <a:ext cx="7635826" cy="4201373"/>
            <a:chOff x="2278086" y="1709733"/>
            <a:chExt cx="7635826" cy="4201373"/>
          </a:xfrm>
        </p:grpSpPr>
        <p:grpSp>
          <p:nvGrpSpPr>
            <p:cNvPr id="12" name="그룹 11">
              <a:extLst>
                <a:ext uri="{FF2B5EF4-FFF2-40B4-BE49-F238E27FC236}">
                  <a16:creationId xmlns:a16="http://schemas.microsoft.com/office/drawing/2014/main" id="{B0127BCD-15C3-4BB1-B7AD-4A51440C57EC}"/>
                </a:ext>
              </a:extLst>
            </p:cNvPr>
            <p:cNvGrpSpPr/>
            <p:nvPr/>
          </p:nvGrpSpPr>
          <p:grpSpPr>
            <a:xfrm>
              <a:off x="2278086" y="1709733"/>
              <a:ext cx="7635826" cy="4201373"/>
              <a:chOff x="2278086" y="1709733"/>
              <a:chExt cx="7635826" cy="4201373"/>
            </a:xfrm>
          </p:grpSpPr>
          <p:grpSp>
            <p:nvGrpSpPr>
              <p:cNvPr id="10" name="그룹 9">
                <a:extLst>
                  <a:ext uri="{FF2B5EF4-FFF2-40B4-BE49-F238E27FC236}">
                    <a16:creationId xmlns:a16="http://schemas.microsoft.com/office/drawing/2014/main" id="{4C486C95-762F-4E8D-BB1B-B53433C6CA9A}"/>
                  </a:ext>
                </a:extLst>
              </p:cNvPr>
              <p:cNvGrpSpPr/>
              <p:nvPr/>
            </p:nvGrpSpPr>
            <p:grpSpPr>
              <a:xfrm>
                <a:off x="2278086" y="1709733"/>
                <a:ext cx="7635826" cy="4201373"/>
                <a:chOff x="2278086" y="1709733"/>
                <a:chExt cx="7635826" cy="4201373"/>
              </a:xfrm>
            </p:grpSpPr>
            <p:pic>
              <p:nvPicPr>
                <p:cNvPr id="4" name="그림 3">
                  <a:extLst>
                    <a:ext uri="{FF2B5EF4-FFF2-40B4-BE49-F238E27FC236}">
                      <a16:creationId xmlns:a16="http://schemas.microsoft.com/office/drawing/2014/main" id="{6435540A-29F9-4F7E-ABD6-B25B26471B5B}"/>
                    </a:ext>
                  </a:extLst>
                </p:cNvPr>
                <p:cNvPicPr>
                  <a:picLocks noChangeAspect="1"/>
                </p:cNvPicPr>
                <p:nvPr/>
              </p:nvPicPr>
              <p:blipFill>
                <a:blip r:embed="rId2"/>
                <a:stretch>
                  <a:fillRect/>
                </a:stretch>
              </p:blipFill>
              <p:spPr>
                <a:xfrm>
                  <a:off x="2278086" y="2314632"/>
                  <a:ext cx="7635826" cy="3596474"/>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12EA9CE4-147E-40FD-A218-F995A4D3F352}"/>
                    </a:ext>
                  </a:extLst>
                </p:cNvPr>
                <p:cNvSpPr/>
                <p:nvPr/>
              </p:nvSpPr>
              <p:spPr>
                <a:xfrm>
                  <a:off x="4827063" y="1709733"/>
                  <a:ext cx="2537874"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describe service alpaca-prod</a:t>
                  </a:r>
                  <a:endParaRPr lang="ko-KR" altLang="en-US" sz="1000" b="1" dirty="0">
                    <a:solidFill>
                      <a:srgbClr val="FF0000"/>
                    </a:solidFill>
                  </a:endParaRPr>
                </a:p>
              </p:txBody>
            </p:sp>
            <p:sp>
              <p:nvSpPr>
                <p:cNvPr id="9" name="화살표: 아래쪽 8">
                  <a:extLst>
                    <a:ext uri="{FF2B5EF4-FFF2-40B4-BE49-F238E27FC236}">
                      <a16:creationId xmlns:a16="http://schemas.microsoft.com/office/drawing/2014/main" id="{94811D04-9E13-4E07-875B-9095C1000B1E}"/>
                    </a:ext>
                  </a:extLst>
                </p:cNvPr>
                <p:cNvSpPr/>
                <p:nvPr/>
              </p:nvSpPr>
              <p:spPr>
                <a:xfrm>
                  <a:off x="5881314" y="1984185"/>
                  <a:ext cx="429371" cy="30221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D03D9FD8-EEB3-4C4D-87DD-8327FF348319}"/>
                  </a:ext>
                </a:extLst>
              </p:cNvPr>
              <p:cNvSpPr/>
              <p:nvPr/>
            </p:nvSpPr>
            <p:spPr>
              <a:xfrm>
                <a:off x="2369488" y="4055164"/>
                <a:ext cx="2178658" cy="1431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090B9C18-6F4D-466F-B47F-E4CC1EC682B5}"/>
                </a:ext>
              </a:extLst>
            </p:cNvPr>
            <p:cNvSpPr/>
            <p:nvPr/>
          </p:nvSpPr>
          <p:spPr>
            <a:xfrm>
              <a:off x="2361537" y="4953663"/>
              <a:ext cx="2782957" cy="14312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10664423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Looking Beyond the Cluster(3/3)</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NodePorts</a:t>
            </a:r>
            <a:r>
              <a:rPr lang="en-US" altLang="ko-KR" sz="1800" b="1" dirty="0"/>
              <a:t> Feature :</a:t>
            </a:r>
          </a:p>
          <a:p>
            <a:pPr lvl="1">
              <a:buFont typeface="Wingdings" panose="05000000000000000000" pitchFamily="2" charset="2"/>
              <a:buChar char="§"/>
            </a:pPr>
            <a:r>
              <a:rPr lang="en-US" altLang="ko-KR" sz="1400" b="1" dirty="0"/>
              <a:t>Here we see that the system assigned port “</a:t>
            </a:r>
            <a:r>
              <a:rPr lang="en-US" altLang="ko-KR" sz="1400" b="1" dirty="0">
                <a:solidFill>
                  <a:srgbClr val="FF0000"/>
                </a:solidFill>
              </a:rPr>
              <a:t>30073</a:t>
            </a:r>
            <a:r>
              <a:rPr lang="en-US" altLang="ko-KR" sz="1400" b="1" dirty="0"/>
              <a:t>” to this service</a:t>
            </a:r>
            <a:r>
              <a:rPr lang="en-US" altLang="ko-KR" sz="1400" dirty="0"/>
              <a:t>. </a:t>
            </a:r>
            <a:r>
              <a:rPr lang="en-US" altLang="ko-KR" sz="1400" b="1" dirty="0"/>
              <a:t>Now we can hit any of our cluster nodes on that port to access the service</a:t>
            </a:r>
            <a:r>
              <a:rPr lang="en-US" altLang="ko-KR" sz="1400" dirty="0"/>
              <a:t>. If you are sitting on the same network, you can access it directly. If your cluster is in the cloud someplace, you can use “</a:t>
            </a:r>
            <a:r>
              <a:rPr lang="en-US" altLang="ko-KR" sz="1400" b="1" dirty="0">
                <a:solidFill>
                  <a:srgbClr val="FF0000"/>
                </a:solidFill>
              </a:rPr>
              <a:t>SSH tunneling</a:t>
            </a:r>
            <a:r>
              <a:rPr lang="en-US" altLang="ko-KR" sz="1400" dirty="0"/>
              <a:t>” with something like this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Now if you point your browser to </a:t>
            </a:r>
            <a:r>
              <a:rPr lang="en-US" altLang="ko-KR" sz="1400" b="1" dirty="0">
                <a:hlinkClick r:id="rId2"/>
              </a:rPr>
              <a:t>http://localhost:8080</a:t>
            </a:r>
            <a:r>
              <a:rPr lang="en-US" altLang="ko-KR" sz="1400" b="1" dirty="0"/>
              <a:t> you will be connected to that service</a:t>
            </a:r>
            <a:r>
              <a:rPr lang="en-US" altLang="ko-KR" sz="1400" dirty="0"/>
              <a:t>. </a:t>
            </a:r>
            <a:r>
              <a:rPr lang="en-US" altLang="ko-KR" sz="1400" b="1" dirty="0"/>
              <a:t>Each request that you send to the service will be </a:t>
            </a:r>
            <a:r>
              <a:rPr lang="en-US" altLang="ko-KR" sz="1400" b="1" dirty="0">
                <a:solidFill>
                  <a:srgbClr val="FF0000"/>
                </a:solidFill>
              </a:rPr>
              <a:t>randomly directed to one of the Pods that implements the service</a:t>
            </a:r>
            <a:r>
              <a:rPr lang="en-US" altLang="ko-KR" sz="1400" b="1" dirty="0"/>
              <a:t>(Now, we have no replicas!!! You can just connect to only one Pod now.)</a:t>
            </a:r>
            <a:r>
              <a:rPr lang="en-US" altLang="ko-KR" sz="1400" dirty="0"/>
              <a:t>. Reload the page a few times and you will see that you are randomly assigned to different Pods.</a:t>
            </a:r>
          </a:p>
          <a:p>
            <a:pPr lvl="1">
              <a:buFont typeface="Wingdings" panose="05000000000000000000" pitchFamily="2" charset="2"/>
              <a:buChar char="§"/>
            </a:pPr>
            <a:r>
              <a:rPr lang="en-US" altLang="ko-KR" sz="1400" b="1" dirty="0"/>
              <a:t>NOTE</a:t>
            </a:r>
            <a:r>
              <a:rPr lang="en-US" altLang="ko-KR" sz="1400" dirty="0"/>
              <a:t> : </a:t>
            </a:r>
            <a:r>
              <a:rPr lang="en-US" altLang="ko-KR" sz="1400" b="1" dirty="0"/>
              <a:t>For more information about SSH(Secure Shell), please see </a:t>
            </a:r>
            <a:r>
              <a:rPr lang="en-US" altLang="ko-KR" sz="1400" b="1" dirty="0">
                <a:hlinkClick r:id="rId3"/>
              </a:rPr>
              <a:t>https://phoenixnap.com/kb/ssh-to-connect-to-remote-server-linux-or-windows</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sp>
        <p:nvSpPr>
          <p:cNvPr id="4" name="직사각형 3">
            <a:extLst>
              <a:ext uri="{FF2B5EF4-FFF2-40B4-BE49-F238E27FC236}">
                <a16:creationId xmlns:a16="http://schemas.microsoft.com/office/drawing/2014/main" id="{73E45348-D2C7-4BE7-917D-22E268172775}"/>
              </a:ext>
            </a:extLst>
          </p:cNvPr>
          <p:cNvSpPr/>
          <p:nvPr/>
        </p:nvSpPr>
        <p:spPr>
          <a:xfrm>
            <a:off x="4831070" y="1868760"/>
            <a:ext cx="2529860" cy="246221"/>
          </a:xfrm>
          <a:prstGeom prst="rect">
            <a:avLst/>
          </a:prstGeom>
          <a:ln>
            <a:solidFill>
              <a:schemeClr val="bg1">
                <a:lumMod val="50000"/>
              </a:schemeClr>
            </a:solidFill>
          </a:ln>
        </p:spPr>
        <p:txBody>
          <a:bodyPr wrap="none">
            <a:spAutoFit/>
          </a:bodyPr>
          <a:lstStyle/>
          <a:p>
            <a:pPr algn="ctr"/>
            <a:r>
              <a:rPr lang="pt-BR" altLang="ko-KR" sz="1000" b="1" dirty="0"/>
              <a:t>$ ssh </a:t>
            </a:r>
            <a:r>
              <a:rPr lang="pt-BR" altLang="ko-KR" sz="1000" b="1" dirty="0">
                <a:solidFill>
                  <a:srgbClr val="FF0000"/>
                </a:solidFill>
              </a:rPr>
              <a:t>&lt;node&gt; </a:t>
            </a:r>
            <a:r>
              <a:rPr lang="pt-BR" altLang="ko-KR" sz="1000" b="1" dirty="0"/>
              <a:t>-L 8080:localhost:</a:t>
            </a:r>
            <a:r>
              <a:rPr lang="pt-BR" altLang="ko-KR" sz="1000" b="1" dirty="0">
                <a:solidFill>
                  <a:srgbClr val="FF0000"/>
                </a:solidFill>
              </a:rPr>
              <a:t>30073</a:t>
            </a:r>
          </a:p>
        </p:txBody>
      </p:sp>
      <p:pic>
        <p:nvPicPr>
          <p:cNvPr id="8" name="그림 7">
            <a:extLst>
              <a:ext uri="{FF2B5EF4-FFF2-40B4-BE49-F238E27FC236}">
                <a16:creationId xmlns:a16="http://schemas.microsoft.com/office/drawing/2014/main" id="{C4D44703-3B43-4721-B15E-36EDC5F2605D}"/>
              </a:ext>
            </a:extLst>
          </p:cNvPr>
          <p:cNvPicPr>
            <a:picLocks noChangeAspect="1"/>
          </p:cNvPicPr>
          <p:nvPr/>
        </p:nvPicPr>
        <p:blipFill>
          <a:blip r:embed="rId4"/>
          <a:stretch>
            <a:fillRect/>
          </a:stretch>
        </p:blipFill>
        <p:spPr>
          <a:xfrm>
            <a:off x="3927857" y="3633807"/>
            <a:ext cx="4336286" cy="2775223"/>
          </a:xfrm>
          <a:prstGeom prst="rect">
            <a:avLst/>
          </a:prstGeom>
          <a:ln>
            <a:solidFill>
              <a:schemeClr val="bg1">
                <a:lumMod val="50000"/>
              </a:schemeClr>
            </a:solidFill>
          </a:ln>
        </p:spPr>
      </p:pic>
    </p:spTree>
    <p:extLst>
      <p:ext uri="{BB962C8B-B14F-4D97-AF65-F5344CB8AC3E}">
        <p14:creationId xmlns:p14="http://schemas.microsoft.com/office/powerpoint/2010/main" val="25322064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Cloud Integration(1/2)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LoadBalancer</a:t>
            </a:r>
            <a:r>
              <a:rPr lang="en-US" altLang="ko-KR" sz="1800" b="1" dirty="0"/>
              <a:t> Type :</a:t>
            </a:r>
          </a:p>
          <a:p>
            <a:pPr lvl="1">
              <a:buFont typeface="Wingdings" panose="05000000000000000000" pitchFamily="2" charset="2"/>
              <a:buChar char="§"/>
            </a:pPr>
            <a:r>
              <a:rPr lang="en-US" altLang="ko-KR" sz="1400" dirty="0"/>
              <a:t>If you have </a:t>
            </a:r>
            <a:r>
              <a:rPr lang="en-US" altLang="ko-KR" sz="1400" b="1" dirty="0"/>
              <a:t>support from the cloud </a:t>
            </a:r>
            <a:r>
              <a:rPr lang="en-US" altLang="ko-KR" sz="1400" dirty="0"/>
              <a:t>that you are running on (and your cluster is configured to take advantage of it), you can use the “</a:t>
            </a:r>
            <a:r>
              <a:rPr lang="en-US" altLang="ko-KR" sz="1400" b="1" dirty="0" err="1">
                <a:solidFill>
                  <a:srgbClr val="FF0000"/>
                </a:solidFill>
              </a:rPr>
              <a:t>LoadBalancer</a:t>
            </a:r>
            <a:r>
              <a:rPr lang="en-US" altLang="ko-KR" sz="1400" b="1" dirty="0"/>
              <a:t>” type</a:t>
            </a:r>
            <a:r>
              <a:rPr lang="en-US" altLang="ko-KR" sz="1400" dirty="0"/>
              <a:t>. </a:t>
            </a:r>
            <a:r>
              <a:rPr lang="en-US" altLang="ko-KR" sz="1400" b="1" dirty="0"/>
              <a:t>This builds on the “</a:t>
            </a:r>
            <a:r>
              <a:rPr lang="en-US" altLang="ko-KR" sz="1400" b="1" dirty="0" err="1"/>
              <a:t>NodePort</a:t>
            </a:r>
            <a:r>
              <a:rPr lang="en-US" altLang="ko-KR" sz="1400" b="1" dirty="0"/>
              <a:t>” type by additionally configuring the cloud to create a new load balancer and direct it at nodes in your cluster</a:t>
            </a:r>
            <a:r>
              <a:rPr lang="en-US" altLang="ko-KR" sz="1400" dirty="0"/>
              <a:t>. </a:t>
            </a:r>
          </a:p>
          <a:p>
            <a:pPr lvl="1">
              <a:buFont typeface="Wingdings" panose="05000000000000000000" pitchFamily="2" charset="2"/>
              <a:buChar char="§"/>
            </a:pPr>
            <a:r>
              <a:rPr lang="en-US" altLang="ko-KR" sz="1400" b="1" dirty="0"/>
              <a:t>Edit the “alpaca-prod” service again </a:t>
            </a:r>
            <a:r>
              <a:rPr lang="en-US" altLang="ko-KR" sz="1400" dirty="0"/>
              <a:t>(“</a:t>
            </a:r>
            <a:r>
              <a:rPr lang="en-US" altLang="ko-KR" sz="1400" b="1" dirty="0" err="1">
                <a:solidFill>
                  <a:srgbClr val="FF0000"/>
                </a:solidFill>
              </a:rPr>
              <a:t>kubectl</a:t>
            </a:r>
            <a:r>
              <a:rPr lang="en-US" altLang="ko-KR" sz="1400" b="1" dirty="0">
                <a:solidFill>
                  <a:srgbClr val="FF0000"/>
                </a:solidFill>
              </a:rPr>
              <a:t> edit service alpaca-prod</a:t>
            </a:r>
            <a:r>
              <a:rPr lang="en-US" altLang="ko-KR" sz="1400" dirty="0"/>
              <a:t>”) </a:t>
            </a:r>
            <a:r>
              <a:rPr lang="en-US" altLang="ko-KR" sz="1400" b="1" dirty="0"/>
              <a:t>and change “</a:t>
            </a:r>
            <a:r>
              <a:rPr lang="en-US" altLang="ko-KR" sz="1400" b="1" dirty="0" err="1"/>
              <a:t>spec.type</a:t>
            </a:r>
            <a:r>
              <a:rPr lang="en-US" altLang="ko-KR" sz="1400" b="1" dirty="0"/>
              <a:t>” to “</a:t>
            </a:r>
            <a:r>
              <a:rPr lang="en-US" altLang="ko-KR" sz="1400" b="1" dirty="0" err="1">
                <a:solidFill>
                  <a:srgbClr val="FF0000"/>
                </a:solidFill>
              </a:rPr>
              <a:t>LoadBalancer</a:t>
            </a:r>
            <a:r>
              <a:rPr lang="en-US" altLang="ko-KR" sz="1400" b="1" dirty="0"/>
              <a:t>”</a:t>
            </a:r>
            <a:r>
              <a:rPr lang="en-US" altLang="ko-KR" sz="1400" dirty="0"/>
              <a:t>. If you do a “</a:t>
            </a:r>
            <a:r>
              <a:rPr lang="en-US" altLang="ko-KR" sz="1400" b="1" dirty="0" err="1"/>
              <a:t>kubectl</a:t>
            </a:r>
            <a:r>
              <a:rPr lang="en-US" altLang="ko-KR" sz="1400" b="1" dirty="0"/>
              <a:t> get services</a:t>
            </a:r>
            <a:r>
              <a:rPr lang="en-US" altLang="ko-KR" sz="1400" dirty="0"/>
              <a:t>” right away you’ll see that the “</a:t>
            </a:r>
            <a:r>
              <a:rPr lang="en-US" altLang="ko-KR" sz="1400" b="1" dirty="0">
                <a:solidFill>
                  <a:srgbClr val="FF0000"/>
                </a:solidFill>
              </a:rPr>
              <a:t>EXTERNAL-IP</a:t>
            </a:r>
            <a:r>
              <a:rPr lang="en-US" altLang="ko-KR" sz="1400" b="1" dirty="0"/>
              <a:t>” column </a:t>
            </a:r>
            <a:r>
              <a:rPr lang="en-US" altLang="ko-KR" sz="1400" dirty="0"/>
              <a:t>for “</a:t>
            </a:r>
            <a:r>
              <a:rPr lang="en-US" altLang="ko-KR" sz="1400" b="1" dirty="0"/>
              <a:t>alpaca-prod</a:t>
            </a:r>
            <a:r>
              <a:rPr lang="en-US" altLang="ko-KR" sz="1400" dirty="0"/>
              <a:t>” now says “</a:t>
            </a:r>
            <a:r>
              <a:rPr lang="en-US" altLang="ko-KR" sz="1400" b="1" dirty="0"/>
              <a:t>&lt;pending&gt;</a:t>
            </a:r>
            <a:r>
              <a:rPr lang="en-US" altLang="ko-KR" sz="1400" dirty="0"/>
              <a:t>”. </a:t>
            </a:r>
            <a:r>
              <a:rPr lang="en-US" altLang="ko-KR" sz="1400" b="1" dirty="0"/>
              <a:t>Wait a bit and you should see </a:t>
            </a:r>
            <a:r>
              <a:rPr lang="en-US" altLang="ko-KR" sz="1400" b="1" dirty="0">
                <a:solidFill>
                  <a:srgbClr val="FF0000"/>
                </a:solidFill>
              </a:rPr>
              <a:t>a public address assigned by your cloud</a:t>
            </a:r>
            <a:r>
              <a:rPr lang="en-US" altLang="ko-KR" sz="1400" dirty="0"/>
              <a:t>. You can look in the console for your cloud account and see the configuration work that Kubernetes did for you :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76B75D7B-5470-493B-BB79-D0C09DD5CB2F}"/>
              </a:ext>
            </a:extLst>
          </p:cNvPr>
          <p:cNvGrpSpPr/>
          <p:nvPr/>
        </p:nvGrpSpPr>
        <p:grpSpPr>
          <a:xfrm>
            <a:off x="2443784" y="2693932"/>
            <a:ext cx="7304432" cy="3761782"/>
            <a:chOff x="2443784" y="2693932"/>
            <a:chExt cx="7304432" cy="3761782"/>
          </a:xfrm>
        </p:grpSpPr>
        <p:pic>
          <p:nvPicPr>
            <p:cNvPr id="8" name="그림 7">
              <a:extLst>
                <a:ext uri="{FF2B5EF4-FFF2-40B4-BE49-F238E27FC236}">
                  <a16:creationId xmlns:a16="http://schemas.microsoft.com/office/drawing/2014/main" id="{824B9A92-0C58-43D2-9C51-281BE6D657A5}"/>
                </a:ext>
              </a:extLst>
            </p:cNvPr>
            <p:cNvPicPr>
              <a:picLocks noChangeAspect="1"/>
            </p:cNvPicPr>
            <p:nvPr/>
          </p:nvPicPr>
          <p:blipFill>
            <a:blip r:embed="rId2"/>
            <a:stretch>
              <a:fillRect/>
            </a:stretch>
          </p:blipFill>
          <p:spPr>
            <a:xfrm>
              <a:off x="2443784" y="2693932"/>
              <a:ext cx="7304432" cy="3761782"/>
            </a:xfrm>
            <a:prstGeom prst="rect">
              <a:avLst/>
            </a:prstGeom>
            <a:ln>
              <a:solidFill>
                <a:schemeClr val="bg1">
                  <a:lumMod val="50000"/>
                </a:schemeClr>
              </a:solidFill>
            </a:ln>
          </p:spPr>
        </p:pic>
        <p:sp>
          <p:nvSpPr>
            <p:cNvPr id="9" name="직사각형 8">
              <a:extLst>
                <a:ext uri="{FF2B5EF4-FFF2-40B4-BE49-F238E27FC236}">
                  <a16:creationId xmlns:a16="http://schemas.microsoft.com/office/drawing/2014/main" id="{2D06BE5B-61F0-44B5-B7D0-239742DCBE39}"/>
                </a:ext>
              </a:extLst>
            </p:cNvPr>
            <p:cNvSpPr/>
            <p:nvPr/>
          </p:nvSpPr>
          <p:spPr>
            <a:xfrm>
              <a:off x="2459686" y="4349363"/>
              <a:ext cx="2406512" cy="143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39B67D7-959E-4482-AB54-16809E60BB85}"/>
                </a:ext>
              </a:extLst>
            </p:cNvPr>
            <p:cNvSpPr/>
            <p:nvPr/>
          </p:nvSpPr>
          <p:spPr>
            <a:xfrm>
              <a:off x="2443784" y="6083594"/>
              <a:ext cx="4211458" cy="1431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9999964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Cloud Integration(2/2)</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err="1"/>
              <a:t>LoadBalancer</a:t>
            </a:r>
            <a:r>
              <a:rPr lang="en-US" altLang="ko-KR" sz="1800" b="1" dirty="0"/>
              <a:t> Type :</a:t>
            </a:r>
          </a:p>
          <a:p>
            <a:pPr lvl="1">
              <a:buFont typeface="Wingdings" panose="05000000000000000000" pitchFamily="2" charset="2"/>
              <a:buChar char="§"/>
            </a:pPr>
            <a:r>
              <a:rPr lang="en-US" altLang="ko-KR" sz="1400" b="1" dirty="0"/>
              <a:t>NOTE : The way a load balancer is configured is specific to a cloud</a:t>
            </a:r>
            <a:r>
              <a:rPr lang="en-US" altLang="ko-KR" sz="1400" dirty="0"/>
              <a:t>. In addition, some clouds have </a:t>
            </a:r>
            <a:r>
              <a:rPr lang="en-US" altLang="ko-KR" sz="1400" b="1" dirty="0"/>
              <a:t>DNS-based load balancers (e.g., AWS ELB)</a:t>
            </a:r>
            <a:r>
              <a:rPr lang="en-US" altLang="ko-KR" sz="1400" dirty="0"/>
              <a:t>. In that case you’ll see a hostname here instead of an IP(in “</a:t>
            </a:r>
            <a:r>
              <a:rPr lang="en-US" altLang="ko-KR" sz="1400" b="1" dirty="0" err="1"/>
              <a:t>LoadBalancer</a:t>
            </a:r>
            <a:r>
              <a:rPr lang="en-US" altLang="ko-KR" sz="1400" dirty="0"/>
              <a:t>” field in “</a:t>
            </a:r>
            <a:r>
              <a:rPr lang="en-US" altLang="ko-KR" sz="1400" b="1" dirty="0" err="1"/>
              <a:t>kubectl</a:t>
            </a:r>
            <a:r>
              <a:rPr lang="en-US" altLang="ko-KR" sz="1400" b="1" dirty="0"/>
              <a:t> describe service </a:t>
            </a:r>
            <a:r>
              <a:rPr lang="en-US" altLang="ko-KR" sz="1400" b="1" dirty="0" err="1"/>
              <a:t>xxxx</a:t>
            </a:r>
            <a:r>
              <a:rPr lang="en-US" altLang="ko-KR" sz="1400" dirty="0"/>
              <a:t>” command. But, in the previous example, we are not using cloud now. So you cannot see that field.). Also, depending on the cloud provider, it may still take a little while for the load balancer to be fully operational.</a:t>
            </a:r>
          </a:p>
          <a:p>
            <a:pPr lvl="1">
              <a:buFont typeface="Wingdings" panose="05000000000000000000" pitchFamily="2" charset="2"/>
              <a:buChar char="§"/>
            </a:pPr>
            <a:r>
              <a:rPr lang="en-US" altLang="ko-KR" sz="1400" b="1" dirty="0"/>
              <a:t>NOTE : Creating a cloud-based load balancer can take some time</a:t>
            </a:r>
            <a:r>
              <a:rPr lang="en-US" altLang="ko-KR" sz="1400" dirty="0"/>
              <a:t>. </a:t>
            </a:r>
            <a:r>
              <a:rPr lang="en-US" altLang="ko-KR" sz="1400" b="1" dirty="0"/>
              <a:t>Don’t be surprised if it takes a few minutes on most cloud providers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C6479D43-B18D-4F0E-8756-A10BBAD8C666}"/>
              </a:ext>
            </a:extLst>
          </p:cNvPr>
          <p:cNvPicPr>
            <a:picLocks noChangeAspect="1"/>
          </p:cNvPicPr>
          <p:nvPr/>
        </p:nvPicPr>
        <p:blipFill>
          <a:blip r:embed="rId2"/>
          <a:stretch>
            <a:fillRect/>
          </a:stretch>
        </p:blipFill>
        <p:spPr>
          <a:xfrm>
            <a:off x="3728582" y="2857903"/>
            <a:ext cx="4734836" cy="3551127"/>
          </a:xfrm>
          <a:prstGeom prst="rect">
            <a:avLst/>
          </a:prstGeom>
        </p:spPr>
      </p:pic>
    </p:spTree>
    <p:extLst>
      <p:ext uri="{BB962C8B-B14F-4D97-AF65-F5344CB8AC3E}">
        <p14:creationId xmlns:p14="http://schemas.microsoft.com/office/powerpoint/2010/main" val="10832642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Details(1/10)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b="1" dirty="0"/>
              <a:t>Some applications (and the system itself) want to be able to use services without using a cluster IP</a:t>
            </a:r>
            <a:r>
              <a:rPr lang="en-US" altLang="ko-KR" sz="1400" dirty="0"/>
              <a:t>. This is done with another type of object called an “</a:t>
            </a:r>
            <a:r>
              <a:rPr lang="en-US" altLang="ko-KR" sz="1400" b="1" dirty="0">
                <a:solidFill>
                  <a:srgbClr val="FF0000"/>
                </a:solidFill>
              </a:rPr>
              <a:t>Endpoints object</a:t>
            </a:r>
            <a:r>
              <a:rPr lang="en-US" altLang="ko-KR" sz="1400" b="1" dirty="0"/>
              <a:t>”</a:t>
            </a:r>
            <a:r>
              <a:rPr lang="en-US" altLang="ko-KR" sz="1400" dirty="0"/>
              <a:t>. </a:t>
            </a:r>
            <a:r>
              <a:rPr lang="en-US" altLang="ko-KR" sz="1400" b="1" dirty="0"/>
              <a:t>For every Service object, Kubernetes creates a buddy </a:t>
            </a:r>
            <a:r>
              <a:rPr lang="en-US" altLang="ko-KR" sz="1400" b="1" dirty="0">
                <a:solidFill>
                  <a:srgbClr val="FF0000"/>
                </a:solidFill>
              </a:rPr>
              <a:t>Endpoints object</a:t>
            </a:r>
            <a:r>
              <a:rPr lang="en-US" altLang="ko-KR" sz="1400" dirty="0">
                <a:solidFill>
                  <a:srgbClr val="FF0000"/>
                </a:solidFill>
              </a:rPr>
              <a:t> </a:t>
            </a:r>
            <a:r>
              <a:rPr lang="en-US" altLang="ko-KR" sz="1400" b="1" dirty="0">
                <a:solidFill>
                  <a:srgbClr val="FF0000"/>
                </a:solidFill>
              </a:rPr>
              <a:t>that contains the IP addresses for that service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A727422-2051-4668-BB87-F64C1AB9DF0B}"/>
              </a:ext>
            </a:extLst>
          </p:cNvPr>
          <p:cNvGrpSpPr/>
          <p:nvPr/>
        </p:nvGrpSpPr>
        <p:grpSpPr>
          <a:xfrm>
            <a:off x="1333499" y="1852856"/>
            <a:ext cx="9525000" cy="4055501"/>
            <a:chOff x="1333499" y="1852856"/>
            <a:chExt cx="9525000" cy="4055501"/>
          </a:xfrm>
        </p:grpSpPr>
        <p:sp>
          <p:nvSpPr>
            <p:cNvPr id="4" name="직사각형 3">
              <a:extLst>
                <a:ext uri="{FF2B5EF4-FFF2-40B4-BE49-F238E27FC236}">
                  <a16:creationId xmlns:a16="http://schemas.microsoft.com/office/drawing/2014/main" id="{0D420D55-F556-4319-8970-5B50D36C85F5}"/>
                </a:ext>
              </a:extLst>
            </p:cNvPr>
            <p:cNvSpPr/>
            <p:nvPr/>
          </p:nvSpPr>
          <p:spPr>
            <a:xfrm>
              <a:off x="4729279" y="1852856"/>
              <a:ext cx="273344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describe </a:t>
              </a:r>
              <a:r>
                <a:rPr lang="en-US" altLang="ko-KR" sz="1000" b="1" dirty="0">
                  <a:solidFill>
                    <a:srgbClr val="FF0000"/>
                  </a:solidFill>
                </a:rPr>
                <a:t>endpoints alpaca-prod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7F3271A9-40E7-4CA7-A11B-FA6CBA40F87D}"/>
                </a:ext>
              </a:extLst>
            </p:cNvPr>
            <p:cNvPicPr>
              <a:picLocks noChangeAspect="1"/>
            </p:cNvPicPr>
            <p:nvPr/>
          </p:nvPicPr>
          <p:blipFill>
            <a:blip r:embed="rId2"/>
            <a:stretch>
              <a:fillRect/>
            </a:stretch>
          </p:blipFill>
          <p:spPr>
            <a:xfrm>
              <a:off x="1333499" y="2412682"/>
              <a:ext cx="9525000" cy="3495675"/>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253CCFEA-0745-47AE-B18C-D6664BB9E3F5}"/>
                </a:ext>
              </a:extLst>
            </p:cNvPr>
            <p:cNvSpPr/>
            <p:nvPr/>
          </p:nvSpPr>
          <p:spPr>
            <a:xfrm>
              <a:off x="5909143" y="2119777"/>
              <a:ext cx="373712"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1A393835-5108-C4D7-CE0D-DB9C16983F3F}"/>
              </a:ext>
            </a:extLst>
          </p:cNvPr>
          <p:cNvSpPr/>
          <p:nvPr/>
        </p:nvSpPr>
        <p:spPr>
          <a:xfrm>
            <a:off x="1476587" y="4097867"/>
            <a:ext cx="2634826" cy="1178560"/>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34126107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Details(2/10)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b="1" dirty="0"/>
              <a:t>To use a service, an advanced application can talk to the Kubernetes API directly to look up endpoints and call them</a:t>
            </a:r>
            <a:r>
              <a:rPr lang="en-US" altLang="ko-KR" sz="1400" dirty="0"/>
              <a:t>. </a:t>
            </a:r>
            <a:r>
              <a:rPr lang="en-US" altLang="ko-KR" sz="1400" b="1" dirty="0"/>
              <a:t>The Kubernetes API even has the capability to “</a:t>
            </a:r>
            <a:r>
              <a:rPr lang="en-US" altLang="ko-KR" sz="1400" b="1" dirty="0">
                <a:solidFill>
                  <a:srgbClr val="FF0000"/>
                </a:solidFill>
              </a:rPr>
              <a:t>watch</a:t>
            </a:r>
            <a:r>
              <a:rPr lang="en-US" altLang="ko-KR" sz="1400" b="1" dirty="0"/>
              <a:t>” objects and be </a:t>
            </a:r>
            <a:r>
              <a:rPr lang="en-US" altLang="ko-KR" sz="1400" b="1" dirty="0">
                <a:solidFill>
                  <a:srgbClr val="FF0000"/>
                </a:solidFill>
              </a:rPr>
              <a:t>notified as soon as they change</a:t>
            </a:r>
            <a:r>
              <a:rPr lang="en-US" altLang="ko-KR" sz="1400" dirty="0"/>
              <a:t>. In this way, </a:t>
            </a:r>
            <a:r>
              <a:rPr lang="en-US" altLang="ko-KR" sz="1400" b="1" dirty="0"/>
              <a:t>a client can react immediately as soon as the IPs associated with a service change</a:t>
            </a:r>
            <a:r>
              <a:rPr lang="en-US" altLang="ko-KR" sz="1400" dirty="0"/>
              <a:t>.</a:t>
            </a:r>
          </a:p>
          <a:p>
            <a:pPr lvl="1">
              <a:buFont typeface="Wingdings" panose="05000000000000000000" pitchFamily="2" charset="2"/>
              <a:buChar char="§"/>
            </a:pPr>
            <a:r>
              <a:rPr lang="en-US" altLang="ko-KR" sz="1400" dirty="0"/>
              <a:t>Let’s demonstrate this. In a terminal window, start the following command and leave it running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It will output the current state of the endpoint </a:t>
            </a:r>
            <a:r>
              <a:rPr lang="en-US" altLang="ko-KR" sz="1400" dirty="0"/>
              <a:t>and then “</a:t>
            </a:r>
            <a:r>
              <a:rPr lang="en-US" altLang="ko-KR" sz="1400" b="1" dirty="0"/>
              <a:t>hang</a:t>
            </a:r>
            <a:r>
              <a:rPr lang="en-US" altLang="ko-KR" sz="1400" dirty="0"/>
              <a:t>”(waiting) : In our case, we only have one endpoint now. If you created more, then you will see more endpoints in the output window.</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C7091778-FE0F-4CB5-9A25-30DD94EE7CAA}"/>
              </a:ext>
            </a:extLst>
          </p:cNvPr>
          <p:cNvGrpSpPr/>
          <p:nvPr/>
        </p:nvGrpSpPr>
        <p:grpSpPr>
          <a:xfrm>
            <a:off x="1333500" y="2254687"/>
            <a:ext cx="9525000" cy="2348626"/>
            <a:chOff x="1333499" y="2131152"/>
            <a:chExt cx="9525000" cy="2348626"/>
          </a:xfrm>
        </p:grpSpPr>
        <p:sp>
          <p:nvSpPr>
            <p:cNvPr id="4" name="직사각형 3">
              <a:extLst>
                <a:ext uri="{FF2B5EF4-FFF2-40B4-BE49-F238E27FC236}">
                  <a16:creationId xmlns:a16="http://schemas.microsoft.com/office/drawing/2014/main" id="{8F1B2C31-010F-480B-A1EC-DAE5C43C9BD9}"/>
                </a:ext>
              </a:extLst>
            </p:cNvPr>
            <p:cNvSpPr/>
            <p:nvPr/>
          </p:nvSpPr>
          <p:spPr>
            <a:xfrm>
              <a:off x="4626687" y="2131152"/>
              <a:ext cx="29386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a:t>
              </a:r>
              <a:r>
                <a:rPr lang="en-US" altLang="ko-KR" sz="1000" b="1" dirty="0">
                  <a:solidFill>
                    <a:srgbClr val="FF0000"/>
                  </a:solidFill>
                </a:rPr>
                <a:t>get endpoints alpaca-prod</a:t>
              </a:r>
              <a:r>
                <a:rPr lang="en-US" altLang="ko-KR" sz="1000" b="1" dirty="0"/>
                <a:t> </a:t>
              </a:r>
              <a:r>
                <a:rPr lang="en-US" altLang="ko-KR" sz="1000" b="1" dirty="0">
                  <a:solidFill>
                    <a:srgbClr val="FF0000"/>
                  </a:solidFill>
                </a:rPr>
                <a:t>--watch</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64B8D5BC-BF23-4A7A-9327-0C4A8014B75B}"/>
                </a:ext>
              </a:extLst>
            </p:cNvPr>
            <p:cNvPicPr>
              <a:picLocks noChangeAspect="1"/>
            </p:cNvPicPr>
            <p:nvPr/>
          </p:nvPicPr>
          <p:blipFill>
            <a:blip r:embed="rId2"/>
            <a:stretch>
              <a:fillRect/>
            </a:stretch>
          </p:blipFill>
          <p:spPr>
            <a:xfrm>
              <a:off x="1333499" y="2650978"/>
              <a:ext cx="9525000" cy="1828800"/>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A51EA22C-47EB-429E-8EB6-56CA72434AFE}"/>
                </a:ext>
              </a:extLst>
            </p:cNvPr>
            <p:cNvSpPr/>
            <p:nvPr/>
          </p:nvSpPr>
          <p:spPr>
            <a:xfrm>
              <a:off x="5923722" y="2382613"/>
              <a:ext cx="389614" cy="24622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1" name="직사각형 10">
            <a:extLst>
              <a:ext uri="{FF2B5EF4-FFF2-40B4-BE49-F238E27FC236}">
                <a16:creationId xmlns:a16="http://schemas.microsoft.com/office/drawing/2014/main" id="{2E4C065C-432D-F98D-039E-79F035D96D4C}"/>
              </a:ext>
            </a:extLst>
          </p:cNvPr>
          <p:cNvSpPr/>
          <p:nvPr/>
        </p:nvSpPr>
        <p:spPr>
          <a:xfrm>
            <a:off x="1469813" y="3637280"/>
            <a:ext cx="2817707" cy="18965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24328156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Details(3/10)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dirty="0"/>
              <a:t>Now open up another terminal window and </a:t>
            </a:r>
            <a:r>
              <a:rPr lang="en-US" altLang="ko-KR" sz="1400" b="1" dirty="0"/>
              <a:t>delete and recreate the pods backing “alpaca-prod” </a:t>
            </a:r>
            <a:r>
              <a:rPr lang="en-US" altLang="ko-KR" sz="1400" dirty="0"/>
              <a:t>: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109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4" name="그룹 13">
            <a:extLst>
              <a:ext uri="{FF2B5EF4-FFF2-40B4-BE49-F238E27FC236}">
                <a16:creationId xmlns:a16="http://schemas.microsoft.com/office/drawing/2014/main" id="{E9BB0961-14C7-4EA0-8F97-EF296DCA185F}"/>
              </a:ext>
            </a:extLst>
          </p:cNvPr>
          <p:cNvGrpSpPr/>
          <p:nvPr/>
        </p:nvGrpSpPr>
        <p:grpSpPr>
          <a:xfrm>
            <a:off x="2150993" y="1557924"/>
            <a:ext cx="7890013" cy="4525670"/>
            <a:chOff x="2150993" y="1557924"/>
            <a:chExt cx="7890013" cy="4525670"/>
          </a:xfrm>
        </p:grpSpPr>
        <p:grpSp>
          <p:nvGrpSpPr>
            <p:cNvPr id="12" name="그룹 11">
              <a:extLst>
                <a:ext uri="{FF2B5EF4-FFF2-40B4-BE49-F238E27FC236}">
                  <a16:creationId xmlns:a16="http://schemas.microsoft.com/office/drawing/2014/main" id="{36350615-F2B7-487A-BFB5-CDFC2940FFD7}"/>
                </a:ext>
              </a:extLst>
            </p:cNvPr>
            <p:cNvGrpSpPr/>
            <p:nvPr/>
          </p:nvGrpSpPr>
          <p:grpSpPr>
            <a:xfrm>
              <a:off x="2150993" y="1557924"/>
              <a:ext cx="7890013" cy="4525670"/>
              <a:chOff x="2150993" y="1557924"/>
              <a:chExt cx="7890013" cy="4525670"/>
            </a:xfrm>
          </p:grpSpPr>
          <p:sp>
            <p:nvSpPr>
              <p:cNvPr id="4" name="직사각형 3">
                <a:extLst>
                  <a:ext uri="{FF2B5EF4-FFF2-40B4-BE49-F238E27FC236}">
                    <a16:creationId xmlns:a16="http://schemas.microsoft.com/office/drawing/2014/main" id="{675D704D-B504-4BEE-B5B0-FB36352E7CBC}"/>
                  </a:ext>
                </a:extLst>
              </p:cNvPr>
              <p:cNvSpPr/>
              <p:nvPr/>
            </p:nvSpPr>
            <p:spPr>
              <a:xfrm>
                <a:off x="3048000" y="1557924"/>
                <a:ext cx="6096000" cy="861774"/>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a:t>
                </a:r>
                <a:r>
                  <a:rPr lang="en-US" altLang="ko-KR" sz="1000" b="1" dirty="0">
                    <a:solidFill>
                      <a:srgbClr val="FF0000"/>
                    </a:solidFill>
                  </a:rPr>
                  <a:t>delete</a:t>
                </a:r>
                <a:r>
                  <a:rPr lang="en-US" altLang="ko-KR" sz="1000" b="1" dirty="0"/>
                  <a:t> pod/alpaca-prod</a:t>
                </a:r>
              </a:p>
              <a:p>
                <a:r>
                  <a:rPr lang="en-US" altLang="ko-KR" sz="1000" b="1" dirty="0"/>
                  <a:t>$ </a:t>
                </a:r>
                <a:r>
                  <a:rPr lang="en-US" altLang="ko-KR" sz="1000" b="1" dirty="0" err="1"/>
                  <a:t>kubectl</a:t>
                </a:r>
                <a:r>
                  <a:rPr lang="en-US" altLang="ko-KR" sz="1000" b="1" dirty="0"/>
                  <a:t> </a:t>
                </a:r>
                <a:r>
                  <a:rPr lang="en-US" altLang="ko-KR" sz="1000" b="1" dirty="0">
                    <a:solidFill>
                      <a:srgbClr val="FF0000"/>
                    </a:solidFill>
                  </a:rPr>
                  <a:t>run</a:t>
                </a:r>
                <a:r>
                  <a:rPr lang="en-US" altLang="ko-KR" sz="1000" b="1" dirty="0"/>
                  <a:t> alpaca-prod \</a:t>
                </a:r>
              </a:p>
              <a:p>
                <a:r>
                  <a:rPr lang="en-US" altLang="ko-KR" sz="1000" b="1" dirty="0"/>
                  <a:t>--image=knix008/kuard-shkwon-amd64:1.0 \</a:t>
                </a:r>
              </a:p>
              <a:p>
                <a:r>
                  <a:rPr lang="en-US" altLang="ko-KR" sz="1000" b="1" dirty="0"/>
                  <a:t>--port=8080 \</a:t>
                </a:r>
              </a:p>
              <a:p>
                <a:r>
                  <a:rPr lang="en-US" altLang="ko-KR" sz="1000" b="1" dirty="0"/>
                  <a:t>--labels="</a:t>
                </a:r>
                <a:r>
                  <a:rPr lang="en-US" altLang="ko-KR" sz="1000" b="1" dirty="0" err="1"/>
                  <a:t>ver</a:t>
                </a:r>
                <a:r>
                  <a:rPr lang="en-US" altLang="ko-KR" sz="1000" b="1" dirty="0"/>
                  <a:t>=1,app=</a:t>
                </a:r>
                <a:r>
                  <a:rPr lang="en-US" altLang="ko-KR" sz="1000" b="1" dirty="0" err="1"/>
                  <a:t>alpaca,env</a:t>
                </a:r>
                <a:r>
                  <a:rPr lang="en-US" altLang="ko-KR" sz="1000" b="1" dirty="0"/>
                  <a:t>=prod"</a:t>
                </a:r>
                <a:endParaRPr lang="ko-KR" altLang="en-US" sz="1000" b="1" dirty="0"/>
              </a:p>
            </p:txBody>
          </p:sp>
          <p:grpSp>
            <p:nvGrpSpPr>
              <p:cNvPr id="10" name="그룹 9">
                <a:extLst>
                  <a:ext uri="{FF2B5EF4-FFF2-40B4-BE49-F238E27FC236}">
                    <a16:creationId xmlns:a16="http://schemas.microsoft.com/office/drawing/2014/main" id="{FBE6C9F0-2BB8-4B57-9149-A39398E9CB94}"/>
                  </a:ext>
                </a:extLst>
              </p:cNvPr>
              <p:cNvGrpSpPr/>
              <p:nvPr/>
            </p:nvGrpSpPr>
            <p:grpSpPr>
              <a:xfrm>
                <a:off x="2150993" y="2727878"/>
                <a:ext cx="7890013" cy="3355716"/>
                <a:chOff x="1333500" y="2727878"/>
                <a:chExt cx="9525000" cy="4304333"/>
              </a:xfrm>
            </p:grpSpPr>
            <p:pic>
              <p:nvPicPr>
                <p:cNvPr id="8" name="그림 7">
                  <a:extLst>
                    <a:ext uri="{FF2B5EF4-FFF2-40B4-BE49-F238E27FC236}">
                      <a16:creationId xmlns:a16="http://schemas.microsoft.com/office/drawing/2014/main" id="{34C11430-CDA8-441F-AE07-8D1A0150FA56}"/>
                    </a:ext>
                  </a:extLst>
                </p:cNvPr>
                <p:cNvPicPr>
                  <a:picLocks noChangeAspect="1"/>
                </p:cNvPicPr>
                <p:nvPr/>
              </p:nvPicPr>
              <p:blipFill>
                <a:blip r:embed="rId2"/>
                <a:stretch>
                  <a:fillRect/>
                </a:stretch>
              </p:blipFill>
              <p:spPr>
                <a:xfrm>
                  <a:off x="1333500" y="2727878"/>
                  <a:ext cx="9525000" cy="2038350"/>
                </a:xfrm>
                <a:prstGeom prst="rect">
                  <a:avLst/>
                </a:prstGeom>
                <a:ln>
                  <a:solidFill>
                    <a:schemeClr val="bg1">
                      <a:lumMod val="50000"/>
                    </a:schemeClr>
                  </a:solidFill>
                </a:ln>
              </p:spPr>
            </p:pic>
            <p:pic>
              <p:nvPicPr>
                <p:cNvPr id="9" name="그림 8">
                  <a:extLst>
                    <a:ext uri="{FF2B5EF4-FFF2-40B4-BE49-F238E27FC236}">
                      <a16:creationId xmlns:a16="http://schemas.microsoft.com/office/drawing/2014/main" id="{04F01439-1DE6-4D46-B890-8AFCF6FB61CF}"/>
                    </a:ext>
                  </a:extLst>
                </p:cNvPr>
                <p:cNvPicPr>
                  <a:picLocks noChangeAspect="1"/>
                </p:cNvPicPr>
                <p:nvPr/>
              </p:nvPicPr>
              <p:blipFill>
                <a:blip r:embed="rId3"/>
                <a:stretch>
                  <a:fillRect/>
                </a:stretch>
              </p:blipFill>
              <p:spPr>
                <a:xfrm>
                  <a:off x="1333500" y="4841461"/>
                  <a:ext cx="9525000" cy="2190750"/>
                </a:xfrm>
                <a:prstGeom prst="rect">
                  <a:avLst/>
                </a:prstGeom>
                <a:ln>
                  <a:solidFill>
                    <a:schemeClr val="bg1">
                      <a:lumMod val="50000"/>
                    </a:schemeClr>
                  </a:solidFill>
                </a:ln>
              </p:spPr>
            </p:pic>
          </p:grpSp>
          <p:sp>
            <p:nvSpPr>
              <p:cNvPr id="11" name="화살표: 아래쪽 10">
                <a:extLst>
                  <a:ext uri="{FF2B5EF4-FFF2-40B4-BE49-F238E27FC236}">
                    <a16:creationId xmlns:a16="http://schemas.microsoft.com/office/drawing/2014/main" id="{23EB9B32-EF62-4703-BF39-0E08A35AC2DA}"/>
                  </a:ext>
                </a:extLst>
              </p:cNvPr>
              <p:cNvSpPr/>
              <p:nvPr/>
            </p:nvSpPr>
            <p:spPr>
              <a:xfrm>
                <a:off x="5901192" y="2443842"/>
                <a:ext cx="389614" cy="259892"/>
              </a:xfrm>
              <a:prstGeom prst="downArrow">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3" name="직사각형 12">
              <a:extLst>
                <a:ext uri="{FF2B5EF4-FFF2-40B4-BE49-F238E27FC236}">
                  <a16:creationId xmlns:a16="http://schemas.microsoft.com/office/drawing/2014/main" id="{7FF7D4FE-9D88-4696-BC8E-692706149528}"/>
                </a:ext>
              </a:extLst>
            </p:cNvPr>
            <p:cNvSpPr/>
            <p:nvPr/>
          </p:nvSpPr>
          <p:spPr>
            <a:xfrm>
              <a:off x="2209800" y="5438692"/>
              <a:ext cx="2401957" cy="28624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28466007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Details(4/10)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Endpoints :</a:t>
            </a:r>
          </a:p>
          <a:p>
            <a:pPr lvl="1">
              <a:buFont typeface="Wingdings" panose="05000000000000000000" pitchFamily="2" charset="2"/>
              <a:buChar char="§"/>
            </a:pPr>
            <a:r>
              <a:rPr lang="en-US" altLang="ko-KR" sz="1400" dirty="0"/>
              <a:t>If you look back at the output from the watched endpoint, you will see that </a:t>
            </a:r>
            <a:r>
              <a:rPr lang="en-US" altLang="ko-KR" sz="1400" b="1" dirty="0"/>
              <a:t>as you deleted and re-created these Pods, the output of the command reflected the most up-to-date set of IP addresses associated with the service</a:t>
            </a:r>
            <a:r>
              <a:rPr lang="en-US" altLang="ko-KR" sz="1400" dirty="0"/>
              <a:t>.</a:t>
            </a:r>
          </a:p>
          <a:p>
            <a:pPr lvl="1">
              <a:buFont typeface="Wingdings" panose="05000000000000000000" pitchFamily="2" charset="2"/>
              <a:buChar char="§"/>
            </a:pPr>
            <a:r>
              <a:rPr lang="en-US" altLang="ko-KR" sz="1400" b="1" dirty="0"/>
              <a:t>The Endpoints object is great if you are writing new code that is built to run on Kubernetes from the start</a:t>
            </a:r>
            <a:r>
              <a:rPr lang="en-US" altLang="ko-KR" sz="1400" dirty="0"/>
              <a:t>. But most projects aren’t in this position! </a:t>
            </a:r>
            <a:r>
              <a:rPr lang="en-US" altLang="ko-KR" sz="1400" b="1" dirty="0">
                <a:solidFill>
                  <a:srgbClr val="FF0000"/>
                </a:solidFill>
              </a:rPr>
              <a:t>Most existing systems are built to work with regular old IP addresses that don’t change that often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110</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1316DD0-B08D-43A9-AF31-B0AA1DA6425E}"/>
              </a:ext>
            </a:extLst>
          </p:cNvPr>
          <p:cNvPicPr>
            <a:picLocks noChangeAspect="1"/>
          </p:cNvPicPr>
          <p:nvPr/>
        </p:nvPicPr>
        <p:blipFill>
          <a:blip r:embed="rId2"/>
          <a:stretch>
            <a:fillRect/>
          </a:stretch>
        </p:blipFill>
        <p:spPr>
          <a:xfrm>
            <a:off x="3386666" y="2250219"/>
            <a:ext cx="5418667" cy="4158811"/>
          </a:xfrm>
          <a:prstGeom prst="rect">
            <a:avLst/>
          </a:prstGeom>
        </p:spPr>
      </p:pic>
    </p:spTree>
    <p:extLst>
      <p:ext uri="{BB962C8B-B14F-4D97-AF65-F5344CB8AC3E}">
        <p14:creationId xmlns:p14="http://schemas.microsoft.com/office/powerpoint/2010/main" val="321496803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Details(5/10)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 Service Discovery :</a:t>
            </a:r>
          </a:p>
          <a:p>
            <a:pPr lvl="1">
              <a:buFont typeface="Wingdings" panose="05000000000000000000" pitchFamily="2" charset="2"/>
              <a:buChar char="§"/>
            </a:pPr>
            <a:r>
              <a:rPr lang="en-US" altLang="ko-KR" sz="1400" b="1" dirty="0">
                <a:solidFill>
                  <a:srgbClr val="FF0000"/>
                </a:solidFill>
              </a:rPr>
              <a:t>Kubernetes services are built on top of label selectors over Pods</a:t>
            </a:r>
            <a:r>
              <a:rPr lang="en-US" altLang="ko-KR" sz="1400" dirty="0"/>
              <a:t>. </a:t>
            </a:r>
            <a:r>
              <a:rPr lang="en-US" altLang="ko-KR" sz="1400" b="1" dirty="0"/>
              <a:t>That means that you can use the Kubernetes API to do rudimentary service discovery without using a Service object at all! </a:t>
            </a:r>
            <a:r>
              <a:rPr lang="en-US" altLang="ko-KR" sz="1400" dirty="0"/>
              <a:t>With </a:t>
            </a:r>
            <a:r>
              <a:rPr lang="en-US" altLang="ko-KR" sz="1400" b="1" dirty="0" err="1"/>
              <a:t>kubectl</a:t>
            </a:r>
            <a:r>
              <a:rPr lang="en-US" altLang="ko-KR" sz="1400" dirty="0"/>
              <a:t> (and </a:t>
            </a:r>
            <a:r>
              <a:rPr lang="en-US" altLang="ko-KR" sz="1400" b="1" dirty="0"/>
              <a:t>via the API</a:t>
            </a:r>
            <a:r>
              <a:rPr lang="en-US" altLang="ko-KR" sz="1400" dirty="0"/>
              <a:t>) we can easily </a:t>
            </a:r>
            <a:r>
              <a:rPr lang="en-US" altLang="ko-KR" sz="1400" b="1" dirty="0"/>
              <a:t>see what IPs are assigned to each Pod </a:t>
            </a:r>
            <a:r>
              <a:rPr lang="en-US" altLang="ko-KR" sz="1400" dirty="0"/>
              <a:t>in our example :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dirty="0"/>
              <a:t>This is great, but what if you have a ton of Pods? You’ll probably want to </a:t>
            </a:r>
            <a:r>
              <a:rPr lang="en-US" altLang="ko-KR" sz="1400" b="1" dirty="0">
                <a:solidFill>
                  <a:srgbClr val="FF0000"/>
                </a:solidFill>
              </a:rPr>
              <a:t>filter</a:t>
            </a:r>
            <a:r>
              <a:rPr lang="en-US" altLang="ko-KR" sz="1400" b="1" dirty="0"/>
              <a:t> this based on the labels applied as part of the pod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111</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4FCF381E-04B8-43A7-A83A-9AB6C60637B3}"/>
              </a:ext>
            </a:extLst>
          </p:cNvPr>
          <p:cNvGrpSpPr/>
          <p:nvPr/>
        </p:nvGrpSpPr>
        <p:grpSpPr>
          <a:xfrm>
            <a:off x="1274694" y="1916466"/>
            <a:ext cx="9642611" cy="2414347"/>
            <a:chOff x="1274692" y="1884661"/>
            <a:chExt cx="9642611" cy="2414347"/>
          </a:xfrm>
        </p:grpSpPr>
        <p:sp>
          <p:nvSpPr>
            <p:cNvPr id="4" name="직사각형 3">
              <a:extLst>
                <a:ext uri="{FF2B5EF4-FFF2-40B4-BE49-F238E27FC236}">
                  <a16:creationId xmlns:a16="http://schemas.microsoft.com/office/drawing/2014/main" id="{16375E96-F2E9-462F-B02A-FB3C81AA3235}"/>
                </a:ext>
              </a:extLst>
            </p:cNvPr>
            <p:cNvSpPr/>
            <p:nvPr/>
          </p:nvSpPr>
          <p:spPr>
            <a:xfrm>
              <a:off x="4733287" y="1884661"/>
              <a:ext cx="2725425"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get pods -o wide </a:t>
              </a:r>
              <a:r>
                <a:rPr lang="en-US" altLang="ko-KR" sz="1000" b="1" dirty="0">
                  <a:solidFill>
                    <a:srgbClr val="FF0000"/>
                  </a:solidFill>
                </a:rPr>
                <a:t>--show-labels</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6C1708F2-912B-418F-9561-4A01A727731A}"/>
                </a:ext>
              </a:extLst>
            </p:cNvPr>
            <p:cNvSpPr/>
            <p:nvPr/>
          </p:nvSpPr>
          <p:spPr>
            <a:xfrm>
              <a:off x="5893240" y="2143981"/>
              <a:ext cx="405517" cy="286246"/>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0B27301B-3477-44DE-9B1D-9684552F7184}"/>
                </a:ext>
              </a:extLst>
            </p:cNvPr>
            <p:cNvPicPr>
              <a:picLocks noChangeAspect="1"/>
            </p:cNvPicPr>
            <p:nvPr/>
          </p:nvPicPr>
          <p:blipFill>
            <a:blip r:embed="rId2"/>
            <a:stretch>
              <a:fillRect/>
            </a:stretch>
          </p:blipFill>
          <p:spPr>
            <a:xfrm>
              <a:off x="1274692" y="2443326"/>
              <a:ext cx="9642611" cy="1855682"/>
            </a:xfrm>
            <a:prstGeom prst="rect">
              <a:avLst/>
            </a:prstGeom>
            <a:ln>
              <a:solidFill>
                <a:schemeClr val="bg1">
                  <a:lumMod val="50000"/>
                </a:schemeClr>
              </a:solidFill>
            </a:ln>
          </p:spPr>
        </p:pic>
      </p:grpSp>
    </p:spTree>
    <p:extLst>
      <p:ext uri="{BB962C8B-B14F-4D97-AF65-F5344CB8AC3E}">
        <p14:creationId xmlns:p14="http://schemas.microsoft.com/office/powerpoint/2010/main" val="32138235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Details(6/10)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Manual Service Discovery :</a:t>
            </a:r>
          </a:p>
          <a:p>
            <a:pPr lvl="1">
              <a:buFont typeface="Wingdings" panose="05000000000000000000" pitchFamily="2" charset="2"/>
              <a:buChar char="§"/>
            </a:pPr>
            <a:r>
              <a:rPr lang="en-US" altLang="ko-KR" sz="1400" dirty="0"/>
              <a:t>Let’s do that for just the “</a:t>
            </a:r>
            <a:r>
              <a:rPr lang="en-US" altLang="ko-KR" sz="1400" b="1" dirty="0"/>
              <a:t>alpaca</a:t>
            </a:r>
            <a:r>
              <a:rPr lang="en-US" altLang="ko-KR" sz="1400" dirty="0"/>
              <a:t>” app :</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You can always use labels to identify the set of Pods you are interested in</a:t>
            </a:r>
            <a:r>
              <a:rPr lang="en-US" altLang="ko-KR" sz="1400" dirty="0"/>
              <a:t>, </a:t>
            </a:r>
            <a:r>
              <a:rPr lang="en-US" altLang="ko-KR" sz="1400" b="1" dirty="0"/>
              <a:t>get all of the Pods for those labels, and dig out the IP address</a:t>
            </a:r>
            <a:r>
              <a:rPr lang="en-US" altLang="ko-KR" sz="1400" dirty="0"/>
              <a:t>. But keeping the correct set of labels to use in sync can be tricky(little bit hard). This is why the “</a:t>
            </a:r>
            <a:r>
              <a:rPr lang="en-US" altLang="ko-KR" sz="1400" b="1" dirty="0"/>
              <a:t>Service object</a:t>
            </a:r>
            <a:r>
              <a:rPr lang="en-US" altLang="ko-KR" sz="1400" dirty="0"/>
              <a:t>” was created.</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112</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24E2A05E-20CC-4505-939F-8D7A931094D4}"/>
              </a:ext>
            </a:extLst>
          </p:cNvPr>
          <p:cNvGrpSpPr/>
          <p:nvPr/>
        </p:nvGrpSpPr>
        <p:grpSpPr>
          <a:xfrm>
            <a:off x="1302523" y="1499672"/>
            <a:ext cx="9586954" cy="2409079"/>
            <a:chOff x="1302523" y="1499672"/>
            <a:chExt cx="9586954" cy="2409079"/>
          </a:xfrm>
        </p:grpSpPr>
        <p:sp>
          <p:nvSpPr>
            <p:cNvPr id="4" name="직사각형 3">
              <a:extLst>
                <a:ext uri="{FF2B5EF4-FFF2-40B4-BE49-F238E27FC236}">
                  <a16:creationId xmlns:a16="http://schemas.microsoft.com/office/drawing/2014/main" id="{E7638D43-737D-4BC0-8FB5-F61CBD24D77D}"/>
                </a:ext>
              </a:extLst>
            </p:cNvPr>
            <p:cNvSpPr/>
            <p:nvPr/>
          </p:nvSpPr>
          <p:spPr>
            <a:xfrm>
              <a:off x="3048000" y="1499672"/>
              <a:ext cx="6096000" cy="246221"/>
            </a:xfrm>
            <a:prstGeom prst="rect">
              <a:avLst/>
            </a:prstGeom>
            <a:ln>
              <a:solidFill>
                <a:schemeClr val="bg1">
                  <a:lumMod val="50000"/>
                </a:schemeClr>
              </a:solidFill>
            </a:ln>
          </p:spPr>
          <p:txBody>
            <a:bodyPr>
              <a:spAutoFit/>
            </a:bodyPr>
            <a:lstStyle/>
            <a:p>
              <a:r>
                <a:rPr lang="en-US" altLang="ko-KR" sz="1000" b="1" dirty="0"/>
                <a:t>$ </a:t>
              </a:r>
              <a:r>
                <a:rPr lang="en-US" altLang="ko-KR" sz="1000" b="1" dirty="0" err="1"/>
                <a:t>kubectl</a:t>
              </a:r>
              <a:r>
                <a:rPr lang="en-US" altLang="ko-KR" sz="1000" b="1" dirty="0"/>
                <a:t> get pods -o wide </a:t>
              </a:r>
              <a:r>
                <a:rPr lang="en-US" altLang="ko-KR" sz="1000" b="1" dirty="0">
                  <a:solidFill>
                    <a:srgbClr val="FF0000"/>
                  </a:solidFill>
                </a:rPr>
                <a:t>--selector=app=</a:t>
              </a:r>
              <a:r>
                <a:rPr lang="en-US" altLang="ko-KR" sz="1000" b="1" dirty="0" err="1">
                  <a:solidFill>
                    <a:srgbClr val="FF0000"/>
                  </a:solidFill>
                </a:rPr>
                <a:t>alpaca,env</a:t>
              </a:r>
              <a:r>
                <a:rPr lang="en-US" altLang="ko-KR" sz="1000" b="1" dirty="0">
                  <a:solidFill>
                    <a:srgbClr val="FF0000"/>
                  </a:solidFill>
                </a:rPr>
                <a:t>=prod</a:t>
              </a:r>
              <a:endParaRPr lang="ko-KR" altLang="en-US" sz="1000" b="1" dirty="0">
                <a:solidFill>
                  <a:srgbClr val="FF0000"/>
                </a:solidFill>
              </a:endParaRPr>
            </a:p>
          </p:txBody>
        </p:sp>
        <p:pic>
          <p:nvPicPr>
            <p:cNvPr id="8" name="그림 7">
              <a:extLst>
                <a:ext uri="{FF2B5EF4-FFF2-40B4-BE49-F238E27FC236}">
                  <a16:creationId xmlns:a16="http://schemas.microsoft.com/office/drawing/2014/main" id="{31120B73-4E40-40B6-8ECC-23274415D68C}"/>
                </a:ext>
              </a:extLst>
            </p:cNvPr>
            <p:cNvPicPr>
              <a:picLocks noChangeAspect="1"/>
            </p:cNvPicPr>
            <p:nvPr/>
          </p:nvPicPr>
          <p:blipFill>
            <a:blip r:embed="rId2"/>
            <a:stretch>
              <a:fillRect/>
            </a:stretch>
          </p:blipFill>
          <p:spPr>
            <a:xfrm>
              <a:off x="1302523" y="2063780"/>
              <a:ext cx="9586954" cy="1844971"/>
            </a:xfrm>
            <a:prstGeom prst="rect">
              <a:avLst/>
            </a:prstGeom>
            <a:ln>
              <a:solidFill>
                <a:schemeClr val="bg1">
                  <a:lumMod val="50000"/>
                </a:schemeClr>
              </a:solidFill>
            </a:ln>
          </p:spPr>
        </p:pic>
        <p:sp>
          <p:nvSpPr>
            <p:cNvPr id="9" name="화살표: 아래쪽 8">
              <a:extLst>
                <a:ext uri="{FF2B5EF4-FFF2-40B4-BE49-F238E27FC236}">
                  <a16:creationId xmlns:a16="http://schemas.microsoft.com/office/drawing/2014/main" id="{A0DE78ED-76F4-4012-8AA9-75A51E712FD2}"/>
                </a:ext>
              </a:extLst>
            </p:cNvPr>
            <p:cNvSpPr/>
            <p:nvPr/>
          </p:nvSpPr>
          <p:spPr>
            <a:xfrm>
              <a:off x="5899868" y="1753090"/>
              <a:ext cx="413468" cy="313495"/>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77276119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Details(7/10)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lnSpcReduction="10000"/>
          </a:bodyPr>
          <a:lstStyle/>
          <a:p>
            <a:pPr>
              <a:buFont typeface="Wingdings" panose="05000000000000000000" pitchFamily="2" charset="2"/>
              <a:buChar char="§"/>
            </a:pPr>
            <a:r>
              <a:rPr lang="en-US" altLang="ko-KR" sz="1800" b="1" dirty="0"/>
              <a:t>“</a:t>
            </a:r>
            <a:r>
              <a:rPr lang="en-US" altLang="ko-KR" sz="1800" b="1" dirty="0" err="1"/>
              <a:t>kube</a:t>
            </a:r>
            <a:r>
              <a:rPr lang="en-US" altLang="ko-KR" sz="1800" b="1" dirty="0"/>
              <a:t>-proxy” and Cluster IPs :</a:t>
            </a:r>
          </a:p>
          <a:p>
            <a:pPr lvl="1">
              <a:buFont typeface="Wingdings" panose="05000000000000000000" pitchFamily="2" charset="2"/>
              <a:buChar char="§"/>
            </a:pPr>
            <a:r>
              <a:rPr lang="en-US" altLang="ko-KR" sz="1400" b="1" dirty="0">
                <a:solidFill>
                  <a:srgbClr val="FF0000"/>
                </a:solidFill>
              </a:rPr>
              <a:t>Cluster IPs are stable virtual IPs </a:t>
            </a:r>
            <a:r>
              <a:rPr lang="en-US" altLang="ko-KR" sz="1400" b="1" dirty="0"/>
              <a:t>that load-balance traffic across all of the endpoints in a service</a:t>
            </a:r>
            <a:r>
              <a:rPr lang="en-US" altLang="ko-KR" sz="1400" dirty="0"/>
              <a:t>. This magic is performed by a component running on every node in the cluster called the “</a:t>
            </a:r>
            <a:r>
              <a:rPr lang="en-US" altLang="ko-KR" sz="1400" b="1" dirty="0" err="1">
                <a:solidFill>
                  <a:srgbClr val="FF0000"/>
                </a:solidFill>
              </a:rPr>
              <a:t>kube</a:t>
            </a:r>
            <a:r>
              <a:rPr lang="en-US" altLang="ko-KR" sz="1400" b="1" dirty="0">
                <a:solidFill>
                  <a:srgbClr val="FF0000"/>
                </a:solidFill>
              </a:rPr>
              <a:t>-proxy</a:t>
            </a:r>
            <a:r>
              <a:rPr lang="en-US" altLang="ko-KR" sz="1400" dirty="0"/>
              <a:t>”.</a:t>
            </a:r>
          </a:p>
          <a:p>
            <a:pPr lvl="1">
              <a:buFont typeface="Wingdings" panose="05000000000000000000" pitchFamily="2" charset="2"/>
              <a:buChar char="§"/>
            </a:pPr>
            <a:r>
              <a:rPr lang="en-US" altLang="ko-KR" sz="1400" b="1" dirty="0"/>
              <a:t>The “</a:t>
            </a:r>
            <a:r>
              <a:rPr lang="en-US" altLang="ko-KR" sz="1400" b="1" dirty="0" err="1"/>
              <a:t>kube</a:t>
            </a:r>
            <a:r>
              <a:rPr lang="en-US" altLang="ko-KR" sz="1400" b="1" dirty="0"/>
              <a:t>-proxy” watches for new services in the cluster via the API server</a:t>
            </a:r>
            <a:r>
              <a:rPr lang="en-US" altLang="ko-KR" sz="1400" dirty="0"/>
              <a:t>. </a:t>
            </a:r>
            <a:r>
              <a:rPr lang="en-US" altLang="ko-KR" sz="1400" b="1" dirty="0"/>
              <a:t>It then </a:t>
            </a:r>
            <a:r>
              <a:rPr lang="en-US" altLang="ko-KR" sz="1400" b="1" dirty="0">
                <a:solidFill>
                  <a:srgbClr val="FF0000"/>
                </a:solidFill>
              </a:rPr>
              <a:t>programs a set of iptables rules in the kernel </a:t>
            </a:r>
            <a:r>
              <a:rPr lang="en-US" altLang="ko-KR" sz="1400" b="1" dirty="0"/>
              <a:t>of that host to rewrite the destinations of packets so they are directed at one of the endpoints for that service</a:t>
            </a:r>
            <a:r>
              <a:rPr lang="en-US" altLang="ko-KR" sz="1400" dirty="0"/>
              <a:t>. If the set of endpoints for a service changes (due to Pods coming and going or due to a failed readiness check), </a:t>
            </a:r>
            <a:r>
              <a:rPr lang="en-US" altLang="ko-KR" sz="1400" b="1" dirty="0"/>
              <a:t>the set of iptables rules is rewritten</a:t>
            </a:r>
            <a:r>
              <a:rPr lang="en-US" altLang="ko-KR" sz="1400" dirty="0"/>
              <a:t>.</a:t>
            </a:r>
          </a:p>
          <a:p>
            <a:pPr lvl="1">
              <a:buFont typeface="Wingdings" panose="05000000000000000000" pitchFamily="2" charset="2"/>
              <a:buChar char="§"/>
            </a:pPr>
            <a:r>
              <a:rPr lang="en-US" altLang="ko-KR" sz="1400" b="1" dirty="0">
                <a:solidFill>
                  <a:srgbClr val="FF0000"/>
                </a:solidFill>
              </a:rPr>
              <a:t>The cluster IP itself is usually assigned by the API server </a:t>
            </a:r>
            <a:r>
              <a:rPr lang="en-US" altLang="ko-KR" sz="1400" b="1" dirty="0"/>
              <a:t>as the service is created</a:t>
            </a:r>
            <a:r>
              <a:rPr lang="en-US" altLang="ko-KR" sz="1400" dirty="0"/>
              <a:t>. </a:t>
            </a:r>
            <a:r>
              <a:rPr lang="en-US" altLang="ko-KR" sz="1400" b="1" dirty="0"/>
              <a:t>However, when creating the service, the user can specify a specific cluster IP.</a:t>
            </a:r>
            <a:r>
              <a:rPr lang="en-US" altLang="ko-KR" sz="1400" dirty="0"/>
              <a:t> </a:t>
            </a:r>
            <a:r>
              <a:rPr lang="en-US" altLang="ko-KR" sz="1400" b="1" dirty="0"/>
              <a:t>Once set, </a:t>
            </a:r>
            <a:r>
              <a:rPr lang="en-US" altLang="ko-KR" sz="1400" b="1" dirty="0">
                <a:solidFill>
                  <a:srgbClr val="FF0000"/>
                </a:solidFill>
              </a:rPr>
              <a:t>the cluster IP cannot be modified without deleting and recreating the Service object</a:t>
            </a:r>
            <a:r>
              <a:rPr lang="en-US" altLang="ko-KR" sz="1400" dirty="0"/>
              <a:t>.</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b="1" dirty="0"/>
          </a:p>
          <a:p>
            <a:pPr lvl="1">
              <a:buFont typeface="Wingdings" panose="05000000000000000000" pitchFamily="2" charset="2"/>
              <a:buChar char="§"/>
            </a:pPr>
            <a:endParaRPr lang="en-US" altLang="ko-KR" sz="1400" b="1" dirty="0"/>
          </a:p>
          <a:p>
            <a:pPr lvl="1">
              <a:buFont typeface="Wingdings" panose="05000000000000000000" pitchFamily="2" charset="2"/>
              <a:buChar char="§"/>
            </a:pPr>
            <a:r>
              <a:rPr lang="en-US" altLang="ko-KR" sz="1400" b="1" dirty="0"/>
              <a:t>NOTE</a:t>
            </a:r>
            <a:r>
              <a:rPr lang="en-US" altLang="ko-KR" sz="1400" dirty="0"/>
              <a:t> : </a:t>
            </a:r>
            <a:r>
              <a:rPr lang="en-US" altLang="ko-KR" sz="1400" b="1" dirty="0"/>
              <a:t>The Kubernetes service address range is configured using the “</a:t>
            </a:r>
            <a:r>
              <a:rPr lang="en-US" altLang="ko-KR" sz="1400" b="1" dirty="0">
                <a:solidFill>
                  <a:srgbClr val="FF0000"/>
                </a:solidFill>
              </a:rPr>
              <a:t>--service-cluster-</a:t>
            </a:r>
            <a:r>
              <a:rPr lang="en-US" altLang="ko-KR" sz="1400" b="1" dirty="0" err="1">
                <a:solidFill>
                  <a:srgbClr val="FF0000"/>
                </a:solidFill>
              </a:rPr>
              <a:t>ip</a:t>
            </a:r>
            <a:r>
              <a:rPr lang="en-US" altLang="ko-KR" sz="1400" b="1" dirty="0">
                <a:solidFill>
                  <a:srgbClr val="FF0000"/>
                </a:solidFill>
              </a:rPr>
              <a:t>-range</a:t>
            </a:r>
            <a:r>
              <a:rPr lang="en-US" altLang="ko-KR" sz="1400" b="1" dirty="0"/>
              <a:t>” flag on the </a:t>
            </a:r>
            <a:r>
              <a:rPr lang="en-US" altLang="ko-KR" sz="1400" b="1" dirty="0" err="1">
                <a:solidFill>
                  <a:srgbClr val="FF0000"/>
                </a:solidFill>
              </a:rPr>
              <a:t>kube-apiserver</a:t>
            </a:r>
            <a:r>
              <a:rPr lang="en-US" altLang="ko-KR" sz="1400" b="1" dirty="0"/>
              <a:t> binary</a:t>
            </a:r>
            <a:r>
              <a:rPr lang="en-US" altLang="ko-KR" sz="1400" dirty="0"/>
              <a:t>. </a:t>
            </a:r>
            <a:r>
              <a:rPr lang="en-US" altLang="ko-KR" sz="1400" b="1" dirty="0"/>
              <a:t>The service address range should not overlap with the IP subnets and ranges assigned to each Docker bridge or Kubernetes node</a:t>
            </a:r>
            <a:r>
              <a:rPr lang="en-US" altLang="ko-KR" sz="1400" dirty="0"/>
              <a:t>. In addition, any explicit cluster IP requested must come from that range and not already be in use.</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113</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34C023E5-FF51-44A7-B76B-CAA80401B63E}"/>
              </a:ext>
            </a:extLst>
          </p:cNvPr>
          <p:cNvGrpSpPr/>
          <p:nvPr/>
        </p:nvGrpSpPr>
        <p:grpSpPr>
          <a:xfrm>
            <a:off x="4320305" y="3053300"/>
            <a:ext cx="3551389" cy="2316013"/>
            <a:chOff x="4005001" y="3299959"/>
            <a:chExt cx="4181998" cy="2649800"/>
          </a:xfrm>
        </p:grpSpPr>
        <p:pic>
          <p:nvPicPr>
            <p:cNvPr id="4" name="그림 3">
              <a:extLst>
                <a:ext uri="{FF2B5EF4-FFF2-40B4-BE49-F238E27FC236}">
                  <a16:creationId xmlns:a16="http://schemas.microsoft.com/office/drawing/2014/main" id="{2F838197-7E47-40CD-B5F4-3D39B7F776A8}"/>
                </a:ext>
              </a:extLst>
            </p:cNvPr>
            <p:cNvPicPr>
              <a:picLocks noChangeAspect="1"/>
            </p:cNvPicPr>
            <p:nvPr/>
          </p:nvPicPr>
          <p:blipFill>
            <a:blip r:embed="rId2"/>
            <a:stretch>
              <a:fillRect/>
            </a:stretch>
          </p:blipFill>
          <p:spPr>
            <a:xfrm>
              <a:off x="4005001" y="3299959"/>
              <a:ext cx="4181998" cy="2649800"/>
            </a:xfrm>
            <a:prstGeom prst="rect">
              <a:avLst/>
            </a:prstGeom>
          </p:spPr>
        </p:pic>
        <p:sp>
          <p:nvSpPr>
            <p:cNvPr id="8" name="직사각형 7">
              <a:extLst>
                <a:ext uri="{FF2B5EF4-FFF2-40B4-BE49-F238E27FC236}">
                  <a16:creationId xmlns:a16="http://schemas.microsoft.com/office/drawing/2014/main" id="{5DA01AAB-9249-4537-A79D-F5393C50DBEA}"/>
                </a:ext>
              </a:extLst>
            </p:cNvPr>
            <p:cNvSpPr/>
            <p:nvPr/>
          </p:nvSpPr>
          <p:spPr>
            <a:xfrm>
              <a:off x="5247861" y="4182386"/>
              <a:ext cx="962108" cy="42937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42891049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Details(8/10)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While most users should be using the DNS services to find cluster IPs, there are </a:t>
            </a:r>
            <a:r>
              <a:rPr lang="en-US" altLang="ko-KR" sz="1400" b="1" dirty="0"/>
              <a:t>some older mechanisms that may still be in use</a:t>
            </a:r>
            <a:r>
              <a:rPr lang="en-US" altLang="ko-KR" sz="1400" dirty="0"/>
              <a:t>. One of these is </a:t>
            </a:r>
            <a:r>
              <a:rPr lang="en-US" altLang="ko-KR" sz="1400" b="1" dirty="0"/>
              <a:t>injecting a set of environment variables into Pods as they start up</a:t>
            </a:r>
            <a:r>
              <a:rPr lang="en-US" altLang="ko-KR" sz="1400" dirty="0"/>
              <a:t>.</a:t>
            </a:r>
          </a:p>
          <a:p>
            <a:pPr lvl="1">
              <a:buFont typeface="Wingdings" panose="05000000000000000000" pitchFamily="2" charset="2"/>
              <a:buChar char="§"/>
            </a:pPr>
            <a:r>
              <a:rPr lang="en-US" altLang="ko-KR" sz="1400" dirty="0"/>
              <a:t>Enter the following commands in your terminal :</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114</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F5B3CD71-299C-4616-9A76-8C1D54854E23}"/>
              </a:ext>
            </a:extLst>
          </p:cNvPr>
          <p:cNvGrpSpPr/>
          <p:nvPr/>
        </p:nvGrpSpPr>
        <p:grpSpPr>
          <a:xfrm>
            <a:off x="1333500" y="2089327"/>
            <a:ext cx="9525000" cy="2679346"/>
            <a:chOff x="1333500" y="1914436"/>
            <a:chExt cx="9525000" cy="2679346"/>
          </a:xfrm>
        </p:grpSpPr>
        <p:sp>
          <p:nvSpPr>
            <p:cNvPr id="4" name="직사각형 3">
              <a:extLst>
                <a:ext uri="{FF2B5EF4-FFF2-40B4-BE49-F238E27FC236}">
                  <a16:creationId xmlns:a16="http://schemas.microsoft.com/office/drawing/2014/main" id="{2AAE44F9-26F6-4A63-B2E6-FE75AB267115}"/>
                </a:ext>
              </a:extLst>
            </p:cNvPr>
            <p:cNvSpPr/>
            <p:nvPr/>
          </p:nvSpPr>
          <p:spPr>
            <a:xfrm>
              <a:off x="3048000" y="1914436"/>
              <a:ext cx="6096000" cy="553998"/>
            </a:xfrm>
            <a:prstGeom prst="rect">
              <a:avLst/>
            </a:prstGeom>
            <a:ln>
              <a:solidFill>
                <a:schemeClr val="bg1">
                  <a:lumMod val="50000"/>
                </a:schemeClr>
              </a:solidFill>
            </a:ln>
          </p:spPr>
          <p:txBody>
            <a:bodyPr>
              <a:spAutoFit/>
            </a:bodyPr>
            <a:lstStyle/>
            <a:p>
              <a:r>
                <a:rPr lang="en-US" altLang="ko-KR" sz="1000" b="1" dirty="0"/>
                <a:t>$ ALPACA_POD=$(</a:t>
              </a:r>
              <a:r>
                <a:rPr lang="en-US" altLang="ko-KR" sz="1000" b="1" dirty="0" err="1"/>
                <a:t>kubectl</a:t>
              </a:r>
              <a:r>
                <a:rPr lang="en-US" altLang="ko-KR" sz="1000" b="1" dirty="0"/>
                <a:t> get pods -l app=alpaca \</a:t>
              </a:r>
            </a:p>
            <a:p>
              <a:r>
                <a:rPr lang="en-US" altLang="ko-KR" sz="1000" b="1" dirty="0"/>
                <a:t>-o </a:t>
              </a:r>
              <a:r>
                <a:rPr lang="en-US" altLang="ko-KR" sz="1000" b="1" dirty="0" err="1"/>
                <a:t>jsonpath</a:t>
              </a:r>
              <a:r>
                <a:rPr lang="en-US" altLang="ko-KR" sz="1000" b="1" dirty="0"/>
                <a:t>='{.items[0].metadata.name}')</a:t>
              </a:r>
            </a:p>
            <a:p>
              <a:r>
                <a:rPr lang="en-US" altLang="ko-KR" sz="1000" b="1" dirty="0"/>
                <a:t>$ </a:t>
              </a:r>
              <a:r>
                <a:rPr lang="en-US" altLang="ko-KR" sz="1000" b="1" dirty="0" err="1"/>
                <a:t>kubectl</a:t>
              </a:r>
              <a:r>
                <a:rPr lang="en-US" altLang="ko-KR" sz="1000" b="1" dirty="0"/>
                <a:t> port-forward $ALPACA_POD 48858:8080</a:t>
              </a:r>
            </a:p>
          </p:txBody>
        </p:sp>
        <p:sp>
          <p:nvSpPr>
            <p:cNvPr id="8" name="화살표: 아래쪽 7">
              <a:extLst>
                <a:ext uri="{FF2B5EF4-FFF2-40B4-BE49-F238E27FC236}">
                  <a16:creationId xmlns:a16="http://schemas.microsoft.com/office/drawing/2014/main" id="{2F802412-3A89-4881-8B66-A07ECE181942}"/>
                </a:ext>
              </a:extLst>
            </p:cNvPr>
            <p:cNvSpPr/>
            <p:nvPr/>
          </p:nvSpPr>
          <p:spPr>
            <a:xfrm>
              <a:off x="5877339" y="2468434"/>
              <a:ext cx="437322" cy="310101"/>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BC0707AD-B0B9-420D-A932-28359CCCB210}"/>
                </a:ext>
              </a:extLst>
            </p:cNvPr>
            <p:cNvPicPr>
              <a:picLocks noChangeAspect="1"/>
            </p:cNvPicPr>
            <p:nvPr/>
          </p:nvPicPr>
          <p:blipFill>
            <a:blip r:embed="rId2"/>
            <a:stretch>
              <a:fillRect/>
            </a:stretch>
          </p:blipFill>
          <p:spPr>
            <a:xfrm>
              <a:off x="1333500" y="2784032"/>
              <a:ext cx="9525000" cy="1809750"/>
            </a:xfrm>
            <a:prstGeom prst="rect">
              <a:avLst/>
            </a:prstGeom>
            <a:ln>
              <a:solidFill>
                <a:schemeClr val="bg1">
                  <a:lumMod val="50000"/>
                </a:schemeClr>
              </a:solidFill>
            </a:ln>
          </p:spPr>
        </p:pic>
      </p:grpSp>
      <p:sp>
        <p:nvSpPr>
          <p:cNvPr id="11" name="직사각형 10">
            <a:extLst>
              <a:ext uri="{FF2B5EF4-FFF2-40B4-BE49-F238E27FC236}">
                <a16:creationId xmlns:a16="http://schemas.microsoft.com/office/drawing/2014/main" id="{027CBB4A-C58F-80CE-57D9-E249075AE3E4}"/>
              </a:ext>
            </a:extLst>
          </p:cNvPr>
          <p:cNvSpPr/>
          <p:nvPr/>
        </p:nvSpPr>
        <p:spPr>
          <a:xfrm>
            <a:off x="7945120" y="3786293"/>
            <a:ext cx="894080" cy="25061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94169716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Details(9/10)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Now point your browser to </a:t>
            </a:r>
            <a:r>
              <a:rPr lang="en-US" altLang="ko-KR" sz="1400" b="1" dirty="0">
                <a:hlinkClick r:id="rId2"/>
              </a:rPr>
              <a:t>http://localhost:48858</a:t>
            </a:r>
            <a:r>
              <a:rPr lang="en-US" altLang="ko-KR" sz="1400" dirty="0"/>
              <a:t> to see the status page for this server. Expand the “</a:t>
            </a:r>
            <a:r>
              <a:rPr lang="en-US" altLang="ko-KR" sz="1400" b="1" dirty="0"/>
              <a:t>Server Env</a:t>
            </a:r>
            <a:r>
              <a:rPr lang="en-US" altLang="ko-KR" sz="1400" dirty="0"/>
              <a:t>” section and note </a:t>
            </a:r>
            <a:r>
              <a:rPr lang="en-US" altLang="ko-KR" sz="1400" b="1" dirty="0"/>
              <a:t>the set of </a:t>
            </a:r>
            <a:r>
              <a:rPr lang="en-US" altLang="ko-KR" sz="1400" b="1" dirty="0">
                <a:solidFill>
                  <a:srgbClr val="FF0000"/>
                </a:solidFill>
              </a:rPr>
              <a:t>environment variables </a:t>
            </a:r>
            <a:r>
              <a:rPr lang="en-US" altLang="ko-KR" sz="1400" b="1" dirty="0"/>
              <a:t>for the alpaca service</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115</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9" name="그룹 8">
            <a:extLst>
              <a:ext uri="{FF2B5EF4-FFF2-40B4-BE49-F238E27FC236}">
                <a16:creationId xmlns:a16="http://schemas.microsoft.com/office/drawing/2014/main" id="{4D267AC1-1F85-4ABB-AE47-449FDEC77E94}"/>
              </a:ext>
            </a:extLst>
          </p:cNvPr>
          <p:cNvGrpSpPr/>
          <p:nvPr/>
        </p:nvGrpSpPr>
        <p:grpSpPr>
          <a:xfrm>
            <a:off x="2806479" y="1606165"/>
            <a:ext cx="6579041" cy="4802865"/>
            <a:chOff x="2806479" y="1606165"/>
            <a:chExt cx="6579041" cy="4802865"/>
          </a:xfrm>
        </p:grpSpPr>
        <p:pic>
          <p:nvPicPr>
            <p:cNvPr id="4" name="그림 3">
              <a:extLst>
                <a:ext uri="{FF2B5EF4-FFF2-40B4-BE49-F238E27FC236}">
                  <a16:creationId xmlns:a16="http://schemas.microsoft.com/office/drawing/2014/main" id="{BD940C4E-9408-4E63-B287-BB73F52D0130}"/>
                </a:ext>
              </a:extLst>
            </p:cNvPr>
            <p:cNvPicPr>
              <a:picLocks noChangeAspect="1"/>
            </p:cNvPicPr>
            <p:nvPr/>
          </p:nvPicPr>
          <p:blipFill>
            <a:blip r:embed="rId3"/>
            <a:stretch>
              <a:fillRect/>
            </a:stretch>
          </p:blipFill>
          <p:spPr>
            <a:xfrm>
              <a:off x="2806479" y="1606165"/>
              <a:ext cx="6579041" cy="4802865"/>
            </a:xfrm>
            <a:prstGeom prst="rect">
              <a:avLst/>
            </a:prstGeom>
            <a:ln>
              <a:solidFill>
                <a:schemeClr val="bg1">
                  <a:lumMod val="50000"/>
                </a:schemeClr>
              </a:solidFill>
            </a:ln>
          </p:spPr>
        </p:pic>
        <p:sp>
          <p:nvSpPr>
            <p:cNvPr id="8" name="직사각형 7">
              <a:extLst>
                <a:ext uri="{FF2B5EF4-FFF2-40B4-BE49-F238E27FC236}">
                  <a16:creationId xmlns:a16="http://schemas.microsoft.com/office/drawing/2014/main" id="{A5E10470-8DA7-4E5B-911C-E106301E8382}"/>
                </a:ext>
              </a:extLst>
            </p:cNvPr>
            <p:cNvSpPr/>
            <p:nvPr/>
          </p:nvSpPr>
          <p:spPr>
            <a:xfrm>
              <a:off x="3705308" y="2584174"/>
              <a:ext cx="4102873" cy="137557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3022272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Advanced Details(10/10)</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Cluster IP Environment Variables :</a:t>
            </a:r>
          </a:p>
          <a:p>
            <a:pPr lvl="1">
              <a:buFont typeface="Wingdings" panose="05000000000000000000" pitchFamily="2" charset="2"/>
              <a:buChar char="§"/>
            </a:pPr>
            <a:r>
              <a:rPr lang="en-US" altLang="ko-KR" sz="1400" dirty="0"/>
              <a:t>The two main environment variables to use are “</a:t>
            </a:r>
            <a:r>
              <a:rPr lang="en-US" altLang="ko-KR" sz="1400" b="1" dirty="0"/>
              <a:t>ALPACA_PROD_SERVICE_HOST</a:t>
            </a:r>
            <a:r>
              <a:rPr lang="en-US" altLang="ko-KR" sz="1400" dirty="0"/>
              <a:t>" and “</a:t>
            </a:r>
            <a:r>
              <a:rPr lang="en-US" altLang="ko-KR" sz="1400" b="1" dirty="0"/>
              <a:t>ALPACA_PROD_SERVICE_PORT</a:t>
            </a:r>
            <a:r>
              <a:rPr lang="en-US" altLang="ko-KR" sz="1400" dirty="0"/>
              <a:t>”. The other environment variables are created to be compatible with (now deprecated) </a:t>
            </a:r>
            <a:r>
              <a:rPr lang="en-US" altLang="ko-KR" sz="1400" b="1" dirty="0">
                <a:solidFill>
                  <a:srgbClr val="FF0000"/>
                </a:solidFill>
              </a:rPr>
              <a:t>Docker link variables</a:t>
            </a:r>
            <a:r>
              <a:rPr lang="en-US" altLang="ko-KR" sz="1400" dirty="0"/>
              <a:t>.</a:t>
            </a:r>
          </a:p>
          <a:p>
            <a:pPr lvl="1">
              <a:buFont typeface="Wingdings" panose="05000000000000000000" pitchFamily="2" charset="2"/>
              <a:buChar char="§"/>
            </a:pPr>
            <a:r>
              <a:rPr lang="en-US" altLang="ko-KR" sz="1400" b="1" dirty="0"/>
              <a:t>A problem with the environment variable approach is that </a:t>
            </a:r>
            <a:r>
              <a:rPr lang="en-US" altLang="ko-KR" sz="1400" b="1" dirty="0">
                <a:solidFill>
                  <a:srgbClr val="FF0000"/>
                </a:solidFill>
              </a:rPr>
              <a:t>it requires resources to be created in a specific order</a:t>
            </a:r>
            <a:r>
              <a:rPr lang="en-US" altLang="ko-KR" sz="1400" dirty="0"/>
              <a:t>. </a:t>
            </a:r>
            <a:r>
              <a:rPr lang="en-US" altLang="ko-KR" sz="1400" b="1" dirty="0">
                <a:solidFill>
                  <a:srgbClr val="FF0000"/>
                </a:solidFill>
              </a:rPr>
              <a:t>The services must be created before the Pods that reference them</a:t>
            </a:r>
            <a:r>
              <a:rPr lang="en-US" altLang="ko-KR" sz="1400" dirty="0"/>
              <a:t>. </a:t>
            </a:r>
            <a:r>
              <a:rPr lang="en-US" altLang="ko-KR" sz="1400" b="1" dirty="0"/>
              <a:t>This can introduce quite a bit of complexity when deploying a set of services that make up a larger application</a:t>
            </a:r>
            <a:r>
              <a:rPr lang="en-US" altLang="ko-KR" sz="1400" dirty="0"/>
              <a:t>. In addition, using just environment variables seems strange to many users. For this reason, “</a:t>
            </a:r>
            <a:r>
              <a:rPr lang="en-US" altLang="ko-KR" sz="1400" b="1" dirty="0">
                <a:solidFill>
                  <a:srgbClr val="FF0000"/>
                </a:solidFill>
              </a:rPr>
              <a:t>DNS</a:t>
            </a:r>
            <a:r>
              <a:rPr lang="en-US" altLang="ko-KR" sz="1400" b="1" dirty="0"/>
              <a:t>” is probably a better option</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116</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8A26C9E6-B85E-42C3-A191-291AB856C1B8}"/>
              </a:ext>
            </a:extLst>
          </p:cNvPr>
          <p:cNvPicPr>
            <a:picLocks noChangeAspect="1"/>
          </p:cNvPicPr>
          <p:nvPr/>
        </p:nvPicPr>
        <p:blipFill>
          <a:blip r:embed="rId2"/>
          <a:stretch>
            <a:fillRect/>
          </a:stretch>
        </p:blipFill>
        <p:spPr>
          <a:xfrm>
            <a:off x="3405187" y="2975446"/>
            <a:ext cx="5381625" cy="2238375"/>
          </a:xfrm>
          <a:prstGeom prst="rect">
            <a:avLst/>
          </a:prstGeom>
        </p:spPr>
      </p:pic>
    </p:spTree>
    <p:extLst>
      <p:ext uri="{BB962C8B-B14F-4D97-AF65-F5344CB8AC3E}">
        <p14:creationId xmlns:p14="http://schemas.microsoft.com/office/powerpoint/2010/main" val="27674518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Connecting with Other Environments</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Integrating with Legacy System :</a:t>
            </a:r>
          </a:p>
          <a:p>
            <a:pPr lvl="1">
              <a:buFont typeface="Wingdings" panose="05000000000000000000" pitchFamily="2" charset="2"/>
              <a:buChar char="§"/>
            </a:pPr>
            <a:r>
              <a:rPr lang="en-US" altLang="ko-KR" sz="1400" b="1" dirty="0"/>
              <a:t>Many real-world applications actually require that you integrate more </a:t>
            </a:r>
            <a:r>
              <a:rPr lang="en-US" altLang="ko-KR" sz="1400" b="1" dirty="0">
                <a:solidFill>
                  <a:srgbClr val="FF0000"/>
                </a:solidFill>
              </a:rPr>
              <a:t>cloud-native applications </a:t>
            </a:r>
            <a:r>
              <a:rPr lang="en-US" altLang="ko-KR" sz="1400" b="1" dirty="0"/>
              <a:t>deployed in Kubernetes with applications deployed to more legacy environments</a:t>
            </a:r>
            <a:r>
              <a:rPr lang="en-US" altLang="ko-KR" sz="1400" dirty="0"/>
              <a:t>. Additionally, </a:t>
            </a:r>
            <a:r>
              <a:rPr lang="en-US" altLang="ko-KR" sz="1400" b="1" dirty="0"/>
              <a:t>you may need to integrate a Kubernetes cluster in the cloud with infrastructure that has been deployed </a:t>
            </a:r>
            <a:r>
              <a:rPr lang="en-US" altLang="ko-KR" sz="1400" b="1" dirty="0">
                <a:solidFill>
                  <a:srgbClr val="FF0000"/>
                </a:solidFill>
              </a:rPr>
              <a:t>on-premise</a:t>
            </a:r>
            <a:r>
              <a:rPr lang="en-US" altLang="ko-KR" sz="1400" dirty="0"/>
              <a:t>.</a:t>
            </a:r>
          </a:p>
          <a:p>
            <a:pPr lvl="1">
              <a:buFont typeface="Wingdings" panose="05000000000000000000" pitchFamily="2" charset="2"/>
              <a:buChar char="§"/>
            </a:pPr>
            <a:r>
              <a:rPr lang="en-US" altLang="ko-KR" sz="1400" dirty="0"/>
              <a:t>This is an area of Kubernetes that is still undergoing a fair amount of exploration and development of solutions. </a:t>
            </a:r>
            <a:r>
              <a:rPr lang="en-US" altLang="ko-KR" sz="1400" b="1" dirty="0"/>
              <a:t>When you are connecting Kubernetes to legacy resources outside of the cluster, you can use </a:t>
            </a:r>
            <a:r>
              <a:rPr lang="en-US" altLang="ko-KR" sz="1400" b="1" dirty="0">
                <a:solidFill>
                  <a:srgbClr val="FF0000"/>
                </a:solidFill>
              </a:rPr>
              <a:t>selector-less services to declare a Kubernetes service with a manually assigned IP address </a:t>
            </a:r>
            <a:r>
              <a:rPr lang="en-US" altLang="ko-KR" sz="1400" b="1" dirty="0"/>
              <a:t>that is outside of the cluster</a:t>
            </a:r>
            <a:r>
              <a:rPr lang="en-US" altLang="ko-KR" sz="1400" dirty="0"/>
              <a:t>. That way, Kubernetes service discovery via DNS works as expected, but the network traffic itself flows to an external resource.</a:t>
            </a:r>
          </a:p>
          <a:p>
            <a:pPr lvl="1">
              <a:buFont typeface="Wingdings" panose="05000000000000000000" pitchFamily="2" charset="2"/>
              <a:buChar char="§"/>
            </a:pPr>
            <a:r>
              <a:rPr lang="en-US" altLang="ko-KR" sz="1400" b="1" dirty="0"/>
              <a:t>Connecting external resources to Kubernetes services is somewhat trickier</a:t>
            </a:r>
            <a:r>
              <a:rPr lang="en-US" altLang="ko-KR" sz="1400" dirty="0"/>
              <a:t>. If your cloud provider supports it, the easiest thing to do is to </a:t>
            </a:r>
            <a:r>
              <a:rPr lang="en-US" altLang="ko-KR" sz="1400" b="1" dirty="0"/>
              <a:t>create an “internal” load balancer that lives in your virtual private network and can deliver traffic from a fixed IP address into the cluster</a:t>
            </a:r>
            <a:r>
              <a:rPr lang="en-US" altLang="ko-KR" sz="1400" dirty="0"/>
              <a:t>. You can then </a:t>
            </a:r>
            <a:r>
              <a:rPr lang="en-US" altLang="ko-KR" sz="1400" b="1" dirty="0"/>
              <a:t>use traditional DNS to make this IP address available to the external resource</a:t>
            </a:r>
            <a:r>
              <a:rPr lang="en-US" altLang="ko-KR" sz="1400" dirty="0"/>
              <a:t>. </a:t>
            </a:r>
          </a:p>
          <a:p>
            <a:pPr lvl="1">
              <a:buFont typeface="Wingdings" panose="05000000000000000000" pitchFamily="2" charset="2"/>
              <a:buChar char="§"/>
            </a:pPr>
            <a:r>
              <a:rPr lang="en-US" altLang="ko-KR" sz="1400" b="1" dirty="0"/>
              <a:t>Another option is to run the full “</a:t>
            </a:r>
            <a:r>
              <a:rPr lang="en-US" altLang="ko-KR" sz="1400" b="1" dirty="0" err="1">
                <a:solidFill>
                  <a:srgbClr val="FF0000"/>
                </a:solidFill>
              </a:rPr>
              <a:t>kube</a:t>
            </a:r>
            <a:r>
              <a:rPr lang="en-US" altLang="ko-KR" sz="1400" b="1" dirty="0">
                <a:solidFill>
                  <a:srgbClr val="FF0000"/>
                </a:solidFill>
              </a:rPr>
              <a:t>-proxy</a:t>
            </a:r>
            <a:r>
              <a:rPr lang="en-US" altLang="ko-KR" sz="1400" b="1" dirty="0"/>
              <a:t>” </a:t>
            </a:r>
            <a:r>
              <a:rPr lang="en-US" altLang="ko-KR" sz="1400" b="1" dirty="0">
                <a:solidFill>
                  <a:srgbClr val="FF0000"/>
                </a:solidFill>
              </a:rPr>
              <a:t>on an external resource </a:t>
            </a:r>
            <a:r>
              <a:rPr lang="en-US" altLang="ko-KR" sz="1400" b="1" dirty="0"/>
              <a:t>and program that machine to use the DNS server in the Kubernetes cluster</a:t>
            </a:r>
            <a:r>
              <a:rPr lang="en-US" altLang="ko-KR" sz="1400" dirty="0"/>
              <a:t>. Such a setup is significantly more difficult to get right and should really only be used in on-premise environments. There are also a variety of open source projects (for example, </a:t>
            </a:r>
            <a:r>
              <a:rPr lang="en-US" altLang="ko-KR" sz="1400" b="1" dirty="0" err="1">
                <a:hlinkClick r:id="rId2"/>
              </a:rPr>
              <a:t>Hashicorp’s</a:t>
            </a:r>
            <a:r>
              <a:rPr lang="en-US" altLang="ko-KR" sz="1400" b="1" dirty="0">
                <a:hlinkClick r:id="rId2"/>
              </a:rPr>
              <a:t> Consul</a:t>
            </a:r>
            <a:r>
              <a:rPr lang="en-US" altLang="ko-KR" sz="1400" dirty="0"/>
              <a:t>) </a:t>
            </a:r>
            <a:r>
              <a:rPr lang="en-US" altLang="ko-KR" sz="1400" b="1" dirty="0"/>
              <a:t>that can be </a:t>
            </a:r>
            <a:r>
              <a:rPr lang="en-US" altLang="ko-KR" sz="1400" b="1" dirty="0">
                <a:solidFill>
                  <a:srgbClr val="FF0000"/>
                </a:solidFill>
              </a:rPr>
              <a:t>used to manage connectivity between in-cluster and out-of-cluster resources</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117</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5FB216A1-431F-4D25-9707-E7DDD0ED3A8E}"/>
              </a:ext>
            </a:extLst>
          </p:cNvPr>
          <p:cNvPicPr>
            <a:picLocks noChangeAspect="1"/>
          </p:cNvPicPr>
          <p:nvPr/>
        </p:nvPicPr>
        <p:blipFill>
          <a:blip r:embed="rId3"/>
          <a:stretch>
            <a:fillRect/>
          </a:stretch>
        </p:blipFill>
        <p:spPr>
          <a:xfrm>
            <a:off x="9413402" y="4468632"/>
            <a:ext cx="1940397" cy="1940397"/>
          </a:xfrm>
          <a:prstGeom prst="rect">
            <a:avLst/>
          </a:prstGeom>
        </p:spPr>
      </p:pic>
    </p:spTree>
    <p:extLst>
      <p:ext uri="{BB962C8B-B14F-4D97-AF65-F5344CB8AC3E}">
        <p14:creationId xmlns:p14="http://schemas.microsoft.com/office/powerpoint/2010/main" val="107978179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Cleanup</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Deleting Objects :</a:t>
            </a:r>
          </a:p>
          <a:p>
            <a:pPr lvl="1">
              <a:buFont typeface="Wingdings" panose="05000000000000000000" pitchFamily="2" charset="2"/>
              <a:buChar char="§"/>
            </a:pPr>
            <a:r>
              <a:rPr lang="en-US" altLang="ko-KR" sz="1400" dirty="0"/>
              <a:t>Run the following command to </a:t>
            </a:r>
            <a:r>
              <a:rPr lang="en-US" altLang="ko-KR" sz="1400" b="1" dirty="0"/>
              <a:t>clean up all of the objects </a:t>
            </a:r>
            <a:r>
              <a:rPr lang="en-US" altLang="ko-KR" sz="1400" dirty="0"/>
              <a:t>created.</a:t>
            </a:r>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endParaRPr lang="en-US" altLang="ko-KR" sz="1400" dirty="0"/>
          </a:p>
          <a:p>
            <a:pPr lvl="1">
              <a:buFont typeface="Wingdings" panose="05000000000000000000" pitchFamily="2" charset="2"/>
              <a:buChar char="§"/>
            </a:pPr>
            <a:r>
              <a:rPr lang="en-US" altLang="ko-KR" sz="1400" b="1" dirty="0"/>
              <a:t>NOTE : Here we didn’t use “</a:t>
            </a:r>
            <a:r>
              <a:rPr lang="en-US" altLang="ko-KR" sz="1400" b="1" dirty="0" err="1"/>
              <a:t>kubectl</a:t>
            </a:r>
            <a:r>
              <a:rPr lang="en-US" altLang="ko-KR" sz="1400" b="1" dirty="0"/>
              <a:t> create” command. So you don’t need to delete “deployments” now. Anyway, if you want to delete all “services, deployments and pods”, you can use the previous command</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118</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grpSp>
        <p:nvGrpSpPr>
          <p:cNvPr id="10" name="그룹 9">
            <a:extLst>
              <a:ext uri="{FF2B5EF4-FFF2-40B4-BE49-F238E27FC236}">
                <a16:creationId xmlns:a16="http://schemas.microsoft.com/office/drawing/2014/main" id="{5F79CB89-A810-40E6-83D0-6EAC18A50D7D}"/>
              </a:ext>
            </a:extLst>
          </p:cNvPr>
          <p:cNvGrpSpPr/>
          <p:nvPr/>
        </p:nvGrpSpPr>
        <p:grpSpPr>
          <a:xfrm>
            <a:off x="1333500" y="1693827"/>
            <a:ext cx="9525000" cy="2345749"/>
            <a:chOff x="1333499" y="1534804"/>
            <a:chExt cx="9525000" cy="2345749"/>
          </a:xfrm>
        </p:grpSpPr>
        <p:sp>
          <p:nvSpPr>
            <p:cNvPr id="4" name="직사각형 3">
              <a:extLst>
                <a:ext uri="{FF2B5EF4-FFF2-40B4-BE49-F238E27FC236}">
                  <a16:creationId xmlns:a16="http://schemas.microsoft.com/office/drawing/2014/main" id="{88F4C246-50B5-4C9C-8634-73517104F09D}"/>
                </a:ext>
              </a:extLst>
            </p:cNvPr>
            <p:cNvSpPr/>
            <p:nvPr/>
          </p:nvSpPr>
          <p:spPr>
            <a:xfrm>
              <a:off x="4443944" y="1534804"/>
              <a:ext cx="3304111" cy="246221"/>
            </a:xfrm>
            <a:prstGeom prst="rect">
              <a:avLst/>
            </a:prstGeom>
            <a:ln>
              <a:solidFill>
                <a:schemeClr val="bg1">
                  <a:lumMod val="50000"/>
                </a:schemeClr>
              </a:solidFill>
            </a:ln>
          </p:spPr>
          <p:txBody>
            <a:bodyPr wrap="none">
              <a:spAutoFit/>
            </a:bodyPr>
            <a:lstStyle/>
            <a:p>
              <a:pPr algn="ctr"/>
              <a:r>
                <a:rPr lang="en-US" altLang="ko-KR" sz="1000" b="1" dirty="0"/>
                <a:t>$ </a:t>
              </a:r>
              <a:r>
                <a:rPr lang="en-US" altLang="ko-KR" sz="1000" b="1" dirty="0" err="1"/>
                <a:t>kubectl</a:t>
              </a:r>
              <a:r>
                <a:rPr lang="en-US" altLang="ko-KR" sz="1000" b="1" dirty="0"/>
                <a:t> delete </a:t>
              </a:r>
              <a:r>
                <a:rPr lang="en-US" altLang="ko-KR" sz="1000" b="1" dirty="0" err="1">
                  <a:solidFill>
                    <a:srgbClr val="FF0000"/>
                  </a:solidFill>
                </a:rPr>
                <a:t>services,deployments</a:t>
              </a:r>
              <a:r>
                <a:rPr lang="en-US" altLang="ko-KR" sz="1000" b="1" dirty="0">
                  <a:solidFill>
                    <a:srgbClr val="FF0000"/>
                  </a:solidFill>
                </a:rPr>
                <a:t>, pods -l app</a:t>
              </a:r>
              <a:endParaRPr lang="ko-KR" altLang="en-US" sz="1000" b="1" dirty="0">
                <a:solidFill>
                  <a:srgbClr val="FF0000"/>
                </a:solidFill>
              </a:endParaRPr>
            </a:p>
          </p:txBody>
        </p:sp>
        <p:sp>
          <p:nvSpPr>
            <p:cNvPr id="8" name="화살표: 아래쪽 7">
              <a:extLst>
                <a:ext uri="{FF2B5EF4-FFF2-40B4-BE49-F238E27FC236}">
                  <a16:creationId xmlns:a16="http://schemas.microsoft.com/office/drawing/2014/main" id="{345BF51C-7CDE-4C91-BBBA-C8B912ECE854}"/>
                </a:ext>
              </a:extLst>
            </p:cNvPr>
            <p:cNvSpPr/>
            <p:nvPr/>
          </p:nvSpPr>
          <p:spPr>
            <a:xfrm>
              <a:off x="5901192" y="1801572"/>
              <a:ext cx="389614" cy="246490"/>
            </a:xfrm>
            <a:prstGeom prst="downArrow">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9" name="그림 8">
              <a:extLst>
                <a:ext uri="{FF2B5EF4-FFF2-40B4-BE49-F238E27FC236}">
                  <a16:creationId xmlns:a16="http://schemas.microsoft.com/office/drawing/2014/main" id="{66F3287C-5F99-4ACC-BA1B-39183BE1A22B}"/>
                </a:ext>
              </a:extLst>
            </p:cNvPr>
            <p:cNvPicPr>
              <a:picLocks noChangeAspect="1"/>
            </p:cNvPicPr>
            <p:nvPr/>
          </p:nvPicPr>
          <p:blipFill>
            <a:blip r:embed="rId2"/>
            <a:stretch>
              <a:fillRect/>
            </a:stretch>
          </p:blipFill>
          <p:spPr>
            <a:xfrm>
              <a:off x="1333499" y="2070803"/>
              <a:ext cx="9525000" cy="1809750"/>
            </a:xfrm>
            <a:prstGeom prst="rect">
              <a:avLst/>
            </a:prstGeom>
            <a:ln>
              <a:solidFill>
                <a:schemeClr val="bg1">
                  <a:lumMod val="50000"/>
                </a:schemeClr>
              </a:solidFill>
            </a:ln>
          </p:spPr>
        </p:pic>
      </p:grpSp>
    </p:spTree>
    <p:extLst>
      <p:ext uri="{BB962C8B-B14F-4D97-AF65-F5344CB8AC3E}">
        <p14:creationId xmlns:p14="http://schemas.microsoft.com/office/powerpoint/2010/main" val="314719549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NOTE : Summary</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774406"/>
            <a:ext cx="10515600" cy="5634624"/>
          </a:xfrm>
        </p:spPr>
        <p:txBody>
          <a:bodyPr>
            <a:normAutofit/>
          </a:bodyPr>
          <a:lstStyle/>
          <a:p>
            <a:pPr>
              <a:buFont typeface="Wingdings" panose="05000000000000000000" pitchFamily="2" charset="2"/>
              <a:buChar char="§"/>
            </a:pPr>
            <a:r>
              <a:rPr lang="en-US" altLang="ko-KR" sz="1800" b="1" dirty="0"/>
              <a:t>Remember :</a:t>
            </a:r>
          </a:p>
          <a:p>
            <a:pPr lvl="1">
              <a:buFont typeface="Wingdings" panose="05000000000000000000" pitchFamily="2" charset="2"/>
              <a:buChar char="§"/>
            </a:pPr>
            <a:r>
              <a:rPr lang="en-US" altLang="ko-KR" sz="1400" b="1" dirty="0"/>
              <a:t>Kubernetes is a </a:t>
            </a:r>
            <a:r>
              <a:rPr lang="en-US" altLang="ko-KR" sz="1400" b="1" dirty="0">
                <a:solidFill>
                  <a:srgbClr val="FF0000"/>
                </a:solidFill>
              </a:rPr>
              <a:t>dynamic system </a:t>
            </a:r>
            <a:r>
              <a:rPr lang="en-US" altLang="ko-KR" sz="1400" b="1" dirty="0"/>
              <a:t>that challenges traditional methods of naming and connecting services over the network</a:t>
            </a:r>
            <a:r>
              <a:rPr lang="en-US" altLang="ko-KR" sz="1400" dirty="0"/>
              <a:t>. </a:t>
            </a:r>
          </a:p>
          <a:p>
            <a:pPr lvl="1">
              <a:buFont typeface="Wingdings" panose="05000000000000000000" pitchFamily="2" charset="2"/>
              <a:buChar char="§"/>
            </a:pPr>
            <a:r>
              <a:rPr lang="en-US" altLang="ko-KR" sz="1400" b="1" dirty="0"/>
              <a:t>The </a:t>
            </a:r>
            <a:r>
              <a:rPr lang="en-US" altLang="ko-KR" sz="1400" b="1" dirty="0">
                <a:solidFill>
                  <a:srgbClr val="FF0000"/>
                </a:solidFill>
              </a:rPr>
              <a:t>Service object </a:t>
            </a:r>
            <a:r>
              <a:rPr lang="en-US" altLang="ko-KR" sz="1400" b="1" dirty="0"/>
              <a:t>provides a flexible and powerful way to expose services both within the cluster and beyond</a:t>
            </a:r>
            <a:r>
              <a:rPr lang="en-US" altLang="ko-KR" sz="1400" dirty="0"/>
              <a:t>. With the techniques covered here you can connect services to each other and expose them outside the cluster.</a:t>
            </a:r>
          </a:p>
          <a:p>
            <a:pPr lvl="1">
              <a:buFont typeface="Wingdings" panose="05000000000000000000" pitchFamily="2" charset="2"/>
              <a:buChar char="§"/>
            </a:pPr>
            <a:r>
              <a:rPr lang="en-US" altLang="ko-KR" sz="1400" b="1" dirty="0"/>
              <a:t>Once your application can dynamically find services and react to the dynamic placement of those applications, you are free to stop worrying about where things are running and when they move</a:t>
            </a:r>
            <a:r>
              <a:rPr lang="en-US" altLang="ko-KR" sz="1400" dirty="0"/>
              <a:t>. It is a critical piece of the puzzle to start to think about services in a logical way and </a:t>
            </a:r>
            <a:r>
              <a:rPr lang="en-US" altLang="ko-KR" sz="1400" b="1" dirty="0">
                <a:solidFill>
                  <a:srgbClr val="FF0000"/>
                </a:solidFill>
              </a:rPr>
              <a:t>let Kubernetes take care of the details of container placement</a:t>
            </a:r>
            <a:r>
              <a:rPr lang="en-US" altLang="ko-KR" sz="1400" dirty="0"/>
              <a:t>.</a:t>
            </a:r>
          </a:p>
        </p:txBody>
      </p:sp>
      <p:sp>
        <p:nvSpPr>
          <p:cNvPr id="5" name="날짜 개체 틀 4">
            <a:extLst>
              <a:ext uri="{FF2B5EF4-FFF2-40B4-BE49-F238E27FC236}">
                <a16:creationId xmlns:a16="http://schemas.microsoft.com/office/drawing/2014/main" id="{A1089AD4-90DA-440B-AF45-6CFD7CC83DC5}"/>
              </a:ext>
            </a:extLst>
          </p:cNvPr>
          <p:cNvSpPr>
            <a:spLocks noGrp="1"/>
          </p:cNvSpPr>
          <p:nvPr>
            <p:ph type="dt" sz="half" idx="10"/>
          </p:nvPr>
        </p:nvSpPr>
        <p:spPr/>
        <p:txBody>
          <a:bodyPr/>
          <a:lstStyle/>
          <a:p>
            <a:fld id="{66109FA0-4D81-4D2F-8319-6AD0FB1D3087}"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56A979A3-C9E5-4FFA-B410-E40123D68ECE}"/>
              </a:ext>
            </a:extLst>
          </p:cNvPr>
          <p:cNvSpPr>
            <a:spLocks noGrp="1"/>
          </p:cNvSpPr>
          <p:nvPr>
            <p:ph type="sldNum" sz="quarter" idx="12"/>
          </p:nvPr>
        </p:nvSpPr>
        <p:spPr/>
        <p:txBody>
          <a:bodyPr/>
          <a:lstStyle/>
          <a:p>
            <a:fld id="{34C98182-889D-4BA7-ABC9-29B15B402893}" type="slidenum">
              <a:rPr lang="ko-KR" altLang="en-US" smtClean="0"/>
              <a:t>119</a:t>
            </a:fld>
            <a:endParaRPr lang="ko-KR" altLang="en-US"/>
          </a:p>
        </p:txBody>
      </p:sp>
      <p:cxnSp>
        <p:nvCxnSpPr>
          <p:cNvPr id="7" name="직선 연결선 6">
            <a:extLst>
              <a:ext uri="{FF2B5EF4-FFF2-40B4-BE49-F238E27FC236}">
                <a16:creationId xmlns:a16="http://schemas.microsoft.com/office/drawing/2014/main" id="{27CE4886-D2F3-46F7-96F4-5A1807F70B07}"/>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4F0A4F79-78BE-40FA-9C4C-F890C41766F1}"/>
              </a:ext>
            </a:extLst>
          </p:cNvPr>
          <p:cNvPicPr>
            <a:picLocks noChangeAspect="1"/>
          </p:cNvPicPr>
          <p:nvPr/>
        </p:nvPicPr>
        <p:blipFill>
          <a:blip r:embed="rId2"/>
          <a:stretch>
            <a:fillRect/>
          </a:stretch>
        </p:blipFill>
        <p:spPr>
          <a:xfrm>
            <a:off x="2518576" y="2908895"/>
            <a:ext cx="7154848" cy="3500135"/>
          </a:xfrm>
          <a:prstGeom prst="rect">
            <a:avLst/>
          </a:prstGeom>
        </p:spPr>
      </p:pic>
    </p:spTree>
    <p:extLst>
      <p:ext uri="{BB962C8B-B14F-4D97-AF65-F5344CB8AC3E}">
        <p14:creationId xmlns:p14="http://schemas.microsoft.com/office/powerpoint/2010/main" val="145816012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Reference</a:t>
            </a:r>
            <a:endParaRPr lang="ko-KR" altLang="en-US" sz="2800" b="1" dirty="0"/>
          </a:p>
        </p:txBody>
      </p:sp>
      <p:sp>
        <p:nvSpPr>
          <p:cNvPr id="3" name="내용 개체 틀 2">
            <a:extLst>
              <a:ext uri="{FF2B5EF4-FFF2-40B4-BE49-F238E27FC236}">
                <a16:creationId xmlns:a16="http://schemas.microsoft.com/office/drawing/2014/main" id="{FFA5147C-7173-4521-9562-ADC68DC207DF}"/>
              </a:ext>
            </a:extLst>
          </p:cNvPr>
          <p:cNvSpPr>
            <a:spLocks noGrp="1"/>
          </p:cNvSpPr>
          <p:nvPr>
            <p:ph idx="1"/>
          </p:nvPr>
        </p:nvSpPr>
        <p:spPr>
          <a:xfrm>
            <a:off x="838200" y="823973"/>
            <a:ext cx="10515600" cy="5352990"/>
          </a:xfrm>
        </p:spPr>
        <p:txBody>
          <a:bodyPr>
            <a:normAutofit/>
          </a:bodyPr>
          <a:lstStyle/>
          <a:p>
            <a:pPr marL="0" indent="0">
              <a:buNone/>
            </a:pPr>
            <a:r>
              <a:rPr lang="en-US" altLang="ko-KR" sz="1400" b="1" dirty="0"/>
              <a:t>[1] Kubernetes: Up and Running, Dive into the Future of Infrastructure, Brendan Burns, Joe Beda, and Kelsey Hightower, </a:t>
            </a:r>
            <a:r>
              <a:rPr lang="en-US" altLang="ko-KR" sz="1400" b="1" dirty="0" err="1"/>
              <a:t>Oreilly</a:t>
            </a:r>
            <a:r>
              <a:rPr lang="en-US" altLang="ko-KR" sz="1400" b="1" dirty="0"/>
              <a:t>, 2</a:t>
            </a:r>
            <a:r>
              <a:rPr lang="en-US" altLang="ko-KR" sz="1400" b="1" baseline="30000" dirty="0"/>
              <a:t>nd</a:t>
            </a:r>
            <a:r>
              <a:rPr lang="en-US" altLang="ko-KR" sz="1400" b="1" dirty="0"/>
              <a:t> Edition, 2019. </a:t>
            </a:r>
          </a:p>
          <a:p>
            <a:pPr marL="0" indent="0">
              <a:buNone/>
            </a:pPr>
            <a:r>
              <a:rPr lang="en-US" altLang="ko-KR" sz="1400" b="1" dirty="0"/>
              <a:t>[2] </a:t>
            </a:r>
            <a:r>
              <a:rPr lang="en-US" altLang="ko-KR" sz="1400" b="1" dirty="0">
                <a:hlinkClick r:id="rId2"/>
              </a:rPr>
              <a:t>https://github.com/kubernetes-up-and-running/kuard</a:t>
            </a:r>
            <a:r>
              <a:rPr lang="en-US" altLang="ko-KR" sz="1400" b="1" dirty="0"/>
              <a:t> </a:t>
            </a:r>
          </a:p>
          <a:p>
            <a:pPr marL="0" indent="0">
              <a:buNone/>
            </a:pPr>
            <a:r>
              <a:rPr lang="en-US" altLang="ko-KR" sz="1400" b="1" dirty="0"/>
              <a:t>[3] </a:t>
            </a:r>
            <a:r>
              <a:rPr lang="en-US" altLang="ko-KR" sz="1400" b="1" dirty="0">
                <a:hlinkClick r:id="rId3"/>
              </a:rPr>
              <a:t>https://www.oreilly.com/library/view/kubernetes-up-and/9781492046523/</a:t>
            </a:r>
            <a:endParaRPr lang="en-US" altLang="ko-KR" sz="1400" b="1" dirty="0"/>
          </a:p>
          <a:p>
            <a:pPr marL="0" indent="0">
              <a:buNone/>
            </a:pPr>
            <a:r>
              <a:rPr lang="en-US" altLang="ko-KR" sz="1400" b="1" dirty="0"/>
              <a:t>[4] </a:t>
            </a:r>
            <a:r>
              <a:rPr lang="en-US" altLang="ko-KR" sz="1400" b="1" dirty="0">
                <a:hlinkClick r:id="rId4"/>
              </a:rPr>
              <a:t>https://github.com/surfer190/fixes/blob/master/docs/kubernetes/kubernetes-up-and-running.md</a:t>
            </a:r>
            <a:endParaRPr lang="en-US" altLang="ko-KR" sz="1400" b="1" dirty="0"/>
          </a:p>
          <a:p>
            <a:pPr marL="0" indent="0">
              <a:buNone/>
            </a:pPr>
            <a:r>
              <a:rPr lang="en-US" altLang="ko-KR" sz="1400" b="1" dirty="0"/>
              <a:t>[5] </a:t>
            </a:r>
            <a:r>
              <a:rPr lang="en-US" altLang="ko-KR" sz="1400" b="1" dirty="0">
                <a:hlinkClick r:id="rId5"/>
              </a:rPr>
              <a:t>https://medium.com/finda-tech/overview-8d169b2a54ff</a:t>
            </a:r>
            <a:endParaRPr lang="en-US" altLang="ko-KR" sz="1400" b="1" dirty="0"/>
          </a:p>
          <a:p>
            <a:pPr marL="0" indent="0">
              <a:buNone/>
            </a:pPr>
            <a:r>
              <a:rPr lang="en-US" altLang="ko-KR" sz="1400" b="1" dirty="0"/>
              <a:t>[6] </a:t>
            </a:r>
            <a:r>
              <a:rPr lang="en-US" altLang="ko-KR" sz="1400" b="1" dirty="0">
                <a:hlinkClick r:id="rId6"/>
              </a:rPr>
              <a:t>https://kubernetes.io/ko/docs/concepts/cluster-administration/manage-deployment/</a:t>
            </a:r>
            <a:r>
              <a:rPr lang="en-US" altLang="ko-KR" sz="1400" b="1" dirty="0"/>
              <a:t> </a:t>
            </a:r>
          </a:p>
        </p:txBody>
      </p:sp>
      <p:sp>
        <p:nvSpPr>
          <p:cNvPr id="5" name="날짜 개체 틀 4">
            <a:extLst>
              <a:ext uri="{FF2B5EF4-FFF2-40B4-BE49-F238E27FC236}">
                <a16:creationId xmlns:a16="http://schemas.microsoft.com/office/drawing/2014/main" id="{71F25A6A-304E-4639-90AF-E4FB371FA41F}"/>
              </a:ext>
            </a:extLst>
          </p:cNvPr>
          <p:cNvSpPr>
            <a:spLocks noGrp="1"/>
          </p:cNvSpPr>
          <p:nvPr>
            <p:ph type="dt" sz="half" idx="10"/>
          </p:nvPr>
        </p:nvSpPr>
        <p:spPr/>
        <p:txBody>
          <a:bodyPr/>
          <a:lstStyle/>
          <a:p>
            <a:fld id="{54654E97-B81D-448F-BE65-F0EB75A60915}"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1F8D8AB8-381F-4242-8AFA-B0E9DE538CFE}"/>
              </a:ext>
            </a:extLst>
          </p:cNvPr>
          <p:cNvSpPr>
            <a:spLocks noGrp="1"/>
          </p:cNvSpPr>
          <p:nvPr>
            <p:ph type="sldNum" sz="quarter" idx="12"/>
          </p:nvPr>
        </p:nvSpPr>
        <p:spPr/>
        <p:txBody>
          <a:bodyPr/>
          <a:lstStyle/>
          <a:p>
            <a:fld id="{34C98182-889D-4BA7-ABC9-29B15B402893}" type="slidenum">
              <a:rPr lang="ko-KR" altLang="en-US" smtClean="0"/>
              <a:t>120</a:t>
            </a:fld>
            <a:endParaRPr lang="ko-KR" altLang="en-US"/>
          </a:p>
        </p:txBody>
      </p:sp>
      <p:cxnSp>
        <p:nvCxnSpPr>
          <p:cNvPr id="9" name="직선 연결선 8">
            <a:extLst>
              <a:ext uri="{FF2B5EF4-FFF2-40B4-BE49-F238E27FC236}">
                <a16:creationId xmlns:a16="http://schemas.microsoft.com/office/drawing/2014/main" id="{693BF51C-B510-4B04-B7A1-BEEFBB6CE968}"/>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4" name="그림 3">
            <a:extLst>
              <a:ext uri="{FF2B5EF4-FFF2-40B4-BE49-F238E27FC236}">
                <a16:creationId xmlns:a16="http://schemas.microsoft.com/office/drawing/2014/main" id="{BF9582E8-13A6-4248-A570-E642AB1BB67D}"/>
              </a:ext>
            </a:extLst>
          </p:cNvPr>
          <p:cNvPicPr>
            <a:picLocks noChangeAspect="1"/>
          </p:cNvPicPr>
          <p:nvPr/>
        </p:nvPicPr>
        <p:blipFill>
          <a:blip r:embed="rId7"/>
          <a:stretch>
            <a:fillRect/>
          </a:stretch>
        </p:blipFill>
        <p:spPr>
          <a:xfrm>
            <a:off x="4925974" y="3112170"/>
            <a:ext cx="2340052" cy="3064793"/>
          </a:xfrm>
          <a:prstGeom prst="rect">
            <a:avLst/>
          </a:prstGeom>
          <a:ln>
            <a:solidFill>
              <a:schemeClr val="bg1">
                <a:lumMod val="50000"/>
              </a:schemeClr>
            </a:solidFill>
          </a:ln>
        </p:spPr>
      </p:pic>
    </p:spTree>
    <p:extLst>
      <p:ext uri="{BB962C8B-B14F-4D97-AF65-F5344CB8AC3E}">
        <p14:creationId xmlns:p14="http://schemas.microsoft.com/office/powerpoint/2010/main" val="84487956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B58890D-DF70-4C8E-BA61-09DD3B846234}"/>
              </a:ext>
            </a:extLst>
          </p:cNvPr>
          <p:cNvSpPr>
            <a:spLocks noGrp="1"/>
          </p:cNvSpPr>
          <p:nvPr>
            <p:ph type="title"/>
          </p:nvPr>
        </p:nvSpPr>
        <p:spPr>
          <a:xfrm>
            <a:off x="838200" y="297455"/>
            <a:ext cx="10515600" cy="383582"/>
          </a:xfrm>
        </p:spPr>
        <p:txBody>
          <a:bodyPr>
            <a:normAutofit fontScale="90000"/>
          </a:bodyPr>
          <a:lstStyle/>
          <a:p>
            <a:r>
              <a:rPr lang="en-US" altLang="ko-KR" sz="2800" b="1" dirty="0"/>
              <a:t>? &amp; !</a:t>
            </a:r>
            <a:endParaRPr lang="ko-KR" altLang="en-US" sz="2800" b="1" dirty="0"/>
          </a:p>
        </p:txBody>
      </p:sp>
      <p:sp>
        <p:nvSpPr>
          <p:cNvPr id="5" name="날짜 개체 틀 4">
            <a:extLst>
              <a:ext uri="{FF2B5EF4-FFF2-40B4-BE49-F238E27FC236}">
                <a16:creationId xmlns:a16="http://schemas.microsoft.com/office/drawing/2014/main" id="{BD483CEA-56F2-47AB-BFA1-132A8DDCC80B}"/>
              </a:ext>
            </a:extLst>
          </p:cNvPr>
          <p:cNvSpPr>
            <a:spLocks noGrp="1"/>
          </p:cNvSpPr>
          <p:nvPr>
            <p:ph type="dt" sz="half" idx="10"/>
          </p:nvPr>
        </p:nvSpPr>
        <p:spPr/>
        <p:txBody>
          <a:bodyPr/>
          <a:lstStyle/>
          <a:p>
            <a:fld id="{6A8ABF0E-5B75-4D4D-BF96-82EF72C3019F}" type="datetime1">
              <a:rPr lang="ko-KR" altLang="en-US" smtClean="0"/>
              <a:t>2026-08-20</a:t>
            </a:fld>
            <a:endParaRPr lang="ko-KR" altLang="en-US"/>
          </a:p>
        </p:txBody>
      </p:sp>
      <p:sp>
        <p:nvSpPr>
          <p:cNvPr id="6" name="슬라이드 번호 개체 틀 5">
            <a:extLst>
              <a:ext uri="{FF2B5EF4-FFF2-40B4-BE49-F238E27FC236}">
                <a16:creationId xmlns:a16="http://schemas.microsoft.com/office/drawing/2014/main" id="{85979C9C-7B4D-4A38-B1F9-F720E58BA8DC}"/>
              </a:ext>
            </a:extLst>
          </p:cNvPr>
          <p:cNvSpPr>
            <a:spLocks noGrp="1"/>
          </p:cNvSpPr>
          <p:nvPr>
            <p:ph type="sldNum" sz="quarter" idx="12"/>
          </p:nvPr>
        </p:nvSpPr>
        <p:spPr/>
        <p:txBody>
          <a:bodyPr/>
          <a:lstStyle/>
          <a:p>
            <a:fld id="{34C98182-889D-4BA7-ABC9-29B15B402893}" type="slidenum">
              <a:rPr lang="ko-KR" altLang="en-US" smtClean="0"/>
              <a:t>121</a:t>
            </a:fld>
            <a:endParaRPr lang="ko-KR" altLang="en-US"/>
          </a:p>
        </p:txBody>
      </p:sp>
      <p:cxnSp>
        <p:nvCxnSpPr>
          <p:cNvPr id="9" name="직선 연결선 8">
            <a:extLst>
              <a:ext uri="{FF2B5EF4-FFF2-40B4-BE49-F238E27FC236}">
                <a16:creationId xmlns:a16="http://schemas.microsoft.com/office/drawing/2014/main" id="{B671BC0C-7CE8-4BB6-A4DB-3EA4386487A3}"/>
              </a:ext>
            </a:extLst>
          </p:cNvPr>
          <p:cNvCxnSpPr>
            <a:cxnSpLocks/>
          </p:cNvCxnSpPr>
          <p:nvPr/>
        </p:nvCxnSpPr>
        <p:spPr>
          <a:xfrm>
            <a:off x="838200" y="727721"/>
            <a:ext cx="10515600" cy="0"/>
          </a:xfrm>
          <a:prstGeom prst="line">
            <a:avLst/>
          </a:prstGeom>
          <a:ln w="57150" cmpd="thickThin">
            <a:solidFill>
              <a:srgbClr val="00B0F0"/>
            </a:solidFill>
          </a:ln>
        </p:spPr>
        <p:style>
          <a:lnRef idx="1">
            <a:schemeClr val="accent1"/>
          </a:lnRef>
          <a:fillRef idx="0">
            <a:schemeClr val="accent1"/>
          </a:fillRef>
          <a:effectRef idx="0">
            <a:schemeClr val="accent1"/>
          </a:effectRef>
          <a:fontRef idx="minor">
            <a:schemeClr val="tx1"/>
          </a:fontRef>
        </p:style>
      </p:cxnSp>
      <p:pic>
        <p:nvPicPr>
          <p:cNvPr id="12" name="그림 11">
            <a:extLst>
              <a:ext uri="{FF2B5EF4-FFF2-40B4-BE49-F238E27FC236}">
                <a16:creationId xmlns:a16="http://schemas.microsoft.com/office/drawing/2014/main" id="{58424194-75B7-4C81-BAF0-83EAB1BDC610}"/>
              </a:ext>
            </a:extLst>
          </p:cNvPr>
          <p:cNvPicPr>
            <a:picLocks noChangeAspect="1"/>
          </p:cNvPicPr>
          <p:nvPr/>
        </p:nvPicPr>
        <p:blipFill>
          <a:blip r:embed="rId2">
            <a:biLevel thresh="75000"/>
          </a:blip>
          <a:stretch>
            <a:fillRect/>
          </a:stretch>
        </p:blipFill>
        <p:spPr>
          <a:xfrm>
            <a:off x="4422750" y="2072013"/>
            <a:ext cx="3346499" cy="2713974"/>
          </a:xfrm>
          <a:prstGeom prst="rect">
            <a:avLst/>
          </a:prstGeom>
        </p:spPr>
      </p:pic>
    </p:spTree>
    <p:extLst>
      <p:ext uri="{BB962C8B-B14F-4D97-AF65-F5344CB8AC3E}">
        <p14:creationId xmlns:p14="http://schemas.microsoft.com/office/powerpoint/2010/main" val="2027931730"/>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28575">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ctr">
          <a:defRPr sz="10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107418</TotalTime>
  <Words>16801</Words>
  <Application>Microsoft Office PowerPoint</Application>
  <PresentationFormat>와이드스크린</PresentationFormat>
  <Paragraphs>1425</Paragraphs>
  <Slides>121</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121</vt:i4>
      </vt:variant>
    </vt:vector>
  </HeadingPairs>
  <TitlesOfParts>
    <vt:vector size="126" baseType="lpstr">
      <vt:lpstr>MyriadPro-SemiboldCond</vt:lpstr>
      <vt:lpstr>맑은 고딕</vt:lpstr>
      <vt:lpstr>Arial</vt:lpstr>
      <vt:lpstr>Wingdings</vt:lpstr>
      <vt:lpstr>Office 테마</vt:lpstr>
      <vt:lpstr>Kubernetes</vt:lpstr>
      <vt:lpstr>Common Kubectl Command</vt:lpstr>
      <vt:lpstr>Namespaces</vt:lpstr>
      <vt:lpstr>Contexts </vt:lpstr>
      <vt:lpstr>Viewing Kubernetes API Objects(1/2)</vt:lpstr>
      <vt:lpstr>Viewing Kubernetes API Objects(2/2)</vt:lpstr>
      <vt:lpstr>Creating, Updating, and Destroying Kubernetes Objects(1/2)</vt:lpstr>
      <vt:lpstr>Creating, Updating, and Destroying Kubernetes Objects(2/2)</vt:lpstr>
      <vt:lpstr>Labeling and Annotating Objects</vt:lpstr>
      <vt:lpstr>Debugging Commands(1/3)</vt:lpstr>
      <vt:lpstr>Debugging Commands(2/3)</vt:lpstr>
      <vt:lpstr>Debugging Commands(3/3)</vt:lpstr>
      <vt:lpstr>Command Autocompletion</vt:lpstr>
      <vt:lpstr>NOTE : Shell Script</vt:lpstr>
      <vt:lpstr>Alternative Ways of Viewing Your Cluster</vt:lpstr>
      <vt:lpstr>Built-in Help for Kubectl</vt:lpstr>
      <vt:lpstr>NOTE : Help Message</vt:lpstr>
      <vt:lpstr>Pods</vt:lpstr>
      <vt:lpstr>What is Pods?(1/4)</vt:lpstr>
      <vt:lpstr>What is Pods?(2/4)</vt:lpstr>
      <vt:lpstr>What is Pods?(3/4)</vt:lpstr>
      <vt:lpstr>What is Pods?(4/4)</vt:lpstr>
      <vt:lpstr>The Pod Manifest(1/5)</vt:lpstr>
      <vt:lpstr>The Pod Manifest(2/5)</vt:lpstr>
      <vt:lpstr>The Pod Manifest(3/5)</vt:lpstr>
      <vt:lpstr>NOTE : Fixing “ImagePullBackOff” Error</vt:lpstr>
      <vt:lpstr>The Pod Manifest(4/5)</vt:lpstr>
      <vt:lpstr>The Pod Manifest(5/5)</vt:lpstr>
      <vt:lpstr>Running Pods(1/6)</vt:lpstr>
      <vt:lpstr>Running Pods(2/6)</vt:lpstr>
      <vt:lpstr>Running Pods(3/6)</vt:lpstr>
      <vt:lpstr>Running Pods(4/6)</vt:lpstr>
      <vt:lpstr>Running Pods(5/6)</vt:lpstr>
      <vt:lpstr>Running Pods(6/6)</vt:lpstr>
      <vt:lpstr>Accessing Your Pod(1/5)</vt:lpstr>
      <vt:lpstr>NOTE : Accessing a Running Pod</vt:lpstr>
      <vt:lpstr>Accessing Your Pod(2/5)</vt:lpstr>
      <vt:lpstr>Accessing Your Pod(3/5)</vt:lpstr>
      <vt:lpstr>Accessing Your Pod(4/5)</vt:lpstr>
      <vt:lpstr>Accessing Your Pod(5/5)</vt:lpstr>
      <vt:lpstr>Health Checks(1/7)</vt:lpstr>
      <vt:lpstr>Health Checks(2/7)</vt:lpstr>
      <vt:lpstr>Health Checks(3/7)</vt:lpstr>
      <vt:lpstr>Health Checks(4/7)</vt:lpstr>
      <vt:lpstr>NOTE : Liveness Probe Example</vt:lpstr>
      <vt:lpstr>Health Checks(5/7)</vt:lpstr>
      <vt:lpstr>Health Checks(6/7)</vt:lpstr>
      <vt:lpstr>Health Checks(7/7)</vt:lpstr>
      <vt:lpstr>Resource Management(1/5)</vt:lpstr>
      <vt:lpstr>Resource Management(2/5)</vt:lpstr>
      <vt:lpstr>NOTE : Running Pod Manifest</vt:lpstr>
      <vt:lpstr>Resource Management(3/5)</vt:lpstr>
      <vt:lpstr>Resource Management(4/5)</vt:lpstr>
      <vt:lpstr>Resource Management(5/5)</vt:lpstr>
      <vt:lpstr>NOTE : Running Pod Manifest </vt:lpstr>
      <vt:lpstr>Persisting Data with Volumes(1/5)</vt:lpstr>
      <vt:lpstr>Persisting Data with Volumes(2/5)</vt:lpstr>
      <vt:lpstr>NOTE : Running Pod Manifest </vt:lpstr>
      <vt:lpstr>Persisting Data with Volumes(3/5)</vt:lpstr>
      <vt:lpstr>Persisting Data with Volumes(4/5)</vt:lpstr>
      <vt:lpstr>Persisting Data with Volumes(5/5)</vt:lpstr>
      <vt:lpstr>Putting It All Together</vt:lpstr>
      <vt:lpstr>NOTE : Running Pod Manifest </vt:lpstr>
      <vt:lpstr>NOTE : Summary</vt:lpstr>
      <vt:lpstr>Labels and Annotations</vt:lpstr>
      <vt:lpstr>What is Labels and Annotations?</vt:lpstr>
      <vt:lpstr>Labels(1/14)</vt:lpstr>
      <vt:lpstr>Labels(2/14)</vt:lpstr>
      <vt:lpstr>Labels(3/14)</vt:lpstr>
      <vt:lpstr>NOTE : Not Supporting “Replicas” in Run Command</vt:lpstr>
      <vt:lpstr>Labels(4/14)</vt:lpstr>
      <vt:lpstr>Labels(5/14)</vt:lpstr>
      <vt:lpstr>Labels(6/14)</vt:lpstr>
      <vt:lpstr>Labels(7/14)</vt:lpstr>
      <vt:lpstr>Labels(8/14)</vt:lpstr>
      <vt:lpstr>Labels(9/14)</vt:lpstr>
      <vt:lpstr>Labels(10/14)</vt:lpstr>
      <vt:lpstr>Labels(11/14)</vt:lpstr>
      <vt:lpstr>Labels(12/14)</vt:lpstr>
      <vt:lpstr>Labels(13/14)</vt:lpstr>
      <vt:lpstr>Labels(14/14)</vt:lpstr>
      <vt:lpstr>Annotations(1/4)</vt:lpstr>
      <vt:lpstr>Annotations(2/4)</vt:lpstr>
      <vt:lpstr>Annotations(3/4)</vt:lpstr>
      <vt:lpstr>Annotations(4/4)</vt:lpstr>
      <vt:lpstr>Cleanup</vt:lpstr>
      <vt:lpstr>NOTE : Summary</vt:lpstr>
      <vt:lpstr>Service Discovery</vt:lpstr>
      <vt:lpstr>Dynamic System</vt:lpstr>
      <vt:lpstr>What Is Service Discovery?</vt:lpstr>
      <vt:lpstr>NOTE : Domain Name System</vt:lpstr>
      <vt:lpstr>The Service Object(1/3)</vt:lpstr>
      <vt:lpstr>The Service Object(2/3)</vt:lpstr>
      <vt:lpstr>The Service Object(3/3)</vt:lpstr>
      <vt:lpstr>Service DNS(1/2)</vt:lpstr>
      <vt:lpstr>Service DNS(2/2)</vt:lpstr>
      <vt:lpstr>Readiness Checks(1/4)</vt:lpstr>
      <vt:lpstr>Readiness Checks(2/4)</vt:lpstr>
      <vt:lpstr>NOTE : Editing Configuration File</vt:lpstr>
      <vt:lpstr>Readiness Checks(3/4)</vt:lpstr>
      <vt:lpstr>Readiness Checks(4/4)</vt:lpstr>
      <vt:lpstr>Looking Beyond the Cluster(1/3)</vt:lpstr>
      <vt:lpstr>Looking Beyond the Cluster(2/3)</vt:lpstr>
      <vt:lpstr>Looking Beyond the Cluster(3/3)</vt:lpstr>
      <vt:lpstr>Cloud Integration(1/2)</vt:lpstr>
      <vt:lpstr>Cloud Integration(2/2)</vt:lpstr>
      <vt:lpstr>Advanced Details(1/10)</vt:lpstr>
      <vt:lpstr>Advanced Details(2/10)</vt:lpstr>
      <vt:lpstr>Advanced Details(3/10)</vt:lpstr>
      <vt:lpstr>Advanced Details(4/10)</vt:lpstr>
      <vt:lpstr>Advanced Details(5/10)</vt:lpstr>
      <vt:lpstr>Advanced Details(6/10)</vt:lpstr>
      <vt:lpstr>Advanced Details(7/10)</vt:lpstr>
      <vt:lpstr>Advanced Details(8/10)</vt:lpstr>
      <vt:lpstr>Advanced Details(9/10)</vt:lpstr>
      <vt:lpstr>Advanced Details(10/10)</vt:lpstr>
      <vt:lpstr>Connecting with Other Environments</vt:lpstr>
      <vt:lpstr>Cleanup</vt:lpstr>
      <vt:lpstr>NOTE : Summary</vt:lpstr>
      <vt:lpstr>Reference</vt:lpstr>
      <vt:lpstr>? &amp;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Ethereum</dc:title>
  <dc:creator>빅터 (권수호)</dc:creator>
  <cp:lastModifiedBy>수호 권</cp:lastModifiedBy>
  <cp:revision>4675</cp:revision>
  <dcterms:created xsi:type="dcterms:W3CDTF">2020-11-26T08:00:10Z</dcterms:created>
  <dcterms:modified xsi:type="dcterms:W3CDTF">2026-08-20T03:40:40Z</dcterms:modified>
</cp:coreProperties>
</file>