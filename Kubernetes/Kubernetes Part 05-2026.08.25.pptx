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8"/>
  </p:notesMasterIdLst>
  <p:sldIdLst>
    <p:sldId id="256" r:id="rId2"/>
    <p:sldId id="776" r:id="rId3"/>
    <p:sldId id="1195" r:id="rId4"/>
    <p:sldId id="1196" r:id="rId5"/>
    <p:sldId id="1197" r:id="rId6"/>
    <p:sldId id="1198" r:id="rId7"/>
    <p:sldId id="1199" r:id="rId8"/>
    <p:sldId id="1200" r:id="rId9"/>
    <p:sldId id="1201" r:id="rId10"/>
    <p:sldId id="1202" r:id="rId11"/>
    <p:sldId id="1203" r:id="rId12"/>
    <p:sldId id="1204" r:id="rId13"/>
    <p:sldId id="1205" r:id="rId14"/>
    <p:sldId id="1206" r:id="rId15"/>
    <p:sldId id="1207" r:id="rId16"/>
    <p:sldId id="1208" r:id="rId17"/>
    <p:sldId id="1209" r:id="rId18"/>
    <p:sldId id="1210" r:id="rId19"/>
    <p:sldId id="1211" r:id="rId20"/>
    <p:sldId id="1212" r:id="rId21"/>
    <p:sldId id="1213" r:id="rId22"/>
    <p:sldId id="1214" r:id="rId23"/>
    <p:sldId id="1215" r:id="rId24"/>
    <p:sldId id="1216" r:id="rId25"/>
    <p:sldId id="1217" r:id="rId26"/>
    <p:sldId id="1218" r:id="rId27"/>
    <p:sldId id="1219" r:id="rId28"/>
    <p:sldId id="1220" r:id="rId29"/>
    <p:sldId id="1221" r:id="rId30"/>
    <p:sldId id="1225" r:id="rId31"/>
    <p:sldId id="1226" r:id="rId32"/>
    <p:sldId id="1227" r:id="rId33"/>
    <p:sldId id="1228" r:id="rId34"/>
    <p:sldId id="1229" r:id="rId35"/>
    <p:sldId id="1230" r:id="rId36"/>
    <p:sldId id="1231" r:id="rId37"/>
    <p:sldId id="1232" r:id="rId38"/>
    <p:sldId id="1233" r:id="rId39"/>
    <p:sldId id="1234" r:id="rId40"/>
    <p:sldId id="1222" r:id="rId41"/>
    <p:sldId id="1224" r:id="rId42"/>
    <p:sldId id="1223" r:id="rId43"/>
    <p:sldId id="1235" r:id="rId44"/>
    <p:sldId id="1236" r:id="rId45"/>
    <p:sldId id="1237" r:id="rId46"/>
    <p:sldId id="1238" r:id="rId47"/>
    <p:sldId id="1239" r:id="rId48"/>
    <p:sldId id="1240" r:id="rId49"/>
    <p:sldId id="1241" r:id="rId50"/>
    <p:sldId id="1242" r:id="rId51"/>
    <p:sldId id="1243" r:id="rId52"/>
    <p:sldId id="1244" r:id="rId53"/>
    <p:sldId id="1245" r:id="rId54"/>
    <p:sldId id="1246" r:id="rId55"/>
    <p:sldId id="1247" r:id="rId56"/>
    <p:sldId id="1248" r:id="rId57"/>
    <p:sldId id="1249" r:id="rId58"/>
    <p:sldId id="1252" r:id="rId59"/>
    <p:sldId id="1250" r:id="rId60"/>
    <p:sldId id="1251" r:id="rId61"/>
    <p:sldId id="1253" r:id="rId62"/>
    <p:sldId id="1294" r:id="rId63"/>
    <p:sldId id="1256" r:id="rId64"/>
    <p:sldId id="1257" r:id="rId65"/>
    <p:sldId id="1258" r:id="rId66"/>
    <p:sldId id="1259" r:id="rId67"/>
    <p:sldId id="1261" r:id="rId68"/>
    <p:sldId id="1262" r:id="rId69"/>
    <p:sldId id="1263" r:id="rId70"/>
    <p:sldId id="1264" r:id="rId71"/>
    <p:sldId id="1254" r:id="rId72"/>
    <p:sldId id="1255" r:id="rId73"/>
    <p:sldId id="1265" r:id="rId74"/>
    <p:sldId id="1266" r:id="rId75"/>
    <p:sldId id="1267" r:id="rId76"/>
    <p:sldId id="1268" r:id="rId77"/>
    <p:sldId id="1269" r:id="rId78"/>
    <p:sldId id="1270" r:id="rId79"/>
    <p:sldId id="1271" r:id="rId80"/>
    <p:sldId id="1272" r:id="rId81"/>
    <p:sldId id="1273" r:id="rId82"/>
    <p:sldId id="1274" r:id="rId83"/>
    <p:sldId id="1275" r:id="rId84"/>
    <p:sldId id="1276" r:id="rId85"/>
    <p:sldId id="1277" r:id="rId86"/>
    <p:sldId id="1278" r:id="rId87"/>
    <p:sldId id="1279" r:id="rId88"/>
    <p:sldId id="1280" r:id="rId89"/>
    <p:sldId id="1281" r:id="rId90"/>
    <p:sldId id="1282" r:id="rId91"/>
    <p:sldId id="1283" r:id="rId92"/>
    <p:sldId id="1284" r:id="rId93"/>
    <p:sldId id="1285" r:id="rId94"/>
    <p:sldId id="1286" r:id="rId95"/>
    <p:sldId id="1287" r:id="rId96"/>
    <p:sldId id="1288" r:id="rId97"/>
    <p:sldId id="1289" r:id="rId98"/>
    <p:sldId id="1290" r:id="rId99"/>
    <p:sldId id="1299" r:id="rId100"/>
    <p:sldId id="1300" r:id="rId101"/>
    <p:sldId id="1301" r:id="rId102"/>
    <p:sldId id="1302" r:id="rId103"/>
    <p:sldId id="1304" r:id="rId104"/>
    <p:sldId id="1293" r:id="rId105"/>
    <p:sldId id="281" r:id="rId106"/>
    <p:sldId id="259" r:id="rId10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4660"/>
  </p:normalViewPr>
  <p:slideViewPr>
    <p:cSldViewPr snapToGrid="0">
      <p:cViewPr varScale="1">
        <p:scale>
          <a:sx n="125" d="100"/>
          <a:sy n="125" d="100"/>
        </p:scale>
        <p:origin x="12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commentAuthors" Target="commentAuthor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2026-08-23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2026-08-23</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2026-08-23</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2026-08-23</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2026-08-23</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2026-08-23</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2026-08-23</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2026-08-23</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2026-08-23</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2026-08-23</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2026-08-23</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2026-08-23</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2026-08-23</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hyperlink" Target="https://pkg.go.dev/k8s.io/client-go/informers"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github.com/OAI/OpenAPI-Specification/blob/main/versions/3.0.0.md"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hyperlink" Target="https://www.pulumi.com/registry/packages/kubernetes/api-docs/admissionregistration/v1/validatingwebhookconfiguration/#webhookclientconfig"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go.dev/dl/"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kubebuilder.io/"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hyperlink" Target="https://jupyter.org/"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jupyter.org/try"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hyperlink" Target="https://docker.com/" TargetMode="Externa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8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github.com/parse-community/parse-server"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https://ghost.org/"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hyperlink" Target="https://redis.io/topics/sentinel" TargetMode="Externa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10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hyperlink" Target="https://fixes.co.za/kubernetes/kubernetes-up-and-running/" TargetMode="External"/><Relationship Id="rId13" Type="http://schemas.openxmlformats.org/officeDocument/2006/relationships/hyperlink" Target="https://github.com/bdimcheff/rediskube" TargetMode="External"/><Relationship Id="rId3" Type="http://schemas.openxmlformats.org/officeDocument/2006/relationships/hyperlink" Target="https://kubernetes.io/docs/tasks/extend-kubernetes/custom-resources/custom-resource-definitions/" TargetMode="External"/><Relationship Id="rId7" Type="http://schemas.openxmlformats.org/officeDocument/2006/relationships/hyperlink" Target="https://kubernetes.io/docs/reference/access-authn-authz/certificate-signing-requests/" TargetMode="External"/><Relationship Id="rId12" Type="http://schemas.openxmlformats.org/officeDocument/2006/relationships/hyperlink" Target="https://github.com/schoolofdevops/k8s-code/tree/master/projects/instavote/dev/redis-sts" TargetMode="External"/><Relationship Id="rId2" Type="http://schemas.openxmlformats.org/officeDocument/2006/relationships/hyperlink" Target="https://github.com/kubernetes-up-and-running" TargetMode="External"/><Relationship Id="rId1" Type="http://schemas.openxmlformats.org/officeDocument/2006/relationships/slideLayout" Target="../slideLayouts/slideLayout2.xml"/><Relationship Id="rId6" Type="http://schemas.openxmlformats.org/officeDocument/2006/relationships/hyperlink" Target="https://www.pulumi.com/registry/packages/kubernetes/api-docs/admissionregistration/v1/validatingwebhookconfiguration/" TargetMode="External"/><Relationship Id="rId11" Type="http://schemas.openxmlformats.org/officeDocument/2006/relationships/hyperlink" Target="https://schoolofdevops.github.io/ultimate-kubernetes-bootcamp/13_redis_statefulset/" TargetMode="External"/><Relationship Id="rId5" Type="http://schemas.openxmlformats.org/officeDocument/2006/relationships/hyperlink" Target="https://kubernetes.io/docs/reference/access-authn-authz/extensible-admission-controllers/" TargetMode="External"/><Relationship Id="rId10" Type="http://schemas.openxmlformats.org/officeDocument/2006/relationships/hyperlink" Target="https://happycloud-lee.tistory.com/68" TargetMode="External"/><Relationship Id="rId4" Type="http://schemas.openxmlformats.org/officeDocument/2006/relationships/hyperlink" Target="https://github.com/OAI/OpenAPI-Specification/blob/main/versions/3.0.0.md" TargetMode="External"/><Relationship Id="rId9" Type="http://schemas.openxmlformats.org/officeDocument/2006/relationships/hyperlink" Target="https://help.hcltechsw.com/domino/11.0.0/conf_keyusageextensionsandextendedkeyusage_r.html" TargetMode="External"/><Relationship Id="rId14" Type="http://schemas.openxmlformats.org/officeDocument/2006/relationships/image" Target="../media/image89.png"/></Relationships>
</file>

<file path=ppt/slides/_rels/slide10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800" b="1" dirty="0"/>
              <a:t>Kubernetes</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Kubernetes Up &amp; Running</a:t>
            </a:r>
          </a:p>
          <a:p>
            <a:r>
              <a:rPr lang="en-US" altLang="ko-KR" b="1" dirty="0"/>
              <a:t>Part V</a:t>
            </a:r>
          </a:p>
          <a:p>
            <a:endParaRPr lang="en-US" altLang="ko-KR" sz="1600" dirty="0"/>
          </a:p>
          <a:p>
            <a:r>
              <a:rPr lang="en-US" altLang="ko-KR" sz="2000" b="1" dirty="0"/>
              <a:t>2026.08.25</a:t>
            </a:r>
            <a:endParaRPr lang="ko-KR" altLang="en-US" sz="20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Integrating Storage Solutions and Kubernetes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Decoupling, Immutability, and Declarative Application :</a:t>
            </a:r>
          </a:p>
          <a:p>
            <a:pPr lvl="1">
              <a:buFont typeface="Wingdings" panose="05000000000000000000" pitchFamily="2" charset="2"/>
              <a:buChar char="§"/>
            </a:pPr>
            <a:r>
              <a:rPr lang="en-US" altLang="ko-KR" sz="1400" b="1" dirty="0"/>
              <a:t>In many cases, </a:t>
            </a:r>
            <a:r>
              <a:rPr lang="en-US" altLang="ko-KR" sz="1400" b="1" dirty="0">
                <a:solidFill>
                  <a:srgbClr val="FF0000"/>
                </a:solidFill>
              </a:rPr>
              <a:t>decoupling state from applications </a:t>
            </a:r>
            <a:r>
              <a:rPr lang="en-US" altLang="ko-KR" sz="1400" b="1" dirty="0"/>
              <a:t>and </a:t>
            </a:r>
            <a:r>
              <a:rPr lang="en-US" altLang="ko-KR" sz="1400" b="1" dirty="0">
                <a:solidFill>
                  <a:srgbClr val="FF0000"/>
                </a:solidFill>
              </a:rPr>
              <a:t>building your microservices </a:t>
            </a:r>
            <a:r>
              <a:rPr lang="en-US" altLang="ko-KR" sz="1400" b="1" dirty="0"/>
              <a:t>to be as “</a:t>
            </a:r>
            <a:r>
              <a:rPr lang="en-US" altLang="ko-KR" sz="1400" b="1" dirty="0">
                <a:solidFill>
                  <a:srgbClr val="FF0000"/>
                </a:solidFill>
              </a:rPr>
              <a:t>stateless</a:t>
            </a:r>
            <a:r>
              <a:rPr lang="en-US" altLang="ko-KR" sz="1400" b="1" dirty="0"/>
              <a:t>“ as possible results in </a:t>
            </a:r>
            <a:r>
              <a:rPr lang="en-US" altLang="ko-KR" sz="1400" b="1" dirty="0">
                <a:solidFill>
                  <a:srgbClr val="FF0000"/>
                </a:solidFill>
              </a:rPr>
              <a:t>maximally reliable, manageable systems</a:t>
            </a:r>
            <a:r>
              <a:rPr lang="en-US" altLang="ko-KR" sz="1400" dirty="0"/>
              <a:t>. However, nearly every system that has any complexity has </a:t>
            </a:r>
            <a:r>
              <a:rPr lang="en-US" altLang="ko-KR" sz="1400" b="1" dirty="0"/>
              <a:t>state</a:t>
            </a:r>
            <a:r>
              <a:rPr lang="en-US" altLang="ko-KR" sz="1400" dirty="0"/>
              <a:t> in the system somewhere, </a:t>
            </a:r>
            <a:r>
              <a:rPr lang="en-US" altLang="ko-KR" sz="1400" b="1" dirty="0"/>
              <a:t>from the records in a database</a:t>
            </a:r>
            <a:r>
              <a:rPr lang="en-US" altLang="ko-KR" sz="1400" dirty="0"/>
              <a:t> to the index shards that serve results for a web search engine. At some point, you have to </a:t>
            </a:r>
            <a:r>
              <a:rPr lang="en-US" altLang="ko-KR" sz="1400" b="1" dirty="0"/>
              <a:t>have data stored somewhere</a:t>
            </a:r>
            <a:r>
              <a:rPr lang="en-US" altLang="ko-KR" sz="1400" dirty="0"/>
              <a:t>.</a:t>
            </a:r>
          </a:p>
          <a:p>
            <a:pPr lvl="1">
              <a:buFont typeface="Wingdings" panose="05000000000000000000" pitchFamily="2" charset="2"/>
              <a:buChar char="§"/>
            </a:pPr>
            <a:r>
              <a:rPr lang="en-US" altLang="ko-KR" sz="1400" b="1" dirty="0"/>
              <a:t>Integrating this data with containers and container orchestration solutions is often the most complicated aspect of building a distributed system</a:t>
            </a:r>
            <a:r>
              <a:rPr lang="en-US" altLang="ko-KR" sz="1400" dirty="0"/>
              <a:t>. This complexity largely stems from the fact that </a:t>
            </a:r>
            <a:r>
              <a:rPr lang="en-US" altLang="ko-KR" sz="1400" b="1" dirty="0"/>
              <a:t>the move to containerized architectures is also a move toward </a:t>
            </a:r>
            <a:r>
              <a:rPr lang="en-US" altLang="ko-KR" sz="1400" b="1" dirty="0">
                <a:solidFill>
                  <a:srgbClr val="FF0000"/>
                </a:solidFill>
              </a:rPr>
              <a:t>decoupled</a:t>
            </a:r>
            <a:r>
              <a:rPr lang="en-US" altLang="ko-KR" sz="1400" b="1" dirty="0"/>
              <a:t>, </a:t>
            </a:r>
            <a:r>
              <a:rPr lang="en-US" altLang="ko-KR" sz="1400" b="1" dirty="0">
                <a:solidFill>
                  <a:srgbClr val="FF0000"/>
                </a:solidFill>
              </a:rPr>
              <a:t>immutable</a:t>
            </a:r>
            <a:r>
              <a:rPr lang="en-US" altLang="ko-KR" sz="1400" b="1" dirty="0"/>
              <a:t>, and </a:t>
            </a:r>
            <a:r>
              <a:rPr lang="en-US" altLang="ko-KR" sz="1400" b="1" dirty="0">
                <a:solidFill>
                  <a:srgbClr val="FF0000"/>
                </a:solidFill>
              </a:rPr>
              <a:t>declarative</a:t>
            </a:r>
            <a:r>
              <a:rPr lang="en-US" altLang="ko-KR" sz="1400" b="1" dirty="0"/>
              <a:t> application development</a:t>
            </a:r>
            <a:r>
              <a:rPr lang="en-US" altLang="ko-KR" sz="1400" dirty="0"/>
              <a:t>. These patterns are relatively </a:t>
            </a:r>
            <a:r>
              <a:rPr lang="en-US" altLang="ko-KR" sz="1400" b="1" dirty="0"/>
              <a:t>easy to apply to stateless web applications</a:t>
            </a:r>
            <a:r>
              <a:rPr lang="en-US" altLang="ko-KR" sz="1400" dirty="0"/>
              <a:t>, but even “</a:t>
            </a:r>
            <a:r>
              <a:rPr lang="en-US" altLang="ko-KR" sz="1400" b="1" dirty="0"/>
              <a:t>cloud-native</a:t>
            </a:r>
            <a:r>
              <a:rPr lang="en-US" altLang="ko-KR" sz="1400" dirty="0"/>
              <a:t>” storage solutions like Cassandra or MongoDB involve some sort of manual or imperative steps to set up a reliable, replicated solution.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CA59607-605B-41AE-9023-19689A88244C}"/>
              </a:ext>
            </a:extLst>
          </p:cNvPr>
          <p:cNvPicPr>
            <a:picLocks noChangeAspect="1"/>
          </p:cNvPicPr>
          <p:nvPr/>
        </p:nvPicPr>
        <p:blipFill>
          <a:blip r:embed="rId2"/>
          <a:stretch>
            <a:fillRect/>
          </a:stretch>
        </p:blipFill>
        <p:spPr>
          <a:xfrm>
            <a:off x="2600414" y="3429000"/>
            <a:ext cx="6991172" cy="2468221"/>
          </a:xfrm>
          <a:prstGeom prst="rect">
            <a:avLst/>
          </a:prstGeom>
        </p:spPr>
      </p:pic>
    </p:spTree>
    <p:extLst>
      <p:ext uri="{BB962C8B-B14F-4D97-AF65-F5344CB8AC3E}">
        <p14:creationId xmlns:p14="http://schemas.microsoft.com/office/powerpoint/2010/main" val="50430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solidFill>
                  <a:srgbClr val="FF0000"/>
                </a:solidFill>
              </a:rPr>
              <a:t>StatefulSets</a:t>
            </a:r>
            <a:r>
              <a:rPr lang="en-US" altLang="ko-KR" sz="1800" b="1" dirty="0"/>
              <a:t> :</a:t>
            </a:r>
          </a:p>
          <a:p>
            <a:pPr lvl="1">
              <a:buFont typeface="Wingdings" panose="05000000000000000000" pitchFamily="2" charset="2"/>
              <a:buChar char="§"/>
            </a:pPr>
            <a:r>
              <a:rPr lang="en-US" altLang="ko-KR" sz="1400" b="1" dirty="0"/>
              <a:t>Additional complexity comes from the fact that there is “</a:t>
            </a:r>
            <a:r>
              <a:rPr lang="en-US" altLang="ko-KR" sz="1400" b="1" dirty="0">
                <a:solidFill>
                  <a:srgbClr val="FF0000"/>
                </a:solidFill>
              </a:rPr>
              <a:t>data gravity</a:t>
            </a:r>
            <a:r>
              <a:rPr lang="en-US" altLang="ko-KR" sz="1400" b="1" dirty="0"/>
              <a:t>”</a:t>
            </a:r>
            <a:r>
              <a:rPr lang="en-US" altLang="ko-KR" sz="1400" dirty="0"/>
              <a:t>. Most containerized systems aren’t built in a vacuum; they are usually </a:t>
            </a:r>
            <a:r>
              <a:rPr lang="en-US" altLang="ko-KR" sz="1400" b="1" dirty="0"/>
              <a:t>adapted from existing systems deployed onto VM(Virtual Machine)s</a:t>
            </a:r>
            <a:r>
              <a:rPr lang="en-US" altLang="ko-KR" sz="1400" dirty="0"/>
              <a:t>, and these systems likely </a:t>
            </a:r>
            <a:r>
              <a:rPr lang="en-US" altLang="ko-KR" sz="1400" b="1" dirty="0">
                <a:solidFill>
                  <a:srgbClr val="FF0000"/>
                </a:solidFill>
              </a:rPr>
              <a:t>include data that has to be imported or migrated</a:t>
            </a:r>
            <a:r>
              <a:rPr lang="en-US" altLang="ko-KR" sz="1400" dirty="0"/>
              <a:t>.</a:t>
            </a:r>
          </a:p>
          <a:p>
            <a:pPr lvl="1">
              <a:buFont typeface="Wingdings" panose="05000000000000000000" pitchFamily="2" charset="2"/>
              <a:buChar char="§"/>
            </a:pPr>
            <a:r>
              <a:rPr lang="en-US" altLang="ko-KR" sz="1400" b="1" dirty="0"/>
              <a:t>Evolution to the cloud often means that </a:t>
            </a:r>
            <a:r>
              <a:rPr lang="en-US" altLang="ko-KR" sz="1400" b="1" dirty="0">
                <a:solidFill>
                  <a:srgbClr val="FF0000"/>
                </a:solidFill>
              </a:rPr>
              <a:t>storage is an externalized cloud service</a:t>
            </a:r>
            <a:r>
              <a:rPr lang="en-US" altLang="ko-KR" sz="1400" b="1" dirty="0"/>
              <a:t>, and in that context it can never really exist inside of the Kubernetes cluster</a:t>
            </a:r>
            <a:r>
              <a:rPr lang="en-US" altLang="ko-KR" sz="1400" dirty="0"/>
              <a:t>. </a:t>
            </a:r>
          </a:p>
          <a:p>
            <a:pPr lvl="1">
              <a:buFont typeface="Wingdings" panose="05000000000000000000" pitchFamily="2" charset="2"/>
              <a:buChar char="§"/>
            </a:pPr>
            <a:r>
              <a:rPr lang="en-US" altLang="ko-KR" sz="1400" dirty="0"/>
              <a:t>Here we will talk about the following topics - </a:t>
            </a:r>
          </a:p>
          <a:p>
            <a:pPr lvl="2">
              <a:buFont typeface="Wingdings" panose="05000000000000000000" pitchFamily="2" charset="2"/>
              <a:buChar char="§"/>
            </a:pPr>
            <a:r>
              <a:rPr lang="en-US" altLang="ko-KR" sz="1400" b="1" dirty="0">
                <a:solidFill>
                  <a:srgbClr val="FF0000"/>
                </a:solidFill>
              </a:rPr>
              <a:t>How to import existing external storage solutions </a:t>
            </a:r>
            <a:r>
              <a:rPr lang="en-US" altLang="ko-KR" sz="1400" b="1" dirty="0"/>
              <a:t>(either cloud services or running on VMs) into Kubernetes</a:t>
            </a:r>
            <a:r>
              <a:rPr lang="en-US" altLang="ko-KR" sz="1400" dirty="0"/>
              <a:t>. </a:t>
            </a:r>
          </a:p>
          <a:p>
            <a:pPr lvl="2">
              <a:buFont typeface="Wingdings" panose="05000000000000000000" pitchFamily="2" charset="2"/>
              <a:buChar char="§"/>
            </a:pPr>
            <a:r>
              <a:rPr lang="en-US" altLang="ko-KR" sz="1400" b="1" dirty="0">
                <a:solidFill>
                  <a:srgbClr val="FF0000"/>
                </a:solidFill>
              </a:rPr>
              <a:t>How to run reliable singletons inside of Kubernetes</a:t>
            </a:r>
            <a:r>
              <a:rPr lang="en-US" altLang="ko-KR" sz="1400" dirty="0">
                <a:solidFill>
                  <a:srgbClr val="FF0000"/>
                </a:solidFill>
              </a:rPr>
              <a:t> </a:t>
            </a:r>
            <a:r>
              <a:rPr lang="en-US" altLang="ko-KR" sz="1400" b="1" dirty="0"/>
              <a:t>that enable you to have an environment that largely matches the VMs where you previously deployed storage solutions</a:t>
            </a:r>
            <a:r>
              <a:rPr lang="en-US" altLang="ko-KR" sz="1400" dirty="0"/>
              <a:t>. </a:t>
            </a:r>
          </a:p>
          <a:p>
            <a:pPr lvl="2">
              <a:buFont typeface="Wingdings" panose="05000000000000000000" pitchFamily="2" charset="2"/>
              <a:buChar char="§"/>
            </a:pPr>
            <a:r>
              <a:rPr lang="en-US" altLang="ko-KR" sz="1400" b="1" dirty="0"/>
              <a:t>The </a:t>
            </a:r>
            <a:r>
              <a:rPr lang="en-US" altLang="ko-KR" sz="1400" b="1" dirty="0" err="1">
                <a:solidFill>
                  <a:srgbClr val="FF0000"/>
                </a:solidFill>
              </a:rPr>
              <a:t>StatefulSets</a:t>
            </a:r>
            <a:r>
              <a:rPr lang="en-US" altLang="ko-KR" sz="1400" dirty="0"/>
              <a:t> </a:t>
            </a:r>
            <a:r>
              <a:rPr lang="en-US" altLang="ko-KR" sz="1400" b="1" dirty="0"/>
              <a:t>represent the stateful workloads </a:t>
            </a:r>
            <a:r>
              <a:rPr lang="en-US" altLang="ko-KR" sz="1400" dirty="0"/>
              <a:t>in Kubernetes.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4664ABB-9787-4D27-BEC8-6A9344B426A5}"/>
              </a:ext>
            </a:extLst>
          </p:cNvPr>
          <p:cNvPicPr>
            <a:picLocks noChangeAspect="1"/>
          </p:cNvPicPr>
          <p:nvPr/>
        </p:nvPicPr>
        <p:blipFill>
          <a:blip r:embed="rId2"/>
          <a:stretch>
            <a:fillRect/>
          </a:stretch>
        </p:blipFill>
        <p:spPr>
          <a:xfrm>
            <a:off x="3261360" y="3704618"/>
            <a:ext cx="5669280" cy="2704412"/>
          </a:xfrm>
          <a:prstGeom prst="rect">
            <a:avLst/>
          </a:prstGeom>
        </p:spPr>
      </p:pic>
    </p:spTree>
    <p:extLst>
      <p:ext uri="{BB962C8B-B14F-4D97-AF65-F5344CB8AC3E}">
        <p14:creationId xmlns:p14="http://schemas.microsoft.com/office/powerpoint/2010/main" val="2343085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Importing External Services(1/8)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Continuous Deployment :</a:t>
            </a:r>
          </a:p>
          <a:p>
            <a:pPr lvl="1">
              <a:buFont typeface="Wingdings" panose="05000000000000000000" pitchFamily="2" charset="2"/>
              <a:buChar char="§"/>
            </a:pPr>
            <a:r>
              <a:rPr lang="en-US" altLang="ko-KR" sz="1400" b="1" dirty="0"/>
              <a:t>When you represent the legacy server and service in Kubernetes, you get to take advantage of all of the built-in naming and service-discovery primitives provided by Kubernetes</a:t>
            </a:r>
            <a:r>
              <a:rPr lang="en-US" altLang="ko-KR" sz="1400" dirty="0"/>
              <a:t>. Additionally, this enables you to </a:t>
            </a:r>
            <a:r>
              <a:rPr lang="en-US" altLang="ko-KR" sz="1400" b="1" dirty="0"/>
              <a:t>configure all your applications so that it looks like the database that is running on a machine somewhere is actually a Kubernetes service</a:t>
            </a:r>
            <a:r>
              <a:rPr lang="en-US" altLang="ko-KR" sz="1400" dirty="0"/>
              <a:t>. This means that it is trivial to replace it with a database that is a Kubernetes service. </a:t>
            </a:r>
          </a:p>
          <a:p>
            <a:pPr lvl="1">
              <a:buFont typeface="Wingdings" panose="05000000000000000000" pitchFamily="2" charset="2"/>
              <a:buChar char="§"/>
            </a:pPr>
            <a:r>
              <a:rPr lang="en-US" altLang="ko-KR" sz="1400" dirty="0"/>
              <a:t>For example, in production, you may rely on your legacy database that is running on a machine, but </a:t>
            </a:r>
            <a:r>
              <a:rPr lang="en-US" altLang="ko-KR" sz="1400" b="1" dirty="0"/>
              <a:t>for continuous testing you may deploy a test database as a transient container</a:t>
            </a:r>
            <a:r>
              <a:rPr lang="en-US" altLang="ko-KR" sz="1400" dirty="0"/>
              <a:t>. </a:t>
            </a:r>
            <a:r>
              <a:rPr lang="en-US" altLang="ko-KR" sz="1400" b="1" dirty="0"/>
              <a:t>Since it is created and destroyed for each test run, </a:t>
            </a:r>
            <a:r>
              <a:rPr lang="en-US" altLang="ko-KR" sz="1400" b="1" dirty="0">
                <a:solidFill>
                  <a:srgbClr val="FF0000"/>
                </a:solidFill>
              </a:rPr>
              <a:t>data persistence isn’t important in the continuous testing case</a:t>
            </a:r>
            <a:r>
              <a:rPr lang="en-US" altLang="ko-KR" sz="1400" dirty="0"/>
              <a:t>. </a:t>
            </a:r>
            <a:r>
              <a:rPr lang="en-US" altLang="ko-KR" sz="1400" b="1" dirty="0">
                <a:solidFill>
                  <a:srgbClr val="FF0000"/>
                </a:solidFill>
              </a:rPr>
              <a:t>Representing both databases as Kubernetes services enables you to</a:t>
            </a:r>
            <a:r>
              <a:rPr lang="en-US" altLang="ko-KR" sz="1400" b="1" dirty="0"/>
              <a:t> </a:t>
            </a:r>
            <a:r>
              <a:rPr lang="en-US" altLang="ko-KR" sz="1400" b="1" dirty="0">
                <a:solidFill>
                  <a:srgbClr val="FF0000"/>
                </a:solidFill>
              </a:rPr>
              <a:t>maintain identical configurations in both testing and production</a:t>
            </a:r>
            <a:r>
              <a:rPr lang="en-US" altLang="ko-KR" sz="1400" dirty="0"/>
              <a:t>. </a:t>
            </a:r>
            <a:r>
              <a:rPr lang="en-US" altLang="ko-KR" sz="1400" b="1" dirty="0"/>
              <a:t>High fidelity between test and production ensures that passing tests will lead to successful deployment in production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9C7BC49-4835-43CD-B2CA-0FC2D08723B7}"/>
              </a:ext>
            </a:extLst>
          </p:cNvPr>
          <p:cNvPicPr>
            <a:picLocks noChangeAspect="1"/>
          </p:cNvPicPr>
          <p:nvPr/>
        </p:nvPicPr>
        <p:blipFill>
          <a:blip r:embed="rId2"/>
          <a:stretch>
            <a:fillRect/>
          </a:stretch>
        </p:blipFill>
        <p:spPr>
          <a:xfrm>
            <a:off x="2872740" y="3003258"/>
            <a:ext cx="6446520" cy="2924988"/>
          </a:xfrm>
          <a:prstGeom prst="rect">
            <a:avLst/>
          </a:prstGeom>
        </p:spPr>
      </p:pic>
    </p:spTree>
    <p:extLst>
      <p:ext uri="{BB962C8B-B14F-4D97-AF65-F5344CB8AC3E}">
        <p14:creationId xmlns:p14="http://schemas.microsoft.com/office/powerpoint/2010/main" val="3481894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Importing External Services(2/8)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solidFill>
                  <a:srgbClr val="FF0000"/>
                </a:solidFill>
              </a:rPr>
              <a:t>Continuous Deployment</a:t>
            </a:r>
            <a:r>
              <a:rPr lang="en-US" altLang="ko-KR" sz="1800" b="1" dirty="0"/>
              <a:t>(CD) :</a:t>
            </a:r>
          </a:p>
          <a:p>
            <a:pPr lvl="1">
              <a:buFont typeface="Wingdings" panose="05000000000000000000" pitchFamily="2" charset="2"/>
              <a:buChar char="§"/>
            </a:pPr>
            <a:r>
              <a:rPr lang="en-US" altLang="ko-KR" sz="1400" b="1" dirty="0"/>
              <a:t>To see concretely how you maintain high fidelity between development and production, remember that all Kubernetes objects are deployed into namespaces</a:t>
            </a:r>
            <a:r>
              <a:rPr lang="en-US" altLang="ko-KR" sz="1400" dirty="0"/>
              <a:t>. Imagine that we have </a:t>
            </a:r>
            <a:r>
              <a:rPr lang="en-US" altLang="ko-KR" sz="1400" b="1" dirty="0">
                <a:solidFill>
                  <a:srgbClr val="FF0000"/>
                </a:solidFill>
              </a:rPr>
              <a:t>test</a:t>
            </a:r>
            <a:r>
              <a:rPr lang="en-US" altLang="ko-KR" sz="1400" dirty="0"/>
              <a:t> and </a:t>
            </a:r>
            <a:r>
              <a:rPr lang="en-US" altLang="ko-KR" sz="1400" b="1" dirty="0">
                <a:solidFill>
                  <a:srgbClr val="FF0000"/>
                </a:solidFill>
              </a:rPr>
              <a:t>production</a:t>
            </a:r>
            <a:r>
              <a:rPr lang="en-US" altLang="ko-KR" sz="1400" dirty="0"/>
              <a:t> </a:t>
            </a:r>
            <a:r>
              <a:rPr lang="en-US" altLang="ko-KR" sz="1400" b="1" dirty="0"/>
              <a:t>namespaces defined</a:t>
            </a:r>
            <a:r>
              <a:rPr lang="en-US" altLang="ko-KR" sz="1400" dirty="0"/>
              <a:t>. The test service is imported using an object like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production service looks the same, except it uses a “</a:t>
            </a:r>
            <a:r>
              <a:rPr lang="en-US" altLang="ko-KR" sz="1400" b="1" dirty="0">
                <a:solidFill>
                  <a:srgbClr val="FF0000"/>
                </a:solidFill>
              </a:rPr>
              <a:t>different namespace</a:t>
            </a:r>
            <a:r>
              <a:rPr lang="en-US" altLang="ko-KR" sz="1400" b="1" dirty="0"/>
              <a: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30D2892-4C48-4EE5-A8BC-51A1065A5BB0}"/>
              </a:ext>
            </a:extLst>
          </p:cNvPr>
          <p:cNvSpPr/>
          <p:nvPr/>
        </p:nvSpPr>
        <p:spPr>
          <a:xfrm>
            <a:off x="3048000" y="2002921"/>
            <a:ext cx="6096000" cy="1015663"/>
          </a:xfrm>
          <a:prstGeom prst="rect">
            <a:avLst/>
          </a:prstGeom>
          <a:ln>
            <a:solidFill>
              <a:schemeClr val="bg1">
                <a:lumMod val="50000"/>
              </a:schemeClr>
            </a:solidFill>
          </a:ln>
        </p:spPr>
        <p:txBody>
          <a:bodyPr>
            <a:spAutoFit/>
          </a:bodyPr>
          <a:lstStyle/>
          <a:p>
            <a:r>
              <a:rPr lang="en-US" altLang="ko-KR" sz="1000" b="1" dirty="0"/>
              <a:t>kind: Service</a:t>
            </a:r>
          </a:p>
          <a:p>
            <a:r>
              <a:rPr lang="en-US" altLang="ko-KR" sz="1000" b="1" dirty="0"/>
              <a:t>metadata:</a:t>
            </a:r>
          </a:p>
          <a:p>
            <a:r>
              <a:rPr lang="en-US" altLang="ko-KR" sz="1000" b="1" dirty="0"/>
              <a:t>  name: my-database</a:t>
            </a:r>
          </a:p>
          <a:p>
            <a:r>
              <a:rPr lang="en-US" altLang="ko-KR" sz="1000" b="1" dirty="0"/>
              <a:t>  # note 'test' namespace here</a:t>
            </a:r>
          </a:p>
          <a:p>
            <a:r>
              <a:rPr lang="en-US" altLang="ko-KR" sz="1000" b="1" dirty="0"/>
              <a:t>  </a:t>
            </a:r>
            <a:r>
              <a:rPr lang="en-US" altLang="ko-KR" sz="1000" b="1" dirty="0">
                <a:solidFill>
                  <a:srgbClr val="FF0000"/>
                </a:solidFill>
              </a:rPr>
              <a:t>namespace: test</a:t>
            </a:r>
          </a:p>
          <a:p>
            <a:r>
              <a:rPr lang="en-US" altLang="ko-KR" sz="1000" b="1" dirty="0"/>
              <a:t>...</a:t>
            </a:r>
            <a:endParaRPr lang="ko-KR" altLang="en-US" sz="1000" b="1" dirty="0"/>
          </a:p>
        </p:txBody>
      </p:sp>
      <p:sp>
        <p:nvSpPr>
          <p:cNvPr id="8" name="직사각형 7">
            <a:extLst>
              <a:ext uri="{FF2B5EF4-FFF2-40B4-BE49-F238E27FC236}">
                <a16:creationId xmlns:a16="http://schemas.microsoft.com/office/drawing/2014/main" id="{AB4C18ED-BC5F-42A4-9A48-8685CB3DC7C4}"/>
              </a:ext>
            </a:extLst>
          </p:cNvPr>
          <p:cNvSpPr/>
          <p:nvPr/>
        </p:nvSpPr>
        <p:spPr>
          <a:xfrm>
            <a:off x="3048000" y="3839417"/>
            <a:ext cx="6096000" cy="1015663"/>
          </a:xfrm>
          <a:prstGeom prst="rect">
            <a:avLst/>
          </a:prstGeom>
          <a:ln>
            <a:solidFill>
              <a:schemeClr val="bg1">
                <a:lumMod val="50000"/>
              </a:schemeClr>
            </a:solidFill>
          </a:ln>
        </p:spPr>
        <p:txBody>
          <a:bodyPr>
            <a:spAutoFit/>
          </a:bodyPr>
          <a:lstStyle/>
          <a:p>
            <a:r>
              <a:rPr lang="en-US" altLang="ko-KR" sz="1000" b="1" dirty="0"/>
              <a:t>kind: Service</a:t>
            </a:r>
          </a:p>
          <a:p>
            <a:r>
              <a:rPr lang="en-US" altLang="ko-KR" sz="1000" b="1" dirty="0"/>
              <a:t>metadata:</a:t>
            </a:r>
          </a:p>
          <a:p>
            <a:r>
              <a:rPr lang="en-US" altLang="ko-KR" sz="1000" b="1" dirty="0"/>
              <a:t>  name: my-database</a:t>
            </a:r>
          </a:p>
          <a:p>
            <a:r>
              <a:rPr lang="en-US" altLang="ko-KR" sz="1000" b="1" dirty="0"/>
              <a:t>  # note 'prod' namespace here</a:t>
            </a:r>
          </a:p>
          <a:p>
            <a:r>
              <a:rPr lang="en-US" altLang="ko-KR" sz="1000" b="1" dirty="0"/>
              <a:t>  </a:t>
            </a:r>
            <a:r>
              <a:rPr lang="en-US" altLang="ko-KR" sz="1000" b="1" dirty="0">
                <a:solidFill>
                  <a:srgbClr val="FF0000"/>
                </a:solidFill>
              </a:rPr>
              <a:t>namespace: prod</a:t>
            </a:r>
          </a:p>
          <a:p>
            <a:r>
              <a:rPr lang="en-US" altLang="ko-KR" sz="1000" b="1" dirty="0"/>
              <a:t>...</a:t>
            </a:r>
            <a:endParaRPr lang="ko-KR" altLang="en-US" sz="1000" b="1" dirty="0"/>
          </a:p>
        </p:txBody>
      </p:sp>
    </p:spTree>
    <p:extLst>
      <p:ext uri="{BB962C8B-B14F-4D97-AF65-F5344CB8AC3E}">
        <p14:creationId xmlns:p14="http://schemas.microsoft.com/office/powerpoint/2010/main" val="719230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Importing External Services(3/8)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Continuous Deployment :</a:t>
            </a:r>
          </a:p>
          <a:p>
            <a:pPr lvl="1">
              <a:buFont typeface="Wingdings" panose="05000000000000000000" pitchFamily="2" charset="2"/>
              <a:buChar char="§"/>
            </a:pPr>
            <a:r>
              <a:rPr lang="en-US" altLang="ko-KR" sz="1400" b="1" dirty="0"/>
              <a:t>When you deploy a Pod into the test namespace and it looks up the service named “my-database”, it will receive a pointer to </a:t>
            </a:r>
            <a:r>
              <a:rPr lang="en-US" altLang="ko-KR" sz="1400" dirty="0"/>
              <a:t>“</a:t>
            </a:r>
            <a:r>
              <a:rPr lang="en-US" altLang="ko-KR" sz="1400" b="1" dirty="0">
                <a:solidFill>
                  <a:srgbClr val="FF0000"/>
                </a:solidFill>
              </a:rPr>
              <a:t>my-</a:t>
            </a:r>
            <a:r>
              <a:rPr lang="en-US" altLang="ko-KR" sz="1400" b="1" dirty="0" err="1">
                <a:solidFill>
                  <a:srgbClr val="FF0000"/>
                </a:solidFill>
              </a:rPr>
              <a:t>database.test.svc.cluster.internal</a:t>
            </a:r>
            <a:r>
              <a:rPr lang="en-US" altLang="ko-KR" sz="1400" dirty="0"/>
              <a:t>”, which in turn points to the “</a:t>
            </a:r>
            <a:r>
              <a:rPr lang="en-US" altLang="ko-KR" sz="1400" b="1" dirty="0"/>
              <a:t>test database</a:t>
            </a:r>
            <a:r>
              <a:rPr lang="en-US" altLang="ko-KR" sz="1400" dirty="0"/>
              <a:t>”. </a:t>
            </a:r>
            <a:r>
              <a:rPr lang="en-US" altLang="ko-KR" sz="1400" b="1" dirty="0"/>
              <a:t>In contrast, when a Pod deployed in the prod namespace looks up the same name (“my-database”) it will receive a pointer to </a:t>
            </a:r>
            <a:r>
              <a:rPr lang="en-US" altLang="ko-KR" sz="1400" dirty="0"/>
              <a:t>“</a:t>
            </a:r>
            <a:r>
              <a:rPr lang="en-US" altLang="ko-KR" sz="1400" b="1" dirty="0">
                <a:solidFill>
                  <a:srgbClr val="FF0000"/>
                </a:solidFill>
              </a:rPr>
              <a:t>my-</a:t>
            </a:r>
            <a:r>
              <a:rPr lang="en-US" altLang="ko-KR" sz="1400" b="1" dirty="0" err="1">
                <a:solidFill>
                  <a:srgbClr val="FF0000"/>
                </a:solidFill>
              </a:rPr>
              <a:t>database.prod.svc.cluster.internal</a:t>
            </a:r>
            <a:r>
              <a:rPr lang="en-US" altLang="ko-KR" sz="1400" dirty="0"/>
              <a:t>”, which is the “</a:t>
            </a:r>
            <a:r>
              <a:rPr lang="en-US" altLang="ko-KR" sz="1400" b="1" dirty="0"/>
              <a:t>production database</a:t>
            </a:r>
            <a:r>
              <a:rPr lang="en-US" altLang="ko-KR" sz="1400" dirty="0"/>
              <a:t>”. </a:t>
            </a:r>
            <a:r>
              <a:rPr lang="en-US" altLang="ko-KR" sz="1400" b="1" dirty="0"/>
              <a:t>Thus, the same service name, in two different namespaces, resolves to two different services</a:t>
            </a:r>
            <a:r>
              <a:rPr lang="en-US" altLang="ko-KR" sz="1400" dirty="0"/>
              <a:t>. </a:t>
            </a:r>
          </a:p>
          <a:p>
            <a:pPr lvl="1">
              <a:buFont typeface="Wingdings" panose="05000000000000000000" pitchFamily="2" charset="2"/>
              <a:buChar char="§"/>
            </a:pPr>
            <a:r>
              <a:rPr lang="en-US" altLang="ko-KR" sz="1400" b="1" dirty="0"/>
              <a:t>NOTE : The following techniques all use database or other storage services, but these approaches can be used equally well with other services that aren’t running inside your Kubernetes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4A20455-2EC0-4CD4-9DC7-63E8B399CD30}"/>
              </a:ext>
            </a:extLst>
          </p:cNvPr>
          <p:cNvGrpSpPr/>
          <p:nvPr/>
        </p:nvGrpSpPr>
        <p:grpSpPr>
          <a:xfrm>
            <a:off x="3572828" y="2674547"/>
            <a:ext cx="5037772" cy="3635119"/>
            <a:chOff x="3572828" y="2674547"/>
            <a:chExt cx="5037772" cy="3635119"/>
          </a:xfrm>
        </p:grpSpPr>
        <p:pic>
          <p:nvPicPr>
            <p:cNvPr id="4" name="그림 3">
              <a:extLst>
                <a:ext uri="{FF2B5EF4-FFF2-40B4-BE49-F238E27FC236}">
                  <a16:creationId xmlns:a16="http://schemas.microsoft.com/office/drawing/2014/main" id="{8A94C337-AF89-4174-A54E-C17BA4E8760A}"/>
                </a:ext>
              </a:extLst>
            </p:cNvPr>
            <p:cNvPicPr>
              <a:picLocks noChangeAspect="1"/>
            </p:cNvPicPr>
            <p:nvPr/>
          </p:nvPicPr>
          <p:blipFill>
            <a:blip r:embed="rId2"/>
            <a:stretch>
              <a:fillRect/>
            </a:stretch>
          </p:blipFill>
          <p:spPr>
            <a:xfrm>
              <a:off x="3572828" y="2674547"/>
              <a:ext cx="5037772" cy="3635119"/>
            </a:xfrm>
            <a:prstGeom prst="rect">
              <a:avLst/>
            </a:prstGeom>
          </p:spPr>
        </p:pic>
        <p:sp>
          <p:nvSpPr>
            <p:cNvPr id="8" name="TextBox 7">
              <a:extLst>
                <a:ext uri="{FF2B5EF4-FFF2-40B4-BE49-F238E27FC236}">
                  <a16:creationId xmlns:a16="http://schemas.microsoft.com/office/drawing/2014/main" id="{30840E0A-6E13-48FB-A29F-1B1CB4E9F930}"/>
                </a:ext>
              </a:extLst>
            </p:cNvPr>
            <p:cNvSpPr txBox="1"/>
            <p:nvPr/>
          </p:nvSpPr>
          <p:spPr>
            <a:xfrm>
              <a:off x="4596069" y="4245885"/>
              <a:ext cx="439544" cy="246221"/>
            </a:xfrm>
            <a:prstGeom prst="rect">
              <a:avLst/>
            </a:prstGeom>
            <a:noFill/>
          </p:spPr>
          <p:txBody>
            <a:bodyPr wrap="none" rtlCol="0">
              <a:spAutoFit/>
            </a:bodyPr>
            <a:lstStyle/>
            <a:p>
              <a:pPr algn="ctr"/>
              <a:r>
                <a:rPr lang="en-US" altLang="ko-KR" sz="1000" b="1" dirty="0">
                  <a:solidFill>
                    <a:srgbClr val="FF0000"/>
                  </a:solidFill>
                </a:rPr>
                <a:t>Test</a:t>
              </a:r>
              <a:endParaRPr lang="ko-KR" altLang="en-US" sz="1000" b="1" dirty="0">
                <a:solidFill>
                  <a:srgbClr val="FF0000"/>
                </a:solidFill>
              </a:endParaRPr>
            </a:p>
          </p:txBody>
        </p:sp>
        <p:sp>
          <p:nvSpPr>
            <p:cNvPr id="9" name="TextBox 8">
              <a:extLst>
                <a:ext uri="{FF2B5EF4-FFF2-40B4-BE49-F238E27FC236}">
                  <a16:creationId xmlns:a16="http://schemas.microsoft.com/office/drawing/2014/main" id="{1988CADE-3032-4AB3-9823-6A17B1C842A3}"/>
                </a:ext>
              </a:extLst>
            </p:cNvPr>
            <p:cNvSpPr txBox="1"/>
            <p:nvPr/>
          </p:nvSpPr>
          <p:spPr>
            <a:xfrm>
              <a:off x="6855760" y="4245885"/>
              <a:ext cx="857927" cy="246221"/>
            </a:xfrm>
            <a:prstGeom prst="rect">
              <a:avLst/>
            </a:prstGeom>
            <a:noFill/>
          </p:spPr>
          <p:txBody>
            <a:bodyPr wrap="none" rtlCol="0">
              <a:spAutoFit/>
            </a:bodyPr>
            <a:lstStyle/>
            <a:p>
              <a:pPr algn="ctr"/>
              <a:r>
                <a:rPr lang="en-US" altLang="ko-KR" sz="1000" b="1" dirty="0">
                  <a:solidFill>
                    <a:srgbClr val="FF0000"/>
                  </a:solidFill>
                </a:rPr>
                <a:t>Production</a:t>
              </a:r>
              <a:endParaRPr lang="ko-KR" altLang="en-US" sz="1000" b="1" dirty="0">
                <a:solidFill>
                  <a:srgbClr val="FF0000"/>
                </a:solidFill>
              </a:endParaRPr>
            </a:p>
          </p:txBody>
        </p:sp>
      </p:grpSp>
    </p:spTree>
    <p:extLst>
      <p:ext uri="{BB962C8B-B14F-4D97-AF65-F5344CB8AC3E}">
        <p14:creationId xmlns:p14="http://schemas.microsoft.com/office/powerpoint/2010/main" val="3016716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Importing External Services(4/8)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Services Without Selectors :</a:t>
            </a:r>
          </a:p>
          <a:p>
            <a:pPr lvl="1">
              <a:buFont typeface="Wingdings" panose="05000000000000000000" pitchFamily="2" charset="2"/>
              <a:buChar char="§"/>
            </a:pPr>
            <a:r>
              <a:rPr lang="en-US" altLang="ko-KR" sz="1400" b="1" dirty="0">
                <a:solidFill>
                  <a:srgbClr val="FF0000"/>
                </a:solidFill>
              </a:rPr>
              <a:t>With external services, there is no label query</a:t>
            </a:r>
            <a:r>
              <a:rPr lang="en-US" altLang="ko-KR" sz="1400" b="1" dirty="0"/>
              <a:t>. Instead, you generally have a “</a:t>
            </a:r>
            <a:r>
              <a:rPr lang="en-US" altLang="ko-KR" sz="1400" b="1" dirty="0">
                <a:solidFill>
                  <a:srgbClr val="FF0000"/>
                </a:solidFill>
              </a:rPr>
              <a:t>DNS name</a:t>
            </a:r>
            <a:r>
              <a:rPr lang="en-US" altLang="ko-KR" sz="1400" b="1" dirty="0"/>
              <a:t>” that points to the specific server running the database</a:t>
            </a:r>
            <a:r>
              <a:rPr lang="en-US" altLang="ko-KR" sz="1400" dirty="0"/>
              <a:t>. For our example, let’s assume that this server is named “</a:t>
            </a:r>
            <a:r>
              <a:rPr lang="en-US" altLang="ko-KR" sz="1400" b="1" dirty="0">
                <a:solidFill>
                  <a:srgbClr val="FF0000"/>
                </a:solidFill>
              </a:rPr>
              <a:t>database.company.com</a:t>
            </a:r>
            <a:r>
              <a:rPr lang="en-US" altLang="ko-KR" sz="1400" dirty="0"/>
              <a:t>”. </a:t>
            </a:r>
            <a:r>
              <a:rPr lang="en-US" altLang="ko-KR" sz="1400" b="1" dirty="0"/>
              <a:t>To import this external database service into Kubernetes, we start by creating a service </a:t>
            </a:r>
            <a:r>
              <a:rPr lang="en-US" altLang="ko-KR" sz="1400" b="1" dirty="0">
                <a:solidFill>
                  <a:srgbClr val="FF0000"/>
                </a:solidFill>
              </a:rPr>
              <a:t>without a Pod selector </a:t>
            </a:r>
            <a:r>
              <a:rPr lang="en-US" altLang="ko-KR" sz="1400" b="1" dirty="0"/>
              <a:t>that references the DNS name of the database server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BE61785-FFA6-437F-B51C-0DBD51FEFA44}"/>
              </a:ext>
            </a:extLst>
          </p:cNvPr>
          <p:cNvGrpSpPr/>
          <p:nvPr/>
        </p:nvGrpSpPr>
        <p:grpSpPr>
          <a:xfrm>
            <a:off x="1333500" y="2138236"/>
            <a:ext cx="9525000" cy="3334829"/>
            <a:chOff x="1333500" y="2138236"/>
            <a:chExt cx="9525000" cy="3334829"/>
          </a:xfrm>
        </p:grpSpPr>
        <p:grpSp>
          <p:nvGrpSpPr>
            <p:cNvPr id="10" name="그룹 9">
              <a:extLst>
                <a:ext uri="{FF2B5EF4-FFF2-40B4-BE49-F238E27FC236}">
                  <a16:creationId xmlns:a16="http://schemas.microsoft.com/office/drawing/2014/main" id="{09944895-E04B-4F7F-8D0B-E1E1EF09B5ED}"/>
                </a:ext>
              </a:extLst>
            </p:cNvPr>
            <p:cNvGrpSpPr/>
            <p:nvPr/>
          </p:nvGrpSpPr>
          <p:grpSpPr>
            <a:xfrm>
              <a:off x="1333500" y="2138236"/>
              <a:ext cx="9525000" cy="3334829"/>
              <a:chOff x="1333500" y="2549716"/>
              <a:chExt cx="9525000" cy="3334829"/>
            </a:xfrm>
          </p:grpSpPr>
          <p:sp>
            <p:nvSpPr>
              <p:cNvPr id="4" name="직사각형 3">
                <a:extLst>
                  <a:ext uri="{FF2B5EF4-FFF2-40B4-BE49-F238E27FC236}">
                    <a16:creationId xmlns:a16="http://schemas.microsoft.com/office/drawing/2014/main" id="{124C63FD-62B8-4A21-AF65-55FFE22E1A2C}"/>
                  </a:ext>
                </a:extLst>
              </p:cNvPr>
              <p:cNvSpPr/>
              <p:nvPr/>
            </p:nvSpPr>
            <p:spPr>
              <a:xfrm>
                <a:off x="3048000" y="2549716"/>
                <a:ext cx="6096000" cy="1169551"/>
              </a:xfrm>
              <a:prstGeom prst="rect">
                <a:avLst/>
              </a:prstGeom>
              <a:ln>
                <a:solidFill>
                  <a:schemeClr val="bg1">
                    <a:lumMod val="50000"/>
                  </a:schemeClr>
                </a:solidFill>
              </a:ln>
            </p:spPr>
            <p:txBody>
              <a:bodyPr>
                <a:spAutoFit/>
              </a:bodyPr>
              <a:lstStyle/>
              <a:p>
                <a:r>
                  <a:rPr lang="en-US" altLang="ko-KR" sz="1000" b="1" dirty="0"/>
                  <a:t>kind: </a:t>
                </a:r>
                <a:r>
                  <a:rPr lang="en-US" altLang="ko-KR" sz="1000" b="1" dirty="0">
                    <a:solidFill>
                      <a:srgbClr val="FF0000"/>
                    </a:solidFill>
                  </a:rPr>
                  <a:t>Service</a:t>
                </a:r>
              </a:p>
              <a:p>
                <a:r>
                  <a:rPr lang="en-US" altLang="ko-KR" sz="1000" b="1" dirty="0" err="1"/>
                  <a:t>apiVersion</a:t>
                </a:r>
                <a:r>
                  <a:rPr lang="en-US" altLang="ko-KR" sz="1000" b="1" dirty="0"/>
                  <a:t>: v1</a:t>
                </a:r>
              </a:p>
              <a:p>
                <a:r>
                  <a:rPr lang="en-US" altLang="ko-KR" sz="1000" b="1" dirty="0"/>
                  <a:t>metadata:</a:t>
                </a:r>
              </a:p>
              <a:p>
                <a:r>
                  <a:rPr lang="en-US" altLang="ko-KR" sz="1000" b="1" dirty="0"/>
                  <a:t>  name: </a:t>
                </a:r>
                <a:r>
                  <a:rPr lang="en-US" altLang="ko-KR" sz="1000" b="1" dirty="0">
                    <a:solidFill>
                      <a:srgbClr val="FF0000"/>
                    </a:solidFill>
                  </a:rPr>
                  <a:t>external-database</a:t>
                </a:r>
              </a:p>
              <a:p>
                <a:r>
                  <a:rPr lang="en-US" altLang="ko-KR" sz="1000" b="1" dirty="0"/>
                  <a:t>spec:</a:t>
                </a:r>
              </a:p>
              <a:p>
                <a:r>
                  <a:rPr lang="en-US" altLang="ko-KR" sz="1000" b="1" dirty="0"/>
                  <a:t>  type: </a:t>
                </a:r>
                <a:r>
                  <a:rPr lang="en-US" altLang="ko-KR" sz="1000" b="1" dirty="0" err="1">
                    <a:solidFill>
                      <a:srgbClr val="FF0000"/>
                    </a:solidFill>
                  </a:rPr>
                  <a:t>ExternalName</a:t>
                </a:r>
                <a:endParaRPr lang="en-US" altLang="ko-KR" sz="1000" b="1" dirty="0">
                  <a:solidFill>
                    <a:srgbClr val="FF0000"/>
                  </a:solidFill>
                </a:endParaRPr>
              </a:p>
              <a:p>
                <a:r>
                  <a:rPr lang="en-US" altLang="ko-KR" sz="1000" b="1" dirty="0"/>
                  <a:t>  </a:t>
                </a:r>
                <a:r>
                  <a:rPr lang="en-US" altLang="ko-KR" sz="1000" b="1" dirty="0" err="1"/>
                  <a:t>externalName</a:t>
                </a:r>
                <a:r>
                  <a:rPr lang="en-US" altLang="ko-KR" sz="1000" b="1" dirty="0"/>
                  <a:t>: </a:t>
                </a:r>
                <a:r>
                  <a:rPr lang="en-US" altLang="ko-KR" sz="1000" b="1" dirty="0">
                    <a:solidFill>
                      <a:srgbClr val="FF0000"/>
                    </a:solidFill>
                  </a:rPr>
                  <a:t>database.company.com</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D7BEFE8D-0262-4386-ADFE-520ECF1053B3}"/>
                  </a:ext>
                </a:extLst>
              </p:cNvPr>
              <p:cNvPicPr>
                <a:picLocks noChangeAspect="1"/>
              </p:cNvPicPr>
              <p:nvPr/>
            </p:nvPicPr>
            <p:blipFill>
              <a:blip r:embed="rId2"/>
              <a:stretch>
                <a:fillRect/>
              </a:stretch>
            </p:blipFill>
            <p:spPr>
              <a:xfrm>
                <a:off x="1333500" y="4036695"/>
                <a:ext cx="9525000" cy="18478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BCDAF34-290D-4435-A81A-718567581E8F}"/>
                  </a:ext>
                </a:extLst>
              </p:cNvPr>
              <p:cNvSpPr/>
              <p:nvPr/>
            </p:nvSpPr>
            <p:spPr>
              <a:xfrm>
                <a:off x="5901690" y="3759248"/>
                <a:ext cx="388620" cy="25740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73F84ACF-EEFB-4B15-89B6-78D3B8EFEAE0}"/>
                </a:ext>
              </a:extLst>
            </p:cNvPr>
            <p:cNvSpPr/>
            <p:nvPr/>
          </p:nvSpPr>
          <p:spPr>
            <a:xfrm>
              <a:off x="5120640" y="4792980"/>
              <a:ext cx="1607820" cy="2133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779C1ED5-4499-73E7-3DE4-428B7D76D8FA}"/>
              </a:ext>
            </a:extLst>
          </p:cNvPr>
          <p:cNvSpPr/>
          <p:nvPr/>
        </p:nvSpPr>
        <p:spPr>
          <a:xfrm>
            <a:off x="2956560" y="4792980"/>
            <a:ext cx="1036320" cy="2133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31685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Importing External Services(5/8)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Services Without Selectors :</a:t>
            </a:r>
          </a:p>
          <a:p>
            <a:pPr lvl="1">
              <a:buFont typeface="Wingdings" panose="05000000000000000000" pitchFamily="2" charset="2"/>
              <a:buChar char="§"/>
            </a:pPr>
            <a:r>
              <a:rPr lang="en-US" altLang="ko-KR" sz="1400" b="1" dirty="0"/>
              <a:t>When a typical Kubernetes service is created, an IP address is also created and the Kubernetes DNS service is populated with an A record that points to that IP address</a:t>
            </a:r>
            <a:r>
              <a:rPr lang="en-US" altLang="ko-KR" sz="1400" dirty="0"/>
              <a:t>. When you create a service of type “</a:t>
            </a:r>
            <a:r>
              <a:rPr lang="en-US" altLang="ko-KR" sz="1400" b="1" dirty="0">
                <a:solidFill>
                  <a:srgbClr val="FF0000"/>
                </a:solidFill>
              </a:rPr>
              <a:t>ExternalName</a:t>
            </a:r>
            <a:r>
              <a:rPr lang="en-US" altLang="ko-KR" sz="1400" dirty="0"/>
              <a:t>”, the </a:t>
            </a:r>
            <a:r>
              <a:rPr lang="en-US" altLang="ko-KR" sz="1400" b="1" dirty="0"/>
              <a:t>Kubernetes DNS service is instead populated with a “</a:t>
            </a:r>
            <a:r>
              <a:rPr lang="en-US" altLang="ko-KR" sz="1400" b="1" dirty="0">
                <a:solidFill>
                  <a:srgbClr val="FF0000"/>
                </a:solidFill>
              </a:rPr>
              <a:t>CNAME record</a:t>
            </a:r>
            <a:r>
              <a:rPr lang="en-US" altLang="ko-KR" sz="1400" b="1" dirty="0"/>
              <a:t>“ that points to the external name you specified (“</a:t>
            </a:r>
            <a:r>
              <a:rPr lang="en-US" altLang="ko-KR" sz="1400" b="1" dirty="0">
                <a:solidFill>
                  <a:srgbClr val="FF0000"/>
                </a:solidFill>
              </a:rPr>
              <a:t>database.company.com</a:t>
            </a:r>
            <a:r>
              <a:rPr lang="en-US" altLang="ko-KR" sz="1400" b="1" dirty="0"/>
              <a:t>” in this case).</a:t>
            </a:r>
            <a:r>
              <a:rPr lang="en-US" altLang="ko-KR" sz="1400" dirty="0"/>
              <a:t> </a:t>
            </a:r>
            <a:r>
              <a:rPr lang="en-US" altLang="ko-KR" sz="1400" b="1" dirty="0"/>
              <a:t>When an application in the cluster does a DNS lookup for the hostname “</a:t>
            </a:r>
            <a:r>
              <a:rPr lang="en-US" altLang="ko-KR" sz="1400" b="1" dirty="0">
                <a:solidFill>
                  <a:srgbClr val="FF0000"/>
                </a:solidFill>
              </a:rPr>
              <a:t>external-</a:t>
            </a:r>
            <a:r>
              <a:rPr lang="en-US" altLang="ko-KR" sz="1400" b="1" dirty="0" err="1">
                <a:solidFill>
                  <a:srgbClr val="FF0000"/>
                </a:solidFill>
              </a:rPr>
              <a:t>database.svc.default.cluster</a:t>
            </a:r>
            <a:r>
              <a:rPr lang="en-US" altLang="ko-KR" sz="1400" b="1" dirty="0"/>
              <a:t>”, the DNS protocol </a:t>
            </a:r>
            <a:r>
              <a:rPr lang="en-US" altLang="ko-KR" sz="1400" b="1" dirty="0">
                <a:solidFill>
                  <a:srgbClr val="FF0000"/>
                </a:solidFill>
              </a:rPr>
              <a:t>aliases</a:t>
            </a:r>
            <a:r>
              <a:rPr lang="en-US" altLang="ko-KR" sz="1400" b="1" dirty="0"/>
              <a:t> that name to </a:t>
            </a:r>
            <a:r>
              <a:rPr lang="en-US" altLang="ko-KR" sz="1400" dirty="0"/>
              <a:t>“</a:t>
            </a:r>
            <a:r>
              <a:rPr lang="en-US" altLang="ko-KR" sz="1400" b="1" dirty="0">
                <a:solidFill>
                  <a:srgbClr val="FF0000"/>
                </a:solidFill>
              </a:rPr>
              <a:t>database.company.com</a:t>
            </a:r>
            <a:r>
              <a:rPr lang="en-US" altLang="ko-KR" sz="1400" dirty="0"/>
              <a:t>”. </a:t>
            </a:r>
            <a:r>
              <a:rPr lang="en-US" altLang="ko-KR" sz="1400" b="1" dirty="0"/>
              <a:t>This then resolves to the IP address of your external database server</a:t>
            </a:r>
            <a:r>
              <a:rPr lang="en-US" altLang="ko-KR" sz="1400" dirty="0"/>
              <a:t>. In this way, all containers in Kubernetes believe that they are talking to a service that is backed with other containers, when in fact </a:t>
            </a:r>
            <a:r>
              <a:rPr lang="en-US" altLang="ko-KR" sz="1400" b="1" dirty="0"/>
              <a:t>they are being </a:t>
            </a:r>
            <a:r>
              <a:rPr lang="en-US" altLang="ko-KR" sz="1400" b="1" dirty="0">
                <a:solidFill>
                  <a:srgbClr val="FF0000"/>
                </a:solidFill>
              </a:rPr>
              <a:t>redirected</a:t>
            </a:r>
            <a:r>
              <a:rPr lang="en-US" altLang="ko-KR" sz="1400" b="1" dirty="0"/>
              <a:t> to the external database</a:t>
            </a:r>
            <a:r>
              <a:rPr lang="en-US" altLang="ko-KR" sz="1400" dirty="0"/>
              <a:t>.</a:t>
            </a:r>
          </a:p>
          <a:p>
            <a:pPr lvl="1">
              <a:buFont typeface="Wingdings" panose="05000000000000000000" pitchFamily="2" charset="2"/>
              <a:buChar char="§"/>
            </a:pPr>
            <a:r>
              <a:rPr lang="en-US" altLang="ko-KR" sz="1400" b="1" dirty="0"/>
              <a:t>NOTE : This is not restricted to databases you are running on your own infrastructure</a:t>
            </a:r>
            <a:r>
              <a:rPr lang="en-US" altLang="ko-KR" sz="1400" dirty="0"/>
              <a:t>. Many cloud databases and other services provide you with a DNS name to use when accessing the database (e.g., “</a:t>
            </a:r>
            <a:r>
              <a:rPr lang="en-US" altLang="ko-KR" sz="1400" b="1" dirty="0"/>
              <a:t>my-database.databases.cloudprovider.com</a:t>
            </a:r>
            <a:r>
              <a:rPr lang="en-US" altLang="ko-KR" sz="1400" dirty="0"/>
              <a:t>”). </a:t>
            </a:r>
            <a:r>
              <a:rPr lang="en-US" altLang="ko-KR" sz="1400" b="1" dirty="0"/>
              <a:t>You can use this DNS name as the “</a:t>
            </a:r>
            <a:r>
              <a:rPr lang="en-US" altLang="ko-KR" sz="1400" b="1" dirty="0" err="1">
                <a:solidFill>
                  <a:srgbClr val="FF0000"/>
                </a:solidFill>
              </a:rPr>
              <a:t>externalName</a:t>
            </a:r>
            <a:r>
              <a:rPr lang="en-US" altLang="ko-KR" sz="1400" b="1" dirty="0"/>
              <a:t>”</a:t>
            </a:r>
            <a:r>
              <a:rPr lang="en-US" altLang="ko-KR" sz="1400" dirty="0"/>
              <a:t>. </a:t>
            </a:r>
            <a:r>
              <a:rPr lang="en-US" altLang="ko-KR" sz="1400" b="1" dirty="0"/>
              <a:t>This imports the cloud-provided database into the namespace of your Kubernetes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7769872-4A3B-455C-B69D-4EDE5DF41CAD}"/>
              </a:ext>
            </a:extLst>
          </p:cNvPr>
          <p:cNvGrpSpPr/>
          <p:nvPr/>
        </p:nvGrpSpPr>
        <p:grpSpPr>
          <a:xfrm>
            <a:off x="3619024" y="3841951"/>
            <a:ext cx="4953952" cy="2241643"/>
            <a:chOff x="3619024" y="3841951"/>
            <a:chExt cx="4953952" cy="2241643"/>
          </a:xfrm>
        </p:grpSpPr>
        <p:pic>
          <p:nvPicPr>
            <p:cNvPr id="4" name="그림 3">
              <a:extLst>
                <a:ext uri="{FF2B5EF4-FFF2-40B4-BE49-F238E27FC236}">
                  <a16:creationId xmlns:a16="http://schemas.microsoft.com/office/drawing/2014/main" id="{AEA19A63-23FB-48C4-9EFE-298B6CCD5148}"/>
                </a:ext>
              </a:extLst>
            </p:cNvPr>
            <p:cNvPicPr>
              <a:picLocks noChangeAspect="1"/>
            </p:cNvPicPr>
            <p:nvPr/>
          </p:nvPicPr>
          <p:blipFill>
            <a:blip r:embed="rId2"/>
            <a:stretch>
              <a:fillRect/>
            </a:stretch>
          </p:blipFill>
          <p:spPr>
            <a:xfrm>
              <a:off x="3619024" y="3841951"/>
              <a:ext cx="4953952" cy="2241643"/>
            </a:xfrm>
            <a:prstGeom prst="rect">
              <a:avLst/>
            </a:prstGeom>
          </p:spPr>
        </p:pic>
        <p:sp>
          <p:nvSpPr>
            <p:cNvPr id="8" name="직사각형 7">
              <a:extLst>
                <a:ext uri="{FF2B5EF4-FFF2-40B4-BE49-F238E27FC236}">
                  <a16:creationId xmlns:a16="http://schemas.microsoft.com/office/drawing/2014/main" id="{62C53CF7-6CC8-4B4E-873A-C4B3D0A9C93C}"/>
                </a:ext>
              </a:extLst>
            </p:cNvPr>
            <p:cNvSpPr/>
            <p:nvPr/>
          </p:nvSpPr>
          <p:spPr>
            <a:xfrm>
              <a:off x="4678680" y="4541520"/>
              <a:ext cx="1112520" cy="11201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4494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Importing External Services(6/8)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Services Without Selectors :</a:t>
            </a:r>
          </a:p>
          <a:p>
            <a:pPr lvl="1">
              <a:buFont typeface="Wingdings" panose="05000000000000000000" pitchFamily="2" charset="2"/>
              <a:buChar char="§"/>
            </a:pPr>
            <a:r>
              <a:rPr lang="en-US" altLang="ko-KR" sz="1400" b="1" dirty="0"/>
              <a:t>Sometimes, however, you don’t have a DNS address for an external database service, just an IP address</a:t>
            </a:r>
            <a:r>
              <a:rPr lang="en-US" altLang="ko-KR" sz="1400" dirty="0"/>
              <a:t>. In such cases, it is still possible to </a:t>
            </a:r>
            <a:r>
              <a:rPr lang="en-US" altLang="ko-KR" sz="1400" b="1" dirty="0"/>
              <a:t>import this service as a Kubernetes service</a:t>
            </a:r>
            <a:r>
              <a:rPr lang="en-US" altLang="ko-KR" sz="1400" dirty="0"/>
              <a:t>, but the operation is a little different. First, </a:t>
            </a:r>
            <a:r>
              <a:rPr lang="en-US" altLang="ko-KR" sz="1400" b="1" dirty="0"/>
              <a:t>you create a Service without a label selector, but also without the “</a:t>
            </a:r>
            <a:r>
              <a:rPr lang="en-US" altLang="ko-KR" sz="1400" b="1" dirty="0" err="1">
                <a:solidFill>
                  <a:srgbClr val="FF0000"/>
                </a:solidFill>
              </a:rPr>
              <a:t>ExternalName</a:t>
            </a:r>
            <a:r>
              <a:rPr lang="en-US" altLang="ko-KR" sz="1400" b="1" dirty="0"/>
              <a:t>” type we used before</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At this point, </a:t>
            </a:r>
            <a:r>
              <a:rPr lang="en-US" altLang="ko-KR" sz="1400" b="1" dirty="0">
                <a:solidFill>
                  <a:srgbClr val="FF0000"/>
                </a:solidFill>
              </a:rPr>
              <a:t>Kubernetes will allocate a virtual IP address </a:t>
            </a:r>
            <a:r>
              <a:rPr lang="en-US" altLang="ko-KR" sz="1400" b="1" dirty="0"/>
              <a:t>for this service and populate an “</a:t>
            </a:r>
            <a:r>
              <a:rPr lang="en-US" altLang="ko-KR" sz="1400" b="1" dirty="0">
                <a:solidFill>
                  <a:srgbClr val="FF0000"/>
                </a:solidFill>
              </a:rPr>
              <a:t>A record</a:t>
            </a:r>
            <a:r>
              <a:rPr lang="en-US" altLang="ko-KR" sz="1400" b="1" dirty="0"/>
              <a:t>” for it</a:t>
            </a:r>
            <a:r>
              <a:rPr lang="en-US" altLang="ko-KR" sz="1400" dirty="0"/>
              <a:t>. </a:t>
            </a:r>
            <a:r>
              <a:rPr lang="en-US" altLang="ko-KR" sz="1400" b="1" dirty="0"/>
              <a:t>However, because there is no selector for the service, </a:t>
            </a:r>
            <a:r>
              <a:rPr lang="en-US" altLang="ko-KR" sz="1400" b="1" dirty="0">
                <a:solidFill>
                  <a:srgbClr val="FF0000"/>
                </a:solidFill>
              </a:rPr>
              <a:t>there will be no endpoints</a:t>
            </a:r>
            <a:r>
              <a:rPr lang="en-US" altLang="ko-KR" sz="1400" b="1" dirty="0"/>
              <a:t> </a:t>
            </a:r>
            <a:r>
              <a:rPr lang="en-US" altLang="ko-KR" sz="1400" b="1" dirty="0">
                <a:solidFill>
                  <a:srgbClr val="FF0000"/>
                </a:solidFill>
              </a:rPr>
              <a:t>populated for the load balancer to redirect traffic to</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A80DA10-9547-41CA-9E72-CDE5C1938DED}"/>
              </a:ext>
            </a:extLst>
          </p:cNvPr>
          <p:cNvSpPr/>
          <p:nvPr/>
        </p:nvSpPr>
        <p:spPr>
          <a:xfrm>
            <a:off x="3048000" y="1983016"/>
            <a:ext cx="6096000" cy="707886"/>
          </a:xfrm>
          <a:prstGeom prst="rect">
            <a:avLst/>
          </a:prstGeom>
          <a:ln>
            <a:solidFill>
              <a:schemeClr val="bg1">
                <a:lumMod val="50000"/>
              </a:schemeClr>
            </a:solidFill>
          </a:ln>
        </p:spPr>
        <p:txBody>
          <a:bodyPr>
            <a:spAutoFit/>
          </a:bodyPr>
          <a:lstStyle/>
          <a:p>
            <a:r>
              <a:rPr lang="en-US" altLang="ko-KR" sz="1000" b="1" dirty="0"/>
              <a:t>kind: Service</a:t>
            </a:r>
          </a:p>
          <a:p>
            <a:r>
              <a:rPr lang="en-US" altLang="ko-KR" sz="1000" b="1" dirty="0" err="1"/>
              <a:t>apiVersion</a:t>
            </a:r>
            <a:r>
              <a:rPr lang="en-US" altLang="ko-KR" sz="1000" b="1" dirty="0"/>
              <a:t>: v1</a:t>
            </a:r>
          </a:p>
          <a:p>
            <a:r>
              <a:rPr lang="en-US" altLang="ko-KR" sz="1000" b="1" dirty="0"/>
              <a:t>metadata:</a:t>
            </a:r>
          </a:p>
          <a:p>
            <a:r>
              <a:rPr lang="en-US" altLang="ko-KR" sz="1000" b="1" dirty="0"/>
              <a:t>  name: </a:t>
            </a:r>
            <a:r>
              <a:rPr lang="en-US" altLang="ko-KR" sz="1000" b="1" dirty="0">
                <a:solidFill>
                  <a:srgbClr val="FF0000"/>
                </a:solidFill>
              </a:rPr>
              <a:t>external-</a:t>
            </a:r>
            <a:r>
              <a:rPr lang="en-US" altLang="ko-KR" sz="1000" b="1" dirty="0" err="1">
                <a:solidFill>
                  <a:srgbClr val="FF0000"/>
                </a:solidFill>
              </a:rPr>
              <a:t>ip</a:t>
            </a:r>
            <a:r>
              <a:rPr lang="en-US" altLang="ko-KR" sz="1000" b="1" dirty="0">
                <a:solidFill>
                  <a:srgbClr val="FF0000"/>
                </a:solidFill>
              </a:rPr>
              <a:t>-database</a:t>
            </a:r>
            <a:endParaRPr lang="ko-KR" altLang="en-US" sz="1000" b="1" dirty="0">
              <a:solidFill>
                <a:srgbClr val="FF0000"/>
              </a:solidFill>
            </a:endParaRPr>
          </a:p>
        </p:txBody>
      </p:sp>
      <p:graphicFrame>
        <p:nvGraphicFramePr>
          <p:cNvPr id="9" name="개체 8">
            <a:extLst>
              <a:ext uri="{FF2B5EF4-FFF2-40B4-BE49-F238E27FC236}">
                <a16:creationId xmlns:a16="http://schemas.microsoft.com/office/drawing/2014/main" id="{F52FAD5A-CD09-44EC-A2B6-B8CCC08FDDFA}"/>
              </a:ext>
            </a:extLst>
          </p:cNvPr>
          <p:cNvGraphicFramePr>
            <a:graphicFrameLocks noChangeAspect="1"/>
          </p:cNvGraphicFramePr>
          <p:nvPr>
            <p:extLst>
              <p:ext uri="{D42A27DB-BD31-4B8C-83A1-F6EECF244321}">
                <p14:modId xmlns:p14="http://schemas.microsoft.com/office/powerpoint/2010/main" val="3793155850"/>
              </p:ext>
            </p:extLst>
          </p:nvPr>
        </p:nvGraphicFramePr>
        <p:xfrm>
          <a:off x="3529965" y="3642807"/>
          <a:ext cx="5132070" cy="2766223"/>
        </p:xfrm>
        <a:graphic>
          <a:graphicData uri="http://schemas.openxmlformats.org/presentationml/2006/ole">
            <mc:AlternateContent xmlns:mc="http://schemas.openxmlformats.org/markup-compatibility/2006">
              <mc:Choice xmlns:v="urn:schemas-microsoft-com:vml" Requires="v">
                <p:oleObj name="비트맵 이미지" r:id="rId2" imgW="10744200" imgH="5791320" progId="Paint.Picture">
                  <p:embed/>
                </p:oleObj>
              </mc:Choice>
              <mc:Fallback>
                <p:oleObj name="비트맵 이미지" r:id="rId2" imgW="10744200" imgH="5791320" progId="Paint.Picture">
                  <p:embed/>
                  <p:pic>
                    <p:nvPicPr>
                      <p:cNvPr id="0" name=""/>
                      <p:cNvPicPr/>
                      <p:nvPr/>
                    </p:nvPicPr>
                    <p:blipFill>
                      <a:blip r:embed="rId3"/>
                      <a:stretch>
                        <a:fillRect/>
                      </a:stretch>
                    </p:blipFill>
                    <p:spPr>
                      <a:xfrm>
                        <a:off x="3529965" y="3642807"/>
                        <a:ext cx="5132070" cy="2766223"/>
                      </a:xfrm>
                      <a:prstGeom prst="rect">
                        <a:avLst/>
                      </a:prstGeom>
                    </p:spPr>
                  </p:pic>
                </p:oleObj>
              </mc:Fallback>
            </mc:AlternateContent>
          </a:graphicData>
        </a:graphic>
      </p:graphicFrame>
    </p:spTree>
    <p:extLst>
      <p:ext uri="{BB962C8B-B14F-4D97-AF65-F5344CB8AC3E}">
        <p14:creationId xmlns:p14="http://schemas.microsoft.com/office/powerpoint/2010/main" val="472011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Importing External Services(7/8)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Services Without Selectors :</a:t>
            </a:r>
          </a:p>
          <a:p>
            <a:pPr lvl="1">
              <a:buFont typeface="Wingdings" panose="05000000000000000000" pitchFamily="2" charset="2"/>
              <a:buChar char="§"/>
            </a:pPr>
            <a:r>
              <a:rPr lang="en-US" altLang="ko-KR" sz="1400" b="1" dirty="0"/>
              <a:t>Given that this is an external service, the user is responsible for </a:t>
            </a:r>
            <a:r>
              <a:rPr lang="en-US" altLang="ko-KR" sz="1400" b="1" dirty="0">
                <a:solidFill>
                  <a:srgbClr val="FF0000"/>
                </a:solidFill>
              </a:rPr>
              <a:t>populating the endpoints manually </a:t>
            </a:r>
            <a:r>
              <a:rPr lang="en-US" altLang="ko-KR" sz="1400" b="1" dirty="0"/>
              <a:t>with an </a:t>
            </a:r>
            <a:r>
              <a:rPr lang="en-US" altLang="ko-KR" sz="1400" b="1" dirty="0">
                <a:solidFill>
                  <a:srgbClr val="FF0000"/>
                </a:solidFill>
              </a:rPr>
              <a:t>Endpoints</a:t>
            </a:r>
            <a:r>
              <a:rPr lang="en-US" altLang="ko-KR" sz="1400" b="1" dirty="0"/>
              <a:t> resource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4785A531-85EB-4AF8-BC50-8855A2DAA071}"/>
              </a:ext>
            </a:extLst>
          </p:cNvPr>
          <p:cNvGrpSpPr/>
          <p:nvPr/>
        </p:nvGrpSpPr>
        <p:grpSpPr>
          <a:xfrm>
            <a:off x="1333500" y="1801059"/>
            <a:ext cx="9525000" cy="4142541"/>
            <a:chOff x="1333500" y="1801059"/>
            <a:chExt cx="9525000" cy="4142541"/>
          </a:xfrm>
        </p:grpSpPr>
        <p:grpSp>
          <p:nvGrpSpPr>
            <p:cNvPr id="10" name="그룹 9">
              <a:extLst>
                <a:ext uri="{FF2B5EF4-FFF2-40B4-BE49-F238E27FC236}">
                  <a16:creationId xmlns:a16="http://schemas.microsoft.com/office/drawing/2014/main" id="{C78CFAA3-2F7D-4512-83D6-0DD993D0FC89}"/>
                </a:ext>
              </a:extLst>
            </p:cNvPr>
            <p:cNvGrpSpPr/>
            <p:nvPr/>
          </p:nvGrpSpPr>
          <p:grpSpPr>
            <a:xfrm>
              <a:off x="1333500" y="1801059"/>
              <a:ext cx="9525000" cy="4142541"/>
              <a:chOff x="1333500" y="1671519"/>
              <a:chExt cx="9525000" cy="4142541"/>
            </a:xfrm>
          </p:grpSpPr>
          <p:sp>
            <p:nvSpPr>
              <p:cNvPr id="4" name="직사각형 3">
                <a:extLst>
                  <a:ext uri="{FF2B5EF4-FFF2-40B4-BE49-F238E27FC236}">
                    <a16:creationId xmlns:a16="http://schemas.microsoft.com/office/drawing/2014/main" id="{6F1BA3A9-CC55-4808-B29A-D5474CDFAFBE}"/>
                  </a:ext>
                </a:extLst>
              </p:cNvPr>
              <p:cNvSpPr/>
              <p:nvPr/>
            </p:nvSpPr>
            <p:spPr>
              <a:xfrm>
                <a:off x="3048000" y="1671519"/>
                <a:ext cx="6096000" cy="1477328"/>
              </a:xfrm>
              <a:prstGeom prst="rect">
                <a:avLst/>
              </a:prstGeom>
              <a:ln>
                <a:solidFill>
                  <a:schemeClr val="bg1">
                    <a:lumMod val="50000"/>
                  </a:schemeClr>
                </a:solidFill>
              </a:ln>
            </p:spPr>
            <p:txBody>
              <a:bodyPr>
                <a:spAutoFit/>
              </a:bodyPr>
              <a:lstStyle/>
              <a:p>
                <a:r>
                  <a:rPr lang="en-US" altLang="ko-KR" sz="1000" b="1" dirty="0"/>
                  <a:t>kind: </a:t>
                </a:r>
                <a:r>
                  <a:rPr lang="en-US" altLang="ko-KR" sz="1000" b="1" dirty="0">
                    <a:solidFill>
                      <a:srgbClr val="FF0000"/>
                    </a:solidFill>
                  </a:rPr>
                  <a:t>Endpoints</a:t>
                </a:r>
              </a:p>
              <a:p>
                <a:r>
                  <a:rPr lang="en-US" altLang="ko-KR" sz="1000" b="1" dirty="0" err="1"/>
                  <a:t>apiVersion</a:t>
                </a:r>
                <a:r>
                  <a:rPr lang="en-US" altLang="ko-KR" sz="1000" b="1" dirty="0"/>
                  <a:t>: v1</a:t>
                </a:r>
              </a:p>
              <a:p>
                <a:r>
                  <a:rPr lang="en-US" altLang="ko-KR" sz="1000" b="1" dirty="0"/>
                  <a:t>metadata:</a:t>
                </a:r>
              </a:p>
              <a:p>
                <a:r>
                  <a:rPr lang="en-US" altLang="ko-KR" sz="1000" b="1" dirty="0"/>
                  <a:t>  name: external-</a:t>
                </a:r>
                <a:r>
                  <a:rPr lang="en-US" altLang="ko-KR" sz="1000" b="1" dirty="0" err="1"/>
                  <a:t>ip</a:t>
                </a:r>
                <a:r>
                  <a:rPr lang="en-US" altLang="ko-KR" sz="1000" b="1" dirty="0"/>
                  <a:t>-database</a:t>
                </a:r>
              </a:p>
              <a:p>
                <a:r>
                  <a:rPr lang="en-US" altLang="ko-KR" sz="1000" b="1" dirty="0"/>
                  <a:t>subsets:</a:t>
                </a:r>
              </a:p>
              <a:p>
                <a:r>
                  <a:rPr lang="en-US" altLang="ko-KR" sz="1000" b="1" dirty="0"/>
                  <a:t>  - addresses:</a:t>
                </a:r>
              </a:p>
              <a:p>
                <a:r>
                  <a:rPr lang="en-US" altLang="ko-KR" sz="1000" b="1" dirty="0"/>
                  <a:t>    - </a:t>
                </a:r>
                <a:r>
                  <a:rPr lang="en-US" altLang="ko-KR" sz="1000" b="1" dirty="0" err="1"/>
                  <a:t>ip</a:t>
                </a:r>
                <a:r>
                  <a:rPr lang="en-US" altLang="ko-KR" sz="1000" b="1" dirty="0"/>
                  <a:t>: </a:t>
                </a:r>
                <a:r>
                  <a:rPr lang="en-US" altLang="ko-KR" sz="1000" b="1" dirty="0">
                    <a:solidFill>
                      <a:srgbClr val="FF0000"/>
                    </a:solidFill>
                  </a:rPr>
                  <a:t>192.168.0.1</a:t>
                </a:r>
              </a:p>
              <a:p>
                <a:r>
                  <a:rPr lang="en-US" altLang="ko-KR" sz="1000" b="1" dirty="0"/>
                  <a:t>    ports:</a:t>
                </a:r>
              </a:p>
              <a:p>
                <a:r>
                  <a:rPr lang="en-US" altLang="ko-KR" sz="1000" b="1" dirty="0"/>
                  <a:t>    - port: </a:t>
                </a:r>
                <a:r>
                  <a:rPr lang="en-US" altLang="ko-KR" sz="1000" b="1" dirty="0">
                    <a:solidFill>
                      <a:srgbClr val="FF0000"/>
                    </a:solidFill>
                  </a:rPr>
                  <a:t>3306</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B26AB8CC-8123-4F25-9528-B1BD8A0BD153}"/>
                  </a:ext>
                </a:extLst>
              </p:cNvPr>
              <p:cNvPicPr>
                <a:picLocks noChangeAspect="1"/>
              </p:cNvPicPr>
              <p:nvPr/>
            </p:nvPicPr>
            <p:blipFill>
              <a:blip r:embed="rId2"/>
              <a:stretch>
                <a:fillRect/>
              </a:stretch>
            </p:blipFill>
            <p:spPr>
              <a:xfrm>
                <a:off x="1333500" y="3451860"/>
                <a:ext cx="9525000" cy="23622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9591CFC3-786E-4E71-8565-B0E3F1C97602}"/>
                  </a:ext>
                </a:extLst>
              </p:cNvPr>
              <p:cNvSpPr/>
              <p:nvPr/>
            </p:nvSpPr>
            <p:spPr>
              <a:xfrm>
                <a:off x="5897880" y="3171707"/>
                <a:ext cx="396240" cy="28015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F925786C-9A7A-4133-8154-6EFAE636668D}"/>
                </a:ext>
              </a:extLst>
            </p:cNvPr>
            <p:cNvSpPr/>
            <p:nvPr/>
          </p:nvSpPr>
          <p:spPr>
            <a:xfrm>
              <a:off x="3200400" y="5265420"/>
              <a:ext cx="1318260" cy="1676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06454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Importing External Services(8/8)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Services Without Selectors :</a:t>
            </a:r>
          </a:p>
          <a:p>
            <a:pPr lvl="1">
              <a:buFont typeface="Wingdings" panose="05000000000000000000" pitchFamily="2" charset="2"/>
              <a:buChar char="§"/>
            </a:pPr>
            <a:r>
              <a:rPr lang="en-US" altLang="ko-KR" sz="1400" b="1" dirty="0"/>
              <a:t>If you have more than one IP address for redundancy, you can repeat them in the addresses array in YAML file</a:t>
            </a:r>
            <a:r>
              <a:rPr lang="en-US" altLang="ko-KR" sz="1400" dirty="0"/>
              <a:t>. </a:t>
            </a:r>
            <a:r>
              <a:rPr lang="en-US" altLang="ko-KR" sz="1400" b="1" dirty="0"/>
              <a:t>Once the endpoints are populated, </a:t>
            </a:r>
            <a:r>
              <a:rPr lang="en-US" altLang="ko-KR" sz="1400" b="1" dirty="0">
                <a:solidFill>
                  <a:srgbClr val="FF0000"/>
                </a:solidFill>
              </a:rPr>
              <a:t>the load balancer will start redirecting traffic from your Kubernetes service to the IP address endpoint(s)</a:t>
            </a:r>
            <a:r>
              <a:rPr lang="en-US" altLang="ko-KR" sz="1400" dirty="0"/>
              <a:t>.</a:t>
            </a:r>
          </a:p>
          <a:p>
            <a:pPr lvl="1">
              <a:buFont typeface="Wingdings" panose="05000000000000000000" pitchFamily="2" charset="2"/>
              <a:buChar char="§"/>
            </a:pPr>
            <a:r>
              <a:rPr lang="en-US" altLang="ko-KR" sz="1400" b="1" dirty="0"/>
              <a:t>NOTE : Because the user has assumed responsibility for keeping the IP address of the server up to date, you need to either </a:t>
            </a:r>
            <a:r>
              <a:rPr lang="en-US" altLang="ko-KR" sz="1400" b="1" dirty="0">
                <a:solidFill>
                  <a:srgbClr val="FF0000"/>
                </a:solidFill>
              </a:rPr>
              <a:t>ensure that it never changes or make sure that some automated process updates the Endpoints record</a:t>
            </a:r>
            <a:r>
              <a:rPr lang="en-US" altLang="ko-KR" sz="1400" dirty="0"/>
              <a:t>.</a:t>
            </a:r>
          </a:p>
          <a:p>
            <a:pPr lvl="1">
              <a:buFont typeface="Wingdings" panose="05000000000000000000" pitchFamily="2" charset="2"/>
              <a:buChar char="§"/>
            </a:pPr>
            <a:r>
              <a:rPr lang="en-US" altLang="ko-KR" sz="1400" b="1" dirty="0"/>
              <a:t>NOTE : Limitations of External Services : Health Checking </a:t>
            </a:r>
            <a:r>
              <a:rPr lang="en-US" altLang="ko-KR" sz="1400" dirty="0"/>
              <a:t>- </a:t>
            </a:r>
            <a:r>
              <a:rPr lang="en-US" altLang="ko-KR" sz="1400" b="1" dirty="0"/>
              <a:t>External services in Kubernetes have one significant restriction. They do not perform any health checking</a:t>
            </a:r>
            <a:r>
              <a:rPr lang="en-US" altLang="ko-KR" sz="1400" dirty="0"/>
              <a:t>. </a:t>
            </a:r>
            <a:r>
              <a:rPr lang="en-US" altLang="ko-KR" sz="1400" b="1" dirty="0">
                <a:solidFill>
                  <a:srgbClr val="FF0000"/>
                </a:solidFill>
              </a:rPr>
              <a:t>The user is responsible for ensuring that the endpoint or DNS name supplied to Kubernetes is as reliable as necessary for the application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FD8C2C1-C03C-442A-861B-32D0226482E8}"/>
              </a:ext>
            </a:extLst>
          </p:cNvPr>
          <p:cNvPicPr>
            <a:picLocks noChangeAspect="1"/>
          </p:cNvPicPr>
          <p:nvPr/>
        </p:nvPicPr>
        <p:blipFill>
          <a:blip r:embed="rId2"/>
          <a:stretch>
            <a:fillRect/>
          </a:stretch>
        </p:blipFill>
        <p:spPr>
          <a:xfrm>
            <a:off x="2465070" y="3250882"/>
            <a:ext cx="7261860" cy="2793023"/>
          </a:xfrm>
          <a:prstGeom prst="rect">
            <a:avLst/>
          </a:prstGeom>
        </p:spPr>
      </p:pic>
    </p:spTree>
    <p:extLst>
      <p:ext uri="{BB962C8B-B14F-4D97-AF65-F5344CB8AC3E}">
        <p14:creationId xmlns:p14="http://schemas.microsoft.com/office/powerpoint/2010/main" val="1956878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Singletons for Data Storage Solution :</a:t>
            </a:r>
          </a:p>
          <a:p>
            <a:pPr lvl="1">
              <a:buFont typeface="Wingdings" panose="05000000000000000000" pitchFamily="2" charset="2"/>
              <a:buChar char="§"/>
            </a:pPr>
            <a:r>
              <a:rPr lang="en-US" altLang="ko-KR" sz="1400" b="1" dirty="0"/>
              <a:t>The challenge of running storage solutions in Kubernetes is often that primitives like </a:t>
            </a:r>
            <a:r>
              <a:rPr lang="en-US" altLang="ko-KR" sz="1400" b="1" dirty="0" err="1"/>
              <a:t>ReplicaSet</a:t>
            </a:r>
            <a:r>
              <a:rPr lang="en-US" altLang="ko-KR" sz="1400" b="1" dirty="0"/>
              <a:t> expect that </a:t>
            </a:r>
            <a:r>
              <a:rPr lang="en-US" altLang="ko-KR" sz="1400" b="1" dirty="0">
                <a:solidFill>
                  <a:srgbClr val="FF0000"/>
                </a:solidFill>
              </a:rPr>
              <a:t>every container is identical and replaceable</a:t>
            </a:r>
            <a:r>
              <a:rPr lang="en-US" altLang="ko-KR" sz="1400" dirty="0"/>
              <a:t>, </a:t>
            </a:r>
            <a:r>
              <a:rPr lang="en-US" altLang="ko-KR" sz="1400" b="1" dirty="0"/>
              <a:t>but for most storage solutions this isn’t the case</a:t>
            </a:r>
            <a:r>
              <a:rPr lang="en-US" altLang="ko-KR" sz="1400" dirty="0"/>
              <a:t>. </a:t>
            </a:r>
            <a:r>
              <a:rPr lang="en-US" altLang="ko-KR" sz="1400" b="1" dirty="0"/>
              <a:t>One option to address this is to </a:t>
            </a:r>
            <a:r>
              <a:rPr lang="en-US" altLang="ko-KR" sz="1400" b="1" dirty="0">
                <a:solidFill>
                  <a:srgbClr val="FF0000"/>
                </a:solidFill>
              </a:rPr>
              <a:t>use Kubernetes primitives</a:t>
            </a:r>
            <a:r>
              <a:rPr lang="en-US" altLang="ko-KR" sz="1400" b="1" dirty="0"/>
              <a:t>, but not attempt to replicate the storage</a:t>
            </a:r>
            <a:r>
              <a:rPr lang="en-US" altLang="ko-KR" sz="1400" dirty="0"/>
              <a:t>. </a:t>
            </a:r>
            <a:r>
              <a:rPr lang="en-US" altLang="ko-KR" sz="1400" b="1" dirty="0"/>
              <a:t>Instead, </a:t>
            </a:r>
            <a:r>
              <a:rPr lang="en-US" altLang="ko-KR" sz="1400" b="1" dirty="0">
                <a:solidFill>
                  <a:srgbClr val="FF0000"/>
                </a:solidFill>
              </a:rPr>
              <a:t>simply run a single Pod that runs the database or other storage solution</a:t>
            </a:r>
            <a:r>
              <a:rPr lang="en-US" altLang="ko-KR" sz="1400" dirty="0"/>
              <a:t>. In this way the challenges of running replicated storage in Kubernetes don’t occur, since there is no replication. </a:t>
            </a:r>
          </a:p>
          <a:p>
            <a:pPr lvl="1">
              <a:buFont typeface="Wingdings" panose="05000000000000000000" pitchFamily="2" charset="2"/>
              <a:buChar char="§"/>
            </a:pPr>
            <a:r>
              <a:rPr lang="en-US" altLang="ko-KR" sz="1400" b="1" dirty="0"/>
              <a:t>At first blush, this might seem to run counter to the principles of building reliable distributed systems, but in general, it is no less reliable than running your database or storage infrastructure on a single virtual or physical machine</a:t>
            </a:r>
            <a:r>
              <a:rPr lang="en-US" altLang="ko-KR" sz="1400" dirty="0"/>
              <a:t>, which is how many people currently have built their systems. Indeed, in reality, if you structure the system properly the only thing you are sacrificing is </a:t>
            </a:r>
            <a:r>
              <a:rPr lang="en-US" altLang="ko-KR" sz="1400" b="1" dirty="0">
                <a:solidFill>
                  <a:srgbClr val="FF0000"/>
                </a:solidFill>
              </a:rPr>
              <a:t>potential downtime for upgrades or in case of machine failure</a:t>
            </a:r>
            <a:r>
              <a:rPr lang="en-US" altLang="ko-KR" sz="1400" dirty="0"/>
              <a:t>. </a:t>
            </a:r>
            <a:r>
              <a:rPr lang="en-US" altLang="ko-KR" sz="1400" b="1" dirty="0"/>
              <a:t>While for large-scale or mission-critical systems this may not be acceptable, for many smaller-scale applications this kind of limited downtime is a reasonable trade-off for the reduced complexity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01E57C0-6443-42E9-88EA-96B5968D8ED9}"/>
              </a:ext>
            </a:extLst>
          </p:cNvPr>
          <p:cNvPicPr>
            <a:picLocks noChangeAspect="1"/>
          </p:cNvPicPr>
          <p:nvPr/>
        </p:nvPicPr>
        <p:blipFill>
          <a:blip r:embed="rId2"/>
          <a:stretch>
            <a:fillRect/>
          </a:stretch>
        </p:blipFill>
        <p:spPr>
          <a:xfrm>
            <a:off x="3350895" y="3525996"/>
            <a:ext cx="5490210" cy="2557598"/>
          </a:xfrm>
          <a:prstGeom prst="rect">
            <a:avLst/>
          </a:prstGeom>
        </p:spPr>
      </p:pic>
    </p:spTree>
    <p:extLst>
      <p:ext uri="{BB962C8B-B14F-4D97-AF65-F5344CB8AC3E}">
        <p14:creationId xmlns:p14="http://schemas.microsoft.com/office/powerpoint/2010/main" val="1616391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MySQL Singleton :</a:t>
            </a:r>
          </a:p>
          <a:p>
            <a:pPr lvl="1">
              <a:buFont typeface="Wingdings" panose="05000000000000000000" pitchFamily="2" charset="2"/>
              <a:buChar char="§"/>
            </a:pPr>
            <a:r>
              <a:rPr lang="en-US" altLang="ko-KR" sz="1400" b="1" dirty="0"/>
              <a:t>Here we’ll describe </a:t>
            </a:r>
            <a:r>
              <a:rPr lang="en-US" altLang="ko-KR" sz="1400" b="1" dirty="0">
                <a:solidFill>
                  <a:srgbClr val="FF0000"/>
                </a:solidFill>
              </a:rPr>
              <a:t>how to run a reliable singleton instance</a:t>
            </a:r>
            <a:r>
              <a:rPr lang="en-US" altLang="ko-KR" sz="1400" b="1" dirty="0"/>
              <a:t> of the MySQL database as a Pod in Kubernetes</a:t>
            </a:r>
            <a:r>
              <a:rPr lang="en-US" altLang="ko-KR" sz="1400" dirty="0"/>
              <a:t>, </a:t>
            </a:r>
            <a:r>
              <a:rPr lang="en-US" altLang="ko-KR" sz="1400" b="1" dirty="0"/>
              <a:t>and</a:t>
            </a:r>
            <a:r>
              <a:rPr lang="en-US" altLang="ko-KR" sz="1400" dirty="0"/>
              <a:t> </a:t>
            </a:r>
            <a:r>
              <a:rPr lang="en-US" altLang="ko-KR" sz="1400" b="1" dirty="0"/>
              <a:t>how to </a:t>
            </a:r>
            <a:r>
              <a:rPr lang="en-US" altLang="ko-KR" sz="1400" b="1" dirty="0">
                <a:solidFill>
                  <a:srgbClr val="FF0000"/>
                </a:solidFill>
              </a:rPr>
              <a:t>expose that singleton to other applications </a:t>
            </a:r>
            <a:r>
              <a:rPr lang="en-US" altLang="ko-KR" sz="1400" b="1" dirty="0"/>
              <a:t>in the cluster</a:t>
            </a:r>
            <a:r>
              <a:rPr lang="en-US" altLang="ko-KR" sz="1400" dirty="0"/>
              <a:t>.</a:t>
            </a:r>
          </a:p>
          <a:p>
            <a:pPr lvl="1">
              <a:buFont typeface="Wingdings" panose="05000000000000000000" pitchFamily="2" charset="2"/>
              <a:buChar char="§"/>
            </a:pPr>
            <a:r>
              <a:rPr lang="en-US" altLang="ko-KR" sz="1400" b="1" dirty="0"/>
              <a:t>To do this, we are going to create three basic objects </a:t>
            </a:r>
            <a:r>
              <a:rPr lang="en-US" altLang="ko-KR" sz="1400" dirty="0"/>
              <a:t>: </a:t>
            </a:r>
          </a:p>
          <a:p>
            <a:pPr lvl="2">
              <a:buFont typeface="Wingdings" panose="05000000000000000000" pitchFamily="2" charset="2"/>
              <a:buChar char="§"/>
            </a:pPr>
            <a:r>
              <a:rPr lang="en-US" altLang="ko-KR" sz="1400" b="1" dirty="0"/>
              <a:t>A </a:t>
            </a:r>
            <a:r>
              <a:rPr lang="en-US" altLang="ko-KR" sz="1400" b="1" dirty="0">
                <a:solidFill>
                  <a:srgbClr val="FF0000"/>
                </a:solidFill>
              </a:rPr>
              <a:t>persistent volume </a:t>
            </a:r>
            <a:r>
              <a:rPr lang="en-US" altLang="ko-KR" sz="1400" b="1" dirty="0"/>
              <a:t>to manage the lifespan of the on-disk storage </a:t>
            </a:r>
            <a:r>
              <a:rPr lang="en-US" altLang="ko-KR" sz="1400" dirty="0"/>
              <a:t>independently from the lifespan of the running MySQL application</a:t>
            </a:r>
          </a:p>
          <a:p>
            <a:pPr lvl="2">
              <a:buFont typeface="Wingdings" panose="05000000000000000000" pitchFamily="2" charset="2"/>
              <a:buChar char="§"/>
            </a:pPr>
            <a:r>
              <a:rPr lang="en-US" altLang="ko-KR" sz="1400" b="1" dirty="0"/>
              <a:t>A MySQL Pod </a:t>
            </a:r>
            <a:r>
              <a:rPr lang="en-US" altLang="ko-KR" sz="1400" dirty="0"/>
              <a:t>that will run the </a:t>
            </a:r>
            <a:r>
              <a:rPr lang="en-US" altLang="ko-KR" sz="1400" b="1" dirty="0"/>
              <a:t>MySQL application</a:t>
            </a:r>
          </a:p>
          <a:p>
            <a:pPr lvl="2">
              <a:buFont typeface="Wingdings" panose="05000000000000000000" pitchFamily="2" charset="2"/>
              <a:buChar char="§"/>
            </a:pPr>
            <a:r>
              <a:rPr lang="en-US" altLang="ko-KR" sz="1400" b="1" dirty="0"/>
              <a:t>A </a:t>
            </a:r>
            <a:r>
              <a:rPr lang="en-US" altLang="ko-KR" sz="1400" b="1" dirty="0">
                <a:solidFill>
                  <a:srgbClr val="FF0000"/>
                </a:solidFill>
              </a:rPr>
              <a:t>service</a:t>
            </a:r>
            <a:r>
              <a:rPr lang="en-US" altLang="ko-KR" sz="1400" dirty="0"/>
              <a:t> that will </a:t>
            </a:r>
            <a:r>
              <a:rPr lang="en-US" altLang="ko-KR" sz="1400" b="1" dirty="0"/>
              <a:t>expose this Pod to other containers </a:t>
            </a:r>
            <a:r>
              <a:rPr lang="en-US" altLang="ko-KR" sz="1400" dirty="0"/>
              <a:t>in the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173762A-62C6-48EC-B0A6-79EE1B75BFB7}"/>
              </a:ext>
            </a:extLst>
          </p:cNvPr>
          <p:cNvPicPr>
            <a:picLocks noChangeAspect="1"/>
          </p:cNvPicPr>
          <p:nvPr/>
        </p:nvPicPr>
        <p:blipFill>
          <a:blip r:embed="rId2"/>
          <a:stretch>
            <a:fillRect/>
          </a:stretch>
        </p:blipFill>
        <p:spPr>
          <a:xfrm>
            <a:off x="4405971" y="2827020"/>
            <a:ext cx="3380057" cy="3582010"/>
          </a:xfrm>
          <a:prstGeom prst="rect">
            <a:avLst/>
          </a:prstGeom>
        </p:spPr>
      </p:pic>
      <p:sp>
        <p:nvSpPr>
          <p:cNvPr id="8" name="직사각형 7">
            <a:extLst>
              <a:ext uri="{FF2B5EF4-FFF2-40B4-BE49-F238E27FC236}">
                <a16:creationId xmlns:a16="http://schemas.microsoft.com/office/drawing/2014/main" id="{79F50E08-20D4-B07A-B537-54A8B9611B7B}"/>
              </a:ext>
            </a:extLst>
          </p:cNvPr>
          <p:cNvSpPr/>
          <p:nvPr/>
        </p:nvSpPr>
        <p:spPr>
          <a:xfrm>
            <a:off x="6096000" y="3992880"/>
            <a:ext cx="1363980" cy="2133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F168064B-4EF7-12C1-6067-BA3A4899D272}"/>
              </a:ext>
            </a:extLst>
          </p:cNvPr>
          <p:cNvSpPr/>
          <p:nvPr/>
        </p:nvSpPr>
        <p:spPr>
          <a:xfrm>
            <a:off x="5387340" y="5273040"/>
            <a:ext cx="1363980" cy="6019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BDE1282F-6DC0-3FB1-4259-453D47E3B428}"/>
              </a:ext>
            </a:extLst>
          </p:cNvPr>
          <p:cNvSpPr/>
          <p:nvPr/>
        </p:nvSpPr>
        <p:spPr>
          <a:xfrm>
            <a:off x="6172200" y="4472940"/>
            <a:ext cx="1211580" cy="3429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7525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MySQL Singleton :</a:t>
            </a:r>
          </a:p>
          <a:p>
            <a:pPr lvl="1">
              <a:buFont typeface="Wingdings" panose="05000000000000000000" pitchFamily="2" charset="2"/>
              <a:buChar char="§"/>
            </a:pPr>
            <a:r>
              <a:rPr lang="en-US" altLang="ko-KR" sz="1400" b="1" dirty="0"/>
              <a:t>A </a:t>
            </a:r>
            <a:r>
              <a:rPr lang="en-US" altLang="ko-KR" sz="1400" b="1" dirty="0">
                <a:solidFill>
                  <a:srgbClr val="FF0000"/>
                </a:solidFill>
              </a:rPr>
              <a:t>persistent volume(PV)</a:t>
            </a:r>
            <a:r>
              <a:rPr lang="en-US" altLang="ko-KR" sz="1400" b="1" dirty="0"/>
              <a:t> is a storage location that has a lifetime independent of any Pod or container</a:t>
            </a:r>
            <a:r>
              <a:rPr lang="en-US" altLang="ko-KR" sz="1400" dirty="0"/>
              <a:t>. </a:t>
            </a:r>
            <a:r>
              <a:rPr lang="en-US" altLang="ko-KR" sz="1400" b="1" dirty="0"/>
              <a:t>This is very useful in the case of persistent storage solutions where </a:t>
            </a:r>
            <a:r>
              <a:rPr lang="en-US" altLang="ko-KR" sz="1400" b="1" dirty="0">
                <a:solidFill>
                  <a:srgbClr val="FF0000"/>
                </a:solidFill>
              </a:rPr>
              <a:t>the on-disk representation of a database </a:t>
            </a:r>
            <a:r>
              <a:rPr lang="en-US" altLang="ko-KR" sz="1400" b="1" dirty="0"/>
              <a:t>should survive even if the containers running the database application crash, or move to different machines</a:t>
            </a:r>
            <a:r>
              <a:rPr lang="en-US" altLang="ko-KR" sz="1400" dirty="0"/>
              <a:t>. </a:t>
            </a:r>
            <a:r>
              <a:rPr lang="en-US" altLang="ko-KR" sz="1400" b="1" dirty="0"/>
              <a:t>If the application moves to a different machine, the volume should move with it, and data should be preserved</a:t>
            </a:r>
            <a:r>
              <a:rPr lang="en-US" altLang="ko-KR" sz="1400" dirty="0"/>
              <a:t>. </a:t>
            </a:r>
            <a:r>
              <a:rPr lang="en-US" altLang="ko-KR" sz="1400" b="1" dirty="0">
                <a:solidFill>
                  <a:srgbClr val="FF0000"/>
                </a:solidFill>
              </a:rPr>
              <a:t>Separating the data storage out as a persistent volume </a:t>
            </a:r>
            <a:r>
              <a:rPr lang="en-US" altLang="ko-KR" sz="1400" b="1" dirty="0"/>
              <a:t>makes this possible</a:t>
            </a:r>
            <a:r>
              <a:rPr lang="en-US" altLang="ko-KR" sz="1400" dirty="0"/>
              <a:t>.</a:t>
            </a:r>
          </a:p>
          <a:p>
            <a:pPr lvl="1">
              <a:buFont typeface="Wingdings" panose="05000000000000000000" pitchFamily="2" charset="2"/>
              <a:buChar char="§"/>
            </a:pPr>
            <a:r>
              <a:rPr lang="en-US" altLang="ko-KR" sz="1400" b="1" dirty="0"/>
              <a:t>To begin, we’ll create a persistent volume for our MySQL database to use</a:t>
            </a:r>
            <a:r>
              <a:rPr lang="en-US" altLang="ko-KR" sz="1400" dirty="0"/>
              <a:t>. This example uses </a:t>
            </a:r>
            <a:r>
              <a:rPr lang="en-US" altLang="ko-KR" sz="1400" b="1" dirty="0">
                <a:solidFill>
                  <a:srgbClr val="FF0000"/>
                </a:solidFill>
              </a:rPr>
              <a:t>NFS</a:t>
            </a:r>
            <a:r>
              <a:rPr lang="en-US" altLang="ko-KR" sz="1400" b="1" dirty="0"/>
              <a:t>(Network File System)</a:t>
            </a:r>
            <a:r>
              <a:rPr lang="en-US" altLang="ko-KR" sz="1400" dirty="0"/>
              <a:t> for maximum portability, but Kubernetes supports many different </a:t>
            </a:r>
            <a:r>
              <a:rPr lang="en-US" altLang="ko-KR" sz="1400" b="1" dirty="0">
                <a:solidFill>
                  <a:srgbClr val="FF0000"/>
                </a:solidFill>
              </a:rPr>
              <a:t>persistent volume drive types</a:t>
            </a:r>
            <a:r>
              <a:rPr lang="en-US" altLang="ko-KR" sz="1400" dirty="0"/>
              <a:t>. For example, </a:t>
            </a:r>
            <a:r>
              <a:rPr lang="en-US" altLang="ko-KR" sz="1400" b="1" dirty="0"/>
              <a:t>there are persistent volume drivers for all major public cloud providers</a:t>
            </a:r>
            <a:r>
              <a:rPr lang="en-US" altLang="ko-KR" sz="1400" dirty="0"/>
              <a:t>, </a:t>
            </a:r>
            <a:r>
              <a:rPr lang="en-US" altLang="ko-KR" sz="1400" b="1" dirty="0"/>
              <a:t>as well as many private cloud providers</a:t>
            </a:r>
            <a:r>
              <a:rPr lang="en-US" altLang="ko-KR" sz="1400" dirty="0"/>
              <a:t>. To use these solutions, simply replace NFS with the appropriate cloud provider volume type (e.g., azure, </a:t>
            </a:r>
            <a:r>
              <a:rPr lang="en-US" altLang="ko-KR" sz="1400" b="1" dirty="0" err="1"/>
              <a:t>awsElasticBlockStore</a:t>
            </a:r>
            <a:r>
              <a:rPr lang="en-US" altLang="ko-KR" sz="1400" dirty="0"/>
              <a:t>, or  </a:t>
            </a:r>
            <a:r>
              <a:rPr lang="en-US" altLang="ko-KR" sz="1400" b="1" dirty="0" err="1"/>
              <a:t>gcePersistentDisk</a:t>
            </a:r>
            <a:r>
              <a:rPr lang="en-US" altLang="ko-KR" sz="1400" dirty="0"/>
              <a:t>). In all cases, this change is all you need. </a:t>
            </a:r>
            <a:r>
              <a:rPr lang="en-US" altLang="ko-KR" sz="1400" b="1" dirty="0"/>
              <a:t>Kubernetes knows how to create the appropriate storage disk in the respective cloud provider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38D4398-4F0A-4A33-A97D-5B39D1F464CE}"/>
              </a:ext>
            </a:extLst>
          </p:cNvPr>
          <p:cNvPicPr>
            <a:picLocks noChangeAspect="1"/>
          </p:cNvPicPr>
          <p:nvPr/>
        </p:nvPicPr>
        <p:blipFill>
          <a:blip r:embed="rId2"/>
          <a:stretch>
            <a:fillRect/>
          </a:stretch>
        </p:blipFill>
        <p:spPr>
          <a:xfrm>
            <a:off x="4175612" y="3558540"/>
            <a:ext cx="3840776" cy="2850490"/>
          </a:xfrm>
          <a:prstGeom prst="rect">
            <a:avLst/>
          </a:prstGeom>
        </p:spPr>
      </p:pic>
      <p:sp>
        <p:nvSpPr>
          <p:cNvPr id="8" name="직사각형 7">
            <a:extLst>
              <a:ext uri="{FF2B5EF4-FFF2-40B4-BE49-F238E27FC236}">
                <a16:creationId xmlns:a16="http://schemas.microsoft.com/office/drawing/2014/main" id="{D7953417-4E30-2905-3E28-22143526141B}"/>
              </a:ext>
            </a:extLst>
          </p:cNvPr>
          <p:cNvSpPr/>
          <p:nvPr/>
        </p:nvSpPr>
        <p:spPr>
          <a:xfrm>
            <a:off x="6370320" y="4869180"/>
            <a:ext cx="876300" cy="7315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323628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MySQL Singleton :</a:t>
            </a:r>
          </a:p>
          <a:p>
            <a:pPr lvl="1">
              <a:buFont typeface="Wingdings" panose="05000000000000000000" pitchFamily="2" charset="2"/>
              <a:buChar char="§"/>
            </a:pPr>
            <a:r>
              <a:rPr lang="en-US" altLang="ko-KR" sz="1400" b="1" dirty="0"/>
              <a:t>The following manifest defines an “NFS </a:t>
            </a:r>
            <a:r>
              <a:rPr lang="en-US" altLang="ko-KR" sz="1400" b="1" dirty="0" err="1"/>
              <a:t>PersistentVolume</a:t>
            </a:r>
            <a:r>
              <a:rPr lang="en-US" altLang="ko-KR" sz="1400" b="1" dirty="0"/>
              <a:t> object” with</a:t>
            </a:r>
            <a:r>
              <a:rPr lang="en-US" altLang="ko-KR" sz="1400" dirty="0"/>
              <a:t> </a:t>
            </a:r>
            <a:r>
              <a:rPr lang="en-US" altLang="ko-KR" sz="1400" b="1" dirty="0"/>
              <a:t>1 GB of storage space</a:t>
            </a:r>
            <a:r>
              <a:rPr lang="en-US" altLang="ko-KR" sz="1400" dirty="0"/>
              <a:t>. We can create this persistent volume as usual with “</a:t>
            </a:r>
            <a:r>
              <a:rPr lang="en-US" altLang="ko-KR" sz="1400" b="1" dirty="0" err="1"/>
              <a:t>kubectl</a:t>
            </a:r>
            <a:r>
              <a:rPr lang="en-US" altLang="ko-KR" sz="1400" b="1" dirty="0"/>
              <a:t> apply -f</a:t>
            </a:r>
            <a:r>
              <a:rPr lang="en-US" altLang="ko-KR" sz="1400" dirty="0"/>
              <a:t>” command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D9F07890-A06C-4B64-A45C-7877BF7BEECD}"/>
              </a:ext>
            </a:extLst>
          </p:cNvPr>
          <p:cNvGrpSpPr/>
          <p:nvPr/>
        </p:nvGrpSpPr>
        <p:grpSpPr>
          <a:xfrm>
            <a:off x="1333500" y="3965386"/>
            <a:ext cx="9525000" cy="2319749"/>
            <a:chOff x="1333499" y="1670262"/>
            <a:chExt cx="9525000" cy="2319749"/>
          </a:xfrm>
        </p:grpSpPr>
        <p:sp>
          <p:nvSpPr>
            <p:cNvPr id="8" name="직사각형 7">
              <a:extLst>
                <a:ext uri="{FF2B5EF4-FFF2-40B4-BE49-F238E27FC236}">
                  <a16:creationId xmlns:a16="http://schemas.microsoft.com/office/drawing/2014/main" id="{447AEC19-43E8-4139-8AA2-8FB552319288}"/>
                </a:ext>
              </a:extLst>
            </p:cNvPr>
            <p:cNvSpPr/>
            <p:nvPr/>
          </p:nvSpPr>
          <p:spPr>
            <a:xfrm>
              <a:off x="4928050" y="1670262"/>
              <a:ext cx="2335897"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nfs-volume.yaml</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F3C676EC-5E19-4B6C-8305-F0DF9E6C757D}"/>
                </a:ext>
              </a:extLst>
            </p:cNvPr>
            <p:cNvPicPr>
              <a:picLocks noChangeAspect="1"/>
            </p:cNvPicPr>
            <p:nvPr/>
          </p:nvPicPr>
          <p:blipFill>
            <a:blip r:embed="rId2"/>
            <a:stretch>
              <a:fillRect/>
            </a:stretch>
          </p:blipFill>
          <p:spPr>
            <a:xfrm>
              <a:off x="1333499" y="2180261"/>
              <a:ext cx="9525000" cy="180975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D691BEDE-7F82-4E06-AC11-918338A40DBB}"/>
                </a:ext>
              </a:extLst>
            </p:cNvPr>
            <p:cNvSpPr/>
            <p:nvPr/>
          </p:nvSpPr>
          <p:spPr>
            <a:xfrm>
              <a:off x="5886449" y="1934040"/>
              <a:ext cx="41910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4" name="그룹 13">
            <a:extLst>
              <a:ext uri="{FF2B5EF4-FFF2-40B4-BE49-F238E27FC236}">
                <a16:creationId xmlns:a16="http://schemas.microsoft.com/office/drawing/2014/main" id="{CE160FD5-E602-4235-9D44-4580289F25AB}"/>
              </a:ext>
            </a:extLst>
          </p:cNvPr>
          <p:cNvGrpSpPr/>
          <p:nvPr/>
        </p:nvGrpSpPr>
        <p:grpSpPr>
          <a:xfrm>
            <a:off x="3257550" y="1654318"/>
            <a:ext cx="6096000" cy="2246769"/>
            <a:chOff x="3257550" y="1654318"/>
            <a:chExt cx="6096000" cy="2246769"/>
          </a:xfrm>
        </p:grpSpPr>
        <p:sp>
          <p:nvSpPr>
            <p:cNvPr id="12" name="직사각형 11">
              <a:extLst>
                <a:ext uri="{FF2B5EF4-FFF2-40B4-BE49-F238E27FC236}">
                  <a16:creationId xmlns:a16="http://schemas.microsoft.com/office/drawing/2014/main" id="{A934CCE6-C6CC-4A8B-BC53-653D1B5406E9}"/>
                </a:ext>
              </a:extLst>
            </p:cNvPr>
            <p:cNvSpPr/>
            <p:nvPr/>
          </p:nvSpPr>
          <p:spPr>
            <a:xfrm>
              <a:off x="3257550" y="1654318"/>
              <a:ext cx="6096000" cy="224676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PersistentVolume</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database</a:t>
              </a:r>
            </a:p>
            <a:p>
              <a:r>
                <a:rPr lang="en-US" altLang="ko-KR" sz="1000" b="1" dirty="0"/>
                <a:t>  labels:</a:t>
              </a:r>
            </a:p>
            <a:p>
              <a:r>
                <a:rPr lang="en-US" altLang="ko-KR" sz="1000" b="1" dirty="0"/>
                <a:t>    </a:t>
              </a:r>
              <a:r>
                <a:rPr lang="en-US" altLang="ko-KR" sz="1000" b="1" dirty="0">
                  <a:solidFill>
                    <a:srgbClr val="FF0000"/>
                  </a:solidFill>
                </a:rPr>
                <a:t>volume</a:t>
              </a:r>
              <a:r>
                <a:rPr lang="en-US" altLang="ko-KR" sz="1000" b="1" dirty="0"/>
                <a:t>: </a:t>
              </a:r>
              <a:r>
                <a:rPr lang="en-US" altLang="ko-KR" sz="1000" b="1" dirty="0">
                  <a:solidFill>
                    <a:srgbClr val="FF0000"/>
                  </a:solidFill>
                </a:rPr>
                <a:t>my-volume</a:t>
              </a:r>
            </a:p>
            <a:p>
              <a:r>
                <a:rPr lang="en-US" altLang="ko-KR" sz="1000" b="1" dirty="0"/>
                <a:t>spec:</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solidFill>
                    <a:srgbClr val="FF0000"/>
                  </a:solidFill>
                </a:rPr>
                <a:t>ReadWriteMany</a:t>
              </a:r>
              <a:endParaRPr lang="en-US" altLang="ko-KR" sz="1000" b="1" dirty="0">
                <a:solidFill>
                  <a:srgbClr val="FF0000"/>
                </a:solidFill>
              </a:endParaRPr>
            </a:p>
            <a:p>
              <a:r>
                <a:rPr lang="en-US" altLang="ko-KR" sz="1000" b="1" dirty="0"/>
                <a:t>  capacity:</a:t>
              </a:r>
            </a:p>
            <a:p>
              <a:r>
                <a:rPr lang="en-US" altLang="ko-KR" sz="1000" b="1" dirty="0"/>
                <a:t>    storage: </a:t>
              </a:r>
              <a:r>
                <a:rPr lang="en-US" altLang="ko-KR" sz="1000" b="1" dirty="0">
                  <a:solidFill>
                    <a:srgbClr val="FF0000"/>
                  </a:solidFill>
                </a:rPr>
                <a:t>1Gi</a:t>
              </a:r>
            </a:p>
            <a:p>
              <a:r>
                <a:rPr lang="en-US" altLang="ko-KR" sz="1000" b="1" dirty="0"/>
                <a:t>  </a:t>
              </a:r>
              <a:r>
                <a:rPr lang="en-US" altLang="ko-KR" sz="1000" b="1" dirty="0" err="1"/>
                <a:t>nfs</a:t>
              </a:r>
              <a:r>
                <a:rPr lang="en-US" altLang="ko-KR" sz="1000" b="1" dirty="0"/>
                <a:t>:</a:t>
              </a:r>
            </a:p>
            <a:p>
              <a:r>
                <a:rPr lang="en-US" altLang="ko-KR" sz="1000" b="1" dirty="0"/>
                <a:t>    server: </a:t>
              </a:r>
              <a:r>
                <a:rPr lang="en-US" altLang="ko-KR" sz="1000" b="1" dirty="0">
                  <a:solidFill>
                    <a:srgbClr val="FF0000"/>
                  </a:solidFill>
                </a:rPr>
                <a:t>192.168.0.1</a:t>
              </a:r>
            </a:p>
            <a:p>
              <a:r>
                <a:rPr lang="en-US" altLang="ko-KR" sz="1000" b="1" dirty="0"/>
                <a:t>    path: "</a:t>
              </a:r>
              <a:r>
                <a:rPr lang="en-US" altLang="ko-KR" sz="1000" b="1" dirty="0">
                  <a:solidFill>
                    <a:srgbClr val="FF0000"/>
                  </a:solidFill>
                </a:rPr>
                <a:t>/exports</a:t>
              </a:r>
              <a:r>
                <a:rPr lang="en-US" altLang="ko-KR" sz="1000" b="1" dirty="0"/>
                <a:t>"</a:t>
              </a:r>
              <a:endParaRPr lang="ko-KR" altLang="en-US" sz="1000" b="1" dirty="0"/>
            </a:p>
          </p:txBody>
        </p:sp>
        <p:sp>
          <p:nvSpPr>
            <p:cNvPr id="13" name="TextBox 12">
              <a:extLst>
                <a:ext uri="{FF2B5EF4-FFF2-40B4-BE49-F238E27FC236}">
                  <a16:creationId xmlns:a16="http://schemas.microsoft.com/office/drawing/2014/main" id="{83FD602A-5084-40AC-81D5-C4F0F1A5584D}"/>
                </a:ext>
              </a:extLst>
            </p:cNvPr>
            <p:cNvSpPr txBox="1"/>
            <p:nvPr/>
          </p:nvSpPr>
          <p:spPr>
            <a:xfrm>
              <a:off x="8152579" y="1654318"/>
              <a:ext cx="1200971" cy="246221"/>
            </a:xfrm>
            <a:prstGeom prst="rect">
              <a:avLst/>
            </a:prstGeom>
            <a:noFill/>
          </p:spPr>
          <p:txBody>
            <a:bodyPr wrap="none" rtlCol="0">
              <a:spAutoFit/>
            </a:bodyPr>
            <a:lstStyle/>
            <a:p>
              <a:pPr algn="ctr"/>
              <a:r>
                <a:rPr lang="en-US" altLang="ko-KR" sz="1000" b="1" dirty="0" err="1"/>
                <a:t>nfs-volume.yaml</a:t>
              </a:r>
              <a:endParaRPr lang="ko-KR" altLang="en-US" sz="1000" b="1" dirty="0"/>
            </a:p>
          </p:txBody>
        </p:sp>
      </p:grpSp>
      <p:sp>
        <p:nvSpPr>
          <p:cNvPr id="4" name="직사각형 3">
            <a:extLst>
              <a:ext uri="{FF2B5EF4-FFF2-40B4-BE49-F238E27FC236}">
                <a16:creationId xmlns:a16="http://schemas.microsoft.com/office/drawing/2014/main" id="{3E6D34C2-0759-9BED-7276-F3391B781F96}"/>
              </a:ext>
            </a:extLst>
          </p:cNvPr>
          <p:cNvSpPr/>
          <p:nvPr/>
        </p:nvSpPr>
        <p:spPr>
          <a:xfrm>
            <a:off x="1417320" y="5638800"/>
            <a:ext cx="7936230"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81193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MySQL Singleton :</a:t>
            </a:r>
          </a:p>
          <a:p>
            <a:pPr lvl="1">
              <a:buFont typeface="Wingdings" panose="05000000000000000000" pitchFamily="2" charset="2"/>
              <a:buChar char="§"/>
            </a:pPr>
            <a:r>
              <a:rPr lang="en-US" altLang="ko-KR" sz="1400" dirty="0"/>
              <a:t>Now that we have a persistent volume created, we need to </a:t>
            </a:r>
            <a:r>
              <a:rPr lang="en-US" altLang="ko-KR" sz="1400" b="1" dirty="0"/>
              <a:t>claim that persistent volume for our Pod</a:t>
            </a:r>
            <a:r>
              <a:rPr lang="en-US" altLang="ko-KR" sz="1400" dirty="0"/>
              <a:t>. We do this with a “</a:t>
            </a:r>
            <a:r>
              <a:rPr lang="en-US" altLang="ko-KR" sz="1400" b="1" dirty="0" err="1">
                <a:solidFill>
                  <a:srgbClr val="FF0000"/>
                </a:solidFill>
              </a:rPr>
              <a:t>PersistentVolumeClaim</a:t>
            </a:r>
            <a:r>
              <a:rPr lang="en-US" altLang="ko-KR" sz="1400" b="1" dirty="0"/>
              <a:t>” object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t>
            </a:r>
            <a:r>
              <a:rPr lang="en-US" altLang="ko-KR" sz="1400" b="1" dirty="0">
                <a:solidFill>
                  <a:srgbClr val="FF0000"/>
                </a:solidFill>
              </a:rPr>
              <a:t>selector</a:t>
            </a:r>
            <a:r>
              <a:rPr lang="en-US" altLang="ko-KR" sz="1400" b="1" dirty="0"/>
              <a:t>” field uses labels to find the </a:t>
            </a:r>
            <a:r>
              <a:rPr lang="en-US" altLang="ko-KR" sz="1400" b="1" dirty="0">
                <a:solidFill>
                  <a:srgbClr val="FF0000"/>
                </a:solidFill>
              </a:rPr>
              <a:t>matching volume </a:t>
            </a:r>
            <a:r>
              <a:rPr lang="en-US" altLang="ko-KR" sz="1400" b="1" dirty="0"/>
              <a:t>we defined previously</a:t>
            </a:r>
            <a:r>
              <a:rPr lang="en-US" altLang="ko-KR" sz="1400" dirty="0"/>
              <a:t>. This kind of indirection may seem overly complicated, but it has a purpose—</a:t>
            </a:r>
            <a:r>
              <a:rPr lang="en-US" altLang="ko-KR" sz="1400" b="1" dirty="0"/>
              <a:t>it serves to </a:t>
            </a:r>
            <a:r>
              <a:rPr lang="en-US" altLang="ko-KR" sz="1400" b="1" dirty="0">
                <a:solidFill>
                  <a:srgbClr val="FF0000"/>
                </a:solidFill>
              </a:rPr>
              <a:t>isolate</a:t>
            </a:r>
            <a:r>
              <a:rPr lang="en-US" altLang="ko-KR" sz="1400" b="1" dirty="0"/>
              <a:t> </a:t>
            </a:r>
            <a:r>
              <a:rPr lang="en-US" altLang="ko-KR" sz="1400" b="1" dirty="0">
                <a:solidFill>
                  <a:srgbClr val="FF0000"/>
                </a:solidFill>
              </a:rPr>
              <a:t>our Pod definition from our storage definition</a:t>
            </a:r>
            <a:r>
              <a:rPr lang="en-US" altLang="ko-KR" sz="1400" dirty="0"/>
              <a:t>. </a:t>
            </a:r>
            <a:r>
              <a:rPr lang="en-US" altLang="ko-KR" sz="1400" b="1" dirty="0"/>
              <a:t>You can declare volumes directly inside a Pod specification, but this locks that Pod specification to a particular volume provider</a:t>
            </a:r>
            <a:r>
              <a:rPr lang="en-US" altLang="ko-KR" sz="1400" dirty="0"/>
              <a:t> (e.g., a specific public or private cloud). </a:t>
            </a:r>
          </a:p>
          <a:p>
            <a:pPr lvl="1">
              <a:buFont typeface="Wingdings" panose="05000000000000000000" pitchFamily="2" charset="2"/>
              <a:buChar char="§"/>
            </a:pPr>
            <a:r>
              <a:rPr lang="en-US" altLang="ko-KR" sz="1400" b="1" dirty="0">
                <a:solidFill>
                  <a:srgbClr val="FF0000"/>
                </a:solidFill>
              </a:rPr>
              <a:t>By using volume claims, you can keep your Pod specifications cloud-agnostic</a:t>
            </a:r>
            <a:r>
              <a:rPr lang="en-US" altLang="ko-KR" sz="1400" dirty="0"/>
              <a:t>; </a:t>
            </a:r>
            <a:r>
              <a:rPr lang="en-US" altLang="ko-KR" sz="1400" b="1" dirty="0"/>
              <a:t>simply create different volumes, specific to the cloud, and use a “</a:t>
            </a:r>
            <a:r>
              <a:rPr lang="en-US" altLang="ko-KR" sz="1400" b="1" dirty="0" err="1">
                <a:solidFill>
                  <a:srgbClr val="FF0000"/>
                </a:solidFill>
              </a:rPr>
              <a:t>PersistentVolumeClaim</a:t>
            </a:r>
            <a:r>
              <a:rPr lang="en-US" altLang="ko-KR" sz="1400" b="1" dirty="0"/>
              <a:t>” to bind them together</a:t>
            </a:r>
            <a:r>
              <a:rPr lang="en-US" altLang="ko-KR" sz="1400" dirty="0"/>
              <a:t>. Furthermore, in many cases, the “</a:t>
            </a:r>
            <a:r>
              <a:rPr lang="en-US" altLang="ko-KR" sz="1400" b="1" dirty="0">
                <a:solidFill>
                  <a:srgbClr val="FF0000"/>
                </a:solidFill>
              </a:rPr>
              <a:t>persistent volume controller</a:t>
            </a:r>
            <a:r>
              <a:rPr lang="en-US" altLang="ko-KR" sz="1400" dirty="0"/>
              <a:t>” </a:t>
            </a:r>
            <a:r>
              <a:rPr lang="en-US" altLang="ko-KR" sz="1400" b="1" dirty="0"/>
              <a:t>will actually automatically create a volume for you</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9754ECE4-E417-4FFD-A6E4-60F307B65B78}"/>
              </a:ext>
            </a:extLst>
          </p:cNvPr>
          <p:cNvGrpSpPr/>
          <p:nvPr/>
        </p:nvGrpSpPr>
        <p:grpSpPr>
          <a:xfrm>
            <a:off x="3048000" y="1879521"/>
            <a:ext cx="6096000" cy="2092881"/>
            <a:chOff x="3048000" y="1635681"/>
            <a:chExt cx="6096000" cy="2092881"/>
          </a:xfrm>
        </p:grpSpPr>
        <p:sp>
          <p:nvSpPr>
            <p:cNvPr id="4" name="직사각형 3">
              <a:extLst>
                <a:ext uri="{FF2B5EF4-FFF2-40B4-BE49-F238E27FC236}">
                  <a16:creationId xmlns:a16="http://schemas.microsoft.com/office/drawing/2014/main" id="{551D41CF-5594-4BB5-9D8B-D86BAAE15C89}"/>
                </a:ext>
              </a:extLst>
            </p:cNvPr>
            <p:cNvSpPr/>
            <p:nvPr/>
          </p:nvSpPr>
          <p:spPr>
            <a:xfrm>
              <a:off x="3048000" y="1635681"/>
              <a:ext cx="6096000" cy="2092881"/>
            </a:xfrm>
            <a:prstGeom prst="rect">
              <a:avLst/>
            </a:prstGeom>
            <a:ln>
              <a:solidFill>
                <a:schemeClr val="bg1">
                  <a:lumMod val="50000"/>
                </a:schemeClr>
              </a:solidFill>
            </a:ln>
          </p:spPr>
          <p:txBody>
            <a:bodyPr>
              <a:spAutoFit/>
            </a:bodyPr>
            <a:lstStyle/>
            <a:p>
              <a:r>
                <a:rPr lang="en-US" altLang="ko-KR" sz="1000" b="1" dirty="0"/>
                <a:t>kind: </a:t>
              </a:r>
              <a:r>
                <a:rPr lang="en-US" altLang="ko-KR" sz="1000" b="1" dirty="0" err="1">
                  <a:solidFill>
                    <a:srgbClr val="FF0000"/>
                  </a:solidFill>
                </a:rPr>
                <a:t>PersistentVolumeClaim</a:t>
              </a:r>
              <a:endParaRPr lang="en-US" altLang="ko-KR" sz="1000" b="1" dirty="0">
                <a:solidFill>
                  <a:srgbClr val="FF0000"/>
                </a:solidFill>
              </a:endParaRPr>
            </a:p>
            <a:p>
              <a:r>
                <a:rPr lang="en-US" altLang="ko-KR" sz="1000" b="1" dirty="0" err="1"/>
                <a:t>apiVersion</a:t>
              </a:r>
              <a:r>
                <a:rPr lang="en-US" altLang="ko-KR" sz="1000" b="1" dirty="0"/>
                <a:t>: v1</a:t>
              </a:r>
            </a:p>
            <a:p>
              <a:r>
                <a:rPr lang="en-US" altLang="ko-KR" sz="1000" b="1" dirty="0"/>
                <a:t>metadata:</a:t>
              </a:r>
            </a:p>
            <a:p>
              <a:r>
                <a:rPr lang="en-US" altLang="ko-KR" sz="1000" b="1" dirty="0"/>
                <a:t>  name: </a:t>
              </a:r>
              <a:r>
                <a:rPr lang="en-US" altLang="ko-KR" sz="1000" b="1" dirty="0">
                  <a:solidFill>
                    <a:srgbClr val="FF0000"/>
                  </a:solidFill>
                </a:rPr>
                <a:t>database</a:t>
              </a:r>
            </a:p>
            <a:p>
              <a:r>
                <a:rPr lang="en-US" altLang="ko-KR" sz="1000" b="1" dirty="0"/>
                <a:t>spec:</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solidFill>
                    <a:srgbClr val="FF0000"/>
                  </a:solidFill>
                </a:rPr>
                <a:t>ReadWriteMany</a:t>
              </a:r>
              <a:endParaRPr lang="en-US" altLang="ko-KR" sz="1000" b="1" dirty="0">
                <a:solidFill>
                  <a:srgbClr val="FF0000"/>
                </a:solidFill>
              </a:endParaRPr>
            </a:p>
            <a:p>
              <a:r>
                <a:rPr lang="en-US" altLang="ko-KR" sz="1000" b="1" dirty="0"/>
                <a:t>  resources:</a:t>
              </a:r>
            </a:p>
            <a:p>
              <a:r>
                <a:rPr lang="en-US" altLang="ko-KR" sz="1000" b="1" dirty="0"/>
                <a:t>    requests:</a:t>
              </a:r>
            </a:p>
            <a:p>
              <a:r>
                <a:rPr lang="en-US" altLang="ko-KR" sz="1000" b="1" dirty="0"/>
                <a:t>      storage: </a:t>
              </a:r>
              <a:r>
                <a:rPr lang="en-US" altLang="ko-KR" sz="1000" b="1" dirty="0">
                  <a:solidFill>
                    <a:srgbClr val="FF0000"/>
                  </a:solidFill>
                </a:rPr>
                <a:t>1Gi</a:t>
              </a:r>
            </a:p>
            <a:p>
              <a:r>
                <a:rPr lang="en-US" altLang="ko-KR" sz="1000" b="1" dirty="0"/>
                <a:t>  </a:t>
              </a:r>
              <a:r>
                <a:rPr lang="en-US" altLang="ko-KR" sz="1000" b="1" dirty="0">
                  <a:solidFill>
                    <a:srgbClr val="FF0000"/>
                  </a:solidFill>
                </a:rPr>
                <a:t>selector</a:t>
              </a:r>
              <a:r>
                <a:rPr lang="en-US" altLang="ko-KR" sz="1000" b="1" dirty="0"/>
                <a:t>:</a:t>
              </a:r>
            </a:p>
            <a:p>
              <a:r>
                <a:rPr lang="en-US" altLang="ko-KR" sz="1000" b="1" dirty="0"/>
                <a:t>    </a:t>
              </a:r>
              <a:r>
                <a:rPr lang="en-US" altLang="ko-KR" sz="1000" b="1" dirty="0" err="1"/>
                <a:t>matchLabels</a:t>
              </a:r>
              <a:r>
                <a:rPr lang="en-US" altLang="ko-KR" sz="1000" b="1" dirty="0"/>
                <a:t>:</a:t>
              </a:r>
            </a:p>
            <a:p>
              <a:r>
                <a:rPr lang="en-US" altLang="ko-KR" sz="1000" b="1" dirty="0"/>
                <a:t>      volume: </a:t>
              </a:r>
              <a:r>
                <a:rPr lang="en-US" altLang="ko-KR" sz="1000" b="1" dirty="0">
                  <a:solidFill>
                    <a:srgbClr val="FF0000"/>
                  </a:solidFill>
                </a:rPr>
                <a:t>my-volume</a:t>
              </a:r>
              <a:endParaRPr lang="ko-KR" altLang="en-US" sz="1000" b="1" dirty="0">
                <a:solidFill>
                  <a:srgbClr val="FF0000"/>
                </a:solidFill>
              </a:endParaRPr>
            </a:p>
          </p:txBody>
        </p:sp>
        <p:sp>
          <p:nvSpPr>
            <p:cNvPr id="8" name="TextBox 7">
              <a:extLst>
                <a:ext uri="{FF2B5EF4-FFF2-40B4-BE49-F238E27FC236}">
                  <a16:creationId xmlns:a16="http://schemas.microsoft.com/office/drawing/2014/main" id="{871DB3AC-5F0F-4B90-8F69-19A4851C4D3E}"/>
                </a:ext>
              </a:extLst>
            </p:cNvPr>
            <p:cNvSpPr txBox="1"/>
            <p:nvPr/>
          </p:nvSpPr>
          <p:spPr>
            <a:xfrm>
              <a:off x="7569530" y="1637415"/>
              <a:ext cx="1574470" cy="246221"/>
            </a:xfrm>
            <a:prstGeom prst="rect">
              <a:avLst/>
            </a:prstGeom>
            <a:noFill/>
          </p:spPr>
          <p:txBody>
            <a:bodyPr wrap="none" rtlCol="0">
              <a:spAutoFit/>
            </a:bodyPr>
            <a:lstStyle/>
            <a:p>
              <a:pPr algn="ctr"/>
              <a:r>
                <a:rPr lang="en-US" altLang="ko-KR" sz="1000" b="1" dirty="0" err="1"/>
                <a:t>nfs</a:t>
              </a:r>
              <a:r>
                <a:rPr lang="en-US" altLang="ko-KR" sz="1000" b="1" dirty="0"/>
                <a:t>-volume-</a:t>
              </a:r>
              <a:r>
                <a:rPr lang="en-US" altLang="ko-KR" sz="1000" b="1" dirty="0" err="1"/>
                <a:t>claim.yaml</a:t>
              </a:r>
              <a:endParaRPr lang="ko-KR" altLang="en-US" sz="1000" b="1" dirty="0"/>
            </a:p>
          </p:txBody>
        </p:sp>
      </p:grpSp>
    </p:spTree>
    <p:extLst>
      <p:ext uri="{BB962C8B-B14F-4D97-AF65-F5344CB8AC3E}">
        <p14:creationId xmlns:p14="http://schemas.microsoft.com/office/powerpoint/2010/main" val="1379786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MySQL Singleton :</a:t>
            </a:r>
          </a:p>
          <a:p>
            <a:pPr lvl="1">
              <a:buFont typeface="Wingdings" panose="05000000000000000000" pitchFamily="2" charset="2"/>
              <a:buChar char="§"/>
            </a:pPr>
            <a:r>
              <a:rPr lang="en-US" altLang="ko-KR" sz="1400" b="1" dirty="0"/>
              <a:t>Now that we’ve claimed our volume, we can use a “</a:t>
            </a:r>
            <a:r>
              <a:rPr lang="en-US" altLang="ko-KR" sz="1400" b="1" dirty="0" err="1">
                <a:solidFill>
                  <a:srgbClr val="FF0000"/>
                </a:solidFill>
              </a:rPr>
              <a:t>ReplicaSet</a:t>
            </a:r>
            <a:r>
              <a:rPr lang="en-US" altLang="ko-KR" sz="1400" b="1" dirty="0"/>
              <a:t>” to construct our singleton Pod</a:t>
            </a:r>
            <a:r>
              <a:rPr lang="en-US" altLang="ko-KR" sz="1400" dirty="0"/>
              <a:t>. </a:t>
            </a:r>
            <a:r>
              <a:rPr lang="en-US" altLang="ko-KR" sz="1400" b="1" dirty="0"/>
              <a:t>It might seem odd that we are using a </a:t>
            </a:r>
            <a:r>
              <a:rPr lang="en-US" altLang="ko-KR" sz="1400" b="1" dirty="0" err="1"/>
              <a:t>ReplicaSet</a:t>
            </a:r>
            <a:r>
              <a:rPr lang="en-US" altLang="ko-KR" sz="1400" b="1" dirty="0"/>
              <a:t> to manage a single Pod, but it is </a:t>
            </a:r>
            <a:r>
              <a:rPr lang="en-US" altLang="ko-KR" sz="1400" b="1" dirty="0">
                <a:solidFill>
                  <a:srgbClr val="FF0000"/>
                </a:solidFill>
              </a:rPr>
              <a:t>necessary for reliability</a:t>
            </a:r>
            <a:r>
              <a:rPr lang="en-US" altLang="ko-KR" sz="1400" dirty="0"/>
              <a:t>. Remember that once scheduled to a machine, a bare Pod is bound to that machine forever. </a:t>
            </a:r>
            <a:r>
              <a:rPr lang="en-US" altLang="ko-KR" sz="1400" b="1" dirty="0"/>
              <a:t>If the machine fails, then any Pods that are on that machine that are not being managed by a higher-level controller like a “</a:t>
            </a:r>
            <a:r>
              <a:rPr lang="en-US" altLang="ko-KR" sz="1400" b="1" dirty="0" err="1"/>
              <a:t>ReplicaSet</a:t>
            </a:r>
            <a:r>
              <a:rPr lang="en-US" altLang="ko-KR" sz="1400" b="1" dirty="0"/>
              <a:t>” vanish along with the machine and are not rescheduled elsewhere</a:t>
            </a:r>
            <a:r>
              <a:rPr lang="en-US" altLang="ko-KR" sz="1400" dirty="0"/>
              <a:t>. </a:t>
            </a:r>
            <a:r>
              <a:rPr lang="en-US" altLang="ko-KR" sz="1400" b="1" dirty="0"/>
              <a:t>To ensure that our database Pod is rescheduled in the presence of machine failures, we use the higher-level “</a:t>
            </a:r>
            <a:r>
              <a:rPr lang="en-US" altLang="ko-KR" sz="1400" b="1" dirty="0" err="1">
                <a:solidFill>
                  <a:srgbClr val="FF0000"/>
                </a:solidFill>
              </a:rPr>
              <a:t>ReplicaSet</a:t>
            </a:r>
            <a:r>
              <a:rPr lang="en-US" altLang="ko-KR" sz="1400" b="1" dirty="0">
                <a:solidFill>
                  <a:srgbClr val="FF0000"/>
                </a:solidFill>
              </a:rPr>
              <a:t> controller</a:t>
            </a:r>
            <a:r>
              <a:rPr lang="en-US" altLang="ko-KR" sz="1400" b="1" dirty="0"/>
              <a:t>”</a:t>
            </a:r>
            <a:r>
              <a:rPr lang="en-US" altLang="ko-KR" sz="1400" dirty="0"/>
              <a:t>, </a:t>
            </a:r>
            <a:r>
              <a:rPr lang="en-US" altLang="ko-KR" sz="1400" b="1" dirty="0"/>
              <a:t>with a replica size of one.</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04060D3-3FA4-4FAD-9432-60CC3A29BD8C}"/>
              </a:ext>
            </a:extLst>
          </p:cNvPr>
          <p:cNvGrpSpPr/>
          <p:nvPr/>
        </p:nvGrpSpPr>
        <p:grpSpPr>
          <a:xfrm>
            <a:off x="1905000" y="2377157"/>
            <a:ext cx="8382000" cy="4031873"/>
            <a:chOff x="1905000" y="2623378"/>
            <a:chExt cx="8382000" cy="4031873"/>
          </a:xfrm>
        </p:grpSpPr>
        <p:grpSp>
          <p:nvGrpSpPr>
            <p:cNvPr id="10" name="그룹 9">
              <a:extLst>
                <a:ext uri="{FF2B5EF4-FFF2-40B4-BE49-F238E27FC236}">
                  <a16:creationId xmlns:a16="http://schemas.microsoft.com/office/drawing/2014/main" id="{7F494AEE-8FCF-4EBB-9462-BD40F433B42D}"/>
                </a:ext>
              </a:extLst>
            </p:cNvPr>
            <p:cNvGrpSpPr/>
            <p:nvPr/>
          </p:nvGrpSpPr>
          <p:grpSpPr>
            <a:xfrm>
              <a:off x="1905000" y="2623378"/>
              <a:ext cx="8382000" cy="3785652"/>
              <a:chOff x="1905000" y="2623378"/>
              <a:chExt cx="8382000" cy="3785652"/>
            </a:xfrm>
          </p:grpSpPr>
          <p:sp>
            <p:nvSpPr>
              <p:cNvPr id="8" name="직사각형 7">
                <a:extLst>
                  <a:ext uri="{FF2B5EF4-FFF2-40B4-BE49-F238E27FC236}">
                    <a16:creationId xmlns:a16="http://schemas.microsoft.com/office/drawing/2014/main" id="{D86F7D6A-BCFE-479D-9523-E4453F45F10C}"/>
                  </a:ext>
                </a:extLst>
              </p:cNvPr>
              <p:cNvSpPr/>
              <p:nvPr/>
            </p:nvSpPr>
            <p:spPr>
              <a:xfrm>
                <a:off x="1905000" y="2623378"/>
                <a:ext cx="4191000" cy="3785652"/>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err="1">
                    <a:solidFill>
                      <a:srgbClr val="FF0000"/>
                    </a:solidFill>
                  </a:rPr>
                  <a:t>ReplicaSet</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mysql</a:t>
                </a:r>
                <a:endParaRPr lang="en-US" altLang="ko-KR" sz="1000" b="1" dirty="0">
                  <a:solidFill>
                    <a:srgbClr val="FF0000"/>
                  </a:solidFill>
                </a:endParaRPr>
              </a:p>
              <a:p>
                <a:r>
                  <a:rPr lang="en-US" altLang="ko-KR" sz="1000" b="1" dirty="0"/>
                  <a:t>  # labels so that we can bind a Service to this Pod</a:t>
                </a:r>
              </a:p>
              <a:p>
                <a:r>
                  <a:rPr lang="en-US" altLang="ko-KR" sz="1000" b="1" dirty="0"/>
                  <a:t>  labels:</a:t>
                </a:r>
              </a:p>
              <a:p>
                <a:r>
                  <a:rPr lang="en-US" altLang="ko-KR" sz="1000" b="1" dirty="0"/>
                  <a:t>    app: </a:t>
                </a:r>
                <a:r>
                  <a:rPr lang="en-US" altLang="ko-KR" sz="1000" b="1" dirty="0" err="1">
                    <a:solidFill>
                      <a:srgbClr val="FF0000"/>
                    </a:solidFill>
                  </a:rPr>
                  <a:t>mysql</a:t>
                </a:r>
                <a:endParaRPr lang="en-US" altLang="ko-KR" sz="1000" b="1" dirty="0">
                  <a:solidFill>
                    <a:srgbClr val="FF0000"/>
                  </a:solidFill>
                </a:endParaRPr>
              </a:p>
              <a:p>
                <a:r>
                  <a:rPr lang="en-US" altLang="ko-KR" sz="1000" b="1" dirty="0"/>
                  <a:t>spec:</a:t>
                </a:r>
              </a:p>
              <a:p>
                <a:r>
                  <a:rPr lang="en-US" altLang="ko-KR" sz="1000" b="1" dirty="0"/>
                  <a:t>  </a:t>
                </a:r>
                <a:r>
                  <a:rPr lang="en-US" altLang="ko-KR" sz="1000" b="1" dirty="0">
                    <a:solidFill>
                      <a:srgbClr val="FF0000"/>
                    </a:solidFill>
                  </a:rPr>
                  <a:t>replicas</a:t>
                </a:r>
                <a:r>
                  <a:rPr lang="en-US" altLang="ko-KR" sz="1000" b="1" dirty="0"/>
                  <a:t>: </a:t>
                </a:r>
                <a:r>
                  <a:rPr lang="en-US" altLang="ko-KR" sz="1000" b="1" dirty="0">
                    <a:solidFill>
                      <a:srgbClr val="FF0000"/>
                    </a:solidFill>
                  </a:rPr>
                  <a:t>1</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a:t>
                </a:r>
                <a:r>
                  <a:rPr lang="en-US" altLang="ko-KR" sz="1000" b="1" dirty="0" err="1">
                    <a:solidFill>
                      <a:srgbClr val="FF0000"/>
                    </a:solidFill>
                  </a:rPr>
                  <a:t>mysql</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err="1">
                    <a:solidFill>
                      <a:srgbClr val="FF0000"/>
                    </a:solidFill>
                  </a:rPr>
                  <a:t>mysql</a:t>
                </a:r>
                <a:endParaRPr lang="en-US" altLang="ko-KR" sz="1000" b="1" dirty="0">
                  <a:solidFill>
                    <a:srgbClr val="FF0000"/>
                  </a:solidFill>
                </a:endParaRPr>
              </a:p>
              <a:p>
                <a:r>
                  <a:rPr lang="en-US" altLang="ko-KR" sz="1000" b="1" dirty="0"/>
                  <a:t>    spec:</a:t>
                </a:r>
              </a:p>
              <a:p>
                <a:r>
                  <a:rPr lang="en-US" altLang="ko-KR" sz="1000" b="1" dirty="0"/>
                  <a:t>      containers:</a:t>
                </a:r>
              </a:p>
              <a:p>
                <a:r>
                  <a:rPr lang="en-US" altLang="ko-KR" sz="1000" b="1" dirty="0"/>
                  <a:t>      - name: database</a:t>
                </a:r>
              </a:p>
              <a:p>
                <a:r>
                  <a:rPr lang="en-US" altLang="ko-KR" sz="1000" b="1" dirty="0"/>
                  <a:t>        image: </a:t>
                </a:r>
                <a:r>
                  <a:rPr lang="en-US" altLang="ko-KR" sz="1000" b="1" dirty="0" err="1">
                    <a:solidFill>
                      <a:srgbClr val="FF0000"/>
                    </a:solidFill>
                  </a:rPr>
                  <a:t>mysql</a:t>
                </a:r>
                <a:endParaRPr lang="en-US" altLang="ko-KR" sz="1000" b="1" dirty="0">
                  <a:solidFill>
                    <a:srgbClr val="FF0000"/>
                  </a:solidFill>
                </a:endParaRPr>
              </a:p>
              <a:p>
                <a:r>
                  <a:rPr lang="en-US" altLang="ko-KR" sz="1000" b="1" dirty="0"/>
                  <a:t>        resources:</a:t>
                </a:r>
              </a:p>
              <a:p>
                <a:r>
                  <a:rPr lang="en-US" altLang="ko-KR" sz="1000" b="1" dirty="0"/>
                  <a:t>          requests:</a:t>
                </a:r>
              </a:p>
              <a:p>
                <a:r>
                  <a:rPr lang="en-US" altLang="ko-KR" sz="1000" b="1" dirty="0"/>
                  <a:t>            </a:t>
                </a:r>
                <a:r>
                  <a:rPr lang="en-US" altLang="ko-KR" sz="1000" b="1" dirty="0" err="1"/>
                  <a:t>cpu</a:t>
                </a:r>
                <a:r>
                  <a:rPr lang="en-US" altLang="ko-KR" sz="1000" b="1" dirty="0"/>
                  <a:t>: 1</a:t>
                </a:r>
              </a:p>
              <a:p>
                <a:r>
                  <a:rPr lang="en-US" altLang="ko-KR" sz="1000" b="1" dirty="0"/>
                  <a:t>            memory: 2Gi</a:t>
                </a:r>
              </a:p>
            </p:txBody>
          </p:sp>
          <p:sp>
            <p:nvSpPr>
              <p:cNvPr id="9" name="직사각형 8">
                <a:extLst>
                  <a:ext uri="{FF2B5EF4-FFF2-40B4-BE49-F238E27FC236}">
                    <a16:creationId xmlns:a16="http://schemas.microsoft.com/office/drawing/2014/main" id="{216C227A-EB7F-490F-B909-6294782FA92F}"/>
                  </a:ext>
                </a:extLst>
              </p:cNvPr>
              <p:cNvSpPr/>
              <p:nvPr/>
            </p:nvSpPr>
            <p:spPr>
              <a:xfrm>
                <a:off x="6096000" y="2623378"/>
                <a:ext cx="4191000" cy="3631763"/>
              </a:xfrm>
              <a:prstGeom prst="rect">
                <a:avLst/>
              </a:prstGeom>
              <a:ln>
                <a:solidFill>
                  <a:schemeClr val="bg1">
                    <a:lumMod val="50000"/>
                  </a:schemeClr>
                </a:solidFill>
              </a:ln>
            </p:spPr>
            <p:txBody>
              <a:bodyPr wrap="square">
                <a:spAutoFit/>
              </a:bodyPr>
              <a:lstStyle/>
              <a:p>
                <a:pPr lvl="0"/>
                <a:r>
                  <a:rPr lang="en-US" altLang="ko-KR" sz="1000" b="1" dirty="0">
                    <a:solidFill>
                      <a:prstClr val="black"/>
                    </a:solidFill>
                  </a:rPr>
                  <a:t>        env:</a:t>
                </a:r>
              </a:p>
              <a:p>
                <a:pPr lvl="0"/>
                <a:r>
                  <a:rPr lang="en-US" altLang="ko-KR" sz="1000" b="1" dirty="0">
                    <a:solidFill>
                      <a:prstClr val="black"/>
                    </a:solidFill>
                  </a:rPr>
                  <a:t>        # </a:t>
                </a:r>
                <a:r>
                  <a:rPr lang="en-US" altLang="ko-KR" sz="1000" b="1" dirty="0">
                    <a:solidFill>
                      <a:srgbClr val="FF0000"/>
                    </a:solidFill>
                  </a:rPr>
                  <a:t>Environment variables are not a best practice for security</a:t>
                </a:r>
                <a:r>
                  <a:rPr lang="en-US" altLang="ko-KR" sz="1000" b="1" dirty="0">
                    <a:solidFill>
                      <a:prstClr val="black"/>
                    </a:solidFill>
                  </a:rPr>
                  <a:t>,</a:t>
                </a:r>
              </a:p>
              <a:p>
                <a:pPr lvl="0"/>
                <a:r>
                  <a:rPr lang="en-US" altLang="ko-KR" sz="1000" b="1" dirty="0">
                    <a:solidFill>
                      <a:prstClr val="black"/>
                    </a:solidFill>
                  </a:rPr>
                  <a:t>        # but we're using them here for brevity in the example.</a:t>
                </a:r>
              </a:p>
              <a:p>
                <a:pPr lvl="0"/>
                <a:r>
                  <a:rPr lang="en-US" altLang="ko-KR" sz="1000" b="1" dirty="0">
                    <a:solidFill>
                      <a:prstClr val="black"/>
                    </a:solidFill>
                  </a:rPr>
                  <a:t>        - name: </a:t>
                </a:r>
                <a:r>
                  <a:rPr lang="en-US" altLang="ko-KR" sz="1000" b="1" dirty="0">
                    <a:solidFill>
                      <a:srgbClr val="FF0000"/>
                    </a:solidFill>
                  </a:rPr>
                  <a:t>MYSQL_ROOT_PASSWORD</a:t>
                </a:r>
              </a:p>
              <a:p>
                <a:pPr lvl="0"/>
                <a:r>
                  <a:rPr lang="en-US" altLang="ko-KR" sz="1000" b="1" dirty="0">
                    <a:solidFill>
                      <a:prstClr val="black"/>
                    </a:solidFill>
                  </a:rPr>
                  <a:t>          value: </a:t>
                </a:r>
                <a:r>
                  <a:rPr lang="en-US" altLang="ko-KR" sz="1000" b="1" dirty="0">
                    <a:solidFill>
                      <a:srgbClr val="FF0000"/>
                    </a:solidFill>
                  </a:rPr>
                  <a:t>some-password-here</a:t>
                </a:r>
              </a:p>
              <a:p>
                <a:pPr lvl="0"/>
                <a:r>
                  <a:rPr lang="en-US" altLang="ko-KR" sz="1000" b="1" dirty="0">
                    <a:solidFill>
                      <a:prstClr val="black"/>
                    </a:solidFill>
                  </a:rPr>
                  <a:t>        </a:t>
                </a:r>
                <a:r>
                  <a:rPr lang="en-US" altLang="ko-KR" sz="1000" b="1" dirty="0" err="1">
                    <a:solidFill>
                      <a:prstClr val="black"/>
                    </a:solidFill>
                  </a:rPr>
                  <a:t>livenessProbe</a:t>
                </a:r>
                <a:r>
                  <a:rPr lang="en-US" altLang="ko-KR" sz="1000" b="1" dirty="0">
                    <a:solidFill>
                      <a:prstClr val="black"/>
                    </a:solidFill>
                  </a:rPr>
                  <a:t>:</a:t>
                </a:r>
              </a:p>
              <a:p>
                <a:pPr lvl="0"/>
                <a:r>
                  <a:rPr lang="en-US" altLang="ko-KR" sz="1000" b="1" dirty="0">
                    <a:solidFill>
                      <a:prstClr val="black"/>
                    </a:solidFill>
                  </a:rPr>
                  <a:t>          </a:t>
                </a:r>
                <a:r>
                  <a:rPr lang="en-US" altLang="ko-KR" sz="1000" b="1" dirty="0" err="1">
                    <a:solidFill>
                      <a:prstClr val="black"/>
                    </a:solidFill>
                  </a:rPr>
                  <a:t>tcpSocket</a:t>
                </a:r>
                <a:r>
                  <a:rPr lang="en-US" altLang="ko-KR" sz="1000" b="1" dirty="0">
                    <a:solidFill>
                      <a:prstClr val="black"/>
                    </a:solidFill>
                  </a:rPr>
                  <a:t>:</a:t>
                </a:r>
              </a:p>
              <a:p>
                <a:pPr lvl="0"/>
                <a:r>
                  <a:rPr lang="en-US" altLang="ko-KR" sz="1000" b="1" dirty="0">
                    <a:solidFill>
                      <a:prstClr val="black"/>
                    </a:solidFill>
                  </a:rPr>
                  <a:t>            port: </a:t>
                </a:r>
                <a:r>
                  <a:rPr lang="en-US" altLang="ko-KR" sz="1000" b="1" dirty="0">
                    <a:solidFill>
                      <a:srgbClr val="FF0000"/>
                    </a:solidFill>
                  </a:rPr>
                  <a:t>3306</a:t>
                </a:r>
              </a:p>
              <a:p>
                <a:pPr lvl="0"/>
                <a:r>
                  <a:rPr lang="en-US" altLang="ko-KR" sz="1000" b="1" dirty="0">
                    <a:solidFill>
                      <a:prstClr val="black"/>
                    </a:solidFill>
                  </a:rPr>
                  <a:t>        ports:</a:t>
                </a:r>
              </a:p>
              <a:p>
                <a:pPr lvl="0"/>
                <a:r>
                  <a:rPr lang="en-US" altLang="ko-KR" sz="1000" b="1" dirty="0">
                    <a:solidFill>
                      <a:prstClr val="black"/>
                    </a:solidFill>
                  </a:rPr>
                  <a:t>          - </a:t>
                </a:r>
                <a:r>
                  <a:rPr lang="en-US" altLang="ko-KR" sz="1000" b="1" dirty="0" err="1">
                    <a:solidFill>
                      <a:prstClr val="black"/>
                    </a:solidFill>
                  </a:rPr>
                  <a:t>containerPort</a:t>
                </a:r>
                <a:r>
                  <a:rPr lang="en-US" altLang="ko-KR" sz="1000" b="1" dirty="0">
                    <a:solidFill>
                      <a:prstClr val="black"/>
                    </a:solidFill>
                  </a:rPr>
                  <a:t>: </a:t>
                </a:r>
                <a:r>
                  <a:rPr lang="en-US" altLang="ko-KR" sz="1000" b="1" dirty="0">
                    <a:solidFill>
                      <a:srgbClr val="FF0000"/>
                    </a:solidFill>
                  </a:rPr>
                  <a:t>3306</a:t>
                </a:r>
              </a:p>
              <a:p>
                <a:pPr lvl="0"/>
                <a:r>
                  <a:rPr lang="en-US" altLang="ko-KR" sz="1000" b="1" dirty="0">
                    <a:solidFill>
                      <a:prstClr val="black"/>
                    </a:solidFill>
                  </a:rPr>
                  <a:t>        </a:t>
                </a:r>
                <a:r>
                  <a:rPr lang="en-US" altLang="ko-KR" sz="1000" b="1" dirty="0" err="1">
                    <a:solidFill>
                      <a:prstClr val="black"/>
                    </a:solidFill>
                  </a:rPr>
                  <a:t>volumeMounts</a:t>
                </a:r>
                <a:r>
                  <a:rPr lang="en-US" altLang="ko-KR" sz="1000" b="1" dirty="0">
                    <a:solidFill>
                      <a:prstClr val="black"/>
                    </a:solidFill>
                  </a:rPr>
                  <a:t>:</a:t>
                </a:r>
              </a:p>
              <a:p>
                <a:pPr lvl="0"/>
                <a:r>
                  <a:rPr lang="en-US" altLang="ko-KR" sz="1000" b="1" dirty="0">
                    <a:solidFill>
                      <a:prstClr val="black"/>
                    </a:solidFill>
                  </a:rPr>
                  <a:t>          - name: </a:t>
                </a:r>
                <a:r>
                  <a:rPr lang="en-US" altLang="ko-KR" sz="1000" b="1" dirty="0">
                    <a:solidFill>
                      <a:srgbClr val="FF0000"/>
                    </a:solidFill>
                  </a:rPr>
                  <a:t>database</a:t>
                </a:r>
              </a:p>
              <a:p>
                <a:pPr lvl="0"/>
                <a:r>
                  <a:rPr lang="en-US" altLang="ko-KR" sz="1000" b="1" dirty="0">
                    <a:solidFill>
                      <a:prstClr val="black"/>
                    </a:solidFill>
                  </a:rPr>
                  <a:t>            # /var/lib/</a:t>
                </a:r>
                <a:r>
                  <a:rPr lang="en-US" altLang="ko-KR" sz="1000" b="1" dirty="0" err="1">
                    <a:solidFill>
                      <a:prstClr val="black"/>
                    </a:solidFill>
                  </a:rPr>
                  <a:t>mysql</a:t>
                </a:r>
                <a:r>
                  <a:rPr lang="en-US" altLang="ko-KR" sz="1000" b="1" dirty="0">
                    <a:solidFill>
                      <a:prstClr val="black"/>
                    </a:solidFill>
                  </a:rPr>
                  <a:t> is where MySQL stores its databases</a:t>
                </a:r>
              </a:p>
              <a:p>
                <a:pPr lvl="0"/>
                <a:r>
                  <a:rPr lang="en-US" altLang="ko-KR" sz="1000" b="1" dirty="0">
                    <a:solidFill>
                      <a:prstClr val="black"/>
                    </a:solidFill>
                  </a:rPr>
                  <a:t>            </a:t>
                </a:r>
                <a:r>
                  <a:rPr lang="en-US" altLang="ko-KR" sz="1000" b="1" dirty="0" err="1">
                    <a:solidFill>
                      <a:prstClr val="black"/>
                    </a:solidFill>
                  </a:rPr>
                  <a:t>mountPath</a:t>
                </a:r>
                <a:r>
                  <a:rPr lang="en-US" altLang="ko-KR" sz="1000" b="1" dirty="0">
                    <a:solidFill>
                      <a:prstClr val="black"/>
                    </a:solidFill>
                  </a:rPr>
                  <a:t>: "</a:t>
                </a:r>
                <a:r>
                  <a:rPr lang="en-US" altLang="ko-KR" sz="1000" b="1" dirty="0">
                    <a:solidFill>
                      <a:srgbClr val="FF0000"/>
                    </a:solidFill>
                  </a:rPr>
                  <a:t>/var/lib/</a:t>
                </a:r>
                <a:r>
                  <a:rPr lang="en-US" altLang="ko-KR" sz="1000" b="1" dirty="0" err="1">
                    <a:solidFill>
                      <a:srgbClr val="FF0000"/>
                    </a:solidFill>
                  </a:rPr>
                  <a:t>mysql</a:t>
                </a:r>
                <a:r>
                  <a:rPr lang="en-US" altLang="ko-KR" sz="1000" b="1" dirty="0">
                    <a:solidFill>
                      <a:prstClr val="black"/>
                    </a:solidFill>
                  </a:rPr>
                  <a:t>"</a:t>
                </a:r>
              </a:p>
              <a:p>
                <a:pPr lvl="0"/>
                <a:r>
                  <a:rPr lang="en-US" altLang="ko-KR" sz="1000" b="1" dirty="0">
                    <a:solidFill>
                      <a:prstClr val="black"/>
                    </a:solidFill>
                  </a:rPr>
                  <a:t>      volumes:</a:t>
                </a:r>
              </a:p>
              <a:p>
                <a:pPr lvl="0"/>
                <a:r>
                  <a:rPr lang="en-US" altLang="ko-KR" sz="1000" b="1" dirty="0">
                    <a:solidFill>
                      <a:prstClr val="black"/>
                    </a:solidFill>
                  </a:rPr>
                  <a:t>      - name: </a:t>
                </a:r>
                <a:r>
                  <a:rPr lang="en-US" altLang="ko-KR" sz="1000" b="1" dirty="0">
                    <a:solidFill>
                      <a:srgbClr val="FF0000"/>
                    </a:solidFill>
                  </a:rPr>
                  <a:t>database</a:t>
                </a:r>
              </a:p>
              <a:p>
                <a:pPr lvl="0"/>
                <a:r>
                  <a:rPr lang="en-US" altLang="ko-KR" sz="1000" b="1" dirty="0">
                    <a:solidFill>
                      <a:prstClr val="black"/>
                    </a:solidFill>
                  </a:rPr>
                  <a:t>        </a:t>
                </a:r>
                <a:r>
                  <a:rPr lang="en-US" altLang="ko-KR" sz="1000" b="1" dirty="0" err="1">
                    <a:solidFill>
                      <a:srgbClr val="FF0000"/>
                    </a:solidFill>
                  </a:rPr>
                  <a:t>persistentVolumeClaim</a:t>
                </a:r>
                <a:r>
                  <a:rPr lang="en-US" altLang="ko-KR" sz="1000" b="1" dirty="0">
                    <a:solidFill>
                      <a:prstClr val="black"/>
                    </a:solidFill>
                  </a:rPr>
                  <a:t>:</a:t>
                </a:r>
              </a:p>
              <a:p>
                <a:pPr lvl="0"/>
                <a:r>
                  <a:rPr lang="en-US" altLang="ko-KR" sz="1000" b="1" dirty="0">
                    <a:solidFill>
                      <a:prstClr val="black"/>
                    </a:solidFill>
                  </a:rPr>
                  <a:t>          </a:t>
                </a:r>
                <a:r>
                  <a:rPr lang="en-US" altLang="ko-KR" sz="1000" b="1" dirty="0" err="1">
                    <a:solidFill>
                      <a:srgbClr val="FF0000"/>
                    </a:solidFill>
                  </a:rPr>
                  <a:t>claimName</a:t>
                </a:r>
                <a:r>
                  <a:rPr lang="en-US" altLang="ko-KR" sz="1000" b="1" dirty="0">
                    <a:solidFill>
                      <a:prstClr val="black"/>
                    </a:solidFill>
                  </a:rPr>
                  <a:t>: </a:t>
                </a:r>
                <a:r>
                  <a:rPr lang="en-US" altLang="ko-KR" sz="1000" b="1" dirty="0">
                    <a:solidFill>
                      <a:srgbClr val="FF0000"/>
                    </a:solidFill>
                  </a:rPr>
                  <a:t>database</a:t>
                </a: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p:txBody>
          </p:sp>
        </p:grpSp>
        <p:sp>
          <p:nvSpPr>
            <p:cNvPr id="11" name="TextBox 10">
              <a:extLst>
                <a:ext uri="{FF2B5EF4-FFF2-40B4-BE49-F238E27FC236}">
                  <a16:creationId xmlns:a16="http://schemas.microsoft.com/office/drawing/2014/main" id="{4D4D07B3-D947-43E7-85D0-6C133934EC75}"/>
                </a:ext>
              </a:extLst>
            </p:cNvPr>
            <p:cNvSpPr txBox="1"/>
            <p:nvPr/>
          </p:nvSpPr>
          <p:spPr>
            <a:xfrm>
              <a:off x="5342428" y="6409030"/>
              <a:ext cx="1507144" cy="246221"/>
            </a:xfrm>
            <a:prstGeom prst="rect">
              <a:avLst/>
            </a:prstGeom>
            <a:noFill/>
          </p:spPr>
          <p:txBody>
            <a:bodyPr wrap="none" rtlCol="0">
              <a:spAutoFit/>
            </a:bodyPr>
            <a:lstStyle/>
            <a:p>
              <a:pPr algn="ctr"/>
              <a:r>
                <a:rPr lang="en-US" altLang="ko-KR" sz="1000" b="1" dirty="0" err="1"/>
                <a:t>mysql-replicaset.yaml</a:t>
              </a:r>
              <a:endParaRPr lang="ko-KR" altLang="en-US" sz="1000" b="1" dirty="0"/>
            </a:p>
          </p:txBody>
        </p:sp>
      </p:grpSp>
    </p:spTree>
    <p:extLst>
      <p:ext uri="{BB962C8B-B14F-4D97-AF65-F5344CB8AC3E}">
        <p14:creationId xmlns:p14="http://schemas.microsoft.com/office/powerpoint/2010/main" val="2895496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MySQL Singleton :</a:t>
            </a:r>
          </a:p>
          <a:p>
            <a:pPr lvl="1">
              <a:buFont typeface="Wingdings" panose="05000000000000000000" pitchFamily="2" charset="2"/>
              <a:buChar char="§"/>
            </a:pPr>
            <a:r>
              <a:rPr lang="en-US" altLang="ko-KR" sz="1400" b="1" dirty="0"/>
              <a:t>Once we create the </a:t>
            </a:r>
            <a:r>
              <a:rPr lang="en-US" altLang="ko-KR" sz="1400" b="1" dirty="0" err="1"/>
              <a:t>ReplicaSet</a:t>
            </a:r>
            <a:r>
              <a:rPr lang="en-US" altLang="ko-KR" sz="1400" b="1" dirty="0"/>
              <a:t> it will, in turn, create a Pod running MySQL using the persistent disk</a:t>
            </a:r>
            <a:r>
              <a:rPr lang="en-US" altLang="ko-KR" sz="1400" dirty="0"/>
              <a:t> we originally created. </a:t>
            </a:r>
            <a:r>
              <a:rPr lang="en-US" altLang="ko-KR" sz="1400" b="1" dirty="0"/>
              <a:t>The final step is to “</a:t>
            </a:r>
            <a:r>
              <a:rPr lang="en-US" altLang="ko-KR" sz="1400" b="1" dirty="0">
                <a:solidFill>
                  <a:srgbClr val="FF0000"/>
                </a:solidFill>
              </a:rPr>
              <a:t>expose this as a Kubernetes service</a:t>
            </a:r>
            <a:r>
              <a:rPr lang="en-US" altLang="ko-KR" sz="1400" b="1" dirty="0"/>
              <a: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Now we have a reliable singleton MySQL instance running in our cluster and exposed as a service named “</a:t>
            </a:r>
            <a:r>
              <a:rPr lang="en-US" altLang="ko-KR" sz="1400" b="1" dirty="0" err="1"/>
              <a:t>mysql</a:t>
            </a:r>
            <a:r>
              <a:rPr lang="en-US" altLang="ko-KR" sz="1400" b="1" dirty="0"/>
              <a:t>”, which we can access at the full domain name “</a:t>
            </a:r>
            <a:r>
              <a:rPr lang="en-US" altLang="ko-KR" sz="1400" b="1" dirty="0" err="1">
                <a:solidFill>
                  <a:srgbClr val="FF0000"/>
                </a:solidFill>
              </a:rPr>
              <a:t>mysql.svc.default.cluster</a:t>
            </a:r>
            <a:r>
              <a:rPr lang="en-US" altLang="ko-KR" sz="1400" b="1" dirty="0"/>
              <a:t>”</a:t>
            </a:r>
            <a:r>
              <a:rPr lang="en-US" altLang="ko-KR" sz="1400" dirty="0"/>
              <a:t>. Similar instructions can be used for a variety of data stores, and </a:t>
            </a:r>
            <a:r>
              <a:rPr lang="en-US" altLang="ko-KR" sz="1400" b="1" dirty="0"/>
              <a:t>if your needs are simple and you can survive limited downtime in the face of a machine failure or when you need to upgrade the database software, </a:t>
            </a:r>
            <a:r>
              <a:rPr lang="en-US" altLang="ko-KR" sz="1400" b="1" dirty="0">
                <a:solidFill>
                  <a:srgbClr val="FF0000"/>
                </a:solidFill>
              </a:rPr>
              <a:t>a reliable singleton </a:t>
            </a:r>
            <a:r>
              <a:rPr lang="en-US" altLang="ko-KR" sz="1400" b="1" dirty="0"/>
              <a:t>may be the right approach to storage for your application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377EA740-6AB0-4F42-A962-A4B6E328D91B}"/>
              </a:ext>
            </a:extLst>
          </p:cNvPr>
          <p:cNvGrpSpPr/>
          <p:nvPr/>
        </p:nvGrpSpPr>
        <p:grpSpPr>
          <a:xfrm>
            <a:off x="3048000" y="1797784"/>
            <a:ext cx="6096000" cy="1877437"/>
            <a:chOff x="3048000" y="1797784"/>
            <a:chExt cx="6096000" cy="1877437"/>
          </a:xfrm>
        </p:grpSpPr>
        <p:sp>
          <p:nvSpPr>
            <p:cNvPr id="4" name="직사각형 3">
              <a:extLst>
                <a:ext uri="{FF2B5EF4-FFF2-40B4-BE49-F238E27FC236}">
                  <a16:creationId xmlns:a16="http://schemas.microsoft.com/office/drawing/2014/main" id="{35B0ED40-45A7-4981-9C20-FC5ACC6C8BEB}"/>
                </a:ext>
              </a:extLst>
            </p:cNvPr>
            <p:cNvSpPr/>
            <p:nvPr/>
          </p:nvSpPr>
          <p:spPr>
            <a:xfrm>
              <a:off x="3048000" y="1797784"/>
              <a:ext cx="6096000" cy="1631216"/>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solidFill>
                    <a:srgbClr val="FF0000"/>
                  </a:solidFill>
                </a:rPr>
                <a:t>mysql</a:t>
              </a:r>
              <a:endParaRPr lang="en-US" altLang="ko-KR" sz="1000" b="1" dirty="0">
                <a:solidFill>
                  <a:srgbClr val="FF0000"/>
                </a:solidFill>
              </a:endParaRPr>
            </a:p>
            <a:p>
              <a:r>
                <a:rPr lang="en-US" altLang="ko-KR" sz="1000" b="1" dirty="0"/>
                <a:t>spec:</a:t>
              </a:r>
            </a:p>
            <a:p>
              <a:r>
                <a:rPr lang="en-US" altLang="ko-KR" sz="1000" b="1" dirty="0"/>
                <a:t>  ports:</a:t>
              </a:r>
            </a:p>
            <a:p>
              <a:r>
                <a:rPr lang="en-US" altLang="ko-KR" sz="1000" b="1" dirty="0"/>
                <a:t>  - port: </a:t>
              </a:r>
              <a:r>
                <a:rPr lang="en-US" altLang="ko-KR" sz="1000" b="1" dirty="0">
                  <a:solidFill>
                    <a:srgbClr val="FF0000"/>
                  </a:solidFill>
                </a:rPr>
                <a:t>3306</a:t>
              </a:r>
            </a:p>
            <a:p>
              <a:r>
                <a:rPr lang="en-US" altLang="ko-KR" sz="1000" b="1" dirty="0"/>
                <a:t>    protocol: </a:t>
              </a:r>
              <a:r>
                <a:rPr lang="en-US" altLang="ko-KR" sz="1000" b="1" dirty="0">
                  <a:solidFill>
                    <a:srgbClr val="FF0000"/>
                  </a:solidFill>
                </a:rPr>
                <a:t>TCP</a:t>
              </a:r>
            </a:p>
            <a:p>
              <a:r>
                <a:rPr lang="en-US" altLang="ko-KR" sz="1000" b="1" dirty="0"/>
                <a:t>  selector:</a:t>
              </a:r>
            </a:p>
            <a:p>
              <a:r>
                <a:rPr lang="en-US" altLang="ko-KR" sz="1000" b="1" dirty="0"/>
                <a:t>    app: </a:t>
              </a:r>
              <a:r>
                <a:rPr lang="en-US" altLang="ko-KR" sz="1000" b="1" dirty="0" err="1">
                  <a:solidFill>
                    <a:srgbClr val="FF0000"/>
                  </a:solidFill>
                </a:rPr>
                <a:t>mysql</a:t>
              </a:r>
              <a:endParaRPr lang="ko-KR" altLang="en-US" sz="1000" b="1" dirty="0">
                <a:solidFill>
                  <a:srgbClr val="FF0000"/>
                </a:solidFill>
              </a:endParaRPr>
            </a:p>
          </p:txBody>
        </p:sp>
        <p:sp>
          <p:nvSpPr>
            <p:cNvPr id="8" name="TextBox 7">
              <a:extLst>
                <a:ext uri="{FF2B5EF4-FFF2-40B4-BE49-F238E27FC236}">
                  <a16:creationId xmlns:a16="http://schemas.microsoft.com/office/drawing/2014/main" id="{3AFFFA88-330D-4F1A-A568-846DEF10CEAE}"/>
                </a:ext>
              </a:extLst>
            </p:cNvPr>
            <p:cNvSpPr txBox="1"/>
            <p:nvPr/>
          </p:nvSpPr>
          <p:spPr>
            <a:xfrm>
              <a:off x="5459447" y="3429000"/>
              <a:ext cx="1273105" cy="246221"/>
            </a:xfrm>
            <a:prstGeom prst="rect">
              <a:avLst/>
            </a:prstGeom>
            <a:noFill/>
          </p:spPr>
          <p:txBody>
            <a:bodyPr wrap="none" rtlCol="0">
              <a:spAutoFit/>
            </a:bodyPr>
            <a:lstStyle/>
            <a:p>
              <a:pPr algn="ctr"/>
              <a:r>
                <a:rPr lang="en-US" altLang="ko-KR" sz="1000" b="1" dirty="0" err="1"/>
                <a:t>msql-service.yaml</a:t>
              </a:r>
              <a:endParaRPr lang="ko-KR" altLang="en-US" sz="1000" b="1" dirty="0"/>
            </a:p>
          </p:txBody>
        </p:sp>
      </p:grpSp>
    </p:spTree>
    <p:extLst>
      <p:ext uri="{BB962C8B-B14F-4D97-AF65-F5344CB8AC3E}">
        <p14:creationId xmlns:p14="http://schemas.microsoft.com/office/powerpoint/2010/main" val="15563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All Together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MySQL Service :</a:t>
            </a:r>
          </a:p>
          <a:p>
            <a:pPr lvl="1">
              <a:buFont typeface="Wingdings" panose="05000000000000000000" pitchFamily="2" charset="2"/>
              <a:buChar char="§"/>
            </a:pPr>
            <a:r>
              <a:rPr lang="en-US" altLang="ko-KR" sz="1400" dirty="0"/>
              <a:t>You can use “</a:t>
            </a:r>
            <a:r>
              <a:rPr lang="en-US" altLang="ko-KR" sz="1400" b="1" dirty="0" err="1"/>
              <a:t>kubectl</a:t>
            </a:r>
            <a:r>
              <a:rPr lang="en-US" altLang="ko-KR" sz="1400" b="1" dirty="0"/>
              <a:t> apply -f</a:t>
            </a:r>
            <a:r>
              <a:rPr lang="en-US" altLang="ko-KR" sz="1400" dirty="0"/>
              <a:t>” command to </a:t>
            </a:r>
            <a:r>
              <a:rPr lang="en-US" altLang="ko-KR" sz="1400" b="1" dirty="0"/>
              <a:t>each YAML files</a:t>
            </a:r>
            <a:r>
              <a:rPr lang="en-US" altLang="ko-KR" sz="1400" dirty="0"/>
              <a:t>. See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E18AA13-7802-4576-A415-C67350C4AAE8}"/>
              </a:ext>
            </a:extLst>
          </p:cNvPr>
          <p:cNvGrpSpPr/>
          <p:nvPr/>
        </p:nvGrpSpPr>
        <p:grpSpPr>
          <a:xfrm>
            <a:off x="1379220" y="1539931"/>
            <a:ext cx="9433560" cy="4590348"/>
            <a:chOff x="1379220" y="1529834"/>
            <a:chExt cx="9433560" cy="4590348"/>
          </a:xfrm>
        </p:grpSpPr>
        <p:pic>
          <p:nvPicPr>
            <p:cNvPr id="4" name="그림 3">
              <a:extLst>
                <a:ext uri="{FF2B5EF4-FFF2-40B4-BE49-F238E27FC236}">
                  <a16:creationId xmlns:a16="http://schemas.microsoft.com/office/drawing/2014/main" id="{C401717E-CF45-4A8D-9072-A66E211F64D7}"/>
                </a:ext>
              </a:extLst>
            </p:cNvPr>
            <p:cNvPicPr>
              <a:picLocks noChangeAspect="1"/>
            </p:cNvPicPr>
            <p:nvPr/>
          </p:nvPicPr>
          <p:blipFill>
            <a:blip r:embed="rId2"/>
            <a:stretch>
              <a:fillRect/>
            </a:stretch>
          </p:blipFill>
          <p:spPr>
            <a:xfrm>
              <a:off x="1379220" y="2552166"/>
              <a:ext cx="9433560" cy="3568016"/>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A4888BE7-82BB-491C-A47F-12074E22223D}"/>
                </a:ext>
              </a:extLst>
            </p:cNvPr>
            <p:cNvSpPr/>
            <p:nvPr/>
          </p:nvSpPr>
          <p:spPr>
            <a:xfrm>
              <a:off x="3679281" y="1529834"/>
              <a:ext cx="4833438" cy="707886"/>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nfs-volume.yaml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nfs</a:t>
              </a:r>
              <a:r>
                <a:rPr lang="en-US" altLang="ko-KR" sz="1000" b="1" dirty="0">
                  <a:solidFill>
                    <a:srgbClr val="FF0000"/>
                  </a:solidFill>
                </a:rPr>
                <a:t>-volume-</a:t>
              </a:r>
              <a:r>
                <a:rPr lang="en-US" altLang="ko-KR" sz="1000" b="1" dirty="0" err="1">
                  <a:solidFill>
                    <a:srgbClr val="FF0000"/>
                  </a:solidFill>
                </a:rPr>
                <a:t>claim.yaml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mysql-replicaset.yaml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mysql-service.yaml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FAB0829F-A03D-4479-90FD-CD8C95F47ED0}"/>
                </a:ext>
              </a:extLst>
            </p:cNvPr>
            <p:cNvSpPr/>
            <p:nvPr/>
          </p:nvSpPr>
          <p:spPr>
            <a:xfrm>
              <a:off x="5886450" y="2245352"/>
              <a:ext cx="419100" cy="2971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70783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Volume Provisioning :</a:t>
            </a:r>
          </a:p>
          <a:p>
            <a:pPr lvl="1">
              <a:buFont typeface="Wingdings" panose="05000000000000000000" pitchFamily="2" charset="2"/>
              <a:buChar char="§"/>
            </a:pPr>
            <a:r>
              <a:rPr lang="en-US" altLang="ko-KR" sz="1400" b="1" dirty="0"/>
              <a:t>Many clusters also include “</a:t>
            </a:r>
            <a:r>
              <a:rPr lang="en-US" altLang="ko-KR" sz="1400" b="1" dirty="0">
                <a:solidFill>
                  <a:srgbClr val="FF0000"/>
                </a:solidFill>
              </a:rPr>
              <a:t>dynamic volume provisioning</a:t>
            </a:r>
            <a:r>
              <a:rPr lang="en-US" altLang="ko-KR" sz="1400" b="1" dirty="0"/>
              <a:t>”</a:t>
            </a:r>
            <a:r>
              <a:rPr lang="en-US" altLang="ko-KR" sz="1400" dirty="0"/>
              <a:t>. </a:t>
            </a:r>
            <a:r>
              <a:rPr lang="en-US" altLang="ko-KR" sz="1400" b="1" dirty="0"/>
              <a:t>With dynamic volume provisioning, the cluster operator creates one or more “</a:t>
            </a:r>
            <a:r>
              <a:rPr lang="en-US" altLang="ko-KR" sz="1400" b="1" dirty="0" err="1">
                <a:solidFill>
                  <a:srgbClr val="FF0000"/>
                </a:solidFill>
              </a:rPr>
              <a:t>StorageClass</a:t>
            </a:r>
            <a:r>
              <a:rPr lang="en-US" altLang="ko-KR" sz="1400" b="1" dirty="0"/>
              <a:t>“ objects</a:t>
            </a:r>
            <a:r>
              <a:rPr lang="en-US" altLang="ko-KR" sz="1400" dirty="0"/>
              <a:t>. The following manifest shows a </a:t>
            </a:r>
            <a:r>
              <a:rPr lang="en-US" altLang="ko-KR" sz="1400" b="1" dirty="0"/>
              <a:t>default storage class </a:t>
            </a:r>
            <a:r>
              <a:rPr lang="en-US" altLang="ko-KR" sz="1400" dirty="0"/>
              <a:t>that automatically provisions disk objects on the Microsoft Azure platform.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E78E30FA-7A8F-4996-AC67-B8ADC4A7D6B7}"/>
              </a:ext>
            </a:extLst>
          </p:cNvPr>
          <p:cNvGrpSpPr/>
          <p:nvPr/>
        </p:nvGrpSpPr>
        <p:grpSpPr>
          <a:xfrm>
            <a:off x="1333500" y="1951672"/>
            <a:ext cx="9525000" cy="3774439"/>
            <a:chOff x="1333500" y="1951672"/>
            <a:chExt cx="9525000" cy="3774439"/>
          </a:xfrm>
        </p:grpSpPr>
        <p:grpSp>
          <p:nvGrpSpPr>
            <p:cNvPr id="10" name="그룹 9">
              <a:extLst>
                <a:ext uri="{FF2B5EF4-FFF2-40B4-BE49-F238E27FC236}">
                  <a16:creationId xmlns:a16="http://schemas.microsoft.com/office/drawing/2014/main" id="{75745E66-EF52-40F9-BBF0-9F2C8504D87C}"/>
                </a:ext>
              </a:extLst>
            </p:cNvPr>
            <p:cNvGrpSpPr/>
            <p:nvPr/>
          </p:nvGrpSpPr>
          <p:grpSpPr>
            <a:xfrm>
              <a:off x="3048000" y="1951672"/>
              <a:ext cx="6096000" cy="1477328"/>
              <a:chOff x="3048000" y="1951672"/>
              <a:chExt cx="6096000" cy="1477328"/>
            </a:xfrm>
          </p:grpSpPr>
          <p:sp>
            <p:nvSpPr>
              <p:cNvPr id="4" name="직사각형 3">
                <a:extLst>
                  <a:ext uri="{FF2B5EF4-FFF2-40B4-BE49-F238E27FC236}">
                    <a16:creationId xmlns:a16="http://schemas.microsoft.com/office/drawing/2014/main" id="{5EFB03B7-D2C8-4675-87BC-A1D61ED21579}"/>
                  </a:ext>
                </a:extLst>
              </p:cNvPr>
              <p:cNvSpPr/>
              <p:nvPr/>
            </p:nvSpPr>
            <p:spPr>
              <a:xfrm>
                <a:off x="3048000" y="1951672"/>
                <a:ext cx="6096000" cy="1477328"/>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storage.k8s.io/v1</a:t>
                </a:r>
              </a:p>
              <a:p>
                <a:r>
                  <a:rPr lang="en-US" altLang="ko-KR" sz="1000" b="1" dirty="0"/>
                  <a:t>kind: </a:t>
                </a:r>
                <a:r>
                  <a:rPr lang="en-US" altLang="ko-KR" sz="1000" b="1" dirty="0" err="1">
                    <a:solidFill>
                      <a:srgbClr val="FF0000"/>
                    </a:solidFill>
                  </a:rPr>
                  <a:t>StorageClass</a:t>
                </a:r>
                <a:endParaRPr lang="en-US" altLang="ko-KR" sz="1000" b="1" dirty="0">
                  <a:solidFill>
                    <a:srgbClr val="FF0000"/>
                  </a:solidFill>
                </a:endParaRPr>
              </a:p>
              <a:p>
                <a:r>
                  <a:rPr lang="en-US" altLang="ko-KR" sz="1000" b="1" dirty="0"/>
                  <a:t>metadata:</a:t>
                </a:r>
              </a:p>
              <a:p>
                <a:r>
                  <a:rPr lang="en-US" altLang="ko-KR" sz="1000" b="1" dirty="0"/>
                  <a:t>  name: default</a:t>
                </a:r>
              </a:p>
              <a:p>
                <a:r>
                  <a:rPr lang="en-US" altLang="ko-KR" sz="1000" b="1" dirty="0"/>
                  <a:t>  annotations:</a:t>
                </a:r>
              </a:p>
              <a:p>
                <a:r>
                  <a:rPr lang="en-US" altLang="ko-KR" sz="1000" b="1" dirty="0"/>
                  <a:t>    </a:t>
                </a:r>
                <a:r>
                  <a:rPr lang="en-US" altLang="ko-KR" sz="1000" b="1" dirty="0">
                    <a:solidFill>
                      <a:srgbClr val="FF0000"/>
                    </a:solidFill>
                  </a:rPr>
                  <a:t>storageclass.beta.kubernetes.io/is-default-class: "true"</a:t>
                </a:r>
              </a:p>
              <a:p>
                <a:r>
                  <a:rPr lang="en-US" altLang="ko-KR" sz="1000" b="1" dirty="0"/>
                  <a:t>  labels:</a:t>
                </a:r>
              </a:p>
              <a:p>
                <a:r>
                  <a:rPr lang="en-US" altLang="ko-KR" sz="1000" b="1" dirty="0">
                    <a:solidFill>
                      <a:srgbClr val="FF0000"/>
                    </a:solidFill>
                  </a:rPr>
                  <a:t>    kubernetes.io/cluster-service: "true"</a:t>
                </a:r>
              </a:p>
              <a:p>
                <a:r>
                  <a:rPr lang="en-US" altLang="ko-KR" sz="1000" b="1" dirty="0"/>
                  <a:t>provisioner: </a:t>
                </a:r>
                <a:r>
                  <a:rPr lang="en-US" altLang="ko-KR" sz="1000" b="1" dirty="0">
                    <a:solidFill>
                      <a:srgbClr val="FF0000"/>
                    </a:solidFill>
                  </a:rPr>
                  <a:t>kubernetes.io/azure-disk</a:t>
                </a:r>
                <a:endParaRPr lang="ko-KR" altLang="en-US" sz="1000" b="1" dirty="0">
                  <a:solidFill>
                    <a:srgbClr val="FF0000"/>
                  </a:solidFill>
                </a:endParaRPr>
              </a:p>
            </p:txBody>
          </p:sp>
          <p:sp>
            <p:nvSpPr>
              <p:cNvPr id="9" name="TextBox 8">
                <a:extLst>
                  <a:ext uri="{FF2B5EF4-FFF2-40B4-BE49-F238E27FC236}">
                    <a16:creationId xmlns:a16="http://schemas.microsoft.com/office/drawing/2014/main" id="{4DF62F62-73E1-4891-B647-5869DFD1A805}"/>
                  </a:ext>
                </a:extLst>
              </p:cNvPr>
              <p:cNvSpPr txBox="1"/>
              <p:nvPr/>
            </p:nvSpPr>
            <p:spPr>
              <a:xfrm>
                <a:off x="7890131" y="1951672"/>
                <a:ext cx="1253869" cy="246221"/>
              </a:xfrm>
              <a:prstGeom prst="rect">
                <a:avLst/>
              </a:prstGeom>
              <a:noFill/>
            </p:spPr>
            <p:txBody>
              <a:bodyPr wrap="none" rtlCol="0">
                <a:spAutoFit/>
              </a:bodyPr>
              <a:lstStyle/>
              <a:p>
                <a:pPr algn="ctr"/>
                <a:r>
                  <a:rPr lang="en-US" altLang="ko-KR" sz="1000" b="1" dirty="0" err="1"/>
                  <a:t>storageclass.yaml</a:t>
                </a:r>
                <a:endParaRPr lang="ko-KR" altLang="en-US" sz="1000" b="1" dirty="0"/>
              </a:p>
            </p:txBody>
          </p:sp>
        </p:grpSp>
        <p:sp>
          <p:nvSpPr>
            <p:cNvPr id="11" name="화살표: 아래쪽 10">
              <a:extLst>
                <a:ext uri="{FF2B5EF4-FFF2-40B4-BE49-F238E27FC236}">
                  <a16:creationId xmlns:a16="http://schemas.microsoft.com/office/drawing/2014/main" id="{DEAEFBCC-7818-4118-A160-15706EF35F84}"/>
                </a:ext>
              </a:extLst>
            </p:cNvPr>
            <p:cNvSpPr/>
            <p:nvPr/>
          </p:nvSpPr>
          <p:spPr>
            <a:xfrm>
              <a:off x="5882640" y="3440634"/>
              <a:ext cx="426720" cy="30216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2" name="그림 11">
              <a:extLst>
                <a:ext uri="{FF2B5EF4-FFF2-40B4-BE49-F238E27FC236}">
                  <a16:creationId xmlns:a16="http://schemas.microsoft.com/office/drawing/2014/main" id="{E03B19F9-E564-4905-97C7-C39C8477CF60}"/>
                </a:ext>
              </a:extLst>
            </p:cNvPr>
            <p:cNvPicPr>
              <a:picLocks noChangeAspect="1"/>
            </p:cNvPicPr>
            <p:nvPr/>
          </p:nvPicPr>
          <p:blipFill>
            <a:blip r:embed="rId2"/>
            <a:stretch>
              <a:fillRect/>
            </a:stretch>
          </p:blipFill>
          <p:spPr>
            <a:xfrm>
              <a:off x="1333500" y="3754436"/>
              <a:ext cx="9525000" cy="1971675"/>
            </a:xfrm>
            <a:prstGeom prst="rect">
              <a:avLst/>
            </a:prstGeom>
            <a:ln>
              <a:solidFill>
                <a:schemeClr val="bg1">
                  <a:lumMod val="50000"/>
                </a:schemeClr>
              </a:solidFill>
            </a:ln>
          </p:spPr>
        </p:pic>
      </p:grpSp>
      <p:sp>
        <p:nvSpPr>
          <p:cNvPr id="8" name="직사각형 7">
            <a:extLst>
              <a:ext uri="{FF2B5EF4-FFF2-40B4-BE49-F238E27FC236}">
                <a16:creationId xmlns:a16="http://schemas.microsoft.com/office/drawing/2014/main" id="{38991B32-EB72-EA99-BB00-78DF3404AE3B}"/>
              </a:ext>
            </a:extLst>
          </p:cNvPr>
          <p:cNvSpPr/>
          <p:nvPr/>
        </p:nvSpPr>
        <p:spPr>
          <a:xfrm>
            <a:off x="1447800" y="4930140"/>
            <a:ext cx="8534400" cy="1981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30063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Volume Provisioning :</a:t>
            </a:r>
          </a:p>
          <a:p>
            <a:pPr lvl="1">
              <a:buFont typeface="Wingdings" panose="05000000000000000000" pitchFamily="2" charset="2"/>
              <a:buChar char="§"/>
            </a:pPr>
            <a:r>
              <a:rPr lang="en-US" altLang="ko-KR" sz="1400" b="1" dirty="0"/>
              <a:t>Once a storage class has been created for a cluster, you can refer to this </a:t>
            </a:r>
            <a:r>
              <a:rPr lang="en-US" altLang="ko-KR" sz="1400" b="1" dirty="0">
                <a:solidFill>
                  <a:srgbClr val="FF0000"/>
                </a:solidFill>
              </a:rPr>
              <a:t>storage class in your persistent volume claim</a:t>
            </a:r>
            <a:r>
              <a:rPr lang="en-US" altLang="ko-KR" sz="1400" b="1" dirty="0"/>
              <a:t>, rather than referring to any specific persistent volume</a:t>
            </a:r>
            <a:r>
              <a:rPr lang="en-US" altLang="ko-KR" sz="1400" dirty="0"/>
              <a:t>. </a:t>
            </a:r>
            <a:r>
              <a:rPr lang="en-US" altLang="ko-KR" sz="1400" b="1" dirty="0"/>
              <a:t>When the dynamic provisioner sees this storage claim, it uses the appropriate </a:t>
            </a:r>
            <a:r>
              <a:rPr lang="en-US" altLang="ko-KR" sz="1400" b="1" dirty="0">
                <a:solidFill>
                  <a:srgbClr val="FF0000"/>
                </a:solidFill>
              </a:rPr>
              <a:t>volume driver </a:t>
            </a:r>
            <a:r>
              <a:rPr lang="en-US" altLang="ko-KR" sz="1400" b="1" dirty="0"/>
              <a:t>to create the volume and bind it to your persistent volume claim</a:t>
            </a:r>
            <a:r>
              <a:rPr lang="en-US" altLang="ko-KR" sz="1400" dirty="0"/>
              <a:t>.</a:t>
            </a:r>
          </a:p>
          <a:p>
            <a:pPr lvl="1">
              <a:buFont typeface="Wingdings" panose="05000000000000000000" pitchFamily="2" charset="2"/>
              <a:buChar char="§"/>
            </a:pPr>
            <a:r>
              <a:rPr lang="en-US" altLang="ko-KR" sz="1400" dirty="0"/>
              <a:t>The following manifest shows an example of a “</a:t>
            </a:r>
            <a:r>
              <a:rPr lang="en-US" altLang="ko-KR" sz="1400" b="1" dirty="0" err="1">
                <a:solidFill>
                  <a:srgbClr val="FF0000"/>
                </a:solidFill>
              </a:rPr>
              <a:t>PersistentVolumeClaim</a:t>
            </a:r>
            <a:r>
              <a:rPr lang="en-US" altLang="ko-KR" sz="1400" dirty="0"/>
              <a:t>” </a:t>
            </a:r>
            <a:r>
              <a:rPr lang="en-US" altLang="ko-KR" sz="1400" b="1" dirty="0"/>
              <a:t>that uses the default storage class </a:t>
            </a:r>
            <a:r>
              <a:rPr lang="en-US" altLang="ko-KR" sz="1400" dirty="0"/>
              <a:t>we just defined to claim a newly created persistent volume.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1DB0EB90-53A6-4D13-BCA4-D4BFD2311F79}"/>
              </a:ext>
            </a:extLst>
          </p:cNvPr>
          <p:cNvGrpSpPr/>
          <p:nvPr/>
        </p:nvGrpSpPr>
        <p:grpSpPr>
          <a:xfrm>
            <a:off x="1333500" y="2287973"/>
            <a:ext cx="9525000" cy="4072886"/>
            <a:chOff x="1333500" y="2287973"/>
            <a:chExt cx="9525000" cy="4072886"/>
          </a:xfrm>
        </p:grpSpPr>
        <p:grpSp>
          <p:nvGrpSpPr>
            <p:cNvPr id="13" name="그룹 12">
              <a:extLst>
                <a:ext uri="{FF2B5EF4-FFF2-40B4-BE49-F238E27FC236}">
                  <a16:creationId xmlns:a16="http://schemas.microsoft.com/office/drawing/2014/main" id="{0B9D8A4D-29AF-4CE1-9E39-2107D1024CD7}"/>
                </a:ext>
              </a:extLst>
            </p:cNvPr>
            <p:cNvGrpSpPr/>
            <p:nvPr/>
          </p:nvGrpSpPr>
          <p:grpSpPr>
            <a:xfrm>
              <a:off x="1333500" y="2287973"/>
              <a:ext cx="9525000" cy="4072886"/>
              <a:chOff x="1333500" y="2287973"/>
              <a:chExt cx="9525000" cy="4072886"/>
            </a:xfrm>
          </p:grpSpPr>
          <p:grpSp>
            <p:nvGrpSpPr>
              <p:cNvPr id="10" name="그룹 9">
                <a:extLst>
                  <a:ext uri="{FF2B5EF4-FFF2-40B4-BE49-F238E27FC236}">
                    <a16:creationId xmlns:a16="http://schemas.microsoft.com/office/drawing/2014/main" id="{29227A0C-2B2B-4B95-89DD-DDF2C21DDC46}"/>
                  </a:ext>
                </a:extLst>
              </p:cNvPr>
              <p:cNvGrpSpPr/>
              <p:nvPr/>
            </p:nvGrpSpPr>
            <p:grpSpPr>
              <a:xfrm>
                <a:off x="3048000" y="2287973"/>
                <a:ext cx="6096000" cy="1938992"/>
                <a:chOff x="3048000" y="2287973"/>
                <a:chExt cx="6096000" cy="1938992"/>
              </a:xfrm>
            </p:grpSpPr>
            <p:sp>
              <p:nvSpPr>
                <p:cNvPr id="8" name="직사각형 7">
                  <a:extLst>
                    <a:ext uri="{FF2B5EF4-FFF2-40B4-BE49-F238E27FC236}">
                      <a16:creationId xmlns:a16="http://schemas.microsoft.com/office/drawing/2014/main" id="{6310C482-7732-430F-B33F-AD521FEC4367}"/>
                    </a:ext>
                  </a:extLst>
                </p:cNvPr>
                <p:cNvSpPr/>
                <p:nvPr/>
              </p:nvSpPr>
              <p:spPr>
                <a:xfrm>
                  <a:off x="3048000" y="2287973"/>
                  <a:ext cx="6096000" cy="1938992"/>
                </a:xfrm>
                <a:prstGeom prst="rect">
                  <a:avLst/>
                </a:prstGeom>
                <a:ln>
                  <a:solidFill>
                    <a:schemeClr val="bg1">
                      <a:lumMod val="50000"/>
                    </a:schemeClr>
                  </a:solidFill>
                </a:ln>
              </p:spPr>
              <p:txBody>
                <a:bodyPr>
                  <a:spAutoFit/>
                </a:bodyPr>
                <a:lstStyle/>
                <a:p>
                  <a:r>
                    <a:rPr lang="en-US" altLang="ko-KR" sz="1000" b="1" dirty="0"/>
                    <a:t>kind: </a:t>
                  </a:r>
                  <a:r>
                    <a:rPr lang="en-US" altLang="ko-KR" sz="1000" b="1" dirty="0" err="1">
                      <a:solidFill>
                        <a:srgbClr val="FF0000"/>
                      </a:solidFill>
                    </a:rPr>
                    <a:t>PersistentVolumeClaim</a:t>
                  </a:r>
                  <a:endParaRPr lang="en-US" altLang="ko-KR" sz="1000" b="1" dirty="0">
                    <a:solidFill>
                      <a:srgbClr val="FF0000"/>
                    </a:solidFill>
                  </a:endParaRPr>
                </a:p>
                <a:p>
                  <a:r>
                    <a:rPr lang="en-US" altLang="ko-KR" sz="1000" b="1" dirty="0" err="1"/>
                    <a:t>apiVersion</a:t>
                  </a:r>
                  <a:r>
                    <a:rPr lang="en-US" altLang="ko-KR" sz="1000" b="1" dirty="0"/>
                    <a:t>: v1</a:t>
                  </a:r>
                </a:p>
                <a:p>
                  <a:r>
                    <a:rPr lang="en-US" altLang="ko-KR" sz="1000" b="1" dirty="0"/>
                    <a:t>metadata:</a:t>
                  </a:r>
                </a:p>
                <a:p>
                  <a:r>
                    <a:rPr lang="en-US" altLang="ko-KR" sz="1000" b="1" dirty="0"/>
                    <a:t>  name: my-claim</a:t>
                  </a:r>
                </a:p>
                <a:p>
                  <a:r>
                    <a:rPr lang="en-US" altLang="ko-KR" sz="1000" b="1" dirty="0"/>
                    <a:t>  annotations:</a:t>
                  </a:r>
                </a:p>
                <a:p>
                  <a:r>
                    <a:rPr lang="en-US" altLang="ko-KR" sz="1000" b="1" dirty="0"/>
                    <a:t>    </a:t>
                  </a:r>
                  <a:r>
                    <a:rPr lang="en-US" altLang="ko-KR" sz="1000" b="1" dirty="0">
                      <a:solidFill>
                        <a:srgbClr val="FF0000"/>
                      </a:solidFill>
                    </a:rPr>
                    <a:t>volume.beta.kubernetes.io/storage-class: default</a:t>
                  </a:r>
                </a:p>
                <a:p>
                  <a:r>
                    <a:rPr lang="en-US" altLang="ko-KR" sz="1000" b="1" dirty="0"/>
                    <a:t>spec:</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t>ReadWriteOnce</a:t>
                  </a:r>
                  <a:endParaRPr lang="en-US" altLang="ko-KR" sz="1000" b="1" dirty="0"/>
                </a:p>
                <a:p>
                  <a:r>
                    <a:rPr lang="en-US" altLang="ko-KR" sz="1000" b="1" dirty="0"/>
                    <a:t>  resources:</a:t>
                  </a:r>
                </a:p>
                <a:p>
                  <a:r>
                    <a:rPr lang="en-US" altLang="ko-KR" sz="1000" b="1" dirty="0"/>
                    <a:t>    requests:</a:t>
                  </a:r>
                </a:p>
                <a:p>
                  <a:r>
                    <a:rPr lang="en-US" altLang="ko-KR" sz="1000" b="1" dirty="0"/>
                    <a:t>      storage: 10Gi</a:t>
                  </a:r>
                  <a:endParaRPr lang="ko-KR" altLang="en-US" sz="1000" b="1" dirty="0"/>
                </a:p>
              </p:txBody>
            </p:sp>
            <p:sp>
              <p:nvSpPr>
                <p:cNvPr id="9" name="TextBox 8">
                  <a:extLst>
                    <a:ext uri="{FF2B5EF4-FFF2-40B4-BE49-F238E27FC236}">
                      <a16:creationId xmlns:a16="http://schemas.microsoft.com/office/drawing/2014/main" id="{61969133-B72B-47EB-8B9F-AFCE2988B847}"/>
                    </a:ext>
                  </a:extLst>
                </p:cNvPr>
                <p:cNvSpPr txBox="1"/>
                <p:nvPr/>
              </p:nvSpPr>
              <p:spPr>
                <a:xfrm>
                  <a:off x="7242517" y="2287973"/>
                  <a:ext cx="1901483" cy="246221"/>
                </a:xfrm>
                <a:prstGeom prst="rect">
                  <a:avLst/>
                </a:prstGeom>
                <a:noFill/>
              </p:spPr>
              <p:txBody>
                <a:bodyPr wrap="none" rtlCol="0">
                  <a:spAutoFit/>
                </a:bodyPr>
                <a:lstStyle/>
                <a:p>
                  <a:pPr algn="ctr"/>
                  <a:r>
                    <a:rPr lang="en-US" altLang="ko-KR" sz="1000" b="1" dirty="0"/>
                    <a:t>dynamic-volume-</a:t>
                  </a:r>
                  <a:r>
                    <a:rPr lang="en-US" altLang="ko-KR" sz="1000" b="1" dirty="0" err="1"/>
                    <a:t>claim.yaml</a:t>
                  </a:r>
                  <a:endParaRPr lang="ko-KR" altLang="en-US" sz="1000" b="1" dirty="0"/>
                </a:p>
              </p:txBody>
            </p:sp>
          </p:grpSp>
          <p:sp>
            <p:nvSpPr>
              <p:cNvPr id="11" name="화살표: 아래쪽 10">
                <a:extLst>
                  <a:ext uri="{FF2B5EF4-FFF2-40B4-BE49-F238E27FC236}">
                    <a16:creationId xmlns:a16="http://schemas.microsoft.com/office/drawing/2014/main" id="{65B6970E-7B27-4B55-B5C4-ACFA3B5B958B}"/>
                  </a:ext>
                </a:extLst>
              </p:cNvPr>
              <p:cNvSpPr/>
              <p:nvPr/>
            </p:nvSpPr>
            <p:spPr>
              <a:xfrm>
                <a:off x="5890260" y="4240530"/>
                <a:ext cx="403860" cy="2971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2" name="그림 11">
                <a:extLst>
                  <a:ext uri="{FF2B5EF4-FFF2-40B4-BE49-F238E27FC236}">
                    <a16:creationId xmlns:a16="http://schemas.microsoft.com/office/drawing/2014/main" id="{D8BF8C47-3990-4BB0-B934-3A63FBB47798}"/>
                  </a:ext>
                </a:extLst>
              </p:cNvPr>
              <p:cNvPicPr>
                <a:picLocks noChangeAspect="1"/>
              </p:cNvPicPr>
              <p:nvPr/>
            </p:nvPicPr>
            <p:blipFill>
              <a:blip r:embed="rId2"/>
              <a:stretch>
                <a:fillRect/>
              </a:stretch>
            </p:blipFill>
            <p:spPr>
              <a:xfrm>
                <a:off x="1333500" y="4551109"/>
                <a:ext cx="9525000" cy="1809750"/>
              </a:xfrm>
              <a:prstGeom prst="rect">
                <a:avLst/>
              </a:prstGeom>
              <a:ln>
                <a:solidFill>
                  <a:schemeClr val="bg1">
                    <a:lumMod val="50000"/>
                  </a:schemeClr>
                </a:solidFill>
              </a:ln>
            </p:spPr>
          </p:pic>
        </p:grpSp>
        <p:sp>
          <p:nvSpPr>
            <p:cNvPr id="14" name="직사각형 13">
              <a:extLst>
                <a:ext uri="{FF2B5EF4-FFF2-40B4-BE49-F238E27FC236}">
                  <a16:creationId xmlns:a16="http://schemas.microsoft.com/office/drawing/2014/main" id="{D193782E-2040-4FA8-AD5A-C7BD61FC4B1B}"/>
                </a:ext>
              </a:extLst>
            </p:cNvPr>
            <p:cNvSpPr/>
            <p:nvPr/>
          </p:nvSpPr>
          <p:spPr>
            <a:xfrm>
              <a:off x="2270760" y="5745480"/>
              <a:ext cx="701040" cy="1752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61370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Reliable Singletons(10/10)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Volume Provisioning :</a:t>
            </a:r>
          </a:p>
          <a:p>
            <a:pPr lvl="1">
              <a:buFont typeface="Wingdings" panose="05000000000000000000" pitchFamily="2" charset="2"/>
              <a:buChar char="§"/>
            </a:pPr>
            <a:r>
              <a:rPr lang="en-US" altLang="ko-KR" sz="1400" b="1" dirty="0"/>
              <a:t>The “</a:t>
            </a:r>
            <a:r>
              <a:rPr lang="en-US" altLang="ko-KR" sz="1400" b="1" dirty="0">
                <a:solidFill>
                  <a:srgbClr val="FF0000"/>
                </a:solidFill>
              </a:rPr>
              <a:t>volume.beta.kubernetes.io/storage-class</a:t>
            </a:r>
            <a:r>
              <a:rPr lang="en-US" altLang="ko-KR" sz="1400" b="1" dirty="0"/>
              <a:t>” annotation is what links this claim back up to the storage class we created</a:t>
            </a:r>
            <a:r>
              <a:rPr lang="en-US" altLang="ko-KR" sz="1400" dirty="0"/>
              <a:t>.</a:t>
            </a:r>
          </a:p>
          <a:p>
            <a:pPr lvl="1">
              <a:buFont typeface="Wingdings" panose="05000000000000000000" pitchFamily="2" charset="2"/>
              <a:buChar char="§"/>
            </a:pPr>
            <a:r>
              <a:rPr lang="en-US" altLang="ko-KR" sz="1400" b="1" dirty="0"/>
              <a:t>NOTE : </a:t>
            </a:r>
            <a:r>
              <a:rPr lang="en-US" altLang="ko-KR" sz="1400" b="1" dirty="0">
                <a:solidFill>
                  <a:srgbClr val="FF0000"/>
                </a:solidFill>
              </a:rPr>
              <a:t>Automatic provisioning of a persistent volume is a great feature that makes it significantly easier to build and manage stateful applications in Kubernetes</a:t>
            </a:r>
            <a:r>
              <a:rPr lang="en-US" altLang="ko-KR" sz="1400" dirty="0"/>
              <a:t>. </a:t>
            </a:r>
            <a:r>
              <a:rPr lang="en-US" altLang="ko-KR" sz="1400" b="1" dirty="0"/>
              <a:t>However, the lifespan of these persistent volumes is dictated by the </a:t>
            </a:r>
            <a:r>
              <a:rPr lang="en-US" altLang="ko-KR" sz="1400" b="1" dirty="0">
                <a:solidFill>
                  <a:srgbClr val="FF0000"/>
                </a:solidFill>
              </a:rPr>
              <a:t>reclamation policy </a:t>
            </a:r>
            <a:r>
              <a:rPr lang="en-US" altLang="ko-KR" sz="1400" b="1" dirty="0"/>
              <a:t>of the “</a:t>
            </a:r>
            <a:r>
              <a:rPr lang="en-US" altLang="ko-KR" sz="1400" b="1" dirty="0" err="1"/>
              <a:t>PersistentVolumeClaim</a:t>
            </a:r>
            <a:r>
              <a:rPr lang="en-US" altLang="ko-KR" sz="1400" b="1" dirty="0"/>
              <a:t>” and the default is to bind that lifespan to the lifespan of the Pod that creates the volume</a:t>
            </a:r>
            <a:r>
              <a:rPr lang="en-US" altLang="ko-KR" sz="1400" dirty="0"/>
              <a:t>.</a:t>
            </a:r>
          </a:p>
          <a:p>
            <a:pPr lvl="1">
              <a:buFont typeface="Wingdings" panose="05000000000000000000" pitchFamily="2" charset="2"/>
              <a:buChar char="§"/>
            </a:pPr>
            <a:r>
              <a:rPr lang="en-US" altLang="ko-KR" sz="1400" b="1" dirty="0"/>
              <a:t>NOTE : This means that if you happen to delete the Pod (e.g., via a </a:t>
            </a:r>
            <a:r>
              <a:rPr lang="en-US" altLang="ko-KR" sz="1400" b="1" dirty="0" err="1"/>
              <a:t>scaledown</a:t>
            </a:r>
            <a:r>
              <a:rPr lang="en-US" altLang="ko-KR" sz="1400" b="1" dirty="0"/>
              <a:t> or other event), then the volume is deleted as well</a:t>
            </a:r>
            <a:r>
              <a:rPr lang="en-US" altLang="ko-KR" sz="1400" dirty="0"/>
              <a:t>. </a:t>
            </a:r>
            <a:r>
              <a:rPr lang="en-US" altLang="ko-KR" sz="1400" b="1" dirty="0"/>
              <a:t>While this may be what you want in certain circumstances, you need to </a:t>
            </a:r>
            <a:r>
              <a:rPr lang="en-US" altLang="ko-KR" sz="1400" b="1" dirty="0">
                <a:solidFill>
                  <a:srgbClr val="FF0000"/>
                </a:solidFill>
              </a:rPr>
              <a:t>be careful to ensure that you don’t accidentally delete your persistent volumes</a:t>
            </a:r>
            <a:r>
              <a:rPr lang="en-US" altLang="ko-KR" sz="1400" dirty="0"/>
              <a:t>. </a:t>
            </a:r>
          </a:p>
          <a:p>
            <a:pPr lvl="1">
              <a:buFont typeface="Wingdings" panose="05000000000000000000" pitchFamily="2" charset="2"/>
              <a:buChar char="§"/>
            </a:pPr>
            <a:r>
              <a:rPr lang="en-US" altLang="ko-KR" sz="1400" b="1" dirty="0"/>
              <a:t>Persistent volumes are great for traditional applications that require storage, but if you need to develop </a:t>
            </a:r>
            <a:r>
              <a:rPr lang="en-US" altLang="ko-KR" sz="1400" b="1" dirty="0">
                <a:solidFill>
                  <a:srgbClr val="FF0000"/>
                </a:solidFill>
              </a:rPr>
              <a:t>high-availability</a:t>
            </a:r>
            <a:r>
              <a:rPr lang="en-US" altLang="ko-KR" sz="1400" b="1" dirty="0"/>
              <a:t>, </a:t>
            </a:r>
            <a:r>
              <a:rPr lang="en-US" altLang="ko-KR" sz="1400" b="1" dirty="0">
                <a:solidFill>
                  <a:srgbClr val="FF0000"/>
                </a:solidFill>
              </a:rPr>
              <a:t>scalable storage </a:t>
            </a:r>
            <a:r>
              <a:rPr lang="en-US" altLang="ko-KR" sz="1400" b="1" dirty="0"/>
              <a:t>in a Kubernetes-native fashion, the newly released “</a:t>
            </a:r>
            <a:r>
              <a:rPr lang="en-US" altLang="ko-KR" sz="1400" b="1" dirty="0" err="1">
                <a:solidFill>
                  <a:srgbClr val="FF0000"/>
                </a:solidFill>
              </a:rPr>
              <a:t>StatefulSet</a:t>
            </a:r>
            <a:r>
              <a:rPr lang="en-US" altLang="ko-KR" sz="1400" b="1" dirty="0"/>
              <a:t>“ </a:t>
            </a:r>
            <a:r>
              <a:rPr lang="en-US" altLang="ko-KR" sz="1400" b="1" dirty="0">
                <a:solidFill>
                  <a:srgbClr val="FF0000"/>
                </a:solidFill>
              </a:rPr>
              <a:t>object </a:t>
            </a:r>
            <a:r>
              <a:rPr lang="en-US" altLang="ko-KR" sz="1400" b="1" dirty="0"/>
              <a:t>can be used instead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832735B9-875A-4FE8-A5E6-A66CADCE0A0B}"/>
              </a:ext>
            </a:extLst>
          </p:cNvPr>
          <p:cNvGrpSpPr/>
          <p:nvPr/>
        </p:nvGrpSpPr>
        <p:grpSpPr>
          <a:xfrm>
            <a:off x="2221513" y="3916680"/>
            <a:ext cx="7748974" cy="2492350"/>
            <a:chOff x="2590026" y="3650865"/>
            <a:chExt cx="8458408" cy="2758165"/>
          </a:xfrm>
        </p:grpSpPr>
        <p:pic>
          <p:nvPicPr>
            <p:cNvPr id="4" name="그림 3">
              <a:extLst>
                <a:ext uri="{FF2B5EF4-FFF2-40B4-BE49-F238E27FC236}">
                  <a16:creationId xmlns:a16="http://schemas.microsoft.com/office/drawing/2014/main" id="{C57389C5-37A3-470B-9224-810A593321CB}"/>
                </a:ext>
              </a:extLst>
            </p:cNvPr>
            <p:cNvPicPr>
              <a:picLocks noChangeAspect="1"/>
            </p:cNvPicPr>
            <p:nvPr/>
          </p:nvPicPr>
          <p:blipFill>
            <a:blip r:embed="rId2"/>
            <a:stretch>
              <a:fillRect/>
            </a:stretch>
          </p:blipFill>
          <p:spPr>
            <a:xfrm>
              <a:off x="2590026" y="3650865"/>
              <a:ext cx="3171468" cy="2758165"/>
            </a:xfrm>
            <a:prstGeom prst="rect">
              <a:avLst/>
            </a:prstGeom>
          </p:spPr>
        </p:pic>
        <p:pic>
          <p:nvPicPr>
            <p:cNvPr id="8" name="그림 7">
              <a:extLst>
                <a:ext uri="{FF2B5EF4-FFF2-40B4-BE49-F238E27FC236}">
                  <a16:creationId xmlns:a16="http://schemas.microsoft.com/office/drawing/2014/main" id="{1D2136DA-2917-434D-B19A-41EFFD8FB6C2}"/>
                </a:ext>
              </a:extLst>
            </p:cNvPr>
            <p:cNvPicPr>
              <a:picLocks noChangeAspect="1"/>
            </p:cNvPicPr>
            <p:nvPr/>
          </p:nvPicPr>
          <p:blipFill>
            <a:blip r:embed="rId3"/>
            <a:stretch>
              <a:fillRect/>
            </a:stretch>
          </p:blipFill>
          <p:spPr>
            <a:xfrm>
              <a:off x="6066859" y="4102009"/>
              <a:ext cx="4981575" cy="1581150"/>
            </a:xfrm>
            <a:prstGeom prst="rect">
              <a:avLst/>
            </a:prstGeom>
          </p:spPr>
        </p:pic>
      </p:grpSp>
    </p:spTree>
    <p:extLst>
      <p:ext uri="{BB962C8B-B14F-4D97-AF65-F5344CB8AC3E}">
        <p14:creationId xmlns:p14="http://schemas.microsoft.com/office/powerpoint/2010/main" val="42414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(1/15)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solidFill>
                  <a:srgbClr val="FF0000"/>
                </a:solidFill>
              </a:rPr>
              <a:t>StatefulSets</a:t>
            </a:r>
            <a:r>
              <a:rPr lang="en-US" altLang="ko-KR" sz="1800" b="1" dirty="0"/>
              <a:t> :</a:t>
            </a:r>
          </a:p>
          <a:p>
            <a:pPr lvl="1">
              <a:buFont typeface="Wingdings" panose="05000000000000000000" pitchFamily="2" charset="2"/>
              <a:buChar char="§"/>
            </a:pPr>
            <a:r>
              <a:rPr lang="en-US" altLang="ko-KR" sz="1400" b="1" dirty="0"/>
              <a:t>When Kubernetes was first developed, there was a heavy emphasis on </a:t>
            </a:r>
            <a:r>
              <a:rPr lang="en-US" altLang="ko-KR" sz="1400" b="1" dirty="0">
                <a:solidFill>
                  <a:srgbClr val="FF0000"/>
                </a:solidFill>
              </a:rPr>
              <a:t>homogeneity</a:t>
            </a:r>
            <a:r>
              <a:rPr lang="en-US" altLang="ko-KR" sz="1400" b="1" dirty="0"/>
              <a:t> for all replicas in a replicated set</a:t>
            </a:r>
            <a:r>
              <a:rPr lang="en-US" altLang="ko-KR" sz="1400" dirty="0"/>
              <a:t>. In this design, </a:t>
            </a:r>
            <a:r>
              <a:rPr lang="en-US" altLang="ko-KR" sz="1400" b="1" dirty="0"/>
              <a:t>no replica had an individual identity or configuration</a:t>
            </a:r>
            <a:r>
              <a:rPr lang="en-US" altLang="ko-KR" sz="1400" dirty="0"/>
              <a:t>. It was up to the application developer to determine a design that could establish this identity for their application.</a:t>
            </a:r>
          </a:p>
          <a:p>
            <a:pPr lvl="1">
              <a:buFont typeface="Wingdings" panose="05000000000000000000" pitchFamily="2" charset="2"/>
              <a:buChar char="§"/>
            </a:pPr>
            <a:r>
              <a:rPr lang="en-US" altLang="ko-KR" sz="1400" b="1" dirty="0"/>
              <a:t>While this approach provides a great deal of isolation for the orchestration system, it also makes it quite difficult to develop stateful applications</a:t>
            </a:r>
            <a:r>
              <a:rPr lang="en-US" altLang="ko-KR" sz="1400" dirty="0"/>
              <a:t>. After significant input from the community and a great deal of experimentation with various existing stateful applications, “</a:t>
            </a:r>
            <a:r>
              <a:rPr lang="en-US" altLang="ko-KR" sz="1400" b="1" dirty="0" err="1">
                <a:solidFill>
                  <a:srgbClr val="FF0000"/>
                </a:solidFill>
              </a:rPr>
              <a:t>StatefulSets</a:t>
            </a:r>
            <a:r>
              <a:rPr lang="en-US" altLang="ko-KR" sz="1400" b="1" dirty="0"/>
              <a:t>”</a:t>
            </a:r>
            <a:r>
              <a:rPr lang="en-US" altLang="ko-KR" sz="1400" dirty="0"/>
              <a:t> </a:t>
            </a:r>
            <a:r>
              <a:rPr lang="en-US" altLang="ko-KR" sz="1400" b="1" dirty="0"/>
              <a:t>were introduced in Kubernetes version 1.5</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0399287-32D2-4B03-AE7D-E8D8ADC3FCF6}"/>
              </a:ext>
            </a:extLst>
          </p:cNvPr>
          <p:cNvPicPr>
            <a:picLocks noChangeAspect="1"/>
          </p:cNvPicPr>
          <p:nvPr/>
        </p:nvPicPr>
        <p:blipFill>
          <a:blip r:embed="rId2"/>
          <a:stretch>
            <a:fillRect/>
          </a:stretch>
        </p:blipFill>
        <p:spPr>
          <a:xfrm>
            <a:off x="2724150" y="2634923"/>
            <a:ext cx="6743700" cy="3217847"/>
          </a:xfrm>
          <a:prstGeom prst="rect">
            <a:avLst/>
          </a:prstGeom>
        </p:spPr>
      </p:pic>
      <p:sp>
        <p:nvSpPr>
          <p:cNvPr id="8" name="사각형: 둥근 모서리 7">
            <a:extLst>
              <a:ext uri="{FF2B5EF4-FFF2-40B4-BE49-F238E27FC236}">
                <a16:creationId xmlns:a16="http://schemas.microsoft.com/office/drawing/2014/main" id="{8CC8BAD2-84FF-97CC-BD47-EF6368BBBCEA}"/>
              </a:ext>
            </a:extLst>
          </p:cNvPr>
          <p:cNvSpPr/>
          <p:nvPr/>
        </p:nvSpPr>
        <p:spPr>
          <a:xfrm>
            <a:off x="5623560" y="2811780"/>
            <a:ext cx="1043940" cy="291846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D6683DBB-3A8F-1363-2E46-79B7A946193B}"/>
              </a:ext>
            </a:extLst>
          </p:cNvPr>
          <p:cNvSpPr/>
          <p:nvPr/>
        </p:nvSpPr>
        <p:spPr>
          <a:xfrm>
            <a:off x="8191500" y="2827020"/>
            <a:ext cx="1074420" cy="288798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58270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(2/15)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Properties of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err="1">
                <a:solidFill>
                  <a:srgbClr val="FF0000"/>
                </a:solidFill>
              </a:rPr>
              <a:t>StatefulSets</a:t>
            </a:r>
            <a:r>
              <a:rPr lang="en-US" altLang="ko-KR" sz="1400" b="1" dirty="0"/>
              <a:t> </a:t>
            </a:r>
            <a:r>
              <a:rPr lang="en-US" altLang="ko-KR" sz="1400" b="1" dirty="0">
                <a:solidFill>
                  <a:srgbClr val="FF0000"/>
                </a:solidFill>
              </a:rPr>
              <a:t>are replicated groups of Pods</a:t>
            </a:r>
            <a:r>
              <a:rPr lang="en-US" altLang="ko-KR" sz="1400" b="1" dirty="0"/>
              <a:t>, similar to </a:t>
            </a:r>
            <a:r>
              <a:rPr lang="en-US" altLang="ko-KR" sz="1400" b="1" dirty="0" err="1"/>
              <a:t>ReplicaSets</a:t>
            </a:r>
            <a:r>
              <a:rPr lang="en-US" altLang="ko-KR" sz="1400" dirty="0"/>
              <a:t>. But unlike a </a:t>
            </a:r>
            <a:r>
              <a:rPr lang="en-US" altLang="ko-KR" sz="1400" dirty="0" err="1"/>
              <a:t>ReplicaSet</a:t>
            </a:r>
            <a:r>
              <a:rPr lang="en-US" altLang="ko-KR" sz="1400" dirty="0"/>
              <a:t>, they have certain </a:t>
            </a:r>
            <a:r>
              <a:rPr lang="en-US" altLang="ko-KR" sz="1400" b="1" dirty="0"/>
              <a:t>unique properties </a:t>
            </a:r>
            <a:r>
              <a:rPr lang="en-US" altLang="ko-KR" sz="1400" dirty="0"/>
              <a:t>:</a:t>
            </a:r>
          </a:p>
          <a:p>
            <a:pPr lvl="2">
              <a:buFont typeface="Wingdings" panose="05000000000000000000" pitchFamily="2" charset="2"/>
              <a:buChar char="§"/>
            </a:pPr>
            <a:r>
              <a:rPr lang="en-US" altLang="ko-KR" sz="1400" b="1" dirty="0">
                <a:solidFill>
                  <a:srgbClr val="FF0000"/>
                </a:solidFill>
              </a:rPr>
              <a:t>Each replica gets a persistent hostname with a unique index </a:t>
            </a:r>
            <a:r>
              <a:rPr lang="en-US" altLang="ko-KR" sz="1400" dirty="0"/>
              <a:t>(e.g., database-0, database-1, etc.).</a:t>
            </a:r>
          </a:p>
          <a:p>
            <a:pPr lvl="2">
              <a:buFont typeface="Wingdings" panose="05000000000000000000" pitchFamily="2" charset="2"/>
              <a:buChar char="§"/>
            </a:pPr>
            <a:r>
              <a:rPr lang="en-US" altLang="ko-KR" sz="1400" b="1" dirty="0">
                <a:solidFill>
                  <a:srgbClr val="FF0000"/>
                </a:solidFill>
              </a:rPr>
              <a:t>Each replica is created in order from lowest to highest index</a:t>
            </a:r>
            <a:r>
              <a:rPr lang="en-US" altLang="ko-KR" sz="1400" b="1" dirty="0"/>
              <a:t>, and creation will block until the Pod at the previous index is healthy and available</a:t>
            </a:r>
            <a:r>
              <a:rPr lang="en-US" altLang="ko-KR" sz="1400" dirty="0"/>
              <a:t>. </a:t>
            </a:r>
            <a:r>
              <a:rPr lang="en-US" altLang="ko-KR" sz="1400" b="1" dirty="0"/>
              <a:t>This also applies to scaling up</a:t>
            </a:r>
            <a:r>
              <a:rPr lang="en-US" altLang="ko-KR" sz="1400" dirty="0"/>
              <a:t>.</a:t>
            </a:r>
          </a:p>
          <a:p>
            <a:pPr lvl="2">
              <a:buFont typeface="Wingdings" panose="05000000000000000000" pitchFamily="2" charset="2"/>
              <a:buChar char="§"/>
            </a:pPr>
            <a:r>
              <a:rPr lang="en-US" altLang="ko-KR" sz="1400" b="1" dirty="0">
                <a:solidFill>
                  <a:srgbClr val="FF0000"/>
                </a:solidFill>
              </a:rPr>
              <a:t>When a </a:t>
            </a:r>
            <a:r>
              <a:rPr lang="en-US" altLang="ko-KR" sz="1400" b="1" dirty="0" err="1">
                <a:solidFill>
                  <a:srgbClr val="FF0000"/>
                </a:solidFill>
              </a:rPr>
              <a:t>StatefulSet</a:t>
            </a:r>
            <a:r>
              <a:rPr lang="en-US" altLang="ko-KR" sz="1400" b="1" dirty="0">
                <a:solidFill>
                  <a:srgbClr val="FF0000"/>
                </a:solidFill>
              </a:rPr>
              <a:t> is deleted, each of the managed replica Pods is also deleted in order from highest to lowest</a:t>
            </a:r>
            <a:r>
              <a:rPr lang="en-US" altLang="ko-KR" sz="1400" dirty="0"/>
              <a:t>. </a:t>
            </a:r>
            <a:r>
              <a:rPr lang="en-US" altLang="ko-KR" sz="1400" b="1" dirty="0"/>
              <a:t>This also applies to scaling down the number of replicas</a:t>
            </a:r>
            <a:r>
              <a:rPr lang="en-US" altLang="ko-KR" sz="1400" dirty="0"/>
              <a:t>.</a:t>
            </a:r>
          </a:p>
          <a:p>
            <a:pPr lvl="1">
              <a:buFont typeface="Wingdings" panose="05000000000000000000" pitchFamily="2" charset="2"/>
              <a:buChar char="§"/>
            </a:pPr>
            <a:r>
              <a:rPr lang="en-US" altLang="ko-KR" sz="1400" b="1" dirty="0"/>
              <a:t>It turns out that this simple set of requirements </a:t>
            </a:r>
            <a:r>
              <a:rPr lang="en-US" altLang="ko-KR" sz="1400" b="1" dirty="0">
                <a:solidFill>
                  <a:srgbClr val="FF0000"/>
                </a:solidFill>
              </a:rPr>
              <a:t>makes it drastically easier to deploy storage applications </a:t>
            </a:r>
            <a:r>
              <a:rPr lang="en-US" altLang="ko-KR" sz="1400" b="1" dirty="0"/>
              <a:t>on Kubernetes</a:t>
            </a:r>
            <a:r>
              <a:rPr lang="en-US" altLang="ko-KR" sz="1400" dirty="0"/>
              <a:t>. For example, </a:t>
            </a:r>
            <a:r>
              <a:rPr lang="en-US" altLang="ko-KR" sz="1400" b="1" dirty="0"/>
              <a:t>the combination of stable hostnames </a:t>
            </a:r>
            <a:r>
              <a:rPr lang="en-US" altLang="ko-KR" sz="1400" dirty="0"/>
              <a:t>(e.g., “database-0”) and the ordering constraints mean that all replicas, other than the first one, can </a:t>
            </a:r>
            <a:r>
              <a:rPr lang="en-US" altLang="ko-KR" sz="1400" b="1" dirty="0"/>
              <a:t>reliably</a:t>
            </a:r>
            <a:r>
              <a:rPr lang="en-US" altLang="ko-KR" sz="1400" dirty="0"/>
              <a:t> </a:t>
            </a:r>
            <a:r>
              <a:rPr lang="en-US" altLang="ko-KR" sz="1400" b="1" dirty="0"/>
              <a:t>reference</a:t>
            </a:r>
            <a:r>
              <a:rPr lang="en-US" altLang="ko-KR" sz="1400" dirty="0"/>
              <a:t> “database-0” for the purposes of </a:t>
            </a:r>
            <a:r>
              <a:rPr lang="en-US" altLang="ko-KR" sz="1400" b="1" dirty="0"/>
              <a:t>discovery and establishing replication quorum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9B0A5B8-2DEC-4628-A188-C3FFBE923C7A}"/>
              </a:ext>
            </a:extLst>
          </p:cNvPr>
          <p:cNvGrpSpPr/>
          <p:nvPr/>
        </p:nvGrpSpPr>
        <p:grpSpPr>
          <a:xfrm>
            <a:off x="1821180" y="3751087"/>
            <a:ext cx="8549639" cy="2332507"/>
            <a:chOff x="1607820" y="3753530"/>
            <a:chExt cx="10157528" cy="2579478"/>
          </a:xfrm>
        </p:grpSpPr>
        <p:pic>
          <p:nvPicPr>
            <p:cNvPr id="4" name="그림 3">
              <a:extLst>
                <a:ext uri="{FF2B5EF4-FFF2-40B4-BE49-F238E27FC236}">
                  <a16:creationId xmlns:a16="http://schemas.microsoft.com/office/drawing/2014/main" id="{5C5075AE-A708-4D7D-9F21-B36026933823}"/>
                </a:ext>
              </a:extLst>
            </p:cNvPr>
            <p:cNvPicPr>
              <a:picLocks noChangeAspect="1"/>
            </p:cNvPicPr>
            <p:nvPr/>
          </p:nvPicPr>
          <p:blipFill>
            <a:blip r:embed="rId2"/>
            <a:stretch>
              <a:fillRect/>
            </a:stretch>
          </p:blipFill>
          <p:spPr>
            <a:xfrm>
              <a:off x="1607820" y="3753530"/>
              <a:ext cx="5025390" cy="2579478"/>
            </a:xfrm>
            <a:prstGeom prst="rect">
              <a:avLst/>
            </a:prstGeom>
          </p:spPr>
        </p:pic>
        <p:pic>
          <p:nvPicPr>
            <p:cNvPr id="8" name="그림 7">
              <a:extLst>
                <a:ext uri="{FF2B5EF4-FFF2-40B4-BE49-F238E27FC236}">
                  <a16:creationId xmlns:a16="http://schemas.microsoft.com/office/drawing/2014/main" id="{5F20FAEF-27CF-49A2-9649-96D4F92F1832}"/>
                </a:ext>
              </a:extLst>
            </p:cNvPr>
            <p:cNvPicPr>
              <a:picLocks noChangeAspect="1"/>
            </p:cNvPicPr>
            <p:nvPr/>
          </p:nvPicPr>
          <p:blipFill>
            <a:blip r:embed="rId3"/>
            <a:stretch>
              <a:fillRect/>
            </a:stretch>
          </p:blipFill>
          <p:spPr>
            <a:xfrm>
              <a:off x="6902295" y="3753530"/>
              <a:ext cx="4863053" cy="2556136"/>
            </a:xfrm>
            <a:prstGeom prst="rect">
              <a:avLst/>
            </a:prstGeom>
          </p:spPr>
        </p:pic>
      </p:grpSp>
    </p:spTree>
    <p:extLst>
      <p:ext uri="{BB962C8B-B14F-4D97-AF65-F5344CB8AC3E}">
        <p14:creationId xmlns:p14="http://schemas.microsoft.com/office/powerpoint/2010/main" val="494472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(3/15)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Manually Replicated MongoDB with </a:t>
            </a:r>
            <a:r>
              <a:rPr lang="en-US" altLang="ko-KR" sz="1800" b="1" dirty="0" err="1">
                <a:solidFill>
                  <a:srgbClr val="FF0000"/>
                </a:solidFill>
              </a:rPr>
              <a:t>StatefulSets</a:t>
            </a:r>
            <a:r>
              <a:rPr lang="en-US" altLang="ko-KR" sz="1800" b="1" dirty="0"/>
              <a:t> :</a:t>
            </a:r>
          </a:p>
          <a:p>
            <a:pPr lvl="1">
              <a:buFont typeface="Wingdings" panose="05000000000000000000" pitchFamily="2" charset="2"/>
              <a:buChar char="§"/>
            </a:pPr>
            <a:r>
              <a:rPr lang="en-US" altLang="ko-KR" sz="1400" b="1" dirty="0"/>
              <a:t>Here we’ll deploy a replicated MongoDB cluster</a:t>
            </a:r>
            <a:r>
              <a:rPr lang="en-US" altLang="ko-KR" sz="1400" dirty="0"/>
              <a:t>. </a:t>
            </a:r>
            <a:r>
              <a:rPr lang="en-US" altLang="ko-KR" sz="1400" b="1" dirty="0"/>
              <a:t>To start, we’ll create a </a:t>
            </a:r>
            <a:r>
              <a:rPr lang="en-US" altLang="ko-KR" sz="1400" b="1" dirty="0">
                <a:solidFill>
                  <a:srgbClr val="FF0000"/>
                </a:solidFill>
              </a:rPr>
              <a:t>replicated set </a:t>
            </a:r>
            <a:r>
              <a:rPr lang="en-US" altLang="ko-KR" sz="1400" b="1" dirty="0"/>
              <a:t>of three MongoDB Pods</a:t>
            </a:r>
            <a:r>
              <a:rPr lang="en-US" altLang="ko-KR" sz="1400" dirty="0"/>
              <a:t> </a:t>
            </a:r>
            <a:r>
              <a:rPr lang="en-US" altLang="ko-KR" sz="1400" b="1" dirty="0"/>
              <a:t>using a </a:t>
            </a:r>
            <a:r>
              <a:rPr lang="en-US" altLang="ko-KR" sz="1400" b="1" dirty="0" err="1">
                <a:solidFill>
                  <a:srgbClr val="FF0000"/>
                </a:solidFill>
              </a:rPr>
              <a:t>StatefulSet</a:t>
            </a:r>
            <a:r>
              <a:rPr lang="en-US" altLang="ko-KR" sz="1400" b="1" dirty="0">
                <a:solidFill>
                  <a:srgbClr val="FF0000"/>
                </a:solidFill>
              </a:rPr>
              <a:t> </a:t>
            </a:r>
            <a:r>
              <a:rPr lang="en-US" altLang="ko-KR" sz="1400" b="1" dirty="0"/>
              <a:t>object</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BDA2135-B044-4CB4-AFC3-80767EDAC186}"/>
              </a:ext>
            </a:extLst>
          </p:cNvPr>
          <p:cNvPicPr>
            <a:picLocks noChangeAspect="1"/>
          </p:cNvPicPr>
          <p:nvPr/>
        </p:nvPicPr>
        <p:blipFill>
          <a:blip r:embed="rId2"/>
          <a:stretch>
            <a:fillRect/>
          </a:stretch>
        </p:blipFill>
        <p:spPr>
          <a:xfrm>
            <a:off x="1333500" y="4208755"/>
            <a:ext cx="9525000" cy="2200275"/>
          </a:xfrm>
          <a:prstGeom prst="rect">
            <a:avLst/>
          </a:prstGeom>
          <a:solidFill>
            <a:schemeClr val="accent2"/>
          </a:solidFill>
          <a:ln>
            <a:solidFill>
              <a:schemeClr val="bg1">
                <a:lumMod val="50000"/>
              </a:schemeClr>
            </a:solidFill>
          </a:ln>
        </p:spPr>
      </p:pic>
      <p:sp>
        <p:nvSpPr>
          <p:cNvPr id="11" name="화살표: 아래쪽 10">
            <a:extLst>
              <a:ext uri="{FF2B5EF4-FFF2-40B4-BE49-F238E27FC236}">
                <a16:creationId xmlns:a16="http://schemas.microsoft.com/office/drawing/2014/main" id="{CA840332-312E-44AB-935D-D64075F39114}"/>
              </a:ext>
            </a:extLst>
          </p:cNvPr>
          <p:cNvSpPr/>
          <p:nvPr/>
        </p:nvSpPr>
        <p:spPr>
          <a:xfrm>
            <a:off x="5882640" y="3925545"/>
            <a:ext cx="426720" cy="28321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그룹 12">
            <a:extLst>
              <a:ext uri="{FF2B5EF4-FFF2-40B4-BE49-F238E27FC236}">
                <a16:creationId xmlns:a16="http://schemas.microsoft.com/office/drawing/2014/main" id="{EC8EEAA7-213E-4E73-A00B-ACD403719F16}"/>
              </a:ext>
            </a:extLst>
          </p:cNvPr>
          <p:cNvGrpSpPr/>
          <p:nvPr/>
        </p:nvGrpSpPr>
        <p:grpSpPr>
          <a:xfrm>
            <a:off x="2522220" y="1649541"/>
            <a:ext cx="7147560" cy="2246769"/>
            <a:chOff x="2522220" y="1649541"/>
            <a:chExt cx="7147560" cy="2246769"/>
          </a:xfrm>
        </p:grpSpPr>
        <p:grpSp>
          <p:nvGrpSpPr>
            <p:cNvPr id="10" name="그룹 9">
              <a:extLst>
                <a:ext uri="{FF2B5EF4-FFF2-40B4-BE49-F238E27FC236}">
                  <a16:creationId xmlns:a16="http://schemas.microsoft.com/office/drawing/2014/main" id="{BAB269AA-D977-4155-98B8-B19A1C93BD6A}"/>
                </a:ext>
              </a:extLst>
            </p:cNvPr>
            <p:cNvGrpSpPr/>
            <p:nvPr/>
          </p:nvGrpSpPr>
          <p:grpSpPr>
            <a:xfrm>
              <a:off x="2522220" y="1649541"/>
              <a:ext cx="7147560" cy="2246769"/>
              <a:chOff x="1988820" y="1649541"/>
              <a:chExt cx="7147560" cy="2246769"/>
            </a:xfrm>
          </p:grpSpPr>
          <p:sp>
            <p:nvSpPr>
              <p:cNvPr id="8" name="직사각형 7">
                <a:extLst>
                  <a:ext uri="{FF2B5EF4-FFF2-40B4-BE49-F238E27FC236}">
                    <a16:creationId xmlns:a16="http://schemas.microsoft.com/office/drawing/2014/main" id="{C74DF761-70EA-4F1F-8068-D0310BCCEB76}"/>
                  </a:ext>
                </a:extLst>
              </p:cNvPr>
              <p:cNvSpPr/>
              <p:nvPr/>
            </p:nvSpPr>
            <p:spPr>
              <a:xfrm>
                <a:off x="1988820" y="1649541"/>
                <a:ext cx="3573780" cy="2246769"/>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err="1">
                    <a:solidFill>
                      <a:srgbClr val="FF0000"/>
                    </a:solidFill>
                  </a:rPr>
                  <a:t>StatefulSet</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mongo</a:t>
                </a:r>
              </a:p>
              <a:p>
                <a:r>
                  <a:rPr lang="en-US" altLang="ko-KR" sz="1000" b="1" dirty="0"/>
                  <a:t>spec:</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a:t>
                </a:r>
                <a:r>
                  <a:rPr lang="en-US" altLang="ko-KR" sz="1000" b="1" dirty="0">
                    <a:solidFill>
                      <a:srgbClr val="FF0000"/>
                    </a:solidFill>
                  </a:rPr>
                  <a:t>mongo</a:t>
                </a:r>
              </a:p>
              <a:p>
                <a:r>
                  <a:rPr lang="en-US" altLang="ko-KR" sz="1000" b="1" dirty="0"/>
                  <a:t>  </a:t>
                </a:r>
                <a:r>
                  <a:rPr lang="en-US" altLang="ko-KR" sz="1000" b="1" dirty="0" err="1"/>
                  <a:t>serviceName</a:t>
                </a:r>
                <a:r>
                  <a:rPr lang="en-US" altLang="ko-KR" sz="1000" b="1" dirty="0"/>
                  <a:t>: "</a:t>
                </a:r>
                <a:r>
                  <a:rPr lang="en-US" altLang="ko-KR" sz="1000" b="1" dirty="0">
                    <a:solidFill>
                      <a:srgbClr val="FF0000"/>
                    </a:solidFill>
                  </a:rPr>
                  <a:t>mongo</a:t>
                </a:r>
                <a:r>
                  <a:rPr lang="en-US" altLang="ko-KR" sz="1000" b="1" dirty="0"/>
                  <a:t>"</a:t>
                </a:r>
              </a:p>
              <a:p>
                <a:r>
                  <a:rPr lang="en-US" altLang="ko-KR" sz="1000" b="1" dirty="0"/>
                  <a:t>  replicas: </a:t>
                </a:r>
                <a:r>
                  <a:rPr lang="en-US" altLang="ko-KR" sz="1000" b="1" dirty="0">
                    <a:solidFill>
                      <a:srgbClr val="FF0000"/>
                    </a:solidFill>
                  </a:rPr>
                  <a:t>3</a:t>
                </a: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a:solidFill>
                      <a:srgbClr val="FF0000"/>
                    </a:solidFill>
                  </a:rPr>
                  <a:t>mongo</a:t>
                </a:r>
              </a:p>
            </p:txBody>
          </p:sp>
          <p:sp>
            <p:nvSpPr>
              <p:cNvPr id="9" name="직사각형 8">
                <a:extLst>
                  <a:ext uri="{FF2B5EF4-FFF2-40B4-BE49-F238E27FC236}">
                    <a16:creationId xmlns:a16="http://schemas.microsoft.com/office/drawing/2014/main" id="{0AB7D9E7-CF9B-4CBA-89A4-37F716CADA1D}"/>
                  </a:ext>
                </a:extLst>
              </p:cNvPr>
              <p:cNvSpPr/>
              <p:nvPr/>
            </p:nvSpPr>
            <p:spPr>
              <a:xfrm>
                <a:off x="5562600" y="1649541"/>
                <a:ext cx="3573780" cy="2246769"/>
              </a:xfrm>
              <a:prstGeom prst="rect">
                <a:avLst/>
              </a:prstGeom>
              <a:ln>
                <a:solidFill>
                  <a:schemeClr val="bg1">
                    <a:lumMod val="50000"/>
                  </a:schemeClr>
                </a:solidFill>
              </a:ln>
            </p:spPr>
            <p:txBody>
              <a:bodyPr wrap="square">
                <a:spAutoFit/>
              </a:bodyPr>
              <a:lstStyle/>
              <a:p>
                <a:pPr lvl="0"/>
                <a:r>
                  <a:rPr lang="en-US" altLang="ko-KR" sz="1000" b="1" dirty="0">
                    <a:solidFill>
                      <a:prstClr val="black"/>
                    </a:solidFill>
                  </a:rPr>
                  <a:t>   spec:</a:t>
                </a:r>
              </a:p>
              <a:p>
                <a:pPr lvl="0"/>
                <a:r>
                  <a:rPr lang="en-US" altLang="ko-KR" sz="1000" b="1" dirty="0">
                    <a:solidFill>
                      <a:prstClr val="black"/>
                    </a:solidFill>
                  </a:rPr>
                  <a:t>      containers:</a:t>
                </a:r>
              </a:p>
              <a:p>
                <a:pPr lvl="0"/>
                <a:r>
                  <a:rPr lang="en-US" altLang="ko-KR" sz="1000" b="1" dirty="0">
                    <a:solidFill>
                      <a:prstClr val="black"/>
                    </a:solidFill>
                  </a:rPr>
                  <a:t>      - name: </a:t>
                </a:r>
                <a:r>
                  <a:rPr lang="en-US" altLang="ko-KR" sz="1000" b="1" dirty="0" err="1">
                    <a:solidFill>
                      <a:srgbClr val="FF0000"/>
                    </a:solidFill>
                  </a:rPr>
                  <a:t>mongodb</a:t>
                </a:r>
                <a:endParaRPr lang="en-US" altLang="ko-KR" sz="1000" b="1" dirty="0">
                  <a:solidFill>
                    <a:srgbClr val="FF0000"/>
                  </a:solidFill>
                </a:endParaRPr>
              </a:p>
              <a:p>
                <a:pPr lvl="0"/>
                <a:r>
                  <a:rPr lang="en-US" altLang="ko-KR" sz="1000" b="1" dirty="0">
                    <a:solidFill>
                      <a:prstClr val="black"/>
                    </a:solidFill>
                  </a:rPr>
                  <a:t>        image: </a:t>
                </a:r>
                <a:r>
                  <a:rPr lang="en-US" altLang="ko-KR" sz="1000" b="1" dirty="0">
                    <a:solidFill>
                      <a:srgbClr val="FF0000"/>
                    </a:solidFill>
                  </a:rPr>
                  <a:t>mongo:3.4.1</a:t>
                </a:r>
              </a:p>
              <a:p>
                <a:pPr lvl="0"/>
                <a:r>
                  <a:rPr lang="en-US" altLang="ko-KR" sz="1000" b="1" dirty="0">
                    <a:solidFill>
                      <a:prstClr val="black"/>
                    </a:solidFill>
                  </a:rPr>
                  <a:t>        command:</a:t>
                </a:r>
              </a:p>
              <a:p>
                <a:pPr lvl="0"/>
                <a:r>
                  <a:rPr lang="en-US" altLang="ko-KR" sz="1000" b="1" dirty="0">
                    <a:solidFill>
                      <a:prstClr val="black"/>
                    </a:solidFill>
                  </a:rPr>
                  <a:t>        - </a:t>
                </a:r>
                <a:r>
                  <a:rPr lang="en-US" altLang="ko-KR" sz="1000" b="1" dirty="0" err="1">
                    <a:solidFill>
                      <a:srgbClr val="FF0000"/>
                    </a:solidFill>
                  </a:rPr>
                  <a:t>mongod</a:t>
                </a:r>
                <a:endParaRPr lang="en-US" altLang="ko-KR" sz="1000" b="1" dirty="0">
                  <a:solidFill>
                    <a:srgbClr val="FF0000"/>
                  </a:solidFill>
                </a:endParaRPr>
              </a:p>
              <a:p>
                <a:pPr lvl="0"/>
                <a:r>
                  <a:rPr lang="en-US" altLang="ko-KR" sz="1000" b="1" dirty="0">
                    <a:solidFill>
                      <a:prstClr val="black"/>
                    </a:solidFill>
                  </a:rPr>
                  <a:t>        - </a:t>
                </a:r>
                <a:r>
                  <a:rPr lang="en-US" altLang="ko-KR" sz="1000" b="1" dirty="0">
                    <a:solidFill>
                      <a:srgbClr val="FF0000"/>
                    </a:solidFill>
                  </a:rPr>
                  <a:t>--</a:t>
                </a:r>
                <a:r>
                  <a:rPr lang="en-US" altLang="ko-KR" sz="1000" b="1" dirty="0" err="1">
                    <a:solidFill>
                      <a:srgbClr val="FF0000"/>
                    </a:solidFill>
                  </a:rPr>
                  <a:t>replSet</a:t>
                </a:r>
                <a:endParaRPr lang="en-US" altLang="ko-KR" sz="1000" b="1" dirty="0">
                  <a:solidFill>
                    <a:srgbClr val="FF0000"/>
                  </a:solidFill>
                </a:endParaRPr>
              </a:p>
              <a:p>
                <a:pPr lvl="0"/>
                <a:r>
                  <a:rPr lang="en-US" altLang="ko-KR" sz="1000" b="1" dirty="0">
                    <a:solidFill>
                      <a:prstClr val="black"/>
                    </a:solidFill>
                  </a:rPr>
                  <a:t>        - </a:t>
                </a:r>
                <a:r>
                  <a:rPr lang="en-US" altLang="ko-KR" sz="1000" b="1" dirty="0">
                    <a:solidFill>
                      <a:srgbClr val="FF0000"/>
                    </a:solidFill>
                  </a:rPr>
                  <a:t>rs0</a:t>
                </a:r>
              </a:p>
              <a:p>
                <a:pPr lvl="0"/>
                <a:r>
                  <a:rPr lang="en-US" altLang="ko-KR" sz="1000" b="1" dirty="0">
                    <a:solidFill>
                      <a:prstClr val="black"/>
                    </a:solidFill>
                  </a:rPr>
                  <a:t>        ports:</a:t>
                </a:r>
              </a:p>
              <a:p>
                <a:pPr lvl="0"/>
                <a:r>
                  <a:rPr lang="en-US" altLang="ko-KR" sz="1000" b="1" dirty="0">
                    <a:solidFill>
                      <a:prstClr val="black"/>
                    </a:solidFill>
                  </a:rPr>
                  <a:t>        - </a:t>
                </a:r>
                <a:r>
                  <a:rPr lang="en-US" altLang="ko-KR" sz="1000" b="1" dirty="0" err="1">
                    <a:solidFill>
                      <a:prstClr val="black"/>
                    </a:solidFill>
                  </a:rPr>
                  <a:t>containerPort</a:t>
                </a:r>
                <a:r>
                  <a:rPr lang="en-US" altLang="ko-KR" sz="1000" b="1" dirty="0">
                    <a:solidFill>
                      <a:prstClr val="black"/>
                    </a:solidFill>
                  </a:rPr>
                  <a:t>: </a:t>
                </a:r>
                <a:r>
                  <a:rPr lang="en-US" altLang="ko-KR" sz="1000" b="1" dirty="0">
                    <a:solidFill>
                      <a:srgbClr val="FF0000"/>
                    </a:solidFill>
                  </a:rPr>
                  <a:t>27017</a:t>
                </a:r>
              </a:p>
              <a:p>
                <a:pPr lvl="0"/>
                <a:r>
                  <a:rPr lang="en-US" altLang="ko-KR" sz="1000" b="1" dirty="0">
                    <a:solidFill>
                      <a:prstClr val="black"/>
                    </a:solidFill>
                  </a:rPr>
                  <a:t>          name: </a:t>
                </a:r>
                <a:r>
                  <a:rPr lang="en-US" altLang="ko-KR" sz="1000" b="1" dirty="0">
                    <a:solidFill>
                      <a:srgbClr val="FF0000"/>
                    </a:solidFill>
                  </a:rPr>
                  <a:t>peer</a:t>
                </a: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p:txBody>
          </p:sp>
        </p:grpSp>
        <p:sp>
          <p:nvSpPr>
            <p:cNvPr id="12" name="TextBox 11">
              <a:extLst>
                <a:ext uri="{FF2B5EF4-FFF2-40B4-BE49-F238E27FC236}">
                  <a16:creationId xmlns:a16="http://schemas.microsoft.com/office/drawing/2014/main" id="{13AFB258-9E5B-4A3B-8AAE-C92AAED33F1C}"/>
                </a:ext>
              </a:extLst>
            </p:cNvPr>
            <p:cNvSpPr txBox="1"/>
            <p:nvPr/>
          </p:nvSpPr>
          <p:spPr>
            <a:xfrm>
              <a:off x="8270037" y="1653162"/>
              <a:ext cx="1399743" cy="246221"/>
            </a:xfrm>
            <a:prstGeom prst="rect">
              <a:avLst/>
            </a:prstGeom>
            <a:noFill/>
          </p:spPr>
          <p:txBody>
            <a:bodyPr wrap="none" rtlCol="0">
              <a:spAutoFit/>
            </a:bodyPr>
            <a:lstStyle/>
            <a:p>
              <a:pPr algn="ctr"/>
              <a:r>
                <a:rPr lang="en-US" altLang="ko-KR" sz="1000" b="1" dirty="0"/>
                <a:t>mongo-</a:t>
              </a:r>
              <a:r>
                <a:rPr lang="en-US" altLang="ko-KR" sz="1000" b="1" dirty="0" err="1"/>
                <a:t>simple.yaml</a:t>
              </a:r>
              <a:endParaRPr lang="ko-KR" altLang="en-US" sz="1000" b="1" dirty="0"/>
            </a:p>
          </p:txBody>
        </p:sp>
      </p:grpSp>
      <p:sp>
        <p:nvSpPr>
          <p:cNvPr id="14" name="직사각형 13">
            <a:extLst>
              <a:ext uri="{FF2B5EF4-FFF2-40B4-BE49-F238E27FC236}">
                <a16:creationId xmlns:a16="http://schemas.microsoft.com/office/drawing/2014/main" id="{51A01958-6262-EF3F-4737-27C7F98F7A14}"/>
              </a:ext>
            </a:extLst>
          </p:cNvPr>
          <p:cNvSpPr/>
          <p:nvPr/>
        </p:nvSpPr>
        <p:spPr>
          <a:xfrm>
            <a:off x="1402080" y="5715000"/>
            <a:ext cx="1836420" cy="3609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33250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(4/15)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Manually Replicated MongoDB with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The definition is similar to the </a:t>
            </a:r>
            <a:r>
              <a:rPr lang="en-US" altLang="ko-KR" sz="1400" b="1" dirty="0" err="1"/>
              <a:t>ReplicaSet</a:t>
            </a:r>
            <a:r>
              <a:rPr lang="en-US" altLang="ko-KR" sz="1400" b="1" dirty="0"/>
              <a:t> definitions</a:t>
            </a:r>
            <a:r>
              <a:rPr lang="en-US" altLang="ko-KR" sz="1400" dirty="0"/>
              <a:t>. </a:t>
            </a:r>
            <a:r>
              <a:rPr lang="en-US" altLang="ko-KR" sz="1400" b="1" dirty="0"/>
              <a:t>The only changes are in the “</a:t>
            </a:r>
            <a:r>
              <a:rPr lang="en-US" altLang="ko-KR" sz="1400" b="1" dirty="0">
                <a:solidFill>
                  <a:srgbClr val="FF0000"/>
                </a:solidFill>
              </a:rPr>
              <a:t>kind</a:t>
            </a:r>
            <a:r>
              <a:rPr lang="en-US" altLang="ko-KR" sz="1400" b="1" dirty="0"/>
              <a:t>” fields</a:t>
            </a:r>
            <a:r>
              <a:rPr lang="en-US" altLang="ko-KR" sz="1400" dirty="0"/>
              <a:t>. To </a:t>
            </a:r>
            <a:r>
              <a:rPr lang="en-US" altLang="ko-KR" sz="1400" b="1" dirty="0"/>
              <a:t>create the </a:t>
            </a:r>
            <a:r>
              <a:rPr lang="en-US" altLang="ko-KR" sz="1400" b="1" dirty="0" err="1"/>
              <a:t>StatefulSet</a:t>
            </a:r>
            <a:r>
              <a:rPr lang="en-US" altLang="ko-KR" sz="1400" dirty="0"/>
              <a:t>, use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Once created, the differences between a </a:t>
            </a:r>
            <a:r>
              <a:rPr lang="en-US" altLang="ko-KR" sz="1400" b="1" dirty="0" err="1"/>
              <a:t>ReplicaSet</a:t>
            </a:r>
            <a:r>
              <a:rPr lang="en-US" altLang="ko-KR" sz="1400" b="1" dirty="0"/>
              <a:t> and a </a:t>
            </a:r>
            <a:r>
              <a:rPr lang="en-US" altLang="ko-KR" sz="1400" b="1" dirty="0" err="1"/>
              <a:t>StatefulSet</a:t>
            </a:r>
            <a:r>
              <a:rPr lang="en-US" altLang="ko-KR" sz="1400" b="1" dirty="0"/>
              <a:t> become apparent. Run </a:t>
            </a:r>
            <a:r>
              <a:rPr lang="en-US" altLang="ko-KR" sz="1400" dirty="0"/>
              <a:t>“</a:t>
            </a:r>
            <a:r>
              <a:rPr lang="en-US" altLang="ko-KR" sz="1400" b="1" dirty="0" err="1"/>
              <a:t>kubectl</a:t>
            </a:r>
            <a:r>
              <a:rPr lang="en-US" altLang="ko-KR" sz="1400" b="1" dirty="0"/>
              <a:t> get pods</a:t>
            </a:r>
            <a:r>
              <a:rPr lang="en-US" altLang="ko-KR" sz="1400" dirty="0"/>
              <a:t>” and you will likely see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There are two important differences between this and what you would see with a </a:t>
            </a:r>
            <a:r>
              <a:rPr lang="en-US" altLang="ko-KR" sz="1400" b="1" dirty="0" err="1"/>
              <a:t>ReplicaSet</a:t>
            </a:r>
            <a:r>
              <a:rPr lang="en-US" altLang="ko-KR" sz="1400" dirty="0"/>
              <a:t>. </a:t>
            </a:r>
            <a:r>
              <a:rPr lang="en-US" altLang="ko-KR" sz="1400" b="1" dirty="0"/>
              <a:t>The first is that each </a:t>
            </a:r>
            <a:r>
              <a:rPr lang="en-US" altLang="ko-KR" sz="1400" b="1" dirty="0">
                <a:solidFill>
                  <a:srgbClr val="FF0000"/>
                </a:solidFill>
              </a:rPr>
              <a:t>replicated Pod has a numeric index (0, 1, …)</a:t>
            </a:r>
            <a:r>
              <a:rPr lang="en-US" altLang="ko-KR" sz="1400" b="1" dirty="0"/>
              <a:t>, instead of the random suffix that is added by the </a:t>
            </a:r>
            <a:r>
              <a:rPr lang="en-US" altLang="ko-KR" sz="1400" b="1" dirty="0" err="1"/>
              <a:t>ReplicaSet</a:t>
            </a:r>
            <a:r>
              <a:rPr lang="en-US" altLang="ko-KR" sz="1400" b="1" dirty="0"/>
              <a:t> controller</a:t>
            </a:r>
            <a:r>
              <a:rPr lang="en-US" altLang="ko-KR" sz="1400" dirty="0"/>
              <a:t>. The second is that </a:t>
            </a:r>
            <a:r>
              <a:rPr lang="en-US" altLang="ko-KR" sz="1400" b="1" dirty="0"/>
              <a:t>the Pods are being </a:t>
            </a:r>
            <a:r>
              <a:rPr lang="en-US" altLang="ko-KR" sz="1400" b="1" dirty="0">
                <a:solidFill>
                  <a:srgbClr val="FF0000"/>
                </a:solidFill>
              </a:rPr>
              <a:t>slowly created in order</a:t>
            </a:r>
            <a:r>
              <a:rPr lang="en-US" altLang="ko-KR" sz="1400" b="1" dirty="0"/>
              <a:t>, not all at once as they would be with a </a:t>
            </a:r>
            <a:r>
              <a:rPr lang="en-US" altLang="ko-KR" sz="1400" b="1" dirty="0" err="1"/>
              <a:t>ReplicaSet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6C5D0D41-4E1E-481E-B038-6CB49240650C}"/>
              </a:ext>
            </a:extLst>
          </p:cNvPr>
          <p:cNvSpPr/>
          <p:nvPr/>
        </p:nvSpPr>
        <p:spPr>
          <a:xfrm>
            <a:off x="3874770" y="1674614"/>
            <a:ext cx="444246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mongo-</a:t>
            </a:r>
            <a:r>
              <a:rPr lang="en-US" altLang="ko-KR" sz="1000" b="1" dirty="0" err="1">
                <a:solidFill>
                  <a:srgbClr val="FF0000"/>
                </a:solidFill>
              </a:rPr>
              <a:t>simple.yaml</a:t>
            </a:r>
            <a:endParaRPr lang="en-US" altLang="ko-KR" sz="1000" b="1" dirty="0">
              <a:solidFill>
                <a:srgbClr val="FF0000"/>
              </a:solidFill>
            </a:endParaRPr>
          </a:p>
        </p:txBody>
      </p:sp>
      <p:grpSp>
        <p:nvGrpSpPr>
          <p:cNvPr id="12" name="그룹 11">
            <a:extLst>
              <a:ext uri="{FF2B5EF4-FFF2-40B4-BE49-F238E27FC236}">
                <a16:creationId xmlns:a16="http://schemas.microsoft.com/office/drawing/2014/main" id="{A4B8CA14-E8BC-4F78-83D7-2F6F07DDEAB7}"/>
              </a:ext>
            </a:extLst>
          </p:cNvPr>
          <p:cNvGrpSpPr/>
          <p:nvPr/>
        </p:nvGrpSpPr>
        <p:grpSpPr>
          <a:xfrm>
            <a:off x="1333500" y="2686843"/>
            <a:ext cx="9525000" cy="1809750"/>
            <a:chOff x="1333500" y="2686843"/>
            <a:chExt cx="9525000" cy="1809750"/>
          </a:xfrm>
        </p:grpSpPr>
        <p:grpSp>
          <p:nvGrpSpPr>
            <p:cNvPr id="10" name="그룹 9">
              <a:extLst>
                <a:ext uri="{FF2B5EF4-FFF2-40B4-BE49-F238E27FC236}">
                  <a16:creationId xmlns:a16="http://schemas.microsoft.com/office/drawing/2014/main" id="{5DCC1AFB-B4F7-4BC5-A032-5EBAAB39E2C1}"/>
                </a:ext>
              </a:extLst>
            </p:cNvPr>
            <p:cNvGrpSpPr/>
            <p:nvPr/>
          </p:nvGrpSpPr>
          <p:grpSpPr>
            <a:xfrm>
              <a:off x="1333500" y="2686843"/>
              <a:ext cx="9525000" cy="1809750"/>
              <a:chOff x="1333500" y="2686843"/>
              <a:chExt cx="9525000" cy="1809750"/>
            </a:xfrm>
          </p:grpSpPr>
          <p:pic>
            <p:nvPicPr>
              <p:cNvPr id="8" name="그림 7">
                <a:extLst>
                  <a:ext uri="{FF2B5EF4-FFF2-40B4-BE49-F238E27FC236}">
                    <a16:creationId xmlns:a16="http://schemas.microsoft.com/office/drawing/2014/main" id="{05FD504A-95F5-47E0-8A8D-FBFD31D81E8D}"/>
                  </a:ext>
                </a:extLst>
              </p:cNvPr>
              <p:cNvPicPr>
                <a:picLocks noChangeAspect="1"/>
              </p:cNvPicPr>
              <p:nvPr/>
            </p:nvPicPr>
            <p:blipFill>
              <a:blip r:embed="rId2"/>
              <a:stretch>
                <a:fillRect/>
              </a:stretch>
            </p:blipFill>
            <p:spPr>
              <a:xfrm>
                <a:off x="1333500" y="2686843"/>
                <a:ext cx="9525000" cy="1809750"/>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6CD76225-46EB-4E54-BAB8-665906C0E1B4}"/>
                  </a:ext>
                </a:extLst>
              </p:cNvPr>
              <p:cNvSpPr/>
              <p:nvPr/>
            </p:nvSpPr>
            <p:spPr>
              <a:xfrm>
                <a:off x="4389120" y="3413760"/>
                <a:ext cx="563880" cy="6172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2F386CFE-20D7-4D93-B8C2-B5C1C2B2A751}"/>
                </a:ext>
              </a:extLst>
            </p:cNvPr>
            <p:cNvSpPr/>
            <p:nvPr/>
          </p:nvSpPr>
          <p:spPr>
            <a:xfrm>
              <a:off x="1493520" y="3413760"/>
              <a:ext cx="563880" cy="6172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0414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(5/15)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Manually Replicated MongoDB with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Once the </a:t>
            </a:r>
            <a:r>
              <a:rPr lang="en-US" altLang="ko-KR" sz="1400" b="1" dirty="0" err="1"/>
              <a:t>StatefulSet</a:t>
            </a:r>
            <a:r>
              <a:rPr lang="en-US" altLang="ko-KR" sz="1400" b="1" dirty="0"/>
              <a:t> is created, we also need to create a “</a:t>
            </a:r>
            <a:r>
              <a:rPr lang="en-US" altLang="ko-KR" sz="1400" b="1" dirty="0">
                <a:solidFill>
                  <a:srgbClr val="FF0000"/>
                </a:solidFill>
              </a:rPr>
              <a:t>headless*</a:t>
            </a:r>
            <a:r>
              <a:rPr lang="en-US" altLang="ko-KR" sz="1400" b="1" dirty="0"/>
              <a:t>” service to manage the DNS entries for the </a:t>
            </a:r>
            <a:r>
              <a:rPr lang="en-US" altLang="ko-KR" sz="1400" b="1" dirty="0" err="1"/>
              <a:t>StatefulSet</a:t>
            </a:r>
            <a:r>
              <a:rPr lang="en-US" altLang="ko-KR" sz="1400" dirty="0"/>
              <a:t>. </a:t>
            </a:r>
            <a:r>
              <a:rPr lang="en-US" altLang="ko-KR" sz="1400" b="1" dirty="0">
                <a:solidFill>
                  <a:srgbClr val="FF0000"/>
                </a:solidFill>
              </a:rPr>
              <a:t>In Kubernetes a service is called “headless” if it doesn’t have a cluster virtual IP address</a:t>
            </a:r>
            <a:r>
              <a:rPr lang="en-US" altLang="ko-KR" sz="1400" dirty="0"/>
              <a:t>. </a:t>
            </a:r>
            <a:r>
              <a:rPr lang="en-US" altLang="ko-KR" sz="1400" b="1" dirty="0"/>
              <a:t>Since with </a:t>
            </a:r>
            <a:r>
              <a:rPr lang="en-US" altLang="ko-KR" sz="1400" b="1" dirty="0" err="1"/>
              <a:t>StatefulSets</a:t>
            </a:r>
            <a:r>
              <a:rPr lang="en-US" altLang="ko-KR" sz="1400" b="1" dirty="0"/>
              <a:t> each Pod has a unique identity, it doesn’t really make sense to have a load-balancing IP address for the replicated service</a:t>
            </a:r>
            <a:r>
              <a:rPr lang="en-US" altLang="ko-KR" sz="1400" dirty="0"/>
              <a:t>. You can create a </a:t>
            </a:r>
            <a:r>
              <a:rPr lang="en-US" altLang="ko-KR" sz="1400" b="1" dirty="0"/>
              <a:t>headless service </a:t>
            </a:r>
            <a:r>
              <a:rPr lang="en-US" altLang="ko-KR" sz="1400" dirty="0"/>
              <a:t>using “</a:t>
            </a:r>
            <a:r>
              <a:rPr lang="en-US" altLang="ko-KR" sz="1400" b="1" dirty="0" err="1">
                <a:solidFill>
                  <a:srgbClr val="FF0000"/>
                </a:solidFill>
              </a:rPr>
              <a:t>clusterIP</a:t>
            </a:r>
            <a:r>
              <a:rPr lang="en-US" altLang="ko-KR" sz="1400" b="1" dirty="0">
                <a:solidFill>
                  <a:srgbClr val="FF0000"/>
                </a:solidFill>
              </a:rPr>
              <a:t>: None</a:t>
            </a:r>
            <a:r>
              <a:rPr lang="en-US" altLang="ko-KR" sz="1400" dirty="0"/>
              <a:t>” in the service specification.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FEC98CA-EE33-44A2-805B-433D4CAC212A}"/>
              </a:ext>
            </a:extLst>
          </p:cNvPr>
          <p:cNvGrpSpPr/>
          <p:nvPr/>
        </p:nvGrpSpPr>
        <p:grpSpPr>
          <a:xfrm>
            <a:off x="3047999" y="2081165"/>
            <a:ext cx="6096000" cy="1785104"/>
            <a:chOff x="3048000" y="2080320"/>
            <a:chExt cx="6096000" cy="1785104"/>
          </a:xfrm>
        </p:grpSpPr>
        <p:sp>
          <p:nvSpPr>
            <p:cNvPr id="4" name="직사각형 3">
              <a:extLst>
                <a:ext uri="{FF2B5EF4-FFF2-40B4-BE49-F238E27FC236}">
                  <a16:creationId xmlns:a16="http://schemas.microsoft.com/office/drawing/2014/main" id="{EA9E7CDE-2C3B-4E2D-8008-CF247E8DB390}"/>
                </a:ext>
              </a:extLst>
            </p:cNvPr>
            <p:cNvSpPr/>
            <p:nvPr/>
          </p:nvSpPr>
          <p:spPr>
            <a:xfrm>
              <a:off x="3048000" y="2080320"/>
              <a:ext cx="6096000" cy="1785104"/>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Service</a:t>
              </a:r>
            </a:p>
            <a:p>
              <a:r>
                <a:rPr lang="en-US" altLang="ko-KR" sz="1000" b="1" dirty="0"/>
                <a:t>metadata:</a:t>
              </a:r>
            </a:p>
            <a:p>
              <a:r>
                <a:rPr lang="en-US" altLang="ko-KR" sz="1000" b="1" dirty="0"/>
                <a:t>  name: mongo</a:t>
              </a:r>
            </a:p>
            <a:p>
              <a:r>
                <a:rPr lang="en-US" altLang="ko-KR" sz="1000" b="1" dirty="0"/>
                <a:t>spec:</a:t>
              </a:r>
            </a:p>
            <a:p>
              <a:r>
                <a:rPr lang="en-US" altLang="ko-KR" sz="1000" b="1" dirty="0"/>
                <a:t>  ports:</a:t>
              </a:r>
            </a:p>
            <a:p>
              <a:r>
                <a:rPr lang="en-US" altLang="ko-KR" sz="1000" b="1" dirty="0"/>
                <a:t>  - port: 27017</a:t>
              </a:r>
            </a:p>
            <a:p>
              <a:r>
                <a:rPr lang="en-US" altLang="ko-KR" sz="1000" b="1" dirty="0"/>
                <a:t>    name: peer</a:t>
              </a:r>
            </a:p>
            <a:p>
              <a:r>
                <a:rPr lang="en-US" altLang="ko-KR" sz="1000" b="1" dirty="0"/>
                <a:t>  </a:t>
              </a:r>
              <a:r>
                <a:rPr lang="en-US" altLang="ko-KR" sz="1000" b="1" dirty="0" err="1">
                  <a:solidFill>
                    <a:srgbClr val="FF0000"/>
                  </a:solidFill>
                </a:rPr>
                <a:t>clusterIP</a:t>
              </a:r>
              <a:r>
                <a:rPr lang="en-US" altLang="ko-KR" sz="1000" b="1" dirty="0">
                  <a:solidFill>
                    <a:srgbClr val="FF0000"/>
                  </a:solidFill>
                </a:rPr>
                <a:t>: None</a:t>
              </a:r>
            </a:p>
            <a:p>
              <a:r>
                <a:rPr lang="en-US" altLang="ko-KR" sz="1000" b="1" dirty="0"/>
                <a:t>  selector:</a:t>
              </a:r>
            </a:p>
            <a:p>
              <a:r>
                <a:rPr lang="en-US" altLang="ko-KR" sz="1000" b="1" dirty="0"/>
                <a:t>    app: mongo</a:t>
              </a:r>
              <a:endParaRPr lang="ko-KR" altLang="en-US" sz="1000" b="1" dirty="0"/>
            </a:p>
          </p:txBody>
        </p:sp>
        <p:sp>
          <p:nvSpPr>
            <p:cNvPr id="9" name="TextBox 8">
              <a:extLst>
                <a:ext uri="{FF2B5EF4-FFF2-40B4-BE49-F238E27FC236}">
                  <a16:creationId xmlns:a16="http://schemas.microsoft.com/office/drawing/2014/main" id="{AA622B94-64E7-4F8C-8BCE-DD1CBD19E168}"/>
                </a:ext>
              </a:extLst>
            </p:cNvPr>
            <p:cNvSpPr txBox="1"/>
            <p:nvPr/>
          </p:nvSpPr>
          <p:spPr>
            <a:xfrm>
              <a:off x="7726624" y="2080320"/>
              <a:ext cx="1417376" cy="246221"/>
            </a:xfrm>
            <a:prstGeom prst="rect">
              <a:avLst/>
            </a:prstGeom>
            <a:noFill/>
          </p:spPr>
          <p:txBody>
            <a:bodyPr wrap="none" rtlCol="0">
              <a:spAutoFit/>
            </a:bodyPr>
            <a:lstStyle/>
            <a:p>
              <a:pPr algn="ctr"/>
              <a:r>
                <a:rPr lang="en-US" altLang="ko-KR" sz="1000" b="1" dirty="0"/>
                <a:t>mongo-</a:t>
              </a:r>
              <a:r>
                <a:rPr lang="en-US" altLang="ko-KR" sz="1000" b="1" dirty="0" err="1"/>
                <a:t>service.yaml</a:t>
              </a:r>
              <a:endParaRPr lang="ko-KR" altLang="en-US" sz="1000" b="1" dirty="0"/>
            </a:p>
          </p:txBody>
        </p:sp>
      </p:grpSp>
      <p:grpSp>
        <p:nvGrpSpPr>
          <p:cNvPr id="13" name="그룹 12">
            <a:extLst>
              <a:ext uri="{FF2B5EF4-FFF2-40B4-BE49-F238E27FC236}">
                <a16:creationId xmlns:a16="http://schemas.microsoft.com/office/drawing/2014/main" id="{E175F6D2-1A3D-41BF-B9B7-8C8990C2FD28}"/>
              </a:ext>
            </a:extLst>
          </p:cNvPr>
          <p:cNvGrpSpPr/>
          <p:nvPr/>
        </p:nvGrpSpPr>
        <p:grpSpPr>
          <a:xfrm>
            <a:off x="1333500" y="4017029"/>
            <a:ext cx="9525000" cy="2386067"/>
            <a:chOff x="1333500" y="4003099"/>
            <a:chExt cx="9525000" cy="2386067"/>
          </a:xfrm>
        </p:grpSpPr>
        <p:pic>
          <p:nvPicPr>
            <p:cNvPr id="8" name="그림 7">
              <a:extLst>
                <a:ext uri="{FF2B5EF4-FFF2-40B4-BE49-F238E27FC236}">
                  <a16:creationId xmlns:a16="http://schemas.microsoft.com/office/drawing/2014/main" id="{57347A32-CE88-4068-9D1B-0BB7DB069502}"/>
                </a:ext>
              </a:extLst>
            </p:cNvPr>
            <p:cNvPicPr>
              <a:picLocks noChangeAspect="1"/>
            </p:cNvPicPr>
            <p:nvPr/>
          </p:nvPicPr>
          <p:blipFill>
            <a:blip r:embed="rId2"/>
            <a:stretch>
              <a:fillRect/>
            </a:stretch>
          </p:blipFill>
          <p:spPr>
            <a:xfrm>
              <a:off x="1333500" y="4550841"/>
              <a:ext cx="9525000" cy="1838325"/>
            </a:xfrm>
            <a:prstGeom prst="rect">
              <a:avLst/>
            </a:prstGeom>
            <a:ln>
              <a:solidFill>
                <a:schemeClr val="bg1">
                  <a:lumMod val="50000"/>
                </a:schemeClr>
              </a:solidFill>
            </a:ln>
          </p:spPr>
        </p:pic>
        <p:sp>
          <p:nvSpPr>
            <p:cNvPr id="11" name="TextBox 10">
              <a:extLst>
                <a:ext uri="{FF2B5EF4-FFF2-40B4-BE49-F238E27FC236}">
                  <a16:creationId xmlns:a16="http://schemas.microsoft.com/office/drawing/2014/main" id="{867296F9-0577-4341-A682-3ADFD38D2BA6}"/>
                </a:ext>
              </a:extLst>
            </p:cNvPr>
            <p:cNvSpPr txBox="1"/>
            <p:nvPr/>
          </p:nvSpPr>
          <p:spPr>
            <a:xfrm>
              <a:off x="4914426" y="4003099"/>
              <a:ext cx="2363147" cy="246221"/>
            </a:xfrm>
            <a:prstGeom prst="rect">
              <a:avLst/>
            </a:prstGeom>
            <a:noFill/>
            <a:ln>
              <a:solidFill>
                <a:schemeClr val="bg1">
                  <a:lumMod val="50000"/>
                </a:schemeClr>
              </a:solidFill>
            </a:ln>
          </p:spPr>
          <p:txBody>
            <a:bodyPr wrap="none" rtlCol="0">
              <a:spAutoFit/>
            </a:bodyPr>
            <a:lstStyle/>
            <a:p>
              <a:pPr algn="ctr"/>
              <a:r>
                <a:rPr lang="en-US" altLang="ko-KR" sz="1000" b="1" dirty="0" err="1"/>
                <a:t>kubctl</a:t>
              </a:r>
              <a:r>
                <a:rPr lang="en-US" altLang="ko-KR" sz="1000" b="1" dirty="0"/>
                <a:t> apply -f </a:t>
              </a:r>
              <a:r>
                <a:rPr lang="en-US" altLang="ko-KR" sz="1000" b="1" dirty="0">
                  <a:solidFill>
                    <a:srgbClr val="FF0000"/>
                  </a:solidFill>
                </a:rPr>
                <a:t>mongo-</a:t>
              </a:r>
              <a:r>
                <a:rPr lang="en-US" altLang="ko-KR" sz="1000" b="1" dirty="0" err="1">
                  <a:solidFill>
                    <a:srgbClr val="FF0000"/>
                  </a:solidFill>
                </a:rPr>
                <a:t>service.yaml</a:t>
              </a:r>
              <a:endParaRPr lang="ko-KR" altLang="en-US" sz="1000" b="1" dirty="0">
                <a:solidFill>
                  <a:srgbClr val="FF0000"/>
                </a:solidFill>
              </a:endParaRPr>
            </a:p>
          </p:txBody>
        </p:sp>
        <p:sp>
          <p:nvSpPr>
            <p:cNvPr id="12" name="화살표: 아래쪽 11">
              <a:extLst>
                <a:ext uri="{FF2B5EF4-FFF2-40B4-BE49-F238E27FC236}">
                  <a16:creationId xmlns:a16="http://schemas.microsoft.com/office/drawing/2014/main" id="{F8C48D50-3027-4803-8487-C4DD2223BA27}"/>
                </a:ext>
              </a:extLst>
            </p:cNvPr>
            <p:cNvSpPr/>
            <p:nvPr/>
          </p:nvSpPr>
          <p:spPr>
            <a:xfrm>
              <a:off x="5878829" y="4267200"/>
              <a:ext cx="434340"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TextBox 14">
            <a:extLst>
              <a:ext uri="{FF2B5EF4-FFF2-40B4-BE49-F238E27FC236}">
                <a16:creationId xmlns:a16="http://schemas.microsoft.com/office/drawing/2014/main" id="{224DA000-10A4-03C6-D0EA-0AD74D820B88}"/>
              </a:ext>
            </a:extLst>
          </p:cNvPr>
          <p:cNvSpPr txBox="1"/>
          <p:nvPr/>
        </p:nvSpPr>
        <p:spPr>
          <a:xfrm>
            <a:off x="9143999" y="2081164"/>
            <a:ext cx="2209799" cy="1015663"/>
          </a:xfrm>
          <a:prstGeom prst="rect">
            <a:avLst/>
          </a:prstGeom>
          <a:noFill/>
        </p:spPr>
        <p:txBody>
          <a:bodyPr wrap="square">
            <a:spAutoFit/>
          </a:bodyPr>
          <a:lstStyle/>
          <a:p>
            <a:r>
              <a:rPr lang="en-US" altLang="ko-KR" sz="1000" b="1" dirty="0"/>
              <a:t>* </a:t>
            </a:r>
            <a:r>
              <a:rPr lang="ko-KR" altLang="en-US" sz="1000" b="1" dirty="0"/>
              <a:t>소프트웨어와 웹 개발에서 </a:t>
            </a:r>
            <a:r>
              <a:rPr lang="en-US" altLang="ko-KR" sz="1000" b="1" dirty="0"/>
              <a:t>'</a:t>
            </a:r>
            <a:r>
              <a:rPr lang="ko-KR" altLang="en-US" sz="1000" b="1" dirty="0"/>
              <a:t>헤드리스</a:t>
            </a:r>
            <a:r>
              <a:rPr lang="en-US" altLang="ko-KR" sz="1000" b="1" dirty="0"/>
              <a:t>(</a:t>
            </a:r>
            <a:r>
              <a:rPr lang="en-US" altLang="ko-KR" sz="1000" b="1" dirty="0">
                <a:solidFill>
                  <a:srgbClr val="FF0000"/>
                </a:solidFill>
              </a:rPr>
              <a:t>Headless</a:t>
            </a:r>
            <a:r>
              <a:rPr lang="en-US" altLang="ko-KR" sz="1000" b="1" dirty="0"/>
              <a:t>)'</a:t>
            </a:r>
            <a:r>
              <a:rPr lang="ko-KR" altLang="en-US" sz="1000" b="1" dirty="0"/>
              <a:t>는 화면</a:t>
            </a:r>
            <a:r>
              <a:rPr lang="en-US" altLang="ko-KR" sz="1000" b="1" dirty="0"/>
              <a:t>(UI, Head)</a:t>
            </a:r>
            <a:r>
              <a:rPr lang="ko-KR" altLang="en-US" sz="1000" b="1" dirty="0"/>
              <a:t>과 데이터 처리 및 로직</a:t>
            </a:r>
            <a:r>
              <a:rPr lang="en-US" altLang="ko-KR" sz="1000" b="1" dirty="0"/>
              <a:t>(Backend)</a:t>
            </a:r>
            <a:r>
              <a:rPr lang="ko-KR" altLang="en-US" sz="1000" b="1" dirty="0"/>
              <a:t>을 분리하여</a:t>
            </a:r>
            <a:r>
              <a:rPr lang="en-US" altLang="ko-KR" sz="1000" b="1" dirty="0"/>
              <a:t>, </a:t>
            </a:r>
            <a:r>
              <a:rPr lang="ko-KR" altLang="en-US" sz="1000" b="1" dirty="0">
                <a:solidFill>
                  <a:srgbClr val="FF0000"/>
                </a:solidFill>
              </a:rPr>
              <a:t>시각적 요소에 얽매이지 않고 유연하게 시스템을 운영하는 아키텍처 패턴</a:t>
            </a:r>
            <a:r>
              <a:rPr lang="ko-KR" altLang="en-US" sz="1000" b="1" dirty="0"/>
              <a:t>을 뜻합니다</a:t>
            </a:r>
          </a:p>
        </p:txBody>
      </p:sp>
      <p:sp>
        <p:nvSpPr>
          <p:cNvPr id="16" name="직사각형 15">
            <a:extLst>
              <a:ext uri="{FF2B5EF4-FFF2-40B4-BE49-F238E27FC236}">
                <a16:creationId xmlns:a16="http://schemas.microsoft.com/office/drawing/2014/main" id="{70DCB570-CB92-59B6-729A-E68B5F6C722D}"/>
              </a:ext>
            </a:extLst>
          </p:cNvPr>
          <p:cNvSpPr/>
          <p:nvPr/>
        </p:nvSpPr>
        <p:spPr>
          <a:xfrm>
            <a:off x="1409700" y="5897880"/>
            <a:ext cx="5295900" cy="2323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24756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“Mongo” Service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Detailed Information :</a:t>
            </a:r>
          </a:p>
          <a:p>
            <a:pPr lvl="1">
              <a:buFont typeface="Wingdings" panose="05000000000000000000" pitchFamily="2" charset="2"/>
              <a:buChar char="§"/>
            </a:pPr>
            <a:r>
              <a:rPr lang="en-US" altLang="ko-KR" sz="1400" dirty="0"/>
              <a:t>You can use “</a:t>
            </a:r>
            <a:r>
              <a:rPr lang="en-US" altLang="ko-KR" sz="1400" b="1" dirty="0" err="1"/>
              <a:t>kubectl</a:t>
            </a:r>
            <a:r>
              <a:rPr lang="en-US" altLang="ko-KR" sz="1400" b="1" dirty="0"/>
              <a:t> describe </a:t>
            </a:r>
            <a:r>
              <a:rPr lang="en-US" altLang="ko-KR" sz="1400" b="1" dirty="0" err="1"/>
              <a:t>sevices</a:t>
            </a:r>
            <a:r>
              <a:rPr lang="en-US" altLang="ko-KR" sz="1400" b="1" dirty="0"/>
              <a:t> mongo</a:t>
            </a:r>
            <a:r>
              <a:rPr lang="en-US" altLang="ko-KR" sz="1400" dirty="0"/>
              <a:t>” command to see the detailed information about the running service.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79A5BA7-C70C-4803-A129-B37874402184}"/>
              </a:ext>
            </a:extLst>
          </p:cNvPr>
          <p:cNvGrpSpPr/>
          <p:nvPr/>
        </p:nvGrpSpPr>
        <p:grpSpPr>
          <a:xfrm>
            <a:off x="1333500" y="1659672"/>
            <a:ext cx="9525000" cy="4096238"/>
            <a:chOff x="1333499" y="1583472"/>
            <a:chExt cx="9525000" cy="4096238"/>
          </a:xfrm>
        </p:grpSpPr>
        <p:sp>
          <p:nvSpPr>
            <p:cNvPr id="4" name="직사각형 3">
              <a:extLst>
                <a:ext uri="{FF2B5EF4-FFF2-40B4-BE49-F238E27FC236}">
                  <a16:creationId xmlns:a16="http://schemas.microsoft.com/office/drawing/2014/main" id="{5E39D866-E37A-47F5-94B4-B8DE2B5F9B25}"/>
                </a:ext>
              </a:extLst>
            </p:cNvPr>
            <p:cNvSpPr/>
            <p:nvPr/>
          </p:nvSpPr>
          <p:spPr>
            <a:xfrm>
              <a:off x="4967325" y="1583472"/>
              <a:ext cx="2257349" cy="246221"/>
            </a:xfrm>
            <a:prstGeom prst="rect">
              <a:avLst/>
            </a:prstGeom>
            <a:ln>
              <a:solidFill>
                <a:schemeClr val="bg1">
                  <a:lumMod val="50000"/>
                </a:schemeClr>
              </a:solidFill>
            </a:ln>
          </p:spPr>
          <p:txBody>
            <a:bodyPr wrap="none">
              <a:spAutoFit/>
            </a:bodyPr>
            <a:lstStyle/>
            <a:p>
              <a:pPr algn="ctr"/>
              <a:r>
                <a:rPr lang="en-US" altLang="ko-KR" sz="1000" b="1" dirty="0">
                  <a:solidFill>
                    <a:prstClr val="black"/>
                  </a:solidFill>
                </a:rPr>
                <a:t>$ </a:t>
              </a:r>
              <a:r>
                <a:rPr lang="en-US" altLang="ko-KR" sz="1000" b="1" dirty="0" err="1">
                  <a:solidFill>
                    <a:prstClr val="black"/>
                  </a:solidFill>
                </a:rPr>
                <a:t>kubectl</a:t>
              </a:r>
              <a:r>
                <a:rPr lang="en-US" altLang="ko-KR" sz="1000" b="1" dirty="0">
                  <a:solidFill>
                    <a:prstClr val="black"/>
                  </a:solidFill>
                </a:rPr>
                <a:t> describe </a:t>
              </a:r>
              <a:r>
                <a:rPr lang="en-US" altLang="ko-KR" sz="1000" b="1" dirty="0" err="1">
                  <a:solidFill>
                    <a:prstClr val="black"/>
                  </a:solidFill>
                </a:rPr>
                <a:t>sevices</a:t>
              </a:r>
              <a:r>
                <a:rPr lang="en-US" altLang="ko-KR" sz="1000" b="1" dirty="0">
                  <a:solidFill>
                    <a:prstClr val="black"/>
                  </a:solidFill>
                </a:rPr>
                <a:t> </a:t>
              </a:r>
              <a:r>
                <a:rPr lang="en-US" altLang="ko-KR" sz="1000" b="1" dirty="0">
                  <a:solidFill>
                    <a:srgbClr val="FF0000"/>
                  </a:solidFill>
                </a:rPr>
                <a:t>mongo</a:t>
              </a:r>
              <a:endParaRPr lang="ko-KR" altLang="en-US" sz="1100" dirty="0">
                <a:solidFill>
                  <a:srgbClr val="FF0000"/>
                </a:solidFill>
              </a:endParaRPr>
            </a:p>
          </p:txBody>
        </p:sp>
        <p:sp>
          <p:nvSpPr>
            <p:cNvPr id="8" name="화살표: 아래쪽 7">
              <a:extLst>
                <a:ext uri="{FF2B5EF4-FFF2-40B4-BE49-F238E27FC236}">
                  <a16:creationId xmlns:a16="http://schemas.microsoft.com/office/drawing/2014/main" id="{56B20B3D-014B-4AB1-BE79-71195557023E}"/>
                </a:ext>
              </a:extLst>
            </p:cNvPr>
            <p:cNvSpPr/>
            <p:nvPr/>
          </p:nvSpPr>
          <p:spPr>
            <a:xfrm>
              <a:off x="5875019" y="1844945"/>
              <a:ext cx="441960" cy="2819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91966E5D-D6E6-470F-B46A-890C8602C2FA}"/>
                </a:ext>
              </a:extLst>
            </p:cNvPr>
            <p:cNvPicPr>
              <a:picLocks noChangeAspect="1"/>
            </p:cNvPicPr>
            <p:nvPr/>
          </p:nvPicPr>
          <p:blipFill>
            <a:blip r:embed="rId2"/>
            <a:stretch>
              <a:fillRect/>
            </a:stretch>
          </p:blipFill>
          <p:spPr>
            <a:xfrm>
              <a:off x="1333499" y="2126885"/>
              <a:ext cx="9525000" cy="3552825"/>
            </a:xfrm>
            <a:prstGeom prst="rect">
              <a:avLst/>
            </a:prstGeom>
            <a:ln>
              <a:solidFill>
                <a:schemeClr val="bg1">
                  <a:lumMod val="50000"/>
                </a:schemeClr>
              </a:solidFill>
            </a:ln>
          </p:spPr>
        </p:pic>
      </p:grpSp>
    </p:spTree>
    <p:extLst>
      <p:ext uri="{BB962C8B-B14F-4D97-AF65-F5344CB8AC3E}">
        <p14:creationId xmlns:p14="http://schemas.microsoft.com/office/powerpoint/2010/main" val="3089413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(6/15)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Manually Replicated MongoDB with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Once you create that service, there are usually </a:t>
            </a:r>
            <a:r>
              <a:rPr lang="en-US" altLang="ko-KR" sz="1400" b="1" dirty="0">
                <a:solidFill>
                  <a:srgbClr val="FF0000"/>
                </a:solidFill>
              </a:rPr>
              <a:t>four DNS entries </a:t>
            </a:r>
            <a:r>
              <a:rPr lang="en-US" altLang="ko-KR" sz="1400" b="1" dirty="0"/>
              <a:t>that are populated</a:t>
            </a:r>
            <a:r>
              <a:rPr lang="en-US" altLang="ko-KR" sz="1400" dirty="0"/>
              <a:t>. </a:t>
            </a:r>
            <a:r>
              <a:rPr lang="en-US" altLang="ko-KR" sz="1400" b="1" dirty="0"/>
              <a:t>As usual, </a:t>
            </a:r>
            <a:r>
              <a:rPr lang="en-US" altLang="ko-KR" sz="1400" dirty="0"/>
              <a:t>“</a:t>
            </a:r>
            <a:r>
              <a:rPr lang="en-US" altLang="ko-KR" sz="1400" b="1" dirty="0" err="1">
                <a:solidFill>
                  <a:srgbClr val="FF0000"/>
                </a:solidFill>
              </a:rPr>
              <a:t>mongo.default.svc.cluster.local</a:t>
            </a:r>
            <a:r>
              <a:rPr lang="en-US" altLang="ko-KR" sz="1400" dirty="0"/>
              <a:t>” is created, but unlike with a standard service, </a:t>
            </a:r>
            <a:r>
              <a:rPr lang="en-US" altLang="ko-KR" sz="1400" b="1" dirty="0"/>
              <a:t>doing a DNS lookup on this hostname provides all the addresses in the </a:t>
            </a:r>
            <a:r>
              <a:rPr lang="en-US" altLang="ko-KR" sz="1400" b="1" dirty="0" err="1"/>
              <a:t>StatefulSet</a:t>
            </a:r>
            <a:r>
              <a:rPr lang="en-US" altLang="ko-KR" sz="1400" dirty="0"/>
              <a:t>. In addition, entries are created for “</a:t>
            </a:r>
            <a:r>
              <a:rPr lang="en-US" altLang="ko-KR" sz="1400" b="1" dirty="0"/>
              <a:t>mongo-0.mongo.default.svc.cluster.local</a:t>
            </a:r>
            <a:r>
              <a:rPr lang="en-US" altLang="ko-KR" sz="1400" dirty="0"/>
              <a:t>” as well as “</a:t>
            </a:r>
            <a:r>
              <a:rPr lang="en-US" altLang="ko-KR" sz="1400" b="1" dirty="0"/>
              <a:t>mongo-1.mongo</a:t>
            </a:r>
            <a:r>
              <a:rPr lang="en-US" altLang="ko-KR" sz="1400" dirty="0"/>
              <a:t>” and “</a:t>
            </a:r>
            <a:r>
              <a:rPr lang="en-US" altLang="ko-KR" sz="1400" b="1" dirty="0"/>
              <a:t>mongo-2.mongo</a:t>
            </a:r>
            <a:r>
              <a:rPr lang="en-US" altLang="ko-KR" sz="1400" dirty="0"/>
              <a:t>”. </a:t>
            </a:r>
            <a:r>
              <a:rPr lang="en-US" altLang="ko-KR" sz="1400" b="1" dirty="0"/>
              <a:t>Each of these resolves to the specific IP address of the replica index in the </a:t>
            </a:r>
            <a:r>
              <a:rPr lang="en-US" altLang="ko-KR" sz="1400" b="1" dirty="0" err="1"/>
              <a:t>StatefulSet</a:t>
            </a:r>
            <a:r>
              <a:rPr lang="en-US" altLang="ko-KR" sz="1400" dirty="0"/>
              <a:t>. </a:t>
            </a:r>
          </a:p>
          <a:p>
            <a:pPr lvl="1">
              <a:buFont typeface="Wingdings" panose="05000000000000000000" pitchFamily="2" charset="2"/>
              <a:buChar char="§"/>
            </a:pPr>
            <a:r>
              <a:rPr lang="en-US" altLang="ko-KR" sz="1400" b="1" dirty="0">
                <a:solidFill>
                  <a:srgbClr val="FF0000"/>
                </a:solidFill>
              </a:rPr>
              <a:t>With </a:t>
            </a:r>
            <a:r>
              <a:rPr lang="en-US" altLang="ko-KR" sz="1400" b="1" dirty="0" err="1">
                <a:solidFill>
                  <a:srgbClr val="FF0000"/>
                </a:solidFill>
              </a:rPr>
              <a:t>StatefulSets</a:t>
            </a:r>
            <a:r>
              <a:rPr lang="en-US" altLang="ko-KR" sz="1400" b="1" dirty="0">
                <a:solidFill>
                  <a:srgbClr val="FF0000"/>
                </a:solidFill>
              </a:rPr>
              <a:t> you get well-defined, persistent names for each replica in the set</a:t>
            </a:r>
            <a:r>
              <a:rPr lang="en-US" altLang="ko-KR" sz="1400" dirty="0"/>
              <a:t>. </a:t>
            </a:r>
            <a:r>
              <a:rPr lang="en-US" altLang="ko-KR" sz="1400" b="1" dirty="0"/>
              <a:t>This is often very useful when you are </a:t>
            </a:r>
            <a:r>
              <a:rPr lang="en-US" altLang="ko-KR" sz="1400" b="1" dirty="0">
                <a:solidFill>
                  <a:srgbClr val="FF0000"/>
                </a:solidFill>
              </a:rPr>
              <a:t>configuring a replicated storage solution</a:t>
            </a:r>
            <a:r>
              <a:rPr lang="en-US" altLang="ko-KR" sz="1400" dirty="0"/>
              <a:t>. </a:t>
            </a:r>
            <a:r>
              <a:rPr lang="en-US" altLang="ko-KR" sz="1400" b="1" dirty="0"/>
              <a:t>You can see these DNS entries in action by running the following commands in one of the</a:t>
            </a:r>
            <a:r>
              <a:rPr lang="en-US" altLang="ko-KR" sz="1400" dirty="0"/>
              <a:t> </a:t>
            </a:r>
            <a:r>
              <a:rPr lang="en-US" altLang="ko-KR" sz="1400" b="1" dirty="0"/>
              <a:t>Mongo replicas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4527261-D659-4064-844A-44A0346412C8}"/>
              </a:ext>
            </a:extLst>
          </p:cNvPr>
          <p:cNvGrpSpPr/>
          <p:nvPr/>
        </p:nvGrpSpPr>
        <p:grpSpPr>
          <a:xfrm>
            <a:off x="1228725" y="2834009"/>
            <a:ext cx="9734550" cy="3428972"/>
            <a:chOff x="1228725" y="2951739"/>
            <a:chExt cx="9734550" cy="3428972"/>
          </a:xfrm>
        </p:grpSpPr>
        <p:sp>
          <p:nvSpPr>
            <p:cNvPr id="4" name="직사각형 3">
              <a:extLst>
                <a:ext uri="{FF2B5EF4-FFF2-40B4-BE49-F238E27FC236}">
                  <a16:creationId xmlns:a16="http://schemas.microsoft.com/office/drawing/2014/main" id="{76B2F1A5-237D-42AF-8167-3FBABCB496D2}"/>
                </a:ext>
              </a:extLst>
            </p:cNvPr>
            <p:cNvSpPr/>
            <p:nvPr/>
          </p:nvSpPr>
          <p:spPr>
            <a:xfrm>
              <a:off x="3048000" y="2951739"/>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run -it --rm --image </a:t>
              </a:r>
              <a:r>
                <a:rPr lang="en-US" altLang="ko-KR" sz="1000" b="1" dirty="0" err="1"/>
                <a:t>busybox</a:t>
              </a:r>
              <a:r>
                <a:rPr lang="en-US" altLang="ko-KR" sz="1000" b="1" dirty="0"/>
                <a:t> </a:t>
              </a:r>
              <a:r>
                <a:rPr lang="en-US" altLang="ko-KR" sz="1000" b="1" dirty="0" err="1"/>
                <a:t>busybox</a:t>
              </a:r>
              <a:r>
                <a:rPr lang="en-US" altLang="ko-KR" sz="1000" b="1" dirty="0"/>
                <a:t> </a:t>
              </a:r>
              <a:r>
                <a:rPr lang="en-US" altLang="ko-KR" sz="1000" b="1" dirty="0">
                  <a:solidFill>
                    <a:srgbClr val="FF0000"/>
                  </a:solidFill>
                </a:rPr>
                <a:t>ping mongo-1.mongo</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695B945D-47FF-45ED-A805-483DCC019A04}"/>
                </a:ext>
              </a:extLst>
            </p:cNvPr>
            <p:cNvPicPr>
              <a:picLocks noChangeAspect="1"/>
            </p:cNvPicPr>
            <p:nvPr/>
          </p:nvPicPr>
          <p:blipFill>
            <a:blip r:embed="rId2"/>
            <a:stretch>
              <a:fillRect/>
            </a:stretch>
          </p:blipFill>
          <p:spPr>
            <a:xfrm>
              <a:off x="1228725" y="3500451"/>
              <a:ext cx="9734550" cy="288026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D507623-9990-4A3F-9062-BE084F04F627}"/>
                </a:ext>
              </a:extLst>
            </p:cNvPr>
            <p:cNvSpPr/>
            <p:nvPr/>
          </p:nvSpPr>
          <p:spPr>
            <a:xfrm>
              <a:off x="5875020" y="3216325"/>
              <a:ext cx="441960"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B5E998F-E94A-B0C9-7245-B745FEF8F858}"/>
              </a:ext>
            </a:extLst>
          </p:cNvPr>
          <p:cNvSpPr/>
          <p:nvPr/>
        </p:nvSpPr>
        <p:spPr>
          <a:xfrm>
            <a:off x="9296400" y="3870960"/>
            <a:ext cx="1059180"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96234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(7/15)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Manually Replicated MongoDB with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Next, we’re going to manually set up Mongo replication using these </a:t>
            </a:r>
            <a:r>
              <a:rPr lang="en-US" altLang="ko-KR" sz="1400" b="1" dirty="0">
                <a:solidFill>
                  <a:srgbClr val="FF0000"/>
                </a:solidFill>
              </a:rPr>
              <a:t>per-Pod hostnames</a:t>
            </a:r>
            <a:r>
              <a:rPr lang="en-US" altLang="ko-KR" sz="1400" dirty="0"/>
              <a:t>. We’ll choose “</a:t>
            </a:r>
            <a:r>
              <a:rPr lang="en-US" altLang="ko-KR" sz="1400" b="1" dirty="0"/>
              <a:t>mongo-0.mongo</a:t>
            </a:r>
            <a:r>
              <a:rPr lang="en-US" altLang="ko-KR" sz="1400" dirty="0"/>
              <a:t>” to be our initial primary. Run the </a:t>
            </a:r>
            <a:r>
              <a:rPr lang="en-US" altLang="ko-KR" sz="1400" b="1" dirty="0"/>
              <a:t>mongo tool </a:t>
            </a:r>
            <a:r>
              <a:rPr lang="en-US" altLang="ko-KR" sz="1400" dirty="0"/>
              <a:t>in that Pod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command tells </a:t>
            </a:r>
            <a:r>
              <a:rPr lang="en-US" altLang="ko-KR" sz="1400" b="1" dirty="0" err="1"/>
              <a:t>mongodb</a:t>
            </a:r>
            <a:r>
              <a:rPr lang="en-US" altLang="ko-KR" sz="1400" b="1" dirty="0"/>
              <a:t> to initiate the </a:t>
            </a:r>
            <a:r>
              <a:rPr lang="en-US" altLang="ko-KR" sz="1400" b="1" dirty="0" err="1"/>
              <a:t>ReplicaSet</a:t>
            </a:r>
            <a:r>
              <a:rPr lang="en-US" altLang="ko-KR" sz="1400" b="1" dirty="0"/>
              <a:t> “</a:t>
            </a:r>
            <a:r>
              <a:rPr lang="en-US" altLang="ko-KR" sz="1400" b="1" dirty="0">
                <a:solidFill>
                  <a:srgbClr val="FF0000"/>
                </a:solidFill>
              </a:rPr>
              <a:t>rs0</a:t>
            </a:r>
            <a:r>
              <a:rPr lang="en-US" altLang="ko-KR" sz="1400" b="1" dirty="0"/>
              <a:t>” with “mongo-0.mongo” as the </a:t>
            </a:r>
            <a:r>
              <a:rPr lang="en-US" altLang="ko-KR" sz="1400" b="1" dirty="0">
                <a:solidFill>
                  <a:srgbClr val="FF0000"/>
                </a:solidFill>
              </a:rPr>
              <a:t>primary replica</a:t>
            </a:r>
            <a:r>
              <a:rPr lang="en-US" altLang="ko-KR" sz="1400" dirty="0"/>
              <a:t>.</a:t>
            </a:r>
          </a:p>
          <a:p>
            <a:pPr lvl="1">
              <a:buFont typeface="Wingdings" panose="05000000000000000000" pitchFamily="2" charset="2"/>
              <a:buChar char="§"/>
            </a:pPr>
            <a:r>
              <a:rPr lang="en-US" altLang="ko-KR" sz="1400" b="1" dirty="0"/>
              <a:t>NOTE : The “</a:t>
            </a:r>
            <a:r>
              <a:rPr lang="en-US" altLang="ko-KR" sz="1400" b="1" dirty="0">
                <a:solidFill>
                  <a:srgbClr val="FF0000"/>
                </a:solidFill>
              </a:rPr>
              <a:t>rs0</a:t>
            </a:r>
            <a:r>
              <a:rPr lang="en-US" altLang="ko-KR" sz="1400" b="1" dirty="0"/>
              <a:t>” name is arbitrary</a:t>
            </a:r>
            <a:r>
              <a:rPr lang="en-US" altLang="ko-KR" sz="1400" dirty="0"/>
              <a:t>. </a:t>
            </a:r>
            <a:r>
              <a:rPr lang="en-US" altLang="ko-KR" sz="1400" b="1" dirty="0"/>
              <a:t>You can use whatever you’d like, but you’ll need to change it in the “</a:t>
            </a:r>
            <a:r>
              <a:rPr lang="en-US" altLang="ko-KR" sz="1400" b="1" dirty="0">
                <a:solidFill>
                  <a:srgbClr val="FF0000"/>
                </a:solidFill>
              </a:rPr>
              <a:t>mongo-</a:t>
            </a:r>
            <a:r>
              <a:rPr lang="en-US" altLang="ko-KR" sz="1400" b="1" dirty="0" err="1">
                <a:solidFill>
                  <a:srgbClr val="FF0000"/>
                </a:solidFill>
              </a:rPr>
              <a:t>simple.yaml</a:t>
            </a:r>
            <a:r>
              <a:rPr lang="en-US" altLang="ko-KR" sz="1400" b="1" dirty="0"/>
              <a:t>” </a:t>
            </a:r>
            <a:r>
              <a:rPr lang="en-US" altLang="ko-KR" sz="1400" b="1" dirty="0" err="1"/>
              <a:t>StatefulSet</a:t>
            </a:r>
            <a:r>
              <a:rPr lang="en-US" altLang="ko-KR" sz="1400" b="1" dirty="0"/>
              <a:t> definition as well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EAD1D07-0537-44D0-8EF3-15CBE8C57A6F}"/>
              </a:ext>
            </a:extLst>
          </p:cNvPr>
          <p:cNvGrpSpPr/>
          <p:nvPr/>
        </p:nvGrpSpPr>
        <p:grpSpPr>
          <a:xfrm>
            <a:off x="1333500" y="1705133"/>
            <a:ext cx="9525000" cy="3204520"/>
            <a:chOff x="1333500" y="1652677"/>
            <a:chExt cx="9525000" cy="3204520"/>
          </a:xfrm>
        </p:grpSpPr>
        <p:sp>
          <p:nvSpPr>
            <p:cNvPr id="4" name="직사각형 3">
              <a:extLst>
                <a:ext uri="{FF2B5EF4-FFF2-40B4-BE49-F238E27FC236}">
                  <a16:creationId xmlns:a16="http://schemas.microsoft.com/office/drawing/2014/main" id="{AA907198-689A-44C9-A536-2741CFA7FDCA}"/>
                </a:ext>
              </a:extLst>
            </p:cNvPr>
            <p:cNvSpPr/>
            <p:nvPr/>
          </p:nvSpPr>
          <p:spPr>
            <a:xfrm>
              <a:off x="3048000" y="1652677"/>
              <a:ext cx="6096000" cy="1015663"/>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mongo-0 mongo</a:t>
              </a:r>
            </a:p>
            <a:p>
              <a:r>
                <a:rPr lang="en-US" altLang="ko-KR" sz="1000" b="1" dirty="0"/>
                <a:t>&gt; </a:t>
              </a:r>
              <a:r>
                <a:rPr lang="en-US" altLang="ko-KR" sz="1000" b="1" dirty="0" err="1"/>
                <a:t>rs.initiate</a:t>
              </a:r>
              <a:r>
                <a:rPr lang="en-US" altLang="ko-KR" sz="1000" b="1" dirty="0"/>
                <a:t>( {</a:t>
              </a:r>
            </a:p>
            <a:p>
              <a:r>
                <a:rPr lang="en-US" altLang="ko-KR" sz="1000" b="1" dirty="0"/>
                <a:t>_id: "rs0",</a:t>
              </a:r>
            </a:p>
            <a:p>
              <a:r>
                <a:rPr lang="en-US" altLang="ko-KR" sz="1000" b="1" dirty="0"/>
                <a:t>members:[ { _id: 0, host: "mongo-0.mongo:27017" } ]</a:t>
              </a:r>
            </a:p>
            <a:p>
              <a:r>
                <a:rPr lang="en-US" altLang="ko-KR" sz="1000" b="1" dirty="0"/>
                <a:t>});</a:t>
              </a:r>
            </a:p>
            <a:p>
              <a:r>
                <a:rPr lang="en-US" altLang="ko-KR" sz="1000" b="1" dirty="0"/>
                <a:t>OK</a:t>
              </a:r>
              <a:endParaRPr lang="ko-KR" altLang="en-US" sz="1000" b="1" dirty="0"/>
            </a:p>
          </p:txBody>
        </p:sp>
        <p:sp>
          <p:nvSpPr>
            <p:cNvPr id="8" name="화살표: 아래쪽 7">
              <a:extLst>
                <a:ext uri="{FF2B5EF4-FFF2-40B4-BE49-F238E27FC236}">
                  <a16:creationId xmlns:a16="http://schemas.microsoft.com/office/drawing/2014/main" id="{DE56F8F3-83FC-4E6F-A3B9-E39F73DB51E3}"/>
                </a:ext>
              </a:extLst>
            </p:cNvPr>
            <p:cNvSpPr/>
            <p:nvPr/>
          </p:nvSpPr>
          <p:spPr>
            <a:xfrm>
              <a:off x="5878830" y="2687402"/>
              <a:ext cx="434340" cy="2743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EDAE9392-32E1-4BCF-844C-37B0401AE2C7}"/>
                </a:ext>
              </a:extLst>
            </p:cNvPr>
            <p:cNvPicPr>
              <a:picLocks noChangeAspect="1"/>
            </p:cNvPicPr>
            <p:nvPr/>
          </p:nvPicPr>
          <p:blipFill>
            <a:blip r:embed="rId2"/>
            <a:stretch>
              <a:fillRect/>
            </a:stretch>
          </p:blipFill>
          <p:spPr>
            <a:xfrm>
              <a:off x="1333500" y="2961722"/>
              <a:ext cx="9525000" cy="1895475"/>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4FB85546-C112-4DE2-D8F5-3A06670FDA7C}"/>
              </a:ext>
            </a:extLst>
          </p:cNvPr>
          <p:cNvSpPr/>
          <p:nvPr/>
        </p:nvSpPr>
        <p:spPr>
          <a:xfrm>
            <a:off x="2125980" y="3878580"/>
            <a:ext cx="457200" cy="1600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47197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(8/15)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Manually Replicated MongoDB with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Once you have initiated the </a:t>
            </a:r>
            <a:r>
              <a:rPr lang="en-US" altLang="ko-KR" sz="1400" b="1" dirty="0">
                <a:solidFill>
                  <a:srgbClr val="FF0000"/>
                </a:solidFill>
              </a:rPr>
              <a:t>Mongo </a:t>
            </a:r>
            <a:r>
              <a:rPr lang="en-US" altLang="ko-KR" sz="1400" b="1" dirty="0" err="1">
                <a:solidFill>
                  <a:srgbClr val="FF0000"/>
                </a:solidFill>
              </a:rPr>
              <a:t>ReplicaSet</a:t>
            </a:r>
            <a:r>
              <a:rPr lang="en-US" altLang="ko-KR" sz="1400" b="1" dirty="0"/>
              <a:t>, you ca</a:t>
            </a:r>
            <a:r>
              <a:rPr lang="en-US" altLang="ko-KR" sz="1400" dirty="0"/>
              <a:t>n </a:t>
            </a:r>
            <a:r>
              <a:rPr lang="en-US" altLang="ko-KR" sz="1400" b="1" dirty="0"/>
              <a:t>add the remaining replicas</a:t>
            </a:r>
            <a:r>
              <a:rPr lang="en-US" altLang="ko-KR" sz="1400" dirty="0"/>
              <a:t> </a:t>
            </a:r>
            <a:r>
              <a:rPr lang="en-US" altLang="ko-KR" sz="1400" b="1" dirty="0"/>
              <a:t>by running the following commands</a:t>
            </a:r>
            <a:r>
              <a:rPr lang="en-US" altLang="ko-KR" sz="1400" dirty="0"/>
              <a:t> </a:t>
            </a:r>
            <a:r>
              <a:rPr lang="en-US" altLang="ko-KR" sz="1400" b="1" dirty="0"/>
              <a:t>in the </a:t>
            </a:r>
            <a:r>
              <a:rPr lang="en-US" altLang="ko-KR" sz="1400" b="1" dirty="0">
                <a:solidFill>
                  <a:srgbClr val="FF0000"/>
                </a:solidFill>
              </a:rPr>
              <a:t>mongo tool </a:t>
            </a:r>
            <a:r>
              <a:rPr lang="en-US" altLang="ko-KR" sz="1400" b="1" dirty="0"/>
              <a:t>on the “mongo-0.mongo” Pod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As you can see, we are using the </a:t>
            </a:r>
            <a:r>
              <a:rPr lang="en-US" altLang="ko-KR" sz="1400" b="1" dirty="0">
                <a:solidFill>
                  <a:srgbClr val="FF0000"/>
                </a:solidFill>
              </a:rPr>
              <a:t>replica-specific DNS names </a:t>
            </a:r>
            <a:r>
              <a:rPr lang="en-US" altLang="ko-KR" sz="1400" b="1" dirty="0"/>
              <a:t>to add them as replicas in our Mongo cluster</a:t>
            </a:r>
            <a:r>
              <a:rPr lang="en-US" altLang="ko-KR" sz="1400" dirty="0"/>
              <a:t>. At </a:t>
            </a:r>
            <a:r>
              <a:rPr lang="en-US" altLang="ko-KR" sz="1400" b="1" dirty="0"/>
              <a:t>this point, we’re done manually</a:t>
            </a:r>
            <a:r>
              <a:rPr lang="en-US" altLang="ko-KR" sz="1400" dirty="0"/>
              <a:t>. Our replicated MongoDB is up and running.</a:t>
            </a:r>
          </a:p>
          <a:p>
            <a:pPr lvl="1">
              <a:buFont typeface="Wingdings" panose="05000000000000000000" pitchFamily="2" charset="2"/>
              <a:buChar char="§"/>
            </a:pPr>
            <a:r>
              <a:rPr lang="en-US" altLang="ko-KR" sz="1400" b="1" dirty="0"/>
              <a:t>NOTE : To exit from the console, just type “exit” command</a:t>
            </a:r>
            <a:r>
              <a:rPr lang="en-US" altLang="ko-KR" sz="1400" dirty="0"/>
              <a:t>. The terminal will show you “</a:t>
            </a:r>
            <a:r>
              <a:rPr lang="en-US" altLang="ko-KR" sz="1400" b="1" dirty="0"/>
              <a:t>bye</a:t>
            </a:r>
            <a:r>
              <a:rPr lang="en-US" altLang="ko-KR" sz="1400" dirty="0"/>
              <a:t>” message.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3B33EC21-D0EE-4845-84AA-770E08D7FE26}"/>
              </a:ext>
            </a:extLst>
          </p:cNvPr>
          <p:cNvGrpSpPr/>
          <p:nvPr/>
        </p:nvGrpSpPr>
        <p:grpSpPr>
          <a:xfrm>
            <a:off x="1333500" y="1841782"/>
            <a:ext cx="9525000" cy="2611155"/>
            <a:chOff x="1333500" y="1765582"/>
            <a:chExt cx="9525000" cy="2611155"/>
          </a:xfrm>
        </p:grpSpPr>
        <p:sp>
          <p:nvSpPr>
            <p:cNvPr id="8" name="직사각형 7">
              <a:extLst>
                <a:ext uri="{FF2B5EF4-FFF2-40B4-BE49-F238E27FC236}">
                  <a16:creationId xmlns:a16="http://schemas.microsoft.com/office/drawing/2014/main" id="{DD357DA6-9E75-4B92-A16E-72E5BAEC0531}"/>
                </a:ext>
              </a:extLst>
            </p:cNvPr>
            <p:cNvSpPr/>
            <p:nvPr/>
          </p:nvSpPr>
          <p:spPr>
            <a:xfrm>
              <a:off x="3048000" y="1765582"/>
              <a:ext cx="6096000" cy="400110"/>
            </a:xfrm>
            <a:prstGeom prst="rect">
              <a:avLst/>
            </a:prstGeom>
            <a:ln>
              <a:solidFill>
                <a:schemeClr val="bg1">
                  <a:lumMod val="50000"/>
                </a:schemeClr>
              </a:solidFill>
            </a:ln>
          </p:spPr>
          <p:txBody>
            <a:bodyPr>
              <a:spAutoFit/>
            </a:bodyPr>
            <a:lstStyle/>
            <a:p>
              <a:r>
                <a:rPr lang="en-US" altLang="ko-KR" sz="1000" b="1" dirty="0"/>
                <a:t>&gt; </a:t>
              </a:r>
              <a:r>
                <a:rPr lang="en-US" altLang="ko-KR" sz="1000" b="1" dirty="0" err="1"/>
                <a:t>rs.add</a:t>
              </a:r>
              <a:r>
                <a:rPr lang="en-US" altLang="ko-KR" sz="1000" b="1" dirty="0"/>
                <a:t>("</a:t>
              </a:r>
              <a:r>
                <a:rPr lang="en-US" altLang="ko-KR" sz="1000" b="1" dirty="0">
                  <a:solidFill>
                    <a:srgbClr val="FF0000"/>
                  </a:solidFill>
                </a:rPr>
                <a:t>mongo-1.mongo:27017</a:t>
              </a:r>
              <a:r>
                <a:rPr lang="en-US" altLang="ko-KR" sz="1000" b="1" dirty="0"/>
                <a:t>");</a:t>
              </a:r>
            </a:p>
            <a:p>
              <a:r>
                <a:rPr lang="en-US" altLang="ko-KR" sz="1000" b="1" dirty="0"/>
                <a:t>&gt; </a:t>
              </a:r>
              <a:r>
                <a:rPr lang="en-US" altLang="ko-KR" sz="1000" b="1" dirty="0" err="1"/>
                <a:t>rs.add</a:t>
              </a:r>
              <a:r>
                <a:rPr lang="en-US" altLang="ko-KR" sz="1000" b="1" dirty="0"/>
                <a:t>("</a:t>
              </a:r>
              <a:r>
                <a:rPr lang="en-US" altLang="ko-KR" sz="1000" b="1" dirty="0">
                  <a:solidFill>
                    <a:srgbClr val="FF0000"/>
                  </a:solidFill>
                </a:rPr>
                <a:t>mongo-2.mongo:27017</a:t>
              </a:r>
              <a:r>
                <a:rPr lang="en-US" altLang="ko-KR" sz="1000" b="1" dirty="0"/>
                <a:t>");</a:t>
              </a:r>
            </a:p>
          </p:txBody>
        </p:sp>
        <p:pic>
          <p:nvPicPr>
            <p:cNvPr id="9" name="그림 8">
              <a:extLst>
                <a:ext uri="{FF2B5EF4-FFF2-40B4-BE49-F238E27FC236}">
                  <a16:creationId xmlns:a16="http://schemas.microsoft.com/office/drawing/2014/main" id="{350C6BE4-3585-476D-BF3E-853EBE99D258}"/>
                </a:ext>
              </a:extLst>
            </p:cNvPr>
            <p:cNvPicPr>
              <a:picLocks noChangeAspect="1"/>
            </p:cNvPicPr>
            <p:nvPr/>
          </p:nvPicPr>
          <p:blipFill>
            <a:blip r:embed="rId2"/>
            <a:stretch>
              <a:fillRect/>
            </a:stretch>
          </p:blipFill>
          <p:spPr>
            <a:xfrm>
              <a:off x="1333500" y="2481262"/>
              <a:ext cx="9525000" cy="1895475"/>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BEDFA9B2-96AB-4CE3-93DA-15FA434D9D08}"/>
                </a:ext>
              </a:extLst>
            </p:cNvPr>
            <p:cNvSpPr/>
            <p:nvPr/>
          </p:nvSpPr>
          <p:spPr>
            <a:xfrm>
              <a:off x="5878830" y="2177592"/>
              <a:ext cx="434340" cy="28032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04074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(9/15)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Automating MongoDB Cluster Creation :</a:t>
            </a:r>
          </a:p>
          <a:p>
            <a:pPr lvl="1">
              <a:buFont typeface="Wingdings" panose="05000000000000000000" pitchFamily="2" charset="2"/>
              <a:buChar char="§"/>
            </a:pPr>
            <a:r>
              <a:rPr lang="en-US" altLang="ko-KR" sz="1400" b="1" dirty="0"/>
              <a:t>To automate the deployment of our </a:t>
            </a:r>
            <a:r>
              <a:rPr lang="en-US" altLang="ko-KR" sz="1400" b="1" dirty="0" err="1"/>
              <a:t>StatefulSet</a:t>
            </a:r>
            <a:r>
              <a:rPr lang="en-US" altLang="ko-KR" sz="1400" b="1" dirty="0"/>
              <a:t>-based MongoDB cluster</a:t>
            </a:r>
            <a:r>
              <a:rPr lang="en-US" altLang="ko-KR" sz="1400" dirty="0"/>
              <a:t>, </a:t>
            </a:r>
            <a:r>
              <a:rPr lang="en-US" altLang="ko-KR" sz="1400" b="1" dirty="0"/>
              <a:t>we’re going to </a:t>
            </a:r>
            <a:r>
              <a:rPr lang="en-US" altLang="ko-KR" sz="1400" b="1" dirty="0">
                <a:solidFill>
                  <a:srgbClr val="FF0000"/>
                </a:solidFill>
              </a:rPr>
              <a:t>add an additional container to our Pods to perform the initialization</a:t>
            </a:r>
            <a:r>
              <a:rPr lang="en-US" altLang="ko-KR" sz="1400" dirty="0"/>
              <a:t>.</a:t>
            </a:r>
          </a:p>
          <a:p>
            <a:pPr lvl="1">
              <a:buFont typeface="Wingdings" panose="05000000000000000000" pitchFamily="2" charset="2"/>
              <a:buChar char="§"/>
            </a:pPr>
            <a:r>
              <a:rPr lang="en-US" altLang="ko-KR" sz="1400" b="1" dirty="0"/>
              <a:t>To configure this Pod without having to build a new Docker image, we’re going to use a “</a:t>
            </a:r>
            <a:r>
              <a:rPr lang="en-US" altLang="ko-KR" sz="1400" b="1" dirty="0" err="1">
                <a:solidFill>
                  <a:srgbClr val="FF0000"/>
                </a:solidFill>
              </a:rPr>
              <a:t>ConfigMap</a:t>
            </a:r>
            <a:r>
              <a:rPr lang="en-US" altLang="ko-KR" sz="1400" b="1" dirty="0"/>
              <a:t>” </a:t>
            </a:r>
            <a:r>
              <a:rPr lang="en-US" altLang="ko-KR" sz="1400" b="1" dirty="0">
                <a:solidFill>
                  <a:srgbClr val="FF0000"/>
                </a:solidFill>
              </a:rPr>
              <a:t>to add a script into the existing MongoDB image</a:t>
            </a:r>
            <a:r>
              <a:rPr lang="en-US" altLang="ko-KR" sz="1400" dirty="0"/>
              <a:t>. Here’s the container we’re adding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E1A21777-B023-406D-ABBB-3DC5EDDFB9E4}"/>
              </a:ext>
            </a:extLst>
          </p:cNvPr>
          <p:cNvGrpSpPr/>
          <p:nvPr/>
        </p:nvGrpSpPr>
        <p:grpSpPr>
          <a:xfrm>
            <a:off x="1338262" y="2108121"/>
            <a:ext cx="9515475" cy="4201545"/>
            <a:chOff x="1338262" y="2108121"/>
            <a:chExt cx="9515475" cy="4201545"/>
          </a:xfrm>
        </p:grpSpPr>
        <p:grpSp>
          <p:nvGrpSpPr>
            <p:cNvPr id="10" name="그룹 9">
              <a:extLst>
                <a:ext uri="{FF2B5EF4-FFF2-40B4-BE49-F238E27FC236}">
                  <a16:creationId xmlns:a16="http://schemas.microsoft.com/office/drawing/2014/main" id="{99D3230F-D97C-4023-AA8C-7D3E0DFB7953}"/>
                </a:ext>
              </a:extLst>
            </p:cNvPr>
            <p:cNvGrpSpPr/>
            <p:nvPr/>
          </p:nvGrpSpPr>
          <p:grpSpPr>
            <a:xfrm>
              <a:off x="3048000" y="2108121"/>
              <a:ext cx="6096000" cy="2092881"/>
              <a:chOff x="3048000" y="2176701"/>
              <a:chExt cx="6096000" cy="2092881"/>
            </a:xfrm>
          </p:grpSpPr>
          <p:sp>
            <p:nvSpPr>
              <p:cNvPr id="4" name="직사각형 3">
                <a:extLst>
                  <a:ext uri="{FF2B5EF4-FFF2-40B4-BE49-F238E27FC236}">
                    <a16:creationId xmlns:a16="http://schemas.microsoft.com/office/drawing/2014/main" id="{D86E4E11-711F-4D87-9560-EECCD02F70A1}"/>
                  </a:ext>
                </a:extLst>
              </p:cNvPr>
              <p:cNvSpPr/>
              <p:nvPr/>
            </p:nvSpPr>
            <p:spPr>
              <a:xfrm>
                <a:off x="3048000" y="2176701"/>
                <a:ext cx="6096000" cy="2092881"/>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 name: </a:t>
                </a:r>
                <a:r>
                  <a:rPr lang="en-US" altLang="ko-KR" sz="1000" b="1" dirty="0" err="1">
                    <a:solidFill>
                      <a:srgbClr val="FF0000"/>
                    </a:solidFill>
                  </a:rPr>
                  <a:t>init</a:t>
                </a:r>
                <a:r>
                  <a:rPr lang="en-US" altLang="ko-KR" sz="1000" b="1" dirty="0">
                    <a:solidFill>
                      <a:srgbClr val="FF0000"/>
                    </a:solidFill>
                  </a:rPr>
                  <a:t>-mongo</a:t>
                </a:r>
              </a:p>
              <a:p>
                <a:r>
                  <a:rPr lang="en-US" altLang="ko-KR" sz="1000" b="1" dirty="0"/>
                  <a:t>    image: mongo:3.4.1</a:t>
                </a:r>
              </a:p>
              <a:p>
                <a:r>
                  <a:rPr lang="en-US" altLang="ko-KR" sz="1000" b="1" dirty="0"/>
                  <a:t>    command:</a:t>
                </a:r>
              </a:p>
              <a:p>
                <a:r>
                  <a:rPr lang="en-US" altLang="ko-KR" sz="1000" b="1" dirty="0"/>
                  <a:t>    - bash</a:t>
                </a:r>
              </a:p>
              <a:p>
                <a:r>
                  <a:rPr lang="en-US" altLang="ko-KR" sz="1000" b="1" dirty="0"/>
                  <a:t>    - </a:t>
                </a:r>
                <a:r>
                  <a:rPr lang="en-US" altLang="ko-KR" sz="1000" b="1" dirty="0">
                    <a:solidFill>
                      <a:srgbClr val="FF0000"/>
                    </a:solidFill>
                  </a:rPr>
                  <a:t>/config/init.sh</a:t>
                </a:r>
              </a:p>
              <a:p>
                <a:r>
                  <a:rPr lang="en-US" altLang="ko-KR" sz="1000" b="1" dirty="0"/>
                  <a:t>    </a:t>
                </a:r>
                <a:r>
                  <a:rPr lang="en-US" altLang="ko-KR" sz="1000" b="1" dirty="0" err="1"/>
                  <a:t>volumeMounts</a:t>
                </a:r>
                <a:r>
                  <a:rPr lang="en-US" altLang="ko-KR" sz="1000" b="1" dirty="0"/>
                  <a:t>:</a:t>
                </a:r>
              </a:p>
              <a:p>
                <a:r>
                  <a:rPr lang="en-US" altLang="ko-KR" sz="1000" b="1" dirty="0"/>
                  <a:t>      - name: </a:t>
                </a:r>
                <a:r>
                  <a:rPr lang="en-US" altLang="ko-KR" sz="1000" b="1" dirty="0">
                    <a:solidFill>
                      <a:srgbClr val="FF0000"/>
                    </a:solidFill>
                  </a:rPr>
                  <a:t>config</a:t>
                </a:r>
              </a:p>
              <a:p>
                <a:r>
                  <a:rPr lang="en-US" altLang="ko-KR" sz="1000" b="1" dirty="0"/>
                  <a:t>        </a:t>
                </a:r>
                <a:r>
                  <a:rPr lang="en-US" altLang="ko-KR" sz="1000" b="1" dirty="0" err="1"/>
                  <a:t>mountPath</a:t>
                </a:r>
                <a:r>
                  <a:rPr lang="en-US" altLang="ko-KR" sz="1000" b="1" dirty="0"/>
                  <a:t>: </a:t>
                </a:r>
                <a:r>
                  <a:rPr lang="en-US" altLang="ko-KR" sz="1000" b="1" dirty="0">
                    <a:solidFill>
                      <a:srgbClr val="FF0000"/>
                    </a:solidFill>
                  </a:rPr>
                  <a:t>/config</a:t>
                </a:r>
              </a:p>
              <a:p>
                <a:r>
                  <a:rPr lang="en-US" altLang="ko-KR" sz="1000" b="1" dirty="0"/>
                  <a:t>  volumes:</a:t>
                </a:r>
              </a:p>
              <a:p>
                <a:r>
                  <a:rPr lang="en-US" altLang="ko-KR" sz="1000" b="1" dirty="0"/>
                  <a:t>    - name: config</a:t>
                </a:r>
              </a:p>
              <a:p>
                <a:r>
                  <a:rPr lang="en-US" altLang="ko-KR" sz="1000" b="1" dirty="0"/>
                  <a:t>        </a:t>
                </a:r>
                <a:r>
                  <a:rPr lang="en-US" altLang="ko-KR" sz="1000" b="1" dirty="0" err="1">
                    <a:solidFill>
                      <a:srgbClr val="FF0000"/>
                    </a:solidFill>
                  </a:rPr>
                  <a:t>configMap</a:t>
                </a:r>
                <a:r>
                  <a:rPr lang="en-US" altLang="ko-KR" sz="1000" b="1" dirty="0"/>
                  <a:t>:</a:t>
                </a:r>
              </a:p>
              <a:p>
                <a:r>
                  <a:rPr lang="en-US" altLang="ko-KR" sz="1000" b="1" dirty="0"/>
                  <a:t>          name: "</a:t>
                </a:r>
                <a:r>
                  <a:rPr lang="en-US" altLang="ko-KR" sz="1000" b="1" dirty="0">
                    <a:solidFill>
                      <a:srgbClr val="FF0000"/>
                    </a:solidFill>
                  </a:rPr>
                  <a:t>mongo-</a:t>
                </a:r>
                <a:r>
                  <a:rPr lang="en-US" altLang="ko-KR" sz="1000" b="1" dirty="0" err="1">
                    <a:solidFill>
                      <a:srgbClr val="FF0000"/>
                    </a:solidFill>
                  </a:rPr>
                  <a:t>init</a:t>
                </a:r>
                <a:r>
                  <a:rPr lang="en-US" altLang="ko-KR" sz="1000" b="1" dirty="0"/>
                  <a:t>"</a:t>
                </a:r>
                <a:endParaRPr lang="ko-KR" altLang="en-US" sz="1000" b="1" dirty="0"/>
              </a:p>
            </p:txBody>
          </p:sp>
          <p:sp>
            <p:nvSpPr>
              <p:cNvPr id="9" name="TextBox 8">
                <a:extLst>
                  <a:ext uri="{FF2B5EF4-FFF2-40B4-BE49-F238E27FC236}">
                    <a16:creationId xmlns:a16="http://schemas.microsoft.com/office/drawing/2014/main" id="{E5C37F9D-6A18-4580-9A31-14170519D091}"/>
                  </a:ext>
                </a:extLst>
              </p:cNvPr>
              <p:cNvSpPr txBox="1"/>
              <p:nvPr/>
            </p:nvSpPr>
            <p:spPr>
              <a:xfrm>
                <a:off x="8196305" y="2176701"/>
                <a:ext cx="947695" cy="246221"/>
              </a:xfrm>
              <a:prstGeom prst="rect">
                <a:avLst/>
              </a:prstGeom>
              <a:noFill/>
            </p:spPr>
            <p:txBody>
              <a:bodyPr wrap="none" rtlCol="0">
                <a:spAutoFit/>
              </a:bodyPr>
              <a:lstStyle/>
              <a:p>
                <a:pPr algn="ctr"/>
                <a:r>
                  <a:rPr lang="en-US" altLang="ko-KR" sz="1000" b="1" dirty="0" err="1"/>
                  <a:t>mongo.yaml</a:t>
                </a:r>
                <a:endParaRPr lang="ko-KR" altLang="en-US" sz="1000" b="1" dirty="0"/>
              </a:p>
            </p:txBody>
          </p:sp>
        </p:grpSp>
        <p:sp>
          <p:nvSpPr>
            <p:cNvPr id="11" name="화살표: 아래쪽 10">
              <a:extLst>
                <a:ext uri="{FF2B5EF4-FFF2-40B4-BE49-F238E27FC236}">
                  <a16:creationId xmlns:a16="http://schemas.microsoft.com/office/drawing/2014/main" id="{169E6CD6-823F-448D-B99A-DC1E29483FD2}"/>
                </a:ext>
              </a:extLst>
            </p:cNvPr>
            <p:cNvSpPr/>
            <p:nvPr/>
          </p:nvSpPr>
          <p:spPr>
            <a:xfrm>
              <a:off x="5890260" y="4221480"/>
              <a:ext cx="411480" cy="2590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2" name="그림 11">
              <a:extLst>
                <a:ext uri="{FF2B5EF4-FFF2-40B4-BE49-F238E27FC236}">
                  <a16:creationId xmlns:a16="http://schemas.microsoft.com/office/drawing/2014/main" id="{20825D2D-0BEA-4854-9465-B76D76BCB007}"/>
                </a:ext>
              </a:extLst>
            </p:cNvPr>
            <p:cNvPicPr>
              <a:picLocks noChangeAspect="1"/>
            </p:cNvPicPr>
            <p:nvPr/>
          </p:nvPicPr>
          <p:blipFill>
            <a:blip r:embed="rId2"/>
            <a:stretch>
              <a:fillRect/>
            </a:stretch>
          </p:blipFill>
          <p:spPr>
            <a:xfrm>
              <a:off x="1338262" y="4499916"/>
              <a:ext cx="9515475" cy="1809750"/>
            </a:xfrm>
            <a:prstGeom prst="rect">
              <a:avLst/>
            </a:prstGeom>
            <a:ln>
              <a:solidFill>
                <a:schemeClr val="bg1">
                  <a:lumMod val="50000"/>
                </a:schemeClr>
              </a:solidFill>
            </a:ln>
          </p:spPr>
        </p:pic>
      </p:grpSp>
    </p:spTree>
    <p:extLst>
      <p:ext uri="{BB962C8B-B14F-4D97-AF65-F5344CB8AC3E}">
        <p14:creationId xmlns:p14="http://schemas.microsoft.com/office/powerpoint/2010/main" val="35019131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(10/15)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Automating MongoDB Cluster Creation :</a:t>
            </a:r>
          </a:p>
          <a:p>
            <a:pPr lvl="1">
              <a:buFont typeface="Wingdings" panose="05000000000000000000" pitchFamily="2" charset="2"/>
              <a:buChar char="§"/>
            </a:pPr>
            <a:r>
              <a:rPr lang="en-US" altLang="ko-KR" sz="1400" b="1" dirty="0"/>
              <a:t>Note that it is mounting a </a:t>
            </a:r>
            <a:r>
              <a:rPr lang="en-US" altLang="ko-KR" sz="1400" b="1" dirty="0" err="1">
                <a:solidFill>
                  <a:srgbClr val="FF0000"/>
                </a:solidFill>
              </a:rPr>
              <a:t>ConfigMap</a:t>
            </a:r>
            <a:r>
              <a:rPr lang="en-US" altLang="ko-KR" sz="1400" b="1" dirty="0"/>
              <a:t> volume whose name is “</a:t>
            </a:r>
            <a:r>
              <a:rPr lang="en-US" altLang="ko-KR" sz="1400" b="1" dirty="0">
                <a:solidFill>
                  <a:srgbClr val="FF0000"/>
                </a:solidFill>
              </a:rPr>
              <a:t>mongo-</a:t>
            </a:r>
            <a:r>
              <a:rPr lang="en-US" altLang="ko-KR" sz="1400" b="1" dirty="0" err="1">
                <a:solidFill>
                  <a:srgbClr val="FF0000"/>
                </a:solidFill>
              </a:rPr>
              <a:t>init</a:t>
            </a:r>
            <a:r>
              <a:rPr lang="en-US" altLang="ko-KR" sz="1400" b="1" dirty="0"/>
              <a:t>”</a:t>
            </a:r>
            <a:r>
              <a:rPr lang="en-US" altLang="ko-KR" sz="1400" dirty="0"/>
              <a:t>. </a:t>
            </a:r>
            <a:r>
              <a:rPr lang="en-US" altLang="ko-KR" sz="1400" b="1" dirty="0">
                <a:solidFill>
                  <a:srgbClr val="FF0000"/>
                </a:solidFill>
              </a:rPr>
              <a:t>This </a:t>
            </a:r>
            <a:r>
              <a:rPr lang="en-US" altLang="ko-KR" sz="1400" b="1" dirty="0" err="1">
                <a:solidFill>
                  <a:srgbClr val="FF0000"/>
                </a:solidFill>
              </a:rPr>
              <a:t>ConfigMap</a:t>
            </a:r>
            <a:r>
              <a:rPr lang="en-US" altLang="ko-KR" sz="1400" b="1" dirty="0">
                <a:solidFill>
                  <a:srgbClr val="FF0000"/>
                </a:solidFill>
              </a:rPr>
              <a:t> holds a script that performs our initialization</a:t>
            </a:r>
            <a:r>
              <a:rPr lang="en-US" altLang="ko-KR" sz="1400" dirty="0"/>
              <a:t>. </a:t>
            </a:r>
            <a:r>
              <a:rPr lang="en-US" altLang="ko-KR" sz="1400" b="1" dirty="0"/>
              <a:t>First, the script determines whether it is running on “mongo-0” or not. If it is on “mongo-0”, it creates the </a:t>
            </a:r>
            <a:r>
              <a:rPr lang="en-US" altLang="ko-KR" sz="1400" b="1" dirty="0" err="1"/>
              <a:t>ReplicaSet</a:t>
            </a:r>
            <a:r>
              <a:rPr lang="en-US" altLang="ko-KR" sz="1400" b="1" dirty="0"/>
              <a:t> using the same command we ran imperatively previously</a:t>
            </a:r>
            <a:r>
              <a:rPr lang="en-US" altLang="ko-KR" sz="1400" dirty="0"/>
              <a:t>. </a:t>
            </a:r>
            <a:r>
              <a:rPr lang="en-US" altLang="ko-KR" sz="1400" b="1" dirty="0"/>
              <a:t>If it is on a different Mongo replica, it waits until the </a:t>
            </a:r>
            <a:r>
              <a:rPr lang="en-US" altLang="ko-KR" sz="1400" b="1" dirty="0" err="1"/>
              <a:t>ReplicaSet</a:t>
            </a:r>
            <a:r>
              <a:rPr lang="en-US" altLang="ko-KR" sz="1400" b="1" dirty="0"/>
              <a:t> exists</a:t>
            </a:r>
            <a:r>
              <a:rPr lang="en-US" altLang="ko-KR" sz="1400" dirty="0"/>
              <a:t>, </a:t>
            </a:r>
            <a:r>
              <a:rPr lang="en-US" altLang="ko-KR" sz="1400" b="1" dirty="0"/>
              <a:t>and</a:t>
            </a:r>
            <a:r>
              <a:rPr lang="en-US" altLang="ko-KR" sz="1400" dirty="0"/>
              <a:t> </a:t>
            </a:r>
            <a:r>
              <a:rPr lang="en-US" altLang="ko-KR" sz="1400" b="1" dirty="0"/>
              <a:t>then it registers itself as a member of that </a:t>
            </a:r>
            <a:r>
              <a:rPr lang="en-US" altLang="ko-KR" sz="1400" b="1" dirty="0" err="1"/>
              <a:t>ReplicaSet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4B51F4B-1F53-451B-9A82-BFF2FBE8C819}"/>
              </a:ext>
            </a:extLst>
          </p:cNvPr>
          <p:cNvGrpSpPr/>
          <p:nvPr/>
        </p:nvGrpSpPr>
        <p:grpSpPr>
          <a:xfrm>
            <a:off x="952500" y="2330876"/>
            <a:ext cx="10287000" cy="3877984"/>
            <a:chOff x="952500" y="2231816"/>
            <a:chExt cx="10287000" cy="3877984"/>
          </a:xfrm>
        </p:grpSpPr>
        <p:grpSp>
          <p:nvGrpSpPr>
            <p:cNvPr id="10" name="그룹 9">
              <a:extLst>
                <a:ext uri="{FF2B5EF4-FFF2-40B4-BE49-F238E27FC236}">
                  <a16:creationId xmlns:a16="http://schemas.microsoft.com/office/drawing/2014/main" id="{C0A00895-1D68-47C8-A404-52ADD3B6DE93}"/>
                </a:ext>
              </a:extLst>
            </p:cNvPr>
            <p:cNvGrpSpPr/>
            <p:nvPr/>
          </p:nvGrpSpPr>
          <p:grpSpPr>
            <a:xfrm>
              <a:off x="952500" y="2231816"/>
              <a:ext cx="10287000" cy="3631763"/>
              <a:chOff x="647700" y="2498516"/>
              <a:chExt cx="10287000" cy="3631763"/>
            </a:xfrm>
          </p:grpSpPr>
          <p:sp>
            <p:nvSpPr>
              <p:cNvPr id="8" name="직사각형 7">
                <a:extLst>
                  <a:ext uri="{FF2B5EF4-FFF2-40B4-BE49-F238E27FC236}">
                    <a16:creationId xmlns:a16="http://schemas.microsoft.com/office/drawing/2014/main" id="{03772E28-FBBD-4FA0-B633-70D54772F530}"/>
                  </a:ext>
                </a:extLst>
              </p:cNvPr>
              <p:cNvSpPr/>
              <p:nvPr/>
            </p:nvSpPr>
            <p:spPr>
              <a:xfrm>
                <a:off x="647700" y="2498516"/>
                <a:ext cx="5143500" cy="3631763"/>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ConfigMap</a:t>
                </a:r>
                <a:endParaRPr lang="en-US" altLang="ko-KR" sz="1000" b="1" dirty="0">
                  <a:solidFill>
                    <a:srgbClr val="FF0000"/>
                  </a:solidFill>
                </a:endParaRPr>
              </a:p>
              <a:p>
                <a:r>
                  <a:rPr lang="en-US" altLang="ko-KR" sz="1000" b="1" dirty="0"/>
                  <a:t>metadata:</a:t>
                </a:r>
              </a:p>
              <a:p>
                <a:r>
                  <a:rPr lang="en-US" altLang="ko-KR" sz="1000" b="1" dirty="0"/>
                  <a:t>  name: mongo-</a:t>
                </a:r>
                <a:r>
                  <a:rPr lang="en-US" altLang="ko-KR" sz="1000" b="1" dirty="0" err="1"/>
                  <a:t>init</a:t>
                </a:r>
                <a:endParaRPr lang="en-US" altLang="ko-KR" sz="1000" b="1" dirty="0"/>
              </a:p>
              <a:p>
                <a:r>
                  <a:rPr lang="en-US" altLang="ko-KR" sz="1000" b="1" dirty="0"/>
                  <a:t>data:</a:t>
                </a:r>
              </a:p>
              <a:p>
                <a:r>
                  <a:rPr lang="en-US" altLang="ko-KR" sz="1000" b="1" dirty="0"/>
                  <a:t>  </a:t>
                </a:r>
                <a:r>
                  <a:rPr lang="en-US" altLang="ko-KR" sz="1000" b="1" dirty="0">
                    <a:solidFill>
                      <a:srgbClr val="FF0000"/>
                    </a:solidFill>
                  </a:rPr>
                  <a:t>init.sh</a:t>
                </a:r>
                <a:r>
                  <a:rPr lang="en-US" altLang="ko-KR" sz="1000" b="1" dirty="0"/>
                  <a:t>: |</a:t>
                </a:r>
              </a:p>
              <a:p>
                <a:r>
                  <a:rPr lang="en-US" altLang="ko-KR" sz="1000" b="1" dirty="0"/>
                  <a:t>    #!/bin/bash</a:t>
                </a:r>
              </a:p>
              <a:p>
                <a:r>
                  <a:rPr lang="en-US" altLang="ko-KR" sz="1000" b="1" dirty="0"/>
                  <a:t>    # Need to wait for the readiness health check to pass so that the</a:t>
                </a:r>
              </a:p>
              <a:p>
                <a:r>
                  <a:rPr lang="en-US" altLang="ko-KR" sz="1000" b="1" dirty="0"/>
                  <a:t>    # mongo names resolve. This is kind of wonky.</a:t>
                </a:r>
              </a:p>
              <a:p>
                <a:r>
                  <a:rPr lang="en-US" altLang="ko-KR" sz="1000" b="1" dirty="0"/>
                  <a:t>    until ping -c 1 ${HOSTNAME}.mongo; do</a:t>
                </a:r>
              </a:p>
              <a:p>
                <a:r>
                  <a:rPr lang="en-US" altLang="ko-KR" sz="1000" b="1" dirty="0"/>
                  <a:t>      echo "waiting for DNS (${HOSTNAME}.mongo)..."</a:t>
                </a:r>
              </a:p>
              <a:p>
                <a:r>
                  <a:rPr lang="en-US" altLang="ko-KR" sz="1000" b="1" dirty="0"/>
                  <a:t>      sleep 2</a:t>
                </a:r>
              </a:p>
              <a:p>
                <a:r>
                  <a:rPr lang="en-US" altLang="ko-KR" sz="1000" b="1" dirty="0"/>
                  <a:t>    done</a:t>
                </a:r>
              </a:p>
              <a:p>
                <a:r>
                  <a:rPr lang="en-US" altLang="ko-KR" sz="1000" b="1" dirty="0"/>
                  <a:t>    until /</a:t>
                </a:r>
                <a:r>
                  <a:rPr lang="en-US" altLang="ko-KR" sz="1000" b="1" dirty="0" err="1"/>
                  <a:t>usr</a:t>
                </a:r>
                <a:r>
                  <a:rPr lang="en-US" altLang="ko-KR" sz="1000" b="1" dirty="0"/>
                  <a:t>/bin/mongo --eval '</a:t>
                </a:r>
                <a:r>
                  <a:rPr lang="en-US" altLang="ko-KR" sz="1000" b="1" dirty="0" err="1"/>
                  <a:t>printjson</a:t>
                </a:r>
                <a:r>
                  <a:rPr lang="en-US" altLang="ko-KR" sz="1000" b="1" dirty="0"/>
                  <a:t>(</a:t>
                </a:r>
                <a:r>
                  <a:rPr lang="en-US" altLang="ko-KR" sz="1000" b="1" dirty="0" err="1"/>
                  <a:t>db.serverStatus</a:t>
                </a:r>
                <a:r>
                  <a:rPr lang="en-US" altLang="ko-KR" sz="1000" b="1" dirty="0"/>
                  <a:t>())'; do</a:t>
                </a:r>
              </a:p>
              <a:p>
                <a:r>
                  <a:rPr lang="en-US" altLang="ko-KR" sz="1000" b="1" dirty="0"/>
                  <a:t>      echo "connecting to local mongo..."</a:t>
                </a:r>
              </a:p>
              <a:p>
                <a:r>
                  <a:rPr lang="en-US" altLang="ko-KR" sz="1000" b="1" dirty="0"/>
                  <a:t>      sleep 2</a:t>
                </a:r>
              </a:p>
              <a:p>
                <a:r>
                  <a:rPr lang="en-US" altLang="ko-KR" sz="1000" b="1" dirty="0"/>
                  <a:t>    done</a:t>
                </a:r>
              </a:p>
              <a:p>
                <a:r>
                  <a:rPr lang="en-US" altLang="ko-KR" sz="1000" b="1" dirty="0"/>
                  <a:t>    echo "connected to local."</a:t>
                </a:r>
              </a:p>
              <a:p>
                <a:r>
                  <a:rPr lang="en-US" altLang="ko-KR" sz="1000" b="1" dirty="0"/>
                  <a:t>    HOST=mongo-0.mongo:27017</a:t>
                </a:r>
              </a:p>
              <a:p>
                <a:r>
                  <a:rPr lang="en-US" altLang="ko-KR" sz="1000" b="1" dirty="0"/>
                  <a:t>    until /</a:t>
                </a:r>
                <a:r>
                  <a:rPr lang="en-US" altLang="ko-KR" sz="1000" b="1" dirty="0" err="1"/>
                  <a:t>usr</a:t>
                </a:r>
                <a:r>
                  <a:rPr lang="en-US" altLang="ko-KR" sz="1000" b="1" dirty="0"/>
                  <a:t>/bin/mongo --host=${HOST} --eval '</a:t>
                </a:r>
                <a:r>
                  <a:rPr lang="en-US" altLang="ko-KR" sz="1000" b="1" dirty="0" err="1"/>
                  <a:t>printjson</a:t>
                </a:r>
                <a:r>
                  <a:rPr lang="en-US" altLang="ko-KR" sz="1000" b="1" dirty="0"/>
                  <a:t>(</a:t>
                </a:r>
                <a:r>
                  <a:rPr lang="en-US" altLang="ko-KR" sz="1000" b="1" dirty="0" err="1"/>
                  <a:t>db.serverStatus</a:t>
                </a:r>
                <a:r>
                  <a:rPr lang="en-US" altLang="ko-KR" sz="1000" b="1" dirty="0"/>
                  <a:t>())'; do</a:t>
                </a:r>
              </a:p>
              <a:p>
                <a:r>
                  <a:rPr lang="en-US" altLang="ko-KR" sz="1000" b="1" dirty="0"/>
                  <a:t>      echo "connecting to remote mongo..."</a:t>
                </a:r>
              </a:p>
              <a:p>
                <a:r>
                  <a:rPr lang="en-US" altLang="ko-KR" sz="1000" b="1" dirty="0"/>
                  <a:t>      sleep 2</a:t>
                </a:r>
              </a:p>
              <a:p>
                <a:r>
                  <a:rPr lang="en-US" altLang="ko-KR" sz="1000" b="1" dirty="0"/>
                  <a:t>    done</a:t>
                </a:r>
              </a:p>
            </p:txBody>
          </p:sp>
          <p:sp>
            <p:nvSpPr>
              <p:cNvPr id="9" name="직사각형 8">
                <a:extLst>
                  <a:ext uri="{FF2B5EF4-FFF2-40B4-BE49-F238E27FC236}">
                    <a16:creationId xmlns:a16="http://schemas.microsoft.com/office/drawing/2014/main" id="{88D4F1BC-61BF-453E-86C0-C3F88185361B}"/>
                  </a:ext>
                </a:extLst>
              </p:cNvPr>
              <p:cNvSpPr/>
              <p:nvPr/>
            </p:nvSpPr>
            <p:spPr>
              <a:xfrm>
                <a:off x="5791200" y="2498516"/>
                <a:ext cx="5143500" cy="3631763"/>
              </a:xfrm>
              <a:prstGeom prst="rect">
                <a:avLst/>
              </a:prstGeom>
              <a:ln>
                <a:solidFill>
                  <a:schemeClr val="bg1">
                    <a:lumMod val="50000"/>
                  </a:schemeClr>
                </a:solidFill>
              </a:ln>
            </p:spPr>
            <p:txBody>
              <a:bodyPr wrap="square">
                <a:spAutoFit/>
              </a:bodyPr>
              <a:lstStyle/>
              <a:p>
                <a:pPr lvl="0"/>
                <a:r>
                  <a:rPr lang="en-US" altLang="ko-KR" sz="1000" b="1" dirty="0">
                    <a:solidFill>
                      <a:prstClr val="black"/>
                    </a:solidFill>
                  </a:rPr>
                  <a:t>    echo "connected to remote."</a:t>
                </a:r>
              </a:p>
              <a:p>
                <a:pPr lvl="0"/>
                <a:r>
                  <a:rPr lang="en-US" altLang="ko-KR" sz="1000" b="1" dirty="0">
                    <a:solidFill>
                      <a:prstClr val="black"/>
                    </a:solidFill>
                  </a:rPr>
                  <a:t>    if [[ "${HOSTNAME}" != '</a:t>
                </a:r>
                <a:r>
                  <a:rPr lang="en-US" altLang="ko-KR" sz="1000" b="1" dirty="0">
                    <a:solidFill>
                      <a:srgbClr val="FF0000"/>
                    </a:solidFill>
                  </a:rPr>
                  <a:t>mongo-0</a:t>
                </a:r>
                <a:r>
                  <a:rPr lang="en-US" altLang="ko-KR" sz="1000" b="1" dirty="0">
                    <a:solidFill>
                      <a:prstClr val="black"/>
                    </a:solidFill>
                  </a:rPr>
                  <a:t>' ]]; then</a:t>
                </a:r>
              </a:p>
              <a:p>
                <a:pPr lvl="0"/>
                <a:r>
                  <a:rPr lang="en-US" altLang="ko-KR" sz="1000" b="1" dirty="0">
                    <a:solidFill>
                      <a:prstClr val="black"/>
                    </a:solidFill>
                  </a:rPr>
                  <a:t>      until /</a:t>
                </a:r>
                <a:r>
                  <a:rPr lang="en-US" altLang="ko-KR" sz="1000" b="1" dirty="0" err="1">
                    <a:solidFill>
                      <a:prstClr val="black"/>
                    </a:solidFill>
                  </a:rPr>
                  <a:t>usr</a:t>
                </a:r>
                <a:r>
                  <a:rPr lang="en-US" altLang="ko-KR" sz="1000" b="1" dirty="0">
                    <a:solidFill>
                      <a:prstClr val="black"/>
                    </a:solidFill>
                  </a:rPr>
                  <a:t>/bin/mongo --host=${HOST} --eval="</a:t>
                </a:r>
                <a:r>
                  <a:rPr lang="en-US" altLang="ko-KR" sz="1000" b="1" dirty="0" err="1">
                    <a:solidFill>
                      <a:prstClr val="black"/>
                    </a:solidFill>
                  </a:rPr>
                  <a:t>printjson</a:t>
                </a:r>
                <a:r>
                  <a:rPr lang="en-US" altLang="ko-KR" sz="1000" b="1" dirty="0">
                    <a:solidFill>
                      <a:prstClr val="black"/>
                    </a:solidFill>
                  </a:rPr>
                  <a:t>(</a:t>
                </a:r>
                <a:r>
                  <a:rPr lang="en-US" altLang="ko-KR" sz="1000" b="1" dirty="0" err="1">
                    <a:solidFill>
                      <a:prstClr val="black"/>
                    </a:solidFill>
                  </a:rPr>
                  <a:t>rs.status</a:t>
                </a:r>
                <a:r>
                  <a:rPr lang="en-US" altLang="ko-KR" sz="1000" b="1" dirty="0">
                    <a:solidFill>
                      <a:prstClr val="black"/>
                    </a:solidFill>
                  </a:rPr>
                  <a:t>())" \</a:t>
                </a:r>
              </a:p>
              <a:p>
                <a:pPr lvl="0"/>
                <a:r>
                  <a:rPr lang="en-US" altLang="ko-KR" sz="1000" b="1" dirty="0">
                    <a:solidFill>
                      <a:prstClr val="black"/>
                    </a:solidFill>
                  </a:rPr>
                  <a:t>            | grep -v "no </a:t>
                </a:r>
                <a:r>
                  <a:rPr lang="en-US" altLang="ko-KR" sz="1000" b="1" dirty="0" err="1">
                    <a:solidFill>
                      <a:prstClr val="black"/>
                    </a:solidFill>
                  </a:rPr>
                  <a:t>replset</a:t>
                </a:r>
                <a:r>
                  <a:rPr lang="en-US" altLang="ko-KR" sz="1000" b="1" dirty="0">
                    <a:solidFill>
                      <a:prstClr val="black"/>
                    </a:solidFill>
                  </a:rPr>
                  <a:t> config has been received"; do</a:t>
                </a:r>
              </a:p>
              <a:p>
                <a:pPr lvl="0"/>
                <a:r>
                  <a:rPr lang="en-US" altLang="ko-KR" sz="1000" b="1" dirty="0">
                    <a:solidFill>
                      <a:prstClr val="black"/>
                    </a:solidFill>
                  </a:rPr>
                  <a:t>        echo "waiting for replication set initialization"</a:t>
                </a:r>
              </a:p>
              <a:p>
                <a:pPr lvl="0"/>
                <a:r>
                  <a:rPr lang="en-US" altLang="ko-KR" sz="1000" b="1" dirty="0">
                    <a:solidFill>
                      <a:prstClr val="black"/>
                    </a:solidFill>
                  </a:rPr>
                  <a:t>        sleep 2</a:t>
                </a:r>
              </a:p>
              <a:p>
                <a:pPr lvl="0"/>
                <a:r>
                  <a:rPr lang="en-US" altLang="ko-KR" sz="1000" b="1" dirty="0">
                    <a:solidFill>
                      <a:prstClr val="black"/>
                    </a:solidFill>
                  </a:rPr>
                  <a:t>      done</a:t>
                </a:r>
              </a:p>
              <a:p>
                <a:pPr lvl="0"/>
                <a:r>
                  <a:rPr lang="en-US" altLang="ko-KR" sz="1000" b="1" dirty="0">
                    <a:solidFill>
                      <a:prstClr val="black"/>
                    </a:solidFill>
                  </a:rPr>
                  <a:t>      echo "adding self to mongo-0"</a:t>
                </a:r>
              </a:p>
              <a:p>
                <a:pPr lvl="0"/>
                <a:r>
                  <a:rPr lang="en-US" altLang="ko-KR" sz="1000" b="1" dirty="0">
                    <a:solidFill>
                      <a:prstClr val="black"/>
                    </a:solidFill>
                  </a:rPr>
                  <a:t>      /</a:t>
                </a:r>
                <a:r>
                  <a:rPr lang="en-US" altLang="ko-KR" sz="1000" b="1" dirty="0" err="1">
                    <a:solidFill>
                      <a:prstClr val="black"/>
                    </a:solidFill>
                  </a:rPr>
                  <a:t>usr</a:t>
                </a:r>
                <a:r>
                  <a:rPr lang="en-US" altLang="ko-KR" sz="1000" b="1" dirty="0">
                    <a:solidFill>
                      <a:prstClr val="black"/>
                    </a:solidFill>
                  </a:rPr>
                  <a:t>/bin/mongo --host=${HOST} \</a:t>
                </a:r>
              </a:p>
              <a:p>
                <a:pPr lvl="0"/>
                <a:r>
                  <a:rPr lang="en-US" altLang="ko-KR" sz="1000" b="1" dirty="0">
                    <a:solidFill>
                      <a:prstClr val="black"/>
                    </a:solidFill>
                  </a:rPr>
                  <a:t>         --eval="</a:t>
                </a:r>
                <a:r>
                  <a:rPr lang="en-US" altLang="ko-KR" sz="1000" b="1" dirty="0" err="1">
                    <a:solidFill>
                      <a:prstClr val="black"/>
                    </a:solidFill>
                  </a:rPr>
                  <a:t>printjson</a:t>
                </a:r>
                <a:r>
                  <a:rPr lang="en-US" altLang="ko-KR" sz="1000" b="1" dirty="0">
                    <a:solidFill>
                      <a:prstClr val="black"/>
                    </a:solidFill>
                  </a:rPr>
                  <a:t>(</a:t>
                </a:r>
                <a:r>
                  <a:rPr lang="en-US" altLang="ko-KR" sz="1000" b="1" dirty="0" err="1">
                    <a:solidFill>
                      <a:prstClr val="black"/>
                    </a:solidFill>
                  </a:rPr>
                  <a:t>rs.add</a:t>
                </a:r>
                <a:r>
                  <a:rPr lang="en-US" altLang="ko-KR" sz="1000" b="1" dirty="0">
                    <a:solidFill>
                      <a:prstClr val="black"/>
                    </a:solidFill>
                  </a:rPr>
                  <a:t>('${HOSTNAME}.mongo'))"</a:t>
                </a:r>
              </a:p>
              <a:p>
                <a:pPr lvl="0"/>
                <a:r>
                  <a:rPr lang="en-US" altLang="ko-KR" sz="1000" b="1" dirty="0">
                    <a:solidFill>
                      <a:prstClr val="black"/>
                    </a:solidFill>
                  </a:rPr>
                  <a:t>    fi</a:t>
                </a:r>
              </a:p>
              <a:p>
                <a:pPr lvl="0"/>
                <a:r>
                  <a:rPr lang="en-US" altLang="ko-KR" sz="1000" b="1" dirty="0">
                    <a:solidFill>
                      <a:srgbClr val="FF0000"/>
                    </a:solidFill>
                  </a:rPr>
                  <a:t>    if [[ "${HOSTNAME}" == 'mongo-0' ]]; then</a:t>
                </a:r>
              </a:p>
              <a:p>
                <a:pPr lvl="0"/>
                <a:r>
                  <a:rPr lang="en-US" altLang="ko-KR" sz="1000" b="1" dirty="0">
                    <a:solidFill>
                      <a:srgbClr val="FF0000"/>
                    </a:solidFill>
                  </a:rPr>
                  <a:t>      echo "initializing replica set"</a:t>
                </a:r>
              </a:p>
              <a:p>
                <a:pPr lvl="0"/>
                <a:r>
                  <a:rPr lang="en-US" altLang="ko-KR" sz="1000" b="1" dirty="0">
                    <a:solidFill>
                      <a:srgbClr val="FF0000"/>
                    </a:solidFill>
                  </a:rPr>
                  <a:t>      /</a:t>
                </a:r>
                <a:r>
                  <a:rPr lang="en-US" altLang="ko-KR" sz="1000" b="1" dirty="0" err="1">
                    <a:solidFill>
                      <a:srgbClr val="FF0000"/>
                    </a:solidFill>
                  </a:rPr>
                  <a:t>usr</a:t>
                </a:r>
                <a:r>
                  <a:rPr lang="en-US" altLang="ko-KR" sz="1000" b="1" dirty="0">
                    <a:solidFill>
                      <a:srgbClr val="FF0000"/>
                    </a:solidFill>
                  </a:rPr>
                  <a:t>/bin/mongo --eval="</a:t>
                </a:r>
                <a:r>
                  <a:rPr lang="en-US" altLang="ko-KR" sz="1000" b="1" dirty="0" err="1">
                    <a:solidFill>
                      <a:srgbClr val="FF0000"/>
                    </a:solidFill>
                  </a:rPr>
                  <a:t>printjson</a:t>
                </a:r>
                <a:r>
                  <a:rPr lang="en-US" altLang="ko-KR" sz="1000" b="1" dirty="0">
                    <a:solidFill>
                      <a:srgbClr val="FF0000"/>
                    </a:solidFill>
                  </a:rPr>
                  <a:t>(</a:t>
                </a:r>
                <a:r>
                  <a:rPr lang="en-US" altLang="ko-KR" sz="1000" b="1" dirty="0" err="1">
                    <a:solidFill>
                      <a:srgbClr val="FF0000"/>
                    </a:solidFill>
                  </a:rPr>
                  <a:t>rs.initiate</a:t>
                </a:r>
                <a:r>
                  <a:rPr lang="en-US" altLang="ko-KR" sz="1000" b="1" dirty="0">
                    <a:solidFill>
                      <a:srgbClr val="FF0000"/>
                    </a:solidFill>
                  </a:rPr>
                  <a:t>(\</a:t>
                </a:r>
              </a:p>
              <a:p>
                <a:pPr lvl="0"/>
                <a:r>
                  <a:rPr lang="en-US" altLang="ko-KR" sz="1000" b="1" dirty="0">
                    <a:solidFill>
                      <a:srgbClr val="FF0000"/>
                    </a:solidFill>
                  </a:rPr>
                  <a:t>          {'_id': 'rs0', 'members': [{'_id': 0, \</a:t>
                </a:r>
              </a:p>
              <a:p>
                <a:pPr lvl="0"/>
                <a:r>
                  <a:rPr lang="en-US" altLang="ko-KR" sz="1000" b="1" dirty="0">
                    <a:solidFill>
                      <a:srgbClr val="FF0000"/>
                    </a:solidFill>
                  </a:rPr>
                  <a:t>           'host': 'mongo-0.mongo:27017'}]}))"</a:t>
                </a:r>
              </a:p>
              <a:p>
                <a:pPr lvl="0"/>
                <a:r>
                  <a:rPr lang="en-US" altLang="ko-KR" sz="1000" b="1" dirty="0">
                    <a:solidFill>
                      <a:srgbClr val="FF0000"/>
                    </a:solidFill>
                  </a:rPr>
                  <a:t>    fi</a:t>
                </a:r>
              </a:p>
              <a:p>
                <a:pPr lvl="0"/>
                <a:r>
                  <a:rPr lang="en-US" altLang="ko-KR" sz="1000" b="1" dirty="0">
                    <a:solidFill>
                      <a:prstClr val="black"/>
                    </a:solidFill>
                  </a:rPr>
                  <a:t>    echo "initialized“</a:t>
                </a:r>
              </a:p>
              <a:p>
                <a:pPr lvl="0"/>
                <a:r>
                  <a:rPr lang="en-US" altLang="ko-KR" sz="1000" b="1" dirty="0">
                    <a:solidFill>
                      <a:srgbClr val="FF0000"/>
                    </a:solidFill>
                  </a:rPr>
                  <a:t>    # Run forever.</a:t>
                </a:r>
              </a:p>
              <a:p>
                <a:pPr lvl="0"/>
                <a:r>
                  <a:rPr lang="en-US" altLang="ko-KR" sz="1000" b="1" dirty="0">
                    <a:solidFill>
                      <a:srgbClr val="FF0000"/>
                    </a:solidFill>
                  </a:rPr>
                  <a:t>    while true; do</a:t>
                </a:r>
              </a:p>
              <a:p>
                <a:pPr lvl="0"/>
                <a:r>
                  <a:rPr lang="en-US" altLang="ko-KR" sz="1000" b="1" dirty="0">
                    <a:solidFill>
                      <a:srgbClr val="FF0000"/>
                    </a:solidFill>
                  </a:rPr>
                  <a:t>      sleep 3600</a:t>
                </a:r>
              </a:p>
              <a:p>
                <a:pPr lvl="0"/>
                <a:r>
                  <a:rPr lang="en-US" altLang="ko-KR" sz="1000" b="1" dirty="0">
                    <a:solidFill>
                      <a:srgbClr val="FF0000"/>
                    </a:solidFill>
                  </a:rPr>
                  <a:t>    done</a:t>
                </a:r>
              </a:p>
              <a:p>
                <a:pPr lvl="0"/>
                <a:endParaRPr lang="en-US" altLang="ko-KR" sz="1000" b="1" dirty="0">
                  <a:solidFill>
                    <a:prstClr val="black"/>
                  </a:solidFill>
                </a:endParaRPr>
              </a:p>
            </p:txBody>
          </p:sp>
        </p:grpSp>
        <p:sp>
          <p:nvSpPr>
            <p:cNvPr id="11" name="TextBox 10">
              <a:extLst>
                <a:ext uri="{FF2B5EF4-FFF2-40B4-BE49-F238E27FC236}">
                  <a16:creationId xmlns:a16="http://schemas.microsoft.com/office/drawing/2014/main" id="{69A1A7C7-457C-4F7E-8830-442A59EBC496}"/>
                </a:ext>
              </a:extLst>
            </p:cNvPr>
            <p:cNvSpPr txBox="1"/>
            <p:nvPr/>
          </p:nvSpPr>
          <p:spPr>
            <a:xfrm>
              <a:off x="5269492" y="5863579"/>
              <a:ext cx="1653017" cy="246221"/>
            </a:xfrm>
            <a:prstGeom prst="rect">
              <a:avLst/>
            </a:prstGeom>
            <a:noFill/>
          </p:spPr>
          <p:txBody>
            <a:bodyPr wrap="none" rtlCol="0">
              <a:spAutoFit/>
            </a:bodyPr>
            <a:lstStyle/>
            <a:p>
              <a:pPr algn="ctr"/>
              <a:r>
                <a:rPr lang="en-US" altLang="ko-KR" sz="1000" b="1" dirty="0"/>
                <a:t>mongo-</a:t>
              </a:r>
              <a:r>
                <a:rPr lang="en-US" altLang="ko-KR" sz="1000" b="1" dirty="0" err="1"/>
                <a:t>configmap.yaml</a:t>
              </a:r>
              <a:endParaRPr lang="ko-KR" altLang="en-US" sz="1000" b="1" dirty="0"/>
            </a:p>
          </p:txBody>
        </p:sp>
      </p:grpSp>
    </p:spTree>
    <p:extLst>
      <p:ext uri="{BB962C8B-B14F-4D97-AF65-F5344CB8AC3E}">
        <p14:creationId xmlns:p14="http://schemas.microsoft.com/office/powerpoint/2010/main" val="1376832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(11/15)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Automating MongoDB Cluster Creation :</a:t>
            </a:r>
          </a:p>
          <a:p>
            <a:pPr lvl="1">
              <a:buFont typeface="Wingdings" panose="05000000000000000000" pitchFamily="2" charset="2"/>
              <a:buChar char="§"/>
            </a:pPr>
            <a:r>
              <a:rPr lang="en-US" altLang="ko-KR" sz="1400" b="1" dirty="0"/>
              <a:t>NOTE : The previous script currently sleeps forever after initializing the cluster. Every container in a Pod has to have the same </a:t>
            </a:r>
            <a:r>
              <a:rPr lang="en-US" altLang="ko-KR" sz="1400" b="1" dirty="0" err="1">
                <a:solidFill>
                  <a:srgbClr val="FF0000"/>
                </a:solidFill>
              </a:rPr>
              <a:t>RestartPolicy</a:t>
            </a:r>
            <a:r>
              <a:rPr lang="en-US" altLang="ko-KR" sz="1400" dirty="0"/>
              <a:t>. Since we do not want our main Mongo container to be restarted, we need to have our initialization container run forever too, or else Kubernetes might think our Mongo Pod is unhealthy.</a:t>
            </a:r>
          </a:p>
          <a:p>
            <a:pPr lvl="1">
              <a:buFont typeface="Wingdings" panose="05000000000000000000" pitchFamily="2" charset="2"/>
              <a:buChar char="§"/>
            </a:pPr>
            <a:r>
              <a:rPr lang="en-US" altLang="ko-KR" sz="1400" b="1" dirty="0"/>
              <a:t>Putting it all together</a:t>
            </a:r>
            <a:r>
              <a:rPr lang="en-US" altLang="ko-KR" sz="1400" dirty="0"/>
              <a:t>, </a:t>
            </a:r>
            <a:r>
              <a:rPr lang="en-US" altLang="ko-KR" sz="1400" b="1" dirty="0"/>
              <a:t>the following YAML file is </a:t>
            </a:r>
            <a:r>
              <a:rPr lang="en-US" altLang="ko-KR" sz="1400" b="1" dirty="0">
                <a:solidFill>
                  <a:srgbClr val="FF0000"/>
                </a:solidFill>
              </a:rPr>
              <a:t>the complete </a:t>
            </a:r>
            <a:r>
              <a:rPr lang="en-US" altLang="ko-KR" sz="1400" b="1" dirty="0" err="1">
                <a:solidFill>
                  <a:srgbClr val="FF0000"/>
                </a:solidFill>
              </a:rPr>
              <a:t>StatefulSet</a:t>
            </a:r>
            <a:r>
              <a:rPr lang="en-US" altLang="ko-KR" sz="1400" b="1" dirty="0">
                <a:solidFill>
                  <a:srgbClr val="FF0000"/>
                </a:solidFill>
              </a:rPr>
              <a:t> </a:t>
            </a:r>
            <a:r>
              <a:rPr lang="en-US" altLang="ko-KR" sz="1400" b="1" dirty="0"/>
              <a:t>that uses the </a:t>
            </a:r>
            <a:r>
              <a:rPr lang="en-US" altLang="ko-KR" sz="1400" b="1" dirty="0" err="1"/>
              <a:t>ConfigMap</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F15D1C2C-1BEA-46A2-87F7-7EA5DD938B8A}"/>
              </a:ext>
            </a:extLst>
          </p:cNvPr>
          <p:cNvGrpSpPr/>
          <p:nvPr/>
        </p:nvGrpSpPr>
        <p:grpSpPr>
          <a:xfrm>
            <a:off x="1935480" y="2319809"/>
            <a:ext cx="8321040" cy="3724096"/>
            <a:chOff x="1935480" y="2271770"/>
            <a:chExt cx="8321040" cy="3724096"/>
          </a:xfrm>
        </p:grpSpPr>
        <p:grpSp>
          <p:nvGrpSpPr>
            <p:cNvPr id="10" name="그룹 9">
              <a:extLst>
                <a:ext uri="{FF2B5EF4-FFF2-40B4-BE49-F238E27FC236}">
                  <a16:creationId xmlns:a16="http://schemas.microsoft.com/office/drawing/2014/main" id="{E9B1A901-E81D-45BB-B581-5B79DD404994}"/>
                </a:ext>
              </a:extLst>
            </p:cNvPr>
            <p:cNvGrpSpPr/>
            <p:nvPr/>
          </p:nvGrpSpPr>
          <p:grpSpPr>
            <a:xfrm>
              <a:off x="1935480" y="2271770"/>
              <a:ext cx="8321040" cy="3477875"/>
              <a:chOff x="1935480" y="2271770"/>
              <a:chExt cx="8321040" cy="3477875"/>
            </a:xfrm>
          </p:grpSpPr>
          <p:sp>
            <p:nvSpPr>
              <p:cNvPr id="4" name="직사각형 3">
                <a:extLst>
                  <a:ext uri="{FF2B5EF4-FFF2-40B4-BE49-F238E27FC236}">
                    <a16:creationId xmlns:a16="http://schemas.microsoft.com/office/drawing/2014/main" id="{0F1A95BA-D57F-45E1-9264-9ECD6D7F98DA}"/>
                  </a:ext>
                </a:extLst>
              </p:cNvPr>
              <p:cNvSpPr/>
              <p:nvPr/>
            </p:nvSpPr>
            <p:spPr>
              <a:xfrm>
                <a:off x="1935480" y="2271770"/>
                <a:ext cx="4160520" cy="3477875"/>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a:t>
                </a:r>
                <a:r>
                  <a:rPr lang="en-US" altLang="ko-KR" sz="1000" b="1" dirty="0" err="1">
                    <a:solidFill>
                      <a:srgbClr val="FF0000"/>
                    </a:solidFill>
                  </a:rPr>
                  <a:t>StatefulSet</a:t>
                </a:r>
                <a:endParaRPr lang="en-US" altLang="ko-KR" sz="1000" b="1" dirty="0">
                  <a:solidFill>
                    <a:srgbClr val="FF0000"/>
                  </a:solidFill>
                </a:endParaRPr>
              </a:p>
              <a:p>
                <a:r>
                  <a:rPr lang="en-US" altLang="ko-KR" sz="1000" b="1" dirty="0"/>
                  <a:t>metadata:</a:t>
                </a:r>
              </a:p>
              <a:p>
                <a:r>
                  <a:rPr lang="en-US" altLang="ko-KR" sz="1000" b="1" dirty="0"/>
                  <a:t>  name: mongo</a:t>
                </a:r>
              </a:p>
              <a:p>
                <a:r>
                  <a:rPr lang="en-US" altLang="ko-KR" sz="1000" b="1" dirty="0"/>
                  <a:t>spec:</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mongo</a:t>
                </a:r>
              </a:p>
              <a:p>
                <a:r>
                  <a:rPr lang="en-US" altLang="ko-KR" sz="1000" b="1" dirty="0"/>
                  <a:t>  </a:t>
                </a:r>
                <a:r>
                  <a:rPr lang="en-US" altLang="ko-KR" sz="1000" b="1" dirty="0" err="1"/>
                  <a:t>serviceName</a:t>
                </a:r>
                <a:r>
                  <a:rPr lang="en-US" altLang="ko-KR" sz="1000" b="1" dirty="0"/>
                  <a:t>: "mongo"</a:t>
                </a:r>
              </a:p>
              <a:p>
                <a:r>
                  <a:rPr lang="en-US" altLang="ko-KR" sz="1000" b="1" dirty="0"/>
                  <a:t>  replicas: 3</a:t>
                </a:r>
              </a:p>
              <a:p>
                <a:r>
                  <a:rPr lang="en-US" altLang="ko-KR" sz="1000" b="1" dirty="0"/>
                  <a:t>  template:</a:t>
                </a:r>
              </a:p>
              <a:p>
                <a:r>
                  <a:rPr lang="en-US" altLang="ko-KR" sz="1000" b="1" dirty="0"/>
                  <a:t>    metadata:</a:t>
                </a:r>
              </a:p>
              <a:p>
                <a:r>
                  <a:rPr lang="en-US" altLang="ko-KR" sz="1000" b="1" dirty="0"/>
                  <a:t>      labels:</a:t>
                </a:r>
              </a:p>
              <a:p>
                <a:r>
                  <a:rPr lang="en-US" altLang="ko-KR" sz="1000" b="1" dirty="0"/>
                  <a:t>        app: mongo</a:t>
                </a:r>
              </a:p>
              <a:p>
                <a:r>
                  <a:rPr lang="en-US" altLang="ko-KR" sz="1000" b="1" dirty="0"/>
                  <a:t>    spec:</a:t>
                </a:r>
              </a:p>
              <a:p>
                <a:r>
                  <a:rPr lang="en-US" altLang="ko-KR" sz="1000" b="1" dirty="0"/>
                  <a:t>      containers:</a:t>
                </a:r>
              </a:p>
              <a:p>
                <a:r>
                  <a:rPr lang="en-US" altLang="ko-KR" sz="1000" b="1" dirty="0"/>
                  <a:t>      - name: </a:t>
                </a:r>
                <a:r>
                  <a:rPr lang="en-US" altLang="ko-KR" sz="1000" b="1" dirty="0" err="1"/>
                  <a:t>mongodb</a:t>
                </a:r>
                <a:endParaRPr lang="en-US" altLang="ko-KR" sz="1000" b="1" dirty="0"/>
              </a:p>
              <a:p>
                <a:r>
                  <a:rPr lang="en-US" altLang="ko-KR" sz="1000" b="1" dirty="0"/>
                  <a:t>        image: mongo:3.4.1</a:t>
                </a:r>
              </a:p>
              <a:p>
                <a:r>
                  <a:rPr lang="en-US" altLang="ko-KR" sz="1000" b="1" dirty="0"/>
                  <a:t>        command:</a:t>
                </a:r>
              </a:p>
              <a:p>
                <a:r>
                  <a:rPr lang="en-US" altLang="ko-KR" sz="1000" b="1" dirty="0"/>
                  <a:t>        - </a:t>
                </a:r>
                <a:r>
                  <a:rPr lang="en-US" altLang="ko-KR" sz="1000" b="1" dirty="0" err="1"/>
                  <a:t>mongod</a:t>
                </a:r>
                <a:endParaRPr lang="en-US" altLang="ko-KR" sz="1000" b="1" dirty="0"/>
              </a:p>
              <a:p>
                <a:r>
                  <a:rPr lang="en-US" altLang="ko-KR" sz="1000" b="1" dirty="0"/>
                  <a:t>        - --</a:t>
                </a:r>
                <a:r>
                  <a:rPr lang="en-US" altLang="ko-KR" sz="1000" b="1" dirty="0" err="1"/>
                  <a:t>replSet</a:t>
                </a:r>
                <a:endParaRPr lang="en-US" altLang="ko-KR" sz="1000" b="1" dirty="0"/>
              </a:p>
              <a:p>
                <a:r>
                  <a:rPr lang="en-US" altLang="ko-KR" sz="1000" b="1" dirty="0"/>
                  <a:t>        - rs0</a:t>
                </a:r>
              </a:p>
            </p:txBody>
          </p:sp>
          <p:sp>
            <p:nvSpPr>
              <p:cNvPr id="9" name="직사각형 8">
                <a:extLst>
                  <a:ext uri="{FF2B5EF4-FFF2-40B4-BE49-F238E27FC236}">
                    <a16:creationId xmlns:a16="http://schemas.microsoft.com/office/drawing/2014/main" id="{416BC32E-9A23-40F0-BE0A-1A30CD14E43F}"/>
                  </a:ext>
                </a:extLst>
              </p:cNvPr>
              <p:cNvSpPr/>
              <p:nvPr/>
            </p:nvSpPr>
            <p:spPr>
              <a:xfrm>
                <a:off x="6096000" y="2271770"/>
                <a:ext cx="4160520" cy="3477875"/>
              </a:xfrm>
              <a:prstGeom prst="rect">
                <a:avLst/>
              </a:prstGeom>
              <a:ln>
                <a:solidFill>
                  <a:schemeClr val="bg1">
                    <a:lumMod val="50000"/>
                  </a:schemeClr>
                </a:solidFill>
              </a:ln>
            </p:spPr>
            <p:txBody>
              <a:bodyPr wrap="square">
                <a:spAutoFit/>
              </a:bodyPr>
              <a:lstStyle/>
              <a:p>
                <a:pPr lvl="0"/>
                <a:r>
                  <a:rPr lang="en-US" altLang="ko-KR" sz="1000" b="1" dirty="0">
                    <a:solidFill>
                      <a:prstClr val="black"/>
                    </a:solidFill>
                  </a:rPr>
                  <a:t>       ports:</a:t>
                </a:r>
              </a:p>
              <a:p>
                <a:pPr lvl="0"/>
                <a:r>
                  <a:rPr lang="en-US" altLang="ko-KR" sz="1000" b="1" dirty="0">
                    <a:solidFill>
                      <a:prstClr val="black"/>
                    </a:solidFill>
                  </a:rPr>
                  <a:t>        - </a:t>
                </a:r>
                <a:r>
                  <a:rPr lang="en-US" altLang="ko-KR" sz="1000" b="1" dirty="0" err="1">
                    <a:solidFill>
                      <a:prstClr val="black"/>
                    </a:solidFill>
                  </a:rPr>
                  <a:t>containerPort</a:t>
                </a:r>
                <a:r>
                  <a:rPr lang="en-US" altLang="ko-KR" sz="1000" b="1" dirty="0">
                    <a:solidFill>
                      <a:prstClr val="black"/>
                    </a:solidFill>
                  </a:rPr>
                  <a:t>: 27017</a:t>
                </a:r>
              </a:p>
              <a:p>
                <a:pPr lvl="0"/>
                <a:r>
                  <a:rPr lang="en-US" altLang="ko-KR" sz="1000" b="1" dirty="0">
                    <a:solidFill>
                      <a:prstClr val="black"/>
                    </a:solidFill>
                  </a:rPr>
                  <a:t>          name: web</a:t>
                </a:r>
              </a:p>
              <a:p>
                <a:pPr lvl="0"/>
                <a:r>
                  <a:rPr lang="en-US" altLang="ko-KR" sz="1000" b="1" dirty="0">
                    <a:solidFill>
                      <a:prstClr val="black"/>
                    </a:solidFill>
                  </a:rPr>
                  <a:t>      # This container initializes the </a:t>
                </a:r>
                <a:r>
                  <a:rPr lang="en-US" altLang="ko-KR" sz="1000" b="1" dirty="0" err="1">
                    <a:solidFill>
                      <a:prstClr val="black"/>
                    </a:solidFill>
                  </a:rPr>
                  <a:t>mongodb</a:t>
                </a:r>
                <a:r>
                  <a:rPr lang="en-US" altLang="ko-KR" sz="1000" b="1" dirty="0">
                    <a:solidFill>
                      <a:prstClr val="black"/>
                    </a:solidFill>
                  </a:rPr>
                  <a:t>, then sleeps.</a:t>
                </a:r>
              </a:p>
              <a:p>
                <a:pPr lvl="0"/>
                <a:r>
                  <a:rPr lang="en-US" altLang="ko-KR" sz="1000" b="1" dirty="0">
                    <a:solidFill>
                      <a:prstClr val="black"/>
                    </a:solidFill>
                  </a:rPr>
                  <a:t>      - name: </a:t>
                </a:r>
                <a:r>
                  <a:rPr lang="en-US" altLang="ko-KR" sz="1000" b="1" dirty="0" err="1">
                    <a:solidFill>
                      <a:prstClr val="black"/>
                    </a:solidFill>
                  </a:rPr>
                  <a:t>init</a:t>
                </a:r>
                <a:r>
                  <a:rPr lang="en-US" altLang="ko-KR" sz="1000" b="1" dirty="0">
                    <a:solidFill>
                      <a:prstClr val="black"/>
                    </a:solidFill>
                  </a:rPr>
                  <a:t>-mongo</a:t>
                </a:r>
              </a:p>
              <a:p>
                <a:pPr lvl="0"/>
                <a:r>
                  <a:rPr lang="en-US" altLang="ko-KR" sz="1000" b="1" dirty="0">
                    <a:solidFill>
                      <a:prstClr val="black"/>
                    </a:solidFill>
                  </a:rPr>
                  <a:t>        image: mongo:3.4.1</a:t>
                </a:r>
              </a:p>
              <a:p>
                <a:pPr lvl="0"/>
                <a:r>
                  <a:rPr lang="en-US" altLang="ko-KR" sz="1000" b="1" dirty="0">
                    <a:solidFill>
                      <a:prstClr val="black"/>
                    </a:solidFill>
                  </a:rPr>
                  <a:t>        command:</a:t>
                </a:r>
              </a:p>
              <a:p>
                <a:pPr lvl="0"/>
                <a:r>
                  <a:rPr lang="en-US" altLang="ko-KR" sz="1000" b="1" dirty="0">
                    <a:solidFill>
                      <a:prstClr val="black"/>
                    </a:solidFill>
                  </a:rPr>
                  <a:t>        - bash</a:t>
                </a:r>
              </a:p>
              <a:p>
                <a:pPr lvl="0"/>
                <a:r>
                  <a:rPr lang="en-US" altLang="ko-KR" sz="1000" b="1" dirty="0">
                    <a:solidFill>
                      <a:prstClr val="black"/>
                    </a:solidFill>
                  </a:rPr>
                  <a:t>        - </a:t>
                </a:r>
                <a:r>
                  <a:rPr lang="en-US" altLang="ko-KR" sz="1000" b="1" dirty="0">
                    <a:solidFill>
                      <a:srgbClr val="FF0000"/>
                    </a:solidFill>
                  </a:rPr>
                  <a:t>/config/init.sh</a:t>
                </a:r>
              </a:p>
              <a:p>
                <a:pPr lvl="0"/>
                <a:r>
                  <a:rPr lang="en-US" altLang="ko-KR" sz="1000" b="1" dirty="0">
                    <a:solidFill>
                      <a:prstClr val="black"/>
                    </a:solidFill>
                  </a:rPr>
                  <a:t>        </a:t>
                </a:r>
                <a:r>
                  <a:rPr lang="en-US" altLang="ko-KR" sz="1000" b="1" dirty="0" err="1">
                    <a:solidFill>
                      <a:prstClr val="black"/>
                    </a:solidFill>
                  </a:rPr>
                  <a:t>volumeMounts</a:t>
                </a:r>
                <a:r>
                  <a:rPr lang="en-US" altLang="ko-KR" sz="1000" b="1" dirty="0">
                    <a:solidFill>
                      <a:prstClr val="black"/>
                    </a:solidFill>
                  </a:rPr>
                  <a:t>:</a:t>
                </a:r>
              </a:p>
              <a:p>
                <a:pPr lvl="0"/>
                <a:r>
                  <a:rPr lang="en-US" altLang="ko-KR" sz="1000" b="1" dirty="0">
                    <a:solidFill>
                      <a:prstClr val="black"/>
                    </a:solidFill>
                  </a:rPr>
                  <a:t>        - name: config</a:t>
                </a:r>
              </a:p>
              <a:p>
                <a:pPr lvl="0"/>
                <a:r>
                  <a:rPr lang="en-US" altLang="ko-KR" sz="1000" b="1" dirty="0">
                    <a:solidFill>
                      <a:prstClr val="black"/>
                    </a:solidFill>
                  </a:rPr>
                  <a:t>          </a:t>
                </a:r>
                <a:r>
                  <a:rPr lang="en-US" altLang="ko-KR" sz="1000" b="1" dirty="0" err="1">
                    <a:solidFill>
                      <a:prstClr val="black"/>
                    </a:solidFill>
                  </a:rPr>
                  <a:t>mountPath</a:t>
                </a:r>
                <a:r>
                  <a:rPr lang="en-US" altLang="ko-KR" sz="1000" b="1" dirty="0">
                    <a:solidFill>
                      <a:prstClr val="black"/>
                    </a:solidFill>
                  </a:rPr>
                  <a:t>: /config</a:t>
                </a:r>
              </a:p>
              <a:p>
                <a:pPr lvl="0"/>
                <a:r>
                  <a:rPr lang="en-US" altLang="ko-KR" sz="1000" b="1" dirty="0">
                    <a:solidFill>
                      <a:prstClr val="black"/>
                    </a:solidFill>
                  </a:rPr>
                  <a:t>      volumes:</a:t>
                </a:r>
              </a:p>
              <a:p>
                <a:pPr lvl="0"/>
                <a:r>
                  <a:rPr lang="en-US" altLang="ko-KR" sz="1000" b="1" dirty="0">
                    <a:solidFill>
                      <a:prstClr val="black"/>
                    </a:solidFill>
                  </a:rPr>
                  <a:t>      - name: config</a:t>
                </a:r>
              </a:p>
              <a:p>
                <a:pPr lvl="0"/>
                <a:r>
                  <a:rPr lang="en-US" altLang="ko-KR" sz="1000" b="1" dirty="0">
                    <a:solidFill>
                      <a:prstClr val="black"/>
                    </a:solidFill>
                  </a:rPr>
                  <a:t>        </a:t>
                </a:r>
                <a:r>
                  <a:rPr lang="en-US" altLang="ko-KR" sz="1000" b="1" dirty="0" err="1">
                    <a:solidFill>
                      <a:srgbClr val="FF0000"/>
                    </a:solidFill>
                  </a:rPr>
                  <a:t>configMap</a:t>
                </a:r>
                <a:r>
                  <a:rPr lang="en-US" altLang="ko-KR" sz="1000" b="1" dirty="0">
                    <a:solidFill>
                      <a:prstClr val="black"/>
                    </a:solidFill>
                  </a:rPr>
                  <a:t>:</a:t>
                </a:r>
              </a:p>
              <a:p>
                <a:pPr lvl="0"/>
                <a:r>
                  <a:rPr lang="en-US" altLang="ko-KR" sz="1000" b="1" dirty="0">
                    <a:solidFill>
                      <a:prstClr val="black"/>
                    </a:solidFill>
                  </a:rPr>
                  <a:t>          name: "</a:t>
                </a:r>
                <a:r>
                  <a:rPr lang="en-US" altLang="ko-KR" sz="1000" b="1" dirty="0">
                    <a:solidFill>
                      <a:srgbClr val="FF0000"/>
                    </a:solidFill>
                  </a:rPr>
                  <a:t>mongo-</a:t>
                </a:r>
                <a:r>
                  <a:rPr lang="en-US" altLang="ko-KR" sz="1000" b="1" dirty="0" err="1">
                    <a:solidFill>
                      <a:srgbClr val="FF0000"/>
                    </a:solidFill>
                  </a:rPr>
                  <a:t>init</a:t>
                </a:r>
                <a:r>
                  <a:rPr lang="en-US" altLang="ko-KR" sz="1000" b="1" dirty="0">
                    <a:solidFill>
                      <a:prstClr val="black"/>
                    </a:solidFill>
                  </a:rPr>
                  <a:t>“</a:t>
                </a: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p:txBody>
          </p:sp>
        </p:grpSp>
        <p:sp>
          <p:nvSpPr>
            <p:cNvPr id="11" name="TextBox 10">
              <a:extLst>
                <a:ext uri="{FF2B5EF4-FFF2-40B4-BE49-F238E27FC236}">
                  <a16:creationId xmlns:a16="http://schemas.microsoft.com/office/drawing/2014/main" id="{D697337D-AB7F-4E43-804E-89B76A85C89F}"/>
                </a:ext>
              </a:extLst>
            </p:cNvPr>
            <p:cNvSpPr txBox="1"/>
            <p:nvPr/>
          </p:nvSpPr>
          <p:spPr>
            <a:xfrm>
              <a:off x="5622152" y="5749645"/>
              <a:ext cx="947695" cy="246221"/>
            </a:xfrm>
            <a:prstGeom prst="rect">
              <a:avLst/>
            </a:prstGeom>
            <a:noFill/>
          </p:spPr>
          <p:txBody>
            <a:bodyPr wrap="none" rtlCol="0">
              <a:spAutoFit/>
            </a:bodyPr>
            <a:lstStyle/>
            <a:p>
              <a:pPr algn="ctr"/>
              <a:r>
                <a:rPr lang="en-US" altLang="ko-KR" sz="1000" b="1" dirty="0" err="1"/>
                <a:t>mongo.yaml</a:t>
              </a:r>
              <a:endParaRPr lang="ko-KR" altLang="en-US" sz="1000" b="1" dirty="0"/>
            </a:p>
          </p:txBody>
        </p:sp>
      </p:grpSp>
    </p:spTree>
    <p:extLst>
      <p:ext uri="{BB962C8B-B14F-4D97-AF65-F5344CB8AC3E}">
        <p14:creationId xmlns:p14="http://schemas.microsoft.com/office/powerpoint/2010/main" val="997226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(12/15)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Automating MongoDB Cluster Creation :</a:t>
            </a:r>
          </a:p>
          <a:p>
            <a:pPr lvl="1">
              <a:buFont typeface="Wingdings" panose="05000000000000000000" pitchFamily="2" charset="2"/>
              <a:buChar char="§"/>
            </a:pPr>
            <a:r>
              <a:rPr lang="en-US" altLang="ko-KR" sz="1400" dirty="0"/>
              <a:t>Given all of these files, you can </a:t>
            </a:r>
            <a:r>
              <a:rPr lang="en-US" altLang="ko-KR" sz="1400" b="1" dirty="0"/>
              <a:t>create a Mongo cluster </a:t>
            </a:r>
            <a:r>
              <a:rPr lang="en-US" altLang="ko-KR" sz="1400" dirty="0"/>
              <a:t>with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You can combine them all into a single YAML file where the individual objects are separated by “</a:t>
            </a:r>
            <a:r>
              <a:rPr lang="en-US" altLang="ko-KR" sz="1400" b="1" dirty="0">
                <a:solidFill>
                  <a:srgbClr val="FF0000"/>
                </a:solidFill>
              </a:rPr>
              <a:t>---</a:t>
            </a:r>
            <a:r>
              <a:rPr lang="en-US" altLang="ko-KR" sz="1400" b="1" dirty="0"/>
              <a:t>”</a:t>
            </a:r>
            <a:r>
              <a:rPr lang="en-US" altLang="ko-KR" sz="1400" dirty="0"/>
              <a:t>. </a:t>
            </a:r>
          </a:p>
          <a:p>
            <a:pPr lvl="1">
              <a:buFont typeface="Wingdings" panose="05000000000000000000" pitchFamily="2" charset="2"/>
              <a:buChar char="§"/>
            </a:pPr>
            <a:r>
              <a:rPr lang="en-US" altLang="ko-KR" sz="1400" b="1" dirty="0"/>
              <a:t>NOTE : Ensure that you </a:t>
            </a:r>
            <a:r>
              <a:rPr lang="en-US" altLang="ko-KR" sz="1400" b="1" dirty="0">
                <a:solidFill>
                  <a:srgbClr val="FF0000"/>
                </a:solidFill>
              </a:rPr>
              <a:t>keep the same ordering(“</a:t>
            </a:r>
            <a:r>
              <a:rPr lang="en-US" altLang="ko-KR" sz="1400" b="1" dirty="0" err="1">
                <a:solidFill>
                  <a:srgbClr val="FF0000"/>
                </a:solidFill>
              </a:rPr>
              <a:t>kubectl</a:t>
            </a:r>
            <a:r>
              <a:rPr lang="en-US" altLang="ko-KR" sz="1400" b="1" dirty="0">
                <a:solidFill>
                  <a:srgbClr val="FF0000"/>
                </a:solidFill>
              </a:rPr>
              <a:t> apply -f xxx”)</a:t>
            </a:r>
            <a:r>
              <a:rPr lang="en-US" altLang="ko-KR" sz="1400" b="1" dirty="0"/>
              <a:t>, since “the </a:t>
            </a:r>
            <a:r>
              <a:rPr lang="en-US" altLang="ko-KR" sz="1400" b="1" dirty="0" err="1"/>
              <a:t>StatefulSet</a:t>
            </a:r>
            <a:r>
              <a:rPr lang="en-US" altLang="ko-KR" sz="1400" b="1" dirty="0"/>
              <a:t> definition relies on the </a:t>
            </a:r>
            <a:r>
              <a:rPr lang="en-US" altLang="ko-KR" sz="1400" b="1" dirty="0" err="1"/>
              <a:t>ConfigMap</a:t>
            </a:r>
            <a:r>
              <a:rPr lang="en-US" altLang="ko-KR" sz="1400" b="1" dirty="0"/>
              <a:t> definition existing”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AF020CE-7CB5-4E83-8E17-AB5765234641}"/>
              </a:ext>
            </a:extLst>
          </p:cNvPr>
          <p:cNvGrpSpPr/>
          <p:nvPr/>
        </p:nvGrpSpPr>
        <p:grpSpPr>
          <a:xfrm>
            <a:off x="1333500" y="1580495"/>
            <a:ext cx="9525000" cy="3571542"/>
            <a:chOff x="1333500" y="1496675"/>
            <a:chExt cx="9525000" cy="3571542"/>
          </a:xfrm>
        </p:grpSpPr>
        <p:sp>
          <p:nvSpPr>
            <p:cNvPr id="4" name="직사각형 3">
              <a:extLst>
                <a:ext uri="{FF2B5EF4-FFF2-40B4-BE49-F238E27FC236}">
                  <a16:creationId xmlns:a16="http://schemas.microsoft.com/office/drawing/2014/main" id="{A1593B6C-315A-4E21-8C69-8A5B8AED24F1}"/>
                </a:ext>
              </a:extLst>
            </p:cNvPr>
            <p:cNvSpPr/>
            <p:nvPr/>
          </p:nvSpPr>
          <p:spPr>
            <a:xfrm>
              <a:off x="3048000" y="1496675"/>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mongo-</a:t>
              </a:r>
              <a:r>
                <a:rPr lang="en-US" altLang="ko-KR" sz="1000" b="1" dirty="0" err="1">
                  <a:solidFill>
                    <a:srgbClr val="FF0000"/>
                  </a:solidFill>
                </a:rPr>
                <a:t>configmap.yaml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mongo-</a:t>
              </a:r>
              <a:r>
                <a:rPr lang="en-US" altLang="ko-KR" sz="1000" b="1" dirty="0" err="1">
                  <a:solidFill>
                    <a:srgbClr val="FF0000"/>
                  </a:solidFill>
                </a:rPr>
                <a:t>service.yaml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mongo.yaml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A409C715-0FAF-42CE-9417-1931F909F227}"/>
                </a:ext>
              </a:extLst>
            </p:cNvPr>
            <p:cNvSpPr/>
            <p:nvPr/>
          </p:nvSpPr>
          <p:spPr>
            <a:xfrm>
              <a:off x="5871210" y="2062115"/>
              <a:ext cx="449580" cy="2895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261FB4F7-B92A-4D32-8D36-5BF71BB20A70}"/>
                </a:ext>
              </a:extLst>
            </p:cNvPr>
            <p:cNvPicPr>
              <a:picLocks noChangeAspect="1"/>
            </p:cNvPicPr>
            <p:nvPr/>
          </p:nvPicPr>
          <p:blipFill>
            <a:blip r:embed="rId2"/>
            <a:stretch>
              <a:fillRect/>
            </a:stretch>
          </p:blipFill>
          <p:spPr>
            <a:xfrm>
              <a:off x="1333500" y="2363117"/>
              <a:ext cx="9525000" cy="2705100"/>
            </a:xfrm>
            <a:prstGeom prst="rect">
              <a:avLst/>
            </a:prstGeom>
            <a:ln>
              <a:solidFill>
                <a:schemeClr val="bg1">
                  <a:lumMod val="50000"/>
                </a:schemeClr>
              </a:solidFill>
            </a:ln>
          </p:spPr>
        </p:pic>
      </p:grpSp>
      <p:sp>
        <p:nvSpPr>
          <p:cNvPr id="9" name="직사각형 8">
            <a:extLst>
              <a:ext uri="{FF2B5EF4-FFF2-40B4-BE49-F238E27FC236}">
                <a16:creationId xmlns:a16="http://schemas.microsoft.com/office/drawing/2014/main" id="{B77D6989-F36A-C2ED-7EAB-1140827EE5AF}"/>
              </a:ext>
            </a:extLst>
          </p:cNvPr>
          <p:cNvSpPr/>
          <p:nvPr/>
        </p:nvSpPr>
        <p:spPr>
          <a:xfrm>
            <a:off x="1455420" y="4282440"/>
            <a:ext cx="3299460" cy="5105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504949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(13/15)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Persistent Volumes and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For persistent storage, you need to mount a persistent volume into the “/data/</a:t>
            </a:r>
            <a:r>
              <a:rPr lang="en-US" altLang="ko-KR" sz="1400" b="1" dirty="0" err="1"/>
              <a:t>db</a:t>
            </a:r>
            <a:r>
              <a:rPr lang="en-US" altLang="ko-KR" sz="1400" b="1" dirty="0"/>
              <a:t>” directory</a:t>
            </a:r>
            <a:r>
              <a:rPr lang="en-US" altLang="ko-KR" sz="1400" dirty="0"/>
              <a:t>. </a:t>
            </a:r>
            <a:r>
              <a:rPr lang="en-US" altLang="ko-KR" sz="1400" b="1" dirty="0"/>
              <a:t>In the Pod template, you need to update it to mount a </a:t>
            </a:r>
            <a:r>
              <a:rPr lang="en-US" altLang="ko-KR" sz="1400" b="1" dirty="0">
                <a:solidFill>
                  <a:srgbClr val="FF0000"/>
                </a:solidFill>
              </a:rPr>
              <a:t>persistent volume claim </a:t>
            </a:r>
            <a:r>
              <a:rPr lang="en-US" altLang="ko-KR" sz="1400" b="1" dirty="0"/>
              <a:t>to that directory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While this approach is similar to the one we saw with reliable singletons, because the </a:t>
            </a:r>
            <a:r>
              <a:rPr lang="en-US" altLang="ko-KR" sz="1400" b="1" dirty="0" err="1"/>
              <a:t>StatefulSet</a:t>
            </a:r>
            <a:r>
              <a:rPr lang="en-US" altLang="ko-KR" sz="1400" b="1" dirty="0"/>
              <a:t> replicates more than one Pod you cannot simply reference a persistent volume claim</a:t>
            </a:r>
            <a:r>
              <a:rPr lang="en-US" altLang="ko-KR" sz="1400" dirty="0"/>
              <a:t>. </a:t>
            </a:r>
            <a:r>
              <a:rPr lang="en-US" altLang="ko-KR" sz="1400" b="1" dirty="0"/>
              <a:t>Instead, you need to add a “</a:t>
            </a:r>
            <a:r>
              <a:rPr lang="en-US" altLang="ko-KR" sz="1400" b="1" dirty="0">
                <a:solidFill>
                  <a:srgbClr val="FF0000"/>
                </a:solidFill>
              </a:rPr>
              <a:t>persistent volume claim template</a:t>
            </a:r>
            <a:r>
              <a:rPr lang="en-US" altLang="ko-KR" sz="1400" b="1" dirty="0"/>
              <a:t>”</a:t>
            </a:r>
            <a:r>
              <a:rPr lang="en-US" altLang="ko-KR" sz="1400" dirty="0"/>
              <a:t>. </a:t>
            </a:r>
            <a:r>
              <a:rPr lang="en-US" altLang="ko-KR" sz="1400" b="1" dirty="0"/>
              <a:t>You can think of the claim template as being identical to the Pod template, but </a:t>
            </a:r>
            <a:r>
              <a:rPr lang="en-US" altLang="ko-KR" sz="1400" b="1" dirty="0">
                <a:solidFill>
                  <a:srgbClr val="FF0000"/>
                </a:solidFill>
              </a:rPr>
              <a:t>instead of creating Pods, it creates volume claims</a:t>
            </a:r>
            <a:r>
              <a:rPr lang="en-US" altLang="ko-KR" sz="1400" dirty="0"/>
              <a:t>. You need to add the following onto the bottom of your </a:t>
            </a:r>
            <a:r>
              <a:rPr lang="en-US" altLang="ko-KR" sz="1400" b="1" dirty="0" err="1"/>
              <a:t>StatefulSet</a:t>
            </a:r>
            <a:r>
              <a:rPr lang="en-US" altLang="ko-KR" sz="1400" b="1" dirty="0"/>
              <a:t> </a:t>
            </a:r>
            <a:r>
              <a:rPr lang="en-US" altLang="ko-KR" sz="1400" dirty="0"/>
              <a:t>definition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E947925-B40D-4BA5-8730-1BF58FD09729}"/>
              </a:ext>
            </a:extLst>
          </p:cNvPr>
          <p:cNvSpPr/>
          <p:nvPr/>
        </p:nvSpPr>
        <p:spPr>
          <a:xfrm>
            <a:off x="3048000" y="1708696"/>
            <a:ext cx="6096000" cy="70788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a:t>
            </a:r>
            <a:r>
              <a:rPr lang="en-US" altLang="ko-KR" sz="1000" b="1" dirty="0" err="1"/>
              <a:t>volumeMounts</a:t>
            </a:r>
            <a:r>
              <a:rPr lang="en-US" altLang="ko-KR" sz="1000" b="1" dirty="0"/>
              <a:t>:</a:t>
            </a:r>
          </a:p>
          <a:p>
            <a:r>
              <a:rPr lang="en-US" altLang="ko-KR" sz="1000" b="1" dirty="0"/>
              <a:t>      - name: database</a:t>
            </a:r>
          </a:p>
          <a:p>
            <a:r>
              <a:rPr lang="en-US" altLang="ko-KR" sz="1000" b="1" dirty="0"/>
              <a:t>        </a:t>
            </a:r>
            <a:r>
              <a:rPr lang="en-US" altLang="ko-KR" sz="1000" b="1" dirty="0" err="1"/>
              <a:t>mountPath</a:t>
            </a:r>
            <a:r>
              <a:rPr lang="en-US" altLang="ko-KR" sz="1000" b="1" dirty="0"/>
              <a:t>: </a:t>
            </a:r>
            <a:r>
              <a:rPr lang="en-US" altLang="ko-KR" sz="1000" b="1" dirty="0">
                <a:solidFill>
                  <a:srgbClr val="FF0000"/>
                </a:solidFill>
              </a:rPr>
              <a:t>/data/</a:t>
            </a:r>
            <a:r>
              <a:rPr lang="en-US" altLang="ko-KR" sz="1000" b="1" dirty="0" err="1">
                <a:solidFill>
                  <a:srgbClr val="FF0000"/>
                </a:solidFill>
              </a:rPr>
              <a:t>db</a:t>
            </a:r>
            <a:endParaRPr lang="ko-KR" altLang="en-US" sz="1000" b="1" dirty="0">
              <a:solidFill>
                <a:srgbClr val="FF0000"/>
              </a:solidFill>
            </a:endParaRPr>
          </a:p>
        </p:txBody>
      </p:sp>
      <p:sp>
        <p:nvSpPr>
          <p:cNvPr id="8" name="직사각형 7">
            <a:extLst>
              <a:ext uri="{FF2B5EF4-FFF2-40B4-BE49-F238E27FC236}">
                <a16:creationId xmlns:a16="http://schemas.microsoft.com/office/drawing/2014/main" id="{CF98B8F4-98E3-479B-A337-04D065306B43}"/>
              </a:ext>
            </a:extLst>
          </p:cNvPr>
          <p:cNvSpPr/>
          <p:nvPr/>
        </p:nvSpPr>
        <p:spPr>
          <a:xfrm>
            <a:off x="3048000" y="3685158"/>
            <a:ext cx="6096000" cy="1631216"/>
          </a:xfrm>
          <a:prstGeom prst="rect">
            <a:avLst/>
          </a:prstGeom>
          <a:ln>
            <a:solidFill>
              <a:schemeClr val="bg1">
                <a:lumMod val="50000"/>
              </a:schemeClr>
            </a:solidFill>
          </a:ln>
        </p:spPr>
        <p:txBody>
          <a:bodyPr>
            <a:spAutoFit/>
          </a:bodyPr>
          <a:lstStyle/>
          <a:p>
            <a:r>
              <a:rPr lang="en-US" altLang="ko-KR" sz="1000" b="1" dirty="0" err="1">
                <a:solidFill>
                  <a:srgbClr val="FF0000"/>
                </a:solidFill>
              </a:rPr>
              <a:t>volumeClaimTemplates</a:t>
            </a:r>
            <a:r>
              <a:rPr lang="en-US" altLang="ko-KR" sz="1000" b="1" dirty="0"/>
              <a:t>:</a:t>
            </a:r>
          </a:p>
          <a:p>
            <a:r>
              <a:rPr lang="en-US" altLang="ko-KR" sz="1000" b="1" dirty="0"/>
              <a:t>- metadata:</a:t>
            </a:r>
          </a:p>
          <a:p>
            <a:r>
              <a:rPr lang="en-US" altLang="ko-KR" sz="1000" b="1" dirty="0"/>
              <a:t>    name: </a:t>
            </a:r>
            <a:r>
              <a:rPr lang="en-US" altLang="ko-KR" sz="1000" b="1" dirty="0">
                <a:solidFill>
                  <a:srgbClr val="FF0000"/>
                </a:solidFill>
              </a:rPr>
              <a:t>database</a:t>
            </a:r>
          </a:p>
          <a:p>
            <a:r>
              <a:rPr lang="en-US" altLang="ko-KR" sz="1000" b="1" dirty="0"/>
              <a:t>    annotations:</a:t>
            </a:r>
          </a:p>
          <a:p>
            <a:r>
              <a:rPr lang="en-US" altLang="ko-KR" sz="1000" b="1" dirty="0"/>
              <a:t>      </a:t>
            </a:r>
            <a:r>
              <a:rPr lang="en-US" altLang="ko-KR" sz="1000" b="1" dirty="0">
                <a:solidFill>
                  <a:srgbClr val="FF0000"/>
                </a:solidFill>
              </a:rPr>
              <a:t>volume.alpha.kubernetes.io/storage-class: anything</a:t>
            </a:r>
          </a:p>
          <a:p>
            <a:r>
              <a:rPr lang="en-US" altLang="ko-KR" sz="1000" b="1" dirty="0"/>
              <a:t>  spec:</a:t>
            </a:r>
          </a:p>
          <a:p>
            <a:r>
              <a:rPr lang="en-US" altLang="ko-KR" sz="1000" b="1" dirty="0"/>
              <a:t>    </a:t>
            </a:r>
            <a:r>
              <a:rPr lang="en-US" altLang="ko-KR" sz="1000" b="1" dirty="0" err="1"/>
              <a:t>accessModes</a:t>
            </a:r>
            <a:r>
              <a:rPr lang="en-US" altLang="ko-KR" sz="1000" b="1" dirty="0"/>
              <a:t>: [ "</a:t>
            </a:r>
            <a:r>
              <a:rPr lang="en-US" altLang="ko-KR" sz="1000" b="1" dirty="0" err="1">
                <a:solidFill>
                  <a:srgbClr val="FF0000"/>
                </a:solidFill>
              </a:rPr>
              <a:t>ReadWriteOnce</a:t>
            </a:r>
            <a:r>
              <a:rPr lang="en-US" altLang="ko-KR" sz="1000" b="1" dirty="0"/>
              <a:t>" ]</a:t>
            </a:r>
          </a:p>
          <a:p>
            <a:r>
              <a:rPr lang="en-US" altLang="ko-KR" sz="1000" b="1" dirty="0"/>
              <a:t>    resources:</a:t>
            </a:r>
          </a:p>
          <a:p>
            <a:r>
              <a:rPr lang="en-US" altLang="ko-KR" sz="1000" b="1" dirty="0"/>
              <a:t>      requests:</a:t>
            </a:r>
          </a:p>
          <a:p>
            <a:r>
              <a:rPr lang="en-US" altLang="ko-KR" sz="1000" b="1" dirty="0"/>
              <a:t>        storage: 100Gi</a:t>
            </a:r>
            <a:endParaRPr lang="ko-KR" altLang="en-US" sz="1000" b="1" dirty="0"/>
          </a:p>
        </p:txBody>
      </p:sp>
    </p:spTree>
    <p:extLst>
      <p:ext uri="{BB962C8B-B14F-4D97-AF65-F5344CB8AC3E}">
        <p14:creationId xmlns:p14="http://schemas.microsoft.com/office/powerpoint/2010/main" val="2433879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(14/15)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Persistent Volumes and </a:t>
            </a:r>
            <a:r>
              <a:rPr lang="en-US" altLang="ko-KR" sz="1800" b="1" dirty="0" err="1"/>
              <a:t>StatefulSets</a:t>
            </a:r>
            <a:r>
              <a:rPr lang="en-US" altLang="ko-KR" sz="1800" b="1" dirty="0"/>
              <a:t> :</a:t>
            </a:r>
          </a:p>
          <a:p>
            <a:pPr lvl="1">
              <a:buFont typeface="Wingdings" panose="05000000000000000000" pitchFamily="2" charset="2"/>
              <a:buChar char="§"/>
            </a:pPr>
            <a:r>
              <a:rPr lang="en-US" altLang="ko-KR" sz="1400" b="1" dirty="0"/>
              <a:t>When you add a volume claim template to a </a:t>
            </a:r>
            <a:r>
              <a:rPr lang="en-US" altLang="ko-KR" sz="1400" b="1" dirty="0" err="1"/>
              <a:t>StatefulSet</a:t>
            </a:r>
            <a:r>
              <a:rPr lang="en-US" altLang="ko-KR" sz="1400" b="1" dirty="0"/>
              <a:t> definition, </a:t>
            </a:r>
            <a:r>
              <a:rPr lang="en-US" altLang="ko-KR" sz="1400" b="1" dirty="0">
                <a:solidFill>
                  <a:srgbClr val="FF0000"/>
                </a:solidFill>
              </a:rPr>
              <a:t>each time the </a:t>
            </a:r>
            <a:r>
              <a:rPr lang="en-US" altLang="ko-KR" sz="1400" b="1" dirty="0" err="1">
                <a:solidFill>
                  <a:srgbClr val="FF0000"/>
                </a:solidFill>
              </a:rPr>
              <a:t>StatefulSet</a:t>
            </a:r>
            <a:r>
              <a:rPr lang="en-US" altLang="ko-KR" sz="1400" b="1" dirty="0">
                <a:solidFill>
                  <a:srgbClr val="FF0000"/>
                </a:solidFill>
              </a:rPr>
              <a:t> controller creates a Pod that is part of the </a:t>
            </a:r>
            <a:r>
              <a:rPr lang="en-US" altLang="ko-KR" sz="1400" b="1" dirty="0" err="1">
                <a:solidFill>
                  <a:srgbClr val="FF0000"/>
                </a:solidFill>
              </a:rPr>
              <a:t>StatefulSet</a:t>
            </a:r>
            <a:r>
              <a:rPr lang="en-US" altLang="ko-KR" sz="1400" b="1" dirty="0">
                <a:solidFill>
                  <a:srgbClr val="FF0000"/>
                </a:solidFill>
              </a:rPr>
              <a:t> it will create a persistent volume claim</a:t>
            </a:r>
            <a:r>
              <a:rPr lang="en-US" altLang="ko-KR" sz="1400" b="1" dirty="0"/>
              <a:t> based on this template as part of that Pod</a:t>
            </a:r>
            <a:r>
              <a:rPr lang="en-US" altLang="ko-KR" sz="1400" dirty="0"/>
              <a:t>.</a:t>
            </a:r>
          </a:p>
          <a:p>
            <a:pPr lvl="1">
              <a:buFont typeface="Wingdings" panose="05000000000000000000" pitchFamily="2" charset="2"/>
              <a:buChar char="§"/>
            </a:pPr>
            <a:r>
              <a:rPr lang="en-US" altLang="ko-KR" sz="1400" b="1" dirty="0"/>
              <a:t>NOTE : In order for these replicated persistent volumes to work correctly, you either need to have “</a:t>
            </a:r>
            <a:r>
              <a:rPr lang="en-US" altLang="ko-KR" sz="1400" b="1" dirty="0" err="1">
                <a:solidFill>
                  <a:srgbClr val="FF0000"/>
                </a:solidFill>
              </a:rPr>
              <a:t>autoprovisioning</a:t>
            </a:r>
            <a:r>
              <a:rPr lang="en-US" altLang="ko-KR" sz="1400" b="1" dirty="0"/>
              <a:t>” </a:t>
            </a:r>
            <a:r>
              <a:rPr lang="en-US" altLang="ko-KR" sz="1400" b="1" dirty="0">
                <a:solidFill>
                  <a:srgbClr val="FF0000"/>
                </a:solidFill>
              </a:rPr>
              <a:t>set up for persistent volumes</a:t>
            </a:r>
            <a:r>
              <a:rPr lang="en-US" altLang="ko-KR" sz="1400" dirty="0"/>
              <a:t>, </a:t>
            </a:r>
            <a:r>
              <a:rPr lang="en-US" altLang="ko-KR" sz="1400" b="1" dirty="0"/>
              <a:t>or you need to </a:t>
            </a:r>
            <a:r>
              <a:rPr lang="en-US" altLang="ko-KR" sz="1400" b="1" dirty="0">
                <a:solidFill>
                  <a:srgbClr val="FF0000"/>
                </a:solidFill>
              </a:rPr>
              <a:t>prepopulate a collection of persistent volume objects </a:t>
            </a:r>
            <a:r>
              <a:rPr lang="en-US" altLang="ko-KR" sz="1400" b="1" dirty="0"/>
              <a:t>for the </a:t>
            </a:r>
            <a:r>
              <a:rPr lang="en-US" altLang="ko-KR" sz="1400" b="1" dirty="0" err="1"/>
              <a:t>StatefulSet</a:t>
            </a:r>
            <a:r>
              <a:rPr lang="en-US" altLang="ko-KR" sz="1400" b="1" dirty="0"/>
              <a:t> controller to draw from</a:t>
            </a:r>
            <a:r>
              <a:rPr lang="en-US" altLang="ko-KR" sz="1400" dirty="0"/>
              <a:t>. </a:t>
            </a:r>
            <a:r>
              <a:rPr lang="en-US" altLang="ko-KR" sz="1400" b="1" dirty="0"/>
              <a:t>If there are no claims that can be created, the </a:t>
            </a:r>
            <a:r>
              <a:rPr lang="en-US" altLang="ko-KR" sz="1400" b="1" dirty="0" err="1"/>
              <a:t>StatefulSet</a:t>
            </a:r>
            <a:r>
              <a:rPr lang="en-US" altLang="ko-KR" sz="1400" b="1" dirty="0"/>
              <a:t> controller will not be able to create the corresponding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2873F5B-5802-421C-BB44-73528AFA1C35}"/>
              </a:ext>
            </a:extLst>
          </p:cNvPr>
          <p:cNvPicPr>
            <a:picLocks noChangeAspect="1"/>
          </p:cNvPicPr>
          <p:nvPr/>
        </p:nvPicPr>
        <p:blipFill>
          <a:blip r:embed="rId2"/>
          <a:stretch>
            <a:fillRect/>
          </a:stretch>
        </p:blipFill>
        <p:spPr>
          <a:xfrm>
            <a:off x="2529840" y="2965281"/>
            <a:ext cx="7132320" cy="2352377"/>
          </a:xfrm>
          <a:prstGeom prst="rect">
            <a:avLst/>
          </a:prstGeom>
        </p:spPr>
      </p:pic>
      <p:sp>
        <p:nvSpPr>
          <p:cNvPr id="8" name="직사각형 7">
            <a:extLst>
              <a:ext uri="{FF2B5EF4-FFF2-40B4-BE49-F238E27FC236}">
                <a16:creationId xmlns:a16="http://schemas.microsoft.com/office/drawing/2014/main" id="{27A5F043-2D50-3088-344A-A5314B03F9EC}"/>
              </a:ext>
            </a:extLst>
          </p:cNvPr>
          <p:cNvSpPr/>
          <p:nvPr/>
        </p:nvSpPr>
        <p:spPr>
          <a:xfrm>
            <a:off x="5897880" y="2895600"/>
            <a:ext cx="3893820" cy="24841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433815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Kubernetes-Native Storage with </a:t>
            </a:r>
            <a:r>
              <a:rPr lang="en-US" altLang="ko-KR" sz="2800" b="1" dirty="0" err="1"/>
              <a:t>StatefulSets</a:t>
            </a:r>
            <a:r>
              <a:rPr lang="en-US" altLang="ko-KR" sz="2800" b="1" dirty="0"/>
              <a:t>(15/15)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One Final Thing: Readiness Probes :</a:t>
            </a:r>
          </a:p>
          <a:p>
            <a:pPr lvl="1">
              <a:buFont typeface="Wingdings" panose="05000000000000000000" pitchFamily="2" charset="2"/>
              <a:buChar char="§"/>
            </a:pPr>
            <a:r>
              <a:rPr lang="en-US" altLang="ko-KR" sz="1400" b="1" dirty="0"/>
              <a:t>The final piece in productionizing our MongoDB cluster is to </a:t>
            </a:r>
            <a:r>
              <a:rPr lang="en-US" altLang="ko-KR" sz="1400" b="1" dirty="0">
                <a:solidFill>
                  <a:srgbClr val="FF0000"/>
                </a:solidFill>
              </a:rPr>
              <a:t>add liveness checks </a:t>
            </a:r>
            <a:r>
              <a:rPr lang="en-US" altLang="ko-KR" sz="1400" b="1" dirty="0"/>
              <a:t>to our Mongo-serving containers</a:t>
            </a:r>
            <a:r>
              <a:rPr lang="en-US" altLang="ko-KR" sz="1400" dirty="0"/>
              <a:t>. </a:t>
            </a:r>
            <a:r>
              <a:rPr lang="en-US" altLang="ko-KR" sz="1400" b="1" dirty="0"/>
              <a:t>The </a:t>
            </a:r>
            <a:r>
              <a:rPr lang="en-US" altLang="ko-KR" sz="1400" b="1" dirty="0">
                <a:solidFill>
                  <a:srgbClr val="FF0000"/>
                </a:solidFill>
              </a:rPr>
              <a:t>liveness probe </a:t>
            </a:r>
            <a:r>
              <a:rPr lang="en-US" altLang="ko-KR" sz="1400" b="1" dirty="0"/>
              <a:t>is used to determine if a container is operating correctly</a:t>
            </a:r>
            <a:r>
              <a:rPr lang="en-US" altLang="ko-KR" sz="1400" dirty="0"/>
              <a:t>. For the liveness checks, we can use the </a:t>
            </a:r>
            <a:r>
              <a:rPr lang="en-US" altLang="ko-KR" sz="1400" b="1" dirty="0"/>
              <a:t>“</a:t>
            </a:r>
            <a:r>
              <a:rPr lang="en-US" altLang="ko-KR" sz="1400" b="1" dirty="0">
                <a:solidFill>
                  <a:srgbClr val="FF0000"/>
                </a:solidFill>
              </a:rPr>
              <a:t>mongo tool</a:t>
            </a:r>
            <a:r>
              <a:rPr lang="en-US" altLang="ko-KR" sz="1400" b="1" dirty="0"/>
              <a:t>“</a:t>
            </a:r>
            <a:r>
              <a:rPr lang="en-US" altLang="ko-KR" sz="1400" b="1" dirty="0">
                <a:solidFill>
                  <a:srgbClr val="FF0000"/>
                </a:solidFill>
              </a:rPr>
              <a:t> </a:t>
            </a:r>
            <a:r>
              <a:rPr lang="en-US" altLang="ko-KR" sz="1400" dirty="0"/>
              <a:t>itself by </a:t>
            </a:r>
            <a:r>
              <a:rPr lang="en-US" altLang="ko-KR" sz="1400" b="1" dirty="0"/>
              <a:t>adding the following to the Pod template in the </a:t>
            </a:r>
            <a:r>
              <a:rPr lang="en-US" altLang="ko-KR" sz="1400" b="1" dirty="0" err="1"/>
              <a:t>StatefulSet</a:t>
            </a:r>
            <a:r>
              <a:rPr lang="en-US" altLang="ko-KR" sz="1400" b="1" dirty="0"/>
              <a:t> object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77C79F32-702B-4B02-91FE-A11A117E31FD}"/>
              </a:ext>
            </a:extLst>
          </p:cNvPr>
          <p:cNvGrpSpPr/>
          <p:nvPr/>
        </p:nvGrpSpPr>
        <p:grpSpPr>
          <a:xfrm>
            <a:off x="1626870" y="1840794"/>
            <a:ext cx="8938260" cy="4566026"/>
            <a:chOff x="1626870" y="1840794"/>
            <a:chExt cx="8938260" cy="4566026"/>
          </a:xfrm>
        </p:grpSpPr>
        <p:grpSp>
          <p:nvGrpSpPr>
            <p:cNvPr id="13" name="그룹 12">
              <a:extLst>
                <a:ext uri="{FF2B5EF4-FFF2-40B4-BE49-F238E27FC236}">
                  <a16:creationId xmlns:a16="http://schemas.microsoft.com/office/drawing/2014/main" id="{FD3D2A5F-9CCB-4636-9002-EFB482F11CC4}"/>
                </a:ext>
              </a:extLst>
            </p:cNvPr>
            <p:cNvGrpSpPr/>
            <p:nvPr/>
          </p:nvGrpSpPr>
          <p:grpSpPr>
            <a:xfrm>
              <a:off x="1626870" y="1840794"/>
              <a:ext cx="8938260" cy="4566026"/>
              <a:chOff x="1626870" y="1840794"/>
              <a:chExt cx="8938260" cy="4566026"/>
            </a:xfrm>
          </p:grpSpPr>
          <p:grpSp>
            <p:nvGrpSpPr>
              <p:cNvPr id="12" name="그룹 11">
                <a:extLst>
                  <a:ext uri="{FF2B5EF4-FFF2-40B4-BE49-F238E27FC236}">
                    <a16:creationId xmlns:a16="http://schemas.microsoft.com/office/drawing/2014/main" id="{3A759B1B-2886-4745-9176-91C0B557B5DF}"/>
                  </a:ext>
                </a:extLst>
              </p:cNvPr>
              <p:cNvGrpSpPr/>
              <p:nvPr/>
            </p:nvGrpSpPr>
            <p:grpSpPr>
              <a:xfrm>
                <a:off x="3048000" y="1840794"/>
                <a:ext cx="6096000" cy="1947116"/>
                <a:chOff x="3048000" y="1934162"/>
                <a:chExt cx="6096000" cy="1947116"/>
              </a:xfrm>
            </p:grpSpPr>
            <p:grpSp>
              <p:nvGrpSpPr>
                <p:cNvPr id="9" name="그룹 8">
                  <a:extLst>
                    <a:ext uri="{FF2B5EF4-FFF2-40B4-BE49-F238E27FC236}">
                      <a16:creationId xmlns:a16="http://schemas.microsoft.com/office/drawing/2014/main" id="{FAF6AC32-FF6B-4500-93EC-C7A040DCA1D3}"/>
                    </a:ext>
                  </a:extLst>
                </p:cNvPr>
                <p:cNvGrpSpPr/>
                <p:nvPr/>
              </p:nvGrpSpPr>
              <p:grpSpPr>
                <a:xfrm>
                  <a:off x="3048000" y="1934162"/>
                  <a:ext cx="6096000" cy="1631216"/>
                  <a:chOff x="3048000" y="1934162"/>
                  <a:chExt cx="6096000" cy="1631216"/>
                </a:xfrm>
              </p:grpSpPr>
              <p:sp>
                <p:nvSpPr>
                  <p:cNvPr id="4" name="직사각형 3">
                    <a:extLst>
                      <a:ext uri="{FF2B5EF4-FFF2-40B4-BE49-F238E27FC236}">
                        <a16:creationId xmlns:a16="http://schemas.microsoft.com/office/drawing/2014/main" id="{EB1F4E74-0655-4E5D-A90A-5E9E7B25B0A6}"/>
                      </a:ext>
                    </a:extLst>
                  </p:cNvPr>
                  <p:cNvSpPr/>
                  <p:nvPr/>
                </p:nvSpPr>
                <p:spPr>
                  <a:xfrm>
                    <a:off x="3048000" y="1934162"/>
                    <a:ext cx="6096000" cy="163121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a:t>
                    </a:r>
                    <a:r>
                      <a:rPr lang="en-US" altLang="ko-KR" sz="1000" b="1" dirty="0" err="1">
                        <a:solidFill>
                          <a:srgbClr val="FF0000"/>
                        </a:solidFill>
                      </a:rPr>
                      <a:t>livenessProbe</a:t>
                    </a:r>
                    <a:r>
                      <a:rPr lang="en-US" altLang="ko-KR" sz="1000" b="1" dirty="0"/>
                      <a:t>:</a:t>
                    </a:r>
                  </a:p>
                  <a:p>
                    <a:r>
                      <a:rPr lang="en-US" altLang="ko-KR" sz="1000" b="1" dirty="0"/>
                      <a:t>    exec:</a:t>
                    </a:r>
                  </a:p>
                  <a:p>
                    <a:r>
                      <a:rPr lang="en-US" altLang="ko-KR" sz="1000" b="1" dirty="0"/>
                      <a:t>      command:</a:t>
                    </a:r>
                  </a:p>
                  <a:p>
                    <a:r>
                      <a:rPr lang="en-US" altLang="ko-KR" sz="1000" b="1" dirty="0"/>
                      <a:t>      - </a:t>
                    </a:r>
                    <a:r>
                      <a:rPr lang="en-US" altLang="ko-KR" sz="1000" b="1" dirty="0">
                        <a:solidFill>
                          <a:srgbClr val="FF0000"/>
                        </a:solidFill>
                      </a:rPr>
                      <a:t>/</a:t>
                    </a:r>
                    <a:r>
                      <a:rPr lang="en-US" altLang="ko-KR" sz="1000" b="1" dirty="0" err="1">
                        <a:solidFill>
                          <a:srgbClr val="FF0000"/>
                        </a:solidFill>
                      </a:rPr>
                      <a:t>usr</a:t>
                    </a:r>
                    <a:r>
                      <a:rPr lang="en-US" altLang="ko-KR" sz="1000" b="1" dirty="0">
                        <a:solidFill>
                          <a:srgbClr val="FF0000"/>
                        </a:solidFill>
                      </a:rPr>
                      <a:t>/bin/mongo</a:t>
                    </a:r>
                  </a:p>
                  <a:p>
                    <a:r>
                      <a:rPr lang="en-US" altLang="ko-KR" sz="1000" b="1" dirty="0"/>
                      <a:t>      - </a:t>
                    </a:r>
                    <a:r>
                      <a:rPr lang="en-US" altLang="ko-KR" sz="1000" b="1" dirty="0">
                        <a:solidFill>
                          <a:srgbClr val="FF0000"/>
                        </a:solidFill>
                      </a:rPr>
                      <a:t>--eval</a:t>
                    </a:r>
                  </a:p>
                  <a:p>
                    <a:r>
                      <a:rPr lang="en-US" altLang="ko-KR" sz="1000" b="1" dirty="0"/>
                      <a:t>      - </a:t>
                    </a:r>
                    <a:r>
                      <a:rPr lang="en-US" altLang="ko-KR" sz="1000" b="1" dirty="0" err="1">
                        <a:solidFill>
                          <a:srgbClr val="FF0000"/>
                        </a:solidFill>
                      </a:rPr>
                      <a:t>db.serverStatus</a:t>
                    </a:r>
                    <a:r>
                      <a:rPr lang="en-US" altLang="ko-KR" sz="1000" b="1" dirty="0">
                        <a:solidFill>
                          <a:srgbClr val="FF0000"/>
                        </a:solidFill>
                      </a:rPr>
                      <a:t>()</a:t>
                    </a:r>
                  </a:p>
                  <a:p>
                    <a:r>
                      <a:rPr lang="en-US" altLang="ko-KR" sz="1000" b="1" dirty="0"/>
                      <a:t>    </a:t>
                    </a:r>
                    <a:r>
                      <a:rPr lang="en-US" altLang="ko-KR" sz="1000" b="1" dirty="0" err="1"/>
                      <a:t>initialDelaySeconds</a:t>
                    </a:r>
                    <a:r>
                      <a:rPr lang="en-US" altLang="ko-KR" sz="1000" b="1" dirty="0"/>
                      <a:t>: 10</a:t>
                    </a:r>
                  </a:p>
                  <a:p>
                    <a:r>
                      <a:rPr lang="en-US" altLang="ko-KR" sz="1000" b="1" dirty="0"/>
                      <a:t>    </a:t>
                    </a:r>
                    <a:r>
                      <a:rPr lang="en-US" altLang="ko-KR" sz="1000" b="1" dirty="0" err="1"/>
                      <a:t>timeoutSeconds</a:t>
                    </a:r>
                    <a:r>
                      <a:rPr lang="en-US" altLang="ko-KR" sz="1000" b="1" dirty="0"/>
                      <a:t>: 10</a:t>
                    </a:r>
                  </a:p>
                  <a:p>
                    <a:r>
                      <a:rPr lang="en-US" altLang="ko-KR" sz="1000" b="1" dirty="0"/>
                      <a:t>...</a:t>
                    </a:r>
                    <a:endParaRPr lang="ko-KR" altLang="en-US" sz="1000" b="1" dirty="0"/>
                  </a:p>
                </p:txBody>
              </p:sp>
              <p:sp>
                <p:nvSpPr>
                  <p:cNvPr id="8" name="TextBox 7">
                    <a:extLst>
                      <a:ext uri="{FF2B5EF4-FFF2-40B4-BE49-F238E27FC236}">
                        <a16:creationId xmlns:a16="http://schemas.microsoft.com/office/drawing/2014/main" id="{88EFF627-0DB4-4FC3-AD8D-4008614D1B15}"/>
                      </a:ext>
                    </a:extLst>
                  </p:cNvPr>
                  <p:cNvSpPr txBox="1"/>
                  <p:nvPr/>
                </p:nvSpPr>
                <p:spPr>
                  <a:xfrm>
                    <a:off x="7305035" y="1934162"/>
                    <a:ext cx="1838965" cy="246221"/>
                  </a:xfrm>
                  <a:prstGeom prst="rect">
                    <a:avLst/>
                  </a:prstGeom>
                  <a:noFill/>
                </p:spPr>
                <p:txBody>
                  <a:bodyPr wrap="none" rtlCol="0">
                    <a:spAutoFit/>
                  </a:bodyPr>
                  <a:lstStyle/>
                  <a:p>
                    <a:pPr algn="ctr"/>
                    <a:r>
                      <a:rPr lang="en-US" altLang="ko-KR" sz="1000" b="1" dirty="0"/>
                      <a:t>mongo-</a:t>
                    </a:r>
                    <a:r>
                      <a:rPr lang="en-US" altLang="ko-KR" sz="1000" b="1" dirty="0" err="1"/>
                      <a:t>livenessprobe.yaml</a:t>
                    </a:r>
                    <a:endParaRPr lang="ko-KR" altLang="en-US" sz="1000" b="1" dirty="0"/>
                  </a:p>
                </p:txBody>
              </p:sp>
            </p:grpSp>
            <p:sp>
              <p:nvSpPr>
                <p:cNvPr id="10" name="화살표: 아래쪽 9">
                  <a:extLst>
                    <a:ext uri="{FF2B5EF4-FFF2-40B4-BE49-F238E27FC236}">
                      <a16:creationId xmlns:a16="http://schemas.microsoft.com/office/drawing/2014/main" id="{3240A6D4-0558-4391-A2BF-B897ADE1D618}"/>
                    </a:ext>
                  </a:extLst>
                </p:cNvPr>
                <p:cNvSpPr/>
                <p:nvPr/>
              </p:nvSpPr>
              <p:spPr>
                <a:xfrm>
                  <a:off x="5886450" y="3591718"/>
                  <a:ext cx="419100" cy="2895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B08B277A-853F-47B8-9D11-7001EBEAA0C3}"/>
                  </a:ext>
                </a:extLst>
              </p:cNvPr>
              <p:cNvPicPr>
                <a:picLocks noChangeAspect="1"/>
              </p:cNvPicPr>
              <p:nvPr/>
            </p:nvPicPr>
            <p:blipFill>
              <a:blip r:embed="rId2"/>
              <a:stretch>
                <a:fillRect/>
              </a:stretch>
            </p:blipFill>
            <p:spPr>
              <a:xfrm>
                <a:off x="1626870" y="3787910"/>
                <a:ext cx="8938260" cy="2618910"/>
              </a:xfrm>
              <a:prstGeom prst="rect">
                <a:avLst/>
              </a:prstGeom>
              <a:ln>
                <a:solidFill>
                  <a:schemeClr val="bg1">
                    <a:lumMod val="50000"/>
                  </a:schemeClr>
                </a:solidFill>
              </a:ln>
            </p:spPr>
          </p:pic>
        </p:grpSp>
        <p:sp>
          <p:nvSpPr>
            <p:cNvPr id="14" name="TextBox 13">
              <a:extLst>
                <a:ext uri="{FF2B5EF4-FFF2-40B4-BE49-F238E27FC236}">
                  <a16:creationId xmlns:a16="http://schemas.microsoft.com/office/drawing/2014/main" id="{69BF1A23-2479-4C28-A08A-67E7699E524D}"/>
                </a:ext>
              </a:extLst>
            </p:cNvPr>
            <p:cNvSpPr txBox="1"/>
            <p:nvPr/>
          </p:nvSpPr>
          <p:spPr>
            <a:xfrm>
              <a:off x="7360406" y="3518694"/>
              <a:ext cx="3204724" cy="246221"/>
            </a:xfrm>
            <a:prstGeom prst="rect">
              <a:avLst/>
            </a:prstGeom>
            <a:noFill/>
          </p:spPr>
          <p:txBody>
            <a:bodyPr wrap="none" rtlCol="0">
              <a:spAutoFit/>
            </a:bodyPr>
            <a:lstStyle/>
            <a:p>
              <a:pPr algn="ctr"/>
              <a:r>
                <a:rPr lang="en-US" altLang="ko-KR" sz="1000" b="1" dirty="0"/>
                <a:t>NOTE : Run “</a:t>
              </a:r>
              <a:r>
                <a:rPr lang="en-US" altLang="ko-KR" sz="1000" b="1" dirty="0" err="1">
                  <a:solidFill>
                    <a:srgbClr val="FF0000"/>
                  </a:solidFill>
                </a:rPr>
                <a:t>kubectl</a:t>
              </a:r>
              <a:r>
                <a:rPr lang="en-US" altLang="ko-KR" sz="1000" b="1" dirty="0">
                  <a:solidFill>
                    <a:srgbClr val="FF0000"/>
                  </a:solidFill>
                </a:rPr>
                <a:t> delete -f </a:t>
              </a:r>
              <a:r>
                <a:rPr lang="en-US" altLang="ko-KR" sz="1000" b="1" dirty="0" err="1">
                  <a:solidFill>
                    <a:srgbClr val="FF0000"/>
                  </a:solidFill>
                </a:rPr>
                <a:t>mongo.yaml</a:t>
              </a:r>
              <a:r>
                <a:rPr lang="en-US" altLang="ko-KR" sz="1000" b="1" dirty="0"/>
                <a:t>” first.</a:t>
              </a:r>
              <a:endParaRPr lang="ko-KR" altLang="en-US" sz="1000" b="1" dirty="0"/>
            </a:p>
          </p:txBody>
        </p:sp>
      </p:grpSp>
    </p:spTree>
    <p:extLst>
      <p:ext uri="{BB962C8B-B14F-4D97-AF65-F5344CB8AC3E}">
        <p14:creationId xmlns:p14="http://schemas.microsoft.com/office/powerpoint/2010/main" val="15378618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t>Once we have combined </a:t>
            </a:r>
            <a:r>
              <a:rPr lang="en-US" altLang="ko-KR" sz="1400" b="1" dirty="0" err="1">
                <a:solidFill>
                  <a:srgbClr val="FF0000"/>
                </a:solidFill>
              </a:rPr>
              <a:t>StatefulSets</a:t>
            </a:r>
            <a:r>
              <a:rPr lang="en-US" altLang="ko-KR" sz="1400" dirty="0"/>
              <a:t>, </a:t>
            </a:r>
            <a:r>
              <a:rPr lang="en-US" altLang="ko-KR" sz="1400" b="1" dirty="0">
                <a:solidFill>
                  <a:srgbClr val="FF0000"/>
                </a:solidFill>
              </a:rPr>
              <a:t>persistent volume claims</a:t>
            </a:r>
            <a:r>
              <a:rPr lang="en-US" altLang="ko-KR" sz="1400" dirty="0"/>
              <a:t>, </a:t>
            </a:r>
            <a:r>
              <a:rPr lang="en-US" altLang="ko-KR" sz="1400" b="1" dirty="0"/>
              <a:t>and</a:t>
            </a:r>
            <a:r>
              <a:rPr lang="en-US" altLang="ko-KR" sz="1400" dirty="0"/>
              <a:t> </a:t>
            </a:r>
            <a:r>
              <a:rPr lang="en-US" altLang="ko-KR" sz="1400" b="1" dirty="0">
                <a:solidFill>
                  <a:srgbClr val="FF0000"/>
                </a:solidFill>
              </a:rPr>
              <a:t>liveness probing</a:t>
            </a:r>
            <a:r>
              <a:rPr lang="en-US" altLang="ko-KR" sz="1400" dirty="0"/>
              <a:t>, </a:t>
            </a:r>
            <a:r>
              <a:rPr lang="en-US" altLang="ko-KR" sz="1400" b="1" dirty="0"/>
              <a:t>we have a hardened, scalable cloud-native MongoDB</a:t>
            </a:r>
            <a:r>
              <a:rPr lang="en-US" altLang="ko-KR" sz="1400" dirty="0"/>
              <a:t> </a:t>
            </a:r>
            <a:r>
              <a:rPr lang="en-US" altLang="ko-KR" sz="1400" b="1" dirty="0"/>
              <a:t>installation running on Kubernetes</a:t>
            </a:r>
            <a:r>
              <a:rPr lang="en-US" altLang="ko-KR" sz="1400" dirty="0"/>
              <a:t>.</a:t>
            </a:r>
          </a:p>
          <a:p>
            <a:pPr lvl="1">
              <a:buFont typeface="Wingdings" panose="05000000000000000000" pitchFamily="2" charset="2"/>
              <a:buChar char="§"/>
            </a:pPr>
            <a:r>
              <a:rPr lang="en-US" altLang="ko-KR" sz="1400" b="1" dirty="0"/>
              <a:t>While the example dealt with MongoDB, the steps for creating </a:t>
            </a:r>
            <a:r>
              <a:rPr lang="en-US" altLang="ko-KR" sz="1400" b="1" dirty="0" err="1">
                <a:solidFill>
                  <a:srgbClr val="FF0000"/>
                </a:solidFill>
              </a:rPr>
              <a:t>StatefulSets</a:t>
            </a:r>
            <a:r>
              <a:rPr lang="en-US" altLang="ko-KR" sz="1400" b="1" dirty="0"/>
              <a:t> to manage other storage solutions are quite similar and similar patterns can be followed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9F9DEA2-F17D-4A64-A159-3CE99989D4CA}"/>
              </a:ext>
            </a:extLst>
          </p:cNvPr>
          <p:cNvPicPr>
            <a:picLocks noChangeAspect="1"/>
          </p:cNvPicPr>
          <p:nvPr/>
        </p:nvPicPr>
        <p:blipFill>
          <a:blip r:embed="rId2"/>
          <a:stretch>
            <a:fillRect/>
          </a:stretch>
        </p:blipFill>
        <p:spPr>
          <a:xfrm>
            <a:off x="4058430" y="2081910"/>
            <a:ext cx="4075139" cy="4327120"/>
          </a:xfrm>
          <a:prstGeom prst="rect">
            <a:avLst/>
          </a:prstGeom>
        </p:spPr>
      </p:pic>
    </p:spTree>
    <p:extLst>
      <p:ext uri="{BB962C8B-B14F-4D97-AF65-F5344CB8AC3E}">
        <p14:creationId xmlns:p14="http://schemas.microsoft.com/office/powerpoint/2010/main" val="102891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Extending Kubernetes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372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Extensible Kubernetes API Server :</a:t>
            </a:r>
          </a:p>
          <a:p>
            <a:pPr lvl="1">
              <a:buFont typeface="Wingdings" panose="05000000000000000000" pitchFamily="2" charset="2"/>
              <a:buChar char="§"/>
            </a:pPr>
            <a:r>
              <a:rPr lang="en-US" altLang="ko-KR" sz="1400" b="1" dirty="0"/>
              <a:t>Kubernetes was going to be </a:t>
            </a:r>
            <a:r>
              <a:rPr lang="en-US" altLang="ko-KR" sz="1400" b="1" dirty="0">
                <a:solidFill>
                  <a:srgbClr val="FF0000"/>
                </a:solidFill>
              </a:rPr>
              <a:t>more than its core set of APIs</a:t>
            </a:r>
            <a:r>
              <a:rPr lang="en-US" altLang="ko-KR" sz="1400" b="1" dirty="0"/>
              <a:t>; once an application is orchestrated within the cluster, there are countless other useful tools and utilities that can be represented and deployed as API objects in the Kubernetes cluster</a:t>
            </a:r>
            <a:r>
              <a:rPr lang="en-US" altLang="ko-KR" sz="1400" dirty="0"/>
              <a:t>. The challenge was how to embrace this explosion of objects and use cases without having an API that sprawled without bound.</a:t>
            </a:r>
          </a:p>
          <a:p>
            <a:pPr lvl="1">
              <a:buFont typeface="Wingdings" panose="05000000000000000000" pitchFamily="2" charset="2"/>
              <a:buChar char="§"/>
            </a:pPr>
            <a:r>
              <a:rPr lang="en-US" altLang="ko-KR" sz="1400" b="1" dirty="0"/>
              <a:t>To resolve this tension between extended use cases and API sprawl, significant effort was put into </a:t>
            </a:r>
            <a:r>
              <a:rPr lang="en-US" altLang="ko-KR" sz="1400" b="1" dirty="0">
                <a:solidFill>
                  <a:srgbClr val="FF0000"/>
                </a:solidFill>
              </a:rPr>
              <a:t>making the Kubernetes API extensible</a:t>
            </a:r>
            <a:r>
              <a:rPr lang="en-US" altLang="ko-KR" sz="1400" dirty="0"/>
              <a:t>. </a:t>
            </a:r>
            <a:r>
              <a:rPr lang="en-US" altLang="ko-KR" sz="1400" b="1" dirty="0"/>
              <a:t>This extensibility meant that cluster operators could customize their clusters with the additional components that suited their needs</a:t>
            </a:r>
            <a:r>
              <a:rPr lang="en-US" altLang="ko-KR" sz="1400" dirty="0"/>
              <a:t>. This extensibility enables people to augment their clusters themselves, consume community-developed cluster add-ons, and even develop extensions that are bundled and sold in an ecosystem of cluster plug-ins. </a:t>
            </a:r>
            <a:r>
              <a:rPr lang="en-US" altLang="ko-KR" sz="1400" b="1" dirty="0"/>
              <a:t>Extensibility has also given rise to whole new patterns of managing systems, such as the </a:t>
            </a:r>
            <a:r>
              <a:rPr lang="en-US" altLang="ko-KR" sz="1400" b="1" dirty="0">
                <a:solidFill>
                  <a:srgbClr val="FF0000"/>
                </a:solidFill>
              </a:rPr>
              <a:t>operator pattern</a:t>
            </a:r>
            <a:r>
              <a:rPr lang="en-US" altLang="ko-KR" sz="1400" dirty="0"/>
              <a:t>.</a:t>
            </a:r>
          </a:p>
          <a:p>
            <a:pPr lvl="1">
              <a:buFont typeface="Wingdings" panose="05000000000000000000" pitchFamily="2" charset="2"/>
              <a:buChar char="§"/>
            </a:pPr>
            <a:r>
              <a:rPr lang="en-US" altLang="ko-KR" sz="1400" b="1" dirty="0"/>
              <a:t>Regardless of whether you are building your own extensions or consuming operators from the ecosystem, understanding </a:t>
            </a:r>
            <a:r>
              <a:rPr lang="en-US" altLang="ko-KR" sz="1400" b="1" dirty="0">
                <a:solidFill>
                  <a:srgbClr val="FF0000"/>
                </a:solidFill>
              </a:rPr>
              <a:t>how the Kubernetes API server is extended </a:t>
            </a:r>
            <a:r>
              <a:rPr lang="en-US" altLang="ko-KR" sz="1400" b="1" dirty="0"/>
              <a:t>and </a:t>
            </a:r>
            <a:r>
              <a:rPr lang="en-US" altLang="ko-KR" sz="1400" b="1" dirty="0">
                <a:solidFill>
                  <a:srgbClr val="FF0000"/>
                </a:solidFill>
              </a:rPr>
              <a:t>how extensions can be built and delivered</a:t>
            </a:r>
            <a:r>
              <a:rPr lang="en-US" altLang="ko-KR" sz="1400" b="1" dirty="0"/>
              <a:t> is a key component to unlocking the complete power of Kubernetes and its ecosystem</a:t>
            </a:r>
            <a:r>
              <a:rPr lang="en-US" altLang="ko-KR" sz="1400" dirty="0"/>
              <a:t>. As more and more advanced tools and platforms are built on top of Kubernetes using these extensibility mechanisms, a working knowledge of how they operate is critical.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565264B-A5E7-481E-9B52-E9436F6F1002}"/>
              </a:ext>
            </a:extLst>
          </p:cNvPr>
          <p:cNvPicPr>
            <a:picLocks noChangeAspect="1"/>
          </p:cNvPicPr>
          <p:nvPr/>
        </p:nvPicPr>
        <p:blipFill>
          <a:blip r:embed="rId2"/>
          <a:stretch>
            <a:fillRect/>
          </a:stretch>
        </p:blipFill>
        <p:spPr>
          <a:xfrm>
            <a:off x="8192540" y="3940150"/>
            <a:ext cx="3161260" cy="2468880"/>
          </a:xfrm>
          <a:prstGeom prst="rect">
            <a:avLst/>
          </a:prstGeom>
        </p:spPr>
      </p:pic>
    </p:spTree>
    <p:extLst>
      <p:ext uri="{BB962C8B-B14F-4D97-AF65-F5344CB8AC3E}">
        <p14:creationId xmlns:p14="http://schemas.microsoft.com/office/powerpoint/2010/main" val="21230709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It Means to Extend Kubernetes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Extending the Kubernetes API :</a:t>
            </a:r>
          </a:p>
          <a:p>
            <a:pPr lvl="1">
              <a:buFont typeface="Wingdings" panose="05000000000000000000" pitchFamily="2" charset="2"/>
              <a:buChar char="§"/>
            </a:pPr>
            <a:r>
              <a:rPr lang="en-US" altLang="ko-KR" sz="1400" b="1" dirty="0"/>
              <a:t>In general, extensions to the Kubernetes API server either </a:t>
            </a:r>
            <a:r>
              <a:rPr lang="en-US" altLang="ko-KR" sz="1400" b="1" dirty="0">
                <a:solidFill>
                  <a:srgbClr val="FF0000"/>
                </a:solidFill>
              </a:rPr>
              <a:t>add new functionality </a:t>
            </a:r>
            <a:r>
              <a:rPr lang="en-US" altLang="ko-KR" sz="1400" b="1" dirty="0"/>
              <a:t>to a cluster or </a:t>
            </a:r>
            <a:r>
              <a:rPr lang="en-US" altLang="ko-KR" sz="1400" b="1" dirty="0">
                <a:solidFill>
                  <a:srgbClr val="FF0000"/>
                </a:solidFill>
              </a:rPr>
              <a:t>limit and tweak the ways that users can interact with their clusters</a:t>
            </a:r>
            <a:r>
              <a:rPr lang="en-US" altLang="ko-KR" sz="1400" dirty="0"/>
              <a:t>. There is a rich ecosystem of plug-ins that cluster administrators can use to add additional services and capabilities to their clusters. </a:t>
            </a:r>
          </a:p>
          <a:p>
            <a:pPr lvl="1">
              <a:buFont typeface="Wingdings" panose="05000000000000000000" pitchFamily="2" charset="2"/>
              <a:buChar char="§"/>
            </a:pPr>
            <a:r>
              <a:rPr lang="en-US" altLang="ko-KR" sz="1400" b="1" dirty="0"/>
              <a:t>It’s worth noting that extending the cluster is a very </a:t>
            </a:r>
            <a:r>
              <a:rPr lang="en-US" altLang="ko-KR" sz="1400" b="1" dirty="0">
                <a:solidFill>
                  <a:srgbClr val="FF0000"/>
                </a:solidFill>
              </a:rPr>
              <a:t>high-privilege</a:t>
            </a:r>
            <a:r>
              <a:rPr lang="en-US" altLang="ko-KR" sz="1400" b="1" dirty="0"/>
              <a:t> thing to do</a:t>
            </a:r>
            <a:r>
              <a:rPr lang="en-US" altLang="ko-KR" sz="1400" dirty="0"/>
              <a:t>. It is not a capability that should be extended to arbitrary users or arbitrary code, because cluster administrator privileges are required to extend a cluster. </a:t>
            </a:r>
            <a:r>
              <a:rPr lang="en-US" altLang="ko-KR" sz="1400" b="1" dirty="0"/>
              <a:t>Even cluster administrators should be careful and use diligence when installing third-party tools</a:t>
            </a:r>
            <a:r>
              <a:rPr lang="en-US" altLang="ko-KR" sz="1400" dirty="0"/>
              <a:t>. Some extensions, like admission controllers, can be used to view all objects being created in the cluster, and could easily be used as a vector to steal secrets or run malicious code. </a:t>
            </a:r>
          </a:p>
          <a:p>
            <a:pPr lvl="1">
              <a:buFont typeface="Wingdings" panose="05000000000000000000" pitchFamily="2" charset="2"/>
              <a:buChar char="§"/>
            </a:pPr>
            <a:r>
              <a:rPr lang="en-US" altLang="ko-KR" sz="1400" b="1" dirty="0"/>
              <a:t>Additionally, extending a cluster makes it different than stock Kubernetes</a:t>
            </a:r>
            <a:r>
              <a:rPr lang="en-US" altLang="ko-KR" sz="1400" dirty="0"/>
              <a:t>. When running on multiple clusters, it is very valuable to build tooling to </a:t>
            </a:r>
            <a:r>
              <a:rPr lang="en-US" altLang="ko-KR" sz="1400" b="1" dirty="0"/>
              <a:t>maintain consistency of experience across the clusters</a:t>
            </a:r>
            <a:r>
              <a:rPr lang="en-US" altLang="ko-KR" sz="1400" dirty="0"/>
              <a:t>, and this includes the extensions that are installed.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21A4BDA-92FE-4971-ABCC-AE3D72CF3ADD}"/>
              </a:ext>
            </a:extLst>
          </p:cNvPr>
          <p:cNvPicPr>
            <a:picLocks noChangeAspect="1"/>
          </p:cNvPicPr>
          <p:nvPr/>
        </p:nvPicPr>
        <p:blipFill>
          <a:blip r:embed="rId2"/>
          <a:stretch>
            <a:fillRect/>
          </a:stretch>
        </p:blipFill>
        <p:spPr>
          <a:xfrm>
            <a:off x="3815076" y="3429000"/>
            <a:ext cx="4561847" cy="2980030"/>
          </a:xfrm>
          <a:prstGeom prst="rect">
            <a:avLst/>
          </a:prstGeom>
        </p:spPr>
      </p:pic>
    </p:spTree>
    <p:extLst>
      <p:ext uri="{BB962C8B-B14F-4D97-AF65-F5344CB8AC3E}">
        <p14:creationId xmlns:p14="http://schemas.microsoft.com/office/powerpoint/2010/main" val="39567903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API Server :</a:t>
            </a:r>
          </a:p>
          <a:p>
            <a:pPr lvl="1">
              <a:buFont typeface="Wingdings" panose="05000000000000000000" pitchFamily="2" charset="2"/>
              <a:buChar char="§"/>
            </a:pPr>
            <a:r>
              <a:rPr lang="en-US" altLang="ko-KR" sz="1400" b="1" dirty="0"/>
              <a:t>There are many different ways to extend Kubernetes, from “</a:t>
            </a:r>
            <a:r>
              <a:rPr lang="en-US" altLang="ko-KR" sz="1400" b="1" dirty="0" err="1"/>
              <a:t>CustomResourceDefinitions</a:t>
            </a:r>
            <a:r>
              <a:rPr lang="en-US" altLang="ko-KR" sz="1400" b="1" dirty="0"/>
              <a:t>” through to “Container Network Interface (CNI)” plug-ins</a:t>
            </a:r>
            <a:r>
              <a:rPr lang="en-US" altLang="ko-KR" sz="1400" dirty="0"/>
              <a:t>. We are going to focus </a:t>
            </a:r>
            <a:r>
              <a:rPr lang="en-US" altLang="ko-KR" sz="1400" b="1" dirty="0"/>
              <a:t>on </a:t>
            </a:r>
            <a:r>
              <a:rPr lang="en-US" altLang="ko-KR" sz="1400" b="1" dirty="0">
                <a:solidFill>
                  <a:srgbClr val="FF0000"/>
                </a:solidFill>
              </a:rPr>
              <a:t>the extensions to the API server </a:t>
            </a:r>
            <a:r>
              <a:rPr lang="en-US" altLang="ko-KR" sz="1400" b="1" dirty="0"/>
              <a:t>via adding </a:t>
            </a:r>
            <a:r>
              <a:rPr lang="en-US" altLang="ko-KR" sz="1400" b="1" dirty="0">
                <a:solidFill>
                  <a:srgbClr val="FF0000"/>
                </a:solidFill>
              </a:rPr>
              <a:t>new resource types</a:t>
            </a:r>
            <a:r>
              <a:rPr lang="en-US" altLang="ko-KR" sz="1400" b="1" dirty="0"/>
              <a:t> or </a:t>
            </a:r>
            <a:r>
              <a:rPr lang="en-US" altLang="ko-KR" sz="1400" b="1" dirty="0">
                <a:solidFill>
                  <a:srgbClr val="FF0000"/>
                </a:solidFill>
              </a:rPr>
              <a:t>admission controllers to API requests</a:t>
            </a:r>
            <a:r>
              <a:rPr lang="en-US" altLang="ko-KR" sz="1400" dirty="0"/>
              <a:t>. We will not cover the </a:t>
            </a:r>
            <a:r>
              <a:rPr lang="en-US" altLang="ko-KR" sz="1400" b="1" dirty="0"/>
              <a:t>CNI/CSI/CRI (Container Network Interface/Container Storage Interface/Container Runtime Interface) extensions</a:t>
            </a:r>
            <a:r>
              <a:rPr lang="en-US" altLang="ko-KR" sz="1400" dirty="0"/>
              <a:t>, as they are more commonly used by Kubernetes cluster providers as opposed to the end users of Kubernetes.</a:t>
            </a:r>
          </a:p>
          <a:p>
            <a:pPr lvl="1">
              <a:buFont typeface="Wingdings" panose="05000000000000000000" pitchFamily="2" charset="2"/>
              <a:buChar char="§"/>
            </a:pPr>
            <a:r>
              <a:rPr lang="en-US" altLang="ko-KR" sz="1400" b="1" dirty="0"/>
              <a:t>In addition to admission controllers and API extensions, there are actually a number of ways to “extend” your cluster without ever modifying the API server at all</a:t>
            </a:r>
            <a:r>
              <a:rPr lang="en-US" altLang="ko-KR" sz="1400" dirty="0"/>
              <a:t>. These include “</a:t>
            </a:r>
            <a:r>
              <a:rPr lang="en-US" altLang="ko-KR" sz="1400" b="1" dirty="0" err="1">
                <a:solidFill>
                  <a:srgbClr val="FF0000"/>
                </a:solidFill>
              </a:rPr>
              <a:t>DaemonSets</a:t>
            </a:r>
            <a:r>
              <a:rPr lang="en-US" altLang="ko-KR" sz="1400" dirty="0"/>
              <a:t>” </a:t>
            </a:r>
            <a:r>
              <a:rPr lang="en-US" altLang="ko-KR" sz="1400" b="1" dirty="0"/>
              <a:t>that install automatic logging and monitoring, tools that scan your services for cross-site scripting (XSS) vulnerabilities, and more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A5D4A20B-65CE-4D58-85D9-D184E6A2655F}"/>
              </a:ext>
            </a:extLst>
          </p:cNvPr>
          <p:cNvGrpSpPr/>
          <p:nvPr/>
        </p:nvGrpSpPr>
        <p:grpSpPr>
          <a:xfrm>
            <a:off x="2508355" y="3429000"/>
            <a:ext cx="7175290" cy="1507894"/>
            <a:chOff x="2508355" y="3429000"/>
            <a:chExt cx="7175290" cy="1507894"/>
          </a:xfrm>
        </p:grpSpPr>
        <p:pic>
          <p:nvPicPr>
            <p:cNvPr id="4" name="그림 3">
              <a:extLst>
                <a:ext uri="{FF2B5EF4-FFF2-40B4-BE49-F238E27FC236}">
                  <a16:creationId xmlns:a16="http://schemas.microsoft.com/office/drawing/2014/main" id="{F6157F99-6AB3-4FF8-BE94-E1F495AD0A1E}"/>
                </a:ext>
              </a:extLst>
            </p:cNvPr>
            <p:cNvPicPr>
              <a:picLocks noChangeAspect="1"/>
            </p:cNvPicPr>
            <p:nvPr/>
          </p:nvPicPr>
          <p:blipFill>
            <a:blip r:embed="rId2"/>
            <a:stretch>
              <a:fillRect/>
            </a:stretch>
          </p:blipFill>
          <p:spPr>
            <a:xfrm>
              <a:off x="2508355" y="3429000"/>
              <a:ext cx="7175290" cy="1107784"/>
            </a:xfrm>
            <a:prstGeom prst="rect">
              <a:avLst/>
            </a:prstGeom>
          </p:spPr>
        </p:pic>
        <p:sp>
          <p:nvSpPr>
            <p:cNvPr id="8" name="직사각형 7">
              <a:extLst>
                <a:ext uri="{FF2B5EF4-FFF2-40B4-BE49-F238E27FC236}">
                  <a16:creationId xmlns:a16="http://schemas.microsoft.com/office/drawing/2014/main" id="{24D8995C-511D-4E6C-955C-B50864CB107D}"/>
                </a:ext>
              </a:extLst>
            </p:cNvPr>
            <p:cNvSpPr/>
            <p:nvPr/>
          </p:nvSpPr>
          <p:spPr>
            <a:xfrm>
              <a:off x="3048000" y="4536784"/>
              <a:ext cx="6096000" cy="400110"/>
            </a:xfrm>
            <a:prstGeom prst="rect">
              <a:avLst/>
            </a:prstGeom>
          </p:spPr>
          <p:txBody>
            <a:bodyPr>
              <a:spAutoFit/>
            </a:bodyPr>
            <a:lstStyle/>
            <a:p>
              <a:pPr algn="ctr"/>
              <a:r>
                <a:rPr lang="en-US" altLang="ko-KR" sz="1000" b="1" dirty="0"/>
                <a:t>The role of admission controllers and </a:t>
              </a:r>
              <a:r>
                <a:rPr lang="en-US" altLang="ko-KR" sz="1000" b="1" dirty="0" err="1"/>
                <a:t>CustomResourceDefinitions</a:t>
              </a:r>
              <a:r>
                <a:rPr lang="en-US" altLang="ko-KR" sz="1000" b="1" dirty="0"/>
                <a:t> - The flow of requests through the Kubernetes API server</a:t>
              </a:r>
              <a:endParaRPr lang="ko-KR" altLang="en-US" sz="1000" b="1" dirty="0"/>
            </a:p>
          </p:txBody>
        </p:sp>
      </p:grpSp>
    </p:spTree>
    <p:extLst>
      <p:ext uri="{BB962C8B-B14F-4D97-AF65-F5344CB8AC3E}">
        <p14:creationId xmlns:p14="http://schemas.microsoft.com/office/powerpoint/2010/main" val="2809428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Extensibility(2/18)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Admission Controllers :</a:t>
            </a:r>
          </a:p>
          <a:p>
            <a:pPr lvl="1">
              <a:buFont typeface="Wingdings" panose="05000000000000000000" pitchFamily="2" charset="2"/>
              <a:buChar char="§"/>
            </a:pPr>
            <a:r>
              <a:rPr lang="en-US" altLang="ko-KR" sz="1400" b="1" dirty="0"/>
              <a:t>“</a:t>
            </a:r>
            <a:r>
              <a:rPr lang="en-US" altLang="ko-KR" sz="1400" b="1" dirty="0">
                <a:solidFill>
                  <a:srgbClr val="FF0000"/>
                </a:solidFill>
              </a:rPr>
              <a:t>Admission controllers</a:t>
            </a:r>
            <a:r>
              <a:rPr lang="en-US" altLang="ko-KR" sz="1400" b="1" dirty="0"/>
              <a:t>” are called prior to the API object being written into the backing storage</a:t>
            </a:r>
            <a:r>
              <a:rPr lang="en-US" altLang="ko-KR" sz="1400" dirty="0"/>
              <a:t>. </a:t>
            </a:r>
            <a:r>
              <a:rPr lang="en-US" altLang="ko-KR" sz="1400" b="1" dirty="0"/>
              <a:t>Admission controllers can reject or modify API requests</a:t>
            </a:r>
            <a:r>
              <a:rPr lang="en-US" altLang="ko-KR" sz="1400" dirty="0"/>
              <a:t>. There are several admission controllers that are built into the Kubernetes API server; for example, </a:t>
            </a:r>
            <a:r>
              <a:rPr lang="en-US" altLang="ko-KR" sz="1400" b="1" dirty="0"/>
              <a:t>the limit range admission controller </a:t>
            </a:r>
            <a:r>
              <a:rPr lang="en-US" altLang="ko-KR" sz="1400" dirty="0"/>
              <a:t>that sets default limits for Pods without them. Many other systems use </a:t>
            </a:r>
            <a:r>
              <a:rPr lang="en-US" altLang="ko-KR" sz="1400" b="1" dirty="0"/>
              <a:t>custom admission controllers to “auto-inject sidecar” containers into all Pods </a:t>
            </a:r>
            <a:r>
              <a:rPr lang="en-US" altLang="ko-KR" sz="1400" dirty="0"/>
              <a:t>created on the system to enable “</a:t>
            </a:r>
            <a:r>
              <a:rPr lang="en-US" altLang="ko-KR" sz="1400" b="1" dirty="0"/>
              <a:t>auto-magic</a:t>
            </a:r>
            <a:r>
              <a:rPr lang="en-US" altLang="ko-KR" sz="1400" dirty="0"/>
              <a:t>” experiences.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5D609CA-A86E-476B-A148-3146E8ACCD2D}"/>
              </a:ext>
            </a:extLst>
          </p:cNvPr>
          <p:cNvGrpSpPr/>
          <p:nvPr/>
        </p:nvGrpSpPr>
        <p:grpSpPr>
          <a:xfrm>
            <a:off x="2404110" y="2605565"/>
            <a:ext cx="7383780" cy="3035616"/>
            <a:chOff x="2404110" y="2605565"/>
            <a:chExt cx="7383780" cy="3035616"/>
          </a:xfrm>
        </p:grpSpPr>
        <p:grpSp>
          <p:nvGrpSpPr>
            <p:cNvPr id="10" name="그룹 9">
              <a:extLst>
                <a:ext uri="{FF2B5EF4-FFF2-40B4-BE49-F238E27FC236}">
                  <a16:creationId xmlns:a16="http://schemas.microsoft.com/office/drawing/2014/main" id="{37D15B3A-5002-4C6A-A05E-9026E0B7F783}"/>
                </a:ext>
              </a:extLst>
            </p:cNvPr>
            <p:cNvGrpSpPr/>
            <p:nvPr/>
          </p:nvGrpSpPr>
          <p:grpSpPr>
            <a:xfrm>
              <a:off x="2404110" y="2605565"/>
              <a:ext cx="7383780" cy="2789395"/>
              <a:chOff x="2404110" y="2605565"/>
              <a:chExt cx="7383780" cy="2789395"/>
            </a:xfrm>
          </p:grpSpPr>
          <p:pic>
            <p:nvPicPr>
              <p:cNvPr id="4" name="그림 3">
                <a:extLst>
                  <a:ext uri="{FF2B5EF4-FFF2-40B4-BE49-F238E27FC236}">
                    <a16:creationId xmlns:a16="http://schemas.microsoft.com/office/drawing/2014/main" id="{40A0517F-CBF9-40FC-8A38-37F2D9DE70E0}"/>
                  </a:ext>
                </a:extLst>
              </p:cNvPr>
              <p:cNvPicPr>
                <a:picLocks noChangeAspect="1"/>
              </p:cNvPicPr>
              <p:nvPr/>
            </p:nvPicPr>
            <p:blipFill>
              <a:blip r:embed="rId2"/>
              <a:stretch>
                <a:fillRect/>
              </a:stretch>
            </p:blipFill>
            <p:spPr>
              <a:xfrm>
                <a:off x="2404110" y="2605565"/>
                <a:ext cx="7383780" cy="2715992"/>
              </a:xfrm>
              <a:prstGeom prst="rect">
                <a:avLst/>
              </a:prstGeom>
            </p:spPr>
          </p:pic>
          <p:sp>
            <p:nvSpPr>
              <p:cNvPr id="8" name="직사각형 7">
                <a:extLst>
                  <a:ext uri="{FF2B5EF4-FFF2-40B4-BE49-F238E27FC236}">
                    <a16:creationId xmlns:a16="http://schemas.microsoft.com/office/drawing/2014/main" id="{C1A35428-5F52-4121-AE3E-14E87D6212E3}"/>
                  </a:ext>
                </a:extLst>
              </p:cNvPr>
              <p:cNvSpPr/>
              <p:nvPr/>
            </p:nvSpPr>
            <p:spPr>
              <a:xfrm>
                <a:off x="4518660" y="3963561"/>
                <a:ext cx="1828800" cy="14313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FFCBA250-66B2-43AB-A35A-D178F7D30A2C}"/>
                  </a:ext>
                </a:extLst>
              </p:cNvPr>
              <p:cNvSpPr/>
              <p:nvPr/>
            </p:nvSpPr>
            <p:spPr>
              <a:xfrm>
                <a:off x="6998970" y="3963561"/>
                <a:ext cx="1828800" cy="14313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0A67B578-AA0E-4E5B-A5D9-921865712C02}"/>
                </a:ext>
              </a:extLst>
            </p:cNvPr>
            <p:cNvSpPr txBox="1"/>
            <p:nvPr/>
          </p:nvSpPr>
          <p:spPr>
            <a:xfrm>
              <a:off x="4694716" y="5394960"/>
              <a:ext cx="1476687" cy="246221"/>
            </a:xfrm>
            <a:prstGeom prst="rect">
              <a:avLst/>
            </a:prstGeom>
            <a:noFill/>
          </p:spPr>
          <p:txBody>
            <a:bodyPr wrap="none" rtlCol="0">
              <a:spAutoFit/>
            </a:bodyPr>
            <a:lstStyle/>
            <a:p>
              <a:pPr algn="ctr"/>
              <a:r>
                <a:rPr lang="en-US" altLang="ko-KR" sz="1000" b="1" dirty="0"/>
                <a:t>Admission Controller</a:t>
              </a:r>
              <a:endParaRPr lang="ko-KR" altLang="en-US" sz="1000" b="1" dirty="0"/>
            </a:p>
          </p:txBody>
        </p:sp>
      </p:grpSp>
    </p:spTree>
    <p:extLst>
      <p:ext uri="{BB962C8B-B14F-4D97-AF65-F5344CB8AC3E}">
        <p14:creationId xmlns:p14="http://schemas.microsoft.com/office/powerpoint/2010/main" val="22743141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Extensibility(3/18)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Resources :</a:t>
            </a:r>
          </a:p>
          <a:p>
            <a:pPr lvl="1">
              <a:buFont typeface="Wingdings" panose="05000000000000000000" pitchFamily="2" charset="2"/>
              <a:buChar char="§"/>
            </a:pPr>
            <a:r>
              <a:rPr lang="en-US" altLang="ko-KR" sz="1400" b="1" dirty="0"/>
              <a:t>The other form of extension, which can also be used in conjunction with admission controllers, is </a:t>
            </a:r>
            <a:r>
              <a:rPr lang="en-US" altLang="ko-KR" sz="1400" b="1" dirty="0">
                <a:solidFill>
                  <a:srgbClr val="FF0000"/>
                </a:solidFill>
              </a:rPr>
              <a:t>custom resources</a:t>
            </a:r>
            <a:r>
              <a:rPr lang="en-US" altLang="ko-KR" sz="1400" dirty="0"/>
              <a:t>. </a:t>
            </a:r>
            <a:r>
              <a:rPr lang="en-US" altLang="ko-KR" sz="1400" b="1" dirty="0"/>
              <a:t>With custom resources, whole new API objects are added to the Kubernetes API surface area</a:t>
            </a:r>
            <a:r>
              <a:rPr lang="en-US" altLang="ko-KR" sz="1400" dirty="0"/>
              <a:t>. These new API objects can be </a:t>
            </a:r>
            <a:r>
              <a:rPr lang="en-US" altLang="ko-KR" sz="1400" b="1" dirty="0"/>
              <a:t>added to namespaces</a:t>
            </a:r>
            <a:r>
              <a:rPr lang="en-US" altLang="ko-KR" sz="1400" dirty="0"/>
              <a:t>, are </a:t>
            </a:r>
            <a:r>
              <a:rPr lang="en-US" altLang="ko-KR" sz="1400" b="1" dirty="0"/>
              <a:t>subject to RBAC</a:t>
            </a:r>
            <a:r>
              <a:rPr lang="en-US" altLang="ko-KR" sz="1400" dirty="0"/>
              <a:t>, and can </a:t>
            </a:r>
            <a:r>
              <a:rPr lang="en-US" altLang="ko-KR" sz="1400" b="1" dirty="0"/>
              <a:t>be accessed with existing tools like </a:t>
            </a:r>
            <a:r>
              <a:rPr lang="en-US" altLang="ko-KR" sz="1400" b="1" dirty="0" err="1"/>
              <a:t>kubectl</a:t>
            </a:r>
            <a:r>
              <a:rPr lang="en-US" altLang="ko-KR" sz="1400" b="1" dirty="0"/>
              <a:t> </a:t>
            </a:r>
            <a:r>
              <a:rPr lang="en-US" altLang="ko-KR" sz="1400" dirty="0"/>
              <a:t>as well as </a:t>
            </a:r>
            <a:r>
              <a:rPr lang="en-US" altLang="ko-KR" sz="1400" b="1" dirty="0"/>
              <a:t>via the Kubernetes API</a:t>
            </a:r>
            <a:r>
              <a:rPr lang="en-US" altLang="ko-KR" sz="1400" dirty="0"/>
              <a:t>. </a:t>
            </a:r>
          </a:p>
          <a:p>
            <a:pPr lvl="1">
              <a:buFont typeface="Wingdings" panose="05000000000000000000" pitchFamily="2" charset="2"/>
              <a:buChar char="§"/>
            </a:pPr>
            <a:r>
              <a:rPr lang="en-US" altLang="ko-KR" sz="1400" dirty="0"/>
              <a:t>The first thing that you do to create a custom resource is to create a “</a:t>
            </a:r>
            <a:r>
              <a:rPr lang="en-US" altLang="ko-KR" sz="1400" b="1" dirty="0" err="1">
                <a:solidFill>
                  <a:srgbClr val="FF0000"/>
                </a:solidFill>
              </a:rPr>
              <a:t>CustomResourceDefinition</a:t>
            </a:r>
            <a:r>
              <a:rPr lang="en-US" altLang="ko-KR" sz="1400" dirty="0"/>
              <a:t>”. </a:t>
            </a:r>
            <a:r>
              <a:rPr lang="en-US" altLang="ko-KR" sz="1400" b="1" dirty="0"/>
              <a:t>This object is actually a </a:t>
            </a:r>
            <a:r>
              <a:rPr lang="en-US" altLang="ko-KR" sz="1400" b="1" dirty="0">
                <a:solidFill>
                  <a:srgbClr val="FF0000"/>
                </a:solidFill>
              </a:rPr>
              <a:t>meta-resource</a:t>
            </a:r>
            <a:r>
              <a:rPr lang="en-US" altLang="ko-KR" sz="1400" b="1" dirty="0"/>
              <a:t>; that is, a resource that is the definition of another resource</a:t>
            </a:r>
            <a:r>
              <a:rPr lang="en-US" altLang="ko-KR" sz="1400" dirty="0"/>
              <a:t>. As a concrete example, consider </a:t>
            </a:r>
            <a:r>
              <a:rPr lang="en-US" altLang="ko-KR" sz="1400" b="1" dirty="0"/>
              <a:t>defining a new resource to represent load tests</a:t>
            </a:r>
            <a:r>
              <a:rPr lang="en-US" altLang="ko-KR" sz="1400" dirty="0"/>
              <a:t> in your cluster. When a new “</a:t>
            </a:r>
            <a:r>
              <a:rPr lang="en-US" altLang="ko-KR" sz="1400" b="1" dirty="0" err="1"/>
              <a:t>LoadTest</a:t>
            </a:r>
            <a:r>
              <a:rPr lang="en-US" altLang="ko-KR" sz="1400" dirty="0"/>
              <a:t>” resource is created, a load test is spun up in your Kubernetes cluster and drives traffic to a service.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3BEDE9B0-AA6B-4554-AF74-AFEDFE78DBFD}"/>
              </a:ext>
            </a:extLst>
          </p:cNvPr>
          <p:cNvGrpSpPr/>
          <p:nvPr/>
        </p:nvGrpSpPr>
        <p:grpSpPr>
          <a:xfrm>
            <a:off x="3954611" y="2911580"/>
            <a:ext cx="4282778" cy="3497450"/>
            <a:chOff x="3954611" y="2911580"/>
            <a:chExt cx="4282778" cy="3497450"/>
          </a:xfrm>
        </p:grpSpPr>
        <p:pic>
          <p:nvPicPr>
            <p:cNvPr id="4" name="그림 3">
              <a:extLst>
                <a:ext uri="{FF2B5EF4-FFF2-40B4-BE49-F238E27FC236}">
                  <a16:creationId xmlns:a16="http://schemas.microsoft.com/office/drawing/2014/main" id="{1717322E-22E9-42F4-B372-809455BAD961}"/>
                </a:ext>
              </a:extLst>
            </p:cNvPr>
            <p:cNvPicPr>
              <a:picLocks noChangeAspect="1"/>
            </p:cNvPicPr>
            <p:nvPr/>
          </p:nvPicPr>
          <p:blipFill>
            <a:blip r:embed="rId2"/>
            <a:stretch>
              <a:fillRect/>
            </a:stretch>
          </p:blipFill>
          <p:spPr>
            <a:xfrm>
              <a:off x="3954611" y="2911580"/>
              <a:ext cx="4282778" cy="3497450"/>
            </a:xfrm>
            <a:prstGeom prst="rect">
              <a:avLst/>
            </a:prstGeom>
          </p:spPr>
        </p:pic>
        <p:sp>
          <p:nvSpPr>
            <p:cNvPr id="8" name="직사각형 7">
              <a:extLst>
                <a:ext uri="{FF2B5EF4-FFF2-40B4-BE49-F238E27FC236}">
                  <a16:creationId xmlns:a16="http://schemas.microsoft.com/office/drawing/2014/main" id="{933D32E9-3D1A-4780-AAA7-4AFBD3B91A92}"/>
                </a:ext>
              </a:extLst>
            </p:cNvPr>
            <p:cNvSpPr/>
            <p:nvPr/>
          </p:nvSpPr>
          <p:spPr>
            <a:xfrm>
              <a:off x="6301740" y="4465320"/>
              <a:ext cx="1737360" cy="18681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20524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Extensibility(4/18)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b="1" dirty="0"/>
              <a:t>The first step in creating this new resource is defining it through a </a:t>
            </a:r>
            <a:r>
              <a:rPr lang="en-US" altLang="ko-KR" sz="1400" b="1" dirty="0" err="1">
                <a:solidFill>
                  <a:srgbClr val="FF0000"/>
                </a:solidFill>
              </a:rPr>
              <a:t>CustomResourceDefinition</a:t>
            </a:r>
            <a:r>
              <a:rPr lang="en-US" altLang="ko-KR" sz="1400" dirty="0"/>
              <a:t>. An example definition looks as follows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a:t>
            </a:r>
            <a:r>
              <a:rPr lang="en-US" altLang="ko-KR" sz="1400" b="1" dirty="0" err="1"/>
              <a:t>CustomResourceDefinition</a:t>
            </a:r>
            <a:r>
              <a:rPr lang="en-US" altLang="ko-KR" sz="1400" dirty="0"/>
              <a:t>” has a </a:t>
            </a:r>
            <a:r>
              <a:rPr lang="en-US" altLang="ko-KR" sz="1400" b="1" dirty="0"/>
              <a:t>metadata </a:t>
            </a:r>
            <a:r>
              <a:rPr lang="en-US" altLang="ko-KR" sz="1400" b="1" dirty="0" err="1"/>
              <a:t>subobject</a:t>
            </a:r>
            <a:r>
              <a:rPr lang="en-US" altLang="ko-KR" sz="1400" dirty="0"/>
              <a:t>, and within that </a:t>
            </a:r>
            <a:r>
              <a:rPr lang="en-US" altLang="ko-KR" sz="1400" dirty="0" err="1"/>
              <a:t>subobject</a:t>
            </a:r>
            <a:r>
              <a:rPr lang="en-US" altLang="ko-KR" sz="1400" dirty="0"/>
              <a:t> </a:t>
            </a:r>
            <a:r>
              <a:rPr lang="en-US" altLang="ko-KR" sz="1400" b="1" dirty="0"/>
              <a:t>the resource is named</a:t>
            </a:r>
            <a:r>
              <a:rPr lang="en-US" altLang="ko-KR" sz="1400" dirty="0"/>
              <a:t>. However, in the case of custom resources, the name is special. </a:t>
            </a:r>
            <a:r>
              <a:rPr lang="en-US" altLang="ko-KR" sz="1400" b="1" dirty="0"/>
              <a:t>It has to be the following format </a:t>
            </a:r>
            <a:r>
              <a:rPr lang="en-US" altLang="ko-KR" sz="1400" dirty="0"/>
              <a:t>: “</a:t>
            </a:r>
            <a:r>
              <a:rPr lang="en-US" altLang="ko-KR" sz="1400" b="1" dirty="0">
                <a:solidFill>
                  <a:srgbClr val="FF0000"/>
                </a:solidFill>
              </a:rPr>
              <a:t>&lt;</a:t>
            </a:r>
            <a:r>
              <a:rPr lang="en-US" altLang="ko-KR" sz="1400" b="1" dirty="0" err="1">
                <a:solidFill>
                  <a:srgbClr val="FF0000"/>
                </a:solidFill>
              </a:rPr>
              <a:t>resourceplural</a:t>
            </a:r>
            <a:r>
              <a:rPr lang="en-US" altLang="ko-KR" sz="1400" b="1" dirty="0">
                <a:solidFill>
                  <a:srgbClr val="FF0000"/>
                </a:solidFill>
              </a:rPr>
              <a:t>&gt;.&lt;</a:t>
            </a:r>
            <a:r>
              <a:rPr lang="en-US" altLang="ko-KR" sz="1400" b="1" dirty="0" err="1">
                <a:solidFill>
                  <a:srgbClr val="FF0000"/>
                </a:solidFill>
              </a:rPr>
              <a:t>api</a:t>
            </a:r>
            <a:r>
              <a:rPr lang="en-US" altLang="ko-KR" sz="1400" b="1" dirty="0">
                <a:solidFill>
                  <a:srgbClr val="FF0000"/>
                </a:solidFill>
              </a:rPr>
              <a:t>-group&gt;</a:t>
            </a:r>
            <a:r>
              <a:rPr lang="en-US" altLang="ko-KR" sz="1400" b="1" dirty="0"/>
              <a:t>”(“loadtests.beta.kuar.com”)</a:t>
            </a:r>
            <a:r>
              <a:rPr lang="en-US" altLang="ko-KR" sz="1400" dirty="0"/>
              <a:t>. The reason for this is </a:t>
            </a:r>
            <a:r>
              <a:rPr lang="en-US" altLang="ko-KR" sz="1400" b="1" dirty="0"/>
              <a:t>to ensure that each resource definition is unique in the cluster</a:t>
            </a:r>
            <a:r>
              <a:rPr lang="en-US" altLang="ko-KR" sz="1400" dirty="0"/>
              <a:t>, because the name of each </a:t>
            </a:r>
            <a:r>
              <a:rPr lang="en-US" altLang="ko-KR" sz="1400" b="1" dirty="0" err="1"/>
              <a:t>CustomResourceDefinition</a:t>
            </a:r>
            <a:r>
              <a:rPr lang="en-US" altLang="ko-KR" sz="1400" dirty="0"/>
              <a:t> has to match this pattern, and no two objects in the cluster can have the same name. </a:t>
            </a:r>
            <a:r>
              <a:rPr lang="en-US" altLang="ko-KR" sz="1400" b="1" dirty="0"/>
              <a:t>We are thus guaranteed that no two </a:t>
            </a:r>
            <a:r>
              <a:rPr lang="en-US" altLang="ko-KR" sz="1400" b="1" dirty="0" err="1"/>
              <a:t>CustomResourceDefinitions</a:t>
            </a:r>
            <a:r>
              <a:rPr lang="en-US" altLang="ko-KR" sz="1400" b="1" dirty="0"/>
              <a:t> define the same resource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620B02EE-CC7D-4B5D-A2FC-C401D0EF5CDE}"/>
              </a:ext>
            </a:extLst>
          </p:cNvPr>
          <p:cNvGrpSpPr/>
          <p:nvPr/>
        </p:nvGrpSpPr>
        <p:grpSpPr>
          <a:xfrm>
            <a:off x="3048000" y="1721018"/>
            <a:ext cx="6096000" cy="3415963"/>
            <a:chOff x="3048000" y="1729383"/>
            <a:chExt cx="6096000" cy="3415963"/>
          </a:xfrm>
        </p:grpSpPr>
        <p:sp>
          <p:nvSpPr>
            <p:cNvPr id="4" name="직사각형 3">
              <a:extLst>
                <a:ext uri="{FF2B5EF4-FFF2-40B4-BE49-F238E27FC236}">
                  <a16:creationId xmlns:a16="http://schemas.microsoft.com/office/drawing/2014/main" id="{D4DC7A1E-9088-46D6-B35F-58D23F332F31}"/>
                </a:ext>
              </a:extLst>
            </p:cNvPr>
            <p:cNvSpPr/>
            <p:nvPr/>
          </p:nvSpPr>
          <p:spPr>
            <a:xfrm>
              <a:off x="3048000" y="1729383"/>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apiextensions.k8s.io/v1</a:t>
              </a:r>
            </a:p>
            <a:p>
              <a:r>
                <a:rPr lang="en-US" altLang="ko-KR" sz="1000" b="1" dirty="0"/>
                <a:t>kind: </a:t>
              </a:r>
              <a:r>
                <a:rPr lang="en-US" altLang="ko-KR" sz="1000" b="1" dirty="0" err="1">
                  <a:solidFill>
                    <a:srgbClr val="FF0000"/>
                  </a:solidFill>
                </a:rPr>
                <a:t>CustomResourceDefinition</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loadtests.beta.kuar.com</a:t>
              </a:r>
            </a:p>
            <a:p>
              <a:r>
                <a:rPr lang="en-US" altLang="ko-KR" sz="1000" b="1" dirty="0"/>
                <a:t>spec:</a:t>
              </a:r>
            </a:p>
            <a:p>
              <a:r>
                <a:rPr lang="en-US" altLang="ko-KR" sz="1000" b="1" dirty="0"/>
                <a:t>  group: beta.kuar.com</a:t>
              </a:r>
            </a:p>
            <a:p>
              <a:r>
                <a:rPr lang="en-US" altLang="ko-KR" sz="1000" b="1" dirty="0"/>
                <a:t>  versions:</a:t>
              </a:r>
            </a:p>
            <a:p>
              <a:r>
                <a:rPr lang="en-US" altLang="ko-KR" sz="1000" b="1" dirty="0"/>
                <a:t>    - name: v1</a:t>
              </a:r>
            </a:p>
            <a:p>
              <a:r>
                <a:rPr lang="en-US" altLang="ko-KR" sz="1000" b="1" dirty="0"/>
                <a:t>      served: true</a:t>
              </a:r>
            </a:p>
            <a:p>
              <a:r>
                <a:rPr lang="en-US" altLang="ko-KR" sz="1000" b="1" dirty="0"/>
                <a:t>      storage: true</a:t>
              </a:r>
            </a:p>
            <a:p>
              <a:r>
                <a:rPr lang="en-US" altLang="ko-KR" sz="1000" b="1" dirty="0">
                  <a:solidFill>
                    <a:srgbClr val="FF0000"/>
                  </a:solidFill>
                </a:rPr>
                <a:t>      schema:</a:t>
              </a:r>
            </a:p>
            <a:p>
              <a:r>
                <a:rPr lang="en-US" altLang="ko-KR" sz="1000" b="1" dirty="0">
                  <a:solidFill>
                    <a:srgbClr val="FF0000"/>
                  </a:solidFill>
                </a:rPr>
                <a:t>        openAPIV3Schema:</a:t>
              </a:r>
            </a:p>
            <a:p>
              <a:r>
                <a:rPr lang="en-US" altLang="ko-KR" sz="1000" b="1" dirty="0">
                  <a:solidFill>
                    <a:srgbClr val="FF0000"/>
                  </a:solidFill>
                </a:rPr>
                <a:t>          type: object</a:t>
              </a:r>
            </a:p>
            <a:p>
              <a:r>
                <a:rPr lang="en-US" altLang="ko-KR" sz="1000" b="1" dirty="0"/>
                <a:t>  scope: </a:t>
              </a:r>
              <a:r>
                <a:rPr lang="en-US" altLang="ko-KR" sz="1000" b="1" dirty="0" err="1"/>
                <a:t>Namespaced</a:t>
              </a:r>
              <a:endParaRPr lang="en-US" altLang="ko-KR" sz="1000" b="1" dirty="0"/>
            </a:p>
            <a:p>
              <a:r>
                <a:rPr lang="en-US" altLang="ko-KR" sz="1000" b="1" dirty="0"/>
                <a:t>  names:</a:t>
              </a:r>
            </a:p>
            <a:p>
              <a:r>
                <a:rPr lang="en-US" altLang="ko-KR" sz="1000" b="1" dirty="0"/>
                <a:t>    plural: </a:t>
              </a:r>
              <a:r>
                <a:rPr lang="en-US" altLang="ko-KR" sz="1000" b="1" dirty="0" err="1"/>
                <a:t>loadtests</a:t>
              </a:r>
              <a:endParaRPr lang="en-US" altLang="ko-KR" sz="1000" b="1" dirty="0"/>
            </a:p>
            <a:p>
              <a:r>
                <a:rPr lang="en-US" altLang="ko-KR" sz="1000" b="1" dirty="0"/>
                <a:t>    singular: </a:t>
              </a:r>
              <a:r>
                <a:rPr lang="en-US" altLang="ko-KR" sz="1000" b="1" dirty="0" err="1"/>
                <a:t>loadtest</a:t>
              </a:r>
              <a:endParaRPr lang="en-US" altLang="ko-KR" sz="1000" b="1" dirty="0"/>
            </a:p>
            <a:p>
              <a:r>
                <a:rPr lang="en-US" altLang="ko-KR" sz="1000" b="1" dirty="0"/>
                <a:t>    kind: </a:t>
              </a:r>
              <a:r>
                <a:rPr lang="en-US" altLang="ko-KR" sz="1000" b="1" dirty="0" err="1"/>
                <a:t>LoadTest</a:t>
              </a:r>
              <a:endParaRPr lang="en-US" altLang="ko-KR" sz="1000" b="1" dirty="0"/>
            </a:p>
            <a:p>
              <a:r>
                <a:rPr lang="en-US" altLang="ko-KR" sz="1000" b="1" dirty="0"/>
                <a:t>    </a:t>
              </a:r>
              <a:r>
                <a:rPr lang="en-US" altLang="ko-KR" sz="1000" b="1" dirty="0" err="1"/>
                <a:t>shortNames</a:t>
              </a:r>
              <a:r>
                <a:rPr lang="en-US" altLang="ko-KR" sz="1000" b="1" dirty="0"/>
                <a:t>:</a:t>
              </a:r>
            </a:p>
            <a:p>
              <a:r>
                <a:rPr lang="en-US" altLang="ko-KR" sz="1000" b="1" dirty="0"/>
                <a:t>    - </a:t>
              </a:r>
              <a:r>
                <a:rPr lang="en-US" altLang="ko-KR" sz="1000" b="1" dirty="0" err="1"/>
                <a:t>lt</a:t>
              </a:r>
              <a:endParaRPr lang="ko-KR" altLang="en-US" sz="1000" b="1" dirty="0"/>
            </a:p>
          </p:txBody>
        </p:sp>
        <p:sp>
          <p:nvSpPr>
            <p:cNvPr id="8" name="직사각형 7">
              <a:extLst>
                <a:ext uri="{FF2B5EF4-FFF2-40B4-BE49-F238E27FC236}">
                  <a16:creationId xmlns:a16="http://schemas.microsoft.com/office/drawing/2014/main" id="{5FC52E12-363E-4675-BB48-CC95DC35CD69}"/>
                </a:ext>
              </a:extLst>
            </p:cNvPr>
            <p:cNvSpPr/>
            <p:nvPr/>
          </p:nvSpPr>
          <p:spPr>
            <a:xfrm>
              <a:off x="5307162" y="4899125"/>
              <a:ext cx="1577676" cy="246221"/>
            </a:xfrm>
            <a:prstGeom prst="rect">
              <a:avLst/>
            </a:prstGeom>
          </p:spPr>
          <p:txBody>
            <a:bodyPr wrap="none">
              <a:spAutoFit/>
            </a:bodyPr>
            <a:lstStyle/>
            <a:p>
              <a:r>
                <a:rPr lang="en-US" altLang="ko-KR" sz="1000" b="1" dirty="0" err="1"/>
                <a:t>loadtest-resource.yaml</a:t>
              </a:r>
              <a:endParaRPr lang="ko-KR" altLang="en-US" dirty="0"/>
            </a:p>
          </p:txBody>
        </p:sp>
      </p:grpSp>
    </p:spTree>
    <p:extLst>
      <p:ext uri="{BB962C8B-B14F-4D97-AF65-F5344CB8AC3E}">
        <p14:creationId xmlns:p14="http://schemas.microsoft.com/office/powerpoint/2010/main" val="30183906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Extensibility(5/18)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b="1" dirty="0"/>
              <a:t>The </a:t>
            </a:r>
            <a:r>
              <a:rPr lang="en-US" altLang="ko-KR" sz="1400" b="1" dirty="0" err="1"/>
              <a:t>CustomResourceDefinition</a:t>
            </a:r>
            <a:r>
              <a:rPr lang="en-US" altLang="ko-KR" sz="1400" b="1" dirty="0"/>
              <a:t> has a </a:t>
            </a:r>
            <a:r>
              <a:rPr lang="en-US" altLang="ko-KR" sz="1400" b="1" dirty="0">
                <a:solidFill>
                  <a:srgbClr val="FF0000"/>
                </a:solidFill>
              </a:rPr>
              <a:t>spec</a:t>
            </a:r>
            <a:r>
              <a:rPr lang="en-US" altLang="ko-KR" sz="1400" b="1" dirty="0"/>
              <a:t> </a:t>
            </a:r>
            <a:r>
              <a:rPr lang="en-US" altLang="ko-KR" sz="1400" b="1" dirty="0" err="1"/>
              <a:t>subobject</a:t>
            </a:r>
            <a:r>
              <a:rPr lang="en-US" altLang="ko-KR" sz="1400" dirty="0"/>
              <a:t>. </a:t>
            </a:r>
            <a:r>
              <a:rPr lang="en-US" altLang="ko-KR" sz="1400" b="1" dirty="0"/>
              <a:t>This is where the resource itself is defined</a:t>
            </a:r>
            <a:r>
              <a:rPr lang="en-US" altLang="ko-KR" sz="1400" dirty="0"/>
              <a:t>. In that spec object, there is an </a:t>
            </a:r>
            <a:r>
              <a:rPr lang="en-US" altLang="ko-KR" sz="1400" b="1" dirty="0" err="1">
                <a:solidFill>
                  <a:srgbClr val="FF0000"/>
                </a:solidFill>
              </a:rPr>
              <a:t>apigroup</a:t>
            </a:r>
            <a:r>
              <a:rPr lang="en-US" altLang="ko-KR" sz="1400" b="1" dirty="0"/>
              <a:t>(“beta.kuar.com”)</a:t>
            </a:r>
            <a:r>
              <a:rPr lang="en-US" altLang="ko-KR" sz="1400" dirty="0"/>
              <a:t> field which </a:t>
            </a:r>
            <a:r>
              <a:rPr lang="en-US" altLang="ko-KR" sz="1400" b="1" dirty="0"/>
              <a:t>supplies the API group for the resource</a:t>
            </a:r>
            <a:r>
              <a:rPr lang="en-US" altLang="ko-KR" sz="1400" dirty="0"/>
              <a:t>. As mentioned previously, </a:t>
            </a:r>
            <a:r>
              <a:rPr lang="en-US" altLang="ko-KR" sz="1400" b="1" dirty="0"/>
              <a:t>it must match the suffix of the </a:t>
            </a:r>
            <a:r>
              <a:rPr lang="en-US" altLang="ko-KR" sz="1400" b="1" dirty="0" err="1"/>
              <a:t>CustomResourceDefinition’s</a:t>
            </a:r>
            <a:r>
              <a:rPr lang="en-US" altLang="ko-KR" sz="1400" b="1" dirty="0"/>
              <a:t> name</a:t>
            </a:r>
            <a:r>
              <a:rPr lang="en-US" altLang="ko-KR" sz="1400" dirty="0"/>
              <a:t>. </a:t>
            </a:r>
          </a:p>
          <a:p>
            <a:pPr lvl="1">
              <a:buFont typeface="Wingdings" panose="05000000000000000000" pitchFamily="2" charset="2"/>
              <a:buChar char="§"/>
            </a:pPr>
            <a:r>
              <a:rPr lang="en-US" altLang="ko-KR" sz="1400" b="1" dirty="0"/>
              <a:t>There is a list of </a:t>
            </a:r>
            <a:r>
              <a:rPr lang="en-US" altLang="ko-KR" sz="1400" b="1" dirty="0">
                <a:solidFill>
                  <a:srgbClr val="FF0000"/>
                </a:solidFill>
              </a:rPr>
              <a:t>versions</a:t>
            </a:r>
            <a:r>
              <a:rPr lang="en-US" altLang="ko-KR" sz="1400" b="1" dirty="0"/>
              <a:t> for the resource(“versions”)</a:t>
            </a:r>
            <a:r>
              <a:rPr lang="en-US" altLang="ko-KR" sz="1400" dirty="0"/>
              <a:t>. In addition to </a:t>
            </a:r>
            <a:r>
              <a:rPr lang="en-US" altLang="ko-KR" sz="1400" b="1" dirty="0"/>
              <a:t>the name of the version </a:t>
            </a:r>
            <a:r>
              <a:rPr lang="en-US" altLang="ko-KR" sz="1400" dirty="0"/>
              <a:t>(e.g., v1, v2, etc.), there are fields that indicate if that version is </a:t>
            </a:r>
            <a:r>
              <a:rPr lang="en-US" altLang="ko-KR" sz="1400" b="1" dirty="0"/>
              <a:t>served by the API server </a:t>
            </a:r>
            <a:r>
              <a:rPr lang="en-US" altLang="ko-KR" sz="1400" dirty="0"/>
              <a:t>and </a:t>
            </a:r>
            <a:r>
              <a:rPr lang="en-US" altLang="ko-KR" sz="1400" b="1" dirty="0"/>
              <a:t>which version is used for storing data in the backing storage for the API server</a:t>
            </a:r>
            <a:r>
              <a:rPr lang="en-US" altLang="ko-KR" sz="1400" dirty="0"/>
              <a:t>. </a:t>
            </a:r>
            <a:r>
              <a:rPr lang="en-US" altLang="ko-KR" sz="1400" b="1" dirty="0"/>
              <a:t>The storage field must be true for only a single version for the resource</a:t>
            </a:r>
            <a:r>
              <a:rPr lang="en-US" altLang="ko-KR" sz="1400" dirty="0"/>
              <a:t>. </a:t>
            </a:r>
          </a:p>
          <a:p>
            <a:pPr lvl="1">
              <a:buFont typeface="Wingdings" panose="05000000000000000000" pitchFamily="2" charset="2"/>
              <a:buChar char="§"/>
            </a:pPr>
            <a:r>
              <a:rPr lang="en-US" altLang="ko-KR" sz="1400" b="1" dirty="0"/>
              <a:t>There is also a </a:t>
            </a:r>
            <a:r>
              <a:rPr lang="en-US" altLang="ko-KR" sz="1400" b="1" dirty="0">
                <a:solidFill>
                  <a:srgbClr val="FF0000"/>
                </a:solidFill>
              </a:rPr>
              <a:t>scope</a:t>
            </a:r>
            <a:r>
              <a:rPr lang="en-US" altLang="ko-KR" sz="1400" b="1" dirty="0"/>
              <a:t> field to indicate if the resource is </a:t>
            </a:r>
            <a:r>
              <a:rPr lang="en-US" altLang="ko-KR" sz="1400" b="1" dirty="0" err="1"/>
              <a:t>namespaced</a:t>
            </a:r>
            <a:r>
              <a:rPr lang="en-US" altLang="ko-KR" sz="1400" b="1" dirty="0"/>
              <a:t> or not (the default is </a:t>
            </a:r>
            <a:r>
              <a:rPr lang="en-US" altLang="ko-KR" sz="1400" b="1" dirty="0" err="1"/>
              <a:t>namespaced</a:t>
            </a:r>
            <a:r>
              <a:rPr lang="en-US" altLang="ko-KR" sz="1400" b="1" dirty="0"/>
              <a:t>)</a:t>
            </a:r>
            <a:r>
              <a:rPr lang="en-US" altLang="ko-KR" sz="1400" dirty="0"/>
              <a:t>, and a names field that allows for the definition of the </a:t>
            </a:r>
            <a:r>
              <a:rPr lang="en-US" altLang="ko-KR" sz="1400" b="1" dirty="0"/>
              <a:t>singular, plural</a:t>
            </a:r>
            <a:r>
              <a:rPr lang="en-US" altLang="ko-KR" sz="1400" dirty="0"/>
              <a:t>, and </a:t>
            </a:r>
            <a:r>
              <a:rPr lang="en-US" altLang="ko-KR" sz="1400" b="1" dirty="0"/>
              <a:t>kind</a:t>
            </a:r>
            <a:r>
              <a:rPr lang="en-US" altLang="ko-KR" sz="1400" dirty="0"/>
              <a:t> values for the resource. It also allows the definition of convenience “</a:t>
            </a:r>
            <a:r>
              <a:rPr lang="en-US" altLang="ko-KR" sz="1400" b="1" dirty="0"/>
              <a:t>short names</a:t>
            </a:r>
            <a:r>
              <a:rPr lang="en-US" altLang="ko-KR" sz="1400" dirty="0"/>
              <a:t>” </a:t>
            </a:r>
            <a:r>
              <a:rPr lang="en-US" altLang="ko-KR" sz="1400" b="1" dirty="0"/>
              <a:t>for the resource for use in </a:t>
            </a:r>
            <a:r>
              <a:rPr lang="en-US" altLang="ko-KR" sz="1400" b="1" dirty="0" err="1"/>
              <a:t>kubectl</a:t>
            </a:r>
            <a:r>
              <a:rPr lang="en-US" altLang="ko-KR" sz="1400" b="1" dirty="0"/>
              <a:t> and elsewhere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FFAE922-5744-41F5-B616-9CE1DF65809B}"/>
              </a:ext>
            </a:extLst>
          </p:cNvPr>
          <p:cNvPicPr>
            <a:picLocks noChangeAspect="1"/>
          </p:cNvPicPr>
          <p:nvPr/>
        </p:nvPicPr>
        <p:blipFill>
          <a:blip r:embed="rId2"/>
          <a:stretch>
            <a:fillRect/>
          </a:stretch>
        </p:blipFill>
        <p:spPr>
          <a:xfrm>
            <a:off x="3352800" y="3223566"/>
            <a:ext cx="5486400" cy="3086100"/>
          </a:xfrm>
          <a:prstGeom prst="rect">
            <a:avLst/>
          </a:prstGeom>
        </p:spPr>
      </p:pic>
    </p:spTree>
    <p:extLst>
      <p:ext uri="{BB962C8B-B14F-4D97-AF65-F5344CB8AC3E}">
        <p14:creationId xmlns:p14="http://schemas.microsoft.com/office/powerpoint/2010/main" val="2047802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Extensibility(6/18)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b="1" dirty="0"/>
              <a:t>Given this definition, you can create the resource in the Kubernetes API server</a:t>
            </a:r>
            <a:r>
              <a:rPr lang="en-US" altLang="ko-KR" sz="1400" dirty="0"/>
              <a:t>. But first, to show the true nature of dynamic resource types, try to </a:t>
            </a:r>
            <a:r>
              <a:rPr lang="en-US" altLang="ko-KR" sz="1400" b="1" dirty="0"/>
              <a:t>list our “</a:t>
            </a:r>
            <a:r>
              <a:rPr lang="en-US" altLang="ko-KR" sz="1400" b="1" dirty="0" err="1"/>
              <a:t>loadtests</a:t>
            </a:r>
            <a:r>
              <a:rPr lang="en-US" altLang="ko-KR" sz="1400" b="1" dirty="0"/>
              <a:t>” resource using “</a:t>
            </a:r>
            <a:r>
              <a:rPr lang="en-US" altLang="ko-KR" sz="1400" b="1" dirty="0" err="1"/>
              <a:t>kubectl</a:t>
            </a:r>
            <a:r>
              <a:rPr lang="en-US" altLang="ko-KR" sz="1400" b="1" dirty="0"/>
              <a:t> get” command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use “</a:t>
            </a:r>
            <a:r>
              <a:rPr lang="en-US" altLang="ko-KR" sz="1400" b="1" dirty="0" err="1"/>
              <a:t>loadtest-resource.yaml</a:t>
            </a:r>
            <a:r>
              <a:rPr lang="en-US" altLang="ko-KR" sz="1400" dirty="0"/>
              <a:t>” to create this resource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After you run “</a:t>
            </a:r>
            <a:r>
              <a:rPr lang="en-US" altLang="ko-KR" sz="1400" b="1" dirty="0" err="1"/>
              <a:t>kubectl</a:t>
            </a:r>
            <a:r>
              <a:rPr lang="en-US" altLang="ko-KR" sz="1400" b="1" dirty="0"/>
              <a:t> create -f </a:t>
            </a:r>
            <a:r>
              <a:rPr lang="en-US" altLang="ko-KR" sz="1400" b="1" dirty="0" err="1"/>
              <a:t>loadtest-resource.yaml</a:t>
            </a:r>
            <a:r>
              <a:rPr lang="en-US" altLang="ko-KR" sz="1400" dirty="0"/>
              <a:t>” command, there is a </a:t>
            </a:r>
            <a:r>
              <a:rPr lang="en-US" altLang="ko-KR" sz="1400" b="1" dirty="0"/>
              <a:t>“</a:t>
            </a:r>
            <a:r>
              <a:rPr lang="en-US" altLang="ko-KR" sz="1400" b="1" dirty="0" err="1"/>
              <a:t>LoadTest</a:t>
            </a:r>
            <a:r>
              <a:rPr lang="en-US" altLang="ko-KR" sz="1400" b="1" dirty="0"/>
              <a:t>” resource type defined</a:t>
            </a:r>
            <a:r>
              <a:rPr lang="en-US" altLang="ko-KR" sz="1400" dirty="0"/>
              <a:t>. </a:t>
            </a:r>
            <a:r>
              <a:rPr lang="en-US" altLang="ko-KR" sz="1400" b="1" dirty="0"/>
              <a:t>Though there are still no instances of this resource type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26D876A3-2D32-4031-BB11-C6441A01B4D2}"/>
              </a:ext>
            </a:extLst>
          </p:cNvPr>
          <p:cNvSpPr/>
          <p:nvPr/>
        </p:nvSpPr>
        <p:spPr>
          <a:xfrm>
            <a:off x="4720464" y="1652654"/>
            <a:ext cx="2751073"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customresourcedefinitions</a:t>
            </a:r>
            <a:endParaRPr lang="ko-KR" altLang="en-US" sz="1000" b="1" dirty="0">
              <a:solidFill>
                <a:srgbClr val="FF0000"/>
              </a:solidFill>
            </a:endParaRPr>
          </a:p>
        </p:txBody>
      </p:sp>
      <p:grpSp>
        <p:nvGrpSpPr>
          <p:cNvPr id="13" name="그룹 12">
            <a:extLst>
              <a:ext uri="{FF2B5EF4-FFF2-40B4-BE49-F238E27FC236}">
                <a16:creationId xmlns:a16="http://schemas.microsoft.com/office/drawing/2014/main" id="{0350CE46-EA61-4A89-80AF-8E4C59FD0D92}"/>
              </a:ext>
            </a:extLst>
          </p:cNvPr>
          <p:cNvGrpSpPr/>
          <p:nvPr/>
        </p:nvGrpSpPr>
        <p:grpSpPr>
          <a:xfrm>
            <a:off x="1333500" y="2495663"/>
            <a:ext cx="9525000" cy="2605789"/>
            <a:chOff x="1333500" y="2472803"/>
            <a:chExt cx="9525000" cy="2605789"/>
          </a:xfrm>
        </p:grpSpPr>
        <p:grpSp>
          <p:nvGrpSpPr>
            <p:cNvPr id="11" name="그룹 10">
              <a:extLst>
                <a:ext uri="{FF2B5EF4-FFF2-40B4-BE49-F238E27FC236}">
                  <a16:creationId xmlns:a16="http://schemas.microsoft.com/office/drawing/2014/main" id="{34EF1F25-F2C7-460D-94AF-2E10ECE45DD5}"/>
                </a:ext>
              </a:extLst>
            </p:cNvPr>
            <p:cNvGrpSpPr/>
            <p:nvPr/>
          </p:nvGrpSpPr>
          <p:grpSpPr>
            <a:xfrm>
              <a:off x="1333500" y="2472803"/>
              <a:ext cx="9525000" cy="2605789"/>
              <a:chOff x="1333500" y="2472803"/>
              <a:chExt cx="9525000" cy="2605789"/>
            </a:xfrm>
          </p:grpSpPr>
          <p:sp>
            <p:nvSpPr>
              <p:cNvPr id="8" name="직사각형 7">
                <a:extLst>
                  <a:ext uri="{FF2B5EF4-FFF2-40B4-BE49-F238E27FC236}">
                    <a16:creationId xmlns:a16="http://schemas.microsoft.com/office/drawing/2014/main" id="{C27DC224-C858-4F29-846A-9130E7243277}"/>
                  </a:ext>
                </a:extLst>
              </p:cNvPr>
              <p:cNvSpPr/>
              <p:nvPr/>
            </p:nvSpPr>
            <p:spPr>
              <a:xfrm>
                <a:off x="4720463" y="2472803"/>
                <a:ext cx="2751074"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loadtest-resource.yaml</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90D64A82-E0BB-44DC-9501-0C5C2C6A3088}"/>
                  </a:ext>
                </a:extLst>
              </p:cNvPr>
              <p:cNvPicPr>
                <a:picLocks noChangeAspect="1"/>
              </p:cNvPicPr>
              <p:nvPr/>
            </p:nvPicPr>
            <p:blipFill>
              <a:blip r:embed="rId2"/>
              <a:stretch>
                <a:fillRect/>
              </a:stretch>
            </p:blipFill>
            <p:spPr>
              <a:xfrm>
                <a:off x="1333500" y="2983092"/>
                <a:ext cx="9525000" cy="209550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C435CE05-C2DE-4363-9E82-F368B763D54E}"/>
                  </a:ext>
                </a:extLst>
              </p:cNvPr>
              <p:cNvSpPr/>
              <p:nvPr/>
            </p:nvSpPr>
            <p:spPr>
              <a:xfrm>
                <a:off x="5871210" y="2719024"/>
                <a:ext cx="44958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AF3AA91E-7B70-4FC9-8C50-101219F19EF1}"/>
                </a:ext>
              </a:extLst>
            </p:cNvPr>
            <p:cNvSpPr/>
            <p:nvPr/>
          </p:nvSpPr>
          <p:spPr>
            <a:xfrm>
              <a:off x="1470660" y="4320540"/>
              <a:ext cx="3589020" cy="3505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047760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Extensibility(7/18)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b="1" dirty="0"/>
              <a:t>As with all built-in Kubernetes API objects, you can use YAML or JSON to define a custom resource </a:t>
            </a:r>
            <a:r>
              <a:rPr lang="en-US" altLang="ko-KR" sz="1400" dirty="0"/>
              <a:t>(in this case our </a:t>
            </a:r>
            <a:r>
              <a:rPr lang="en-US" altLang="ko-KR" sz="1400" dirty="0" err="1"/>
              <a:t>LoadTest</a:t>
            </a:r>
            <a:r>
              <a:rPr lang="en-US" altLang="ko-KR" sz="1400" dirty="0"/>
              <a:t>). See the following definition.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now use this “</a:t>
            </a:r>
            <a:r>
              <a:rPr lang="en-US" altLang="ko-KR" sz="1400" b="1" dirty="0" err="1"/>
              <a:t>loadtest.yaml</a:t>
            </a:r>
            <a:r>
              <a:rPr lang="en-US" altLang="ko-KR" sz="1400" dirty="0"/>
              <a:t>” file to create a resource just like you would with any built-in type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44A0D16B-1DF5-4C37-935E-53FBC0BD7998}"/>
              </a:ext>
            </a:extLst>
          </p:cNvPr>
          <p:cNvGrpSpPr/>
          <p:nvPr/>
        </p:nvGrpSpPr>
        <p:grpSpPr>
          <a:xfrm>
            <a:off x="3048000" y="1652770"/>
            <a:ext cx="6096000" cy="2185213"/>
            <a:chOff x="3048000" y="1720840"/>
            <a:chExt cx="6096000" cy="2185213"/>
          </a:xfrm>
        </p:grpSpPr>
        <p:sp>
          <p:nvSpPr>
            <p:cNvPr id="4" name="직사각형 3">
              <a:extLst>
                <a:ext uri="{FF2B5EF4-FFF2-40B4-BE49-F238E27FC236}">
                  <a16:creationId xmlns:a16="http://schemas.microsoft.com/office/drawing/2014/main" id="{65E56039-56FE-4E63-8241-08332952D614}"/>
                </a:ext>
              </a:extLst>
            </p:cNvPr>
            <p:cNvSpPr/>
            <p:nvPr/>
          </p:nvSpPr>
          <p:spPr>
            <a:xfrm>
              <a:off x="3048000" y="1720840"/>
              <a:ext cx="6096000" cy="1938992"/>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beta.kuar.com/v1</a:t>
              </a:r>
            </a:p>
            <a:p>
              <a:r>
                <a:rPr lang="en-US" altLang="ko-KR" sz="1000" b="1" dirty="0"/>
                <a:t>kind: </a:t>
              </a:r>
              <a:r>
                <a:rPr lang="en-US" altLang="ko-KR" sz="1000" b="1" dirty="0" err="1">
                  <a:solidFill>
                    <a:srgbClr val="FF0000"/>
                  </a:solidFill>
                </a:rPr>
                <a:t>LoadTest</a:t>
              </a:r>
              <a:endParaRPr lang="en-US" altLang="ko-KR" sz="1000" b="1" dirty="0">
                <a:solidFill>
                  <a:srgbClr val="FF0000"/>
                </a:solidFill>
              </a:endParaRPr>
            </a:p>
            <a:p>
              <a:r>
                <a:rPr lang="en-US" altLang="ko-KR" sz="1000" b="1" dirty="0"/>
                <a:t>metadata:</a:t>
              </a:r>
            </a:p>
            <a:p>
              <a:r>
                <a:rPr lang="en-US" altLang="ko-KR" sz="1000" b="1" dirty="0"/>
                <a:t>  name: my-</a:t>
              </a:r>
              <a:r>
                <a:rPr lang="en-US" altLang="ko-KR" sz="1000" b="1" dirty="0" err="1"/>
                <a:t>loadtest</a:t>
              </a:r>
              <a:endParaRPr lang="en-US" altLang="ko-KR" sz="1000" b="1" dirty="0"/>
            </a:p>
            <a:p>
              <a:r>
                <a:rPr lang="en-US" altLang="ko-KR" sz="1000" b="1" dirty="0"/>
                <a:t>spec:</a:t>
              </a:r>
            </a:p>
            <a:p>
              <a:r>
                <a:rPr lang="en-US" altLang="ko-KR" sz="1000" b="1" dirty="0"/>
                <a:t>  service: my-service</a:t>
              </a:r>
            </a:p>
            <a:p>
              <a:r>
                <a:rPr lang="en-US" altLang="ko-KR" sz="1000" b="1" dirty="0"/>
                <a:t>  scheme: https</a:t>
              </a:r>
            </a:p>
            <a:p>
              <a:r>
                <a:rPr lang="en-US" altLang="ko-KR" sz="1000" b="1" dirty="0"/>
                <a:t>  </a:t>
              </a:r>
              <a:r>
                <a:rPr lang="en-US" altLang="ko-KR" sz="1000" b="1" dirty="0" err="1"/>
                <a:t>requestsPerSecond</a:t>
              </a:r>
              <a:r>
                <a:rPr lang="en-US" altLang="ko-KR" sz="1000" b="1" dirty="0"/>
                <a:t>: 1000</a:t>
              </a:r>
            </a:p>
            <a:p>
              <a:r>
                <a:rPr lang="en-US" altLang="ko-KR" sz="1000" b="1" dirty="0"/>
                <a:t>  paths:</a:t>
              </a:r>
            </a:p>
            <a:p>
              <a:r>
                <a:rPr lang="en-US" altLang="ko-KR" sz="1000" b="1" dirty="0"/>
                <a:t>  - /index.html</a:t>
              </a:r>
            </a:p>
            <a:p>
              <a:r>
                <a:rPr lang="en-US" altLang="ko-KR" sz="1000" b="1" dirty="0"/>
                <a:t>  - /login.html</a:t>
              </a:r>
            </a:p>
            <a:p>
              <a:r>
                <a:rPr lang="en-US" altLang="ko-KR" sz="1000" b="1" dirty="0"/>
                <a:t>  - /shares/my-shares/</a:t>
              </a:r>
              <a:endParaRPr lang="ko-KR" altLang="en-US" sz="1000" b="1" dirty="0"/>
            </a:p>
          </p:txBody>
        </p:sp>
        <p:sp>
          <p:nvSpPr>
            <p:cNvPr id="8" name="직사각형 7">
              <a:extLst>
                <a:ext uri="{FF2B5EF4-FFF2-40B4-BE49-F238E27FC236}">
                  <a16:creationId xmlns:a16="http://schemas.microsoft.com/office/drawing/2014/main" id="{4942DF13-A75F-4A9B-9223-C7213F66879F}"/>
                </a:ext>
              </a:extLst>
            </p:cNvPr>
            <p:cNvSpPr/>
            <p:nvPr/>
          </p:nvSpPr>
          <p:spPr>
            <a:xfrm>
              <a:off x="5594099" y="3659832"/>
              <a:ext cx="1003801" cy="246221"/>
            </a:xfrm>
            <a:prstGeom prst="rect">
              <a:avLst/>
            </a:prstGeom>
          </p:spPr>
          <p:txBody>
            <a:bodyPr wrap="none">
              <a:spAutoFit/>
            </a:bodyPr>
            <a:lstStyle/>
            <a:p>
              <a:pPr algn="ctr"/>
              <a:r>
                <a:rPr lang="en-US" altLang="ko-KR" sz="1000" b="1" dirty="0" err="1">
                  <a:solidFill>
                    <a:prstClr val="black"/>
                  </a:solidFill>
                </a:rPr>
                <a:t>loadtest.yaml</a:t>
              </a:r>
              <a:endParaRPr lang="ko-KR" altLang="en-US" sz="1100" b="1" dirty="0"/>
            </a:p>
          </p:txBody>
        </p:sp>
      </p:grpSp>
      <p:grpSp>
        <p:nvGrpSpPr>
          <p:cNvPr id="13" name="그룹 12">
            <a:extLst>
              <a:ext uri="{FF2B5EF4-FFF2-40B4-BE49-F238E27FC236}">
                <a16:creationId xmlns:a16="http://schemas.microsoft.com/office/drawing/2014/main" id="{9D103F5F-90E3-4F01-9F08-B13AF2866027}"/>
              </a:ext>
            </a:extLst>
          </p:cNvPr>
          <p:cNvGrpSpPr/>
          <p:nvPr/>
        </p:nvGrpSpPr>
        <p:grpSpPr>
          <a:xfrm>
            <a:off x="1695449" y="4205411"/>
            <a:ext cx="8801098" cy="2208802"/>
            <a:chOff x="1695449" y="4205411"/>
            <a:chExt cx="8801098" cy="2208802"/>
          </a:xfrm>
        </p:grpSpPr>
        <p:sp>
          <p:nvSpPr>
            <p:cNvPr id="10" name="직사각형 9">
              <a:extLst>
                <a:ext uri="{FF2B5EF4-FFF2-40B4-BE49-F238E27FC236}">
                  <a16:creationId xmlns:a16="http://schemas.microsoft.com/office/drawing/2014/main" id="{70A6D894-BCE0-4555-A608-4F2865DF4072}"/>
                </a:ext>
              </a:extLst>
            </p:cNvPr>
            <p:cNvSpPr/>
            <p:nvPr/>
          </p:nvSpPr>
          <p:spPr>
            <a:xfrm>
              <a:off x="5007399" y="4205411"/>
              <a:ext cx="2177199"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loadtest.yaml</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D9A2913C-02A4-49B0-93FB-014DA23668A6}"/>
                </a:ext>
              </a:extLst>
            </p:cNvPr>
            <p:cNvSpPr/>
            <p:nvPr/>
          </p:nvSpPr>
          <p:spPr>
            <a:xfrm>
              <a:off x="5890260" y="4470126"/>
              <a:ext cx="41910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2" name="그림 11">
              <a:extLst>
                <a:ext uri="{FF2B5EF4-FFF2-40B4-BE49-F238E27FC236}">
                  <a16:creationId xmlns:a16="http://schemas.microsoft.com/office/drawing/2014/main" id="{E6578436-E58F-4EA5-B4E4-A03783589583}"/>
                </a:ext>
              </a:extLst>
            </p:cNvPr>
            <p:cNvPicPr>
              <a:picLocks noChangeAspect="1"/>
            </p:cNvPicPr>
            <p:nvPr/>
          </p:nvPicPr>
          <p:blipFill>
            <a:blip r:embed="rId2"/>
            <a:stretch>
              <a:fillRect/>
            </a:stretch>
          </p:blipFill>
          <p:spPr>
            <a:xfrm>
              <a:off x="1695449" y="4742004"/>
              <a:ext cx="8801098" cy="1672209"/>
            </a:xfrm>
            <a:prstGeom prst="rect">
              <a:avLst/>
            </a:prstGeom>
            <a:ln>
              <a:solidFill>
                <a:schemeClr val="bg1">
                  <a:lumMod val="50000"/>
                </a:schemeClr>
              </a:solidFill>
            </a:ln>
          </p:spPr>
        </p:pic>
      </p:grpSp>
    </p:spTree>
    <p:extLst>
      <p:ext uri="{BB962C8B-B14F-4D97-AF65-F5344CB8AC3E}">
        <p14:creationId xmlns:p14="http://schemas.microsoft.com/office/powerpoint/2010/main" val="42226371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Custom Resource Definition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 Definition :</a:t>
            </a:r>
          </a:p>
          <a:p>
            <a:pPr lvl="1">
              <a:buFont typeface="Wingdings" panose="05000000000000000000" pitchFamily="2" charset="2"/>
              <a:buChar char="§"/>
            </a:pPr>
            <a:r>
              <a:rPr lang="en-US" altLang="ko-KR" sz="1400" b="1" dirty="0"/>
              <a:t>You need to add the following lines to “</a:t>
            </a:r>
            <a:r>
              <a:rPr lang="en-US" altLang="ko-KR" sz="1400" b="1" dirty="0" err="1"/>
              <a:t>loadtest-resource.yaml</a:t>
            </a:r>
            <a:r>
              <a:rPr lang="en-US" altLang="ko-KR" sz="1400" b="1" dirty="0"/>
              <a:t>” file</a:t>
            </a:r>
            <a:r>
              <a:rPr lang="en-US" altLang="ko-KR" sz="1400" dirty="0"/>
              <a:t>. In your “</a:t>
            </a:r>
            <a:r>
              <a:rPr lang="en-US" altLang="ko-KR" sz="1400" b="1" dirty="0" err="1"/>
              <a:t>loadtest.yaml</a:t>
            </a:r>
            <a:r>
              <a:rPr lang="en-US" altLang="ko-KR" sz="1400" dirty="0"/>
              <a:t>” file, you used “</a:t>
            </a:r>
            <a:r>
              <a:rPr lang="en-US" altLang="ko-KR" sz="1400" b="1" dirty="0"/>
              <a:t>spec</a:t>
            </a:r>
            <a:r>
              <a:rPr lang="en-US" altLang="ko-KR" sz="1400" dirty="0"/>
              <a:t>” field to define the method accessing the resource. So you also need to </a:t>
            </a:r>
            <a:r>
              <a:rPr lang="en-US" altLang="ko-KR" sz="1400" b="1" dirty="0"/>
              <a:t>modify the “</a:t>
            </a:r>
            <a:r>
              <a:rPr lang="en-US" altLang="ko-KR" sz="1400" b="1" dirty="0" err="1"/>
              <a:t>loadtest-resource.yaml</a:t>
            </a:r>
            <a:r>
              <a:rPr lang="en-US" altLang="ko-KR" sz="1400" b="1" dirty="0"/>
              <a:t>” file according to the “spec” field in “</a:t>
            </a:r>
            <a:r>
              <a:rPr lang="en-US" altLang="ko-KR" sz="1400" b="1" dirty="0" err="1"/>
              <a:t>loadtest.yaml</a:t>
            </a:r>
            <a:r>
              <a:rPr lang="en-US" altLang="ko-KR" sz="1400" b="1" dirty="0"/>
              <a:t>” file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0F6A35FD-F6EE-432F-8395-7B758CB56869}"/>
              </a:ext>
            </a:extLst>
          </p:cNvPr>
          <p:cNvGrpSpPr/>
          <p:nvPr/>
        </p:nvGrpSpPr>
        <p:grpSpPr>
          <a:xfrm>
            <a:off x="2255520" y="1882962"/>
            <a:ext cx="7726680" cy="4247317"/>
            <a:chOff x="2255520" y="2015664"/>
            <a:chExt cx="7726680" cy="4247317"/>
          </a:xfrm>
        </p:grpSpPr>
        <p:sp>
          <p:nvSpPr>
            <p:cNvPr id="4" name="직사각형 3">
              <a:extLst>
                <a:ext uri="{FF2B5EF4-FFF2-40B4-BE49-F238E27FC236}">
                  <a16:creationId xmlns:a16="http://schemas.microsoft.com/office/drawing/2014/main" id="{BED2F949-658F-4104-B071-58A52EFDA2B2}"/>
                </a:ext>
              </a:extLst>
            </p:cNvPr>
            <p:cNvSpPr/>
            <p:nvPr/>
          </p:nvSpPr>
          <p:spPr>
            <a:xfrm>
              <a:off x="2255520" y="2015664"/>
              <a:ext cx="3863340" cy="4247317"/>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apiextensions.k8s.io/v1</a:t>
              </a:r>
            </a:p>
            <a:p>
              <a:r>
                <a:rPr lang="en-US" altLang="ko-KR" sz="1000" b="1" dirty="0"/>
                <a:t>kind: </a:t>
              </a:r>
              <a:r>
                <a:rPr lang="en-US" altLang="ko-KR" sz="1000" b="1" dirty="0" err="1"/>
                <a:t>CustomResourceDefinition</a:t>
              </a:r>
              <a:endParaRPr lang="en-US" altLang="ko-KR" sz="1000" b="1" dirty="0"/>
            </a:p>
            <a:p>
              <a:r>
                <a:rPr lang="en-US" altLang="ko-KR" sz="1000" b="1" dirty="0"/>
                <a:t>metadata:</a:t>
              </a:r>
            </a:p>
            <a:p>
              <a:r>
                <a:rPr lang="en-US" altLang="ko-KR" sz="1000" b="1" dirty="0"/>
                <a:t>  name: loadtests.beta.kuar.com</a:t>
              </a:r>
            </a:p>
            <a:p>
              <a:r>
                <a:rPr lang="en-US" altLang="ko-KR" sz="1000" b="1" dirty="0"/>
                <a:t>spec:</a:t>
              </a:r>
            </a:p>
            <a:p>
              <a:r>
                <a:rPr lang="en-US" altLang="ko-KR" sz="1000" b="1" dirty="0"/>
                <a:t>  group: beta.kuar.com</a:t>
              </a:r>
            </a:p>
            <a:p>
              <a:r>
                <a:rPr lang="en-US" altLang="ko-KR" sz="1000" b="1" dirty="0"/>
                <a:t>  versions:</a:t>
              </a:r>
            </a:p>
            <a:p>
              <a:r>
                <a:rPr lang="en-US" altLang="ko-KR" sz="1000" b="1" dirty="0"/>
                <a:t>    - name: v1</a:t>
              </a:r>
            </a:p>
            <a:p>
              <a:r>
                <a:rPr lang="en-US" altLang="ko-KR" sz="1000" b="1" dirty="0"/>
                <a:t>      served: true</a:t>
              </a:r>
            </a:p>
            <a:p>
              <a:r>
                <a:rPr lang="en-US" altLang="ko-KR" sz="1000" b="1" dirty="0"/>
                <a:t>      storage: true</a:t>
              </a:r>
            </a:p>
            <a:p>
              <a:r>
                <a:rPr lang="en-US" altLang="ko-KR" sz="1000" b="1" dirty="0"/>
                <a:t>      schema:</a:t>
              </a:r>
            </a:p>
            <a:p>
              <a:r>
                <a:rPr lang="en-US" altLang="ko-KR" sz="1000" b="1" dirty="0"/>
                <a:t>        openAPIV3Schema:</a:t>
              </a:r>
            </a:p>
            <a:p>
              <a:r>
                <a:rPr lang="en-US" altLang="ko-KR" sz="1000" b="1" dirty="0"/>
                <a:t>          type: object</a:t>
              </a:r>
            </a:p>
            <a:p>
              <a:r>
                <a:rPr lang="en-US" altLang="ko-KR" sz="1000" b="1" dirty="0">
                  <a:solidFill>
                    <a:srgbClr val="FF0000"/>
                  </a:solidFill>
                </a:rPr>
                <a:t>          properties:</a:t>
              </a:r>
            </a:p>
            <a:p>
              <a:r>
                <a:rPr lang="en-US" altLang="ko-KR" sz="1000" b="1" dirty="0">
                  <a:solidFill>
                    <a:srgbClr val="FF0000"/>
                  </a:solidFill>
                </a:rPr>
                <a:t>            spec:</a:t>
              </a:r>
            </a:p>
            <a:p>
              <a:r>
                <a:rPr lang="en-US" altLang="ko-KR" sz="1000" b="1" dirty="0">
                  <a:solidFill>
                    <a:srgbClr val="FF0000"/>
                  </a:solidFill>
                </a:rPr>
                <a:t>              type: object</a:t>
              </a:r>
            </a:p>
            <a:p>
              <a:r>
                <a:rPr lang="en-US" altLang="ko-KR" sz="1000" b="1" dirty="0">
                  <a:solidFill>
                    <a:srgbClr val="FF0000"/>
                  </a:solidFill>
                </a:rPr>
                <a:t>              properties:</a:t>
              </a:r>
            </a:p>
            <a:p>
              <a:r>
                <a:rPr lang="en-US" altLang="ko-KR" sz="1000" b="1" dirty="0">
                  <a:solidFill>
                    <a:srgbClr val="FF0000"/>
                  </a:solidFill>
                </a:rPr>
                <a:t>                service:</a:t>
              </a:r>
            </a:p>
            <a:p>
              <a:r>
                <a:rPr lang="en-US" altLang="ko-KR" sz="1000" b="1" dirty="0">
                  <a:solidFill>
                    <a:srgbClr val="FF0000"/>
                  </a:solidFill>
                </a:rPr>
                <a:t>                  type: string</a:t>
              </a:r>
            </a:p>
            <a:p>
              <a:r>
                <a:rPr lang="en-US" altLang="ko-KR" sz="1000" b="1" dirty="0">
                  <a:solidFill>
                    <a:srgbClr val="FF0000"/>
                  </a:solidFill>
                </a:rPr>
                <a:t>                scheme:</a:t>
              </a:r>
            </a:p>
            <a:p>
              <a:r>
                <a:rPr lang="en-US" altLang="ko-KR" sz="1000" b="1" dirty="0">
                  <a:solidFill>
                    <a:srgbClr val="FF0000"/>
                  </a:solidFill>
                </a:rPr>
                <a:t>                  type: string</a:t>
              </a:r>
            </a:p>
            <a:p>
              <a:r>
                <a:rPr lang="en-US" altLang="ko-KR" sz="1000" b="1" dirty="0">
                  <a:solidFill>
                    <a:srgbClr val="FF0000"/>
                  </a:solidFill>
                </a:rPr>
                <a:t>                </a:t>
              </a:r>
              <a:r>
                <a:rPr lang="en-US" altLang="ko-KR" sz="1000" b="1" dirty="0" err="1">
                  <a:solidFill>
                    <a:srgbClr val="FF0000"/>
                  </a:solidFill>
                </a:rPr>
                <a:t>requestsPerSecond</a:t>
              </a:r>
              <a:r>
                <a:rPr lang="en-US" altLang="ko-KR" sz="1000" b="1" dirty="0">
                  <a:solidFill>
                    <a:srgbClr val="FF0000"/>
                  </a:solidFill>
                </a:rPr>
                <a:t>:</a:t>
              </a:r>
            </a:p>
            <a:p>
              <a:r>
                <a:rPr lang="en-US" altLang="ko-KR" sz="1000" b="1" dirty="0">
                  <a:solidFill>
                    <a:srgbClr val="FF0000"/>
                  </a:solidFill>
                </a:rPr>
                <a:t>                  type: integer</a:t>
              </a:r>
            </a:p>
            <a:p>
              <a:r>
                <a:rPr lang="en-US" altLang="ko-KR" sz="1000" b="1" dirty="0">
                  <a:solidFill>
                    <a:srgbClr val="FF0000"/>
                  </a:solidFill>
                </a:rPr>
                <a:t>                paths:</a:t>
              </a:r>
            </a:p>
            <a:p>
              <a:r>
                <a:rPr lang="en-US" altLang="ko-KR" sz="1000" b="1" dirty="0">
                  <a:solidFill>
                    <a:srgbClr val="FF0000"/>
                  </a:solidFill>
                </a:rPr>
                <a:t>                  type: array</a:t>
              </a:r>
            </a:p>
            <a:p>
              <a:r>
                <a:rPr lang="en-US" altLang="ko-KR" sz="1000" b="1" dirty="0">
                  <a:solidFill>
                    <a:srgbClr val="FF0000"/>
                  </a:solidFill>
                </a:rPr>
                <a:t>                  items:</a:t>
              </a:r>
            </a:p>
            <a:p>
              <a:r>
                <a:rPr lang="en-US" altLang="ko-KR" sz="1000" b="1" dirty="0">
                  <a:solidFill>
                    <a:srgbClr val="FF0000"/>
                  </a:solidFill>
                </a:rPr>
                <a:t>                    type: string</a:t>
              </a:r>
            </a:p>
          </p:txBody>
        </p:sp>
        <p:sp>
          <p:nvSpPr>
            <p:cNvPr id="8" name="직사각형 7">
              <a:extLst>
                <a:ext uri="{FF2B5EF4-FFF2-40B4-BE49-F238E27FC236}">
                  <a16:creationId xmlns:a16="http://schemas.microsoft.com/office/drawing/2014/main" id="{849AC216-94CC-4088-870E-3881132F94A2}"/>
                </a:ext>
              </a:extLst>
            </p:cNvPr>
            <p:cNvSpPr/>
            <p:nvPr/>
          </p:nvSpPr>
          <p:spPr>
            <a:xfrm>
              <a:off x="6118860" y="2015664"/>
              <a:ext cx="3863340" cy="4247317"/>
            </a:xfrm>
            <a:prstGeom prst="rect">
              <a:avLst/>
            </a:prstGeom>
            <a:ln>
              <a:solidFill>
                <a:schemeClr val="bg1">
                  <a:lumMod val="50000"/>
                </a:schemeClr>
              </a:solidFill>
            </a:ln>
          </p:spPr>
          <p:txBody>
            <a:bodyPr wrap="square">
              <a:spAutoFit/>
            </a:bodyPr>
            <a:lstStyle/>
            <a:p>
              <a:pPr lvl="0"/>
              <a:r>
                <a:rPr lang="en-US" altLang="ko-KR" sz="1000" b="1" dirty="0">
                  <a:solidFill>
                    <a:prstClr val="black"/>
                  </a:solidFill>
                </a:rPr>
                <a:t> scope: </a:t>
              </a:r>
              <a:r>
                <a:rPr lang="en-US" altLang="ko-KR" sz="1000" b="1" dirty="0" err="1">
                  <a:solidFill>
                    <a:prstClr val="black"/>
                  </a:solidFill>
                </a:rPr>
                <a:t>Namespaced</a:t>
              </a:r>
              <a:endParaRPr lang="en-US" altLang="ko-KR" sz="1000" b="1" dirty="0">
                <a:solidFill>
                  <a:prstClr val="black"/>
                </a:solidFill>
              </a:endParaRPr>
            </a:p>
            <a:p>
              <a:pPr lvl="0"/>
              <a:r>
                <a:rPr lang="en-US" altLang="ko-KR" sz="1000" b="1" dirty="0">
                  <a:solidFill>
                    <a:prstClr val="black"/>
                  </a:solidFill>
                </a:rPr>
                <a:t>  names:</a:t>
              </a:r>
            </a:p>
            <a:p>
              <a:pPr lvl="0"/>
              <a:r>
                <a:rPr lang="en-US" altLang="ko-KR" sz="1000" b="1" dirty="0">
                  <a:solidFill>
                    <a:prstClr val="black"/>
                  </a:solidFill>
                </a:rPr>
                <a:t>    plural: </a:t>
              </a:r>
              <a:r>
                <a:rPr lang="en-US" altLang="ko-KR" sz="1000" b="1" dirty="0" err="1">
                  <a:solidFill>
                    <a:prstClr val="black"/>
                  </a:solidFill>
                </a:rPr>
                <a:t>loadtests</a:t>
              </a:r>
              <a:endParaRPr lang="en-US" altLang="ko-KR" sz="1000" b="1" dirty="0">
                <a:solidFill>
                  <a:prstClr val="black"/>
                </a:solidFill>
              </a:endParaRPr>
            </a:p>
            <a:p>
              <a:pPr lvl="0"/>
              <a:r>
                <a:rPr lang="en-US" altLang="ko-KR" sz="1000" b="1" dirty="0">
                  <a:solidFill>
                    <a:prstClr val="black"/>
                  </a:solidFill>
                </a:rPr>
                <a:t>    singular: </a:t>
              </a:r>
              <a:r>
                <a:rPr lang="en-US" altLang="ko-KR" sz="1000" b="1" dirty="0" err="1">
                  <a:solidFill>
                    <a:prstClr val="black"/>
                  </a:solidFill>
                </a:rPr>
                <a:t>loadtest</a:t>
              </a:r>
              <a:endParaRPr lang="en-US" altLang="ko-KR" sz="1000" b="1" dirty="0">
                <a:solidFill>
                  <a:prstClr val="black"/>
                </a:solidFill>
              </a:endParaRPr>
            </a:p>
            <a:p>
              <a:pPr lvl="0"/>
              <a:r>
                <a:rPr lang="en-US" altLang="ko-KR" sz="1000" b="1" dirty="0">
                  <a:solidFill>
                    <a:prstClr val="black"/>
                  </a:solidFill>
                </a:rPr>
                <a:t>    kind: </a:t>
              </a:r>
              <a:r>
                <a:rPr lang="en-US" altLang="ko-KR" sz="1000" b="1" dirty="0" err="1">
                  <a:solidFill>
                    <a:prstClr val="black"/>
                  </a:solidFill>
                </a:rPr>
                <a:t>LoadTest</a:t>
              </a:r>
              <a:endParaRPr lang="en-US" altLang="ko-KR" sz="1000" b="1" dirty="0">
                <a:solidFill>
                  <a:prstClr val="black"/>
                </a:solidFill>
              </a:endParaRPr>
            </a:p>
            <a:p>
              <a:pPr lvl="0"/>
              <a:r>
                <a:rPr lang="en-US" altLang="ko-KR" sz="1000" b="1" dirty="0">
                  <a:solidFill>
                    <a:prstClr val="black"/>
                  </a:solidFill>
                </a:rPr>
                <a:t>    </a:t>
              </a:r>
              <a:r>
                <a:rPr lang="en-US" altLang="ko-KR" sz="1000" b="1" dirty="0" err="1">
                  <a:solidFill>
                    <a:prstClr val="black"/>
                  </a:solidFill>
                </a:rPr>
                <a:t>shortNames</a:t>
              </a:r>
              <a:r>
                <a:rPr lang="en-US" altLang="ko-KR" sz="1000" b="1" dirty="0">
                  <a:solidFill>
                    <a:prstClr val="black"/>
                  </a:solidFill>
                </a:rPr>
                <a:t>:</a:t>
              </a:r>
            </a:p>
            <a:p>
              <a:pPr lvl="0"/>
              <a:r>
                <a:rPr lang="en-US" altLang="ko-KR" sz="1000" b="1" dirty="0">
                  <a:solidFill>
                    <a:prstClr val="black"/>
                  </a:solidFill>
                </a:rPr>
                <a:t>    - </a:t>
              </a:r>
              <a:r>
                <a:rPr lang="en-US" altLang="ko-KR" sz="1000" b="1" dirty="0" err="1">
                  <a:solidFill>
                    <a:prstClr val="black"/>
                  </a:solidFill>
                </a:rPr>
                <a:t>lt</a:t>
              </a:r>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p:txBody>
        </p:sp>
      </p:grpSp>
    </p:spTree>
    <p:extLst>
      <p:ext uri="{BB962C8B-B14F-4D97-AF65-F5344CB8AC3E}">
        <p14:creationId xmlns:p14="http://schemas.microsoft.com/office/powerpoint/2010/main" val="16245439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Extensibility(8/18)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dirty="0"/>
              <a:t>Now when you </a:t>
            </a:r>
            <a:r>
              <a:rPr lang="en-US" altLang="ko-KR" sz="1400" b="1" dirty="0"/>
              <a:t>list the “</a:t>
            </a:r>
            <a:r>
              <a:rPr lang="en-US" altLang="ko-KR" sz="1400" b="1" dirty="0" err="1"/>
              <a:t>loadtests</a:t>
            </a:r>
            <a:r>
              <a:rPr lang="en-US" altLang="ko-KR" sz="1400" b="1" dirty="0"/>
              <a:t>” resource</a:t>
            </a:r>
            <a:r>
              <a:rPr lang="en-US" altLang="ko-KR" sz="1400" dirty="0"/>
              <a:t>, you’ll see your newly created resource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may be exciting, but it doesn’t really do anything yet. </a:t>
            </a:r>
            <a:r>
              <a:rPr lang="en-US" altLang="ko-KR" sz="1400" b="1" dirty="0"/>
              <a:t>Sure, you can use this simple </a:t>
            </a:r>
            <a:r>
              <a:rPr lang="en-US" altLang="ko-KR" sz="1400" b="1" dirty="0">
                <a:solidFill>
                  <a:srgbClr val="FF0000"/>
                </a:solidFill>
              </a:rPr>
              <a:t>CRUD (Create/Read/Update/Delete) </a:t>
            </a:r>
            <a:r>
              <a:rPr lang="en-US" altLang="ko-KR" sz="1400" b="1" dirty="0"/>
              <a:t>API to manipulate the data for “</a:t>
            </a:r>
            <a:r>
              <a:rPr lang="en-US" altLang="ko-KR" sz="1400" b="1" dirty="0" err="1"/>
              <a:t>LoadTest</a:t>
            </a:r>
            <a:r>
              <a:rPr lang="en-US" altLang="ko-KR" sz="1400" b="1" dirty="0"/>
              <a:t>” objects</a:t>
            </a:r>
            <a:r>
              <a:rPr lang="en-US" altLang="ko-KR" sz="1400" dirty="0"/>
              <a:t>, but </a:t>
            </a:r>
            <a:r>
              <a:rPr lang="en-US" altLang="ko-KR" sz="1400" b="1" dirty="0"/>
              <a:t>no actual load tests </a:t>
            </a:r>
            <a:r>
              <a:rPr lang="en-US" altLang="ko-KR" sz="1400" dirty="0"/>
              <a:t>are created in response to this new API we defined.</a:t>
            </a:r>
          </a:p>
          <a:p>
            <a:pPr lvl="1">
              <a:buFont typeface="Wingdings" panose="05000000000000000000" pitchFamily="2" charset="2"/>
              <a:buChar char="§"/>
            </a:pPr>
            <a:r>
              <a:rPr lang="en-US" altLang="ko-KR" sz="1400" b="1" dirty="0"/>
              <a:t>This is because there is no controller present in the cluster to react and take action when a “</a:t>
            </a:r>
            <a:r>
              <a:rPr lang="en-US" altLang="ko-KR" sz="1400" b="1" dirty="0" err="1"/>
              <a:t>LoadTest</a:t>
            </a:r>
            <a:r>
              <a:rPr lang="en-US" altLang="ko-KR" sz="1400" b="1" dirty="0"/>
              <a:t>” object is defined</a:t>
            </a:r>
            <a:r>
              <a:rPr lang="en-US" altLang="ko-KR" sz="1400" dirty="0"/>
              <a:t>. The “</a:t>
            </a:r>
            <a:r>
              <a:rPr lang="en-US" altLang="ko-KR" sz="1400" b="1" dirty="0" err="1"/>
              <a:t>LoadTest</a:t>
            </a:r>
            <a:r>
              <a:rPr lang="en-US" altLang="ko-KR" sz="1400" b="1" dirty="0"/>
              <a:t>” custom resource is only half of the infrastructure needed to add “</a:t>
            </a:r>
            <a:r>
              <a:rPr lang="en-US" altLang="ko-KR" sz="1400" b="1" dirty="0" err="1"/>
              <a:t>LoadTests</a:t>
            </a:r>
            <a:r>
              <a:rPr lang="en-US" altLang="ko-KR" sz="1400" b="1" dirty="0"/>
              <a:t>” to our cluster</a:t>
            </a:r>
            <a:r>
              <a:rPr lang="en-US" altLang="ko-KR" sz="1400" dirty="0"/>
              <a:t>. The other is a piece of code that will continuously monitor the custom resources and create, modify, or delete </a:t>
            </a:r>
            <a:r>
              <a:rPr lang="en-US" altLang="ko-KR" sz="1400" b="1" dirty="0" err="1"/>
              <a:t>LoadTests</a:t>
            </a:r>
            <a:r>
              <a:rPr lang="en-US" altLang="ko-KR" sz="1400" dirty="0"/>
              <a:t> as necessary to implement the API.</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0F0A386-82F0-4739-8015-731BE824E96C}"/>
              </a:ext>
            </a:extLst>
          </p:cNvPr>
          <p:cNvGrpSpPr/>
          <p:nvPr/>
        </p:nvGrpSpPr>
        <p:grpSpPr>
          <a:xfrm>
            <a:off x="1333500" y="1537454"/>
            <a:ext cx="9525000" cy="2377638"/>
            <a:chOff x="1333498" y="1453634"/>
            <a:chExt cx="9525000" cy="2377638"/>
          </a:xfrm>
        </p:grpSpPr>
        <p:sp>
          <p:nvSpPr>
            <p:cNvPr id="4" name="직사각형 3">
              <a:extLst>
                <a:ext uri="{FF2B5EF4-FFF2-40B4-BE49-F238E27FC236}">
                  <a16:creationId xmlns:a16="http://schemas.microsoft.com/office/drawing/2014/main" id="{2B1F772A-3004-4C73-A4EF-264E4AB3234F}"/>
                </a:ext>
              </a:extLst>
            </p:cNvPr>
            <p:cNvSpPr/>
            <p:nvPr/>
          </p:nvSpPr>
          <p:spPr>
            <a:xfrm>
              <a:off x="5299145" y="1453634"/>
              <a:ext cx="1593706"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loadtests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587B0DF2-E89C-441C-B4FC-6B27D5F2DFBE}"/>
                </a:ext>
              </a:extLst>
            </p:cNvPr>
            <p:cNvSpPr/>
            <p:nvPr/>
          </p:nvSpPr>
          <p:spPr>
            <a:xfrm>
              <a:off x="5861682" y="1699855"/>
              <a:ext cx="468632" cy="31182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4323853D-DF5E-4013-9347-C93664C58789}"/>
                </a:ext>
              </a:extLst>
            </p:cNvPr>
            <p:cNvPicPr>
              <a:picLocks noChangeAspect="1"/>
            </p:cNvPicPr>
            <p:nvPr/>
          </p:nvPicPr>
          <p:blipFill>
            <a:blip r:embed="rId2"/>
            <a:stretch>
              <a:fillRect/>
            </a:stretch>
          </p:blipFill>
          <p:spPr>
            <a:xfrm>
              <a:off x="1333498" y="2021522"/>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13586609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Extensibility(9/18)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dirty="0"/>
              <a:t>Just like the user of the API, </a:t>
            </a:r>
            <a:r>
              <a:rPr lang="en-US" altLang="ko-KR" sz="1400" b="1" dirty="0"/>
              <a:t>the controller interacts with the API server to list “</a:t>
            </a:r>
            <a:r>
              <a:rPr lang="en-US" altLang="ko-KR" sz="1400" b="1" dirty="0" err="1"/>
              <a:t>LoadTests</a:t>
            </a:r>
            <a:r>
              <a:rPr lang="en-US" altLang="ko-KR" sz="1400" b="1" dirty="0"/>
              <a:t>” and watches for any changes that might occur</a:t>
            </a:r>
            <a:r>
              <a:rPr lang="en-US" altLang="ko-KR" sz="1400" dirty="0"/>
              <a:t>. This interaction between controller and API server is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code for such a controller can range from simple to complex. The simplest controllers </a:t>
            </a:r>
            <a:r>
              <a:rPr lang="en-US" altLang="ko-KR" sz="1400" b="1" dirty="0"/>
              <a:t>run a for loop and repeatedly poll for new custom objects</a:t>
            </a:r>
            <a:r>
              <a:rPr lang="en-US" altLang="ko-KR" sz="1400" dirty="0"/>
              <a:t>, and </a:t>
            </a:r>
            <a:r>
              <a:rPr lang="en-US" altLang="ko-KR" sz="1400" b="1" dirty="0"/>
              <a:t>then take actions to create or delete the resources </a:t>
            </a:r>
            <a:r>
              <a:rPr lang="en-US" altLang="ko-KR" sz="1400" dirty="0"/>
              <a:t>that implement those custom objects (e.g., </a:t>
            </a:r>
            <a:r>
              <a:rPr lang="en-US" altLang="ko-KR" sz="1400" b="1" dirty="0"/>
              <a:t>the </a:t>
            </a:r>
            <a:r>
              <a:rPr lang="en-US" altLang="ko-KR" sz="1400" b="1" dirty="0" err="1"/>
              <a:t>LoadTest</a:t>
            </a:r>
            <a:r>
              <a:rPr lang="en-US" altLang="ko-KR" sz="1400" b="1" dirty="0"/>
              <a:t> worker pods</a:t>
            </a:r>
            <a:r>
              <a:rPr lang="en-US" altLang="ko-KR" sz="1400" dirty="0"/>
              <a:t>).</a:t>
            </a:r>
          </a:p>
          <a:p>
            <a:pPr lvl="1">
              <a:buFont typeface="Wingdings" panose="05000000000000000000" pitchFamily="2" charset="2"/>
              <a:buChar char="§"/>
            </a:pPr>
            <a:r>
              <a:rPr lang="en-US" altLang="ko-KR" sz="1400" b="1" dirty="0"/>
              <a:t>The polling-based approach is inefficient: the period of the polling loop adds unnecessary latency, and the overhead of polling may add unnecessary load on the API server. A more efficient approach is to use </a:t>
            </a:r>
            <a:r>
              <a:rPr lang="en-US" altLang="ko-KR" sz="1400" b="1" dirty="0">
                <a:solidFill>
                  <a:srgbClr val="FF0000"/>
                </a:solidFill>
              </a:rPr>
              <a:t>the watch API on the API server</a:t>
            </a:r>
            <a:r>
              <a:rPr lang="en-US" altLang="ko-KR" sz="1400" b="1" dirty="0"/>
              <a:t>, which provides a stream of updates when they occur, eliminating both the latency and overhead of polling</a:t>
            </a:r>
            <a:r>
              <a:rPr lang="en-US" altLang="ko-KR" sz="1400" dirty="0"/>
              <a:t>. However, using this API correctly in a bug-free way is complicated. As a result, if you want to use watches, it is highly recommended that you </a:t>
            </a:r>
            <a:r>
              <a:rPr lang="en-US" altLang="ko-KR" sz="1400" b="1" dirty="0"/>
              <a:t>use a well-supported mechanism such as the “</a:t>
            </a:r>
            <a:r>
              <a:rPr lang="en-US" altLang="ko-KR" sz="1400" b="1" dirty="0">
                <a:solidFill>
                  <a:srgbClr val="FF0000"/>
                </a:solidFill>
              </a:rPr>
              <a:t>Informer pattern</a:t>
            </a:r>
            <a:r>
              <a:rPr lang="en-US" altLang="ko-KR" sz="1400" b="1" dirty="0"/>
              <a:t>” exposed in the</a:t>
            </a:r>
            <a:r>
              <a:rPr lang="en-US" altLang="ko-KR" sz="1400" dirty="0"/>
              <a:t> </a:t>
            </a:r>
            <a:r>
              <a:rPr lang="en-US" altLang="ko-KR" sz="1400" b="1" dirty="0">
                <a:hlinkClick r:id="rId2"/>
              </a:rPr>
              <a:t>client-go library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D85C6B78-989E-476F-8B4B-FEC65667E6B7}"/>
              </a:ext>
            </a:extLst>
          </p:cNvPr>
          <p:cNvGrpSpPr/>
          <p:nvPr/>
        </p:nvGrpSpPr>
        <p:grpSpPr>
          <a:xfrm>
            <a:off x="3613914" y="1862598"/>
            <a:ext cx="4964172" cy="1260820"/>
            <a:chOff x="3613914" y="1786398"/>
            <a:chExt cx="4964172" cy="1260820"/>
          </a:xfrm>
        </p:grpSpPr>
        <p:pic>
          <p:nvPicPr>
            <p:cNvPr id="4" name="그림 3">
              <a:extLst>
                <a:ext uri="{FF2B5EF4-FFF2-40B4-BE49-F238E27FC236}">
                  <a16:creationId xmlns:a16="http://schemas.microsoft.com/office/drawing/2014/main" id="{664CF460-0FBF-4959-8A2B-701030F658FC}"/>
                </a:ext>
              </a:extLst>
            </p:cNvPr>
            <p:cNvPicPr>
              <a:picLocks noChangeAspect="1"/>
            </p:cNvPicPr>
            <p:nvPr/>
          </p:nvPicPr>
          <p:blipFill>
            <a:blip r:embed="rId3"/>
            <a:stretch>
              <a:fillRect/>
            </a:stretch>
          </p:blipFill>
          <p:spPr>
            <a:xfrm>
              <a:off x="3613914" y="1786398"/>
              <a:ext cx="4964172" cy="1260820"/>
            </a:xfrm>
            <a:prstGeom prst="rect">
              <a:avLst/>
            </a:prstGeom>
          </p:spPr>
        </p:pic>
        <p:sp>
          <p:nvSpPr>
            <p:cNvPr id="8" name="직사각형 7">
              <a:extLst>
                <a:ext uri="{FF2B5EF4-FFF2-40B4-BE49-F238E27FC236}">
                  <a16:creationId xmlns:a16="http://schemas.microsoft.com/office/drawing/2014/main" id="{D48E5D39-DED4-4B35-B84A-931C5A3D57E4}"/>
                </a:ext>
              </a:extLst>
            </p:cNvPr>
            <p:cNvSpPr/>
            <p:nvPr/>
          </p:nvSpPr>
          <p:spPr>
            <a:xfrm>
              <a:off x="3695700" y="2049780"/>
              <a:ext cx="1409700" cy="7010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27899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Extensibility(10/18)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dirty="0"/>
              <a:t>Now we have the </a:t>
            </a:r>
            <a:r>
              <a:rPr lang="en-US" altLang="ko-KR" sz="1400" b="1" dirty="0"/>
              <a:t>basic functionality of a new resource </a:t>
            </a:r>
            <a:r>
              <a:rPr lang="en-US" altLang="ko-KR" sz="1400" dirty="0"/>
              <a:t>in our cluster. However, many parts of what it means to be a well-functioning resource are missing. </a:t>
            </a:r>
            <a:r>
              <a:rPr lang="en-US" altLang="ko-KR" sz="1400" b="1" dirty="0"/>
              <a:t>The two most important are </a:t>
            </a:r>
            <a:r>
              <a:rPr lang="en-US" altLang="ko-KR" sz="1400" b="1" dirty="0">
                <a:solidFill>
                  <a:srgbClr val="FF0000"/>
                </a:solidFill>
              </a:rPr>
              <a:t>validation</a:t>
            </a:r>
            <a:r>
              <a:rPr lang="en-US" altLang="ko-KR" sz="1400" b="1" dirty="0"/>
              <a:t> and </a:t>
            </a:r>
            <a:r>
              <a:rPr lang="en-US" altLang="ko-KR" sz="1400" b="1" dirty="0">
                <a:solidFill>
                  <a:srgbClr val="FF0000"/>
                </a:solidFill>
              </a:rPr>
              <a:t>defaulting</a:t>
            </a:r>
            <a:r>
              <a:rPr lang="en-US" altLang="ko-KR" sz="1400" dirty="0"/>
              <a:t>. </a:t>
            </a:r>
            <a:r>
              <a:rPr lang="en-US" altLang="ko-KR" sz="1400" b="1" dirty="0">
                <a:solidFill>
                  <a:srgbClr val="FF0000"/>
                </a:solidFill>
              </a:rPr>
              <a:t>Validation</a:t>
            </a:r>
            <a:r>
              <a:rPr lang="en-US" altLang="ko-KR" sz="1400" b="1" dirty="0"/>
              <a:t> is the process of ensuring that “</a:t>
            </a:r>
            <a:r>
              <a:rPr lang="en-US" altLang="ko-KR" sz="1400" b="1" dirty="0" err="1"/>
              <a:t>LoadTest</a:t>
            </a:r>
            <a:r>
              <a:rPr lang="en-US" altLang="ko-KR" sz="1400" b="1" dirty="0"/>
              <a:t>” objects sent to the API server are well formed and can be used to create load tests, while </a:t>
            </a:r>
            <a:r>
              <a:rPr lang="en-US" altLang="ko-KR" sz="1400" b="1" dirty="0">
                <a:solidFill>
                  <a:srgbClr val="FF0000"/>
                </a:solidFill>
              </a:rPr>
              <a:t>defaulting</a:t>
            </a:r>
            <a:r>
              <a:rPr lang="en-US" altLang="ko-KR" sz="1400" b="1" dirty="0"/>
              <a:t> makes it easier for people to use our resources by providing automatic, commonly used values by default</a:t>
            </a:r>
            <a:r>
              <a:rPr lang="en-US" altLang="ko-KR" sz="1400" dirty="0"/>
              <a:t>.</a:t>
            </a:r>
          </a:p>
          <a:p>
            <a:pPr lvl="1">
              <a:buFont typeface="Wingdings" panose="05000000000000000000" pitchFamily="2" charset="2"/>
              <a:buChar char="§"/>
            </a:pPr>
            <a:r>
              <a:rPr lang="en-US" altLang="ko-KR" sz="1400" b="1" dirty="0"/>
              <a:t>One option for adding validation is via an </a:t>
            </a:r>
            <a:r>
              <a:rPr lang="en-US" altLang="ko-KR" sz="1400" b="1" dirty="0" err="1">
                <a:solidFill>
                  <a:srgbClr val="FF0000"/>
                </a:solidFill>
                <a:hlinkClick r:id="rId2"/>
              </a:rPr>
              <a:t>OpenAPI</a:t>
            </a:r>
            <a:r>
              <a:rPr lang="en-US" altLang="ko-KR" sz="1400" b="1" dirty="0">
                <a:solidFill>
                  <a:srgbClr val="FF0000"/>
                </a:solidFill>
                <a:hlinkClick r:id="rId2"/>
              </a:rPr>
              <a:t> specification</a:t>
            </a:r>
            <a:r>
              <a:rPr lang="en-US" altLang="ko-KR" sz="1400" dirty="0"/>
              <a:t>(“</a:t>
            </a:r>
            <a:r>
              <a:rPr lang="en-US" altLang="ko-KR" sz="1400" b="1" dirty="0"/>
              <a:t>openAPIV3Schema”)</a:t>
            </a:r>
            <a:r>
              <a:rPr lang="en-US" altLang="ko-KR" sz="1400" dirty="0"/>
              <a:t> for our objects. This can be useful for basic validation of the presence of required fields or the absence of unknown fields.</a:t>
            </a:r>
          </a:p>
          <a:p>
            <a:pPr lvl="1">
              <a:buFont typeface="Wingdings" panose="05000000000000000000" pitchFamily="2" charset="2"/>
              <a:buChar char="§"/>
            </a:pPr>
            <a:r>
              <a:rPr lang="en-US" altLang="ko-KR" sz="1400" b="1" dirty="0"/>
              <a:t>Generally speaking, an API schema is actually insufficient for validation of API objects</a:t>
            </a:r>
            <a:r>
              <a:rPr lang="en-US" altLang="ko-KR" sz="1400" dirty="0"/>
              <a:t>. For example, in our “</a:t>
            </a:r>
            <a:r>
              <a:rPr lang="en-US" altLang="ko-KR" sz="1400" dirty="0" err="1"/>
              <a:t>loadtests</a:t>
            </a:r>
            <a:r>
              <a:rPr lang="en-US" altLang="ko-KR" sz="1400" dirty="0"/>
              <a:t>” example, we may want to validate that the “</a:t>
            </a:r>
            <a:r>
              <a:rPr lang="en-US" altLang="ko-KR" sz="1400" dirty="0" err="1"/>
              <a:t>LoadTest</a:t>
            </a:r>
            <a:r>
              <a:rPr lang="en-US" altLang="ko-KR" sz="1400" dirty="0"/>
              <a:t>” object has a valid scheme (e.g., http or https) or that “</a:t>
            </a:r>
            <a:r>
              <a:rPr lang="en-US" altLang="ko-KR" sz="1400" dirty="0" err="1"/>
              <a:t>requestsPerSecond</a:t>
            </a:r>
            <a:r>
              <a:rPr lang="en-US" altLang="ko-KR" sz="1400" dirty="0"/>
              <a:t>” is a nonzero positive number.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1278595-8451-46A3-B91E-A835121EA6FC}"/>
              </a:ext>
            </a:extLst>
          </p:cNvPr>
          <p:cNvPicPr>
            <a:picLocks noChangeAspect="1"/>
          </p:cNvPicPr>
          <p:nvPr/>
        </p:nvPicPr>
        <p:blipFill>
          <a:blip r:embed="rId3"/>
          <a:stretch>
            <a:fillRect/>
          </a:stretch>
        </p:blipFill>
        <p:spPr>
          <a:xfrm>
            <a:off x="3972600" y="3257145"/>
            <a:ext cx="4246799" cy="3151885"/>
          </a:xfrm>
          <a:prstGeom prst="rect">
            <a:avLst/>
          </a:prstGeom>
        </p:spPr>
      </p:pic>
    </p:spTree>
    <p:extLst>
      <p:ext uri="{BB962C8B-B14F-4D97-AF65-F5344CB8AC3E}">
        <p14:creationId xmlns:p14="http://schemas.microsoft.com/office/powerpoint/2010/main" val="1227095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Extensibility(11/18)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b="1" dirty="0"/>
              <a:t>To accomplish more reliable validation, we will use a “</a:t>
            </a:r>
            <a:r>
              <a:rPr lang="en-US" altLang="ko-KR" sz="1400" b="1" dirty="0">
                <a:solidFill>
                  <a:srgbClr val="FF0000"/>
                </a:solidFill>
              </a:rPr>
              <a:t>validating admission controller</a:t>
            </a:r>
            <a:r>
              <a:rPr lang="en-US" altLang="ko-KR" sz="1400" b="1" dirty="0"/>
              <a:t>”</a:t>
            </a:r>
            <a:r>
              <a:rPr lang="en-US" altLang="ko-KR" sz="1400" dirty="0"/>
              <a:t>. As discussed previously, </a:t>
            </a:r>
            <a:r>
              <a:rPr lang="en-US" altLang="ko-KR" sz="1400" b="1" dirty="0"/>
              <a:t>admission controllers intercept requests to the API server before they are processed and can reject or modify the requests in flight</a:t>
            </a:r>
            <a:r>
              <a:rPr lang="en-US" altLang="ko-KR" sz="1400" dirty="0"/>
              <a:t>. </a:t>
            </a:r>
          </a:p>
          <a:p>
            <a:pPr lvl="1">
              <a:buFont typeface="Wingdings" panose="05000000000000000000" pitchFamily="2" charset="2"/>
              <a:buChar char="§"/>
            </a:pPr>
            <a:r>
              <a:rPr lang="en-US" altLang="ko-KR" sz="1400" b="1" dirty="0"/>
              <a:t>Admission controllers can be added to a cluster via the “dynamic admission control system”</a:t>
            </a:r>
            <a:r>
              <a:rPr lang="en-US" altLang="ko-KR" sz="1400" dirty="0"/>
              <a:t>. </a:t>
            </a:r>
            <a:r>
              <a:rPr lang="en-US" altLang="ko-KR" sz="1400" b="1" dirty="0"/>
              <a:t>A dynamic admission controller is a simple HTTP application</a:t>
            </a:r>
            <a:r>
              <a:rPr lang="en-US" altLang="ko-KR" sz="1400" dirty="0"/>
              <a:t>. </a:t>
            </a:r>
            <a:r>
              <a:rPr lang="en-US" altLang="ko-KR" sz="1400" b="1" dirty="0"/>
              <a:t>The API server connects to the admission controller via either a Kubernetes Service object or an arbitrary URL</a:t>
            </a:r>
            <a:r>
              <a:rPr lang="en-US" altLang="ko-KR" sz="1400" dirty="0"/>
              <a:t>. This means that admission controllers can </a:t>
            </a:r>
            <a:r>
              <a:rPr lang="en-US" altLang="ko-KR" sz="1400" b="1" dirty="0"/>
              <a:t>optionally run outside of the cluster</a:t>
            </a:r>
            <a:r>
              <a:rPr lang="en-US" altLang="ko-KR" sz="1400" dirty="0"/>
              <a:t>—for example, in a cloud provider’s “</a:t>
            </a:r>
            <a:r>
              <a:rPr lang="en-US" altLang="ko-KR" sz="1400" b="1" dirty="0"/>
              <a:t>Function-as-a-Service</a:t>
            </a:r>
            <a:r>
              <a:rPr lang="en-US" altLang="ko-KR" sz="1400" dirty="0"/>
              <a:t>” offering, like </a:t>
            </a:r>
            <a:r>
              <a:rPr lang="en-US" altLang="ko-KR" sz="1400" b="1" dirty="0"/>
              <a:t>Azure Functions </a:t>
            </a:r>
            <a:r>
              <a:rPr lang="en-US" altLang="ko-KR" sz="1400" dirty="0"/>
              <a:t>or </a:t>
            </a:r>
            <a:r>
              <a:rPr lang="en-US" altLang="ko-KR" sz="1400" b="1" dirty="0"/>
              <a:t>AWS Lambda</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985F5146-9471-47EF-AFD0-1BCD67220B10}"/>
              </a:ext>
            </a:extLst>
          </p:cNvPr>
          <p:cNvPicPr>
            <a:picLocks noChangeAspect="1"/>
          </p:cNvPicPr>
          <p:nvPr/>
        </p:nvPicPr>
        <p:blipFill>
          <a:blip r:embed="rId2"/>
          <a:stretch>
            <a:fillRect/>
          </a:stretch>
        </p:blipFill>
        <p:spPr>
          <a:xfrm>
            <a:off x="1897380" y="3164676"/>
            <a:ext cx="8397240" cy="2521621"/>
          </a:xfrm>
          <a:prstGeom prst="rect">
            <a:avLst/>
          </a:prstGeom>
        </p:spPr>
      </p:pic>
    </p:spTree>
    <p:extLst>
      <p:ext uri="{BB962C8B-B14F-4D97-AF65-F5344CB8AC3E}">
        <p14:creationId xmlns:p14="http://schemas.microsoft.com/office/powerpoint/2010/main" val="8837384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API Versions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Supported Kubernetes APIs :</a:t>
            </a:r>
          </a:p>
          <a:p>
            <a:pPr lvl="1">
              <a:buFont typeface="Wingdings" panose="05000000000000000000" pitchFamily="2" charset="2"/>
              <a:buChar char="§"/>
            </a:pPr>
            <a:r>
              <a:rPr lang="en-US" altLang="ko-KR" sz="1400" dirty="0"/>
              <a:t>You can check </a:t>
            </a:r>
            <a:r>
              <a:rPr lang="en-US" altLang="ko-KR" sz="1400" b="1" dirty="0"/>
              <a:t>which version and what kind of APIs are supported in your Kubernetes API server </a:t>
            </a:r>
            <a:r>
              <a:rPr lang="en-US" altLang="ko-KR" sz="1400" dirty="0"/>
              <a:t>using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3B7D2221-AE2E-435F-8B59-26FE4BBEF665}"/>
              </a:ext>
            </a:extLst>
          </p:cNvPr>
          <p:cNvGrpSpPr/>
          <p:nvPr/>
        </p:nvGrpSpPr>
        <p:grpSpPr>
          <a:xfrm>
            <a:off x="2625090" y="1529239"/>
            <a:ext cx="6941820" cy="4865675"/>
            <a:chOff x="2625090" y="1529239"/>
            <a:chExt cx="6941820" cy="4865675"/>
          </a:xfrm>
        </p:grpSpPr>
        <p:grpSp>
          <p:nvGrpSpPr>
            <p:cNvPr id="12" name="그룹 11">
              <a:extLst>
                <a:ext uri="{FF2B5EF4-FFF2-40B4-BE49-F238E27FC236}">
                  <a16:creationId xmlns:a16="http://schemas.microsoft.com/office/drawing/2014/main" id="{AC7D63B8-B88B-4839-91F0-91CB5AA12F64}"/>
                </a:ext>
              </a:extLst>
            </p:cNvPr>
            <p:cNvGrpSpPr/>
            <p:nvPr/>
          </p:nvGrpSpPr>
          <p:grpSpPr>
            <a:xfrm>
              <a:off x="2625090" y="1529239"/>
              <a:ext cx="6941820" cy="4865675"/>
              <a:chOff x="2625090" y="1529239"/>
              <a:chExt cx="6941820" cy="4865675"/>
            </a:xfrm>
          </p:grpSpPr>
          <p:grpSp>
            <p:nvGrpSpPr>
              <p:cNvPr id="10" name="그룹 9">
                <a:extLst>
                  <a:ext uri="{FF2B5EF4-FFF2-40B4-BE49-F238E27FC236}">
                    <a16:creationId xmlns:a16="http://schemas.microsoft.com/office/drawing/2014/main" id="{8E668038-26C6-4D00-9446-93912C15A01E}"/>
                  </a:ext>
                </a:extLst>
              </p:cNvPr>
              <p:cNvGrpSpPr/>
              <p:nvPr/>
            </p:nvGrpSpPr>
            <p:grpSpPr>
              <a:xfrm>
                <a:off x="5328803" y="1529239"/>
                <a:ext cx="1534394" cy="512921"/>
                <a:chOff x="5328803" y="1620679"/>
                <a:chExt cx="1534394" cy="512921"/>
              </a:xfrm>
            </p:grpSpPr>
            <p:sp>
              <p:nvSpPr>
                <p:cNvPr id="8" name="TextBox 7">
                  <a:extLst>
                    <a:ext uri="{FF2B5EF4-FFF2-40B4-BE49-F238E27FC236}">
                      <a16:creationId xmlns:a16="http://schemas.microsoft.com/office/drawing/2014/main" id="{4FABC0AA-0746-40C9-AB8F-88403075FF73}"/>
                    </a:ext>
                  </a:extLst>
                </p:cNvPr>
                <p:cNvSpPr txBox="1"/>
                <p:nvPr/>
              </p:nvSpPr>
              <p:spPr>
                <a:xfrm>
                  <a:off x="5328803" y="1620679"/>
                  <a:ext cx="1534394" cy="246221"/>
                </a:xfrm>
                <a:prstGeom prst="rect">
                  <a:avLst/>
                </a:prstGeom>
                <a:noFill/>
                <a:ln>
                  <a:solidFill>
                    <a:schemeClr val="bg1">
                      <a:lumMod val="50000"/>
                    </a:schemeClr>
                  </a:solidFill>
                </a:ln>
              </p:spPr>
              <p:txBody>
                <a:bodyPr wrap="none" rtlCol="0">
                  <a:spAutoFit/>
                </a:bodyPr>
                <a:lstStyle/>
                <a:p>
                  <a:pPr algn="ctr"/>
                  <a:r>
                    <a:rPr lang="en-US" altLang="ko-KR" sz="1000" b="1" dirty="0"/>
                    <a:t>$ </a:t>
                  </a:r>
                  <a:r>
                    <a:rPr lang="en-US" altLang="ko-KR" sz="1000" b="1" dirty="0" err="1"/>
                    <a:t>kubectl</a:t>
                  </a:r>
                  <a:r>
                    <a:rPr lang="en-US" altLang="ko-KR" sz="1000" b="1" dirty="0"/>
                    <a:t> </a:t>
                  </a:r>
                  <a:r>
                    <a:rPr lang="en-US" altLang="ko-KR" sz="1000" b="1" dirty="0" err="1"/>
                    <a:t>api</a:t>
                  </a:r>
                  <a:r>
                    <a:rPr lang="en-US" altLang="ko-KR" sz="1000" b="1" dirty="0"/>
                    <a:t>-versions</a:t>
                  </a:r>
                  <a:endParaRPr lang="ko-KR" altLang="en-US" sz="1000" b="1" dirty="0"/>
                </a:p>
              </p:txBody>
            </p:sp>
            <p:sp>
              <p:nvSpPr>
                <p:cNvPr id="9" name="화살표: 아래쪽 8">
                  <a:extLst>
                    <a:ext uri="{FF2B5EF4-FFF2-40B4-BE49-F238E27FC236}">
                      <a16:creationId xmlns:a16="http://schemas.microsoft.com/office/drawing/2014/main" id="{4A78BDDE-3C33-4EAC-9D84-1E7BA47948C4}"/>
                    </a:ext>
                  </a:extLst>
                </p:cNvPr>
                <p:cNvSpPr/>
                <p:nvPr/>
              </p:nvSpPr>
              <p:spPr>
                <a:xfrm>
                  <a:off x="5905500" y="1866900"/>
                  <a:ext cx="381000" cy="2667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D0C8F390-E05A-4243-B9EE-64F59A140C7A}"/>
                  </a:ext>
                </a:extLst>
              </p:cNvPr>
              <p:cNvPicPr>
                <a:picLocks noChangeAspect="1"/>
              </p:cNvPicPr>
              <p:nvPr/>
            </p:nvPicPr>
            <p:blipFill>
              <a:blip r:embed="rId2"/>
              <a:stretch>
                <a:fillRect/>
              </a:stretch>
            </p:blipFill>
            <p:spPr>
              <a:xfrm>
                <a:off x="2625090" y="2056276"/>
                <a:ext cx="6941820" cy="4338638"/>
              </a:xfrm>
              <a:prstGeom prst="rect">
                <a:avLst/>
              </a:prstGeom>
              <a:ln>
                <a:solidFill>
                  <a:schemeClr val="bg1">
                    <a:lumMod val="50000"/>
                  </a:schemeClr>
                </a:solidFill>
              </a:ln>
            </p:spPr>
          </p:pic>
        </p:grpSp>
        <p:sp>
          <p:nvSpPr>
            <p:cNvPr id="13" name="직사각형 12">
              <a:extLst>
                <a:ext uri="{FF2B5EF4-FFF2-40B4-BE49-F238E27FC236}">
                  <a16:creationId xmlns:a16="http://schemas.microsoft.com/office/drawing/2014/main" id="{864FDD34-4C3B-4928-BAE0-5A0E98B30312}"/>
                </a:ext>
              </a:extLst>
            </p:cNvPr>
            <p:cNvSpPr/>
            <p:nvPr/>
          </p:nvSpPr>
          <p:spPr>
            <a:xfrm>
              <a:off x="2720340" y="2560320"/>
              <a:ext cx="1783080" cy="2438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6697A613-2BCB-44BA-B114-7A804F0086E9}"/>
                </a:ext>
              </a:extLst>
            </p:cNvPr>
            <p:cNvSpPr/>
            <p:nvPr/>
          </p:nvSpPr>
          <p:spPr>
            <a:xfrm>
              <a:off x="2720340" y="2910205"/>
              <a:ext cx="464820" cy="1595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A581EB63-C360-4A2A-A20A-191C962B832D}"/>
                </a:ext>
              </a:extLst>
            </p:cNvPr>
            <p:cNvSpPr/>
            <p:nvPr/>
          </p:nvSpPr>
          <p:spPr>
            <a:xfrm>
              <a:off x="2720340" y="3726180"/>
              <a:ext cx="518160" cy="1595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FF3A8A09-1884-4B26-BC9C-BB13789E8B3C}"/>
                </a:ext>
              </a:extLst>
            </p:cNvPr>
            <p:cNvSpPr/>
            <p:nvPr/>
          </p:nvSpPr>
          <p:spPr>
            <a:xfrm>
              <a:off x="2720340" y="5737860"/>
              <a:ext cx="1043940" cy="1595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829072C4-2D02-4FD2-B609-989AD991502F}"/>
                </a:ext>
              </a:extLst>
            </p:cNvPr>
            <p:cNvSpPr/>
            <p:nvPr/>
          </p:nvSpPr>
          <p:spPr>
            <a:xfrm>
              <a:off x="2720340" y="5981700"/>
              <a:ext cx="205740" cy="1485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634830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Extensibility(12/18)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b="1" dirty="0"/>
              <a:t>To install our validating admission controller, we need to specify it as a Kubernetes “</a:t>
            </a:r>
            <a:r>
              <a:rPr lang="en-US" altLang="ko-KR" sz="1400" b="1" dirty="0" err="1">
                <a:solidFill>
                  <a:srgbClr val="FF0000"/>
                </a:solidFill>
              </a:rPr>
              <a:t>ValidatingWebhookConfiguration</a:t>
            </a:r>
            <a:r>
              <a:rPr lang="en-US" altLang="ko-KR" sz="1400" b="1" dirty="0"/>
              <a:t>”</a:t>
            </a:r>
            <a:r>
              <a:rPr lang="en-US" altLang="ko-KR" sz="1400" dirty="0"/>
              <a:t>. </a:t>
            </a:r>
            <a:r>
              <a:rPr lang="en-US" altLang="ko-KR" sz="1400" b="1" dirty="0"/>
              <a:t>This object specifies the endpoint where the admission controller runs</a:t>
            </a:r>
            <a:r>
              <a:rPr lang="en-US" altLang="ko-KR" sz="1400" dirty="0"/>
              <a:t>, </a:t>
            </a:r>
            <a:r>
              <a:rPr lang="en-US" altLang="ko-KR" sz="1400" b="1" dirty="0"/>
              <a:t>as well as the resource (in this case “</a:t>
            </a:r>
            <a:r>
              <a:rPr lang="en-US" altLang="ko-KR" sz="1400" b="1" dirty="0" err="1"/>
              <a:t>LoadTest</a:t>
            </a:r>
            <a:r>
              <a:rPr lang="en-US" altLang="ko-KR" sz="1400" b="1" dirty="0"/>
              <a:t>”) and the action (in this case “CREATE”) where the admission controller should be run</a:t>
            </a:r>
            <a:r>
              <a:rPr lang="en-US" altLang="ko-KR" sz="1400" dirty="0"/>
              <a:t>. You can see the full definition for the validating admission controller in the following code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solidFill>
                  <a:srgbClr val="FF0000"/>
                </a:solidFill>
              </a:rPr>
              <a:t>NOTICE!!! </a:t>
            </a:r>
            <a:r>
              <a:rPr lang="en-US" altLang="ko-KR" sz="1400" b="1" dirty="0"/>
              <a:t>- In “</a:t>
            </a:r>
            <a:r>
              <a:rPr lang="en-US" altLang="ko-KR" sz="1400" b="1" dirty="0" err="1"/>
              <a:t>caBundle</a:t>
            </a:r>
            <a:r>
              <a:rPr lang="en-US" altLang="ko-KR" sz="1400" b="1" dirty="0"/>
              <a:t>”, you need to add your </a:t>
            </a:r>
            <a:r>
              <a:rPr lang="en-US" altLang="ko-KR" sz="1400" b="1" dirty="0">
                <a:solidFill>
                  <a:srgbClr val="FF0000"/>
                </a:solidFill>
              </a:rPr>
              <a:t>“~/</a:t>
            </a:r>
            <a:r>
              <a:rPr lang="en-US" altLang="ko-KR" sz="1400" b="1" dirty="0" err="1">
                <a:solidFill>
                  <a:srgbClr val="FF0000"/>
                </a:solidFill>
              </a:rPr>
              <a:t>minikube</a:t>
            </a:r>
            <a:r>
              <a:rPr lang="en-US" altLang="ko-KR" sz="1400" b="1" dirty="0">
                <a:solidFill>
                  <a:srgbClr val="FF0000"/>
                </a:solidFill>
              </a:rPr>
              <a:t>/ca.crt</a:t>
            </a:r>
            <a:r>
              <a:rPr lang="en-US" altLang="ko-KR" sz="1400" b="1" dirty="0"/>
              <a:t>” file contents between “begin” and “end” delimiters. If you do not add, you will get “</a:t>
            </a:r>
            <a:r>
              <a:rPr lang="en-US" altLang="ko-KR" sz="1400" b="1" dirty="0" err="1"/>
              <a:t>ValidatingWebhookConfiguration</a:t>
            </a:r>
            <a:r>
              <a:rPr lang="en-US" altLang="ko-KR" sz="1400" b="1" dirty="0"/>
              <a:t> in version ‘v1’ cannot be handled as a </a:t>
            </a:r>
            <a:r>
              <a:rPr lang="en-US" altLang="ko-KR" sz="1400" b="1" dirty="0" err="1"/>
              <a:t>ValidatingWebhookConfiguration</a:t>
            </a:r>
            <a:r>
              <a:rPr lang="en-US" altLang="ko-KR" sz="1400" b="1" dirty="0"/>
              <a:t>: illegal base64 data at input byte 8” error message when you run “</a:t>
            </a:r>
            <a:r>
              <a:rPr lang="en-US" altLang="ko-KR" sz="1400" b="1" dirty="0" err="1"/>
              <a:t>kubectl</a:t>
            </a:r>
            <a:r>
              <a:rPr lang="en-US" altLang="ko-KR" sz="1400" b="1" dirty="0"/>
              <a:t> create -f” command using this YAML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F2C1D01D-0FEF-4A3F-A703-9090A0652D81}"/>
              </a:ext>
            </a:extLst>
          </p:cNvPr>
          <p:cNvSpPr/>
          <p:nvPr/>
        </p:nvSpPr>
        <p:spPr>
          <a:xfrm>
            <a:off x="3048000" y="2122549"/>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admissionregistration.k8s.io/v1</a:t>
            </a:r>
          </a:p>
          <a:p>
            <a:r>
              <a:rPr lang="en-US" altLang="ko-KR" sz="1000" b="1" dirty="0"/>
              <a:t>kind: </a:t>
            </a:r>
            <a:r>
              <a:rPr lang="en-US" altLang="ko-KR" sz="1000" b="1" dirty="0" err="1"/>
              <a:t>ValidatingWebhookConfiguration</a:t>
            </a:r>
            <a:endParaRPr lang="en-US" altLang="ko-KR" sz="1000" b="1" dirty="0"/>
          </a:p>
          <a:p>
            <a:r>
              <a:rPr lang="en-US" altLang="ko-KR" sz="1000" b="1" dirty="0"/>
              <a:t>metadata:</a:t>
            </a:r>
          </a:p>
          <a:p>
            <a:r>
              <a:rPr lang="en-US" altLang="ko-KR" sz="1000" b="1" dirty="0"/>
              <a:t>  name: "</a:t>
            </a:r>
            <a:r>
              <a:rPr lang="en-US" altLang="ko-KR" sz="1000" b="1" dirty="0" err="1"/>
              <a:t>kuar</a:t>
            </a:r>
            <a:r>
              <a:rPr lang="en-US" altLang="ko-KR" sz="1000" b="1" dirty="0"/>
              <a:t>-validator"</a:t>
            </a:r>
          </a:p>
          <a:p>
            <a:r>
              <a:rPr lang="en-US" altLang="ko-KR" sz="1000" b="1" dirty="0"/>
              <a:t>webhooks:</a:t>
            </a:r>
          </a:p>
          <a:p>
            <a:r>
              <a:rPr lang="en-US" altLang="ko-KR" sz="1000" b="1" dirty="0"/>
              <a:t>- name: "validator.kuar.com"</a:t>
            </a:r>
          </a:p>
          <a:p>
            <a:r>
              <a:rPr lang="en-US" altLang="ko-KR" sz="1000" b="1" dirty="0"/>
              <a:t>  rules:</a:t>
            </a:r>
          </a:p>
          <a:p>
            <a:r>
              <a:rPr lang="en-US" altLang="ko-KR" sz="1000" b="1" dirty="0"/>
              <a:t>  - </a:t>
            </a:r>
            <a:r>
              <a:rPr lang="en-US" altLang="ko-KR" sz="1000" b="1" dirty="0" err="1"/>
              <a:t>apiGroups</a:t>
            </a:r>
            <a:r>
              <a:rPr lang="en-US" altLang="ko-KR" sz="1000" b="1" dirty="0"/>
              <a:t>: ["beta.kuar.com"]</a:t>
            </a:r>
          </a:p>
          <a:p>
            <a:r>
              <a:rPr lang="en-US" altLang="ko-KR" sz="1000" b="1" dirty="0"/>
              <a:t>    </a:t>
            </a:r>
            <a:r>
              <a:rPr lang="en-US" altLang="ko-KR" sz="1000" b="1" dirty="0" err="1"/>
              <a:t>apiVersions</a:t>
            </a:r>
            <a:r>
              <a:rPr lang="en-US" altLang="ko-KR" sz="1000" b="1" dirty="0"/>
              <a:t>: ["v1"]</a:t>
            </a:r>
          </a:p>
          <a:p>
            <a:r>
              <a:rPr lang="en-US" altLang="ko-KR" sz="1000" b="1" dirty="0"/>
              <a:t>    operations: ["CREATE"]</a:t>
            </a:r>
          </a:p>
          <a:p>
            <a:r>
              <a:rPr lang="en-US" altLang="ko-KR" sz="1000" b="1" dirty="0"/>
              <a:t>    resources: ["</a:t>
            </a:r>
            <a:r>
              <a:rPr lang="en-US" altLang="ko-KR" sz="1000" b="1" dirty="0" err="1"/>
              <a:t>loadtests</a:t>
            </a:r>
            <a:r>
              <a:rPr lang="en-US" altLang="ko-KR" sz="1000" b="1" dirty="0"/>
              <a:t>"]</a:t>
            </a:r>
          </a:p>
          <a:p>
            <a:r>
              <a:rPr lang="en-US" altLang="ko-KR" sz="1000" b="1" dirty="0"/>
              <a:t>    scope: "</a:t>
            </a:r>
            <a:r>
              <a:rPr lang="en-US" altLang="ko-KR" sz="1000" b="1" dirty="0" err="1"/>
              <a:t>Namespaced</a:t>
            </a:r>
            <a:r>
              <a:rPr lang="en-US" altLang="ko-KR" sz="1000" b="1" dirty="0"/>
              <a:t>"</a:t>
            </a:r>
          </a:p>
          <a:p>
            <a:r>
              <a:rPr lang="en-US" altLang="ko-KR" sz="1000" b="1" dirty="0"/>
              <a:t>  </a:t>
            </a:r>
            <a:r>
              <a:rPr lang="en-US" altLang="ko-KR" sz="1000" b="1" dirty="0" err="1"/>
              <a:t>clientConfig</a:t>
            </a:r>
            <a:r>
              <a:rPr lang="en-US" altLang="ko-KR" sz="1000" b="1" dirty="0"/>
              <a:t>:</a:t>
            </a:r>
          </a:p>
          <a:p>
            <a:r>
              <a:rPr lang="en-US" altLang="ko-KR" sz="1000" b="1" dirty="0"/>
              <a:t>    # Substitute the appropriate IP address for your webhook</a:t>
            </a:r>
          </a:p>
          <a:p>
            <a:r>
              <a:rPr lang="en-US" altLang="ko-KR" sz="1000" b="1" dirty="0"/>
              <a:t>    url: </a:t>
            </a:r>
            <a:r>
              <a:rPr lang="en-US" altLang="ko-KR" sz="1000" b="1" dirty="0">
                <a:solidFill>
                  <a:srgbClr val="FF0000"/>
                </a:solidFill>
              </a:rPr>
              <a:t>https://localhost:8080</a:t>
            </a:r>
          </a:p>
          <a:p>
            <a:r>
              <a:rPr lang="en-US" altLang="ko-KR" sz="1000" b="1" dirty="0"/>
              <a:t>    # This should be the base64-encoded CA certificate for your cluster,</a:t>
            </a:r>
          </a:p>
          <a:p>
            <a:r>
              <a:rPr lang="en-US" altLang="ko-KR" sz="1000" b="1" dirty="0"/>
              <a:t>    # you can find it in your </a:t>
            </a:r>
            <a:r>
              <a:rPr lang="en-US" altLang="ko-KR" sz="1000" b="1" dirty="0">
                <a:solidFill>
                  <a:srgbClr val="FF0000"/>
                </a:solidFill>
              </a:rPr>
              <a:t>${KUBECONFIG}</a:t>
            </a:r>
            <a:r>
              <a:rPr lang="en-US" altLang="ko-KR" sz="1000" b="1" dirty="0"/>
              <a:t> file</a:t>
            </a:r>
          </a:p>
          <a:p>
            <a:r>
              <a:rPr lang="en-US" altLang="ko-KR" sz="1000" b="1" dirty="0"/>
              <a:t>    </a:t>
            </a:r>
            <a:r>
              <a:rPr lang="en-US" altLang="ko-KR" sz="1000" b="1" dirty="0" err="1"/>
              <a:t>caBundle</a:t>
            </a:r>
            <a:r>
              <a:rPr lang="en-US" altLang="ko-KR" sz="1000" b="1" dirty="0"/>
              <a:t>: </a:t>
            </a:r>
            <a:r>
              <a:rPr lang="en-US" altLang="ko-KR" sz="1000" b="1" dirty="0">
                <a:solidFill>
                  <a:srgbClr val="FF0000"/>
                </a:solidFill>
              </a:rPr>
              <a:t>“&lt;Copy and paste the “~/.</a:t>
            </a:r>
            <a:r>
              <a:rPr lang="en-US" altLang="ko-KR" sz="1000" b="1" dirty="0" err="1">
                <a:solidFill>
                  <a:srgbClr val="FF0000"/>
                </a:solidFill>
              </a:rPr>
              <a:t>minikube</a:t>
            </a:r>
            <a:r>
              <a:rPr lang="en-US" altLang="ko-KR" sz="1000" b="1" dirty="0">
                <a:solidFill>
                  <a:srgbClr val="FF0000"/>
                </a:solidFill>
              </a:rPr>
              <a:t>/ca.crt” file contents here.&gt;</a:t>
            </a:r>
            <a:r>
              <a:rPr lang="en-US" altLang="ko-KR" sz="1000" b="1" dirty="0"/>
              <a:t>”</a:t>
            </a:r>
          </a:p>
          <a:p>
            <a:r>
              <a:rPr lang="en-US" altLang="ko-KR" sz="1000" b="1" dirty="0"/>
              <a:t>  </a:t>
            </a:r>
            <a:r>
              <a:rPr lang="en-US" altLang="ko-KR" sz="1000" b="1" dirty="0" err="1"/>
              <a:t>admissionReviewVersions</a:t>
            </a:r>
            <a:r>
              <a:rPr lang="en-US" altLang="ko-KR" sz="1000" b="1" dirty="0"/>
              <a:t>: ["v1"]</a:t>
            </a:r>
          </a:p>
          <a:p>
            <a:r>
              <a:rPr lang="en-US" altLang="ko-KR" sz="1000" b="1" dirty="0"/>
              <a:t>  </a:t>
            </a:r>
            <a:r>
              <a:rPr lang="en-US" altLang="ko-KR" sz="1000" b="1" dirty="0" err="1"/>
              <a:t>sideEffects</a:t>
            </a:r>
            <a:r>
              <a:rPr lang="en-US" altLang="ko-KR" sz="1000" b="1" dirty="0"/>
              <a:t>: None</a:t>
            </a:r>
            <a:endParaRPr lang="ko-KR" altLang="en-US" sz="1000" b="1" dirty="0"/>
          </a:p>
        </p:txBody>
      </p:sp>
    </p:spTree>
    <p:extLst>
      <p:ext uri="{BB962C8B-B14F-4D97-AF65-F5344CB8AC3E}">
        <p14:creationId xmlns:p14="http://schemas.microsoft.com/office/powerpoint/2010/main" val="9278857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Client Configuration in Webhook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URL in “</a:t>
            </a:r>
            <a:r>
              <a:rPr lang="en-US" altLang="ko-KR" sz="1800" b="1" dirty="0" err="1"/>
              <a:t>clientConfig</a:t>
            </a:r>
            <a:r>
              <a:rPr lang="en-US" altLang="ko-KR" sz="1800" b="1" dirty="0"/>
              <a:t>” :</a:t>
            </a:r>
          </a:p>
          <a:p>
            <a:pPr lvl="1">
              <a:buFont typeface="Wingdings" panose="05000000000000000000" pitchFamily="2" charset="2"/>
              <a:buChar char="§"/>
            </a:pPr>
            <a:r>
              <a:rPr lang="en-US" altLang="ko-KR" sz="1400" b="1" dirty="0"/>
              <a:t>“</a:t>
            </a:r>
            <a:r>
              <a:rPr lang="en-US" altLang="ko-KR" sz="1400" b="1" dirty="0" err="1"/>
              <a:t>url</a:t>
            </a:r>
            <a:r>
              <a:rPr lang="en-US" altLang="ko-KR" sz="1400" b="1" dirty="0"/>
              <a:t>” gives the location of the webhook, in standard URL form (scheme://host:port/path). Exactly one of “</a:t>
            </a:r>
            <a:r>
              <a:rPr lang="en-US" altLang="ko-KR" sz="1400" b="1" dirty="0" err="1"/>
              <a:t>url</a:t>
            </a:r>
            <a:r>
              <a:rPr lang="en-US" altLang="ko-KR" sz="1400" b="1" dirty="0"/>
              <a:t>” or service must be specified</a:t>
            </a:r>
            <a:r>
              <a:rPr lang="en-US" altLang="ko-KR" sz="1400" dirty="0"/>
              <a:t>. </a:t>
            </a:r>
            <a:r>
              <a:rPr lang="en-US" altLang="ko-KR" sz="1400" b="1" dirty="0"/>
              <a:t>The host should not refer to a service running in the cluster</a:t>
            </a:r>
            <a:r>
              <a:rPr lang="en-US" altLang="ko-KR" sz="1400" dirty="0"/>
              <a:t>; use the “</a:t>
            </a:r>
            <a:r>
              <a:rPr lang="en-US" altLang="ko-KR" sz="1400" b="1" dirty="0"/>
              <a:t>service”</a:t>
            </a:r>
            <a:r>
              <a:rPr lang="en-US" altLang="ko-KR" sz="1400" dirty="0"/>
              <a:t> field instead. The “</a:t>
            </a:r>
            <a:r>
              <a:rPr lang="en-US" altLang="ko-KR" sz="1400" b="1" dirty="0"/>
              <a:t>host</a:t>
            </a:r>
            <a:r>
              <a:rPr lang="en-US" altLang="ko-KR" sz="1400" dirty="0"/>
              <a:t>” might be resolved via external DNS in some “</a:t>
            </a:r>
            <a:r>
              <a:rPr lang="en-US" altLang="ko-KR" sz="1400" b="1" dirty="0" err="1"/>
              <a:t>apiservers</a:t>
            </a:r>
            <a:r>
              <a:rPr lang="en-US" altLang="ko-KR" sz="1400" dirty="0"/>
              <a:t>” (e.g., “</a:t>
            </a:r>
            <a:r>
              <a:rPr lang="en-US" altLang="ko-KR" sz="1400" b="1" dirty="0" err="1"/>
              <a:t>kube-apiserver</a:t>
            </a:r>
            <a:r>
              <a:rPr lang="en-US" altLang="ko-KR" sz="1400" dirty="0"/>
              <a:t>” cannot resolve in-cluster DNS as that would be a layering violation). “</a:t>
            </a:r>
            <a:r>
              <a:rPr lang="en-US" altLang="ko-KR" sz="1400" b="1" dirty="0"/>
              <a:t>host</a:t>
            </a:r>
            <a:r>
              <a:rPr lang="en-US" altLang="ko-KR" sz="1400" dirty="0"/>
              <a:t>” may also be an IP address.</a:t>
            </a:r>
          </a:p>
          <a:p>
            <a:pPr lvl="1">
              <a:buFont typeface="Wingdings" panose="05000000000000000000" pitchFamily="2" charset="2"/>
              <a:buChar char="§"/>
            </a:pPr>
            <a:r>
              <a:rPr lang="en-US" altLang="ko-KR" sz="1400" b="1" dirty="0"/>
              <a:t>Please note that using “localhost” or “127.0.0.1” as a host is risky unless you take great care to run this webhook on all hosts which run an “</a:t>
            </a:r>
            <a:r>
              <a:rPr lang="en-US" altLang="ko-KR" sz="1400" b="1" dirty="0" err="1"/>
              <a:t>apiserver</a:t>
            </a:r>
            <a:r>
              <a:rPr lang="en-US" altLang="ko-KR" sz="1400" b="1" dirty="0"/>
              <a:t>” which might need to make calls to this webhook</a:t>
            </a:r>
            <a:r>
              <a:rPr lang="en-US" altLang="ko-KR" sz="1400" dirty="0"/>
              <a:t>. Such installs are likely to be </a:t>
            </a:r>
            <a:r>
              <a:rPr lang="en-US" altLang="ko-KR" sz="1400" b="1" dirty="0">
                <a:solidFill>
                  <a:srgbClr val="FF0000"/>
                </a:solidFill>
              </a:rPr>
              <a:t>non-portable</a:t>
            </a:r>
            <a:r>
              <a:rPr lang="en-US" altLang="ko-KR" sz="1400" dirty="0"/>
              <a:t>, i.e., not easy to turn up in a new cluster.</a:t>
            </a:r>
          </a:p>
          <a:p>
            <a:pPr lvl="1">
              <a:buFont typeface="Wingdings" panose="05000000000000000000" pitchFamily="2" charset="2"/>
              <a:buChar char="§"/>
            </a:pPr>
            <a:r>
              <a:rPr lang="en-US" altLang="ko-KR" sz="1400" b="1" dirty="0"/>
              <a:t>Please refer to </a:t>
            </a:r>
            <a:r>
              <a:rPr lang="en-US" altLang="ko-KR" sz="1400" b="1" dirty="0">
                <a:hlinkClick r:id="rId2"/>
              </a:rPr>
              <a:t>https://www.pulumi.com/registry/packages/kubernetes/api-docs/admissionregistration/v1/validatingwebhookconfiguration/#webhookclientconfig</a:t>
            </a:r>
            <a:r>
              <a:rPr lang="en-US" altLang="ko-KR" sz="1400" b="1" dirty="0"/>
              <a:t> for more information.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5B90E9F-DB97-4579-87AF-B0F4EB95C736}"/>
              </a:ext>
            </a:extLst>
          </p:cNvPr>
          <p:cNvGrpSpPr/>
          <p:nvPr/>
        </p:nvGrpSpPr>
        <p:grpSpPr>
          <a:xfrm>
            <a:off x="3517489" y="3374762"/>
            <a:ext cx="5157021" cy="2708832"/>
            <a:chOff x="3517489" y="3374762"/>
            <a:chExt cx="5157021" cy="2708832"/>
          </a:xfrm>
        </p:grpSpPr>
        <p:pic>
          <p:nvPicPr>
            <p:cNvPr id="8" name="그림 7">
              <a:extLst>
                <a:ext uri="{FF2B5EF4-FFF2-40B4-BE49-F238E27FC236}">
                  <a16:creationId xmlns:a16="http://schemas.microsoft.com/office/drawing/2014/main" id="{7ADA9B6F-D31C-4499-9F7B-935C38C29A78}"/>
                </a:ext>
              </a:extLst>
            </p:cNvPr>
            <p:cNvPicPr>
              <a:picLocks noChangeAspect="1"/>
            </p:cNvPicPr>
            <p:nvPr/>
          </p:nvPicPr>
          <p:blipFill>
            <a:blip r:embed="rId3"/>
            <a:stretch>
              <a:fillRect/>
            </a:stretch>
          </p:blipFill>
          <p:spPr>
            <a:xfrm>
              <a:off x="3517489" y="3374762"/>
              <a:ext cx="5157021" cy="2708832"/>
            </a:xfrm>
            <a:prstGeom prst="rect">
              <a:avLst/>
            </a:prstGeom>
          </p:spPr>
        </p:pic>
        <p:sp>
          <p:nvSpPr>
            <p:cNvPr id="9" name="직사각형 8">
              <a:extLst>
                <a:ext uri="{FF2B5EF4-FFF2-40B4-BE49-F238E27FC236}">
                  <a16:creationId xmlns:a16="http://schemas.microsoft.com/office/drawing/2014/main" id="{5D9CE3CE-9CE8-4DDC-809C-6486ED50CF99}"/>
                </a:ext>
              </a:extLst>
            </p:cNvPr>
            <p:cNvSpPr/>
            <p:nvPr/>
          </p:nvSpPr>
          <p:spPr>
            <a:xfrm>
              <a:off x="3657600" y="3810000"/>
              <a:ext cx="2263140" cy="1219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233781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Extensibility(13/18)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dirty="0"/>
              <a:t>Fortunately for security, but unfortunately for complexity, </a:t>
            </a:r>
            <a:r>
              <a:rPr lang="en-US" altLang="ko-KR" sz="1400" b="1" dirty="0"/>
              <a:t>webhooks that are accessed by the Kubernetes API server can only be accessed via </a:t>
            </a:r>
            <a:r>
              <a:rPr lang="en-US" altLang="ko-KR" sz="1400" b="1" dirty="0">
                <a:solidFill>
                  <a:srgbClr val="FF0000"/>
                </a:solidFill>
              </a:rPr>
              <a:t>HTTPS</a:t>
            </a:r>
            <a:r>
              <a:rPr lang="en-US" altLang="ko-KR" sz="1400" dirty="0"/>
              <a:t>. This means that </a:t>
            </a:r>
            <a:r>
              <a:rPr lang="en-US" altLang="ko-KR" sz="1400" b="1" dirty="0"/>
              <a:t>we need to generate a </a:t>
            </a:r>
            <a:r>
              <a:rPr lang="en-US" altLang="ko-KR" sz="1400" b="1" dirty="0">
                <a:solidFill>
                  <a:srgbClr val="FF0000"/>
                </a:solidFill>
              </a:rPr>
              <a:t>certificate</a:t>
            </a:r>
            <a:r>
              <a:rPr lang="en-US" altLang="ko-KR" sz="1400" b="1" dirty="0"/>
              <a:t> to serve the webhook</a:t>
            </a:r>
            <a:r>
              <a:rPr lang="en-US" altLang="ko-KR" sz="1400" dirty="0"/>
              <a:t>. </a:t>
            </a:r>
            <a:r>
              <a:rPr lang="en-US" altLang="ko-KR" sz="1400" b="1" dirty="0"/>
              <a:t>The easiest way to do this is to use the cluster’s ability to generate new certificates using its own </a:t>
            </a:r>
            <a:r>
              <a:rPr lang="en-US" altLang="ko-KR" sz="1400" b="1" dirty="0">
                <a:solidFill>
                  <a:srgbClr val="FF0000"/>
                </a:solidFill>
              </a:rPr>
              <a:t>certificate authority (CA)</a:t>
            </a:r>
            <a:r>
              <a:rPr lang="en-US" altLang="ko-KR" sz="1400" dirty="0"/>
              <a:t>. </a:t>
            </a:r>
          </a:p>
          <a:p>
            <a:pPr lvl="1">
              <a:buFont typeface="Wingdings" panose="05000000000000000000" pitchFamily="2" charset="2"/>
              <a:buChar char="§"/>
            </a:pPr>
            <a:r>
              <a:rPr lang="en-US" altLang="ko-KR" sz="1400" b="1" dirty="0"/>
              <a:t>To access the webhook, we need a private key and a </a:t>
            </a:r>
            <a:r>
              <a:rPr lang="en-US" altLang="ko-KR" sz="1400" b="1" dirty="0">
                <a:solidFill>
                  <a:srgbClr val="FF0000"/>
                </a:solidFill>
              </a:rPr>
              <a:t>certificate signing request (CSR)-X509</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33CF7CA-ED55-4C96-87BA-4AA1FA44A4E6}"/>
              </a:ext>
            </a:extLst>
          </p:cNvPr>
          <p:cNvGrpSpPr/>
          <p:nvPr/>
        </p:nvGrpSpPr>
        <p:grpSpPr>
          <a:xfrm>
            <a:off x="1590736" y="2315602"/>
            <a:ext cx="9010527" cy="4093428"/>
            <a:chOff x="495300" y="2347353"/>
            <a:chExt cx="9010527" cy="4093428"/>
          </a:xfrm>
        </p:grpSpPr>
        <p:sp>
          <p:nvSpPr>
            <p:cNvPr id="8" name="직사각형 7">
              <a:extLst>
                <a:ext uri="{FF2B5EF4-FFF2-40B4-BE49-F238E27FC236}">
                  <a16:creationId xmlns:a16="http://schemas.microsoft.com/office/drawing/2014/main" id="{51D0E3AD-842F-41A9-8527-A588DFF46B21}"/>
                </a:ext>
              </a:extLst>
            </p:cNvPr>
            <p:cNvSpPr/>
            <p:nvPr/>
          </p:nvSpPr>
          <p:spPr>
            <a:xfrm>
              <a:off x="495300" y="2347353"/>
              <a:ext cx="3003509" cy="4093428"/>
            </a:xfrm>
            <a:prstGeom prst="rect">
              <a:avLst/>
            </a:prstGeom>
            <a:ln>
              <a:solidFill>
                <a:schemeClr val="bg1">
                  <a:lumMod val="50000"/>
                </a:schemeClr>
              </a:solidFill>
            </a:ln>
          </p:spPr>
          <p:txBody>
            <a:bodyPr wrap="square">
              <a:spAutoFit/>
            </a:bodyPr>
            <a:lstStyle/>
            <a:p>
              <a:r>
                <a:rPr lang="en-US" altLang="ko-KR" sz="1000" b="1" dirty="0"/>
                <a:t>package main</a:t>
              </a:r>
            </a:p>
            <a:p>
              <a:endParaRPr lang="en-US" altLang="ko-KR" sz="1000" b="1" dirty="0"/>
            </a:p>
            <a:p>
              <a:r>
                <a:rPr lang="en-US" altLang="ko-KR" sz="1000" b="1" dirty="0"/>
                <a:t>import (</a:t>
              </a:r>
            </a:p>
            <a:p>
              <a:r>
                <a:rPr lang="en-US" altLang="ko-KR" sz="1000" b="1" dirty="0"/>
                <a:t>  "crypto/rand"</a:t>
              </a:r>
            </a:p>
            <a:p>
              <a:r>
                <a:rPr lang="en-US" altLang="ko-KR" sz="1000" b="1" dirty="0"/>
                <a:t>  "crypto/</a:t>
              </a:r>
              <a:r>
                <a:rPr lang="en-US" altLang="ko-KR" sz="1000" b="1" dirty="0" err="1"/>
                <a:t>rsa</a:t>
              </a:r>
              <a:r>
                <a:rPr lang="en-US" altLang="ko-KR" sz="1000" b="1" dirty="0"/>
                <a:t>"</a:t>
              </a:r>
            </a:p>
            <a:p>
              <a:r>
                <a:rPr lang="en-US" altLang="ko-KR" sz="1000" b="1" dirty="0"/>
                <a:t>  "crypto/x509"</a:t>
              </a:r>
            </a:p>
            <a:p>
              <a:r>
                <a:rPr lang="en-US" altLang="ko-KR" sz="1000" b="1" dirty="0"/>
                <a:t>  "crypto/x509/</a:t>
              </a:r>
              <a:r>
                <a:rPr lang="en-US" altLang="ko-KR" sz="1000" b="1" dirty="0" err="1"/>
                <a:t>pkix</a:t>
              </a:r>
              <a:r>
                <a:rPr lang="en-US" altLang="ko-KR" sz="1000" b="1" dirty="0"/>
                <a:t>"</a:t>
              </a:r>
            </a:p>
            <a:p>
              <a:r>
                <a:rPr lang="en-US" altLang="ko-KR" sz="1000" b="1" dirty="0"/>
                <a:t>  "encoding/asn1"</a:t>
              </a:r>
            </a:p>
            <a:p>
              <a:r>
                <a:rPr lang="en-US" altLang="ko-KR" sz="1000" b="1" dirty="0"/>
                <a:t>  "encoding/</a:t>
              </a:r>
              <a:r>
                <a:rPr lang="en-US" altLang="ko-KR" sz="1000" b="1" dirty="0" err="1"/>
                <a:t>pem</a:t>
              </a:r>
              <a:r>
                <a:rPr lang="en-US" altLang="ko-KR" sz="1000" b="1" dirty="0"/>
                <a:t>"</a:t>
              </a:r>
            </a:p>
            <a:p>
              <a:r>
                <a:rPr lang="en-US" altLang="ko-KR" sz="1000" b="1" dirty="0"/>
                <a:t>  "net/</a:t>
              </a:r>
              <a:r>
                <a:rPr lang="en-US" altLang="ko-KR" sz="1000" b="1" dirty="0" err="1"/>
                <a:t>url</a:t>
              </a:r>
              <a:r>
                <a:rPr lang="en-US" altLang="ko-KR" sz="1000" b="1" dirty="0"/>
                <a:t>"</a:t>
              </a:r>
            </a:p>
            <a:p>
              <a:r>
                <a:rPr lang="en-US" altLang="ko-KR" sz="1000" b="1" dirty="0"/>
                <a:t>  "</a:t>
              </a:r>
              <a:r>
                <a:rPr lang="en-US" altLang="ko-KR" sz="1000" b="1" dirty="0" err="1"/>
                <a:t>os</a:t>
              </a:r>
              <a:r>
                <a:rPr lang="en-US" altLang="ko-KR" sz="1000" b="1" dirty="0"/>
                <a:t>"</a:t>
              </a:r>
            </a:p>
            <a:p>
              <a:r>
                <a:rPr lang="en-US" altLang="ko-KR" sz="1000" b="1" dirty="0"/>
                <a:t>)</a:t>
              </a:r>
            </a:p>
            <a:p>
              <a:endParaRPr lang="en-US" altLang="ko-KR" sz="1000" b="1" dirty="0"/>
            </a:p>
            <a:p>
              <a:r>
                <a:rPr lang="en-US" altLang="ko-KR" sz="1000" b="1" dirty="0" err="1"/>
                <a:t>func</a:t>
              </a:r>
              <a:r>
                <a:rPr lang="en-US" altLang="ko-KR" sz="1000" b="1" dirty="0"/>
                <a:t> main() {</a:t>
              </a:r>
            </a:p>
            <a:p>
              <a:r>
                <a:rPr lang="en-US" altLang="ko-KR" sz="1000" b="1" dirty="0"/>
                <a:t>  host := </a:t>
              </a:r>
              <a:r>
                <a:rPr lang="en-US" altLang="ko-KR" sz="1000" b="1" dirty="0" err="1"/>
                <a:t>os.Args</a:t>
              </a:r>
              <a:r>
                <a:rPr lang="en-US" altLang="ko-KR" sz="1000" b="1" dirty="0"/>
                <a:t>[1]</a:t>
              </a:r>
            </a:p>
            <a:p>
              <a:r>
                <a:rPr lang="en-US" altLang="ko-KR" sz="1000" b="1" dirty="0"/>
                <a:t>  name := "server"</a:t>
              </a:r>
            </a:p>
            <a:p>
              <a:r>
                <a:rPr lang="en-US" altLang="ko-KR" sz="1000" b="1" dirty="0"/>
                <a:t>  key, err := </a:t>
              </a:r>
              <a:r>
                <a:rPr lang="en-US" altLang="ko-KR" sz="1000" b="1" dirty="0" err="1"/>
                <a:t>rsa.GenerateKey</a:t>
              </a:r>
              <a:r>
                <a:rPr lang="en-US" altLang="ko-KR" sz="1000" b="1" dirty="0"/>
                <a:t>(</a:t>
              </a:r>
              <a:r>
                <a:rPr lang="en-US" altLang="ko-KR" sz="1000" b="1" dirty="0" err="1"/>
                <a:t>rand.Reader</a:t>
              </a:r>
              <a:r>
                <a:rPr lang="en-US" altLang="ko-KR" sz="1000" b="1" dirty="0"/>
                <a:t>, 1024)</a:t>
              </a:r>
            </a:p>
            <a:p>
              <a:r>
                <a:rPr lang="en-US" altLang="ko-KR" sz="1000" b="1" dirty="0"/>
                <a:t>  if err != nil {</a:t>
              </a:r>
            </a:p>
            <a:p>
              <a:r>
                <a:rPr lang="en-US" altLang="ko-KR" sz="1000" b="1" dirty="0"/>
                <a:t>    panic(err)</a:t>
              </a:r>
            </a:p>
            <a:p>
              <a:r>
                <a:rPr lang="en-US" altLang="ko-KR" sz="1000" b="1" dirty="0"/>
                <a:t>  }</a:t>
              </a:r>
            </a:p>
            <a:p>
              <a:r>
                <a:rPr lang="en-US" altLang="ko-KR" sz="1000" b="1" dirty="0"/>
                <a:t>  </a:t>
              </a:r>
              <a:r>
                <a:rPr lang="en-US" altLang="ko-KR" sz="1000" b="1" dirty="0" err="1"/>
                <a:t>keyDer</a:t>
              </a:r>
              <a:r>
                <a:rPr lang="en-US" altLang="ko-KR" sz="1000" b="1" dirty="0"/>
                <a:t> := x509.MarshalPKCS1PrivateKey(key)</a:t>
              </a:r>
            </a:p>
            <a:p>
              <a:r>
                <a:rPr lang="en-US" altLang="ko-KR" sz="1000" b="1" dirty="0"/>
                <a:t>  </a:t>
              </a:r>
              <a:r>
                <a:rPr lang="en-US" altLang="ko-KR" sz="1000" b="1" dirty="0" err="1"/>
                <a:t>keyBlock</a:t>
              </a:r>
              <a:r>
                <a:rPr lang="en-US" altLang="ko-KR" sz="1000" b="1" dirty="0"/>
                <a:t> := </a:t>
              </a:r>
              <a:r>
                <a:rPr lang="en-US" altLang="ko-KR" sz="1000" b="1" dirty="0" err="1"/>
                <a:t>pem.Block</a:t>
              </a:r>
              <a:r>
                <a:rPr lang="en-US" altLang="ko-KR" sz="1000" b="1" dirty="0"/>
                <a:t>{</a:t>
              </a:r>
            </a:p>
            <a:p>
              <a:r>
                <a:rPr lang="en-US" altLang="ko-KR" sz="1000" b="1" dirty="0"/>
                <a:t>    Type:  "RSA PRIVATE KEY",</a:t>
              </a:r>
            </a:p>
            <a:p>
              <a:r>
                <a:rPr lang="en-US" altLang="ko-KR" sz="1000" b="1" dirty="0"/>
                <a:t>    Bytes: </a:t>
              </a:r>
              <a:r>
                <a:rPr lang="en-US" altLang="ko-KR" sz="1000" b="1" dirty="0" err="1"/>
                <a:t>keyDer</a:t>
              </a:r>
              <a:r>
                <a:rPr lang="en-US" altLang="ko-KR" sz="1000" b="1" dirty="0"/>
                <a:t>,</a:t>
              </a:r>
            </a:p>
            <a:p>
              <a:r>
                <a:rPr lang="en-US" altLang="ko-KR" sz="1000" b="1" dirty="0"/>
                <a:t>  }</a:t>
              </a:r>
            </a:p>
          </p:txBody>
        </p:sp>
        <p:sp>
          <p:nvSpPr>
            <p:cNvPr id="9" name="직사각형 8">
              <a:extLst>
                <a:ext uri="{FF2B5EF4-FFF2-40B4-BE49-F238E27FC236}">
                  <a16:creationId xmlns:a16="http://schemas.microsoft.com/office/drawing/2014/main" id="{38D76AA6-865E-454F-8188-38BB102D9008}"/>
                </a:ext>
              </a:extLst>
            </p:cNvPr>
            <p:cNvSpPr/>
            <p:nvPr/>
          </p:nvSpPr>
          <p:spPr>
            <a:xfrm>
              <a:off x="3498809" y="2347353"/>
              <a:ext cx="3003509" cy="409342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keyFile</a:t>
              </a:r>
              <a:r>
                <a:rPr lang="en-US" altLang="ko-KR" sz="1000" b="1" dirty="0"/>
                <a:t>, err := </a:t>
              </a:r>
              <a:r>
                <a:rPr lang="en-US" altLang="ko-KR" sz="1000" b="1" dirty="0" err="1"/>
                <a:t>os.Create</a:t>
              </a:r>
              <a:r>
                <a:rPr lang="en-US" altLang="ko-KR" sz="1000" b="1" dirty="0"/>
                <a:t>(name + ".key")</a:t>
              </a:r>
            </a:p>
            <a:p>
              <a:r>
                <a:rPr lang="en-US" altLang="ko-KR" sz="1000" b="1" dirty="0"/>
                <a:t>  if err != nil {</a:t>
              </a:r>
            </a:p>
            <a:p>
              <a:r>
                <a:rPr lang="en-US" altLang="ko-KR" sz="1000" b="1" dirty="0"/>
                <a:t>    panic(err)</a:t>
              </a:r>
            </a:p>
            <a:p>
              <a:r>
                <a:rPr lang="en-US" altLang="ko-KR" sz="1000" b="1" dirty="0"/>
                <a:t>  }</a:t>
              </a:r>
            </a:p>
            <a:p>
              <a:r>
                <a:rPr lang="en-US" altLang="ko-KR" sz="1000" b="1" dirty="0"/>
                <a:t>  </a:t>
              </a:r>
              <a:r>
                <a:rPr lang="en-US" altLang="ko-KR" sz="1000" b="1" dirty="0" err="1"/>
                <a:t>pem.Encode</a:t>
              </a:r>
              <a:r>
                <a:rPr lang="en-US" altLang="ko-KR" sz="1000" b="1" dirty="0"/>
                <a:t>(</a:t>
              </a:r>
              <a:r>
                <a:rPr lang="en-US" altLang="ko-KR" sz="1000" b="1" dirty="0" err="1"/>
                <a:t>keyFile</a:t>
              </a:r>
              <a:r>
                <a:rPr lang="en-US" altLang="ko-KR" sz="1000" b="1" dirty="0"/>
                <a:t>, &amp;</a:t>
              </a:r>
              <a:r>
                <a:rPr lang="en-US" altLang="ko-KR" sz="1000" b="1" dirty="0" err="1"/>
                <a:t>keyBlock</a:t>
              </a:r>
              <a:r>
                <a:rPr lang="en-US" altLang="ko-KR" sz="1000" b="1" dirty="0"/>
                <a:t>)</a:t>
              </a:r>
            </a:p>
            <a:p>
              <a:r>
                <a:rPr lang="en-US" altLang="ko-KR" sz="1000" b="1" dirty="0"/>
                <a:t>  </a:t>
              </a:r>
              <a:r>
                <a:rPr lang="en-US" altLang="ko-KR" sz="1000" b="1" dirty="0" err="1"/>
                <a:t>keyFile.Close</a:t>
              </a:r>
              <a:r>
                <a:rPr lang="en-US" altLang="ko-KR" sz="1000" b="1" dirty="0"/>
                <a:t>()</a:t>
              </a:r>
            </a:p>
            <a:p>
              <a:endParaRPr lang="en-US" altLang="ko-KR" sz="1000" b="1" dirty="0"/>
            </a:p>
            <a:p>
              <a:r>
                <a:rPr lang="en-US" altLang="ko-KR" sz="1000" b="1" dirty="0"/>
                <a:t>  </a:t>
              </a:r>
              <a:r>
                <a:rPr lang="en-US" altLang="ko-KR" sz="1000" b="1" dirty="0" err="1"/>
                <a:t>commonName</a:t>
              </a:r>
              <a:r>
                <a:rPr lang="en-US" altLang="ko-KR" sz="1000" b="1" dirty="0"/>
                <a:t> := "</a:t>
              </a:r>
              <a:r>
                <a:rPr lang="en-US" altLang="ko-KR" sz="1000" b="1" dirty="0" err="1"/>
                <a:t>myuser</a:t>
              </a:r>
              <a:r>
                <a:rPr lang="en-US" altLang="ko-KR" sz="1000" b="1" dirty="0"/>
                <a:t>"</a:t>
              </a:r>
            </a:p>
            <a:p>
              <a:r>
                <a:rPr lang="en-US" altLang="ko-KR" sz="1000" b="1" dirty="0"/>
                <a:t>  </a:t>
              </a:r>
              <a:r>
                <a:rPr lang="en-US" altLang="ko-KR" sz="1000" b="1" dirty="0" err="1"/>
                <a:t>emailAddress</a:t>
              </a:r>
              <a:r>
                <a:rPr lang="en-US" altLang="ko-KR" sz="1000" b="1" dirty="0"/>
                <a:t> := "someone@myco.com"</a:t>
              </a:r>
            </a:p>
            <a:p>
              <a:r>
                <a:rPr lang="en-US" altLang="ko-KR" sz="1000" b="1" dirty="0"/>
                <a:t>  org := "My Co, Inc."</a:t>
              </a:r>
            </a:p>
            <a:p>
              <a:r>
                <a:rPr lang="en-US" altLang="ko-KR" sz="1000" b="1" dirty="0"/>
                <a:t>  </a:t>
              </a:r>
              <a:r>
                <a:rPr lang="en-US" altLang="ko-KR" sz="1000" b="1" dirty="0" err="1"/>
                <a:t>orgUnit</a:t>
              </a:r>
              <a:r>
                <a:rPr lang="en-US" altLang="ko-KR" sz="1000" b="1" dirty="0"/>
                <a:t> := "Widget Farmers"</a:t>
              </a:r>
            </a:p>
            <a:p>
              <a:r>
                <a:rPr lang="en-US" altLang="ko-KR" sz="1000" b="1" dirty="0"/>
                <a:t>  city := "Seattle"</a:t>
              </a:r>
            </a:p>
            <a:p>
              <a:r>
                <a:rPr lang="en-US" altLang="ko-KR" sz="1000" b="1" dirty="0"/>
                <a:t>  state := "WA"</a:t>
              </a:r>
            </a:p>
            <a:p>
              <a:r>
                <a:rPr lang="en-US" altLang="ko-KR" sz="1000" b="1" dirty="0"/>
                <a:t>  country := "US"</a:t>
              </a:r>
            </a:p>
            <a:p>
              <a:r>
                <a:rPr lang="en-US" altLang="ko-KR" sz="1000" b="1" dirty="0"/>
                <a:t>  subject := </a:t>
              </a:r>
              <a:r>
                <a:rPr lang="en-US" altLang="ko-KR" sz="1000" b="1" dirty="0" err="1"/>
                <a:t>pkix.Name</a:t>
              </a:r>
              <a:r>
                <a:rPr lang="en-US" altLang="ko-KR" sz="1000" b="1" dirty="0"/>
                <a:t>{</a:t>
              </a:r>
            </a:p>
            <a:p>
              <a:r>
                <a:rPr lang="en-US" altLang="ko-KR" sz="1000" b="1" dirty="0"/>
                <a:t>    </a:t>
              </a:r>
              <a:r>
                <a:rPr lang="en-US" altLang="ko-KR" sz="1000" b="1" dirty="0" err="1"/>
                <a:t>CommonName</a:t>
              </a:r>
              <a:r>
                <a:rPr lang="en-US" altLang="ko-KR" sz="1000" b="1" dirty="0"/>
                <a:t>:      </a:t>
              </a:r>
              <a:r>
                <a:rPr lang="en-US" altLang="ko-KR" sz="1000" b="1" dirty="0" err="1"/>
                <a:t>commonName</a:t>
              </a:r>
              <a:r>
                <a:rPr lang="en-US" altLang="ko-KR" sz="1000" b="1" dirty="0"/>
                <a:t>,</a:t>
              </a:r>
            </a:p>
            <a:p>
              <a:r>
                <a:rPr lang="en-US" altLang="ko-KR" sz="1000" b="1" dirty="0"/>
                <a:t>    Country:                []string{country},</a:t>
              </a:r>
            </a:p>
            <a:p>
              <a:r>
                <a:rPr lang="en-US" altLang="ko-KR" sz="1000" b="1" dirty="0"/>
                <a:t>    Locality:                []string{city},</a:t>
              </a:r>
            </a:p>
            <a:p>
              <a:r>
                <a:rPr lang="en-US" altLang="ko-KR" sz="1000" b="1" dirty="0"/>
                <a:t>    Organization:         []string{org},</a:t>
              </a:r>
            </a:p>
            <a:p>
              <a:r>
                <a:rPr lang="en-US" altLang="ko-KR" sz="1000" b="1" dirty="0"/>
                <a:t>    </a:t>
              </a:r>
              <a:r>
                <a:rPr lang="en-US" altLang="ko-KR" sz="1000" b="1" dirty="0" err="1"/>
                <a:t>OrganizationalUnit</a:t>
              </a:r>
              <a:r>
                <a:rPr lang="en-US" altLang="ko-KR" sz="1000" b="1" dirty="0"/>
                <a:t>: []string{</a:t>
              </a:r>
              <a:r>
                <a:rPr lang="en-US" altLang="ko-KR" sz="1000" b="1" dirty="0" err="1"/>
                <a:t>orgUnit</a:t>
              </a:r>
              <a:r>
                <a:rPr lang="en-US" altLang="ko-KR" sz="1000" b="1" dirty="0"/>
                <a:t>},</a:t>
              </a:r>
            </a:p>
            <a:p>
              <a:r>
                <a:rPr lang="en-US" altLang="ko-KR" sz="1000" b="1" dirty="0"/>
                <a:t>    Province:               []string{state},</a:t>
              </a:r>
            </a:p>
            <a:p>
              <a:r>
                <a:rPr lang="en-US" altLang="ko-KR" sz="1000" b="1" dirty="0"/>
                <a:t>  }</a:t>
              </a:r>
            </a:p>
            <a:p>
              <a:r>
                <a:rPr lang="en-US" altLang="ko-KR" sz="1000" b="1" dirty="0"/>
                <a:t>  </a:t>
              </a:r>
              <a:r>
                <a:rPr lang="en-US" altLang="ko-KR" sz="1000" b="1" dirty="0" err="1"/>
                <a:t>uri</a:t>
              </a:r>
              <a:r>
                <a:rPr lang="en-US" altLang="ko-KR" sz="1000" b="1" dirty="0"/>
                <a:t>, err := </a:t>
              </a:r>
              <a:r>
                <a:rPr lang="en-US" altLang="ko-KR" sz="1000" b="1" dirty="0" err="1"/>
                <a:t>url.ParseRequestURI</a:t>
              </a:r>
              <a:r>
                <a:rPr lang="en-US" altLang="ko-KR" sz="1000" b="1" dirty="0"/>
                <a:t>(host)</a:t>
              </a:r>
            </a:p>
            <a:p>
              <a:r>
                <a:rPr lang="en-US" altLang="ko-KR" sz="1000" b="1" dirty="0"/>
                <a:t>  if err != nil {</a:t>
              </a:r>
            </a:p>
            <a:p>
              <a:r>
                <a:rPr lang="en-US" altLang="ko-KR" sz="1000" b="1" dirty="0"/>
                <a:t>    panic(err)</a:t>
              </a:r>
            </a:p>
            <a:p>
              <a:r>
                <a:rPr lang="en-US" altLang="ko-KR" sz="1000" b="1" dirty="0"/>
                <a:t>  }</a:t>
              </a:r>
              <a:endParaRPr lang="ko-KR" altLang="en-US" sz="1000" b="1" dirty="0"/>
            </a:p>
          </p:txBody>
        </p:sp>
        <p:sp>
          <p:nvSpPr>
            <p:cNvPr id="10" name="직사각형 9">
              <a:extLst>
                <a:ext uri="{FF2B5EF4-FFF2-40B4-BE49-F238E27FC236}">
                  <a16:creationId xmlns:a16="http://schemas.microsoft.com/office/drawing/2014/main" id="{7C03A1CE-C5D3-4353-8A62-EA80ADF3472F}"/>
                </a:ext>
              </a:extLst>
            </p:cNvPr>
            <p:cNvSpPr/>
            <p:nvPr/>
          </p:nvSpPr>
          <p:spPr>
            <a:xfrm>
              <a:off x="6502318" y="2347353"/>
              <a:ext cx="3003509" cy="4093428"/>
            </a:xfrm>
            <a:prstGeom prst="rect">
              <a:avLst/>
            </a:prstGeom>
            <a:ln>
              <a:solidFill>
                <a:schemeClr val="bg1">
                  <a:lumMod val="50000"/>
                </a:schemeClr>
              </a:solidFill>
            </a:ln>
          </p:spPr>
          <p:txBody>
            <a:bodyPr wrap="square">
              <a:spAutoFit/>
            </a:bodyPr>
            <a:lstStyle/>
            <a:p>
              <a:r>
                <a:rPr lang="en-US" altLang="ko-KR" sz="1000" b="1" dirty="0"/>
                <a:t>  asn1, err :=  asn1.Marshal(</a:t>
              </a:r>
              <a:r>
                <a:rPr lang="en-US" altLang="ko-KR" sz="1000" b="1" dirty="0" err="1"/>
                <a:t>subject.ToRDNSequence</a:t>
              </a:r>
              <a:r>
                <a:rPr lang="en-US" altLang="ko-KR" sz="1000" b="1" dirty="0"/>
                <a:t>())</a:t>
              </a:r>
            </a:p>
            <a:p>
              <a:r>
                <a:rPr lang="en-US" altLang="ko-KR" sz="1000" b="1" dirty="0"/>
                <a:t>  if err != nil {</a:t>
              </a:r>
            </a:p>
            <a:p>
              <a:r>
                <a:rPr lang="en-US" altLang="ko-KR" sz="1000" b="1" dirty="0"/>
                <a:t>    panic(err)</a:t>
              </a:r>
            </a:p>
            <a:p>
              <a:r>
                <a:rPr lang="en-US" altLang="ko-KR" sz="1000" b="1" dirty="0"/>
                <a:t>  }</a:t>
              </a:r>
            </a:p>
            <a:p>
              <a:r>
                <a:rPr lang="en-US" altLang="ko-KR" sz="1000" b="1" dirty="0"/>
                <a:t>  </a:t>
              </a:r>
              <a:r>
                <a:rPr lang="en-US" altLang="ko-KR" sz="1000" b="1" dirty="0" err="1"/>
                <a:t>csr</a:t>
              </a:r>
              <a:r>
                <a:rPr lang="en-US" altLang="ko-KR" sz="1000" b="1" dirty="0"/>
                <a:t> := x509.CertificateRequest{</a:t>
              </a:r>
            </a:p>
            <a:p>
              <a:r>
                <a:rPr lang="en-US" altLang="ko-KR" sz="1000" b="1" dirty="0"/>
                <a:t>    </a:t>
              </a:r>
              <a:r>
                <a:rPr lang="en-US" altLang="ko-KR" sz="1000" b="1" dirty="0" err="1"/>
                <a:t>RawSubject</a:t>
              </a:r>
              <a:r>
                <a:rPr lang="en-US" altLang="ko-KR" sz="1000" b="1" dirty="0"/>
                <a:t>:         asn1,</a:t>
              </a:r>
            </a:p>
            <a:p>
              <a:r>
                <a:rPr lang="en-US" altLang="ko-KR" sz="1000" b="1" dirty="0"/>
                <a:t>    </a:t>
              </a:r>
              <a:r>
                <a:rPr lang="en-US" altLang="ko-KR" sz="1000" b="1" dirty="0" err="1"/>
                <a:t>EmailAddresses</a:t>
              </a:r>
              <a:r>
                <a:rPr lang="en-US" altLang="ko-KR" sz="1000" b="1" dirty="0"/>
                <a:t>:     []string{</a:t>
              </a:r>
              <a:r>
                <a:rPr lang="en-US" altLang="ko-KR" sz="1000" b="1" dirty="0" err="1"/>
                <a:t>emailAddress</a:t>
              </a:r>
              <a:r>
                <a:rPr lang="en-US" altLang="ko-KR" sz="1000" b="1" dirty="0"/>
                <a:t>},</a:t>
              </a:r>
            </a:p>
            <a:p>
              <a:r>
                <a:rPr lang="en-US" altLang="ko-KR" sz="1000" b="1" dirty="0"/>
                <a:t>    </a:t>
              </a:r>
              <a:r>
                <a:rPr lang="en-US" altLang="ko-KR" sz="1000" b="1" dirty="0" err="1"/>
                <a:t>SignatureAlgorithm</a:t>
              </a:r>
              <a:r>
                <a:rPr lang="en-US" altLang="ko-KR" sz="1000" b="1" dirty="0"/>
                <a:t>: x509.SHA256WithRSA,</a:t>
              </a:r>
            </a:p>
            <a:p>
              <a:r>
                <a:rPr lang="en-US" altLang="ko-KR" sz="1000" b="1" dirty="0"/>
                <a:t>    URIs:               []*url.URL{</a:t>
              </a:r>
              <a:r>
                <a:rPr lang="en-US" altLang="ko-KR" sz="1000" b="1" dirty="0" err="1"/>
                <a:t>uri</a:t>
              </a:r>
              <a:r>
                <a:rPr lang="en-US" altLang="ko-KR" sz="1000" b="1" dirty="0"/>
                <a:t>},</a:t>
              </a:r>
            </a:p>
            <a:p>
              <a:r>
                <a:rPr lang="en-US" altLang="ko-KR" sz="1000" b="1" dirty="0"/>
                <a:t>  }</a:t>
              </a:r>
            </a:p>
            <a:p>
              <a:r>
                <a:rPr lang="en-US" altLang="ko-KR" sz="1000" b="1" dirty="0"/>
                <a:t>  bytes, err := x509.CreateCertificateRequest(</a:t>
              </a:r>
              <a:r>
                <a:rPr lang="en-US" altLang="ko-KR" sz="1000" b="1" dirty="0" err="1"/>
                <a:t>rand.Reader</a:t>
              </a:r>
              <a:r>
                <a:rPr lang="en-US" altLang="ko-KR" sz="1000" b="1" dirty="0"/>
                <a:t>, &amp;</a:t>
              </a:r>
              <a:r>
                <a:rPr lang="en-US" altLang="ko-KR" sz="1000" b="1" dirty="0" err="1"/>
                <a:t>csr</a:t>
              </a:r>
              <a:r>
                <a:rPr lang="en-US" altLang="ko-KR" sz="1000" b="1" dirty="0"/>
                <a:t>, key)</a:t>
              </a:r>
            </a:p>
            <a:p>
              <a:r>
                <a:rPr lang="en-US" altLang="ko-KR" sz="1000" b="1" dirty="0"/>
                <a:t>  if err != nil {</a:t>
              </a:r>
            </a:p>
            <a:p>
              <a:r>
                <a:rPr lang="en-US" altLang="ko-KR" sz="1000" b="1" dirty="0"/>
                <a:t>    panic(err)</a:t>
              </a:r>
            </a:p>
            <a:p>
              <a:r>
                <a:rPr lang="en-US" altLang="ko-KR" sz="1000" b="1" dirty="0"/>
                <a:t>  }</a:t>
              </a:r>
            </a:p>
            <a:p>
              <a:r>
                <a:rPr lang="en-US" altLang="ko-KR" sz="1000" b="1" dirty="0"/>
                <a:t>  </a:t>
              </a:r>
              <a:r>
                <a:rPr lang="en-US" altLang="ko-KR" sz="1000" b="1" dirty="0" err="1"/>
                <a:t>csrFile</a:t>
              </a:r>
              <a:r>
                <a:rPr lang="en-US" altLang="ko-KR" sz="1000" b="1" dirty="0"/>
                <a:t>, err := </a:t>
              </a:r>
              <a:r>
                <a:rPr lang="en-US" altLang="ko-KR" sz="1000" b="1" dirty="0" err="1"/>
                <a:t>os.Create</a:t>
              </a:r>
              <a:r>
                <a:rPr lang="en-US" altLang="ko-KR" sz="1000" b="1" dirty="0"/>
                <a:t>(name + ".</a:t>
              </a:r>
              <a:r>
                <a:rPr lang="en-US" altLang="ko-KR" sz="1000" b="1" dirty="0" err="1"/>
                <a:t>csr</a:t>
              </a:r>
              <a:r>
                <a:rPr lang="en-US" altLang="ko-KR" sz="1000" b="1" dirty="0"/>
                <a:t>")</a:t>
              </a:r>
            </a:p>
            <a:p>
              <a:r>
                <a:rPr lang="en-US" altLang="ko-KR" sz="1000" b="1" dirty="0"/>
                <a:t>  if err != nil {</a:t>
              </a:r>
            </a:p>
            <a:p>
              <a:r>
                <a:rPr lang="en-US" altLang="ko-KR" sz="1000" b="1" dirty="0"/>
                <a:t>    panic(err)</a:t>
              </a:r>
            </a:p>
            <a:p>
              <a:r>
                <a:rPr lang="en-US" altLang="ko-KR" sz="1000" b="1" dirty="0"/>
                <a:t>  }</a:t>
              </a:r>
            </a:p>
            <a:p>
              <a:r>
                <a:rPr lang="en-US" altLang="ko-KR" sz="1000" b="1" dirty="0"/>
                <a:t>  </a:t>
              </a:r>
              <a:r>
                <a:rPr lang="en-US" altLang="ko-KR" sz="1000" b="1" dirty="0" err="1"/>
                <a:t>pem.Encode</a:t>
              </a:r>
              <a:r>
                <a:rPr lang="en-US" altLang="ko-KR" sz="1000" b="1" dirty="0"/>
                <a:t>(</a:t>
              </a:r>
              <a:r>
                <a:rPr lang="en-US" altLang="ko-KR" sz="1000" b="1" dirty="0" err="1"/>
                <a:t>csrFile</a:t>
              </a:r>
              <a:r>
                <a:rPr lang="en-US" altLang="ko-KR" sz="1000" b="1" dirty="0"/>
                <a:t>, &amp;</a:t>
              </a:r>
              <a:r>
                <a:rPr lang="en-US" altLang="ko-KR" sz="1000" b="1" dirty="0" err="1"/>
                <a:t>pem.Block</a:t>
              </a:r>
              <a:r>
                <a:rPr lang="en-US" altLang="ko-KR" sz="1000" b="1" dirty="0"/>
                <a:t>{Type: "CERTIFICATE REQUEST", Bytes: bytes})</a:t>
              </a:r>
            </a:p>
            <a:p>
              <a:r>
                <a:rPr lang="en-US" altLang="ko-KR" sz="1000" b="1" dirty="0"/>
                <a:t>  </a:t>
              </a:r>
              <a:r>
                <a:rPr lang="en-US" altLang="ko-KR" sz="1000" b="1" dirty="0" err="1"/>
                <a:t>csrFile.Close</a:t>
              </a:r>
              <a:r>
                <a:rPr lang="en-US" altLang="ko-KR" sz="1000" b="1" dirty="0"/>
                <a:t>()</a:t>
              </a:r>
            </a:p>
            <a:p>
              <a:r>
                <a:rPr lang="en-US" altLang="ko-KR" sz="1000" b="1" dirty="0"/>
                <a:t>}</a:t>
              </a:r>
            </a:p>
            <a:p>
              <a:endParaRPr lang="ko-KR" altLang="en-US" sz="1000" b="1" dirty="0"/>
            </a:p>
          </p:txBody>
        </p:sp>
      </p:grpSp>
    </p:spTree>
    <p:extLst>
      <p:ext uri="{BB962C8B-B14F-4D97-AF65-F5344CB8AC3E}">
        <p14:creationId xmlns:p14="http://schemas.microsoft.com/office/powerpoint/2010/main" val="15103834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Extensibility(14/18)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dirty="0"/>
              <a:t>You can run the </a:t>
            </a:r>
            <a:r>
              <a:rPr lang="en-US" altLang="ko-KR" sz="1400" b="1" dirty="0"/>
              <a:t>Golang program </a:t>
            </a:r>
            <a:r>
              <a:rPr lang="en-US" altLang="ko-KR" sz="1400" dirty="0"/>
              <a:t>with the following command. And it will </a:t>
            </a:r>
            <a:r>
              <a:rPr lang="en-US" altLang="ko-KR" sz="1400" b="1" dirty="0"/>
              <a:t>generate two files, “</a:t>
            </a:r>
            <a:r>
              <a:rPr lang="en-US" altLang="ko-KR" sz="1400" b="1" dirty="0" err="1"/>
              <a:t>server.csr</a:t>
            </a:r>
            <a:r>
              <a:rPr lang="en-US" altLang="ko-KR" sz="1400" b="1" dirty="0"/>
              <a:t>” and “server-</a:t>
            </a:r>
            <a:r>
              <a:rPr lang="en-US" altLang="ko-KR" sz="1400" b="1" dirty="0" err="1"/>
              <a:t>key.pem</a:t>
            </a:r>
            <a:r>
              <a:rPr lang="en-US" altLang="ko-KR" sz="1400" b="1" dirty="0"/>
              <a: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can then create a </a:t>
            </a:r>
            <a:r>
              <a:rPr lang="en-US" altLang="ko-KR" sz="1400" b="1" dirty="0">
                <a:solidFill>
                  <a:srgbClr val="FF0000"/>
                </a:solidFill>
              </a:rPr>
              <a:t>certificate signing request </a:t>
            </a:r>
            <a:r>
              <a:rPr lang="en-US" altLang="ko-KR" sz="1400" b="1" dirty="0"/>
              <a:t>for the Kubernetes API server </a:t>
            </a:r>
            <a:r>
              <a:rPr lang="en-US" altLang="ko-KR" sz="1400" dirty="0"/>
              <a:t>using the following YAML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a:t>
            </a:r>
            <a:r>
              <a:rPr lang="en-US" altLang="ko-KR" sz="1400" dirty="0"/>
              <a:t>For the request field the value of “</a:t>
            </a:r>
            <a:r>
              <a:rPr lang="en-US" altLang="ko-KR" sz="1400" b="1" dirty="0"/>
              <a:t>REPLACEME</a:t>
            </a:r>
            <a:r>
              <a:rPr lang="en-US" altLang="ko-KR" sz="1400" dirty="0"/>
              <a:t>” </a:t>
            </a:r>
            <a:r>
              <a:rPr lang="en-US" altLang="ko-KR" sz="1400" b="1" dirty="0"/>
              <a:t>needs to be replaced with the base64-encoded certificate signing request </a:t>
            </a:r>
            <a:r>
              <a:rPr lang="en-US" altLang="ko-KR" sz="1400" dirty="0"/>
              <a:t>we produced in the preceding code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t>
            </a:r>
            <a:r>
              <a:rPr lang="en-US" altLang="ko-KR" sz="1400" b="1" dirty="0" err="1"/>
              <a:t>perl</a:t>
            </a:r>
            <a:r>
              <a:rPr lang="en-US" altLang="ko-KR" sz="1400" b="1" dirty="0"/>
              <a:t>” will take the input file(“admission-controller-</a:t>
            </a:r>
            <a:r>
              <a:rPr lang="en-US" altLang="ko-KR" sz="1400" b="1" dirty="0" err="1"/>
              <a:t>csr.yaml</a:t>
            </a:r>
            <a:r>
              <a:rPr lang="en-US" altLang="ko-KR" sz="1400" b="1" dirty="0"/>
              <a:t>”) and replace “REPLACEME” with the base64 encoded part of “</a:t>
            </a:r>
            <a:r>
              <a:rPr lang="en-US" altLang="ko-KR" sz="1400" b="1" dirty="0" err="1"/>
              <a:t>server.csr</a:t>
            </a:r>
            <a:r>
              <a:rPr lang="en-US" altLang="ko-KR" sz="1400" b="1" dirty="0"/>
              <a:t>”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5A101C4-3BFC-4427-B5EE-C9966E7D2591}"/>
              </a:ext>
            </a:extLst>
          </p:cNvPr>
          <p:cNvSpPr/>
          <p:nvPr/>
        </p:nvSpPr>
        <p:spPr>
          <a:xfrm>
            <a:off x="3048000" y="1590794"/>
            <a:ext cx="6096000" cy="246221"/>
          </a:xfrm>
          <a:prstGeom prst="rect">
            <a:avLst/>
          </a:prstGeom>
          <a:ln>
            <a:solidFill>
              <a:schemeClr val="bg1">
                <a:lumMod val="50000"/>
              </a:schemeClr>
            </a:solidFill>
          </a:ln>
        </p:spPr>
        <p:txBody>
          <a:bodyPr wrap="square">
            <a:spAutoFit/>
          </a:bodyPr>
          <a:lstStyle/>
          <a:p>
            <a:r>
              <a:rPr lang="en-US" altLang="ko-KR" sz="1000" b="1" dirty="0"/>
              <a:t>$ go run </a:t>
            </a:r>
            <a:r>
              <a:rPr lang="en-US" altLang="ko-KR" sz="1000" b="1" dirty="0" err="1">
                <a:solidFill>
                  <a:srgbClr val="FF0000"/>
                </a:solidFill>
              </a:rPr>
              <a:t>csr-gen.go</a:t>
            </a:r>
            <a:r>
              <a:rPr lang="en-US" altLang="ko-KR" sz="1000" b="1" dirty="0">
                <a:solidFill>
                  <a:srgbClr val="FF0000"/>
                </a:solidFill>
              </a:rPr>
              <a:t> &lt;URL-for-</a:t>
            </a:r>
            <a:r>
              <a:rPr lang="en-US" altLang="ko-KR" sz="1000" b="1" dirty="0" err="1">
                <a:solidFill>
                  <a:srgbClr val="FF0000"/>
                </a:solidFill>
              </a:rPr>
              <a:t>webook</a:t>
            </a:r>
            <a:r>
              <a:rPr lang="en-US" altLang="ko-KR" sz="1000" b="1" dirty="0">
                <a:solidFill>
                  <a:srgbClr val="FF0000"/>
                </a:solidFill>
              </a:rPr>
              <a:t>&gt;</a:t>
            </a:r>
            <a:endParaRPr lang="ko-KR" altLang="en-US" sz="1000" b="1" dirty="0">
              <a:solidFill>
                <a:srgbClr val="FF0000"/>
              </a:solidFill>
            </a:endParaRPr>
          </a:p>
        </p:txBody>
      </p:sp>
      <p:sp>
        <p:nvSpPr>
          <p:cNvPr id="8" name="직사각형 7">
            <a:extLst>
              <a:ext uri="{FF2B5EF4-FFF2-40B4-BE49-F238E27FC236}">
                <a16:creationId xmlns:a16="http://schemas.microsoft.com/office/drawing/2014/main" id="{1835FDF0-B3EE-4EFA-BF68-D1C0FACCFD2D}"/>
              </a:ext>
            </a:extLst>
          </p:cNvPr>
          <p:cNvSpPr/>
          <p:nvPr/>
        </p:nvSpPr>
        <p:spPr>
          <a:xfrm>
            <a:off x="3048000" y="2545277"/>
            <a:ext cx="6096000" cy="2092881"/>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certificates.k8s.io/v1</a:t>
            </a:r>
          </a:p>
          <a:p>
            <a:r>
              <a:rPr lang="en-US" altLang="ko-KR" sz="1000" b="1" dirty="0"/>
              <a:t>kind: </a:t>
            </a:r>
            <a:r>
              <a:rPr lang="en-US" altLang="ko-KR" sz="1000" b="1" dirty="0" err="1">
                <a:solidFill>
                  <a:srgbClr val="FF0000"/>
                </a:solidFill>
              </a:rPr>
              <a:t>CertificateSigningRequest</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validating-</a:t>
            </a:r>
            <a:r>
              <a:rPr lang="en-US" altLang="ko-KR" sz="1000" b="1" dirty="0" err="1">
                <a:solidFill>
                  <a:srgbClr val="FF0000"/>
                </a:solidFill>
              </a:rPr>
              <a:t>controller.default</a:t>
            </a:r>
            <a:endParaRPr lang="en-US" altLang="ko-KR" sz="1000" b="1" dirty="0">
              <a:solidFill>
                <a:srgbClr val="FF0000"/>
              </a:solidFill>
            </a:endParaRPr>
          </a:p>
          <a:p>
            <a:r>
              <a:rPr lang="en-US" altLang="ko-KR" sz="1000" b="1" dirty="0"/>
              <a:t>spec:</a:t>
            </a:r>
          </a:p>
          <a:p>
            <a:r>
              <a:rPr lang="en-US" altLang="ko-KR" sz="1000" b="1" dirty="0"/>
              <a:t>  groups:</a:t>
            </a:r>
          </a:p>
          <a:p>
            <a:r>
              <a:rPr lang="en-US" altLang="ko-KR" sz="1000" b="1" dirty="0"/>
              <a:t>    - </a:t>
            </a:r>
            <a:r>
              <a:rPr lang="en-US" altLang="ko-KR" sz="1000" b="1" dirty="0" err="1">
                <a:solidFill>
                  <a:srgbClr val="FF0000"/>
                </a:solidFill>
              </a:rPr>
              <a:t>system:authenticated</a:t>
            </a:r>
            <a:endParaRPr lang="en-US" altLang="ko-KR" sz="1000" b="1" dirty="0">
              <a:solidFill>
                <a:srgbClr val="FF0000"/>
              </a:solidFill>
            </a:endParaRPr>
          </a:p>
          <a:p>
            <a:r>
              <a:rPr lang="en-US" altLang="ko-KR" sz="1000" b="1" dirty="0"/>
              <a:t>  request: </a:t>
            </a:r>
            <a:r>
              <a:rPr lang="en-US" altLang="ko-KR" sz="1000" b="1" dirty="0">
                <a:solidFill>
                  <a:srgbClr val="FF0000"/>
                </a:solidFill>
              </a:rPr>
              <a:t>REPLACEME</a:t>
            </a:r>
          </a:p>
          <a:p>
            <a:r>
              <a:rPr lang="en-US" altLang="ko-KR" sz="1000" b="1" dirty="0"/>
              <a:t>  </a:t>
            </a:r>
            <a:r>
              <a:rPr lang="en-US" altLang="ko-KR" sz="1000" b="1" dirty="0" err="1"/>
              <a:t>signerName</a:t>
            </a:r>
            <a:r>
              <a:rPr lang="en-US" altLang="ko-KR" sz="1000" b="1" dirty="0"/>
              <a:t>: </a:t>
            </a:r>
            <a:r>
              <a:rPr lang="en-US" altLang="ko-KR" sz="1000" b="1" dirty="0">
                <a:solidFill>
                  <a:srgbClr val="FF0000"/>
                </a:solidFill>
              </a:rPr>
              <a:t>kubernetes.io/</a:t>
            </a:r>
            <a:r>
              <a:rPr lang="en-US" altLang="ko-KR" sz="1000" b="1" dirty="0" err="1">
                <a:solidFill>
                  <a:srgbClr val="FF0000"/>
                </a:solidFill>
              </a:rPr>
              <a:t>kube</a:t>
            </a:r>
            <a:r>
              <a:rPr lang="en-US" altLang="ko-KR" sz="1000" b="1" dirty="0">
                <a:solidFill>
                  <a:srgbClr val="FF0000"/>
                </a:solidFill>
              </a:rPr>
              <a:t>-</a:t>
            </a:r>
            <a:r>
              <a:rPr lang="en-US" altLang="ko-KR" sz="1000" b="1" dirty="0" err="1">
                <a:solidFill>
                  <a:srgbClr val="FF0000"/>
                </a:solidFill>
              </a:rPr>
              <a:t>apiserver</a:t>
            </a:r>
            <a:r>
              <a:rPr lang="en-US" altLang="ko-KR" sz="1000" b="1" dirty="0">
                <a:solidFill>
                  <a:srgbClr val="FF0000"/>
                </a:solidFill>
              </a:rPr>
              <a:t>-client</a:t>
            </a:r>
          </a:p>
          <a:p>
            <a:r>
              <a:rPr lang="en-US" altLang="ko-KR" sz="1000" b="1" dirty="0"/>
              <a:t>  usages:</a:t>
            </a:r>
          </a:p>
          <a:p>
            <a:r>
              <a:rPr lang="en-US" altLang="ko-KR" sz="1000" b="1" dirty="0"/>
              <a:t>    - digital signature</a:t>
            </a:r>
          </a:p>
          <a:p>
            <a:r>
              <a:rPr lang="en-US" altLang="ko-KR" sz="1000" b="1" dirty="0"/>
              <a:t>    - key encipherment</a:t>
            </a:r>
          </a:p>
          <a:p>
            <a:r>
              <a:rPr lang="en-US" altLang="ko-KR" sz="1000" b="1" dirty="0"/>
              <a:t>    - key agreement</a:t>
            </a:r>
            <a:endParaRPr lang="ko-KR" altLang="en-US" sz="1000" b="1" dirty="0"/>
          </a:p>
        </p:txBody>
      </p:sp>
      <p:sp>
        <p:nvSpPr>
          <p:cNvPr id="9" name="직사각형 8">
            <a:extLst>
              <a:ext uri="{FF2B5EF4-FFF2-40B4-BE49-F238E27FC236}">
                <a16:creationId xmlns:a16="http://schemas.microsoft.com/office/drawing/2014/main" id="{0D02A2CD-DC8E-4725-B076-06904BF479FC}"/>
              </a:ext>
            </a:extLst>
          </p:cNvPr>
          <p:cNvSpPr/>
          <p:nvPr/>
        </p:nvSpPr>
        <p:spPr>
          <a:xfrm>
            <a:off x="3048000" y="5462839"/>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perl</a:t>
            </a:r>
            <a:r>
              <a:rPr lang="en-US" altLang="ko-KR" sz="1000" b="1" dirty="0"/>
              <a:t> -pi -e s/</a:t>
            </a:r>
            <a:r>
              <a:rPr lang="en-US" altLang="ko-KR" sz="1000" b="1" dirty="0">
                <a:solidFill>
                  <a:srgbClr val="FF0000"/>
                </a:solidFill>
              </a:rPr>
              <a:t>REPLACEME</a:t>
            </a:r>
            <a:r>
              <a:rPr lang="en-US" altLang="ko-KR" sz="1000" b="1" dirty="0"/>
              <a:t>/$(base64 </a:t>
            </a:r>
            <a:r>
              <a:rPr lang="en-US" altLang="ko-KR" sz="1000" b="1" dirty="0" err="1">
                <a:solidFill>
                  <a:srgbClr val="FF0000"/>
                </a:solidFill>
              </a:rPr>
              <a:t>server.csr</a:t>
            </a:r>
            <a:r>
              <a:rPr lang="en-US" altLang="ko-KR" sz="1000" b="1" dirty="0"/>
              <a:t> | tr -d '\n')/ </a:t>
            </a:r>
            <a:r>
              <a:rPr lang="en-US" altLang="ko-KR" sz="1000" b="1" dirty="0">
                <a:solidFill>
                  <a:srgbClr val="FF0000"/>
                </a:solidFill>
              </a:rPr>
              <a:t>admission-controller-</a:t>
            </a:r>
            <a:r>
              <a:rPr lang="en-US" altLang="ko-KR" sz="1000" b="1" dirty="0" err="1">
                <a:solidFill>
                  <a:srgbClr val="FF0000"/>
                </a:solidFill>
              </a:rPr>
              <a:t>csr.yaml</a:t>
            </a:r>
            <a:endParaRPr lang="ko-KR" altLang="en-US" sz="1000" b="1" dirty="0">
              <a:solidFill>
                <a:srgbClr val="FF0000"/>
              </a:solidFill>
            </a:endParaRPr>
          </a:p>
        </p:txBody>
      </p:sp>
    </p:spTree>
    <p:extLst>
      <p:ext uri="{BB962C8B-B14F-4D97-AF65-F5344CB8AC3E}">
        <p14:creationId xmlns:p14="http://schemas.microsoft.com/office/powerpoint/2010/main" val="19192338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Golang CSR Program</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When you run the previous command to get the </a:t>
            </a:r>
            <a:r>
              <a:rPr lang="en-US" altLang="ko-KR" sz="1400" b="1" dirty="0"/>
              <a:t>server CSR and PEM files</a:t>
            </a:r>
            <a:r>
              <a:rPr lang="en-US" altLang="ko-KR" sz="1400" dirty="0"/>
              <a:t>, you will see the following screenshot.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1B9CB57-7F2B-41FB-BA0B-7A7EB617463C}"/>
              </a:ext>
            </a:extLst>
          </p:cNvPr>
          <p:cNvGrpSpPr/>
          <p:nvPr/>
        </p:nvGrpSpPr>
        <p:grpSpPr>
          <a:xfrm>
            <a:off x="1333500" y="1668530"/>
            <a:ext cx="9525000" cy="3520940"/>
            <a:chOff x="1333500" y="1668530"/>
            <a:chExt cx="9525000" cy="3520940"/>
          </a:xfrm>
        </p:grpSpPr>
        <p:grpSp>
          <p:nvGrpSpPr>
            <p:cNvPr id="10" name="그룹 9">
              <a:extLst>
                <a:ext uri="{FF2B5EF4-FFF2-40B4-BE49-F238E27FC236}">
                  <a16:creationId xmlns:a16="http://schemas.microsoft.com/office/drawing/2014/main" id="{0982FB78-BF78-4B26-AFBB-4970FD5230A5}"/>
                </a:ext>
              </a:extLst>
            </p:cNvPr>
            <p:cNvGrpSpPr/>
            <p:nvPr/>
          </p:nvGrpSpPr>
          <p:grpSpPr>
            <a:xfrm>
              <a:off x="1333500" y="1668530"/>
              <a:ext cx="9525000" cy="3520940"/>
              <a:chOff x="1333500" y="1552694"/>
              <a:chExt cx="9525000" cy="3520940"/>
            </a:xfrm>
          </p:grpSpPr>
          <p:sp>
            <p:nvSpPr>
              <p:cNvPr id="8" name="직사각형 7">
                <a:extLst>
                  <a:ext uri="{FF2B5EF4-FFF2-40B4-BE49-F238E27FC236}">
                    <a16:creationId xmlns:a16="http://schemas.microsoft.com/office/drawing/2014/main" id="{914D20C2-90B0-45D7-8791-917396738CAD}"/>
                  </a:ext>
                </a:extLst>
              </p:cNvPr>
              <p:cNvSpPr/>
              <p:nvPr/>
            </p:nvSpPr>
            <p:spPr>
              <a:xfrm>
                <a:off x="3048000" y="1552694"/>
                <a:ext cx="6096000" cy="246221"/>
              </a:xfrm>
              <a:prstGeom prst="rect">
                <a:avLst/>
              </a:prstGeom>
              <a:ln>
                <a:solidFill>
                  <a:schemeClr val="bg1">
                    <a:lumMod val="50000"/>
                  </a:schemeClr>
                </a:solidFill>
              </a:ln>
            </p:spPr>
            <p:txBody>
              <a:bodyPr wrap="square">
                <a:spAutoFit/>
              </a:bodyPr>
              <a:lstStyle/>
              <a:p>
                <a:r>
                  <a:rPr lang="en-US" altLang="ko-KR" sz="1000" b="1" dirty="0"/>
                  <a:t>$ go run </a:t>
                </a:r>
                <a:r>
                  <a:rPr lang="en-US" altLang="ko-KR" sz="1000" b="1" dirty="0" err="1"/>
                  <a:t>csr-gen.go</a:t>
                </a:r>
                <a:r>
                  <a:rPr lang="en-US" altLang="ko-KR" sz="1000" b="1" dirty="0"/>
                  <a:t> </a:t>
                </a:r>
                <a:r>
                  <a:rPr lang="en-US" altLang="ko-KR" sz="1000" b="1" dirty="0">
                    <a:solidFill>
                      <a:srgbClr val="FF0000"/>
                    </a:solidFill>
                  </a:rPr>
                  <a:t>localhost:8080</a:t>
                </a:r>
                <a:endParaRPr lang="ko-KR" altLang="en-US" sz="1000" b="1" dirty="0">
                  <a:solidFill>
                    <a:srgbClr val="FF0000"/>
                  </a:solidFill>
                </a:endParaRPr>
              </a:p>
            </p:txBody>
          </p:sp>
          <p:sp>
            <p:nvSpPr>
              <p:cNvPr id="4" name="화살표: 아래쪽 3">
                <a:extLst>
                  <a:ext uri="{FF2B5EF4-FFF2-40B4-BE49-F238E27FC236}">
                    <a16:creationId xmlns:a16="http://schemas.microsoft.com/office/drawing/2014/main" id="{CCBBA242-CAC6-4318-B1D2-234CA827F775}"/>
                  </a:ext>
                </a:extLst>
              </p:cNvPr>
              <p:cNvSpPr/>
              <p:nvPr/>
            </p:nvSpPr>
            <p:spPr>
              <a:xfrm>
                <a:off x="5855970" y="1810357"/>
                <a:ext cx="480060" cy="2895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0D219B32-DFE7-4A1D-839C-65AB604BFED6}"/>
                  </a:ext>
                </a:extLst>
              </p:cNvPr>
              <p:cNvPicPr>
                <a:picLocks noChangeAspect="1"/>
              </p:cNvPicPr>
              <p:nvPr/>
            </p:nvPicPr>
            <p:blipFill>
              <a:blip r:embed="rId2"/>
              <a:stretch>
                <a:fillRect/>
              </a:stretch>
            </p:blipFill>
            <p:spPr>
              <a:xfrm>
                <a:off x="1333500" y="2111359"/>
                <a:ext cx="9525000" cy="2962275"/>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8CCD6108-D2F8-47B6-AEF6-0B511CD6EF36}"/>
                </a:ext>
              </a:extLst>
            </p:cNvPr>
            <p:cNvSpPr/>
            <p:nvPr/>
          </p:nvSpPr>
          <p:spPr>
            <a:xfrm>
              <a:off x="1470660" y="4572000"/>
              <a:ext cx="4457700" cy="28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613743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Installing Golang</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Golang Programming :</a:t>
            </a:r>
          </a:p>
          <a:p>
            <a:pPr lvl="1">
              <a:buFont typeface="Wingdings" panose="05000000000000000000" pitchFamily="2" charset="2"/>
              <a:buChar char="§"/>
            </a:pPr>
            <a:r>
              <a:rPr lang="en-US" altLang="ko-KR" sz="1400" dirty="0"/>
              <a:t>To install the Golang programming language, you need to see : </a:t>
            </a:r>
            <a:r>
              <a:rPr lang="en-US" altLang="ko-KR" sz="1400" b="1" dirty="0">
                <a:hlinkClick r:id="rId2"/>
              </a:rPr>
              <a:t>https://go.dev/dl/</a:t>
            </a:r>
            <a:r>
              <a:rPr lang="en-US" altLang="ko-KR" sz="1400" dirty="0"/>
              <a:t>. There are installation methods for Windows, Linux and MacOS. For Linux you can follow the next steps.</a:t>
            </a:r>
          </a:p>
          <a:p>
            <a:pPr lvl="1">
              <a:buFont typeface="Wingdings" panose="05000000000000000000" pitchFamily="2" charset="2"/>
              <a:buChar char="§"/>
            </a:pPr>
            <a:r>
              <a:rPr lang="en-US" altLang="ko-KR" sz="1400" b="1" dirty="0"/>
              <a:t>Step 01. Download the Golang executable image for Linux</a:t>
            </a:r>
            <a:r>
              <a:rPr lang="en-US" altLang="ko-KR" sz="1400" dirty="0"/>
              <a:t>.</a:t>
            </a:r>
          </a:p>
          <a:p>
            <a:pPr lvl="1">
              <a:buFont typeface="Wingdings" panose="05000000000000000000" pitchFamily="2" charset="2"/>
              <a:buChar char="§"/>
            </a:pPr>
            <a:r>
              <a:rPr lang="en-US" altLang="ko-KR" sz="1400" b="1" dirty="0"/>
              <a:t>Step 02. Extract the archive you downloaded into “/</a:t>
            </a:r>
            <a:r>
              <a:rPr lang="en-US" altLang="ko-KR" sz="1400" b="1" dirty="0" err="1"/>
              <a:t>usr</a:t>
            </a:r>
            <a:r>
              <a:rPr lang="en-US" altLang="ko-KR" sz="1400" b="1" dirty="0"/>
              <a:t>/local”, creating a Go tree in “/</a:t>
            </a:r>
            <a:r>
              <a:rPr lang="en-US" altLang="ko-KR" sz="1400" b="1" dirty="0" err="1"/>
              <a:t>usr</a:t>
            </a:r>
            <a:r>
              <a:rPr lang="en-US" altLang="ko-KR" sz="1400" b="1" dirty="0"/>
              <a:t>/local/go”</a:t>
            </a:r>
            <a:r>
              <a:rPr lang="en-US" altLang="ko-KR" sz="1400" dirty="0"/>
              <a:t>. Important: This step will </a:t>
            </a:r>
            <a:r>
              <a:rPr lang="en-US" altLang="ko-KR" sz="1400" b="1" dirty="0"/>
              <a:t>remove a previous installation at “</a:t>
            </a:r>
            <a:r>
              <a:rPr lang="en-US" altLang="ko-KR" sz="1400" b="1" dirty="0">
                <a:solidFill>
                  <a:srgbClr val="FF0000"/>
                </a:solidFill>
              </a:rPr>
              <a:t>/</a:t>
            </a:r>
            <a:r>
              <a:rPr lang="en-US" altLang="ko-KR" sz="1400" b="1" dirty="0" err="1">
                <a:solidFill>
                  <a:srgbClr val="FF0000"/>
                </a:solidFill>
              </a:rPr>
              <a:t>usr</a:t>
            </a:r>
            <a:r>
              <a:rPr lang="en-US" altLang="ko-KR" sz="1400" b="1" dirty="0">
                <a:solidFill>
                  <a:srgbClr val="FF0000"/>
                </a:solidFill>
              </a:rPr>
              <a:t>/local/go</a:t>
            </a:r>
            <a:r>
              <a:rPr lang="en-US" altLang="ko-KR" sz="1400" b="1" dirty="0"/>
              <a:t>”</a:t>
            </a:r>
            <a:r>
              <a:rPr lang="en-US" altLang="ko-KR" sz="1400" dirty="0"/>
              <a:t>, if any, prior to extracting. Please back up any data before proceeding. For example, run the following as root or through </a:t>
            </a:r>
            <a:r>
              <a:rPr lang="en-US" altLang="ko-KR" sz="1400" b="1" dirty="0" err="1"/>
              <a:t>sudo</a:t>
            </a:r>
            <a:r>
              <a:rPr lang="en-US" altLang="ko-KR" sz="1400" b="1" dirty="0"/>
              <a: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Step 03. Add “/</a:t>
            </a:r>
            <a:r>
              <a:rPr lang="en-US" altLang="ko-KR" sz="1400" b="1" dirty="0" err="1"/>
              <a:t>usr</a:t>
            </a:r>
            <a:r>
              <a:rPr lang="en-US" altLang="ko-KR" sz="1400" b="1" dirty="0"/>
              <a:t>/local/go/bin” to the “PATH” environment variable</a:t>
            </a:r>
            <a:r>
              <a:rPr lang="en-US" altLang="ko-KR" sz="1400" dirty="0"/>
              <a:t>. You can do this by adding the following line to your “</a:t>
            </a:r>
            <a:r>
              <a:rPr lang="en-US" altLang="ko-KR" sz="1400" b="1" dirty="0"/>
              <a:t>$HOME/.profile</a:t>
            </a:r>
            <a:r>
              <a:rPr lang="en-US" altLang="ko-KR" sz="1400" dirty="0"/>
              <a:t>” or “</a:t>
            </a:r>
            <a:r>
              <a:rPr lang="en-US" altLang="ko-KR" sz="1400" b="1" dirty="0"/>
              <a:t>/</a:t>
            </a:r>
            <a:r>
              <a:rPr lang="en-US" altLang="ko-KR" sz="1400" b="1" dirty="0" err="1"/>
              <a:t>etc</a:t>
            </a:r>
            <a:r>
              <a:rPr lang="en-US" altLang="ko-KR" sz="1400" b="1" dirty="0"/>
              <a:t>/profile</a:t>
            </a:r>
            <a:r>
              <a:rPr lang="en-US" altLang="ko-KR" sz="1400" dirty="0"/>
              <a:t>” (for a system-wide installation)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2">
              <a:buFont typeface="Wingdings" panose="05000000000000000000" pitchFamily="2" charset="2"/>
              <a:buChar char="§"/>
            </a:pPr>
            <a:r>
              <a:rPr lang="en-US" altLang="ko-KR" sz="1400" b="1" dirty="0"/>
              <a:t>Note: Changes made to a profile file may not apply until the next time you log into your computer</a:t>
            </a:r>
            <a:r>
              <a:rPr lang="en-US" altLang="ko-KR" sz="1400" dirty="0"/>
              <a:t>. To apply the changes immediately, just run the shell commands directly or execute them from the profile using a command such as “</a:t>
            </a:r>
            <a:r>
              <a:rPr lang="en-US" altLang="ko-KR" sz="1400" b="1" dirty="0">
                <a:solidFill>
                  <a:srgbClr val="FF0000"/>
                </a:solidFill>
              </a:rPr>
              <a:t>source $HOME/.profile</a:t>
            </a:r>
            <a:r>
              <a:rPr lang="en-US" altLang="ko-KR" sz="1400" dirty="0"/>
              <a:t>”. </a:t>
            </a:r>
            <a:r>
              <a:rPr lang="en-US" altLang="ko-KR" sz="1400" b="1" dirty="0"/>
              <a:t>For “GOPATH” and “GOBIN”, you need to create a directory in your “$HOME” with “</a:t>
            </a:r>
            <a:r>
              <a:rPr lang="en-US" altLang="ko-KR" sz="1400" b="1" dirty="0" err="1"/>
              <a:t>mkdir</a:t>
            </a:r>
            <a:r>
              <a:rPr lang="en-US" altLang="ko-KR" sz="1400" b="1" dirty="0"/>
              <a:t> $HOME/Go” command</a:t>
            </a:r>
            <a:r>
              <a:rPr lang="en-US" altLang="ko-KR" sz="1400" dirty="0"/>
              <a:t>. </a:t>
            </a:r>
            <a:r>
              <a:rPr lang="en-US" altLang="ko-KR" sz="1400" b="1" dirty="0"/>
              <a:t>The “Visual Studio Code” and Other tools like “Atom” will use these environment variables</a:t>
            </a:r>
            <a:r>
              <a:rPr lang="en-US" altLang="ko-KR" sz="1400" dirty="0"/>
              <a:t>.</a:t>
            </a:r>
          </a:p>
          <a:p>
            <a:pPr lvl="1">
              <a:buFont typeface="Wingdings" panose="05000000000000000000" pitchFamily="2" charset="2"/>
              <a:buChar char="§"/>
            </a:pPr>
            <a:r>
              <a:rPr lang="en-US" altLang="ko-KR" sz="1400" b="1" dirty="0"/>
              <a:t>Step 04. Verify that you've installed Go </a:t>
            </a:r>
            <a:r>
              <a:rPr lang="en-US" altLang="ko-KR" sz="1400" dirty="0"/>
              <a:t>by opening a command prompt and typing the following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843C132-7356-4D46-9C4D-ED3A02AB7E73}"/>
              </a:ext>
            </a:extLst>
          </p:cNvPr>
          <p:cNvSpPr/>
          <p:nvPr/>
        </p:nvSpPr>
        <p:spPr>
          <a:xfrm>
            <a:off x="3048000" y="2580642"/>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sudo</a:t>
            </a:r>
            <a:r>
              <a:rPr lang="en-US" altLang="ko-KR" sz="1000" b="1" dirty="0"/>
              <a:t> rm -rf /</a:t>
            </a:r>
            <a:r>
              <a:rPr lang="en-US" altLang="ko-KR" sz="1000" b="1" dirty="0" err="1"/>
              <a:t>usr</a:t>
            </a:r>
            <a:r>
              <a:rPr lang="en-US" altLang="ko-KR" sz="1000" b="1" dirty="0"/>
              <a:t>/local/go &amp;&amp; tar -C /</a:t>
            </a:r>
            <a:r>
              <a:rPr lang="en-US" altLang="ko-KR" sz="1000" b="1" dirty="0" err="1"/>
              <a:t>usr</a:t>
            </a:r>
            <a:r>
              <a:rPr lang="en-US" altLang="ko-KR" sz="1000" b="1" dirty="0"/>
              <a:t>/local -</a:t>
            </a:r>
            <a:r>
              <a:rPr lang="en-US" altLang="ko-KR" sz="1000" b="1" dirty="0" err="1"/>
              <a:t>xzf</a:t>
            </a:r>
            <a:r>
              <a:rPr lang="en-US" altLang="ko-KR" sz="1000" b="1" dirty="0"/>
              <a:t> </a:t>
            </a:r>
            <a:r>
              <a:rPr lang="en-US" altLang="ko-KR" sz="1000" b="1" dirty="0">
                <a:solidFill>
                  <a:srgbClr val="FF0000"/>
                </a:solidFill>
              </a:rPr>
              <a:t>go1.18.linux-amd64.tar.gz</a:t>
            </a:r>
          </a:p>
        </p:txBody>
      </p:sp>
      <p:sp>
        <p:nvSpPr>
          <p:cNvPr id="8" name="직사각형 7">
            <a:extLst>
              <a:ext uri="{FF2B5EF4-FFF2-40B4-BE49-F238E27FC236}">
                <a16:creationId xmlns:a16="http://schemas.microsoft.com/office/drawing/2014/main" id="{A19A36C7-4E39-4D66-A84D-F9636102C3CF}"/>
              </a:ext>
            </a:extLst>
          </p:cNvPr>
          <p:cNvSpPr/>
          <p:nvPr/>
        </p:nvSpPr>
        <p:spPr>
          <a:xfrm>
            <a:off x="3048000" y="3549323"/>
            <a:ext cx="6096000" cy="707886"/>
          </a:xfrm>
          <a:prstGeom prst="rect">
            <a:avLst/>
          </a:prstGeom>
          <a:ln>
            <a:solidFill>
              <a:schemeClr val="bg1">
                <a:lumMod val="50000"/>
              </a:schemeClr>
            </a:solidFill>
          </a:ln>
        </p:spPr>
        <p:txBody>
          <a:bodyPr wrap="square">
            <a:spAutoFit/>
          </a:bodyPr>
          <a:lstStyle/>
          <a:p>
            <a:r>
              <a:rPr lang="en-US" altLang="ko-KR" sz="1000" b="1" dirty="0"/>
              <a:t>export </a:t>
            </a:r>
            <a:r>
              <a:rPr lang="en-US" altLang="ko-KR" sz="1000" b="1" dirty="0">
                <a:solidFill>
                  <a:srgbClr val="FF0000"/>
                </a:solidFill>
              </a:rPr>
              <a:t>PATH</a:t>
            </a:r>
            <a:r>
              <a:rPr lang="en-US" altLang="ko-KR" sz="1000" b="1" dirty="0"/>
              <a:t>=$PATH:/</a:t>
            </a:r>
            <a:r>
              <a:rPr lang="en-US" altLang="ko-KR" sz="1000" b="1" dirty="0" err="1"/>
              <a:t>usr</a:t>
            </a:r>
            <a:r>
              <a:rPr lang="en-US" altLang="ko-KR" sz="1000" b="1" dirty="0"/>
              <a:t>/local/go/bin</a:t>
            </a:r>
          </a:p>
          <a:p>
            <a:r>
              <a:rPr lang="en-US" altLang="ko-KR" sz="1000" b="1" dirty="0"/>
              <a:t>export </a:t>
            </a:r>
            <a:r>
              <a:rPr lang="en-US" altLang="ko-KR" sz="1000" b="1" dirty="0">
                <a:solidFill>
                  <a:srgbClr val="FF0000"/>
                </a:solidFill>
              </a:rPr>
              <a:t>GOROOT</a:t>
            </a:r>
            <a:r>
              <a:rPr lang="en-US" altLang="ko-KR" sz="1000" b="1" dirty="0"/>
              <a:t>=/</a:t>
            </a:r>
            <a:r>
              <a:rPr lang="en-US" altLang="ko-KR" sz="1000" b="1" dirty="0" err="1"/>
              <a:t>usr</a:t>
            </a:r>
            <a:r>
              <a:rPr lang="en-US" altLang="ko-KR" sz="1000" b="1" dirty="0"/>
              <a:t>/local/go</a:t>
            </a:r>
          </a:p>
          <a:p>
            <a:r>
              <a:rPr lang="en-US" altLang="ko-KR" sz="1000" b="1" dirty="0"/>
              <a:t>export </a:t>
            </a:r>
            <a:r>
              <a:rPr lang="en-US" altLang="ko-KR" sz="1000" b="1" dirty="0">
                <a:solidFill>
                  <a:srgbClr val="FF0000"/>
                </a:solidFill>
              </a:rPr>
              <a:t>GOPATH</a:t>
            </a:r>
            <a:r>
              <a:rPr lang="en-US" altLang="ko-KR" sz="1000" b="1" dirty="0"/>
              <a:t>=$HOME/Go</a:t>
            </a:r>
          </a:p>
          <a:p>
            <a:r>
              <a:rPr lang="en-US" altLang="ko-KR" sz="1000" b="1" dirty="0"/>
              <a:t>export </a:t>
            </a:r>
            <a:r>
              <a:rPr lang="en-US" altLang="ko-KR" sz="1000" b="1" dirty="0">
                <a:solidFill>
                  <a:srgbClr val="FF0000"/>
                </a:solidFill>
              </a:rPr>
              <a:t>GOBIN</a:t>
            </a:r>
            <a:r>
              <a:rPr lang="en-US" altLang="ko-KR" sz="1000" b="1" dirty="0"/>
              <a:t>=$HOME/Go/bin</a:t>
            </a:r>
          </a:p>
        </p:txBody>
      </p:sp>
      <p:sp>
        <p:nvSpPr>
          <p:cNvPr id="9" name="직사각형 8">
            <a:extLst>
              <a:ext uri="{FF2B5EF4-FFF2-40B4-BE49-F238E27FC236}">
                <a16:creationId xmlns:a16="http://schemas.microsoft.com/office/drawing/2014/main" id="{D5D067E5-9577-4650-8C85-04720322AA54}"/>
              </a:ext>
            </a:extLst>
          </p:cNvPr>
          <p:cNvSpPr/>
          <p:nvPr/>
        </p:nvSpPr>
        <p:spPr>
          <a:xfrm>
            <a:off x="3048000" y="5837373"/>
            <a:ext cx="6096000" cy="246221"/>
          </a:xfrm>
          <a:prstGeom prst="rect">
            <a:avLst/>
          </a:prstGeom>
          <a:ln>
            <a:solidFill>
              <a:schemeClr val="bg1">
                <a:lumMod val="50000"/>
              </a:schemeClr>
            </a:solidFill>
          </a:ln>
        </p:spPr>
        <p:txBody>
          <a:bodyPr wrap="square">
            <a:spAutoFit/>
          </a:bodyPr>
          <a:lstStyle/>
          <a:p>
            <a:r>
              <a:rPr lang="en-US" altLang="ko-KR" sz="1000" b="1" dirty="0"/>
              <a:t>$ go version</a:t>
            </a:r>
          </a:p>
        </p:txBody>
      </p:sp>
    </p:spTree>
    <p:extLst>
      <p:ext uri="{BB962C8B-B14F-4D97-AF65-F5344CB8AC3E}">
        <p14:creationId xmlns:p14="http://schemas.microsoft.com/office/powerpoint/2010/main" val="15678582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Extensibility(15/18)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b="1" dirty="0"/>
              <a:t>Run the previous command </a:t>
            </a:r>
            <a:r>
              <a:rPr lang="en-US" altLang="ko-KR" sz="1400" dirty="0"/>
              <a:t>and you will get the following screenshot.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55824E11-EA6F-48E5-BCB1-3FB040D94AF6}"/>
              </a:ext>
            </a:extLst>
          </p:cNvPr>
          <p:cNvGrpSpPr/>
          <p:nvPr/>
        </p:nvGrpSpPr>
        <p:grpSpPr>
          <a:xfrm>
            <a:off x="3048000" y="1569019"/>
            <a:ext cx="6096000" cy="496001"/>
            <a:chOff x="3048000" y="1569019"/>
            <a:chExt cx="6096000" cy="496001"/>
          </a:xfrm>
        </p:grpSpPr>
        <p:sp>
          <p:nvSpPr>
            <p:cNvPr id="8" name="직사각형 7">
              <a:extLst>
                <a:ext uri="{FF2B5EF4-FFF2-40B4-BE49-F238E27FC236}">
                  <a16:creationId xmlns:a16="http://schemas.microsoft.com/office/drawing/2014/main" id="{46022D58-565B-4AEA-9BF4-3368BCA5C5E7}"/>
                </a:ext>
              </a:extLst>
            </p:cNvPr>
            <p:cNvSpPr/>
            <p:nvPr/>
          </p:nvSpPr>
          <p:spPr>
            <a:xfrm>
              <a:off x="3048000" y="1569019"/>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perl</a:t>
              </a:r>
              <a:r>
                <a:rPr lang="en-US" altLang="ko-KR" sz="1000" b="1" dirty="0"/>
                <a:t> -pi -e s/</a:t>
              </a:r>
              <a:r>
                <a:rPr lang="en-US" altLang="ko-KR" sz="1000" b="1" dirty="0">
                  <a:solidFill>
                    <a:srgbClr val="FF0000"/>
                  </a:solidFill>
                </a:rPr>
                <a:t>REPLACEME</a:t>
              </a:r>
              <a:r>
                <a:rPr lang="en-US" altLang="ko-KR" sz="1000" b="1" dirty="0"/>
                <a:t>/$(base64 </a:t>
              </a:r>
              <a:r>
                <a:rPr lang="en-US" altLang="ko-KR" sz="1000" b="1" dirty="0" err="1">
                  <a:solidFill>
                    <a:srgbClr val="FF0000"/>
                  </a:solidFill>
                </a:rPr>
                <a:t>server.csr</a:t>
              </a:r>
              <a:r>
                <a:rPr lang="en-US" altLang="ko-KR" sz="1000" b="1" dirty="0"/>
                <a:t> | tr -d '\n')/ </a:t>
              </a:r>
              <a:r>
                <a:rPr lang="en-US" altLang="ko-KR" sz="1000" b="1" dirty="0">
                  <a:solidFill>
                    <a:srgbClr val="FF0000"/>
                  </a:solidFill>
                </a:rPr>
                <a:t>admission-controller-</a:t>
              </a:r>
              <a:r>
                <a:rPr lang="en-US" altLang="ko-KR" sz="1000" b="1" dirty="0" err="1">
                  <a:solidFill>
                    <a:srgbClr val="FF0000"/>
                  </a:solidFill>
                </a:rPr>
                <a:t>csr.yaml</a:t>
              </a:r>
              <a:endParaRPr lang="ko-KR" altLang="en-US" sz="1000" b="1" dirty="0">
                <a:solidFill>
                  <a:srgbClr val="FF0000"/>
                </a:solidFill>
              </a:endParaRPr>
            </a:p>
          </p:txBody>
        </p:sp>
        <p:sp>
          <p:nvSpPr>
            <p:cNvPr id="4" name="화살표: 아래쪽 3">
              <a:extLst>
                <a:ext uri="{FF2B5EF4-FFF2-40B4-BE49-F238E27FC236}">
                  <a16:creationId xmlns:a16="http://schemas.microsoft.com/office/drawing/2014/main" id="{FBF9EE43-7D86-4DFB-9D77-5CC9616C29DD}"/>
                </a:ext>
              </a:extLst>
            </p:cNvPr>
            <p:cNvSpPr/>
            <p:nvPr/>
          </p:nvSpPr>
          <p:spPr>
            <a:xfrm>
              <a:off x="5886450" y="1828800"/>
              <a:ext cx="419100" cy="2362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37A4A6FC-26AC-4AB8-A047-3FE79EEBDBBF}"/>
              </a:ext>
            </a:extLst>
          </p:cNvPr>
          <p:cNvPicPr>
            <a:picLocks noChangeAspect="1"/>
          </p:cNvPicPr>
          <p:nvPr/>
        </p:nvPicPr>
        <p:blipFill>
          <a:blip r:embed="rId2"/>
          <a:stretch>
            <a:fillRect/>
          </a:stretch>
        </p:blipFill>
        <p:spPr>
          <a:xfrm>
            <a:off x="1333500" y="2074850"/>
            <a:ext cx="9525000" cy="1809750"/>
          </a:xfrm>
          <a:prstGeom prst="rect">
            <a:avLst/>
          </a:prstGeom>
          <a:ln>
            <a:solidFill>
              <a:schemeClr val="bg1">
                <a:lumMod val="50000"/>
              </a:schemeClr>
            </a:solidFill>
          </a:ln>
        </p:spPr>
      </p:pic>
      <p:grpSp>
        <p:nvGrpSpPr>
          <p:cNvPr id="13" name="그룹 12">
            <a:extLst>
              <a:ext uri="{FF2B5EF4-FFF2-40B4-BE49-F238E27FC236}">
                <a16:creationId xmlns:a16="http://schemas.microsoft.com/office/drawing/2014/main" id="{50AD9B40-14BF-4911-B6A1-3FD61B646C3B}"/>
              </a:ext>
            </a:extLst>
          </p:cNvPr>
          <p:cNvGrpSpPr/>
          <p:nvPr/>
        </p:nvGrpSpPr>
        <p:grpSpPr>
          <a:xfrm>
            <a:off x="5373941" y="3199473"/>
            <a:ext cx="5979860" cy="3209558"/>
            <a:chOff x="5373941" y="3199473"/>
            <a:chExt cx="5979860" cy="3209558"/>
          </a:xfrm>
        </p:grpSpPr>
        <p:pic>
          <p:nvPicPr>
            <p:cNvPr id="11" name="그림 10">
              <a:extLst>
                <a:ext uri="{FF2B5EF4-FFF2-40B4-BE49-F238E27FC236}">
                  <a16:creationId xmlns:a16="http://schemas.microsoft.com/office/drawing/2014/main" id="{9CB42229-E391-4001-9990-6F7AE90FCEAA}"/>
                </a:ext>
              </a:extLst>
            </p:cNvPr>
            <p:cNvPicPr>
              <a:picLocks noChangeAspect="1"/>
            </p:cNvPicPr>
            <p:nvPr/>
          </p:nvPicPr>
          <p:blipFill>
            <a:blip r:embed="rId3"/>
            <a:stretch>
              <a:fillRect/>
            </a:stretch>
          </p:blipFill>
          <p:spPr>
            <a:xfrm>
              <a:off x="5373941" y="3199473"/>
              <a:ext cx="5979860" cy="3209558"/>
            </a:xfrm>
            <a:prstGeom prst="rect">
              <a:avLst/>
            </a:prstGeom>
            <a:ln>
              <a:solidFill>
                <a:schemeClr val="bg1">
                  <a:lumMod val="50000"/>
                </a:schemeClr>
              </a:solidFill>
            </a:ln>
          </p:spPr>
        </p:pic>
        <p:sp>
          <p:nvSpPr>
            <p:cNvPr id="12" name="직사각형 11">
              <a:extLst>
                <a:ext uri="{FF2B5EF4-FFF2-40B4-BE49-F238E27FC236}">
                  <a16:creationId xmlns:a16="http://schemas.microsoft.com/office/drawing/2014/main" id="{F0845432-A6FA-4966-97D5-D078367B4554}"/>
                </a:ext>
              </a:extLst>
            </p:cNvPr>
            <p:cNvSpPr/>
            <p:nvPr/>
          </p:nvSpPr>
          <p:spPr>
            <a:xfrm>
              <a:off x="7459980" y="4472940"/>
              <a:ext cx="3291840" cy="152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807158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Extensibility(16/18)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dirty="0"/>
              <a:t>Now that </a:t>
            </a:r>
            <a:r>
              <a:rPr lang="en-US" altLang="ko-KR" sz="1400" b="1" dirty="0"/>
              <a:t>your certificate signing request is ready</a:t>
            </a:r>
            <a:r>
              <a:rPr lang="en-US" altLang="ko-KR" sz="1400" dirty="0"/>
              <a:t>, </a:t>
            </a:r>
            <a:r>
              <a:rPr lang="en-US" altLang="ko-KR" sz="1400" b="1" dirty="0"/>
              <a:t>you can send it to the API server to get the certificate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 Next, you need to </a:t>
            </a:r>
            <a:r>
              <a:rPr lang="en-US" altLang="ko-KR" sz="1400" b="1" dirty="0"/>
              <a:t>approve that request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Once approved, you can </a:t>
            </a:r>
            <a:r>
              <a:rPr lang="en-US" altLang="ko-KR" sz="1400" b="1" dirty="0"/>
              <a:t>download the new certificate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Before you run the final command, you need to install “</a:t>
            </a:r>
            <a:r>
              <a:rPr lang="en-US" altLang="ko-KR" sz="1400" b="1" dirty="0" err="1">
                <a:solidFill>
                  <a:srgbClr val="FF0000"/>
                </a:solidFill>
              </a:rPr>
              <a:t>jq</a:t>
            </a:r>
            <a:r>
              <a:rPr lang="en-US" altLang="ko-KR" sz="1400" b="1" dirty="0"/>
              <a:t>”. Use “</a:t>
            </a:r>
            <a:r>
              <a:rPr lang="en-US" altLang="ko-KR" sz="1400" b="1" dirty="0" err="1">
                <a:solidFill>
                  <a:srgbClr val="FF0000"/>
                </a:solidFill>
              </a:rPr>
              <a:t>sudo</a:t>
            </a:r>
            <a:r>
              <a:rPr lang="en-US" altLang="ko-KR" sz="1400" b="1" dirty="0">
                <a:solidFill>
                  <a:srgbClr val="FF0000"/>
                </a:solidFill>
              </a:rPr>
              <a:t> apt install </a:t>
            </a:r>
            <a:r>
              <a:rPr lang="en-US" altLang="ko-KR" sz="1400" b="1" dirty="0" err="1">
                <a:solidFill>
                  <a:srgbClr val="FF0000"/>
                </a:solidFill>
              </a:rPr>
              <a:t>jq</a:t>
            </a:r>
            <a:r>
              <a:rPr lang="en-US" altLang="ko-KR" sz="1400" b="1" dirty="0"/>
              <a:t>” command</a:t>
            </a:r>
            <a:r>
              <a:rPr lang="en-US" altLang="ko-KR" sz="1400" dirty="0"/>
              <a:t>. </a:t>
            </a:r>
            <a:r>
              <a:rPr lang="en-US" altLang="ko-KR" sz="1400" b="1" dirty="0"/>
              <a:t>I changed “server.crt” to “</a:t>
            </a:r>
            <a:r>
              <a:rPr lang="en-US" altLang="ko-KR" sz="1400" b="1" dirty="0">
                <a:solidFill>
                  <a:srgbClr val="FF0000"/>
                </a:solidFill>
              </a:rPr>
              <a:t>server01.crt</a:t>
            </a:r>
            <a:r>
              <a:rPr lang="en-US" altLang="ko-KR" sz="1400" b="1" dirty="0"/>
              <a:t>” to see the result from the commands</a:t>
            </a:r>
            <a:r>
              <a:rPr lang="en-US" altLang="ko-KR" sz="1400" dirty="0"/>
              <a:t>. You can also check other command results before “</a:t>
            </a:r>
            <a:r>
              <a:rPr lang="en-US" altLang="ko-KR" sz="1400" b="1" dirty="0"/>
              <a:t>filters</a:t>
            </a:r>
            <a:r>
              <a:rPr lang="en-US" altLang="ko-KR" sz="1400" dirty="0"/>
              <a:t>” in the command line.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1CB8269-D68D-453B-A071-C1E7027CDADB}"/>
              </a:ext>
            </a:extLst>
          </p:cNvPr>
          <p:cNvSpPr/>
          <p:nvPr/>
        </p:nvSpPr>
        <p:spPr>
          <a:xfrm>
            <a:off x="3025411" y="1491734"/>
            <a:ext cx="6592933"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admission-controller-</a:t>
            </a:r>
            <a:r>
              <a:rPr lang="en-US" altLang="ko-KR" sz="1000" b="1" dirty="0" err="1">
                <a:solidFill>
                  <a:srgbClr val="FF0000"/>
                </a:solidFill>
              </a:rPr>
              <a:t>csr.yaml</a:t>
            </a:r>
            <a:endParaRPr lang="ko-KR" altLang="en-US" sz="1000" b="1" dirty="0">
              <a:solidFill>
                <a:srgbClr val="FF0000"/>
              </a:solidFill>
            </a:endParaRPr>
          </a:p>
        </p:txBody>
      </p:sp>
      <p:sp>
        <p:nvSpPr>
          <p:cNvPr id="8" name="직사각형 7">
            <a:extLst>
              <a:ext uri="{FF2B5EF4-FFF2-40B4-BE49-F238E27FC236}">
                <a16:creationId xmlns:a16="http://schemas.microsoft.com/office/drawing/2014/main" id="{FEF658B3-150F-48EB-9B97-3314776D8EE0}"/>
              </a:ext>
            </a:extLst>
          </p:cNvPr>
          <p:cNvSpPr/>
          <p:nvPr/>
        </p:nvSpPr>
        <p:spPr>
          <a:xfrm>
            <a:off x="3025411" y="2232076"/>
            <a:ext cx="6592933" cy="246221"/>
          </a:xfrm>
          <a:prstGeom prst="rect">
            <a:avLst/>
          </a:prstGeom>
          <a:ln>
            <a:solidFill>
              <a:schemeClr val="bg1">
                <a:lumMod val="50000"/>
              </a:schemeClr>
            </a:solidFill>
          </a:ln>
        </p:spPr>
        <p:txBody>
          <a:bodyPr wrap="square">
            <a:spAutoFit/>
          </a:bodyPr>
          <a:lstStyle/>
          <a:p>
            <a:r>
              <a:rPr lang="en-US" altLang="ko-KR" sz="1000" b="1" dirty="0">
                <a:solidFill>
                  <a:prstClr val="black"/>
                </a:solidFill>
              </a:rPr>
              <a:t>$ </a:t>
            </a:r>
            <a:r>
              <a:rPr lang="en-US" altLang="ko-KR" sz="1000" b="1" dirty="0" err="1">
                <a:solidFill>
                  <a:prstClr val="black"/>
                </a:solidFill>
              </a:rPr>
              <a:t>kubectl</a:t>
            </a:r>
            <a:r>
              <a:rPr lang="en-US" altLang="ko-KR" sz="1000" b="1" dirty="0">
                <a:solidFill>
                  <a:prstClr val="black"/>
                </a:solidFill>
              </a:rPr>
              <a:t> certificate approve </a:t>
            </a:r>
            <a:r>
              <a:rPr lang="en-US" altLang="ko-KR" sz="1000" b="1" dirty="0">
                <a:solidFill>
                  <a:srgbClr val="FF0000"/>
                </a:solidFill>
              </a:rPr>
              <a:t>validating-</a:t>
            </a:r>
            <a:r>
              <a:rPr lang="en-US" altLang="ko-KR" sz="1000" b="1" dirty="0" err="1">
                <a:solidFill>
                  <a:srgbClr val="FF0000"/>
                </a:solidFill>
              </a:rPr>
              <a:t>controller.default</a:t>
            </a:r>
            <a:endParaRPr lang="ko-KR" altLang="en-US" sz="1100" b="1" dirty="0">
              <a:solidFill>
                <a:srgbClr val="FF0000"/>
              </a:solidFill>
            </a:endParaRPr>
          </a:p>
        </p:txBody>
      </p:sp>
      <p:sp>
        <p:nvSpPr>
          <p:cNvPr id="9" name="직사각형 8">
            <a:extLst>
              <a:ext uri="{FF2B5EF4-FFF2-40B4-BE49-F238E27FC236}">
                <a16:creationId xmlns:a16="http://schemas.microsoft.com/office/drawing/2014/main" id="{ABD61A29-1040-4B59-86A1-D562E8D8A80C}"/>
              </a:ext>
            </a:extLst>
          </p:cNvPr>
          <p:cNvSpPr/>
          <p:nvPr/>
        </p:nvSpPr>
        <p:spPr>
          <a:xfrm>
            <a:off x="3025411" y="3040998"/>
            <a:ext cx="6592934" cy="246221"/>
          </a:xfrm>
          <a:prstGeom prst="rect">
            <a:avLst/>
          </a:prstGeom>
          <a:ln>
            <a:solidFill>
              <a:schemeClr val="bg1">
                <a:lumMod val="50000"/>
              </a:schemeClr>
            </a:solidFill>
          </a:ln>
        </p:spPr>
        <p:txBody>
          <a:bodyPr wrap="square">
            <a:spAutoFit/>
          </a:bodyPr>
          <a:lstStyle/>
          <a:p>
            <a:r>
              <a:rPr lang="en-US" altLang="ko-KR" sz="1000" b="1" dirty="0">
                <a:solidFill>
                  <a:prstClr val="black"/>
                </a:solidFill>
              </a:rPr>
              <a:t>$ </a:t>
            </a:r>
            <a:r>
              <a:rPr lang="en-US" altLang="ko-KR" sz="1000" b="1" dirty="0" err="1">
                <a:solidFill>
                  <a:prstClr val="black"/>
                </a:solidFill>
              </a:rPr>
              <a:t>kubectl</a:t>
            </a:r>
            <a:r>
              <a:rPr lang="en-US" altLang="ko-KR" sz="1000" b="1" dirty="0">
                <a:solidFill>
                  <a:prstClr val="black"/>
                </a:solidFill>
              </a:rPr>
              <a:t> get </a:t>
            </a:r>
            <a:r>
              <a:rPr lang="en-US" altLang="ko-KR" sz="1000" b="1" dirty="0" err="1">
                <a:solidFill>
                  <a:prstClr val="black"/>
                </a:solidFill>
              </a:rPr>
              <a:t>csr</a:t>
            </a:r>
            <a:r>
              <a:rPr lang="en-US" altLang="ko-KR" sz="1000" b="1" dirty="0">
                <a:solidFill>
                  <a:prstClr val="black"/>
                </a:solidFill>
              </a:rPr>
              <a:t> </a:t>
            </a:r>
            <a:r>
              <a:rPr lang="en-US" altLang="ko-KR" sz="1000" b="1" dirty="0">
                <a:solidFill>
                  <a:srgbClr val="FF0000"/>
                </a:solidFill>
              </a:rPr>
              <a:t>validating-</a:t>
            </a:r>
            <a:r>
              <a:rPr lang="en-US" altLang="ko-KR" sz="1000" b="1" dirty="0" err="1">
                <a:solidFill>
                  <a:srgbClr val="FF0000"/>
                </a:solidFill>
              </a:rPr>
              <a:t>controller.default</a:t>
            </a:r>
            <a:r>
              <a:rPr lang="en-US" altLang="ko-KR" sz="1000" b="1" dirty="0">
                <a:solidFill>
                  <a:srgbClr val="FF0000"/>
                </a:solidFill>
              </a:rPr>
              <a:t> -o json </a:t>
            </a:r>
            <a:r>
              <a:rPr lang="en-US" altLang="ko-KR" sz="1000" b="1" dirty="0">
                <a:solidFill>
                  <a:prstClr val="black"/>
                </a:solidFill>
              </a:rPr>
              <a:t>| </a:t>
            </a:r>
            <a:r>
              <a:rPr lang="en-US" altLang="ko-KR" sz="1000" b="1" dirty="0" err="1">
                <a:solidFill>
                  <a:prstClr val="black"/>
                </a:solidFill>
              </a:rPr>
              <a:t>jq</a:t>
            </a:r>
            <a:r>
              <a:rPr lang="en-US" altLang="ko-KR" sz="1000" b="1" dirty="0">
                <a:solidFill>
                  <a:prstClr val="black"/>
                </a:solidFill>
              </a:rPr>
              <a:t> -r </a:t>
            </a:r>
            <a:r>
              <a:rPr lang="en-US" altLang="ko-KR" sz="1000" b="1" dirty="0">
                <a:solidFill>
                  <a:srgbClr val="FF0000"/>
                </a:solidFill>
              </a:rPr>
              <a:t>.</a:t>
            </a:r>
            <a:r>
              <a:rPr lang="en-US" altLang="ko-KR" sz="1000" b="1" dirty="0" err="1">
                <a:solidFill>
                  <a:srgbClr val="FF0000"/>
                </a:solidFill>
              </a:rPr>
              <a:t>status.certificate</a:t>
            </a:r>
            <a:r>
              <a:rPr lang="en-US" altLang="ko-KR" sz="1000" b="1" dirty="0">
                <a:solidFill>
                  <a:srgbClr val="FF0000"/>
                </a:solidFill>
              </a:rPr>
              <a:t> </a:t>
            </a:r>
            <a:r>
              <a:rPr lang="en-US" altLang="ko-KR" sz="1000" b="1" dirty="0">
                <a:solidFill>
                  <a:prstClr val="black"/>
                </a:solidFill>
              </a:rPr>
              <a:t>| base64 -d &gt; </a:t>
            </a:r>
            <a:r>
              <a:rPr lang="en-US" altLang="ko-KR" sz="1000" b="1" dirty="0">
                <a:solidFill>
                  <a:srgbClr val="FF0000"/>
                </a:solidFill>
              </a:rPr>
              <a:t>server01.crt</a:t>
            </a:r>
            <a:endParaRPr lang="ko-KR" altLang="en-US" sz="1100" b="1" dirty="0">
              <a:solidFill>
                <a:srgbClr val="FF0000"/>
              </a:solidFill>
            </a:endParaRPr>
          </a:p>
        </p:txBody>
      </p:sp>
      <p:grpSp>
        <p:nvGrpSpPr>
          <p:cNvPr id="12" name="그룹 11">
            <a:extLst>
              <a:ext uri="{FF2B5EF4-FFF2-40B4-BE49-F238E27FC236}">
                <a16:creationId xmlns:a16="http://schemas.microsoft.com/office/drawing/2014/main" id="{65088E4C-A0C4-40BE-B040-BAC15D2EEBFB}"/>
              </a:ext>
            </a:extLst>
          </p:cNvPr>
          <p:cNvGrpSpPr/>
          <p:nvPr/>
        </p:nvGrpSpPr>
        <p:grpSpPr>
          <a:xfrm>
            <a:off x="1348264" y="4183030"/>
            <a:ext cx="9495472" cy="2126636"/>
            <a:chOff x="1348264" y="4056728"/>
            <a:chExt cx="9495472" cy="2126636"/>
          </a:xfrm>
        </p:grpSpPr>
        <p:pic>
          <p:nvPicPr>
            <p:cNvPr id="10" name="그림 9">
              <a:extLst>
                <a:ext uri="{FF2B5EF4-FFF2-40B4-BE49-F238E27FC236}">
                  <a16:creationId xmlns:a16="http://schemas.microsoft.com/office/drawing/2014/main" id="{932578DE-BF46-4F2F-A435-7F24FFD107E2}"/>
                </a:ext>
              </a:extLst>
            </p:cNvPr>
            <p:cNvPicPr>
              <a:picLocks noChangeAspect="1"/>
            </p:cNvPicPr>
            <p:nvPr/>
          </p:nvPicPr>
          <p:blipFill>
            <a:blip r:embed="rId2"/>
            <a:stretch>
              <a:fillRect/>
            </a:stretch>
          </p:blipFill>
          <p:spPr>
            <a:xfrm>
              <a:off x="1348264" y="4056728"/>
              <a:ext cx="9495472" cy="2126636"/>
            </a:xfrm>
            <a:prstGeom prst="rect">
              <a:avLst/>
            </a:prstGeom>
            <a:ln>
              <a:solidFill>
                <a:schemeClr val="bg1">
                  <a:lumMod val="50000"/>
                </a:schemeClr>
              </a:solidFill>
            </a:ln>
          </p:spPr>
        </p:pic>
        <p:sp>
          <p:nvSpPr>
            <p:cNvPr id="11" name="직사각형 10">
              <a:extLst>
                <a:ext uri="{FF2B5EF4-FFF2-40B4-BE49-F238E27FC236}">
                  <a16:creationId xmlns:a16="http://schemas.microsoft.com/office/drawing/2014/main" id="{03C4908C-D7E3-4756-8CB0-88951167969E}"/>
                </a:ext>
              </a:extLst>
            </p:cNvPr>
            <p:cNvSpPr/>
            <p:nvPr/>
          </p:nvSpPr>
          <p:spPr>
            <a:xfrm>
              <a:off x="8016240" y="5553811"/>
              <a:ext cx="1013460"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086499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Extensibility(17/18)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b="1" dirty="0"/>
              <a:t>With the certificate, you are finally ready to create an SSL-based admission controller</a:t>
            </a:r>
            <a:r>
              <a:rPr lang="en-US" altLang="ko-KR" sz="1400" dirty="0"/>
              <a:t>. When the admission controller code receives a request, it contains an object of type “</a:t>
            </a:r>
            <a:r>
              <a:rPr lang="en-US" altLang="ko-KR" sz="1400" b="1" dirty="0" err="1"/>
              <a:t>AdmissionReview</a:t>
            </a:r>
            <a:r>
              <a:rPr lang="en-US" altLang="ko-KR" sz="1400" b="1" dirty="0"/>
              <a:t>”</a:t>
            </a:r>
            <a:r>
              <a:rPr lang="en-US" altLang="ko-KR" sz="1400" dirty="0"/>
              <a:t>, </a:t>
            </a:r>
            <a:r>
              <a:rPr lang="en-US" altLang="ko-KR" sz="1400" b="1" dirty="0"/>
              <a:t>which contains metadata about the request as well as the body of the request itself</a:t>
            </a:r>
            <a:r>
              <a:rPr lang="en-US" altLang="ko-KR" sz="1400" dirty="0"/>
              <a:t>. In our validating admission controller we have only registered for a single resource type and </a:t>
            </a:r>
            <a:r>
              <a:rPr lang="en-US" altLang="ko-KR" sz="1400" b="1" dirty="0"/>
              <a:t>a single action (CREATE)</a:t>
            </a:r>
            <a:r>
              <a:rPr lang="en-US" altLang="ko-KR" sz="1400" dirty="0"/>
              <a:t>, </a:t>
            </a:r>
            <a:r>
              <a:rPr lang="en-US" altLang="ko-KR" sz="1400" b="1" dirty="0"/>
              <a:t>so we don’t need to examine the request metadata</a:t>
            </a:r>
            <a:r>
              <a:rPr lang="en-US" altLang="ko-KR" sz="1400" dirty="0"/>
              <a:t>. Instead, we </a:t>
            </a:r>
            <a:r>
              <a:rPr lang="en-US" altLang="ko-KR" sz="1400" b="1" dirty="0"/>
              <a:t>dive directly into the resource itself and validate that </a:t>
            </a:r>
            <a:r>
              <a:rPr lang="en-US" altLang="ko-KR" sz="1400" dirty="0"/>
              <a:t>“</a:t>
            </a:r>
            <a:r>
              <a:rPr lang="en-US" altLang="ko-KR" sz="1400" b="1" dirty="0" err="1"/>
              <a:t>requestsPerSecond</a:t>
            </a:r>
            <a:r>
              <a:rPr lang="en-US" altLang="ko-KR" sz="1400" dirty="0"/>
              <a:t>” is positive and the “</a:t>
            </a:r>
            <a:r>
              <a:rPr lang="en-US" altLang="ko-KR" sz="1400" b="1" dirty="0"/>
              <a:t>URL scheme</a:t>
            </a:r>
            <a:r>
              <a:rPr lang="en-US" altLang="ko-KR" sz="1400" dirty="0"/>
              <a:t>” is valid. </a:t>
            </a:r>
            <a:r>
              <a:rPr lang="en-US" altLang="ko-KR" sz="1400" b="1" dirty="0"/>
              <a:t>If they aren’t, we return a JSON body disallowing the request</a:t>
            </a:r>
            <a:r>
              <a:rPr lang="en-US" altLang="ko-KR" sz="1400" dirty="0"/>
              <a:t>.</a:t>
            </a:r>
          </a:p>
          <a:p>
            <a:pPr lvl="1">
              <a:buFont typeface="Wingdings" panose="05000000000000000000" pitchFamily="2" charset="2"/>
              <a:buChar char="§"/>
            </a:pPr>
            <a:r>
              <a:rPr lang="en-US" altLang="ko-KR" sz="1400" b="1" dirty="0"/>
              <a:t>Implementing an admission controller to provide defaulting is similar to the steps just described</a:t>
            </a:r>
            <a:r>
              <a:rPr lang="en-US" altLang="ko-KR" sz="1400" dirty="0"/>
              <a:t>, but instead of using a “</a:t>
            </a:r>
            <a:r>
              <a:rPr lang="en-US" altLang="ko-KR" sz="1400" b="1" dirty="0" err="1"/>
              <a:t>ValidatingWebhookConfiguration</a:t>
            </a:r>
            <a:r>
              <a:rPr lang="en-US" altLang="ko-KR" sz="1400" dirty="0"/>
              <a:t>” you use a “</a:t>
            </a:r>
            <a:r>
              <a:rPr lang="en-US" altLang="ko-KR" sz="1400" b="1" dirty="0" err="1">
                <a:solidFill>
                  <a:srgbClr val="FF0000"/>
                </a:solidFill>
              </a:rPr>
              <a:t>MutatingWebhookConfiguration</a:t>
            </a:r>
            <a:r>
              <a:rPr lang="en-US" altLang="ko-KR" sz="1400" dirty="0"/>
              <a:t>”, and </a:t>
            </a:r>
            <a:r>
              <a:rPr lang="en-US" altLang="ko-KR" sz="1400" b="1" dirty="0"/>
              <a:t>you need to provide a </a:t>
            </a:r>
            <a:r>
              <a:rPr lang="en-US" altLang="ko-KR" sz="1400" b="1" dirty="0" err="1"/>
              <a:t>JSONPatch</a:t>
            </a:r>
            <a:r>
              <a:rPr lang="en-US" altLang="ko-KR" sz="1400" b="1" dirty="0"/>
              <a:t> object to </a:t>
            </a:r>
            <a:r>
              <a:rPr lang="en-US" altLang="ko-KR" sz="1400" b="1" dirty="0">
                <a:solidFill>
                  <a:srgbClr val="FF0000"/>
                </a:solidFill>
              </a:rPr>
              <a:t>mutate the request object </a:t>
            </a:r>
            <a:r>
              <a:rPr lang="en-US" altLang="ko-KR" sz="1400" b="1" dirty="0"/>
              <a:t>before it is stored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0C92E8E3-2421-4080-92A7-5A89E0CC2369}"/>
              </a:ext>
            </a:extLst>
          </p:cNvPr>
          <p:cNvGrpSpPr/>
          <p:nvPr/>
        </p:nvGrpSpPr>
        <p:grpSpPr>
          <a:xfrm>
            <a:off x="2657148" y="3337559"/>
            <a:ext cx="6877704" cy="2529841"/>
            <a:chOff x="2657148" y="3337559"/>
            <a:chExt cx="6877704" cy="2529841"/>
          </a:xfrm>
        </p:grpSpPr>
        <p:pic>
          <p:nvPicPr>
            <p:cNvPr id="4" name="그림 3">
              <a:extLst>
                <a:ext uri="{FF2B5EF4-FFF2-40B4-BE49-F238E27FC236}">
                  <a16:creationId xmlns:a16="http://schemas.microsoft.com/office/drawing/2014/main" id="{A1E622D5-4DF1-4BA2-A224-55E79FA14615}"/>
                </a:ext>
              </a:extLst>
            </p:cNvPr>
            <p:cNvPicPr>
              <a:picLocks noChangeAspect="1"/>
            </p:cNvPicPr>
            <p:nvPr/>
          </p:nvPicPr>
          <p:blipFill>
            <a:blip r:embed="rId2"/>
            <a:stretch>
              <a:fillRect/>
            </a:stretch>
          </p:blipFill>
          <p:spPr>
            <a:xfrm>
              <a:off x="2657148" y="3337559"/>
              <a:ext cx="6877704" cy="2529841"/>
            </a:xfrm>
            <a:prstGeom prst="rect">
              <a:avLst/>
            </a:prstGeom>
          </p:spPr>
        </p:pic>
        <p:sp>
          <p:nvSpPr>
            <p:cNvPr id="8" name="직사각형 7">
              <a:extLst>
                <a:ext uri="{FF2B5EF4-FFF2-40B4-BE49-F238E27FC236}">
                  <a16:creationId xmlns:a16="http://schemas.microsoft.com/office/drawing/2014/main" id="{6600CDE6-1119-468A-8857-162A0B621B8C}"/>
                </a:ext>
              </a:extLst>
            </p:cNvPr>
            <p:cNvSpPr/>
            <p:nvPr/>
          </p:nvSpPr>
          <p:spPr>
            <a:xfrm>
              <a:off x="5052060" y="3703320"/>
              <a:ext cx="838200" cy="5029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964404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Points of Extensibility(18/18)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Custom Resource Definition :</a:t>
            </a:r>
          </a:p>
          <a:p>
            <a:pPr lvl="1">
              <a:buFont typeface="Wingdings" panose="05000000000000000000" pitchFamily="2" charset="2"/>
              <a:buChar char="§"/>
            </a:pPr>
            <a:r>
              <a:rPr lang="en-US" altLang="ko-KR" sz="1400" dirty="0"/>
              <a:t>Here’s a “</a:t>
            </a:r>
            <a:r>
              <a:rPr lang="en-US" altLang="ko-KR" sz="1400" b="1" dirty="0"/>
              <a:t>TypeScript</a:t>
            </a:r>
            <a:r>
              <a:rPr lang="en-US" altLang="ko-KR" sz="1400" dirty="0"/>
              <a:t>” snippet that </a:t>
            </a:r>
            <a:r>
              <a:rPr lang="en-US" altLang="ko-KR" sz="1400" b="1" dirty="0"/>
              <a:t>you can add to your validating admission controller to add defaulting</a:t>
            </a:r>
            <a:r>
              <a:rPr lang="en-US" altLang="ko-KR" sz="1400" dirty="0"/>
              <a:t>. If the paths field in the “</a:t>
            </a:r>
            <a:r>
              <a:rPr lang="en-US" altLang="ko-KR" sz="1400" b="1" dirty="0" err="1"/>
              <a:t>loadtest</a:t>
            </a:r>
            <a:r>
              <a:rPr lang="en-US" altLang="ko-KR" sz="1400" dirty="0"/>
              <a:t>” is of length zero, add a single path for “</a:t>
            </a:r>
            <a:r>
              <a:rPr lang="en-US" altLang="ko-KR" sz="1400" b="1" dirty="0"/>
              <a:t>/index.html</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can then register this webhook as a </a:t>
            </a:r>
            <a:r>
              <a:rPr lang="en-US" altLang="ko-KR" sz="1400" dirty="0"/>
              <a:t>“</a:t>
            </a:r>
            <a:r>
              <a:rPr lang="en-US" altLang="ko-KR" sz="1400" b="1" dirty="0" err="1"/>
              <a:t>MutatingWebhookConfiguration</a:t>
            </a:r>
            <a:r>
              <a:rPr lang="en-US" altLang="ko-KR" sz="1400" dirty="0"/>
              <a:t>” </a:t>
            </a:r>
            <a:r>
              <a:rPr lang="en-US" altLang="ko-KR" sz="1400" b="1" dirty="0"/>
              <a:t>by simply changing the “</a:t>
            </a:r>
            <a:r>
              <a:rPr lang="en-US" altLang="ko-KR" sz="1400" b="1" dirty="0">
                <a:solidFill>
                  <a:srgbClr val="FF0000"/>
                </a:solidFill>
              </a:rPr>
              <a:t>kind</a:t>
            </a:r>
            <a:r>
              <a:rPr lang="en-US" altLang="ko-KR" sz="1400" b="1" dirty="0"/>
              <a:t>” field in the YAML object </a:t>
            </a:r>
            <a:r>
              <a:rPr lang="en-US" altLang="ko-KR" sz="1400" dirty="0"/>
              <a:t>and saving the file as “</a:t>
            </a:r>
            <a:r>
              <a:rPr lang="en-US" altLang="ko-KR" sz="1400" b="1" dirty="0" err="1"/>
              <a:t>mutatingcontroller.yaml</a:t>
            </a:r>
            <a:r>
              <a:rPr lang="en-US" altLang="ko-KR" sz="1400" dirty="0"/>
              <a:t>”. Then </a:t>
            </a:r>
            <a:r>
              <a:rPr lang="en-US" altLang="ko-KR" sz="1400" b="1" dirty="0"/>
              <a:t>create the controller </a:t>
            </a:r>
            <a:r>
              <a:rPr lang="en-US" altLang="ko-KR" sz="1400" dirty="0"/>
              <a:t>by running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48FA257-19A2-4AE3-8106-1984F407C9C9}"/>
              </a:ext>
            </a:extLst>
          </p:cNvPr>
          <p:cNvSpPr/>
          <p:nvPr/>
        </p:nvSpPr>
        <p:spPr>
          <a:xfrm>
            <a:off x="3048000" y="1697581"/>
            <a:ext cx="6096000" cy="1169551"/>
          </a:xfrm>
          <a:prstGeom prst="rect">
            <a:avLst/>
          </a:prstGeom>
          <a:ln>
            <a:solidFill>
              <a:schemeClr val="bg1">
                <a:lumMod val="50000"/>
              </a:schemeClr>
            </a:solidFill>
          </a:ln>
        </p:spPr>
        <p:txBody>
          <a:bodyPr>
            <a:spAutoFit/>
          </a:bodyPr>
          <a:lstStyle/>
          <a:p>
            <a:r>
              <a:rPr lang="en-US" altLang="ko-KR" sz="1000" b="1" dirty="0"/>
              <a:t>if (</a:t>
            </a:r>
            <a:r>
              <a:rPr lang="en-US" altLang="ko-KR" sz="1000" b="1" dirty="0" err="1"/>
              <a:t>needsPatch</a:t>
            </a:r>
            <a:r>
              <a:rPr lang="en-US" altLang="ko-KR" sz="1000" b="1" dirty="0"/>
              <a:t>(</a:t>
            </a:r>
            <a:r>
              <a:rPr lang="en-US" altLang="ko-KR" sz="1000" b="1" dirty="0" err="1"/>
              <a:t>loadtest</a:t>
            </a:r>
            <a:r>
              <a:rPr lang="en-US" altLang="ko-KR" sz="1000" b="1" dirty="0"/>
              <a:t>)) {</a:t>
            </a:r>
          </a:p>
          <a:p>
            <a:r>
              <a:rPr lang="en-US" altLang="ko-KR" sz="1000" b="1" dirty="0"/>
              <a:t>    const patch = [</a:t>
            </a:r>
          </a:p>
          <a:p>
            <a:r>
              <a:rPr lang="en-US" altLang="ko-KR" sz="1000" b="1" dirty="0"/>
              <a:t>        { 'op': 'add', 'path': '/spec/paths', 'value': ['/index.html'] },</a:t>
            </a:r>
          </a:p>
          <a:p>
            <a:r>
              <a:rPr lang="en-US" altLang="ko-KR" sz="1000" b="1" dirty="0"/>
              <a:t>    ]</a:t>
            </a:r>
          </a:p>
          <a:p>
            <a:r>
              <a:rPr lang="en-US" altLang="ko-KR" sz="1000" b="1" dirty="0"/>
              <a:t>    response['patch'] = </a:t>
            </a:r>
            <a:r>
              <a:rPr lang="en-US" altLang="ko-KR" sz="1000" b="1" dirty="0" err="1"/>
              <a:t>Buffer.from</a:t>
            </a:r>
            <a:r>
              <a:rPr lang="en-US" altLang="ko-KR" sz="1000" b="1" dirty="0"/>
              <a:t>(</a:t>
            </a:r>
            <a:r>
              <a:rPr lang="en-US" altLang="ko-KR" sz="1000" b="1" dirty="0" err="1"/>
              <a:t>JSON.stringify</a:t>
            </a:r>
            <a:r>
              <a:rPr lang="en-US" altLang="ko-KR" sz="1000" b="1" dirty="0"/>
              <a:t>(patch)).</a:t>
            </a:r>
            <a:r>
              <a:rPr lang="en-US" altLang="ko-KR" sz="1000" b="1" dirty="0" err="1"/>
              <a:t>toString</a:t>
            </a:r>
            <a:r>
              <a:rPr lang="en-US" altLang="ko-KR" sz="1000" b="1" dirty="0"/>
              <a:t>('base64’);</a:t>
            </a:r>
          </a:p>
          <a:p>
            <a:r>
              <a:rPr lang="en-US" altLang="ko-KR" sz="1000" b="1" dirty="0"/>
              <a:t>    response['</a:t>
            </a:r>
            <a:r>
              <a:rPr lang="en-US" altLang="ko-KR" sz="1000" b="1" dirty="0" err="1"/>
              <a:t>patchType</a:t>
            </a:r>
            <a:r>
              <a:rPr lang="en-US" altLang="ko-KR" sz="1000" b="1" dirty="0"/>
              <a:t>'] = '</a:t>
            </a:r>
            <a:r>
              <a:rPr lang="en-US" altLang="ko-KR" sz="1000" b="1" dirty="0" err="1"/>
              <a:t>JSONPatch</a:t>
            </a:r>
            <a:r>
              <a:rPr lang="en-US" altLang="ko-KR" sz="1000" b="1" dirty="0"/>
              <a:t>';</a:t>
            </a:r>
          </a:p>
          <a:p>
            <a:r>
              <a:rPr lang="en-US" altLang="ko-KR" sz="1000" b="1" dirty="0"/>
              <a:t>}</a:t>
            </a:r>
          </a:p>
        </p:txBody>
      </p:sp>
      <p:grpSp>
        <p:nvGrpSpPr>
          <p:cNvPr id="12" name="그룹 11">
            <a:extLst>
              <a:ext uri="{FF2B5EF4-FFF2-40B4-BE49-F238E27FC236}">
                <a16:creationId xmlns:a16="http://schemas.microsoft.com/office/drawing/2014/main" id="{0807EEFD-C48F-460A-8C4A-AA2082CC2CF3}"/>
              </a:ext>
            </a:extLst>
          </p:cNvPr>
          <p:cNvGrpSpPr/>
          <p:nvPr/>
        </p:nvGrpSpPr>
        <p:grpSpPr>
          <a:xfrm>
            <a:off x="1333500" y="3810563"/>
            <a:ext cx="9525000" cy="2313469"/>
            <a:chOff x="1333500" y="3810563"/>
            <a:chExt cx="9525000" cy="2313469"/>
          </a:xfrm>
        </p:grpSpPr>
        <p:sp>
          <p:nvSpPr>
            <p:cNvPr id="9" name="직사각형 8">
              <a:extLst>
                <a:ext uri="{FF2B5EF4-FFF2-40B4-BE49-F238E27FC236}">
                  <a16:creationId xmlns:a16="http://schemas.microsoft.com/office/drawing/2014/main" id="{E7E0D449-1935-4137-A7B7-142E197B5973}"/>
                </a:ext>
              </a:extLst>
            </p:cNvPr>
            <p:cNvSpPr/>
            <p:nvPr/>
          </p:nvSpPr>
          <p:spPr>
            <a:xfrm>
              <a:off x="3048000" y="3810563"/>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mutating-</a:t>
              </a:r>
              <a:r>
                <a:rPr lang="en-US" altLang="ko-KR" sz="1000" b="1" dirty="0" err="1">
                  <a:solidFill>
                    <a:srgbClr val="FF0000"/>
                  </a:solidFill>
                </a:rPr>
                <a:t>controller.yaml</a:t>
              </a:r>
              <a:endParaRPr lang="en-US" altLang="ko-KR" sz="1000" b="1" dirty="0">
                <a:solidFill>
                  <a:srgbClr val="FF0000"/>
                </a:solidFill>
              </a:endParaRPr>
            </a:p>
          </p:txBody>
        </p:sp>
        <p:sp>
          <p:nvSpPr>
            <p:cNvPr id="10" name="화살표: 아래쪽 9">
              <a:extLst>
                <a:ext uri="{FF2B5EF4-FFF2-40B4-BE49-F238E27FC236}">
                  <a16:creationId xmlns:a16="http://schemas.microsoft.com/office/drawing/2014/main" id="{9799A196-B79F-48B8-B74E-69463C5C7E84}"/>
                </a:ext>
              </a:extLst>
            </p:cNvPr>
            <p:cNvSpPr/>
            <p:nvPr/>
          </p:nvSpPr>
          <p:spPr>
            <a:xfrm>
              <a:off x="5882640" y="4056784"/>
              <a:ext cx="42672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D4F2D9CF-9F1B-4293-B233-78A72591A940}"/>
                </a:ext>
              </a:extLst>
            </p:cNvPr>
            <p:cNvPicPr>
              <a:picLocks noChangeAspect="1"/>
            </p:cNvPicPr>
            <p:nvPr/>
          </p:nvPicPr>
          <p:blipFill>
            <a:blip r:embed="rId2"/>
            <a:stretch>
              <a:fillRect/>
            </a:stretch>
          </p:blipFill>
          <p:spPr>
            <a:xfrm>
              <a:off x="1333500" y="4314282"/>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32314741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Patterns for Custom Resources(1/4)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Just Data : </a:t>
            </a:r>
          </a:p>
          <a:p>
            <a:pPr lvl="1">
              <a:buFont typeface="Wingdings" panose="05000000000000000000" pitchFamily="2" charset="2"/>
              <a:buChar char="§"/>
            </a:pPr>
            <a:r>
              <a:rPr lang="en-US" altLang="ko-KR" sz="1400" b="1" dirty="0"/>
              <a:t>The easiest pattern for API extension </a:t>
            </a:r>
            <a:r>
              <a:rPr lang="en-US" altLang="ko-KR" sz="1400" dirty="0"/>
              <a:t>is the notion of “</a:t>
            </a:r>
            <a:r>
              <a:rPr lang="en-US" altLang="ko-KR" sz="1400" b="1" dirty="0"/>
              <a:t>just data</a:t>
            </a:r>
            <a:r>
              <a:rPr lang="en-US" altLang="ko-KR" sz="1400" dirty="0"/>
              <a:t>.” In this pattern, </a:t>
            </a:r>
            <a:r>
              <a:rPr lang="en-US" altLang="ko-KR" sz="1400" b="1" dirty="0"/>
              <a:t>you are simply using the API server for storage and retrieval of information for your application</a:t>
            </a:r>
            <a:r>
              <a:rPr lang="en-US" altLang="ko-KR" sz="1400" dirty="0"/>
              <a:t>. </a:t>
            </a:r>
          </a:p>
          <a:p>
            <a:pPr lvl="1">
              <a:buFont typeface="Wingdings" panose="05000000000000000000" pitchFamily="2" charset="2"/>
              <a:buChar char="§"/>
            </a:pPr>
            <a:r>
              <a:rPr lang="en-US" altLang="ko-KR" sz="1400" b="1" dirty="0"/>
              <a:t>Note that you should not use the Kubernetes API server for application data storage</a:t>
            </a:r>
            <a:r>
              <a:rPr lang="en-US" altLang="ko-KR" sz="1400" dirty="0"/>
              <a:t>. The Kubernetes API server is not designed to be a key/value store for your app; </a:t>
            </a:r>
            <a:r>
              <a:rPr lang="en-US" altLang="ko-KR" sz="1400" b="1" dirty="0"/>
              <a:t>instead, API extensions should be control or configuration objects that help you manage the deployment or runtime of your application</a:t>
            </a:r>
            <a:r>
              <a:rPr lang="en-US" altLang="ko-KR" sz="1400" dirty="0"/>
              <a:t>. An example use case for the “</a:t>
            </a:r>
            <a:r>
              <a:rPr lang="en-US" altLang="ko-KR" sz="1400" b="1" dirty="0"/>
              <a:t>just data</a:t>
            </a:r>
            <a:r>
              <a:rPr lang="en-US" altLang="ko-KR" sz="1400" dirty="0"/>
              <a:t>” pattern might be “</a:t>
            </a:r>
            <a:r>
              <a:rPr lang="en-US" altLang="ko-KR" sz="1400" b="1" dirty="0">
                <a:solidFill>
                  <a:srgbClr val="FF0000"/>
                </a:solidFill>
              </a:rPr>
              <a:t>configuration for “canary deployments” of your application</a:t>
            </a:r>
            <a:r>
              <a:rPr lang="en-US" altLang="ko-KR" sz="1400" b="1" dirty="0"/>
              <a:t>”</a:t>
            </a:r>
            <a:r>
              <a:rPr lang="en-US" altLang="ko-KR" sz="1400" dirty="0"/>
              <a:t>—for example, directing 10% of all traffic to an experimental backend. </a:t>
            </a:r>
            <a:r>
              <a:rPr lang="en-US" altLang="ko-KR" sz="1400" b="1" dirty="0"/>
              <a:t>While in theory such configuration information could also be stored in a </a:t>
            </a:r>
            <a:r>
              <a:rPr lang="en-US" altLang="ko-KR" sz="1400" b="1" dirty="0" err="1"/>
              <a:t>ConfigMap</a:t>
            </a:r>
            <a:r>
              <a:rPr lang="en-US" altLang="ko-KR" sz="1400" dirty="0"/>
              <a:t>, </a:t>
            </a:r>
            <a:r>
              <a:rPr lang="en-US" altLang="ko-KR" sz="1400" b="1" dirty="0" err="1"/>
              <a:t>ConfigMaps</a:t>
            </a:r>
            <a:r>
              <a:rPr lang="en-US" altLang="ko-KR" sz="1400" b="1" dirty="0"/>
              <a:t> are essentially untyped, and sometimes using a more strongly typed API extension object provides clarity and ease of use</a:t>
            </a:r>
            <a:r>
              <a:rPr lang="en-US" altLang="ko-KR" sz="1400" dirty="0"/>
              <a:t>.</a:t>
            </a:r>
          </a:p>
          <a:p>
            <a:pPr lvl="1">
              <a:buFont typeface="Wingdings" panose="05000000000000000000" pitchFamily="2" charset="2"/>
              <a:buChar char="§"/>
            </a:pPr>
            <a:r>
              <a:rPr lang="en-US" altLang="ko-KR" sz="1400" b="1" dirty="0"/>
              <a:t>Extensions that are just data don’t need a corresponding controller to activate them, but they may have validating or mutating admission controllers to ensure that they are well formed</a:t>
            </a:r>
            <a:r>
              <a:rPr lang="en-US" altLang="ko-KR" sz="1400" dirty="0"/>
              <a:t>. For example, in the canary use case a validating controller might ensure that all percentages in the canary object sum to 100%.</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EC3804F-DD8B-4BEF-9D33-36D7FDADB2A5}"/>
              </a:ext>
            </a:extLst>
          </p:cNvPr>
          <p:cNvGrpSpPr/>
          <p:nvPr/>
        </p:nvGrpSpPr>
        <p:grpSpPr>
          <a:xfrm>
            <a:off x="4059705" y="3591718"/>
            <a:ext cx="4072589" cy="2738097"/>
            <a:chOff x="4059705" y="3591718"/>
            <a:chExt cx="4072589" cy="2738097"/>
          </a:xfrm>
        </p:grpSpPr>
        <p:pic>
          <p:nvPicPr>
            <p:cNvPr id="4" name="그림 3">
              <a:extLst>
                <a:ext uri="{FF2B5EF4-FFF2-40B4-BE49-F238E27FC236}">
                  <a16:creationId xmlns:a16="http://schemas.microsoft.com/office/drawing/2014/main" id="{FBC87B72-D3F6-42E1-85CA-0778550AF54F}"/>
                </a:ext>
              </a:extLst>
            </p:cNvPr>
            <p:cNvPicPr>
              <a:picLocks noChangeAspect="1"/>
            </p:cNvPicPr>
            <p:nvPr/>
          </p:nvPicPr>
          <p:blipFill>
            <a:blip r:embed="rId2"/>
            <a:stretch>
              <a:fillRect/>
            </a:stretch>
          </p:blipFill>
          <p:spPr>
            <a:xfrm>
              <a:off x="4059705" y="3591718"/>
              <a:ext cx="4072589" cy="2698090"/>
            </a:xfrm>
            <a:prstGeom prst="rect">
              <a:avLst/>
            </a:prstGeom>
          </p:spPr>
        </p:pic>
        <p:sp>
          <p:nvSpPr>
            <p:cNvPr id="9" name="TextBox 8">
              <a:extLst>
                <a:ext uri="{FF2B5EF4-FFF2-40B4-BE49-F238E27FC236}">
                  <a16:creationId xmlns:a16="http://schemas.microsoft.com/office/drawing/2014/main" id="{5830E577-8651-4BE8-B780-A76AE9595A49}"/>
                </a:ext>
              </a:extLst>
            </p:cNvPr>
            <p:cNvSpPr txBox="1"/>
            <p:nvPr/>
          </p:nvSpPr>
          <p:spPr>
            <a:xfrm>
              <a:off x="5406547" y="6083594"/>
              <a:ext cx="1378904" cy="246221"/>
            </a:xfrm>
            <a:prstGeom prst="rect">
              <a:avLst/>
            </a:prstGeom>
            <a:noFill/>
          </p:spPr>
          <p:txBody>
            <a:bodyPr wrap="none" rtlCol="0">
              <a:spAutoFit/>
            </a:bodyPr>
            <a:lstStyle/>
            <a:p>
              <a:pPr algn="ctr"/>
              <a:r>
                <a:rPr lang="en-US" altLang="ko-KR" sz="1000" b="1" dirty="0"/>
                <a:t>Canary deployment</a:t>
              </a:r>
              <a:endParaRPr lang="ko-KR" altLang="en-US" sz="1000" b="1" dirty="0"/>
            </a:p>
          </p:txBody>
        </p:sp>
      </p:grpSp>
    </p:spTree>
    <p:extLst>
      <p:ext uri="{BB962C8B-B14F-4D97-AF65-F5344CB8AC3E}">
        <p14:creationId xmlns:p14="http://schemas.microsoft.com/office/powerpoint/2010/main" val="23403185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Patterns for Custom Resources(2/4)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Compilers :</a:t>
            </a:r>
          </a:p>
          <a:p>
            <a:pPr lvl="1">
              <a:buFont typeface="Wingdings" panose="05000000000000000000" pitchFamily="2" charset="2"/>
              <a:buChar char="§"/>
            </a:pPr>
            <a:r>
              <a:rPr lang="en-US" altLang="ko-KR" sz="1400" dirty="0"/>
              <a:t>A slightly more complicated pattern is the “</a:t>
            </a:r>
            <a:r>
              <a:rPr lang="en-US" altLang="ko-KR" sz="1400" b="1" dirty="0">
                <a:solidFill>
                  <a:srgbClr val="FF0000"/>
                </a:solidFill>
              </a:rPr>
              <a:t>compiler</a:t>
            </a:r>
            <a:r>
              <a:rPr lang="en-US" altLang="ko-KR" sz="1400" dirty="0"/>
              <a:t>” or “</a:t>
            </a:r>
            <a:r>
              <a:rPr lang="en-US" altLang="ko-KR" sz="1400" b="1" dirty="0">
                <a:solidFill>
                  <a:srgbClr val="FF0000"/>
                </a:solidFill>
              </a:rPr>
              <a:t>abstraction</a:t>
            </a:r>
            <a:r>
              <a:rPr lang="en-US" altLang="ko-KR" sz="1400" dirty="0"/>
              <a:t>” pattern. In this pattern </a:t>
            </a:r>
            <a:r>
              <a:rPr lang="en-US" altLang="ko-KR" sz="1400" b="1" dirty="0"/>
              <a:t>the API extension object represents a higher-level abstraction that is “compiled” into a combination of lower-level Kubernetes objects</a:t>
            </a:r>
            <a:r>
              <a:rPr lang="en-US" altLang="ko-KR" sz="1400" dirty="0"/>
              <a:t>. The “</a:t>
            </a:r>
            <a:r>
              <a:rPr lang="en-US" altLang="ko-KR" sz="1400" b="1" dirty="0" err="1"/>
              <a:t>LoadTest</a:t>
            </a:r>
            <a:r>
              <a:rPr lang="en-US" altLang="ko-KR" sz="1400" b="1" dirty="0"/>
              <a:t>” extension</a:t>
            </a:r>
            <a:r>
              <a:rPr lang="en-US" altLang="ko-KR" sz="1400" dirty="0"/>
              <a:t> in the previous example is an example of this compiler abstraction pattern. </a:t>
            </a:r>
          </a:p>
          <a:p>
            <a:pPr lvl="1">
              <a:buFont typeface="Wingdings" panose="05000000000000000000" pitchFamily="2" charset="2"/>
              <a:buChar char="§"/>
            </a:pPr>
            <a:r>
              <a:rPr lang="en-US" altLang="ko-KR" sz="1400" b="1" dirty="0"/>
              <a:t>A user consumes the extension as a high-level concept, in this case a “</a:t>
            </a:r>
            <a:r>
              <a:rPr lang="en-US" altLang="ko-KR" sz="1400" b="1" dirty="0" err="1"/>
              <a:t>loadtest</a:t>
            </a:r>
            <a:r>
              <a:rPr lang="en-US" altLang="ko-KR" sz="1400" b="1" dirty="0"/>
              <a:t>”, but it comes into being by being deployed as a collection of Kubernetes Pods and services</a:t>
            </a:r>
            <a:r>
              <a:rPr lang="en-US" altLang="ko-KR" sz="1400" dirty="0"/>
              <a:t>. To achieve this, </a:t>
            </a:r>
            <a:r>
              <a:rPr lang="en-US" altLang="ko-KR" sz="1400" b="1" dirty="0">
                <a:solidFill>
                  <a:srgbClr val="FF0000"/>
                </a:solidFill>
              </a:rPr>
              <a:t>a compiled abstraction requires an API controller to be running somewhere in the cluster</a:t>
            </a:r>
            <a:r>
              <a:rPr lang="en-US" altLang="ko-KR" sz="1400" dirty="0"/>
              <a:t>, to watch the current “</a:t>
            </a:r>
            <a:r>
              <a:rPr lang="en-US" altLang="ko-KR" sz="1400" b="1" dirty="0" err="1"/>
              <a:t>LoadTests</a:t>
            </a:r>
            <a:r>
              <a:rPr lang="en-US" altLang="ko-KR" sz="1400" dirty="0"/>
              <a:t>” and </a:t>
            </a:r>
            <a:r>
              <a:rPr lang="en-US" altLang="ko-KR" sz="1400" b="1" dirty="0"/>
              <a:t>create the “compiled” representation </a:t>
            </a:r>
            <a:r>
              <a:rPr lang="en-US" altLang="ko-KR" sz="1400" dirty="0"/>
              <a:t>(and likewise delete representations that no longer exist). In contrast to the operator pattern described next, however, </a:t>
            </a:r>
            <a:r>
              <a:rPr lang="en-US" altLang="ko-KR" sz="1400" b="1" dirty="0">
                <a:solidFill>
                  <a:srgbClr val="FF0000"/>
                </a:solidFill>
              </a:rPr>
              <a:t>there is no online health maintenance for compiled abstractions</a:t>
            </a:r>
            <a:r>
              <a:rPr lang="en-US" altLang="ko-KR" sz="1400" dirty="0"/>
              <a:t>; </a:t>
            </a:r>
            <a:r>
              <a:rPr lang="en-US" altLang="ko-KR" sz="1400" b="1" dirty="0"/>
              <a:t>it is delegated down to the lower-level objects </a:t>
            </a:r>
            <a:r>
              <a:rPr lang="en-US" altLang="ko-KR" sz="1400" dirty="0"/>
              <a:t>(e.g., Pods).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A0A1903B-50EF-462B-9E75-F7C7AB072585}"/>
              </a:ext>
            </a:extLst>
          </p:cNvPr>
          <p:cNvGrpSpPr/>
          <p:nvPr/>
        </p:nvGrpSpPr>
        <p:grpSpPr>
          <a:xfrm>
            <a:off x="4009940" y="3001947"/>
            <a:ext cx="4172119" cy="3407083"/>
            <a:chOff x="4009940" y="3001947"/>
            <a:chExt cx="4172119" cy="3407083"/>
          </a:xfrm>
        </p:grpSpPr>
        <p:pic>
          <p:nvPicPr>
            <p:cNvPr id="4" name="그림 3">
              <a:extLst>
                <a:ext uri="{FF2B5EF4-FFF2-40B4-BE49-F238E27FC236}">
                  <a16:creationId xmlns:a16="http://schemas.microsoft.com/office/drawing/2014/main" id="{D80D7EC2-3430-440D-B718-30816AC01EEC}"/>
                </a:ext>
              </a:extLst>
            </p:cNvPr>
            <p:cNvPicPr>
              <a:picLocks noChangeAspect="1"/>
            </p:cNvPicPr>
            <p:nvPr/>
          </p:nvPicPr>
          <p:blipFill>
            <a:blip r:embed="rId2"/>
            <a:stretch>
              <a:fillRect/>
            </a:stretch>
          </p:blipFill>
          <p:spPr>
            <a:xfrm>
              <a:off x="4009940" y="3001947"/>
              <a:ext cx="4172119" cy="3407083"/>
            </a:xfrm>
            <a:prstGeom prst="rect">
              <a:avLst/>
            </a:prstGeom>
          </p:spPr>
        </p:pic>
        <p:sp>
          <p:nvSpPr>
            <p:cNvPr id="8" name="TextBox 7">
              <a:extLst>
                <a:ext uri="{FF2B5EF4-FFF2-40B4-BE49-F238E27FC236}">
                  <a16:creationId xmlns:a16="http://schemas.microsoft.com/office/drawing/2014/main" id="{1639F9D6-B657-495B-881B-77215DCB84D2}"/>
                </a:ext>
              </a:extLst>
            </p:cNvPr>
            <p:cNvSpPr txBox="1"/>
            <p:nvPr/>
          </p:nvSpPr>
          <p:spPr>
            <a:xfrm>
              <a:off x="6604310" y="4191000"/>
              <a:ext cx="888385" cy="246221"/>
            </a:xfrm>
            <a:prstGeom prst="rect">
              <a:avLst/>
            </a:prstGeom>
            <a:noFill/>
          </p:spPr>
          <p:txBody>
            <a:bodyPr wrap="none" rtlCol="0">
              <a:spAutoFit/>
            </a:bodyPr>
            <a:lstStyle/>
            <a:p>
              <a:pPr algn="ctr"/>
              <a:r>
                <a:rPr lang="en-US" altLang="ko-KR" sz="1000" b="1" dirty="0"/>
                <a:t>Abstraction</a:t>
              </a:r>
              <a:endParaRPr lang="ko-KR" altLang="en-US" sz="1000" b="1" dirty="0"/>
            </a:p>
          </p:txBody>
        </p:sp>
      </p:grpSp>
    </p:spTree>
    <p:extLst>
      <p:ext uri="{BB962C8B-B14F-4D97-AF65-F5344CB8AC3E}">
        <p14:creationId xmlns:p14="http://schemas.microsoft.com/office/powerpoint/2010/main" val="18867560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Patterns for Custom Resources(3/4)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Operators :</a:t>
            </a:r>
          </a:p>
          <a:p>
            <a:pPr lvl="1">
              <a:buFont typeface="Wingdings" panose="05000000000000000000" pitchFamily="2" charset="2"/>
              <a:buChar char="§"/>
            </a:pPr>
            <a:r>
              <a:rPr lang="en-US" altLang="ko-KR" sz="1400" b="1" dirty="0"/>
              <a:t>The “</a:t>
            </a:r>
            <a:r>
              <a:rPr lang="en-US" altLang="ko-KR" sz="1400" b="1" dirty="0">
                <a:solidFill>
                  <a:srgbClr val="FF0000"/>
                </a:solidFill>
              </a:rPr>
              <a:t>operator</a:t>
            </a:r>
            <a:r>
              <a:rPr lang="en-US" altLang="ko-KR" sz="1400" b="1" dirty="0"/>
              <a:t>” pattern provides online, proactive management of the resources created by the extensions</a:t>
            </a:r>
            <a:r>
              <a:rPr lang="en-US" altLang="ko-KR" sz="1400" dirty="0"/>
              <a:t>. These extensions likely provide a higher-level abstraction (for example, a database) that is compiled down to a lower-level representation, but </a:t>
            </a:r>
            <a:r>
              <a:rPr lang="en-US" altLang="ko-KR" sz="1400" b="1" dirty="0"/>
              <a:t>they also provide online functionality, such as “snapshot backups of the database”, or “upgrade notifications” when a new version of the software is available</a:t>
            </a:r>
            <a:r>
              <a:rPr lang="en-US" altLang="ko-KR" sz="1400" dirty="0"/>
              <a:t>. </a:t>
            </a:r>
          </a:p>
          <a:p>
            <a:pPr lvl="1">
              <a:buFont typeface="Wingdings" panose="05000000000000000000" pitchFamily="2" charset="2"/>
              <a:buChar char="§"/>
            </a:pPr>
            <a:r>
              <a:rPr lang="en-US" altLang="ko-KR" sz="1400" b="1" dirty="0"/>
              <a:t>To achieve this, the controller not only monitors the extension API to add or remove things as necessary, but also monitors the running state of the application supplied by the extension (e.g., a database) and takes actions to remediate unhealthy databases, take snapshots, or restore from a snapshot if a failure occurs</a:t>
            </a:r>
            <a:r>
              <a:rPr lang="en-US" altLang="ko-KR" sz="1400" dirty="0"/>
              <a:t>. Operators are the most complicated pattern for API extension of Kubernetes, but they are also the most powerful, enabling users to get easy access to “</a:t>
            </a:r>
            <a:r>
              <a:rPr lang="en-US" altLang="ko-KR" sz="1400" b="1" dirty="0"/>
              <a:t>self-driving</a:t>
            </a:r>
            <a:r>
              <a:rPr lang="en-US" altLang="ko-KR" sz="1400" dirty="0"/>
              <a:t>” abstractions that are responsible not just for </a:t>
            </a:r>
            <a:r>
              <a:rPr lang="en-US" altLang="ko-KR" sz="1400" b="1" dirty="0"/>
              <a:t>deployment</a:t>
            </a:r>
            <a:r>
              <a:rPr lang="en-US" altLang="ko-KR" sz="1400" dirty="0"/>
              <a:t>, but also </a:t>
            </a:r>
            <a:r>
              <a:rPr lang="en-US" altLang="ko-KR" sz="1400" b="1" dirty="0"/>
              <a:t>health checking </a:t>
            </a:r>
            <a:r>
              <a:rPr lang="en-US" altLang="ko-KR" sz="1400" dirty="0"/>
              <a:t>and </a:t>
            </a:r>
            <a:r>
              <a:rPr lang="en-US" altLang="ko-KR" sz="1400" b="1" dirty="0"/>
              <a:t>repair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E460409-1D38-4051-B5A4-81199B753D61}"/>
              </a:ext>
            </a:extLst>
          </p:cNvPr>
          <p:cNvPicPr>
            <a:picLocks noChangeAspect="1"/>
          </p:cNvPicPr>
          <p:nvPr/>
        </p:nvPicPr>
        <p:blipFill>
          <a:blip r:embed="rId2"/>
          <a:stretch>
            <a:fillRect/>
          </a:stretch>
        </p:blipFill>
        <p:spPr>
          <a:xfrm>
            <a:off x="3597164" y="3144297"/>
            <a:ext cx="4997672" cy="3264733"/>
          </a:xfrm>
          <a:prstGeom prst="rect">
            <a:avLst/>
          </a:prstGeom>
        </p:spPr>
      </p:pic>
    </p:spTree>
    <p:extLst>
      <p:ext uri="{BB962C8B-B14F-4D97-AF65-F5344CB8AC3E}">
        <p14:creationId xmlns:p14="http://schemas.microsoft.com/office/powerpoint/2010/main" val="11629551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Patterns for Custom Resources(4/4)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Started :</a:t>
            </a:r>
          </a:p>
          <a:p>
            <a:pPr lvl="1">
              <a:buFont typeface="Wingdings" panose="05000000000000000000" pitchFamily="2" charset="2"/>
              <a:buChar char="§"/>
            </a:pPr>
            <a:r>
              <a:rPr lang="en-US" altLang="ko-KR" sz="1400" b="1" dirty="0"/>
              <a:t>The </a:t>
            </a:r>
            <a:r>
              <a:rPr lang="en-US" altLang="ko-KR" sz="1400" b="1" dirty="0" err="1">
                <a:solidFill>
                  <a:srgbClr val="FF0000"/>
                </a:solidFill>
                <a:hlinkClick r:id="rId2"/>
              </a:rPr>
              <a:t>Kubebuilder</a:t>
            </a:r>
            <a:r>
              <a:rPr lang="en-US" altLang="ko-KR" sz="1400" b="1" dirty="0">
                <a:solidFill>
                  <a:srgbClr val="FF0000"/>
                </a:solidFill>
                <a:hlinkClick r:id="rId2"/>
              </a:rPr>
              <a:t> project</a:t>
            </a:r>
            <a:r>
              <a:rPr lang="en-US" altLang="ko-KR" sz="1400" b="1" dirty="0"/>
              <a:t> contains a library of code intended help you easily build reliable Kubernetes API extensions</a:t>
            </a:r>
            <a:r>
              <a:rPr lang="en-US" altLang="ko-KR" sz="1400" dirty="0"/>
              <a:t>. It’s a great resource to help you bootstrap your extension.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649B74A-239B-4374-AF30-4AD46CC8F9EF}"/>
              </a:ext>
            </a:extLst>
          </p:cNvPr>
          <p:cNvPicPr>
            <a:picLocks noChangeAspect="1"/>
          </p:cNvPicPr>
          <p:nvPr/>
        </p:nvPicPr>
        <p:blipFill>
          <a:blip r:embed="rId3"/>
          <a:stretch>
            <a:fillRect/>
          </a:stretch>
        </p:blipFill>
        <p:spPr>
          <a:xfrm>
            <a:off x="2865120" y="2136933"/>
            <a:ext cx="6461760" cy="3906972"/>
          </a:xfrm>
          <a:prstGeom prst="rect">
            <a:avLst/>
          </a:prstGeom>
        </p:spPr>
      </p:pic>
    </p:spTree>
    <p:extLst>
      <p:ext uri="{BB962C8B-B14F-4D97-AF65-F5344CB8AC3E}">
        <p14:creationId xmlns:p14="http://schemas.microsoft.com/office/powerpoint/2010/main" val="28259981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t>One of the great “superpowers” of Kubernetes is its ecosystem, and one of the most significant things powering this ecosystem is the </a:t>
            </a:r>
            <a:r>
              <a:rPr lang="en-US" altLang="ko-KR" sz="1400" b="1" dirty="0">
                <a:solidFill>
                  <a:srgbClr val="FF0000"/>
                </a:solidFill>
              </a:rPr>
              <a:t>extensibility of the Kubernetes API</a:t>
            </a:r>
            <a:r>
              <a:rPr lang="en-US" altLang="ko-KR" sz="1400" dirty="0"/>
              <a:t>. Whether you’re designing your own extensions to customize your cluster or consuming off-the-shelf extensions as utilities, cluster services, or operators, API extensions are the key to making your cluster your own and building the right environment for the rapid development of reliable applications.</a:t>
            </a:r>
          </a:p>
          <a:p>
            <a:pPr lvl="1">
              <a:buFont typeface="Wingdings" panose="05000000000000000000" pitchFamily="2" charset="2"/>
              <a:buChar char="§"/>
            </a:pPr>
            <a:r>
              <a:rPr lang="en-US" altLang="ko-KR" sz="1400" b="1" dirty="0"/>
              <a:t>TODO : In our example, TLS validation has a problem that it does not return “</a:t>
            </a:r>
            <a:r>
              <a:rPr lang="en-US" altLang="ko-KR" sz="1400" b="1" dirty="0" err="1"/>
              <a:t>status.certificates</a:t>
            </a:r>
            <a:r>
              <a:rPr lang="en-US" altLang="ko-KR" sz="1400" b="1" dirty="0"/>
              <a:t>” field in response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22450C2-522D-451B-9493-4F364A95EB8D}"/>
              </a:ext>
            </a:extLst>
          </p:cNvPr>
          <p:cNvPicPr>
            <a:picLocks noChangeAspect="1"/>
          </p:cNvPicPr>
          <p:nvPr/>
        </p:nvPicPr>
        <p:blipFill>
          <a:blip r:embed="rId2"/>
          <a:stretch>
            <a:fillRect/>
          </a:stretch>
        </p:blipFill>
        <p:spPr>
          <a:xfrm>
            <a:off x="3238500" y="2738926"/>
            <a:ext cx="5715000" cy="2857500"/>
          </a:xfrm>
          <a:prstGeom prst="rect">
            <a:avLst/>
          </a:prstGeom>
        </p:spPr>
      </p:pic>
    </p:spTree>
    <p:extLst>
      <p:ext uri="{BB962C8B-B14F-4D97-AF65-F5344CB8AC3E}">
        <p14:creationId xmlns:p14="http://schemas.microsoft.com/office/powerpoint/2010/main" val="24205460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Deploying Real-World Applications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88334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Jupyter</a:t>
            </a:r>
            <a:r>
              <a:rPr lang="en-US" altLang="ko-KR" sz="2800" b="1" dirty="0"/>
              <a:t>(1/6)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Web-based Interactive Scientific Notebook :</a:t>
            </a:r>
          </a:p>
          <a:p>
            <a:pPr lvl="1">
              <a:buFont typeface="Wingdings" panose="05000000000000000000" pitchFamily="2" charset="2"/>
              <a:buChar char="§"/>
            </a:pPr>
            <a:r>
              <a:rPr lang="en-US" altLang="ko-KR" sz="1400" b="1" dirty="0"/>
              <a:t>The </a:t>
            </a:r>
            <a:r>
              <a:rPr lang="en-US" altLang="ko-KR" sz="1400" b="1" dirty="0" err="1">
                <a:solidFill>
                  <a:srgbClr val="FF0000"/>
                </a:solidFill>
                <a:hlinkClick r:id="rId2"/>
              </a:rPr>
              <a:t>Jupyter</a:t>
            </a:r>
            <a:r>
              <a:rPr lang="en-US" altLang="ko-KR" sz="1400" b="1" dirty="0">
                <a:solidFill>
                  <a:srgbClr val="FF0000"/>
                </a:solidFill>
                <a:hlinkClick r:id="rId2"/>
              </a:rPr>
              <a:t> Project</a:t>
            </a:r>
            <a:r>
              <a:rPr lang="en-US" altLang="ko-KR" sz="1400" b="1" dirty="0"/>
              <a:t> is a web-based interactive scientific notebook for exploration and visualization</a:t>
            </a:r>
            <a:r>
              <a:rPr lang="en-US" altLang="ko-KR" sz="1400" dirty="0"/>
              <a:t>. It is used by students and scientists around the world to build and explore data and data visualizations. Because it is both simple to deploy and interesting to use, it’s a great first service to deploy on Kubernetes. </a:t>
            </a:r>
          </a:p>
          <a:p>
            <a:pPr lvl="1">
              <a:buFont typeface="Wingdings" panose="05000000000000000000" pitchFamily="2" charset="2"/>
              <a:buChar char="§"/>
            </a:pPr>
            <a:r>
              <a:rPr lang="en-US" altLang="ko-KR" sz="1400" b="1" dirty="0"/>
              <a:t>We begin by creating a </a:t>
            </a:r>
            <a:r>
              <a:rPr lang="en-US" altLang="ko-KR" sz="1400" b="1" dirty="0">
                <a:solidFill>
                  <a:srgbClr val="FF0000"/>
                </a:solidFill>
              </a:rPr>
              <a:t>namespace</a:t>
            </a:r>
            <a:r>
              <a:rPr lang="en-US" altLang="ko-KR" sz="1400" b="1" dirty="0"/>
              <a:t> to hold the </a:t>
            </a:r>
            <a:r>
              <a:rPr lang="en-US" altLang="ko-KR" sz="1400" b="1" dirty="0" err="1"/>
              <a:t>Jupyter</a:t>
            </a:r>
            <a:r>
              <a:rPr lang="en-US" altLang="ko-KR" sz="1400" b="1" dirty="0"/>
              <a:t> application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D76CE8A1-EF85-4140-8FF4-135BCC609C78}"/>
              </a:ext>
            </a:extLst>
          </p:cNvPr>
          <p:cNvGrpSpPr/>
          <p:nvPr/>
        </p:nvGrpSpPr>
        <p:grpSpPr>
          <a:xfrm>
            <a:off x="1687830" y="2139434"/>
            <a:ext cx="8816340" cy="3449111"/>
            <a:chOff x="1687830" y="2139434"/>
            <a:chExt cx="8816340" cy="3449111"/>
          </a:xfrm>
        </p:grpSpPr>
        <p:sp>
          <p:nvSpPr>
            <p:cNvPr id="8" name="직사각형 7">
              <a:extLst>
                <a:ext uri="{FF2B5EF4-FFF2-40B4-BE49-F238E27FC236}">
                  <a16:creationId xmlns:a16="http://schemas.microsoft.com/office/drawing/2014/main" id="{236C1BB0-EA81-468A-8042-9EF6304A4CDA}"/>
                </a:ext>
              </a:extLst>
            </p:cNvPr>
            <p:cNvSpPr/>
            <p:nvPr/>
          </p:nvSpPr>
          <p:spPr>
            <a:xfrm>
              <a:off x="3973100" y="2139434"/>
              <a:ext cx="42458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namespace </a:t>
              </a:r>
              <a:r>
                <a:rPr lang="en-US" altLang="ko-KR" sz="1000" b="1" dirty="0" err="1">
                  <a:solidFill>
                    <a:srgbClr val="FF0000"/>
                  </a:solidFill>
                </a:rPr>
                <a:t>jupyter</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A40989ED-3FBB-4196-8C1B-650C64AB4D7D}"/>
                </a:ext>
              </a:extLst>
            </p:cNvPr>
            <p:cNvSpPr/>
            <p:nvPr/>
          </p:nvSpPr>
          <p:spPr>
            <a:xfrm>
              <a:off x="5894070" y="2399652"/>
              <a:ext cx="403860" cy="2743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D3DBDF5C-D303-4D13-8CA3-632C1FC82EAA}"/>
                </a:ext>
              </a:extLst>
            </p:cNvPr>
            <p:cNvPicPr>
              <a:picLocks noChangeAspect="1"/>
            </p:cNvPicPr>
            <p:nvPr/>
          </p:nvPicPr>
          <p:blipFill>
            <a:blip r:embed="rId3"/>
            <a:stretch>
              <a:fillRect/>
            </a:stretch>
          </p:blipFill>
          <p:spPr>
            <a:xfrm>
              <a:off x="1687830" y="2687969"/>
              <a:ext cx="8816340" cy="2900576"/>
            </a:xfrm>
            <a:prstGeom prst="rect">
              <a:avLst/>
            </a:prstGeom>
            <a:ln>
              <a:solidFill>
                <a:schemeClr val="bg1">
                  <a:lumMod val="50000"/>
                </a:schemeClr>
              </a:solidFill>
            </a:ln>
          </p:spPr>
        </p:pic>
      </p:grpSp>
    </p:spTree>
    <p:extLst>
      <p:ext uri="{BB962C8B-B14F-4D97-AF65-F5344CB8AC3E}">
        <p14:creationId xmlns:p14="http://schemas.microsoft.com/office/powerpoint/2010/main" val="33829871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Jupyter</a:t>
            </a:r>
            <a:r>
              <a:rPr lang="en-US" altLang="ko-KR" sz="2800" b="1" dirty="0"/>
              <a:t>(2/6)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Web-based Interactive Scientific Notebook :</a:t>
            </a:r>
          </a:p>
          <a:p>
            <a:pPr lvl="1">
              <a:buFont typeface="Wingdings" panose="05000000000000000000" pitchFamily="2" charset="2"/>
              <a:buChar char="§"/>
            </a:pPr>
            <a:r>
              <a:rPr lang="en-US" altLang="ko-KR" sz="1400" b="1" dirty="0"/>
              <a:t>Create a deployment </a:t>
            </a:r>
            <a:r>
              <a:rPr lang="en-US" altLang="ko-KR" sz="1400" dirty="0"/>
              <a:t>of size one with the program itself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C51D84BE-181E-48A0-9494-8CFCB7310F28}"/>
              </a:ext>
            </a:extLst>
          </p:cNvPr>
          <p:cNvGrpSpPr/>
          <p:nvPr/>
        </p:nvGrpSpPr>
        <p:grpSpPr>
          <a:xfrm>
            <a:off x="1333500" y="3831264"/>
            <a:ext cx="9525000" cy="2368415"/>
            <a:chOff x="1333499" y="1461254"/>
            <a:chExt cx="9525000" cy="2368415"/>
          </a:xfrm>
        </p:grpSpPr>
        <p:sp>
          <p:nvSpPr>
            <p:cNvPr id="4" name="직사각형 3">
              <a:extLst>
                <a:ext uri="{FF2B5EF4-FFF2-40B4-BE49-F238E27FC236}">
                  <a16:creationId xmlns:a16="http://schemas.microsoft.com/office/drawing/2014/main" id="{C80F55A4-4098-4281-B037-9E5555BECCCB}"/>
                </a:ext>
              </a:extLst>
            </p:cNvPr>
            <p:cNvSpPr/>
            <p:nvPr/>
          </p:nvSpPr>
          <p:spPr>
            <a:xfrm>
              <a:off x="3797141" y="1461254"/>
              <a:ext cx="4597716"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jupyter.yaml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1663FF33-C8DA-4ED4-B3CE-882BE90799A1}"/>
                </a:ext>
              </a:extLst>
            </p:cNvPr>
            <p:cNvSpPr/>
            <p:nvPr/>
          </p:nvSpPr>
          <p:spPr>
            <a:xfrm>
              <a:off x="5882639" y="1722727"/>
              <a:ext cx="426720" cy="2819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4AB8030A-4CD1-4F21-9D26-C4891FBC7FD6}"/>
                </a:ext>
              </a:extLst>
            </p:cNvPr>
            <p:cNvPicPr>
              <a:picLocks noChangeAspect="1"/>
            </p:cNvPicPr>
            <p:nvPr/>
          </p:nvPicPr>
          <p:blipFill>
            <a:blip r:embed="rId2"/>
            <a:stretch>
              <a:fillRect/>
            </a:stretch>
          </p:blipFill>
          <p:spPr>
            <a:xfrm>
              <a:off x="1333499" y="2019919"/>
              <a:ext cx="9525000" cy="1809750"/>
            </a:xfrm>
            <a:prstGeom prst="rect">
              <a:avLst/>
            </a:prstGeom>
          </p:spPr>
        </p:pic>
      </p:grpSp>
      <p:grpSp>
        <p:nvGrpSpPr>
          <p:cNvPr id="19" name="그룹 18">
            <a:extLst>
              <a:ext uri="{FF2B5EF4-FFF2-40B4-BE49-F238E27FC236}">
                <a16:creationId xmlns:a16="http://schemas.microsoft.com/office/drawing/2014/main" id="{454F0BEB-95CC-41CD-AC4F-CB969A54731B}"/>
              </a:ext>
            </a:extLst>
          </p:cNvPr>
          <p:cNvGrpSpPr/>
          <p:nvPr/>
        </p:nvGrpSpPr>
        <p:grpSpPr>
          <a:xfrm>
            <a:off x="3543298" y="1489829"/>
            <a:ext cx="5105404" cy="2185213"/>
            <a:chOff x="3289454" y="1436700"/>
            <a:chExt cx="5105404" cy="2185213"/>
          </a:xfrm>
        </p:grpSpPr>
        <p:grpSp>
          <p:nvGrpSpPr>
            <p:cNvPr id="17" name="그룹 16">
              <a:extLst>
                <a:ext uri="{FF2B5EF4-FFF2-40B4-BE49-F238E27FC236}">
                  <a16:creationId xmlns:a16="http://schemas.microsoft.com/office/drawing/2014/main" id="{0530501A-6EAA-4F38-A5C0-6EA9928BAFB3}"/>
                </a:ext>
              </a:extLst>
            </p:cNvPr>
            <p:cNvGrpSpPr/>
            <p:nvPr/>
          </p:nvGrpSpPr>
          <p:grpSpPr>
            <a:xfrm>
              <a:off x="3289454" y="1436700"/>
              <a:ext cx="5105404" cy="1941622"/>
              <a:chOff x="1988820" y="1393190"/>
              <a:chExt cx="5105404" cy="1941622"/>
            </a:xfrm>
          </p:grpSpPr>
          <p:sp>
            <p:nvSpPr>
              <p:cNvPr id="15" name="직사각형 14">
                <a:extLst>
                  <a:ext uri="{FF2B5EF4-FFF2-40B4-BE49-F238E27FC236}">
                    <a16:creationId xmlns:a16="http://schemas.microsoft.com/office/drawing/2014/main" id="{82A15CE1-AF7A-4D56-B378-5B49C145DF24}"/>
                  </a:ext>
                </a:extLst>
              </p:cNvPr>
              <p:cNvSpPr/>
              <p:nvPr/>
            </p:nvSpPr>
            <p:spPr>
              <a:xfrm>
                <a:off x="1988820" y="1393190"/>
                <a:ext cx="2552702" cy="1938992"/>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labels:</a:t>
                </a:r>
              </a:p>
              <a:p>
                <a:r>
                  <a:rPr lang="en-US" altLang="ko-KR" sz="1000" b="1" dirty="0"/>
                  <a:t>    </a:t>
                </a:r>
                <a:r>
                  <a:rPr lang="en-US" altLang="ko-KR" sz="1000" b="1" dirty="0">
                    <a:solidFill>
                      <a:srgbClr val="FF0000"/>
                    </a:solidFill>
                  </a:rPr>
                  <a:t>app: </a:t>
                </a:r>
                <a:r>
                  <a:rPr lang="en-US" altLang="ko-KR" sz="1000" b="1" dirty="0" err="1">
                    <a:solidFill>
                      <a:srgbClr val="FF0000"/>
                    </a:solidFill>
                  </a:rPr>
                  <a:t>jupyter</a:t>
                </a:r>
                <a:endParaRPr lang="en-US" altLang="ko-KR" sz="1000" b="1" dirty="0">
                  <a:solidFill>
                    <a:srgbClr val="FF0000"/>
                  </a:solidFill>
                </a:endParaRPr>
              </a:p>
              <a:p>
                <a:r>
                  <a:rPr lang="en-US" altLang="ko-KR" sz="1000" b="1" dirty="0"/>
                  <a:t>  name: </a:t>
                </a:r>
                <a:r>
                  <a:rPr lang="en-US" altLang="ko-KR" sz="1000" b="1" dirty="0" err="1"/>
                  <a:t>jupyter</a:t>
                </a:r>
                <a:endParaRPr lang="en-US" altLang="ko-KR" sz="1000" b="1" dirty="0"/>
              </a:p>
              <a:p>
                <a:r>
                  <a:rPr lang="en-US" altLang="ko-KR" sz="1000" b="1" dirty="0"/>
                  <a:t>  namespace: </a:t>
                </a:r>
                <a:r>
                  <a:rPr lang="en-US" altLang="ko-KR" sz="1000" b="1" dirty="0" err="1"/>
                  <a:t>jupyter</a:t>
                </a:r>
                <a:endParaRPr lang="en-US" altLang="ko-KR" sz="1000" b="1" dirty="0"/>
              </a:p>
              <a:p>
                <a:r>
                  <a:rPr lang="en-US" altLang="ko-KR" sz="1000" b="1" dirty="0"/>
                  <a:t>spec:</a:t>
                </a:r>
              </a:p>
              <a:p>
                <a:r>
                  <a:rPr lang="en-US" altLang="ko-KR" sz="1000" b="1" dirty="0"/>
                  <a:t>  replicas: </a:t>
                </a:r>
                <a:r>
                  <a:rPr lang="en-US" altLang="ko-KR" sz="1000" b="1" dirty="0">
                    <a:solidFill>
                      <a:srgbClr val="FF0000"/>
                    </a:solidFill>
                  </a:rPr>
                  <a:t>1</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t>
                </a:r>
                <a:r>
                  <a:rPr lang="en-US" altLang="ko-KR" sz="1000" b="1" dirty="0">
                    <a:solidFill>
                      <a:srgbClr val="FF0000"/>
                    </a:solidFill>
                  </a:rPr>
                  <a:t>app: </a:t>
                </a:r>
                <a:r>
                  <a:rPr lang="en-US" altLang="ko-KR" sz="1000" b="1" dirty="0" err="1">
                    <a:solidFill>
                      <a:srgbClr val="FF0000"/>
                    </a:solidFill>
                  </a:rPr>
                  <a:t>jupyter</a:t>
                </a:r>
                <a:endParaRPr lang="en-US" altLang="ko-KR" sz="1000" b="1" dirty="0">
                  <a:solidFill>
                    <a:srgbClr val="FF0000"/>
                  </a:solidFill>
                </a:endParaRPr>
              </a:p>
            </p:txBody>
          </p:sp>
          <p:sp>
            <p:nvSpPr>
              <p:cNvPr id="16" name="직사각형 15">
                <a:extLst>
                  <a:ext uri="{FF2B5EF4-FFF2-40B4-BE49-F238E27FC236}">
                    <a16:creationId xmlns:a16="http://schemas.microsoft.com/office/drawing/2014/main" id="{5785CDAA-DA44-4316-992F-489B6AE20F41}"/>
                  </a:ext>
                </a:extLst>
              </p:cNvPr>
              <p:cNvSpPr/>
              <p:nvPr/>
            </p:nvSpPr>
            <p:spPr>
              <a:xfrm>
                <a:off x="4541522" y="1395820"/>
                <a:ext cx="2552702" cy="1938992"/>
              </a:xfrm>
              <a:prstGeom prst="rect">
                <a:avLst/>
              </a:prstGeom>
              <a:ln>
                <a:solidFill>
                  <a:schemeClr val="bg1">
                    <a:lumMod val="50000"/>
                  </a:schemeClr>
                </a:solidFill>
              </a:ln>
            </p:spPr>
            <p:txBody>
              <a:bodyPr wrap="square">
                <a:spAutoFit/>
              </a:bodyPr>
              <a:lstStyle/>
              <a:p>
                <a:pPr lvl="0"/>
                <a:r>
                  <a:rPr lang="en-US" altLang="ko-KR" sz="1000" b="1" dirty="0">
                    <a:solidFill>
                      <a:prstClr val="black"/>
                    </a:solidFill>
                  </a:rPr>
                  <a:t> template:</a:t>
                </a:r>
              </a:p>
              <a:p>
                <a:pPr lvl="0"/>
                <a:r>
                  <a:rPr lang="en-US" altLang="ko-KR" sz="1000" b="1" dirty="0">
                    <a:solidFill>
                      <a:prstClr val="black"/>
                    </a:solidFill>
                  </a:rPr>
                  <a:t>    metadata:</a:t>
                </a:r>
              </a:p>
              <a:p>
                <a:pPr lvl="0"/>
                <a:r>
                  <a:rPr lang="en-US" altLang="ko-KR" sz="1000" b="1" dirty="0">
                    <a:solidFill>
                      <a:prstClr val="black"/>
                    </a:solidFill>
                  </a:rPr>
                  <a:t>      labels:</a:t>
                </a:r>
              </a:p>
              <a:p>
                <a:pPr lvl="0"/>
                <a:r>
                  <a:rPr lang="en-US" altLang="ko-KR" sz="1000" b="1" dirty="0">
                    <a:solidFill>
                      <a:srgbClr val="FF0000"/>
                    </a:solidFill>
                  </a:rPr>
                  <a:t>        app: </a:t>
                </a:r>
                <a:r>
                  <a:rPr lang="en-US" altLang="ko-KR" sz="1000" b="1" dirty="0" err="1">
                    <a:solidFill>
                      <a:srgbClr val="FF0000"/>
                    </a:solidFill>
                  </a:rPr>
                  <a:t>jupyter</a:t>
                </a:r>
                <a:endParaRPr lang="en-US" altLang="ko-KR" sz="1000" b="1" dirty="0">
                  <a:solidFill>
                    <a:srgbClr val="FF0000"/>
                  </a:solidFill>
                </a:endParaRPr>
              </a:p>
              <a:p>
                <a:pPr lvl="0"/>
                <a:r>
                  <a:rPr lang="en-US" altLang="ko-KR" sz="1000" b="1" dirty="0">
                    <a:solidFill>
                      <a:prstClr val="black"/>
                    </a:solidFill>
                  </a:rPr>
                  <a:t>    spec:</a:t>
                </a:r>
              </a:p>
              <a:p>
                <a:pPr lvl="0"/>
                <a:r>
                  <a:rPr lang="en-US" altLang="ko-KR" sz="1000" b="1" dirty="0">
                    <a:solidFill>
                      <a:prstClr val="black"/>
                    </a:solidFill>
                  </a:rPr>
                  <a:t>      containers:</a:t>
                </a:r>
              </a:p>
              <a:p>
                <a:pPr lvl="0"/>
                <a:r>
                  <a:rPr lang="en-US" altLang="ko-KR" sz="1000" b="1" dirty="0">
                    <a:solidFill>
                      <a:prstClr val="black"/>
                    </a:solidFill>
                  </a:rPr>
                  <a:t>        - image: </a:t>
                </a:r>
                <a:r>
                  <a:rPr lang="en-US" altLang="ko-KR" sz="1000" b="1" dirty="0" err="1">
                    <a:solidFill>
                      <a:srgbClr val="FF0000"/>
                    </a:solidFill>
                  </a:rPr>
                  <a:t>jupyter</a:t>
                </a:r>
                <a:r>
                  <a:rPr lang="en-US" altLang="ko-KR" sz="1000" b="1" dirty="0">
                    <a:solidFill>
                      <a:srgbClr val="FF0000"/>
                    </a:solidFill>
                  </a:rPr>
                  <a:t>/</a:t>
                </a:r>
                <a:r>
                  <a:rPr lang="en-US" altLang="ko-KR" sz="1000" b="1" dirty="0" err="1">
                    <a:solidFill>
                      <a:srgbClr val="FF0000"/>
                    </a:solidFill>
                  </a:rPr>
                  <a:t>scipy</a:t>
                </a:r>
                <a:r>
                  <a:rPr lang="en-US" altLang="ko-KR" sz="1000" b="1" dirty="0">
                    <a:solidFill>
                      <a:srgbClr val="FF0000"/>
                    </a:solidFill>
                  </a:rPr>
                  <a:t>-notebook</a:t>
                </a:r>
              </a:p>
              <a:p>
                <a:pPr lvl="0"/>
                <a:r>
                  <a:rPr lang="en-US" altLang="ko-KR" sz="1000" b="1" dirty="0">
                    <a:solidFill>
                      <a:prstClr val="black"/>
                    </a:solidFill>
                  </a:rPr>
                  <a:t>          name: </a:t>
                </a:r>
                <a:r>
                  <a:rPr lang="en-US" altLang="ko-KR" sz="1000" b="1" dirty="0" err="1">
                    <a:solidFill>
                      <a:prstClr val="black"/>
                    </a:solidFill>
                  </a:rPr>
                  <a:t>jupyter</a:t>
                </a:r>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p:txBody>
          </p:sp>
        </p:grpSp>
        <p:sp>
          <p:nvSpPr>
            <p:cNvPr id="18" name="TextBox 17">
              <a:extLst>
                <a:ext uri="{FF2B5EF4-FFF2-40B4-BE49-F238E27FC236}">
                  <a16:creationId xmlns:a16="http://schemas.microsoft.com/office/drawing/2014/main" id="{8FE54ED9-BE7C-4B24-8500-13BB554FB6BE}"/>
                </a:ext>
              </a:extLst>
            </p:cNvPr>
            <p:cNvSpPr txBox="1"/>
            <p:nvPr/>
          </p:nvSpPr>
          <p:spPr>
            <a:xfrm>
              <a:off x="5370712" y="3375692"/>
              <a:ext cx="942887" cy="246221"/>
            </a:xfrm>
            <a:prstGeom prst="rect">
              <a:avLst/>
            </a:prstGeom>
            <a:noFill/>
          </p:spPr>
          <p:txBody>
            <a:bodyPr wrap="none" rtlCol="0">
              <a:spAutoFit/>
            </a:bodyPr>
            <a:lstStyle/>
            <a:p>
              <a:pPr algn="ctr"/>
              <a:r>
                <a:rPr lang="en-US" altLang="ko-KR" sz="1000" b="1" dirty="0" err="1"/>
                <a:t>jupyter.yaml</a:t>
              </a:r>
              <a:endParaRPr lang="ko-KR" altLang="en-US" sz="1000" b="1" dirty="0"/>
            </a:p>
          </p:txBody>
        </p:sp>
      </p:grpSp>
    </p:spTree>
    <p:extLst>
      <p:ext uri="{BB962C8B-B14F-4D97-AF65-F5344CB8AC3E}">
        <p14:creationId xmlns:p14="http://schemas.microsoft.com/office/powerpoint/2010/main" val="2972420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Jupyter</a:t>
            </a:r>
            <a:r>
              <a:rPr lang="en-US" altLang="ko-KR" sz="2800" b="1" dirty="0"/>
              <a:t>(3/6)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Web-based Interactive Scientific Notebook :</a:t>
            </a:r>
          </a:p>
          <a:p>
            <a:pPr lvl="1">
              <a:buFont typeface="Wingdings" panose="05000000000000000000" pitchFamily="2" charset="2"/>
              <a:buChar char="§"/>
            </a:pPr>
            <a:r>
              <a:rPr lang="en-US" altLang="ko-KR" sz="1400" b="1" dirty="0"/>
              <a:t>Now you need to wait for the container to be created. The “</a:t>
            </a:r>
            <a:r>
              <a:rPr lang="en-US" altLang="ko-KR" sz="1400" b="1" dirty="0" err="1"/>
              <a:t>Jupyter</a:t>
            </a:r>
            <a:r>
              <a:rPr lang="en-US" altLang="ko-KR" sz="1400" b="1" dirty="0"/>
              <a:t>” container is quite large (2 GB at the time of writing), and thus it may take a few minutes to start up</a:t>
            </a:r>
            <a:r>
              <a:rPr lang="en-US" altLang="ko-KR" sz="1400" dirty="0"/>
              <a:t>. You can wait for the container to become ready using the “</a:t>
            </a:r>
            <a:r>
              <a:rPr lang="en-US" altLang="ko-KR" sz="1400" b="1" dirty="0"/>
              <a:t>watch</a:t>
            </a:r>
            <a:r>
              <a:rPr lang="en-US" altLang="ko-KR" sz="1400" dirty="0"/>
              <a:t>” command (on macOS, you’ll need to install this command using “</a:t>
            </a:r>
            <a:r>
              <a:rPr lang="en-US" altLang="ko-KR" sz="1400" b="1" dirty="0"/>
              <a:t>brew install watch</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F774A6A-86C9-40A6-B568-83F40F83D557}"/>
              </a:ext>
            </a:extLst>
          </p:cNvPr>
          <p:cNvGrpSpPr/>
          <p:nvPr/>
        </p:nvGrpSpPr>
        <p:grpSpPr>
          <a:xfrm>
            <a:off x="1333500" y="1978435"/>
            <a:ext cx="9525000" cy="4218199"/>
            <a:chOff x="1333500" y="2237515"/>
            <a:chExt cx="9525000" cy="4218199"/>
          </a:xfrm>
        </p:grpSpPr>
        <p:grpSp>
          <p:nvGrpSpPr>
            <p:cNvPr id="8" name="그룹 7">
              <a:extLst>
                <a:ext uri="{FF2B5EF4-FFF2-40B4-BE49-F238E27FC236}">
                  <a16:creationId xmlns:a16="http://schemas.microsoft.com/office/drawing/2014/main" id="{8884771B-0E23-4D9D-80E5-C55D56F103A9}"/>
                </a:ext>
              </a:extLst>
            </p:cNvPr>
            <p:cNvGrpSpPr/>
            <p:nvPr/>
          </p:nvGrpSpPr>
          <p:grpSpPr>
            <a:xfrm>
              <a:off x="1333500" y="2237515"/>
              <a:ext cx="9525000" cy="2382970"/>
              <a:chOff x="1333498" y="4668668"/>
              <a:chExt cx="9525000" cy="2382970"/>
            </a:xfrm>
          </p:grpSpPr>
          <p:sp>
            <p:nvSpPr>
              <p:cNvPr id="9" name="직사각형 8">
                <a:extLst>
                  <a:ext uri="{FF2B5EF4-FFF2-40B4-BE49-F238E27FC236}">
                    <a16:creationId xmlns:a16="http://schemas.microsoft.com/office/drawing/2014/main" id="{2DBC7A21-C0BD-4446-AFB9-005C1DFA23FE}"/>
                  </a:ext>
                </a:extLst>
              </p:cNvPr>
              <p:cNvSpPr/>
              <p:nvPr/>
            </p:nvSpPr>
            <p:spPr>
              <a:xfrm>
                <a:off x="3797140" y="4668668"/>
                <a:ext cx="4597717"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a:solidFill>
                      <a:srgbClr val="FF0000"/>
                    </a:solidFill>
                  </a:rPr>
                  <a:t>watch</a:t>
                </a:r>
                <a:r>
                  <a:rPr lang="en-US" altLang="ko-KR" sz="1000" b="1" dirty="0"/>
                  <a:t> </a:t>
                </a:r>
                <a:r>
                  <a:rPr lang="en-US" altLang="ko-KR" sz="1000" b="1" dirty="0" err="1"/>
                  <a:t>kubectl</a:t>
                </a:r>
                <a:r>
                  <a:rPr lang="en-US" altLang="ko-KR" sz="1000" b="1" dirty="0"/>
                  <a:t> get pods --namespace </a:t>
                </a:r>
                <a:r>
                  <a:rPr lang="en-US" altLang="ko-KR" sz="1000" b="1" dirty="0" err="1">
                    <a:solidFill>
                      <a:srgbClr val="FF0000"/>
                    </a:solidFill>
                  </a:rPr>
                  <a:t>jupyter</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41343D31-FAB8-47C1-A321-042DCF7B1653}"/>
                  </a:ext>
                </a:extLst>
              </p:cNvPr>
              <p:cNvPicPr>
                <a:picLocks noChangeAspect="1"/>
              </p:cNvPicPr>
              <p:nvPr/>
            </p:nvPicPr>
            <p:blipFill>
              <a:blip r:embed="rId2"/>
              <a:stretch>
                <a:fillRect/>
              </a:stretch>
            </p:blipFill>
            <p:spPr>
              <a:xfrm>
                <a:off x="1333498" y="5241888"/>
                <a:ext cx="9525000" cy="1809750"/>
              </a:xfrm>
              <a:prstGeom prst="rect">
                <a:avLst/>
              </a:prstGeom>
              <a:ln>
                <a:solidFill>
                  <a:schemeClr val="bg1">
                    <a:lumMod val="50000"/>
                  </a:schemeClr>
                </a:solidFill>
              </a:ln>
            </p:spPr>
          </p:pic>
          <p:sp>
            <p:nvSpPr>
              <p:cNvPr id="11" name="화살표: 아래쪽 10">
                <a:extLst>
                  <a:ext uri="{FF2B5EF4-FFF2-40B4-BE49-F238E27FC236}">
                    <a16:creationId xmlns:a16="http://schemas.microsoft.com/office/drawing/2014/main" id="{C67105FE-35DE-4CED-A61A-11F31AB8CAA6}"/>
                  </a:ext>
                </a:extLst>
              </p:cNvPr>
              <p:cNvSpPr/>
              <p:nvPr/>
            </p:nvSpPr>
            <p:spPr>
              <a:xfrm>
                <a:off x="5882639" y="4928827"/>
                <a:ext cx="426720" cy="29912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4" name="그림 3">
              <a:extLst>
                <a:ext uri="{FF2B5EF4-FFF2-40B4-BE49-F238E27FC236}">
                  <a16:creationId xmlns:a16="http://schemas.microsoft.com/office/drawing/2014/main" id="{9E360D2B-1CE1-416A-9669-EAB9A2190BDC}"/>
                </a:ext>
              </a:extLst>
            </p:cNvPr>
            <p:cNvPicPr>
              <a:picLocks noChangeAspect="1"/>
            </p:cNvPicPr>
            <p:nvPr/>
          </p:nvPicPr>
          <p:blipFill>
            <a:blip r:embed="rId3"/>
            <a:stretch>
              <a:fillRect/>
            </a:stretch>
          </p:blipFill>
          <p:spPr>
            <a:xfrm>
              <a:off x="1333500" y="4645964"/>
              <a:ext cx="9525000" cy="1809750"/>
            </a:xfrm>
            <a:prstGeom prst="rect">
              <a:avLst/>
            </a:prstGeom>
          </p:spPr>
        </p:pic>
      </p:grpSp>
      <p:sp>
        <p:nvSpPr>
          <p:cNvPr id="13" name="직사각형 12">
            <a:extLst>
              <a:ext uri="{FF2B5EF4-FFF2-40B4-BE49-F238E27FC236}">
                <a16:creationId xmlns:a16="http://schemas.microsoft.com/office/drawing/2014/main" id="{F5A2BEC2-054B-4B82-BE9B-F39DFDDA713C}"/>
              </a:ext>
            </a:extLst>
          </p:cNvPr>
          <p:cNvSpPr/>
          <p:nvPr/>
        </p:nvSpPr>
        <p:spPr>
          <a:xfrm>
            <a:off x="5707380" y="5219700"/>
            <a:ext cx="541020" cy="4038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719132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Jupyter</a:t>
            </a:r>
            <a:r>
              <a:rPr lang="en-US" altLang="ko-KR" sz="2800" b="1" dirty="0"/>
              <a:t>(4/6)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Web-based Interactive Scientific Notebook :</a:t>
            </a:r>
          </a:p>
          <a:p>
            <a:pPr lvl="1">
              <a:buFont typeface="Wingdings" panose="05000000000000000000" pitchFamily="2" charset="2"/>
              <a:buChar char="§"/>
            </a:pPr>
            <a:r>
              <a:rPr lang="en-US" altLang="ko-KR" sz="1400" dirty="0"/>
              <a:t>Once the </a:t>
            </a:r>
            <a:r>
              <a:rPr lang="en-US" altLang="ko-KR" sz="1400" b="1" dirty="0" err="1"/>
              <a:t>Jupyter</a:t>
            </a:r>
            <a:r>
              <a:rPr lang="en-US" altLang="ko-KR" sz="1400" dirty="0"/>
              <a:t> container is up and running, </a:t>
            </a:r>
            <a:r>
              <a:rPr lang="en-US" altLang="ko-KR" sz="1400" b="1" dirty="0"/>
              <a:t>you need to obtain the initial login token</a:t>
            </a:r>
            <a:r>
              <a:rPr lang="en-US" altLang="ko-KR" sz="1400" dirty="0"/>
              <a:t>. </a:t>
            </a:r>
            <a:r>
              <a:rPr lang="en-US" altLang="ko-KR" sz="1400" b="1" dirty="0"/>
              <a:t>You can do this by looking at the logs for the container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23F288B3-03DF-4ABE-BE17-A179BF11A324}"/>
              </a:ext>
            </a:extLst>
          </p:cNvPr>
          <p:cNvGrpSpPr/>
          <p:nvPr/>
        </p:nvGrpSpPr>
        <p:grpSpPr>
          <a:xfrm>
            <a:off x="2564603" y="1596305"/>
            <a:ext cx="7062793" cy="4812725"/>
            <a:chOff x="2564603" y="1596305"/>
            <a:chExt cx="7062793" cy="4812725"/>
          </a:xfrm>
        </p:grpSpPr>
        <p:grpSp>
          <p:nvGrpSpPr>
            <p:cNvPr id="10" name="그룹 9">
              <a:extLst>
                <a:ext uri="{FF2B5EF4-FFF2-40B4-BE49-F238E27FC236}">
                  <a16:creationId xmlns:a16="http://schemas.microsoft.com/office/drawing/2014/main" id="{118EFAD1-BF5C-4551-85C6-7AC1F6FBC37A}"/>
                </a:ext>
              </a:extLst>
            </p:cNvPr>
            <p:cNvGrpSpPr/>
            <p:nvPr/>
          </p:nvGrpSpPr>
          <p:grpSpPr>
            <a:xfrm>
              <a:off x="2564603" y="1596305"/>
              <a:ext cx="7062793" cy="4812725"/>
              <a:chOff x="2564603" y="1596305"/>
              <a:chExt cx="7062793" cy="4812725"/>
            </a:xfrm>
          </p:grpSpPr>
          <p:sp>
            <p:nvSpPr>
              <p:cNvPr id="4" name="직사각형 3">
                <a:extLst>
                  <a:ext uri="{FF2B5EF4-FFF2-40B4-BE49-F238E27FC236}">
                    <a16:creationId xmlns:a16="http://schemas.microsoft.com/office/drawing/2014/main" id="{F57B596B-7A21-4020-BD4C-133C3767C075}"/>
                  </a:ext>
                </a:extLst>
              </p:cNvPr>
              <p:cNvSpPr/>
              <p:nvPr/>
            </p:nvSpPr>
            <p:spPr>
              <a:xfrm>
                <a:off x="3047999" y="1596305"/>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--namespace </a:t>
                </a:r>
                <a:r>
                  <a:rPr lang="en-US" altLang="ko-KR" sz="1000" b="1" dirty="0" err="1">
                    <a:solidFill>
                      <a:srgbClr val="FF0000"/>
                    </a:solidFill>
                  </a:rPr>
                  <a:t>jupyter</a:t>
                </a:r>
                <a:r>
                  <a:rPr lang="en-US" altLang="ko-KR" sz="1000" b="1" dirty="0"/>
                  <a:t> --no-headers</a:t>
                </a:r>
              </a:p>
              <a:p>
                <a:r>
                  <a:rPr lang="en-US" altLang="ko-KR" sz="1000" b="1" dirty="0"/>
                  <a:t>$ </a:t>
                </a:r>
                <a:r>
                  <a:rPr lang="en-US" altLang="ko-KR" sz="1000" b="1" dirty="0" err="1"/>
                  <a:t>kubectl</a:t>
                </a:r>
                <a:r>
                  <a:rPr lang="en-US" altLang="ko-KR" sz="1000" b="1" dirty="0"/>
                  <a:t> logs --namespace </a:t>
                </a:r>
                <a:r>
                  <a:rPr lang="en-US" altLang="ko-KR" sz="1000" b="1" dirty="0" err="1">
                    <a:solidFill>
                      <a:srgbClr val="FF0000"/>
                    </a:solidFill>
                  </a:rPr>
                  <a:t>jupyter</a:t>
                </a:r>
                <a:r>
                  <a:rPr lang="en-US" altLang="ko-KR" sz="1000" b="1" dirty="0"/>
                  <a:t> </a:t>
                </a:r>
                <a:r>
                  <a:rPr lang="en-US" altLang="ko-KR" sz="1000" b="1" dirty="0">
                    <a:solidFill>
                      <a:srgbClr val="FF0000"/>
                    </a:solidFill>
                  </a:rPr>
                  <a:t>&lt;POD_NAME&gt;</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33942F04-1879-4B59-A248-68C453E8B6A6}"/>
                  </a:ext>
                </a:extLst>
              </p:cNvPr>
              <p:cNvPicPr>
                <a:picLocks noChangeAspect="1"/>
              </p:cNvPicPr>
              <p:nvPr/>
            </p:nvPicPr>
            <p:blipFill>
              <a:blip r:embed="rId2"/>
              <a:stretch>
                <a:fillRect/>
              </a:stretch>
            </p:blipFill>
            <p:spPr>
              <a:xfrm>
                <a:off x="2564603" y="2308860"/>
                <a:ext cx="7062793" cy="410017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3297C55A-DFFA-4A21-995A-535678568DC8}"/>
                  </a:ext>
                </a:extLst>
              </p:cNvPr>
              <p:cNvSpPr/>
              <p:nvPr/>
            </p:nvSpPr>
            <p:spPr>
              <a:xfrm>
                <a:off x="5901689" y="1996415"/>
                <a:ext cx="388620"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70326E9-A833-4C88-80E9-E8C7E21FEFCE}"/>
                </a:ext>
              </a:extLst>
            </p:cNvPr>
            <p:cNvSpPr/>
            <p:nvPr/>
          </p:nvSpPr>
          <p:spPr>
            <a:xfrm>
              <a:off x="2651760" y="2731830"/>
              <a:ext cx="1234440" cy="1713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2D4742E-9D5C-4105-AC55-050EC8C23784}"/>
                </a:ext>
              </a:extLst>
            </p:cNvPr>
            <p:cNvSpPr/>
            <p:nvPr/>
          </p:nvSpPr>
          <p:spPr>
            <a:xfrm>
              <a:off x="6964680" y="2833554"/>
              <a:ext cx="1249680" cy="1992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122888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Jupyter</a:t>
            </a:r>
            <a:r>
              <a:rPr lang="en-US" altLang="ko-KR" sz="2800" b="1" dirty="0"/>
              <a:t>(5/6)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Web-based Interactive Scientific Notebook :</a:t>
            </a:r>
          </a:p>
          <a:p>
            <a:pPr lvl="1">
              <a:buFont typeface="Wingdings" panose="05000000000000000000" pitchFamily="2" charset="2"/>
              <a:buChar char="§"/>
            </a:pPr>
            <a:r>
              <a:rPr lang="en-US" altLang="ko-KR" sz="1400" dirty="0"/>
              <a:t>You should then copy the token (it will look something like the following)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Next, </a:t>
            </a:r>
            <a:r>
              <a:rPr lang="en-US" altLang="ko-KR" sz="1400" b="1" dirty="0"/>
              <a:t>set up port forwarding to the </a:t>
            </a:r>
            <a:r>
              <a:rPr lang="en-US" altLang="ko-KR" sz="1400" b="1" dirty="0" err="1"/>
              <a:t>Jupyter</a:t>
            </a:r>
            <a:r>
              <a:rPr lang="en-US" altLang="ko-KR" sz="1400" b="1" dirty="0"/>
              <a:t> container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BAECE1F-B381-4175-961C-D0E9207E534F}"/>
              </a:ext>
            </a:extLst>
          </p:cNvPr>
          <p:cNvSpPr/>
          <p:nvPr/>
        </p:nvSpPr>
        <p:spPr>
          <a:xfrm>
            <a:off x="3048000" y="1467535"/>
            <a:ext cx="6096000" cy="246221"/>
          </a:xfrm>
          <a:prstGeom prst="rect">
            <a:avLst/>
          </a:prstGeom>
          <a:ln>
            <a:solidFill>
              <a:schemeClr val="bg1">
                <a:lumMod val="50000"/>
              </a:schemeClr>
            </a:solidFill>
          </a:ln>
        </p:spPr>
        <p:txBody>
          <a:bodyPr>
            <a:spAutoFit/>
          </a:bodyPr>
          <a:lstStyle/>
          <a:p>
            <a:pPr algn="ctr"/>
            <a:r>
              <a:rPr lang="en-US" altLang="ko-KR" sz="1000" b="1" dirty="0"/>
              <a:t>lab/?token=</a:t>
            </a:r>
            <a:r>
              <a:rPr lang="en-US" altLang="ko-KR" sz="1000" b="1" dirty="0">
                <a:solidFill>
                  <a:srgbClr val="FF0000"/>
                </a:solidFill>
              </a:rPr>
              <a:t>b276bef0a58f9c8de0659c250ac6020e5b4dbc5dc5c0d314</a:t>
            </a:r>
            <a:endParaRPr lang="ko-KR" altLang="en-US" sz="1000" b="1" dirty="0">
              <a:solidFill>
                <a:srgbClr val="FF0000"/>
              </a:solidFill>
            </a:endParaRPr>
          </a:p>
        </p:txBody>
      </p:sp>
      <p:grpSp>
        <p:nvGrpSpPr>
          <p:cNvPr id="11" name="그룹 10">
            <a:extLst>
              <a:ext uri="{FF2B5EF4-FFF2-40B4-BE49-F238E27FC236}">
                <a16:creationId xmlns:a16="http://schemas.microsoft.com/office/drawing/2014/main" id="{6E5A1921-A93A-4F93-98B5-E848A7DE1BD9}"/>
              </a:ext>
            </a:extLst>
          </p:cNvPr>
          <p:cNvGrpSpPr/>
          <p:nvPr/>
        </p:nvGrpSpPr>
        <p:grpSpPr>
          <a:xfrm>
            <a:off x="1000125" y="2277904"/>
            <a:ext cx="10191750" cy="2302192"/>
            <a:chOff x="1000125" y="2307074"/>
            <a:chExt cx="10191750" cy="2302192"/>
          </a:xfrm>
        </p:grpSpPr>
        <p:sp>
          <p:nvSpPr>
            <p:cNvPr id="8" name="직사각형 7">
              <a:extLst>
                <a:ext uri="{FF2B5EF4-FFF2-40B4-BE49-F238E27FC236}">
                  <a16:creationId xmlns:a16="http://schemas.microsoft.com/office/drawing/2014/main" id="{7426070C-0570-4DE8-9B7C-8A19E7BB1020}"/>
                </a:ext>
              </a:extLst>
            </p:cNvPr>
            <p:cNvSpPr/>
            <p:nvPr/>
          </p:nvSpPr>
          <p:spPr>
            <a:xfrm>
              <a:off x="3048000" y="2307074"/>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port-forward --namespace </a:t>
              </a:r>
              <a:r>
                <a:rPr lang="en-US" altLang="ko-KR" sz="1000" b="1" dirty="0" err="1">
                  <a:solidFill>
                    <a:srgbClr val="FF0000"/>
                  </a:solidFill>
                </a:rPr>
                <a:t>jupyter</a:t>
              </a:r>
              <a:r>
                <a:rPr lang="en-US" altLang="ko-KR" sz="1000" b="1" dirty="0">
                  <a:solidFill>
                    <a:srgbClr val="FF0000"/>
                  </a:solidFill>
                </a:rPr>
                <a:t> &lt;POD_NAME&gt;</a:t>
              </a:r>
              <a:r>
                <a:rPr lang="en-US" altLang="ko-KR" sz="1000" b="1" dirty="0"/>
                <a:t> 8888:8888</a:t>
              </a:r>
              <a:endParaRPr lang="ko-KR" altLang="en-US" sz="1000" b="1" dirty="0"/>
            </a:p>
          </p:txBody>
        </p:sp>
        <p:pic>
          <p:nvPicPr>
            <p:cNvPr id="9" name="그림 8">
              <a:extLst>
                <a:ext uri="{FF2B5EF4-FFF2-40B4-BE49-F238E27FC236}">
                  <a16:creationId xmlns:a16="http://schemas.microsoft.com/office/drawing/2014/main" id="{8A3C8D10-CE78-49E9-90C7-13BEC9213402}"/>
                </a:ext>
              </a:extLst>
            </p:cNvPr>
            <p:cNvPicPr>
              <a:picLocks noChangeAspect="1"/>
            </p:cNvPicPr>
            <p:nvPr/>
          </p:nvPicPr>
          <p:blipFill>
            <a:blip r:embed="rId2"/>
            <a:stretch>
              <a:fillRect/>
            </a:stretch>
          </p:blipFill>
          <p:spPr>
            <a:xfrm>
              <a:off x="1000125" y="2799516"/>
              <a:ext cx="10191750" cy="180975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7190C427-3AE3-4F1B-8BC2-CB4C6FCCDADB}"/>
                </a:ext>
              </a:extLst>
            </p:cNvPr>
            <p:cNvSpPr/>
            <p:nvPr/>
          </p:nvSpPr>
          <p:spPr>
            <a:xfrm>
              <a:off x="5901690" y="2553295"/>
              <a:ext cx="38862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814966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Jupyter</a:t>
            </a:r>
            <a:r>
              <a:rPr lang="en-US" altLang="ko-KR" sz="2800" b="1" dirty="0"/>
              <a:t>(6/6)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Web-based Interactive Scientific Notebook :</a:t>
            </a:r>
          </a:p>
          <a:p>
            <a:pPr lvl="1">
              <a:buFont typeface="Wingdings" panose="05000000000000000000" pitchFamily="2" charset="2"/>
              <a:buChar char="§"/>
            </a:pPr>
            <a:r>
              <a:rPr lang="en-US" altLang="ko-KR" sz="1400" dirty="0">
                <a:solidFill>
                  <a:prstClr val="black"/>
                </a:solidFill>
              </a:rPr>
              <a:t>Finally, you can </a:t>
            </a:r>
            <a:r>
              <a:rPr lang="en-US" altLang="ko-KR" sz="1400" b="1" dirty="0">
                <a:solidFill>
                  <a:prstClr val="black"/>
                </a:solidFill>
              </a:rPr>
              <a:t>visit </a:t>
            </a:r>
            <a:r>
              <a:rPr lang="en-US" altLang="ko-KR" sz="1400" dirty="0">
                <a:solidFill>
                  <a:prstClr val="black"/>
                </a:solidFill>
              </a:rPr>
              <a:t>“</a:t>
            </a:r>
            <a:r>
              <a:rPr lang="en-US" altLang="ko-KR" sz="1400" b="1" dirty="0">
                <a:solidFill>
                  <a:prstClr val="black"/>
                </a:solidFill>
              </a:rPr>
              <a:t>http://localhost:8888/</a:t>
            </a:r>
            <a:r>
              <a:rPr lang="en-US" altLang="ko-KR" sz="1400" b="1" dirty="0" err="1">
                <a:solidFill>
                  <a:srgbClr val="FF0000"/>
                </a:solidFill>
              </a:rPr>
              <a:t>lab?token</a:t>
            </a:r>
            <a:r>
              <a:rPr lang="en-US" altLang="ko-KR" sz="1400" b="1" dirty="0">
                <a:solidFill>
                  <a:srgbClr val="FF0000"/>
                </a:solidFill>
              </a:rPr>
              <a:t>=&lt;token&gt;</a:t>
            </a:r>
            <a:r>
              <a:rPr lang="en-US" altLang="ko-KR" sz="1400" dirty="0">
                <a:solidFill>
                  <a:prstClr val="black"/>
                </a:solidFill>
              </a:rPr>
              <a:t>”, inserting the token that you copied from the logs earlier.</a:t>
            </a:r>
          </a:p>
          <a:p>
            <a:pPr lvl="1">
              <a:buFont typeface="Wingdings" panose="05000000000000000000" pitchFamily="2" charset="2"/>
              <a:buChar char="§"/>
            </a:pPr>
            <a:r>
              <a:rPr lang="en-US" altLang="ko-KR" sz="1400" dirty="0">
                <a:solidFill>
                  <a:prstClr val="black"/>
                </a:solidFill>
              </a:rPr>
              <a:t>You should now have </a:t>
            </a:r>
            <a:r>
              <a:rPr lang="en-US" altLang="ko-KR" sz="1400" b="1" dirty="0">
                <a:solidFill>
                  <a:prstClr val="black"/>
                </a:solidFill>
              </a:rPr>
              <a:t>the </a:t>
            </a:r>
            <a:r>
              <a:rPr lang="en-US" altLang="ko-KR" sz="1400" b="1" dirty="0" err="1">
                <a:solidFill>
                  <a:prstClr val="black"/>
                </a:solidFill>
              </a:rPr>
              <a:t>Jupyter</a:t>
            </a:r>
            <a:r>
              <a:rPr lang="en-US" altLang="ko-KR" sz="1400" b="1" dirty="0">
                <a:solidFill>
                  <a:prstClr val="black"/>
                </a:solidFill>
              </a:rPr>
              <a:t> dashboard loaded in your browser</a:t>
            </a:r>
            <a:r>
              <a:rPr lang="en-US" altLang="ko-KR" sz="1400" dirty="0">
                <a:solidFill>
                  <a:prstClr val="black"/>
                </a:solidFill>
              </a:rPr>
              <a:t>. </a:t>
            </a:r>
            <a:r>
              <a:rPr lang="en-US" altLang="ko-KR" sz="1400" b="1" dirty="0">
                <a:solidFill>
                  <a:prstClr val="black"/>
                </a:solidFill>
              </a:rPr>
              <a:t>You can find tutorials to get oriented to </a:t>
            </a:r>
            <a:r>
              <a:rPr lang="en-US" altLang="ko-KR" sz="1400" b="1" dirty="0" err="1">
                <a:solidFill>
                  <a:prstClr val="black"/>
                </a:solidFill>
              </a:rPr>
              <a:t>Jupyter</a:t>
            </a:r>
            <a:r>
              <a:rPr lang="en-US" altLang="ko-KR" sz="1400" b="1" dirty="0">
                <a:solidFill>
                  <a:prstClr val="black"/>
                </a:solidFill>
              </a:rPr>
              <a:t> if you are so inclined on the </a:t>
            </a:r>
            <a:r>
              <a:rPr lang="en-US" altLang="ko-KR" sz="1400" b="1" dirty="0" err="1">
                <a:solidFill>
                  <a:prstClr val="black"/>
                </a:solidFill>
                <a:hlinkClick r:id="rId2"/>
              </a:rPr>
              <a:t>Jupyter</a:t>
            </a:r>
            <a:r>
              <a:rPr lang="en-US" altLang="ko-KR" sz="1400" b="1" dirty="0">
                <a:solidFill>
                  <a:prstClr val="black"/>
                </a:solidFill>
                <a:hlinkClick r:id="rId2"/>
              </a:rPr>
              <a:t> project site</a:t>
            </a:r>
            <a:r>
              <a:rPr lang="en-US" altLang="ko-KR" sz="1400" dirty="0">
                <a:solidFill>
                  <a:prstClr val="black"/>
                </a:solidFill>
              </a:rPr>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C8FDCF0-A8DE-4026-B159-F815F9E10FDB}"/>
              </a:ext>
            </a:extLst>
          </p:cNvPr>
          <p:cNvPicPr>
            <a:picLocks noChangeAspect="1"/>
          </p:cNvPicPr>
          <p:nvPr/>
        </p:nvPicPr>
        <p:blipFill>
          <a:blip r:embed="rId3"/>
          <a:stretch>
            <a:fillRect/>
          </a:stretch>
        </p:blipFill>
        <p:spPr>
          <a:xfrm>
            <a:off x="2860098" y="2301240"/>
            <a:ext cx="6471803" cy="4107790"/>
          </a:xfrm>
          <a:prstGeom prst="rect">
            <a:avLst/>
          </a:prstGeom>
          <a:ln>
            <a:solidFill>
              <a:schemeClr val="bg1">
                <a:lumMod val="50000"/>
              </a:schemeClr>
            </a:solidFill>
          </a:ln>
        </p:spPr>
      </p:pic>
    </p:spTree>
    <p:extLst>
      <p:ext uri="{BB962C8B-B14F-4D97-AF65-F5344CB8AC3E}">
        <p14:creationId xmlns:p14="http://schemas.microsoft.com/office/powerpoint/2010/main" val="657027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Parse(1/4)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Easy-to-Use Storage for Mobile Applications :</a:t>
            </a:r>
          </a:p>
          <a:p>
            <a:pPr lvl="1">
              <a:buFont typeface="Wingdings" panose="05000000000000000000" pitchFamily="2" charset="2"/>
              <a:buChar char="§"/>
            </a:pPr>
            <a:r>
              <a:rPr lang="en-US" altLang="ko-KR" sz="1400" b="1" dirty="0"/>
              <a:t>The Parse server is a cloud API dedicated to providing easy-to-use storage for mobile applications</a:t>
            </a:r>
            <a:r>
              <a:rPr lang="en-US" altLang="ko-KR" sz="1400" dirty="0"/>
              <a:t>. It provides a variety of different client libraries that make it easy to integrate with Android, iOS, and other mobile platforms. Parse was purchased by Facebook in 2013 and subsequently shut down. Fortunately for us, </a:t>
            </a:r>
            <a:r>
              <a:rPr lang="en-US" altLang="ko-KR" sz="1400" b="1" dirty="0"/>
              <a:t>a compatible server was open sourced by the core Parse team and is available for us to use</a:t>
            </a:r>
            <a:r>
              <a:rPr lang="en-US" altLang="ko-KR" sz="1400" dirty="0"/>
              <a:t>. Here we will describes how to set up Parse in Kubernetes.</a:t>
            </a:r>
          </a:p>
          <a:p>
            <a:pPr lvl="1">
              <a:buFont typeface="Wingdings" panose="05000000000000000000" pitchFamily="2" charset="2"/>
              <a:buChar char="§"/>
            </a:pPr>
            <a:r>
              <a:rPr lang="en-US" altLang="ko-KR" sz="1400" b="1" dirty="0"/>
              <a:t>Parse uses a MongoDB cluster for its storage</a:t>
            </a:r>
            <a:r>
              <a:rPr lang="en-US" altLang="ko-KR" sz="1400" dirty="0"/>
              <a:t>. We already know how to </a:t>
            </a:r>
            <a:r>
              <a:rPr lang="en-US" altLang="ko-KR" sz="1400" b="1" dirty="0"/>
              <a:t>set up a replicated MongoDB cluster using Kubernetes </a:t>
            </a:r>
            <a:r>
              <a:rPr lang="en-US" altLang="ko-KR" sz="1400" b="1" dirty="0" err="1"/>
              <a:t>StatefulSets</a:t>
            </a:r>
            <a:r>
              <a:rPr lang="en-US" altLang="ko-KR" sz="1400" dirty="0"/>
              <a:t>. We assumes you have </a:t>
            </a:r>
            <a:r>
              <a:rPr lang="en-US" altLang="ko-KR" sz="1400" b="1" dirty="0"/>
              <a:t>a three-replica Mongo cluster running in Kubernetes with the names “mongo-0.mongo”, “mongo-1.mongo”, and “mongo-2.mongo”</a:t>
            </a:r>
            <a:r>
              <a:rPr lang="en-US" altLang="ko-KR" sz="1400" dirty="0"/>
              <a:t>. </a:t>
            </a:r>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We also assume that you have a “Docker login”</a:t>
            </a:r>
            <a:r>
              <a:rPr lang="en-US" altLang="ko-KR" sz="1400" dirty="0"/>
              <a:t>; if you don’t have one, you can get one for free at </a:t>
            </a:r>
            <a:r>
              <a:rPr lang="en-US" altLang="ko-KR" sz="1400" b="1" dirty="0">
                <a:hlinkClick r:id="rId2"/>
              </a:rPr>
              <a:t>https://docker.com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F03C25B-09D0-40F2-B73C-DBF2BE8417EB}"/>
              </a:ext>
            </a:extLst>
          </p:cNvPr>
          <p:cNvGrpSpPr/>
          <p:nvPr/>
        </p:nvGrpSpPr>
        <p:grpSpPr>
          <a:xfrm>
            <a:off x="1333499" y="2843733"/>
            <a:ext cx="9525000" cy="2684577"/>
            <a:chOff x="1333499" y="2843733"/>
            <a:chExt cx="9525000" cy="2684577"/>
          </a:xfrm>
        </p:grpSpPr>
        <p:pic>
          <p:nvPicPr>
            <p:cNvPr id="4" name="그림 3">
              <a:extLst>
                <a:ext uri="{FF2B5EF4-FFF2-40B4-BE49-F238E27FC236}">
                  <a16:creationId xmlns:a16="http://schemas.microsoft.com/office/drawing/2014/main" id="{8ABA7695-3856-4A95-8051-50E974C6EDD2}"/>
                </a:ext>
              </a:extLst>
            </p:cNvPr>
            <p:cNvPicPr>
              <a:picLocks noChangeAspect="1"/>
            </p:cNvPicPr>
            <p:nvPr/>
          </p:nvPicPr>
          <p:blipFill>
            <a:blip r:embed="rId3"/>
            <a:stretch>
              <a:fillRect/>
            </a:stretch>
          </p:blipFill>
          <p:spPr>
            <a:xfrm>
              <a:off x="3041639" y="2843733"/>
              <a:ext cx="6108721" cy="585267"/>
            </a:xfrm>
            <a:prstGeom prst="rect">
              <a:avLst/>
            </a:prstGeom>
          </p:spPr>
        </p:pic>
        <p:sp>
          <p:nvSpPr>
            <p:cNvPr id="8" name="화살표: 아래쪽 7">
              <a:extLst>
                <a:ext uri="{FF2B5EF4-FFF2-40B4-BE49-F238E27FC236}">
                  <a16:creationId xmlns:a16="http://schemas.microsoft.com/office/drawing/2014/main" id="{D92519B2-73DB-4732-8BC0-F9C1863C83E8}"/>
                </a:ext>
              </a:extLst>
            </p:cNvPr>
            <p:cNvSpPr/>
            <p:nvPr/>
          </p:nvSpPr>
          <p:spPr>
            <a:xfrm>
              <a:off x="5878829" y="3429000"/>
              <a:ext cx="434340" cy="2895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24DC3253-279F-470E-AB98-39EEBE30B3FD}"/>
                </a:ext>
              </a:extLst>
            </p:cNvPr>
            <p:cNvPicPr>
              <a:picLocks noChangeAspect="1"/>
            </p:cNvPicPr>
            <p:nvPr/>
          </p:nvPicPr>
          <p:blipFill>
            <a:blip r:embed="rId4"/>
            <a:stretch>
              <a:fillRect/>
            </a:stretch>
          </p:blipFill>
          <p:spPr>
            <a:xfrm>
              <a:off x="1333499" y="3718560"/>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8300824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Parse(2/4)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the parse-server :</a:t>
            </a:r>
          </a:p>
          <a:p>
            <a:pPr lvl="1">
              <a:buFont typeface="Wingdings" panose="05000000000000000000" pitchFamily="2" charset="2"/>
              <a:buChar char="§"/>
            </a:pPr>
            <a:r>
              <a:rPr lang="en-US" altLang="ko-KR" sz="1400" dirty="0"/>
              <a:t>The open source parse-server comes with a </a:t>
            </a:r>
            <a:r>
              <a:rPr lang="en-US" altLang="ko-KR" sz="1400" b="1" dirty="0" err="1"/>
              <a:t>Dockerfile</a:t>
            </a:r>
            <a:r>
              <a:rPr lang="en-US" altLang="ko-KR" sz="1400" dirty="0"/>
              <a:t> by default, for easy containerization. First, </a:t>
            </a:r>
            <a:r>
              <a:rPr lang="en-US" altLang="ko-KR" sz="1400" b="1" dirty="0"/>
              <a:t>clone the Parse repository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Then move into that directory and build the image : For me, I use “</a:t>
            </a:r>
            <a:r>
              <a:rPr lang="en-US" altLang="ko-KR" sz="1400" b="1" dirty="0"/>
              <a:t>knix008</a:t>
            </a:r>
            <a:r>
              <a:rPr lang="en-US" altLang="ko-KR" sz="1400" dirty="0"/>
              <a:t>” instead of “</a:t>
            </a:r>
            <a:r>
              <a:rPr lang="en-US" altLang="ko-KR" sz="1400" b="1" dirty="0"/>
              <a:t>${DOCKER_USER}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Finally, </a:t>
            </a:r>
            <a:r>
              <a:rPr lang="en-US" altLang="ko-KR" sz="1400" b="1" dirty="0"/>
              <a:t>push that image up to the Docker hub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49579A0C-64A3-4EE8-BBCC-732C1B02AA2C}"/>
              </a:ext>
            </a:extLst>
          </p:cNvPr>
          <p:cNvSpPr/>
          <p:nvPr/>
        </p:nvSpPr>
        <p:spPr>
          <a:xfrm>
            <a:off x="3048000" y="5030390"/>
            <a:ext cx="6096000" cy="400110"/>
          </a:xfrm>
          <a:prstGeom prst="rect">
            <a:avLst/>
          </a:prstGeom>
          <a:ln>
            <a:solidFill>
              <a:schemeClr val="bg1">
                <a:lumMod val="50000"/>
              </a:schemeClr>
            </a:solidFill>
          </a:ln>
        </p:spPr>
        <p:txBody>
          <a:bodyPr>
            <a:spAutoFit/>
          </a:bodyPr>
          <a:lstStyle/>
          <a:p>
            <a:r>
              <a:rPr lang="en-US" altLang="ko-KR" sz="1000" b="1" dirty="0"/>
              <a:t>$ cd parse-server</a:t>
            </a:r>
          </a:p>
          <a:p>
            <a:r>
              <a:rPr lang="en-US" altLang="ko-KR" sz="1000" b="1" dirty="0"/>
              <a:t>$ docker build -t </a:t>
            </a:r>
            <a:r>
              <a:rPr lang="en-US" altLang="ko-KR" sz="1000" b="1" dirty="0">
                <a:solidFill>
                  <a:srgbClr val="FF0000"/>
                </a:solidFill>
              </a:rPr>
              <a:t>${DOCKER_USER}/parse-server</a:t>
            </a:r>
            <a:r>
              <a:rPr lang="en-US" altLang="ko-KR" sz="1000" b="1" dirty="0"/>
              <a:t> .</a:t>
            </a:r>
          </a:p>
        </p:txBody>
      </p:sp>
      <p:sp>
        <p:nvSpPr>
          <p:cNvPr id="9" name="직사각형 8">
            <a:extLst>
              <a:ext uri="{FF2B5EF4-FFF2-40B4-BE49-F238E27FC236}">
                <a16:creationId xmlns:a16="http://schemas.microsoft.com/office/drawing/2014/main" id="{71A05463-21A4-4A68-8A44-64B6323849F0}"/>
              </a:ext>
            </a:extLst>
          </p:cNvPr>
          <p:cNvSpPr/>
          <p:nvPr/>
        </p:nvSpPr>
        <p:spPr>
          <a:xfrm>
            <a:off x="3048000" y="6110129"/>
            <a:ext cx="6096000" cy="246221"/>
          </a:xfrm>
          <a:prstGeom prst="rect">
            <a:avLst/>
          </a:prstGeom>
          <a:ln>
            <a:solidFill>
              <a:schemeClr val="bg1">
                <a:lumMod val="50000"/>
              </a:schemeClr>
            </a:solidFill>
          </a:ln>
        </p:spPr>
        <p:txBody>
          <a:bodyPr wrap="square">
            <a:spAutoFit/>
          </a:bodyPr>
          <a:lstStyle/>
          <a:p>
            <a:r>
              <a:rPr lang="en-US" altLang="ko-KR" sz="1000" b="1" dirty="0">
                <a:solidFill>
                  <a:prstClr val="black"/>
                </a:solidFill>
              </a:rPr>
              <a:t>$ docker push </a:t>
            </a:r>
            <a:r>
              <a:rPr lang="en-US" altLang="ko-KR" sz="1000" b="1" dirty="0">
                <a:solidFill>
                  <a:srgbClr val="FF0000"/>
                </a:solidFill>
              </a:rPr>
              <a:t>${DOCKER_USER}/parse-server</a:t>
            </a:r>
            <a:endParaRPr lang="ko-KR" altLang="en-US" sz="1100" b="1" dirty="0">
              <a:solidFill>
                <a:srgbClr val="FF0000"/>
              </a:solidFill>
            </a:endParaRPr>
          </a:p>
        </p:txBody>
      </p:sp>
      <p:grpSp>
        <p:nvGrpSpPr>
          <p:cNvPr id="12" name="그룹 11">
            <a:extLst>
              <a:ext uri="{FF2B5EF4-FFF2-40B4-BE49-F238E27FC236}">
                <a16:creationId xmlns:a16="http://schemas.microsoft.com/office/drawing/2014/main" id="{79B2F986-E6D5-4E30-AE18-4E724787D05D}"/>
              </a:ext>
            </a:extLst>
          </p:cNvPr>
          <p:cNvGrpSpPr/>
          <p:nvPr/>
        </p:nvGrpSpPr>
        <p:grpSpPr>
          <a:xfrm>
            <a:off x="1333500" y="1627555"/>
            <a:ext cx="9525000" cy="2696695"/>
            <a:chOff x="1333500" y="1627555"/>
            <a:chExt cx="9525000" cy="2696695"/>
          </a:xfrm>
        </p:grpSpPr>
        <p:sp>
          <p:nvSpPr>
            <p:cNvPr id="4" name="직사각형 3">
              <a:extLst>
                <a:ext uri="{FF2B5EF4-FFF2-40B4-BE49-F238E27FC236}">
                  <a16:creationId xmlns:a16="http://schemas.microsoft.com/office/drawing/2014/main" id="{8EE5E658-6AD4-4489-9AC2-F6828B976D55}"/>
                </a:ext>
              </a:extLst>
            </p:cNvPr>
            <p:cNvSpPr/>
            <p:nvPr/>
          </p:nvSpPr>
          <p:spPr>
            <a:xfrm>
              <a:off x="3048000" y="1627555"/>
              <a:ext cx="6096000" cy="246221"/>
            </a:xfrm>
            <a:prstGeom prst="rect">
              <a:avLst/>
            </a:prstGeom>
            <a:ln>
              <a:solidFill>
                <a:schemeClr val="bg1">
                  <a:lumMod val="50000"/>
                </a:schemeClr>
              </a:solidFill>
            </a:ln>
          </p:spPr>
          <p:txBody>
            <a:bodyPr>
              <a:spAutoFit/>
            </a:bodyPr>
            <a:lstStyle/>
            <a:p>
              <a:r>
                <a:rPr lang="en-US" altLang="ko-KR" sz="1000" b="1" dirty="0"/>
                <a:t>$ git clone </a:t>
              </a:r>
              <a:r>
                <a:rPr lang="en-US" altLang="ko-KR" sz="1000" b="1" dirty="0">
                  <a:solidFill>
                    <a:srgbClr val="FF0000"/>
                  </a:solidFill>
                </a:rPr>
                <a:t>https://github.com/ParsePlatform/parse-server</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A92215A8-979E-4167-9991-B2B86E26CEE4}"/>
                </a:ext>
              </a:extLst>
            </p:cNvPr>
            <p:cNvPicPr>
              <a:picLocks noChangeAspect="1"/>
            </p:cNvPicPr>
            <p:nvPr/>
          </p:nvPicPr>
          <p:blipFill>
            <a:blip r:embed="rId2"/>
            <a:stretch>
              <a:fillRect/>
            </a:stretch>
          </p:blipFill>
          <p:spPr>
            <a:xfrm>
              <a:off x="1333500" y="2171600"/>
              <a:ext cx="9525000" cy="2152650"/>
            </a:xfrm>
            <a:prstGeom prst="rect">
              <a:avLst/>
            </a:prstGeom>
            <a:ln>
              <a:solidFill>
                <a:schemeClr val="bg1">
                  <a:lumMod val="50000"/>
                </a:schemeClr>
              </a:solidFill>
            </a:ln>
          </p:spPr>
        </p:pic>
        <p:sp>
          <p:nvSpPr>
            <p:cNvPr id="11" name="화살표: 아래쪽 10">
              <a:extLst>
                <a:ext uri="{FF2B5EF4-FFF2-40B4-BE49-F238E27FC236}">
                  <a16:creationId xmlns:a16="http://schemas.microsoft.com/office/drawing/2014/main" id="{2229669C-1C54-4BF5-98DD-C4E8CE8FD843}"/>
                </a:ext>
              </a:extLst>
            </p:cNvPr>
            <p:cNvSpPr/>
            <p:nvPr/>
          </p:nvSpPr>
          <p:spPr>
            <a:xfrm>
              <a:off x="5913120" y="1899577"/>
              <a:ext cx="36576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979808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Docker Hub</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Login :</a:t>
            </a:r>
          </a:p>
          <a:p>
            <a:pPr lvl="1">
              <a:buFont typeface="Wingdings" panose="05000000000000000000" pitchFamily="2" charset="2"/>
              <a:buChar char="§"/>
            </a:pPr>
            <a:r>
              <a:rPr lang="en-US" altLang="ko-KR" sz="1400" dirty="0"/>
              <a:t>You can try to login Docker Hub using “</a:t>
            </a:r>
            <a:r>
              <a:rPr lang="en-US" altLang="ko-KR" sz="1400" b="1" dirty="0"/>
              <a:t>docker login</a:t>
            </a:r>
            <a:r>
              <a:rPr lang="en-US" altLang="ko-KR" sz="1400" dirty="0"/>
              <a:t>” command. If it is first time, then it will ask you to give </a:t>
            </a:r>
            <a:r>
              <a:rPr lang="en-US" altLang="ko-KR" sz="1400" b="1" dirty="0"/>
              <a:t>ID</a:t>
            </a:r>
            <a:r>
              <a:rPr lang="en-US" altLang="ko-KR" sz="1400" dirty="0"/>
              <a:t> and password for </a:t>
            </a:r>
            <a:r>
              <a:rPr lang="en-US" altLang="ko-KR" sz="1400" b="1" dirty="0"/>
              <a:t>login</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C9D9C75C-2C6C-4706-B974-9A1E46EF9FF0}"/>
              </a:ext>
            </a:extLst>
          </p:cNvPr>
          <p:cNvGrpSpPr/>
          <p:nvPr/>
        </p:nvGrpSpPr>
        <p:grpSpPr>
          <a:xfrm>
            <a:off x="1333498" y="1930004"/>
            <a:ext cx="9525000" cy="2984896"/>
            <a:chOff x="1333498" y="1930004"/>
            <a:chExt cx="9525000" cy="2984896"/>
          </a:xfrm>
        </p:grpSpPr>
        <p:grpSp>
          <p:nvGrpSpPr>
            <p:cNvPr id="12" name="그룹 11">
              <a:extLst>
                <a:ext uri="{FF2B5EF4-FFF2-40B4-BE49-F238E27FC236}">
                  <a16:creationId xmlns:a16="http://schemas.microsoft.com/office/drawing/2014/main" id="{FE926C83-7588-4F7A-9379-745B8FE52F3F}"/>
                </a:ext>
              </a:extLst>
            </p:cNvPr>
            <p:cNvGrpSpPr/>
            <p:nvPr/>
          </p:nvGrpSpPr>
          <p:grpSpPr>
            <a:xfrm>
              <a:off x="1333498" y="1930004"/>
              <a:ext cx="9525000" cy="2984896"/>
              <a:chOff x="1333498" y="1930004"/>
              <a:chExt cx="9525000" cy="2984896"/>
            </a:xfrm>
          </p:grpSpPr>
          <p:grpSp>
            <p:nvGrpSpPr>
              <p:cNvPr id="10" name="그룹 9">
                <a:extLst>
                  <a:ext uri="{FF2B5EF4-FFF2-40B4-BE49-F238E27FC236}">
                    <a16:creationId xmlns:a16="http://schemas.microsoft.com/office/drawing/2014/main" id="{67927715-2B87-48E8-8E32-07F05194DF4F}"/>
                  </a:ext>
                </a:extLst>
              </p:cNvPr>
              <p:cNvGrpSpPr/>
              <p:nvPr/>
            </p:nvGrpSpPr>
            <p:grpSpPr>
              <a:xfrm>
                <a:off x="5619746" y="1930004"/>
                <a:ext cx="952505" cy="489346"/>
                <a:chOff x="5619746" y="1930004"/>
                <a:chExt cx="952505" cy="489346"/>
              </a:xfrm>
            </p:grpSpPr>
            <p:sp>
              <p:nvSpPr>
                <p:cNvPr id="8" name="직사각형 7">
                  <a:extLst>
                    <a:ext uri="{FF2B5EF4-FFF2-40B4-BE49-F238E27FC236}">
                      <a16:creationId xmlns:a16="http://schemas.microsoft.com/office/drawing/2014/main" id="{36A2839D-F63F-44E3-B76C-080F5E6DDB88}"/>
                    </a:ext>
                  </a:extLst>
                </p:cNvPr>
                <p:cNvSpPr/>
                <p:nvPr/>
              </p:nvSpPr>
              <p:spPr>
                <a:xfrm>
                  <a:off x="5619746" y="1930004"/>
                  <a:ext cx="952505" cy="246221"/>
                </a:xfrm>
                <a:prstGeom prst="rect">
                  <a:avLst/>
                </a:prstGeom>
                <a:ln>
                  <a:solidFill>
                    <a:schemeClr val="bg1">
                      <a:lumMod val="50000"/>
                    </a:schemeClr>
                  </a:solidFill>
                </a:ln>
              </p:spPr>
              <p:txBody>
                <a:bodyPr wrap="none">
                  <a:spAutoFit/>
                </a:bodyPr>
                <a:lstStyle/>
                <a:p>
                  <a:r>
                    <a:rPr lang="en-US" altLang="ko-KR" sz="1000" b="1" dirty="0">
                      <a:solidFill>
                        <a:prstClr val="black"/>
                      </a:solidFill>
                    </a:rPr>
                    <a:t>docker login</a:t>
                  </a:r>
                  <a:endParaRPr lang="ko-KR" altLang="en-US" sz="1100" dirty="0"/>
                </a:p>
              </p:txBody>
            </p:sp>
            <p:sp>
              <p:nvSpPr>
                <p:cNvPr id="9" name="화살표: 아래쪽 8">
                  <a:extLst>
                    <a:ext uri="{FF2B5EF4-FFF2-40B4-BE49-F238E27FC236}">
                      <a16:creationId xmlns:a16="http://schemas.microsoft.com/office/drawing/2014/main" id="{6F009E14-BC58-4C14-95A5-A401E5B2DA92}"/>
                    </a:ext>
                  </a:extLst>
                </p:cNvPr>
                <p:cNvSpPr/>
                <p:nvPr/>
              </p:nvSpPr>
              <p:spPr>
                <a:xfrm>
                  <a:off x="5905499" y="2179320"/>
                  <a:ext cx="381000" cy="24003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8D9AECAF-EF41-42C1-98D0-D24C2B5ED6CC}"/>
                  </a:ext>
                </a:extLst>
              </p:cNvPr>
              <p:cNvPicPr>
                <a:picLocks noChangeAspect="1"/>
              </p:cNvPicPr>
              <p:nvPr/>
            </p:nvPicPr>
            <p:blipFill>
              <a:blip r:embed="rId2"/>
              <a:stretch>
                <a:fillRect/>
              </a:stretch>
            </p:blipFill>
            <p:spPr>
              <a:xfrm>
                <a:off x="1333498" y="2419350"/>
                <a:ext cx="9525000" cy="2495550"/>
              </a:xfrm>
              <a:prstGeom prst="rect">
                <a:avLst/>
              </a:prstGeom>
            </p:spPr>
          </p:pic>
        </p:grpSp>
        <p:sp>
          <p:nvSpPr>
            <p:cNvPr id="13" name="직사각형 12">
              <a:extLst>
                <a:ext uri="{FF2B5EF4-FFF2-40B4-BE49-F238E27FC236}">
                  <a16:creationId xmlns:a16="http://schemas.microsoft.com/office/drawing/2014/main" id="{8BA37819-2FFF-4F1A-ACE9-1F86E3B8BB41}"/>
                </a:ext>
              </a:extLst>
            </p:cNvPr>
            <p:cNvSpPr/>
            <p:nvPr/>
          </p:nvSpPr>
          <p:spPr>
            <a:xfrm>
              <a:off x="1440180" y="3436620"/>
              <a:ext cx="1432560"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540857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Docker Image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and Pushing :</a:t>
            </a:r>
          </a:p>
          <a:p>
            <a:pPr lvl="1">
              <a:buFont typeface="Wingdings" panose="05000000000000000000" pitchFamily="2" charset="2"/>
              <a:buChar char="§"/>
            </a:pPr>
            <a:r>
              <a:rPr lang="en-US" altLang="ko-KR" sz="1400" dirty="0"/>
              <a:t>To build “</a:t>
            </a:r>
            <a:r>
              <a:rPr lang="en-US" altLang="ko-KR" sz="1400" b="1" dirty="0"/>
              <a:t>parse-server</a:t>
            </a:r>
            <a:r>
              <a:rPr lang="en-US" altLang="ko-KR" sz="1400" dirty="0"/>
              <a:t>” docker image, it will take server minutes. After that you can </a:t>
            </a:r>
            <a:r>
              <a:rPr lang="en-US" altLang="ko-KR" sz="1400" b="1" dirty="0"/>
              <a:t>push the image into Docker hub</a:t>
            </a:r>
            <a:r>
              <a:rPr lang="en-US" altLang="ko-KR" sz="1400" dirty="0"/>
              <a:t>. In Window or MacOS, you can check the push status in </a:t>
            </a:r>
            <a:r>
              <a:rPr lang="en-US" altLang="ko-KR" sz="1400" b="1" dirty="0"/>
              <a:t>Docker Desktop</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27FAE529-9566-4DDF-ADDD-C82B3318FA8D}"/>
              </a:ext>
            </a:extLst>
          </p:cNvPr>
          <p:cNvGrpSpPr/>
          <p:nvPr/>
        </p:nvGrpSpPr>
        <p:grpSpPr>
          <a:xfrm>
            <a:off x="2350770" y="1630680"/>
            <a:ext cx="7490460" cy="4778350"/>
            <a:chOff x="1573530" y="1630680"/>
            <a:chExt cx="7490460" cy="4778350"/>
          </a:xfrm>
        </p:grpSpPr>
        <p:grpSp>
          <p:nvGrpSpPr>
            <p:cNvPr id="11" name="그룹 10">
              <a:extLst>
                <a:ext uri="{FF2B5EF4-FFF2-40B4-BE49-F238E27FC236}">
                  <a16:creationId xmlns:a16="http://schemas.microsoft.com/office/drawing/2014/main" id="{AE81C6CB-1CB4-4694-9B2E-89F5AFA1BF02}"/>
                </a:ext>
              </a:extLst>
            </p:cNvPr>
            <p:cNvGrpSpPr/>
            <p:nvPr/>
          </p:nvGrpSpPr>
          <p:grpSpPr>
            <a:xfrm>
              <a:off x="1573530" y="1630680"/>
              <a:ext cx="7490460" cy="4778350"/>
              <a:chOff x="2350770" y="1630680"/>
              <a:chExt cx="7490460" cy="4778350"/>
            </a:xfrm>
          </p:grpSpPr>
          <p:grpSp>
            <p:nvGrpSpPr>
              <p:cNvPr id="9" name="그룹 8">
                <a:extLst>
                  <a:ext uri="{FF2B5EF4-FFF2-40B4-BE49-F238E27FC236}">
                    <a16:creationId xmlns:a16="http://schemas.microsoft.com/office/drawing/2014/main" id="{0C5F770F-1599-41D4-8E0F-23E5C629954D}"/>
                  </a:ext>
                </a:extLst>
              </p:cNvPr>
              <p:cNvGrpSpPr/>
              <p:nvPr/>
            </p:nvGrpSpPr>
            <p:grpSpPr>
              <a:xfrm>
                <a:off x="2350770" y="1630680"/>
                <a:ext cx="7490460" cy="4778350"/>
                <a:chOff x="1333500" y="1659255"/>
                <a:chExt cx="9525000" cy="6021997"/>
              </a:xfrm>
            </p:grpSpPr>
            <p:pic>
              <p:nvPicPr>
                <p:cNvPr id="4" name="그림 3">
                  <a:extLst>
                    <a:ext uri="{FF2B5EF4-FFF2-40B4-BE49-F238E27FC236}">
                      <a16:creationId xmlns:a16="http://schemas.microsoft.com/office/drawing/2014/main" id="{B9C36758-5490-40CD-81B5-A92663827E63}"/>
                    </a:ext>
                  </a:extLst>
                </p:cNvPr>
                <p:cNvPicPr>
                  <a:picLocks noChangeAspect="1"/>
                </p:cNvPicPr>
                <p:nvPr/>
              </p:nvPicPr>
              <p:blipFill>
                <a:blip r:embed="rId2"/>
                <a:stretch>
                  <a:fillRect/>
                </a:stretch>
              </p:blipFill>
              <p:spPr>
                <a:xfrm>
                  <a:off x="1333500" y="1659255"/>
                  <a:ext cx="9525000" cy="2152650"/>
                </a:xfrm>
                <a:prstGeom prst="rect">
                  <a:avLst/>
                </a:prstGeom>
              </p:spPr>
            </p:pic>
            <p:pic>
              <p:nvPicPr>
                <p:cNvPr id="8" name="그림 7">
                  <a:extLst>
                    <a:ext uri="{FF2B5EF4-FFF2-40B4-BE49-F238E27FC236}">
                      <a16:creationId xmlns:a16="http://schemas.microsoft.com/office/drawing/2014/main" id="{F130BCB8-03EA-434D-A702-640296AC76FF}"/>
                    </a:ext>
                  </a:extLst>
                </p:cNvPr>
                <p:cNvPicPr>
                  <a:picLocks noChangeAspect="1"/>
                </p:cNvPicPr>
                <p:nvPr/>
              </p:nvPicPr>
              <p:blipFill>
                <a:blip r:embed="rId3"/>
                <a:stretch>
                  <a:fillRect/>
                </a:stretch>
              </p:blipFill>
              <p:spPr>
                <a:xfrm>
                  <a:off x="1333500" y="3918877"/>
                  <a:ext cx="9525000" cy="3762375"/>
                </a:xfrm>
                <a:prstGeom prst="rect">
                  <a:avLst/>
                </a:prstGeom>
              </p:spPr>
            </p:pic>
          </p:grpSp>
          <p:sp>
            <p:nvSpPr>
              <p:cNvPr id="10" name="직사각형 9">
                <a:extLst>
                  <a:ext uri="{FF2B5EF4-FFF2-40B4-BE49-F238E27FC236}">
                    <a16:creationId xmlns:a16="http://schemas.microsoft.com/office/drawing/2014/main" id="{DD7F8AA7-D0EE-4782-A727-D5D5EB4BAA17}"/>
                  </a:ext>
                </a:extLst>
              </p:cNvPr>
              <p:cNvSpPr/>
              <p:nvPr/>
            </p:nvSpPr>
            <p:spPr>
              <a:xfrm>
                <a:off x="6408420" y="3810000"/>
                <a:ext cx="1996440"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5" name="그룹 14">
              <a:extLst>
                <a:ext uri="{FF2B5EF4-FFF2-40B4-BE49-F238E27FC236}">
                  <a16:creationId xmlns:a16="http://schemas.microsoft.com/office/drawing/2014/main" id="{803D4C99-213A-4864-A83A-56E22A0CA58A}"/>
                </a:ext>
              </a:extLst>
            </p:cNvPr>
            <p:cNvGrpSpPr/>
            <p:nvPr/>
          </p:nvGrpSpPr>
          <p:grpSpPr>
            <a:xfrm>
              <a:off x="5141023" y="4123481"/>
              <a:ext cx="3690557" cy="1857663"/>
              <a:chOff x="7663243" y="3987508"/>
              <a:chExt cx="3690557" cy="1857663"/>
            </a:xfrm>
          </p:grpSpPr>
          <p:pic>
            <p:nvPicPr>
              <p:cNvPr id="13" name="그림 12">
                <a:extLst>
                  <a:ext uri="{FF2B5EF4-FFF2-40B4-BE49-F238E27FC236}">
                    <a16:creationId xmlns:a16="http://schemas.microsoft.com/office/drawing/2014/main" id="{48B7B5B5-8663-4875-AC70-E6D48B86719D}"/>
                  </a:ext>
                </a:extLst>
              </p:cNvPr>
              <p:cNvPicPr>
                <a:picLocks noChangeAspect="1"/>
              </p:cNvPicPr>
              <p:nvPr/>
            </p:nvPicPr>
            <p:blipFill>
              <a:blip r:embed="rId4"/>
              <a:stretch>
                <a:fillRect/>
              </a:stretch>
            </p:blipFill>
            <p:spPr>
              <a:xfrm>
                <a:off x="7663243" y="3987508"/>
                <a:ext cx="3690557" cy="1857663"/>
              </a:xfrm>
              <a:prstGeom prst="rect">
                <a:avLst/>
              </a:prstGeom>
              <a:ln>
                <a:solidFill>
                  <a:schemeClr val="bg1">
                    <a:lumMod val="50000"/>
                  </a:schemeClr>
                </a:solidFill>
              </a:ln>
            </p:spPr>
          </p:pic>
          <p:sp>
            <p:nvSpPr>
              <p:cNvPr id="14" name="직사각형 13">
                <a:extLst>
                  <a:ext uri="{FF2B5EF4-FFF2-40B4-BE49-F238E27FC236}">
                    <a16:creationId xmlns:a16="http://schemas.microsoft.com/office/drawing/2014/main" id="{363A29A4-45E6-43F0-B810-8E2FA5ABA13E}"/>
                  </a:ext>
                </a:extLst>
              </p:cNvPr>
              <p:cNvSpPr/>
              <p:nvPr/>
            </p:nvSpPr>
            <p:spPr>
              <a:xfrm>
                <a:off x="8503920" y="5326380"/>
                <a:ext cx="2308860" cy="1447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10409672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the “parse-server” :</a:t>
            </a:r>
          </a:p>
          <a:p>
            <a:pPr lvl="1">
              <a:buFont typeface="Wingdings" panose="05000000000000000000" pitchFamily="2" charset="2"/>
              <a:buChar char="§"/>
            </a:pPr>
            <a:r>
              <a:rPr lang="en-US" altLang="ko-KR" sz="1400" dirty="0"/>
              <a:t>Parse looks for </a:t>
            </a:r>
            <a:r>
              <a:rPr lang="en-US" altLang="ko-KR" sz="1400" b="1" dirty="0"/>
              <a:t>three environment variables </a:t>
            </a:r>
            <a:r>
              <a:rPr lang="en-US" altLang="ko-KR" sz="1400" dirty="0"/>
              <a:t>when being configured : </a:t>
            </a:r>
          </a:p>
          <a:p>
            <a:pPr lvl="2">
              <a:buFont typeface="Wingdings" panose="05000000000000000000" pitchFamily="2" charset="2"/>
              <a:buChar char="§"/>
            </a:pPr>
            <a:r>
              <a:rPr lang="en-US" altLang="ko-KR" sz="1400" dirty="0"/>
              <a:t>“</a:t>
            </a:r>
            <a:r>
              <a:rPr lang="en-US" altLang="ko-KR" sz="1400" b="1" dirty="0"/>
              <a:t>PARSE_SERVER_APPLICATION_ID</a:t>
            </a:r>
            <a:r>
              <a:rPr lang="en-US" altLang="ko-KR" sz="1400" dirty="0"/>
              <a:t>” - An identifier for authorizing your application</a:t>
            </a:r>
          </a:p>
          <a:p>
            <a:pPr lvl="2">
              <a:buFont typeface="Wingdings" panose="05000000000000000000" pitchFamily="2" charset="2"/>
              <a:buChar char="§"/>
            </a:pPr>
            <a:r>
              <a:rPr lang="en-US" altLang="ko-KR" sz="1400" dirty="0"/>
              <a:t>“</a:t>
            </a:r>
            <a:r>
              <a:rPr lang="en-US" altLang="ko-KR" sz="1400" b="1" dirty="0"/>
              <a:t>PARSE_SERVER_MASTER_KEY</a:t>
            </a:r>
            <a:r>
              <a:rPr lang="en-US" altLang="ko-KR" sz="1400" dirty="0"/>
              <a:t>” - An identifier that authorizes the master (root) user</a:t>
            </a:r>
          </a:p>
          <a:p>
            <a:pPr lvl="2">
              <a:buFont typeface="Wingdings" panose="05000000000000000000" pitchFamily="2" charset="2"/>
              <a:buChar char="§"/>
            </a:pPr>
            <a:r>
              <a:rPr lang="en-US" altLang="ko-KR" sz="1400" dirty="0"/>
              <a:t>“</a:t>
            </a:r>
            <a:r>
              <a:rPr lang="en-US" altLang="ko-KR" sz="1400" b="1" dirty="0"/>
              <a:t>PARSE_SERVER_DATABASE_URI</a:t>
            </a:r>
            <a:r>
              <a:rPr lang="en-US" altLang="ko-KR" sz="1400" dirty="0"/>
              <a:t>” - The URI for your MongoDB cluster</a:t>
            </a:r>
          </a:p>
        </p:txBody>
      </p:sp>
      <p:sp>
        <p:nvSpPr>
          <p:cNvPr id="11" name="직사각형 10">
            <a:extLst>
              <a:ext uri="{FF2B5EF4-FFF2-40B4-BE49-F238E27FC236}">
                <a16:creationId xmlns:a16="http://schemas.microsoft.com/office/drawing/2014/main" id="{65FF741A-DE3E-49F2-9B4A-959551310924}"/>
              </a:ext>
            </a:extLst>
          </p:cNvPr>
          <p:cNvSpPr/>
          <p:nvPr/>
        </p:nvSpPr>
        <p:spPr>
          <a:xfrm>
            <a:off x="3257427" y="2158461"/>
            <a:ext cx="6096000" cy="4247317"/>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Deployment</a:t>
            </a:r>
          </a:p>
          <a:p>
            <a:r>
              <a:rPr lang="en-US" altLang="ko-KR" sz="1000" b="1" dirty="0"/>
              <a:t>metadata:</a:t>
            </a:r>
          </a:p>
          <a:p>
            <a:r>
              <a:rPr lang="en-US" altLang="ko-KR" sz="1000" b="1" dirty="0"/>
              <a:t>  name: parse-server</a:t>
            </a:r>
          </a:p>
          <a:p>
            <a:r>
              <a:rPr lang="en-US" altLang="ko-KR" sz="1000" b="1" dirty="0"/>
              <a:t>  namespace: default</a:t>
            </a:r>
          </a:p>
          <a:p>
            <a:r>
              <a:rPr lang="en-US" altLang="ko-KR" sz="1000" b="1" dirty="0"/>
              <a:t>spec:</a:t>
            </a:r>
          </a:p>
          <a:p>
            <a:r>
              <a:rPr lang="en-US" altLang="ko-KR" sz="1000" b="1" dirty="0">
                <a:solidFill>
                  <a:srgbClr val="FF0000"/>
                </a:solidFill>
              </a:rPr>
              <a:t>  selector:</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run: parse-server</a:t>
            </a:r>
          </a:p>
          <a:p>
            <a:r>
              <a:rPr lang="en-US" altLang="ko-KR" sz="1000" b="1" dirty="0"/>
              <a:t>  replicas: </a:t>
            </a:r>
            <a:r>
              <a:rPr lang="en-US" altLang="ko-KR" sz="1000" b="1" dirty="0">
                <a:solidFill>
                  <a:srgbClr val="FF0000"/>
                </a:solidFill>
              </a:rPr>
              <a:t>1</a:t>
            </a:r>
          </a:p>
          <a:p>
            <a:r>
              <a:rPr lang="en-US" altLang="ko-KR" sz="1000" b="1" dirty="0"/>
              <a:t>  template:</a:t>
            </a:r>
          </a:p>
          <a:p>
            <a:r>
              <a:rPr lang="en-US" altLang="ko-KR" sz="1000" b="1" dirty="0"/>
              <a:t>    metadata:</a:t>
            </a:r>
          </a:p>
          <a:p>
            <a:r>
              <a:rPr lang="en-US" altLang="ko-KR" sz="1000" b="1" dirty="0"/>
              <a:t>      labels:</a:t>
            </a:r>
          </a:p>
          <a:p>
            <a:r>
              <a:rPr lang="en-US" altLang="ko-KR" sz="1000" b="1" dirty="0"/>
              <a:t>        run: </a:t>
            </a:r>
            <a:r>
              <a:rPr lang="en-US" altLang="ko-KR" sz="1000" b="1" dirty="0">
                <a:solidFill>
                  <a:srgbClr val="FF0000"/>
                </a:solidFill>
              </a:rPr>
              <a:t>parse-server</a:t>
            </a:r>
          </a:p>
          <a:p>
            <a:r>
              <a:rPr lang="en-US" altLang="ko-KR" sz="1000" b="1" dirty="0"/>
              <a:t>    spec:</a:t>
            </a:r>
          </a:p>
          <a:p>
            <a:r>
              <a:rPr lang="en-US" altLang="ko-KR" sz="1000" b="1" dirty="0"/>
              <a:t>      containers:</a:t>
            </a:r>
          </a:p>
          <a:p>
            <a:r>
              <a:rPr lang="en-US" altLang="ko-KR" sz="1000" b="1" dirty="0"/>
              <a:t>        - name: parse-server</a:t>
            </a:r>
          </a:p>
          <a:p>
            <a:r>
              <a:rPr lang="en-US" altLang="ko-KR" sz="1000" b="1" dirty="0"/>
              <a:t>          image: knix008/parse-server</a:t>
            </a:r>
          </a:p>
          <a:p>
            <a:r>
              <a:rPr lang="en-US" altLang="ko-KR" sz="1000" b="1" dirty="0"/>
              <a:t>          env:</a:t>
            </a:r>
          </a:p>
          <a:p>
            <a:r>
              <a:rPr lang="en-US" altLang="ko-KR" sz="1000" b="1" dirty="0"/>
              <a:t>            - name: PARSE_SERVER_DATABASE_URI</a:t>
            </a:r>
          </a:p>
          <a:p>
            <a:r>
              <a:rPr lang="en-US" altLang="ko-KR" sz="1000" b="1" dirty="0"/>
              <a:t>              value: "</a:t>
            </a:r>
            <a:r>
              <a:rPr lang="en-US" altLang="ko-KR" sz="1000" b="1" dirty="0" err="1">
                <a:solidFill>
                  <a:srgbClr val="FF0000"/>
                </a:solidFill>
              </a:rPr>
              <a:t>mongodb</a:t>
            </a:r>
            <a:r>
              <a:rPr lang="en-US" altLang="ko-KR" sz="1000" b="1" dirty="0">
                <a:solidFill>
                  <a:srgbClr val="FF0000"/>
                </a:solidFill>
              </a:rPr>
              <a:t>://mongo-0.mongo:27017,\</a:t>
            </a:r>
          </a:p>
          <a:p>
            <a:r>
              <a:rPr lang="en-US" altLang="ko-KR" sz="1000" b="1" dirty="0">
                <a:solidFill>
                  <a:srgbClr val="FF0000"/>
                </a:solidFill>
              </a:rPr>
              <a:t>                mongo-1.mongo:27017,mongo-2.mongo\</a:t>
            </a:r>
          </a:p>
          <a:p>
            <a:r>
              <a:rPr lang="en-US" altLang="ko-KR" sz="1000" b="1" dirty="0">
                <a:solidFill>
                  <a:srgbClr val="FF0000"/>
                </a:solidFill>
              </a:rPr>
              <a:t>                :27017/</a:t>
            </a:r>
            <a:r>
              <a:rPr lang="en-US" altLang="ko-KR" sz="1000" b="1" dirty="0" err="1">
                <a:solidFill>
                  <a:srgbClr val="FF0000"/>
                </a:solidFill>
              </a:rPr>
              <a:t>dev?replicaSet</a:t>
            </a:r>
            <a:r>
              <a:rPr lang="en-US" altLang="ko-KR" sz="1000" b="1" dirty="0">
                <a:solidFill>
                  <a:srgbClr val="FF0000"/>
                </a:solidFill>
              </a:rPr>
              <a:t>=rs0</a:t>
            </a:r>
            <a:r>
              <a:rPr lang="en-US" altLang="ko-KR" sz="1000" b="1" dirty="0"/>
              <a:t>"</a:t>
            </a:r>
          </a:p>
          <a:p>
            <a:r>
              <a:rPr lang="en-US" altLang="ko-KR" sz="1000" b="1" dirty="0"/>
              <a:t>            - name: PARSE_SERVER_APP_ID</a:t>
            </a:r>
          </a:p>
          <a:p>
            <a:r>
              <a:rPr lang="en-US" altLang="ko-KR" sz="1000" b="1" dirty="0"/>
              <a:t>              value: </a:t>
            </a:r>
            <a:r>
              <a:rPr lang="en-US" altLang="ko-KR" sz="1000" b="1" dirty="0">
                <a:solidFill>
                  <a:srgbClr val="FF0000"/>
                </a:solidFill>
              </a:rPr>
              <a:t>my-app-id</a:t>
            </a:r>
          </a:p>
          <a:p>
            <a:r>
              <a:rPr lang="en-US" altLang="ko-KR" sz="1000" b="1" dirty="0"/>
              <a:t>            - name: PARSE_SERVER_MASTER_KEY</a:t>
            </a:r>
          </a:p>
          <a:p>
            <a:r>
              <a:rPr lang="en-US" altLang="ko-KR" sz="1000" b="1" dirty="0"/>
              <a:t>              value: </a:t>
            </a:r>
            <a:r>
              <a:rPr lang="en-US" altLang="ko-KR" sz="1000" b="1" dirty="0">
                <a:solidFill>
                  <a:srgbClr val="FF0000"/>
                </a:solidFill>
              </a:rPr>
              <a:t>my-master-key</a:t>
            </a:r>
            <a:endParaRPr lang="ko-KR" altLang="en-US" sz="1000" b="1" dirty="0">
              <a:solidFill>
                <a:srgbClr val="FF0000"/>
              </a:solidFill>
            </a:endParaRPr>
          </a:p>
        </p:txBody>
      </p:sp>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Parse(3/4)</a:t>
            </a:r>
            <a:endParaRPr lang="ko-KR" altLang="en-US" sz="28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FE3685A-E9C6-46AD-A8E9-D281FA818D44}"/>
              </a:ext>
            </a:extLst>
          </p:cNvPr>
          <p:cNvSpPr txBox="1"/>
          <p:nvPr/>
        </p:nvSpPr>
        <p:spPr>
          <a:xfrm>
            <a:off x="8514735" y="2155209"/>
            <a:ext cx="838692" cy="246221"/>
          </a:xfrm>
          <a:prstGeom prst="rect">
            <a:avLst/>
          </a:prstGeom>
          <a:noFill/>
        </p:spPr>
        <p:txBody>
          <a:bodyPr wrap="none" rtlCol="0">
            <a:spAutoFit/>
          </a:bodyPr>
          <a:lstStyle/>
          <a:p>
            <a:pPr algn="ctr"/>
            <a:r>
              <a:rPr lang="en-US" altLang="ko-KR" sz="1000" b="1" dirty="0" err="1"/>
              <a:t>parse.yaml</a:t>
            </a:r>
            <a:endParaRPr lang="ko-KR" altLang="en-US" sz="1000" b="1" dirty="0"/>
          </a:p>
        </p:txBody>
      </p:sp>
      <p:sp>
        <p:nvSpPr>
          <p:cNvPr id="12" name="TextBox 11">
            <a:extLst>
              <a:ext uri="{FF2B5EF4-FFF2-40B4-BE49-F238E27FC236}">
                <a16:creationId xmlns:a16="http://schemas.microsoft.com/office/drawing/2014/main" id="{6350331E-8EED-4B37-B952-1E5159F5E40B}"/>
              </a:ext>
            </a:extLst>
          </p:cNvPr>
          <p:cNvSpPr txBox="1"/>
          <p:nvPr/>
        </p:nvSpPr>
        <p:spPr>
          <a:xfrm>
            <a:off x="9353427" y="4934954"/>
            <a:ext cx="2000373" cy="1477328"/>
          </a:xfrm>
          <a:prstGeom prst="rect">
            <a:avLst/>
          </a:prstGeom>
          <a:noFill/>
        </p:spPr>
        <p:txBody>
          <a:bodyPr wrap="square" rtlCol="0">
            <a:spAutoFit/>
          </a:bodyPr>
          <a:lstStyle/>
          <a:p>
            <a:r>
              <a:rPr lang="en-US" altLang="ko-KR" sz="1000" b="1" dirty="0"/>
              <a:t>TODO : When you run “</a:t>
            </a:r>
            <a:r>
              <a:rPr lang="en-US" altLang="ko-KR" sz="1000" b="1" dirty="0" err="1">
                <a:solidFill>
                  <a:srgbClr val="FF0000"/>
                </a:solidFill>
              </a:rPr>
              <a:t>kubctl</a:t>
            </a:r>
            <a:r>
              <a:rPr lang="en-US" altLang="ko-KR" sz="1000" b="1" dirty="0">
                <a:solidFill>
                  <a:srgbClr val="FF0000"/>
                </a:solidFill>
              </a:rPr>
              <a:t> apply -f </a:t>
            </a:r>
            <a:r>
              <a:rPr lang="en-US" altLang="ko-KR" sz="1000" b="1" dirty="0" err="1">
                <a:solidFill>
                  <a:srgbClr val="FF0000"/>
                </a:solidFill>
              </a:rPr>
              <a:t>parse.yaml</a:t>
            </a:r>
            <a:r>
              <a:rPr lang="en-US" altLang="ko-KR" sz="1000" b="1" dirty="0"/>
              <a:t>” command, the pod will crash.</a:t>
            </a:r>
          </a:p>
          <a:p>
            <a:r>
              <a:rPr lang="en-US" altLang="ko-KR" sz="1000" b="1" dirty="0"/>
              <a:t>The reason is that the PARSE_SERVER_APP_ID and PARSE_SERVER_MATER_KEY are not set. I think we need more environment variables for “parse-sever” container.</a:t>
            </a:r>
            <a:endParaRPr lang="ko-KR" altLang="en-US" sz="1000" b="1" dirty="0"/>
          </a:p>
        </p:txBody>
      </p:sp>
    </p:spTree>
    <p:extLst>
      <p:ext uri="{BB962C8B-B14F-4D97-AF65-F5344CB8AC3E}">
        <p14:creationId xmlns:p14="http://schemas.microsoft.com/office/powerpoint/2010/main" val="40806893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Parse(4/4)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Testing Parse :</a:t>
            </a:r>
          </a:p>
          <a:p>
            <a:pPr lvl="1">
              <a:buFont typeface="Wingdings" panose="05000000000000000000" pitchFamily="2" charset="2"/>
              <a:buChar char="§"/>
            </a:pPr>
            <a:r>
              <a:rPr lang="en-US" altLang="ko-KR" sz="1400" b="1" dirty="0"/>
              <a:t>To test your deployment, you need to expose it as a Kubernetes service</a:t>
            </a:r>
            <a:r>
              <a:rPr lang="en-US" altLang="ko-KR" sz="1400" dirty="0"/>
              <a:t>. You can do that using the </a:t>
            </a:r>
            <a:r>
              <a:rPr lang="en-US" altLang="ko-KR" sz="1400" b="1" dirty="0"/>
              <a:t>service definition</a:t>
            </a:r>
            <a:r>
              <a:rPr lang="en-US" altLang="ko-KR" sz="1400" dirty="0"/>
              <a:t> in the following YAML file.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Now your Parse server is up and running and ready to receive requests from your mobile applications</a:t>
            </a:r>
            <a:r>
              <a:rPr lang="en-US" altLang="ko-KR" sz="1400" dirty="0"/>
              <a:t>. Of course, in any real application you are likely going to want to </a:t>
            </a:r>
            <a:r>
              <a:rPr lang="en-US" altLang="ko-KR" sz="1400" b="1" dirty="0"/>
              <a:t>secure the connection with HTTPS</a:t>
            </a:r>
            <a:r>
              <a:rPr lang="en-US" altLang="ko-KR" sz="1400" dirty="0"/>
              <a:t>. You can see the </a:t>
            </a:r>
            <a:r>
              <a:rPr lang="en-US" altLang="ko-KR" sz="1400" b="1" dirty="0">
                <a:hlinkClick r:id="rId2"/>
              </a:rPr>
              <a:t>parse-server GitHub page</a:t>
            </a:r>
            <a:r>
              <a:rPr lang="en-US" altLang="ko-KR" sz="1400" dirty="0"/>
              <a:t> for more details on such a configuration.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8F5D2C6-B65D-447C-AD1E-DA986A9DB05B}"/>
              </a:ext>
            </a:extLst>
          </p:cNvPr>
          <p:cNvGrpSpPr/>
          <p:nvPr/>
        </p:nvGrpSpPr>
        <p:grpSpPr>
          <a:xfrm>
            <a:off x="3047998" y="1604639"/>
            <a:ext cx="6096000" cy="2185213"/>
            <a:chOff x="3048000" y="1652726"/>
            <a:chExt cx="6096000" cy="2185213"/>
          </a:xfrm>
        </p:grpSpPr>
        <p:sp>
          <p:nvSpPr>
            <p:cNvPr id="8" name="직사각형 7">
              <a:extLst>
                <a:ext uri="{FF2B5EF4-FFF2-40B4-BE49-F238E27FC236}">
                  <a16:creationId xmlns:a16="http://schemas.microsoft.com/office/drawing/2014/main" id="{425159B3-0E86-48C2-B605-4CA2B62E78CD}"/>
                </a:ext>
              </a:extLst>
            </p:cNvPr>
            <p:cNvSpPr/>
            <p:nvPr/>
          </p:nvSpPr>
          <p:spPr>
            <a:xfrm>
              <a:off x="3048000" y="1652726"/>
              <a:ext cx="6096000" cy="1938992"/>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Service</a:t>
              </a:r>
            </a:p>
            <a:p>
              <a:r>
                <a:rPr lang="en-US" altLang="ko-KR" sz="1000" b="1" dirty="0"/>
                <a:t>metadata:</a:t>
              </a:r>
            </a:p>
            <a:p>
              <a:r>
                <a:rPr lang="en-US" altLang="ko-KR" sz="1000" b="1" dirty="0"/>
                <a:t>  name: </a:t>
              </a:r>
              <a:r>
                <a:rPr lang="en-US" altLang="ko-KR" sz="1000" b="1" dirty="0">
                  <a:solidFill>
                    <a:srgbClr val="FF0000"/>
                  </a:solidFill>
                </a:rPr>
                <a:t>parse-server</a:t>
              </a:r>
            </a:p>
            <a:p>
              <a:r>
                <a:rPr lang="en-US" altLang="ko-KR" sz="1000" b="1" dirty="0"/>
                <a:t>  namespace: </a:t>
              </a:r>
              <a:r>
                <a:rPr lang="en-US" altLang="ko-KR" sz="1000" b="1" dirty="0">
                  <a:solidFill>
                    <a:srgbClr val="FF0000"/>
                  </a:solidFill>
                </a:rPr>
                <a:t>default</a:t>
              </a:r>
            </a:p>
            <a:p>
              <a:r>
                <a:rPr lang="en-US" altLang="ko-KR" sz="1000" b="1" dirty="0"/>
                <a:t>spec:</a:t>
              </a:r>
            </a:p>
            <a:p>
              <a:r>
                <a:rPr lang="en-US" altLang="ko-KR" sz="1000" b="1" dirty="0"/>
                <a:t>  ports:</a:t>
              </a:r>
            </a:p>
            <a:p>
              <a:r>
                <a:rPr lang="en-US" altLang="ko-KR" sz="1000" b="1" dirty="0"/>
                <a:t>    - port: </a:t>
              </a:r>
              <a:r>
                <a:rPr lang="en-US" altLang="ko-KR" sz="1000" b="1" dirty="0">
                  <a:solidFill>
                    <a:srgbClr val="FF0000"/>
                  </a:solidFill>
                </a:rPr>
                <a:t>1337</a:t>
              </a:r>
            </a:p>
            <a:p>
              <a:r>
                <a:rPr lang="en-US" altLang="ko-KR" sz="1000" b="1" dirty="0"/>
                <a:t>      protocol: </a:t>
              </a:r>
              <a:r>
                <a:rPr lang="en-US" altLang="ko-KR" sz="1000" b="1" dirty="0">
                  <a:solidFill>
                    <a:srgbClr val="FF0000"/>
                  </a:solidFill>
                </a:rPr>
                <a:t>TCP</a:t>
              </a:r>
            </a:p>
            <a:p>
              <a:r>
                <a:rPr lang="en-US" altLang="ko-KR" sz="1000" b="1" dirty="0"/>
                <a:t>      </a:t>
              </a:r>
              <a:r>
                <a:rPr lang="en-US" altLang="ko-KR" sz="1000" b="1" dirty="0" err="1"/>
                <a:t>targetPort</a:t>
              </a:r>
              <a:r>
                <a:rPr lang="en-US" altLang="ko-KR" sz="1000" b="1" dirty="0"/>
                <a:t>: </a:t>
              </a:r>
              <a:r>
                <a:rPr lang="en-US" altLang="ko-KR" sz="1000" b="1" dirty="0">
                  <a:solidFill>
                    <a:srgbClr val="FF0000"/>
                  </a:solidFill>
                </a:rPr>
                <a:t>1337</a:t>
              </a:r>
            </a:p>
            <a:p>
              <a:r>
                <a:rPr lang="en-US" altLang="ko-KR" sz="1000" b="1" dirty="0"/>
                <a:t>  selector:</a:t>
              </a:r>
            </a:p>
            <a:p>
              <a:r>
                <a:rPr lang="en-US" altLang="ko-KR" sz="1000" b="1" dirty="0"/>
                <a:t>    run: </a:t>
              </a:r>
              <a:r>
                <a:rPr lang="en-US" altLang="ko-KR" sz="1000" b="1" dirty="0">
                  <a:solidFill>
                    <a:srgbClr val="FF0000"/>
                  </a:solidFill>
                </a:rPr>
                <a:t>parse-server</a:t>
              </a:r>
              <a:endParaRPr lang="ko-KR" altLang="en-US" sz="1000" b="1" dirty="0">
                <a:solidFill>
                  <a:srgbClr val="FF0000"/>
                </a:solidFill>
              </a:endParaRPr>
            </a:p>
          </p:txBody>
        </p:sp>
        <p:sp>
          <p:nvSpPr>
            <p:cNvPr id="9" name="TextBox 8">
              <a:extLst>
                <a:ext uri="{FF2B5EF4-FFF2-40B4-BE49-F238E27FC236}">
                  <a16:creationId xmlns:a16="http://schemas.microsoft.com/office/drawing/2014/main" id="{13D27922-FF66-4774-9980-5CA460500808}"/>
                </a:ext>
              </a:extLst>
            </p:cNvPr>
            <p:cNvSpPr txBox="1"/>
            <p:nvPr/>
          </p:nvSpPr>
          <p:spPr>
            <a:xfrm>
              <a:off x="5441814" y="3591718"/>
              <a:ext cx="1308371" cy="246221"/>
            </a:xfrm>
            <a:prstGeom prst="rect">
              <a:avLst/>
            </a:prstGeom>
            <a:noFill/>
          </p:spPr>
          <p:txBody>
            <a:bodyPr wrap="none" rtlCol="0">
              <a:spAutoFit/>
            </a:bodyPr>
            <a:lstStyle/>
            <a:p>
              <a:pPr algn="ctr"/>
              <a:r>
                <a:rPr lang="en-US" altLang="ko-KR" sz="1000" b="1" dirty="0"/>
                <a:t>parse-</a:t>
              </a:r>
              <a:r>
                <a:rPr lang="en-US" altLang="ko-KR" sz="1000" b="1" dirty="0" err="1"/>
                <a:t>service.yaml</a:t>
              </a:r>
              <a:endParaRPr lang="ko-KR" altLang="en-US" sz="1000" b="1" dirty="0"/>
            </a:p>
          </p:txBody>
        </p:sp>
      </p:grpSp>
      <p:pic>
        <p:nvPicPr>
          <p:cNvPr id="11" name="그림 10">
            <a:extLst>
              <a:ext uri="{FF2B5EF4-FFF2-40B4-BE49-F238E27FC236}">
                <a16:creationId xmlns:a16="http://schemas.microsoft.com/office/drawing/2014/main" id="{FDBAF8AA-FA8A-4C1F-87C0-52EC210B07D4}"/>
              </a:ext>
            </a:extLst>
          </p:cNvPr>
          <p:cNvPicPr>
            <a:picLocks noChangeAspect="1"/>
          </p:cNvPicPr>
          <p:nvPr/>
        </p:nvPicPr>
        <p:blipFill>
          <a:blip r:embed="rId3"/>
          <a:stretch>
            <a:fillRect/>
          </a:stretch>
        </p:blipFill>
        <p:spPr>
          <a:xfrm>
            <a:off x="1462246" y="4620085"/>
            <a:ext cx="9267504" cy="1760826"/>
          </a:xfrm>
          <a:prstGeom prst="rect">
            <a:avLst/>
          </a:prstGeom>
          <a:ln>
            <a:solidFill>
              <a:schemeClr val="bg1">
                <a:lumMod val="50000"/>
              </a:schemeClr>
            </a:solidFill>
          </a:ln>
        </p:spPr>
      </p:pic>
    </p:spTree>
    <p:extLst>
      <p:ext uri="{BB962C8B-B14F-4D97-AF65-F5344CB8AC3E}">
        <p14:creationId xmlns:p14="http://schemas.microsoft.com/office/powerpoint/2010/main" val="28930431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Ghost :</a:t>
            </a:r>
          </a:p>
          <a:p>
            <a:pPr lvl="1">
              <a:buFont typeface="Wingdings" panose="05000000000000000000" pitchFamily="2" charset="2"/>
              <a:buChar char="§"/>
            </a:pPr>
            <a:r>
              <a:rPr lang="en-US" altLang="ko-KR" sz="1400" b="1" dirty="0">
                <a:hlinkClick r:id="rId2"/>
              </a:rPr>
              <a:t>Ghost</a:t>
            </a:r>
            <a:r>
              <a:rPr lang="en-US" altLang="ko-KR" sz="1400" b="1" dirty="0"/>
              <a:t> is a popular blogging engine with a clean interface written in JavaScript</a:t>
            </a:r>
            <a:r>
              <a:rPr lang="en-US" altLang="ko-KR" sz="1400" dirty="0"/>
              <a:t>. It can either use </a:t>
            </a:r>
            <a:r>
              <a:rPr lang="en-US" altLang="ko-KR" sz="1400" b="1" dirty="0"/>
              <a:t>a file-based SQLite database or MySQL </a:t>
            </a:r>
            <a:r>
              <a:rPr lang="en-US" altLang="ko-KR" sz="1400" dirty="0"/>
              <a:t>for storage.</a:t>
            </a:r>
          </a:p>
          <a:p>
            <a:pPr lvl="1">
              <a:buFont typeface="Wingdings" panose="05000000000000000000" pitchFamily="2" charset="2"/>
              <a:buChar char="§"/>
            </a:pPr>
            <a:r>
              <a:rPr lang="en-US" altLang="ko-KR" sz="1400" b="1" dirty="0"/>
              <a:t>Ghost is configured with a simple JavaScript file that describes the server</a:t>
            </a:r>
            <a:r>
              <a:rPr lang="en-US" altLang="ko-KR" sz="1400" dirty="0"/>
              <a:t>. </a:t>
            </a:r>
            <a:r>
              <a:rPr lang="en-US" altLang="ko-KR" sz="1400" b="1" dirty="0"/>
              <a:t>We will store this file as a configuration map(</a:t>
            </a:r>
            <a:r>
              <a:rPr lang="en-US" altLang="ko-KR" sz="1400" b="1" dirty="0" err="1"/>
              <a:t>ConfigMap</a:t>
            </a:r>
            <a:r>
              <a:rPr lang="en-US" altLang="ko-KR" sz="1400" b="1" dirty="0"/>
              <a:t>)</a:t>
            </a:r>
            <a:r>
              <a:rPr lang="en-US" altLang="ko-KR" sz="1400" dirty="0"/>
              <a:t>. A simple development configuration for Ghost looks like the following JavaScript file.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508DEAC-2074-4432-9403-8040CC0F266C}"/>
              </a:ext>
            </a:extLst>
          </p:cNvPr>
          <p:cNvGrpSpPr/>
          <p:nvPr/>
        </p:nvGrpSpPr>
        <p:grpSpPr>
          <a:xfrm>
            <a:off x="3048000" y="2231108"/>
            <a:ext cx="6096000" cy="4031873"/>
            <a:chOff x="3047999" y="2030938"/>
            <a:chExt cx="6096000" cy="4031873"/>
          </a:xfrm>
        </p:grpSpPr>
        <p:sp>
          <p:nvSpPr>
            <p:cNvPr id="4" name="직사각형 3">
              <a:extLst>
                <a:ext uri="{FF2B5EF4-FFF2-40B4-BE49-F238E27FC236}">
                  <a16:creationId xmlns:a16="http://schemas.microsoft.com/office/drawing/2014/main" id="{5741EF8B-34E8-4294-B6F2-9B1DBFA7DC7E}"/>
                </a:ext>
              </a:extLst>
            </p:cNvPr>
            <p:cNvSpPr/>
            <p:nvPr/>
          </p:nvSpPr>
          <p:spPr>
            <a:xfrm>
              <a:off x="3047999" y="2030938"/>
              <a:ext cx="6096000" cy="3785652"/>
            </a:xfrm>
            <a:prstGeom prst="rect">
              <a:avLst/>
            </a:prstGeom>
            <a:ln>
              <a:solidFill>
                <a:schemeClr val="bg1">
                  <a:lumMod val="50000"/>
                </a:schemeClr>
              </a:solidFill>
            </a:ln>
          </p:spPr>
          <p:txBody>
            <a:bodyPr>
              <a:spAutoFit/>
            </a:bodyPr>
            <a:lstStyle/>
            <a:p>
              <a:r>
                <a:rPr lang="en-US" altLang="ko-KR" sz="1000" b="1" dirty="0"/>
                <a:t>var path = require('path'),</a:t>
              </a:r>
            </a:p>
            <a:p>
              <a:r>
                <a:rPr lang="en-US" altLang="ko-KR" sz="1000" b="1" dirty="0"/>
                <a:t>  config;</a:t>
              </a:r>
            </a:p>
            <a:p>
              <a:r>
                <a:rPr lang="en-US" altLang="ko-KR" sz="1000" b="1" dirty="0"/>
                <a:t>config = {</a:t>
              </a:r>
            </a:p>
            <a:p>
              <a:r>
                <a:rPr lang="en-US" altLang="ko-KR" sz="1000" b="1" dirty="0"/>
                <a:t>  development: {</a:t>
              </a:r>
            </a:p>
            <a:p>
              <a:r>
                <a:rPr lang="en-US" altLang="ko-KR" sz="1000" b="1" dirty="0"/>
                <a:t>    url: </a:t>
              </a:r>
              <a:r>
                <a:rPr lang="en-US" altLang="ko-KR" sz="1000" b="1" dirty="0">
                  <a:solidFill>
                    <a:srgbClr val="FF0000"/>
                  </a:solidFill>
                </a:rPr>
                <a:t>'http://localhost:2368</a:t>
              </a:r>
              <a:r>
                <a:rPr lang="en-US" altLang="ko-KR" sz="1000" b="1" dirty="0"/>
                <a:t>',</a:t>
              </a:r>
            </a:p>
            <a:p>
              <a:r>
                <a:rPr lang="en-US" altLang="ko-KR" sz="1000" b="1" dirty="0"/>
                <a:t>    database: {</a:t>
              </a:r>
            </a:p>
            <a:p>
              <a:r>
                <a:rPr lang="en-US" altLang="ko-KR" sz="1000" b="1" dirty="0"/>
                <a:t>      client: 'sqlite3',</a:t>
              </a:r>
            </a:p>
            <a:p>
              <a:r>
                <a:rPr lang="en-US" altLang="ko-KR" sz="1000" b="1" dirty="0"/>
                <a:t>      connection: {</a:t>
              </a:r>
            </a:p>
            <a:p>
              <a:r>
                <a:rPr lang="en-US" altLang="ko-KR" sz="1000" b="1" dirty="0"/>
                <a:t>        filename: </a:t>
              </a:r>
              <a:r>
                <a:rPr lang="en-US" altLang="ko-KR" sz="1000" b="1" dirty="0" err="1">
                  <a:solidFill>
                    <a:srgbClr val="FF0000"/>
                  </a:solidFill>
                </a:rPr>
                <a:t>path.join</a:t>
              </a:r>
              <a:r>
                <a:rPr lang="en-US" altLang="ko-KR" sz="1000" b="1" dirty="0">
                  <a:solidFill>
                    <a:srgbClr val="FF0000"/>
                  </a:solidFill>
                </a:rPr>
                <a:t>(</a:t>
              </a:r>
              <a:r>
                <a:rPr lang="en-US" altLang="ko-KR" sz="1000" b="1" dirty="0" err="1">
                  <a:solidFill>
                    <a:srgbClr val="FF0000"/>
                  </a:solidFill>
                </a:rPr>
                <a:t>process.env.GHOST_CONTENT</a:t>
              </a:r>
              <a:r>
                <a:rPr lang="en-US" altLang="ko-KR" sz="1000" b="1" dirty="0">
                  <a:solidFill>
                    <a:srgbClr val="FF0000"/>
                  </a:solidFill>
                </a:rPr>
                <a:t>,</a:t>
              </a:r>
            </a:p>
            <a:p>
              <a:r>
                <a:rPr lang="en-US" altLang="ko-KR" sz="1000" b="1" dirty="0">
                  <a:solidFill>
                    <a:srgbClr val="FF0000"/>
                  </a:solidFill>
                </a:rPr>
                <a:t>          '/data/ghost-</a:t>
              </a:r>
              <a:r>
                <a:rPr lang="en-US" altLang="ko-KR" sz="1000" b="1" dirty="0" err="1">
                  <a:solidFill>
                    <a:srgbClr val="FF0000"/>
                  </a:solidFill>
                </a:rPr>
                <a:t>dev.db</a:t>
              </a:r>
              <a:r>
                <a:rPr lang="en-US" altLang="ko-KR" sz="1000" b="1" dirty="0"/>
                <a:t>')</a:t>
              </a:r>
            </a:p>
            <a:p>
              <a:r>
                <a:rPr lang="en-US" altLang="ko-KR" sz="1000" b="1" dirty="0"/>
                <a:t>      },</a:t>
              </a:r>
            </a:p>
            <a:p>
              <a:r>
                <a:rPr lang="en-US" altLang="ko-KR" sz="1000" b="1" dirty="0"/>
                <a:t>      debug: false</a:t>
              </a:r>
            </a:p>
            <a:p>
              <a:r>
                <a:rPr lang="en-US" altLang="ko-KR" sz="1000" b="1" dirty="0"/>
                <a:t>    },</a:t>
              </a:r>
            </a:p>
            <a:p>
              <a:r>
                <a:rPr lang="en-US" altLang="ko-KR" sz="1000" b="1" dirty="0"/>
                <a:t>    server: {</a:t>
              </a:r>
            </a:p>
            <a:p>
              <a:r>
                <a:rPr lang="en-US" altLang="ko-KR" sz="1000" b="1" dirty="0"/>
                <a:t>      host: '</a:t>
              </a:r>
              <a:r>
                <a:rPr lang="en-US" altLang="ko-KR" sz="1000" b="1" dirty="0">
                  <a:solidFill>
                    <a:srgbClr val="FF0000"/>
                  </a:solidFill>
                </a:rPr>
                <a:t>0.0.0.0</a:t>
              </a:r>
              <a:r>
                <a:rPr lang="en-US" altLang="ko-KR" sz="1000" b="1" dirty="0"/>
                <a:t>',</a:t>
              </a:r>
            </a:p>
            <a:p>
              <a:r>
                <a:rPr lang="en-US" altLang="ko-KR" sz="1000" b="1" dirty="0"/>
                <a:t>      port: '</a:t>
              </a:r>
              <a:r>
                <a:rPr lang="en-US" altLang="ko-KR" sz="1000" b="1" dirty="0">
                  <a:solidFill>
                    <a:srgbClr val="FF0000"/>
                  </a:solidFill>
                </a:rPr>
                <a:t>2368</a:t>
              </a:r>
              <a:r>
                <a:rPr lang="en-US" altLang="ko-KR" sz="1000" b="1" dirty="0"/>
                <a:t>'</a:t>
              </a:r>
            </a:p>
            <a:p>
              <a:r>
                <a:rPr lang="en-US" altLang="ko-KR" sz="1000" b="1" dirty="0"/>
                <a:t>    },</a:t>
              </a:r>
            </a:p>
            <a:p>
              <a:r>
                <a:rPr lang="en-US" altLang="ko-KR" sz="1000" b="1" dirty="0"/>
                <a:t>    paths: {</a:t>
              </a:r>
            </a:p>
            <a:p>
              <a:r>
                <a:rPr lang="en-US" altLang="ko-KR" sz="1000" b="1" dirty="0"/>
                <a:t>      </a:t>
              </a:r>
              <a:r>
                <a:rPr lang="en-US" altLang="ko-KR" sz="1000" b="1" dirty="0" err="1">
                  <a:solidFill>
                    <a:srgbClr val="FF0000"/>
                  </a:solidFill>
                </a:rPr>
                <a:t>contentPath</a:t>
              </a:r>
              <a:r>
                <a:rPr lang="en-US" altLang="ko-KR" sz="1000" b="1" dirty="0">
                  <a:solidFill>
                    <a:srgbClr val="FF0000"/>
                  </a:solidFill>
                </a:rPr>
                <a:t>: </a:t>
              </a:r>
              <a:r>
                <a:rPr lang="en-US" altLang="ko-KR" sz="1000" b="1" dirty="0" err="1">
                  <a:solidFill>
                    <a:srgbClr val="FF0000"/>
                  </a:solidFill>
                </a:rPr>
                <a:t>path.join</a:t>
              </a:r>
              <a:r>
                <a:rPr lang="en-US" altLang="ko-KR" sz="1000" b="1" dirty="0">
                  <a:solidFill>
                    <a:srgbClr val="FF0000"/>
                  </a:solidFill>
                </a:rPr>
                <a:t>(</a:t>
              </a:r>
              <a:r>
                <a:rPr lang="en-US" altLang="ko-KR" sz="1000" b="1" dirty="0" err="1">
                  <a:solidFill>
                    <a:srgbClr val="FF0000"/>
                  </a:solidFill>
                </a:rPr>
                <a:t>process.env.GHOST_CONTENT</a:t>
              </a:r>
              <a:r>
                <a:rPr lang="en-US" altLang="ko-KR" sz="1000" b="1" dirty="0">
                  <a:solidFill>
                    <a:srgbClr val="FF0000"/>
                  </a:solidFill>
                </a:rPr>
                <a:t>, '/')</a:t>
              </a:r>
            </a:p>
            <a:p>
              <a:r>
                <a:rPr lang="en-US" altLang="ko-KR" sz="1000" b="1" dirty="0"/>
                <a:t>    }</a:t>
              </a:r>
            </a:p>
            <a:p>
              <a:r>
                <a:rPr lang="en-US" altLang="ko-KR" sz="1000" b="1" dirty="0"/>
                <a:t>  }</a:t>
              </a:r>
            </a:p>
            <a:p>
              <a:r>
                <a:rPr lang="en-US" altLang="ko-KR" sz="1000" b="1" dirty="0"/>
                <a:t>};</a:t>
              </a:r>
            </a:p>
            <a:p>
              <a:endParaRPr lang="en-US" altLang="ko-KR" sz="1000" b="1" dirty="0"/>
            </a:p>
            <a:p>
              <a:r>
                <a:rPr lang="en-US" altLang="ko-KR" sz="1000" b="1" dirty="0" err="1"/>
                <a:t>module.exports</a:t>
              </a:r>
              <a:r>
                <a:rPr lang="en-US" altLang="ko-KR" sz="1000" b="1" dirty="0"/>
                <a:t> = config;</a:t>
              </a:r>
              <a:endParaRPr lang="ko-KR" altLang="en-US" sz="1000" b="1" dirty="0"/>
            </a:p>
          </p:txBody>
        </p:sp>
        <p:sp>
          <p:nvSpPr>
            <p:cNvPr id="8" name="TextBox 7">
              <a:extLst>
                <a:ext uri="{FF2B5EF4-FFF2-40B4-BE49-F238E27FC236}">
                  <a16:creationId xmlns:a16="http://schemas.microsoft.com/office/drawing/2014/main" id="{1023B0A1-2AB3-411D-BFCB-4A35BBE64044}"/>
                </a:ext>
              </a:extLst>
            </p:cNvPr>
            <p:cNvSpPr txBox="1"/>
            <p:nvPr/>
          </p:nvSpPr>
          <p:spPr>
            <a:xfrm>
              <a:off x="5546810" y="5816590"/>
              <a:ext cx="1098379" cy="246221"/>
            </a:xfrm>
            <a:prstGeom prst="rect">
              <a:avLst/>
            </a:prstGeom>
            <a:noFill/>
          </p:spPr>
          <p:txBody>
            <a:bodyPr wrap="none" rtlCol="0">
              <a:spAutoFit/>
            </a:bodyPr>
            <a:lstStyle/>
            <a:p>
              <a:pPr algn="ctr"/>
              <a:r>
                <a:rPr lang="en-US" altLang="ko-KR" sz="1000" b="1" dirty="0"/>
                <a:t>ghost-config.js</a:t>
              </a:r>
              <a:endParaRPr lang="ko-KR" altLang="en-US" sz="1000" b="1" dirty="0"/>
            </a:p>
          </p:txBody>
        </p:sp>
      </p:grpSp>
    </p:spTree>
    <p:extLst>
      <p:ext uri="{BB962C8B-B14F-4D97-AF65-F5344CB8AC3E}">
        <p14:creationId xmlns:p14="http://schemas.microsoft.com/office/powerpoint/2010/main" val="33050533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Ghost :</a:t>
            </a:r>
          </a:p>
          <a:p>
            <a:pPr lvl="1">
              <a:buFont typeface="Wingdings" panose="05000000000000000000" pitchFamily="2" charset="2"/>
              <a:buChar char="§"/>
            </a:pPr>
            <a:r>
              <a:rPr lang="en-US" altLang="ko-KR" sz="1400" dirty="0"/>
              <a:t>Once you have this </a:t>
            </a:r>
            <a:r>
              <a:rPr lang="en-US" altLang="ko-KR" sz="1400" b="1" dirty="0"/>
              <a:t>configuration file</a:t>
            </a:r>
            <a:r>
              <a:rPr lang="en-US" altLang="ko-KR" sz="1400" dirty="0"/>
              <a:t> saved to “</a:t>
            </a:r>
            <a:r>
              <a:rPr lang="en-US" altLang="ko-KR" sz="1400" b="1" dirty="0"/>
              <a:t>ghost-config.js</a:t>
            </a:r>
            <a:r>
              <a:rPr lang="en-US" altLang="ko-KR" sz="1400" dirty="0"/>
              <a:t>”, you can create a Kubernetes </a:t>
            </a:r>
            <a:r>
              <a:rPr lang="en-US" altLang="ko-KR" sz="1400" b="1" dirty="0" err="1"/>
              <a:t>ConfigMap</a:t>
            </a:r>
            <a:r>
              <a:rPr lang="en-US" altLang="ko-KR" sz="1400" dirty="0"/>
              <a:t> object using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creates a </a:t>
            </a:r>
            <a:r>
              <a:rPr lang="en-US" altLang="ko-KR" sz="1400" b="1" dirty="0" err="1"/>
              <a:t>ConfigMap</a:t>
            </a:r>
            <a:r>
              <a:rPr lang="en-US" altLang="ko-KR" sz="1400" b="1" dirty="0"/>
              <a:t> that is named “ghost-config”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AA31FD0-50CB-4E10-9B8F-9C95A05FC2EE}"/>
              </a:ext>
            </a:extLst>
          </p:cNvPr>
          <p:cNvGrpSpPr/>
          <p:nvPr/>
        </p:nvGrpSpPr>
        <p:grpSpPr>
          <a:xfrm>
            <a:off x="1333500" y="2069515"/>
            <a:ext cx="9525000" cy="2383159"/>
            <a:chOff x="1333500" y="1627555"/>
            <a:chExt cx="9525000" cy="2383159"/>
          </a:xfrm>
        </p:grpSpPr>
        <p:grpSp>
          <p:nvGrpSpPr>
            <p:cNvPr id="10" name="그룹 9">
              <a:extLst>
                <a:ext uri="{FF2B5EF4-FFF2-40B4-BE49-F238E27FC236}">
                  <a16:creationId xmlns:a16="http://schemas.microsoft.com/office/drawing/2014/main" id="{574B1DF5-A24E-42EC-8436-84476FCFF5AD}"/>
                </a:ext>
              </a:extLst>
            </p:cNvPr>
            <p:cNvGrpSpPr/>
            <p:nvPr/>
          </p:nvGrpSpPr>
          <p:grpSpPr>
            <a:xfrm>
              <a:off x="1333500" y="1627555"/>
              <a:ext cx="9525000" cy="2383159"/>
              <a:chOff x="1333500" y="1566595"/>
              <a:chExt cx="9525000" cy="2383159"/>
            </a:xfrm>
          </p:grpSpPr>
          <p:sp>
            <p:nvSpPr>
              <p:cNvPr id="4" name="직사각형 3">
                <a:extLst>
                  <a:ext uri="{FF2B5EF4-FFF2-40B4-BE49-F238E27FC236}">
                    <a16:creationId xmlns:a16="http://schemas.microsoft.com/office/drawing/2014/main" id="{9981850B-246D-47A8-8688-D15D3DBCF31C}"/>
                  </a:ext>
                </a:extLst>
              </p:cNvPr>
              <p:cNvSpPr/>
              <p:nvPr/>
            </p:nvSpPr>
            <p:spPr>
              <a:xfrm>
                <a:off x="3048000" y="1566595"/>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create cm --from-file </a:t>
                </a:r>
                <a:r>
                  <a:rPr lang="en-US" altLang="ko-KR" sz="1000" b="1" dirty="0">
                    <a:solidFill>
                      <a:srgbClr val="FF0000"/>
                    </a:solidFill>
                  </a:rPr>
                  <a:t>ghost-config.js ghost-config</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139E3C49-3995-404F-8402-F3530B2B4147}"/>
                  </a:ext>
                </a:extLst>
              </p:cNvPr>
              <p:cNvPicPr>
                <a:picLocks noChangeAspect="1"/>
              </p:cNvPicPr>
              <p:nvPr/>
            </p:nvPicPr>
            <p:blipFill>
              <a:blip r:embed="rId2"/>
              <a:stretch>
                <a:fillRect/>
              </a:stretch>
            </p:blipFill>
            <p:spPr>
              <a:xfrm>
                <a:off x="1333500" y="2101904"/>
                <a:ext cx="9525000" cy="1847850"/>
              </a:xfrm>
              <a:prstGeom prst="rect">
                <a:avLst/>
              </a:prstGeom>
            </p:spPr>
          </p:pic>
          <p:sp>
            <p:nvSpPr>
              <p:cNvPr id="9" name="화살표: 아래쪽 8">
                <a:extLst>
                  <a:ext uri="{FF2B5EF4-FFF2-40B4-BE49-F238E27FC236}">
                    <a16:creationId xmlns:a16="http://schemas.microsoft.com/office/drawing/2014/main" id="{5C17B46E-A710-4B11-A096-EC0FDF05A43A}"/>
                  </a:ext>
                </a:extLst>
              </p:cNvPr>
              <p:cNvSpPr/>
              <p:nvPr/>
            </p:nvSpPr>
            <p:spPr>
              <a:xfrm>
                <a:off x="5901690" y="1837759"/>
                <a:ext cx="388620" cy="2641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1D49FF37-3F85-4214-9C98-17AED56189E4}"/>
                </a:ext>
              </a:extLst>
            </p:cNvPr>
            <p:cNvSpPr/>
            <p:nvPr/>
          </p:nvSpPr>
          <p:spPr>
            <a:xfrm>
              <a:off x="1424940" y="3352800"/>
              <a:ext cx="2392680" cy="1752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650987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Ghost :</a:t>
            </a:r>
          </a:p>
          <a:p>
            <a:pPr lvl="1">
              <a:buFont typeface="Wingdings" panose="05000000000000000000" pitchFamily="2" charset="2"/>
              <a:buChar char="§"/>
            </a:pPr>
            <a:r>
              <a:rPr lang="en-US" altLang="ko-KR" sz="1400" dirty="0"/>
              <a:t>We will </a:t>
            </a:r>
            <a:r>
              <a:rPr lang="en-US" altLang="ko-KR" sz="1400" b="1" dirty="0"/>
              <a:t>mount this configuration file as a volume inside of our container</a:t>
            </a:r>
            <a:r>
              <a:rPr lang="en-US" altLang="ko-KR" sz="1400" dirty="0"/>
              <a:t>. We will </a:t>
            </a:r>
            <a:r>
              <a:rPr lang="en-US" altLang="ko-KR" sz="1400" b="1" dirty="0"/>
              <a:t>deploy Ghost as a Deployment object, which defines this volume mount </a:t>
            </a:r>
            <a:r>
              <a:rPr lang="en-US" altLang="ko-KR" sz="1400" dirty="0"/>
              <a:t>as part of the Pod template.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C3C2578-9702-4D06-A7F6-5BDD7AB53BF5}"/>
              </a:ext>
            </a:extLst>
          </p:cNvPr>
          <p:cNvGrpSpPr/>
          <p:nvPr/>
        </p:nvGrpSpPr>
        <p:grpSpPr>
          <a:xfrm>
            <a:off x="3048000" y="1647369"/>
            <a:ext cx="6096000" cy="4708981"/>
            <a:chOff x="3048000" y="1647369"/>
            <a:chExt cx="6096000" cy="4708981"/>
          </a:xfrm>
        </p:grpSpPr>
        <p:sp>
          <p:nvSpPr>
            <p:cNvPr id="8" name="직사각형 7">
              <a:extLst>
                <a:ext uri="{FF2B5EF4-FFF2-40B4-BE49-F238E27FC236}">
                  <a16:creationId xmlns:a16="http://schemas.microsoft.com/office/drawing/2014/main" id="{41861C75-BC78-4273-A1B1-0B3903406A38}"/>
                </a:ext>
              </a:extLst>
            </p:cNvPr>
            <p:cNvSpPr/>
            <p:nvPr/>
          </p:nvSpPr>
          <p:spPr>
            <a:xfrm>
              <a:off x="3048000" y="1647369"/>
              <a:ext cx="6096000" cy="4708981"/>
            </a:xfrm>
            <a:prstGeom prst="rect">
              <a:avLst/>
            </a:prstGeom>
            <a:ln>
              <a:solidFill>
                <a:schemeClr val="accent1"/>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a:solidFill>
                    <a:srgbClr val="FF0000"/>
                  </a:solidFill>
                </a:rPr>
                <a:t>Deployment</a:t>
              </a:r>
            </a:p>
            <a:p>
              <a:r>
                <a:rPr lang="en-US" altLang="ko-KR" sz="1000" b="1" dirty="0"/>
                <a:t>metadata:</a:t>
              </a:r>
            </a:p>
            <a:p>
              <a:r>
                <a:rPr lang="en-US" altLang="ko-KR" sz="1000" b="1" dirty="0"/>
                <a:t>  name: ghost</a:t>
              </a:r>
            </a:p>
            <a:p>
              <a:r>
                <a:rPr lang="en-US" altLang="ko-KR" sz="1000" b="1" dirty="0"/>
                <a:t>spec:</a:t>
              </a:r>
            </a:p>
            <a:p>
              <a:r>
                <a:rPr lang="en-US" altLang="ko-KR" sz="1000" b="1" dirty="0"/>
                <a:t>  replicas: </a:t>
              </a:r>
              <a:r>
                <a:rPr lang="en-US" altLang="ko-KR" sz="1000" b="1" dirty="0">
                  <a:solidFill>
                    <a:srgbClr val="FF0000"/>
                  </a:solidFill>
                </a:rPr>
                <a:t>1</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run: ghost</a:t>
              </a:r>
            </a:p>
            <a:p>
              <a:r>
                <a:rPr lang="en-US" altLang="ko-KR" sz="1000" b="1" dirty="0"/>
                <a:t>  template:</a:t>
              </a:r>
            </a:p>
            <a:p>
              <a:r>
                <a:rPr lang="en-US" altLang="ko-KR" sz="1000" b="1" dirty="0"/>
                <a:t>    metadata:</a:t>
              </a:r>
            </a:p>
            <a:p>
              <a:r>
                <a:rPr lang="en-US" altLang="ko-KR" sz="1000" b="1" dirty="0"/>
                <a:t>      labels:</a:t>
              </a:r>
            </a:p>
            <a:p>
              <a:r>
                <a:rPr lang="en-US" altLang="ko-KR" sz="1000" b="1" dirty="0"/>
                <a:t>        run: ghost</a:t>
              </a:r>
            </a:p>
            <a:p>
              <a:r>
                <a:rPr lang="en-US" altLang="ko-KR" sz="1000" b="1" dirty="0"/>
                <a:t>    spec:</a:t>
              </a:r>
            </a:p>
            <a:p>
              <a:r>
                <a:rPr lang="en-US" altLang="ko-KR" sz="1000" b="1" dirty="0"/>
                <a:t>      containers:</a:t>
              </a:r>
            </a:p>
            <a:p>
              <a:r>
                <a:rPr lang="en-US" altLang="ko-KR" sz="1000" b="1" dirty="0"/>
                <a:t>        - image: ghost</a:t>
              </a:r>
            </a:p>
            <a:p>
              <a:r>
                <a:rPr lang="en-US" altLang="ko-KR" sz="1000" b="1" dirty="0"/>
                <a:t>          name: ghost</a:t>
              </a:r>
            </a:p>
            <a:p>
              <a:r>
                <a:rPr lang="en-US" altLang="ko-KR" sz="1000" b="1" dirty="0"/>
                <a:t>          command:</a:t>
              </a:r>
            </a:p>
            <a:p>
              <a:r>
                <a:rPr lang="en-US" altLang="ko-KR" sz="1000" b="1" dirty="0"/>
                <a:t>            </a:t>
              </a:r>
              <a:r>
                <a:rPr lang="en-US" altLang="ko-KR" sz="1000" b="1" dirty="0">
                  <a:solidFill>
                    <a:srgbClr val="FF0000"/>
                  </a:solidFill>
                </a:rPr>
                <a:t>- </a:t>
              </a:r>
              <a:r>
                <a:rPr lang="en-US" altLang="ko-KR" sz="1000" b="1" dirty="0" err="1">
                  <a:solidFill>
                    <a:srgbClr val="FF0000"/>
                  </a:solidFill>
                </a:rPr>
                <a:t>sh</a:t>
              </a:r>
              <a:endParaRPr lang="en-US" altLang="ko-KR" sz="1000" b="1" dirty="0">
                <a:solidFill>
                  <a:srgbClr val="FF0000"/>
                </a:solidFill>
              </a:endParaRPr>
            </a:p>
            <a:p>
              <a:r>
                <a:rPr lang="en-US" altLang="ko-KR" sz="1000" b="1" dirty="0">
                  <a:solidFill>
                    <a:srgbClr val="FF0000"/>
                  </a:solidFill>
                </a:rPr>
                <a:t>            - -c</a:t>
              </a:r>
            </a:p>
            <a:p>
              <a:r>
                <a:rPr lang="en-US" altLang="ko-KR" sz="1000" b="1" dirty="0">
                  <a:solidFill>
                    <a:srgbClr val="FF0000"/>
                  </a:solidFill>
                </a:rPr>
                <a:t>            - cp /ghost-config/ghost-config.js /var/lib/ghost/config.js</a:t>
              </a:r>
            </a:p>
            <a:p>
              <a:r>
                <a:rPr lang="en-US" altLang="ko-KR" sz="1000" b="1" dirty="0">
                  <a:solidFill>
                    <a:srgbClr val="FF0000"/>
                  </a:solidFill>
                </a:rPr>
                <a:t>              &amp;&amp; /usr/local/bin/docker-entrypoint.sh node current/index.js</a:t>
              </a:r>
            </a:p>
            <a:p>
              <a:r>
                <a:rPr lang="en-US" altLang="ko-KR" sz="1000" b="1" dirty="0">
                  <a:solidFill>
                    <a:srgbClr val="FF0000"/>
                  </a:solidFill>
                </a:rPr>
                <a:t>          </a:t>
              </a:r>
              <a:r>
                <a:rPr lang="en-US" altLang="ko-KR" sz="1000" b="1" dirty="0" err="1">
                  <a:solidFill>
                    <a:srgbClr val="FF0000"/>
                  </a:solidFill>
                </a:rPr>
                <a:t>volumeMounts</a:t>
              </a:r>
              <a:r>
                <a:rPr lang="en-US" altLang="ko-KR" sz="1000" b="1" dirty="0">
                  <a:solidFill>
                    <a:srgbClr val="FF0000"/>
                  </a:solidFill>
                </a:rPr>
                <a:t>:</a:t>
              </a:r>
            </a:p>
            <a:p>
              <a:r>
                <a:rPr lang="en-US" altLang="ko-KR" sz="1000" b="1" dirty="0"/>
                <a:t>            - </a:t>
              </a:r>
              <a:r>
                <a:rPr lang="en-US" altLang="ko-KR" sz="1000" b="1" dirty="0" err="1">
                  <a:solidFill>
                    <a:srgbClr val="FF0000"/>
                  </a:solidFill>
                </a:rPr>
                <a:t>mountPath</a:t>
              </a:r>
              <a:r>
                <a:rPr lang="en-US" altLang="ko-KR" sz="1000" b="1" dirty="0">
                  <a:solidFill>
                    <a:srgbClr val="FF0000"/>
                  </a:solidFill>
                </a:rPr>
                <a:t>: /ghost-config</a:t>
              </a:r>
            </a:p>
            <a:p>
              <a:r>
                <a:rPr lang="en-US" altLang="ko-KR" sz="1000" b="1" dirty="0"/>
                <a:t>              name: config</a:t>
              </a:r>
            </a:p>
            <a:p>
              <a:r>
                <a:rPr lang="en-US" altLang="ko-KR" sz="1000" b="1" dirty="0">
                  <a:solidFill>
                    <a:srgbClr val="FF0000"/>
                  </a:solidFill>
                </a:rPr>
                <a:t>      volumes:</a:t>
              </a:r>
            </a:p>
            <a:p>
              <a:r>
                <a:rPr lang="en-US" altLang="ko-KR" sz="1000" b="1" dirty="0"/>
                <a:t>        - name: config</a:t>
              </a:r>
            </a:p>
            <a:p>
              <a:r>
                <a:rPr lang="en-US" altLang="ko-KR" sz="1000" b="1" dirty="0"/>
                <a:t>          </a:t>
              </a:r>
              <a:r>
                <a:rPr lang="en-US" altLang="ko-KR" sz="1000" b="1" dirty="0" err="1"/>
                <a:t>configMap</a:t>
              </a:r>
              <a:r>
                <a:rPr lang="en-US" altLang="ko-KR" sz="1000" b="1" dirty="0"/>
                <a:t>:</a:t>
              </a:r>
            </a:p>
            <a:p>
              <a:r>
                <a:rPr lang="en-US" altLang="ko-KR" sz="1000" b="1" dirty="0"/>
                <a:t>            </a:t>
              </a:r>
              <a:r>
                <a:rPr lang="en-US" altLang="ko-KR" sz="1000" b="1" dirty="0" err="1">
                  <a:solidFill>
                    <a:srgbClr val="FF0000"/>
                  </a:solidFill>
                </a:rPr>
                <a:t>defaultMode</a:t>
              </a:r>
              <a:r>
                <a:rPr lang="en-US" altLang="ko-KR" sz="1000" b="1" dirty="0">
                  <a:solidFill>
                    <a:srgbClr val="FF0000"/>
                  </a:solidFill>
                </a:rPr>
                <a:t>: 420</a:t>
              </a:r>
            </a:p>
            <a:p>
              <a:r>
                <a:rPr lang="en-US" altLang="ko-KR" sz="1000" b="1" dirty="0"/>
                <a:t>            name: ghost-config</a:t>
              </a:r>
              <a:endParaRPr lang="ko-KR" altLang="en-US" sz="1000" b="1" dirty="0"/>
            </a:p>
          </p:txBody>
        </p:sp>
        <p:sp>
          <p:nvSpPr>
            <p:cNvPr id="9" name="TextBox 8">
              <a:extLst>
                <a:ext uri="{FF2B5EF4-FFF2-40B4-BE49-F238E27FC236}">
                  <a16:creationId xmlns:a16="http://schemas.microsoft.com/office/drawing/2014/main" id="{F0DCBD6C-801F-4066-A87B-832F96B214AA}"/>
                </a:ext>
              </a:extLst>
            </p:cNvPr>
            <p:cNvSpPr txBox="1"/>
            <p:nvPr/>
          </p:nvSpPr>
          <p:spPr>
            <a:xfrm>
              <a:off x="8286073" y="1647369"/>
              <a:ext cx="857927" cy="246221"/>
            </a:xfrm>
            <a:prstGeom prst="rect">
              <a:avLst/>
            </a:prstGeom>
            <a:noFill/>
          </p:spPr>
          <p:txBody>
            <a:bodyPr wrap="none" rtlCol="0">
              <a:spAutoFit/>
            </a:bodyPr>
            <a:lstStyle/>
            <a:p>
              <a:pPr algn="ctr"/>
              <a:r>
                <a:rPr lang="en-US" altLang="ko-KR" sz="1000" b="1" dirty="0" err="1"/>
                <a:t>ghost.yaml</a:t>
              </a:r>
              <a:endParaRPr lang="ko-KR" altLang="en-US" sz="1000" b="1" dirty="0"/>
            </a:p>
          </p:txBody>
        </p:sp>
      </p:grpSp>
    </p:spTree>
    <p:extLst>
      <p:ext uri="{BB962C8B-B14F-4D97-AF65-F5344CB8AC3E}">
        <p14:creationId xmlns:p14="http://schemas.microsoft.com/office/powerpoint/2010/main" val="2425916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Ghost(4/13)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Ghost :</a:t>
            </a:r>
          </a:p>
          <a:p>
            <a:pPr lvl="1">
              <a:buFont typeface="Wingdings" panose="05000000000000000000" pitchFamily="2" charset="2"/>
              <a:buChar char="§"/>
            </a:pPr>
            <a:r>
              <a:rPr lang="en-US" altLang="ko-KR" sz="1400" b="1" dirty="0"/>
              <a:t>Note that we are copying the “config.js” file from a different location into the location where Ghost expects to find it</a:t>
            </a:r>
            <a:r>
              <a:rPr lang="en-US" altLang="ko-KR" sz="1400" dirty="0"/>
              <a:t>, </a:t>
            </a:r>
            <a:r>
              <a:rPr lang="en-US" altLang="ko-KR" sz="1400" b="1" dirty="0"/>
              <a:t>since the </a:t>
            </a:r>
            <a:r>
              <a:rPr lang="en-US" altLang="ko-KR" sz="1400" b="1" dirty="0" err="1"/>
              <a:t>ConfigMap</a:t>
            </a:r>
            <a:r>
              <a:rPr lang="en-US" altLang="ko-KR" sz="1400" b="1" dirty="0"/>
              <a:t> can only mount directories, not individual files</a:t>
            </a:r>
            <a:r>
              <a:rPr lang="en-US" altLang="ko-KR" sz="1400" dirty="0"/>
              <a:t>. Ghost expects other files that are not in that </a:t>
            </a:r>
            <a:r>
              <a:rPr lang="en-US" altLang="ko-KR" sz="1400" b="1" dirty="0" err="1"/>
              <a:t>ConfigMap</a:t>
            </a:r>
            <a:r>
              <a:rPr lang="en-US" altLang="ko-KR" sz="1400" dirty="0"/>
              <a:t> to be present in its directory, and thus </a:t>
            </a:r>
            <a:r>
              <a:rPr lang="en-US" altLang="ko-KR" sz="1400" b="1" dirty="0"/>
              <a:t>we cannot simply mount the entire </a:t>
            </a:r>
            <a:r>
              <a:rPr lang="en-US" altLang="ko-KR" sz="1400" b="1" dirty="0" err="1"/>
              <a:t>ConfigMap</a:t>
            </a:r>
            <a:r>
              <a:rPr lang="en-US" altLang="ko-KR" sz="1400" b="1" dirty="0"/>
              <a:t> into “/var/lib/ghost”</a:t>
            </a:r>
            <a:r>
              <a:rPr lang="en-US" altLang="ko-KR" sz="1400" dirty="0"/>
              <a:t>.</a:t>
            </a:r>
          </a:p>
          <a:p>
            <a:pPr lvl="1">
              <a:buFont typeface="Wingdings" panose="05000000000000000000" pitchFamily="2" charset="2"/>
              <a:buChar char="§"/>
            </a:pPr>
            <a:r>
              <a:rPr lang="en-US" altLang="ko-KR" sz="1400" b="1" dirty="0"/>
              <a:t>To apply the </a:t>
            </a:r>
            <a:r>
              <a:rPr lang="en-US" altLang="ko-KR" sz="1400" b="1" dirty="0" err="1"/>
              <a:t>ConfigMap</a:t>
            </a:r>
            <a:r>
              <a:rPr lang="en-US" altLang="ko-KR" sz="1400" b="1" dirty="0"/>
              <a:t>, use the following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8427509-9FFD-4516-BF57-0E96CD7BD3AB}"/>
              </a:ext>
            </a:extLst>
          </p:cNvPr>
          <p:cNvGrpSpPr/>
          <p:nvPr/>
        </p:nvGrpSpPr>
        <p:grpSpPr>
          <a:xfrm>
            <a:off x="1333500" y="2547763"/>
            <a:ext cx="9525000" cy="3249800"/>
            <a:chOff x="1333500" y="2265823"/>
            <a:chExt cx="9525000" cy="3249800"/>
          </a:xfrm>
        </p:grpSpPr>
        <p:pic>
          <p:nvPicPr>
            <p:cNvPr id="8" name="그림 7">
              <a:extLst>
                <a:ext uri="{FF2B5EF4-FFF2-40B4-BE49-F238E27FC236}">
                  <a16:creationId xmlns:a16="http://schemas.microsoft.com/office/drawing/2014/main" id="{5D45E51E-5B41-41DE-9061-DCD6443BBBB2}"/>
                </a:ext>
              </a:extLst>
            </p:cNvPr>
            <p:cNvPicPr>
              <a:picLocks noChangeAspect="1"/>
            </p:cNvPicPr>
            <p:nvPr/>
          </p:nvPicPr>
          <p:blipFill>
            <a:blip r:embed="rId2"/>
            <a:stretch>
              <a:fillRect/>
            </a:stretch>
          </p:blipFill>
          <p:spPr>
            <a:xfrm>
              <a:off x="1333500" y="2791473"/>
              <a:ext cx="9525000" cy="2724150"/>
            </a:xfrm>
            <a:prstGeom prst="rect">
              <a:avLst/>
            </a:prstGeom>
            <a:ln>
              <a:solidFill>
                <a:schemeClr val="accent1"/>
              </a:solidFill>
            </a:ln>
          </p:spPr>
        </p:pic>
        <p:sp>
          <p:nvSpPr>
            <p:cNvPr id="4" name="직사각형 3">
              <a:extLst>
                <a:ext uri="{FF2B5EF4-FFF2-40B4-BE49-F238E27FC236}">
                  <a16:creationId xmlns:a16="http://schemas.microsoft.com/office/drawing/2014/main" id="{4104817F-F347-47DA-809E-AD86F65D03F0}"/>
                </a:ext>
              </a:extLst>
            </p:cNvPr>
            <p:cNvSpPr/>
            <p:nvPr/>
          </p:nvSpPr>
          <p:spPr>
            <a:xfrm>
              <a:off x="5099573" y="2265823"/>
              <a:ext cx="1992853" cy="246221"/>
            </a:xfrm>
            <a:prstGeom prst="rect">
              <a:avLst/>
            </a:prstGeom>
            <a:ln>
              <a:solidFill>
                <a:schemeClr val="accent1"/>
              </a:solidFill>
            </a:ln>
          </p:spPr>
          <p:txBody>
            <a:bodyPr wrap="non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ghost.yaml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F7BBA7F8-31DE-42DE-A8BC-40B679CF9D5E}"/>
                </a:ext>
              </a:extLst>
            </p:cNvPr>
            <p:cNvSpPr/>
            <p:nvPr/>
          </p:nvSpPr>
          <p:spPr>
            <a:xfrm>
              <a:off x="5890260" y="2528648"/>
              <a:ext cx="41148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740242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Ghost(5/13)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Ghost :</a:t>
            </a:r>
          </a:p>
          <a:p>
            <a:pPr lvl="1">
              <a:buFont typeface="Wingdings" panose="05000000000000000000" pitchFamily="2" charset="2"/>
              <a:buChar char="§"/>
            </a:pPr>
            <a:r>
              <a:rPr lang="en-US" altLang="ko-KR" sz="1400" dirty="0"/>
              <a:t>Once the Pod is up and running, you can </a:t>
            </a:r>
            <a:r>
              <a:rPr lang="en-US" altLang="ko-KR" sz="1400" b="1" dirty="0"/>
              <a:t>expose it as a service with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0CF8DE47-87F0-4A49-B833-FE77FE84D683}"/>
              </a:ext>
            </a:extLst>
          </p:cNvPr>
          <p:cNvGrpSpPr/>
          <p:nvPr/>
        </p:nvGrpSpPr>
        <p:grpSpPr>
          <a:xfrm>
            <a:off x="1333500" y="1583174"/>
            <a:ext cx="9525000" cy="2811906"/>
            <a:chOff x="1333500" y="1583174"/>
            <a:chExt cx="9525000" cy="2811906"/>
          </a:xfrm>
        </p:grpSpPr>
        <p:grpSp>
          <p:nvGrpSpPr>
            <p:cNvPr id="9" name="그룹 8">
              <a:extLst>
                <a:ext uri="{FF2B5EF4-FFF2-40B4-BE49-F238E27FC236}">
                  <a16:creationId xmlns:a16="http://schemas.microsoft.com/office/drawing/2014/main" id="{B8C9D1E2-4F3C-44E6-8FA8-C96DA2B5516F}"/>
                </a:ext>
              </a:extLst>
            </p:cNvPr>
            <p:cNvGrpSpPr/>
            <p:nvPr/>
          </p:nvGrpSpPr>
          <p:grpSpPr>
            <a:xfrm>
              <a:off x="4469593" y="1583174"/>
              <a:ext cx="3252814" cy="551021"/>
              <a:chOff x="4469593" y="1583174"/>
              <a:chExt cx="3252814" cy="551021"/>
            </a:xfrm>
          </p:grpSpPr>
          <p:sp>
            <p:nvSpPr>
              <p:cNvPr id="4" name="직사각형 3">
                <a:extLst>
                  <a:ext uri="{FF2B5EF4-FFF2-40B4-BE49-F238E27FC236}">
                    <a16:creationId xmlns:a16="http://schemas.microsoft.com/office/drawing/2014/main" id="{D727B0D3-D3B6-4465-B4E7-FA049EB46C03}"/>
                  </a:ext>
                </a:extLst>
              </p:cNvPr>
              <p:cNvSpPr/>
              <p:nvPr/>
            </p:nvSpPr>
            <p:spPr>
              <a:xfrm>
                <a:off x="4469593" y="1583174"/>
                <a:ext cx="3252814" cy="246221"/>
              </a:xfrm>
              <a:prstGeom prst="rect">
                <a:avLst/>
              </a:prstGeom>
              <a:ln>
                <a:solidFill>
                  <a:schemeClr val="accent1"/>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expose deployments ghost --port=2368</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02002E7E-044A-42C6-9D31-49FC67393B2D}"/>
                  </a:ext>
                </a:extLst>
              </p:cNvPr>
              <p:cNvSpPr/>
              <p:nvPr/>
            </p:nvSpPr>
            <p:spPr>
              <a:xfrm>
                <a:off x="5875020" y="1829395"/>
                <a:ext cx="441960" cy="3048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784422F8-8825-4C46-A498-C86F679298E2}"/>
                </a:ext>
              </a:extLst>
            </p:cNvPr>
            <p:cNvPicPr>
              <a:picLocks noChangeAspect="1"/>
            </p:cNvPicPr>
            <p:nvPr/>
          </p:nvPicPr>
          <p:blipFill>
            <a:blip r:embed="rId2"/>
            <a:stretch>
              <a:fillRect/>
            </a:stretch>
          </p:blipFill>
          <p:spPr>
            <a:xfrm>
              <a:off x="1333500" y="2137655"/>
              <a:ext cx="9525000" cy="2257425"/>
            </a:xfrm>
            <a:prstGeom prst="rect">
              <a:avLst/>
            </a:prstGeom>
            <a:ln>
              <a:solidFill>
                <a:schemeClr val="accent1"/>
              </a:solidFill>
            </a:ln>
          </p:spPr>
        </p:pic>
      </p:grpSp>
    </p:spTree>
    <p:extLst>
      <p:ext uri="{BB962C8B-B14F-4D97-AF65-F5344CB8AC3E}">
        <p14:creationId xmlns:p14="http://schemas.microsoft.com/office/powerpoint/2010/main" val="33590215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Ghost(6/13)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Ghost :</a:t>
            </a:r>
          </a:p>
          <a:p>
            <a:pPr lvl="1">
              <a:buFont typeface="Wingdings" panose="05000000000000000000" pitchFamily="2" charset="2"/>
              <a:buChar char="§"/>
            </a:pPr>
            <a:r>
              <a:rPr lang="en-US" altLang="ko-KR" sz="1400" b="1" dirty="0"/>
              <a:t>Once the service is exposed, you can use the “</a:t>
            </a:r>
            <a:r>
              <a:rPr lang="en-US" altLang="ko-KR" sz="1400" b="1" dirty="0" err="1">
                <a:solidFill>
                  <a:srgbClr val="FF0000"/>
                </a:solidFill>
              </a:rPr>
              <a:t>kubectl</a:t>
            </a:r>
            <a:r>
              <a:rPr lang="en-US" altLang="ko-KR" sz="1400" b="1" dirty="0">
                <a:solidFill>
                  <a:srgbClr val="FF0000"/>
                </a:solidFill>
              </a:rPr>
              <a:t> proxy</a:t>
            </a:r>
            <a:r>
              <a:rPr lang="en-US" altLang="ko-KR" sz="1400" b="1" dirty="0"/>
              <a:t>” command to </a:t>
            </a:r>
            <a:r>
              <a:rPr lang="en-US" altLang="ko-KR" sz="1400" b="1" dirty="0">
                <a:solidFill>
                  <a:srgbClr val="FF0000"/>
                </a:solidFill>
              </a:rPr>
              <a:t>access the Ghost server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Then visit “</a:t>
            </a:r>
            <a:r>
              <a:rPr lang="en-US" altLang="ko-KR" sz="1400" b="1" dirty="0"/>
              <a:t>http://localhost:8001/api/v1/namespaces/default/services/ghost/proxy/” </a:t>
            </a:r>
            <a:r>
              <a:rPr lang="en-US" altLang="ko-KR" sz="1400" dirty="0"/>
              <a:t>in your web browser to begin interacting with Ghost.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58C20269-C0CA-433D-A11D-EB10EFDB09E7}"/>
              </a:ext>
            </a:extLst>
          </p:cNvPr>
          <p:cNvSpPr/>
          <p:nvPr/>
        </p:nvSpPr>
        <p:spPr>
          <a:xfrm>
            <a:off x="5524369" y="1506974"/>
            <a:ext cx="1143262"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proxy</a:t>
            </a:r>
            <a:endParaRPr lang="ko-KR" altLang="en-US" sz="1000" b="1" dirty="0"/>
          </a:p>
        </p:txBody>
      </p:sp>
      <p:pic>
        <p:nvPicPr>
          <p:cNvPr id="8" name="그림 7">
            <a:extLst>
              <a:ext uri="{FF2B5EF4-FFF2-40B4-BE49-F238E27FC236}">
                <a16:creationId xmlns:a16="http://schemas.microsoft.com/office/drawing/2014/main" id="{F222FB1A-BD38-4182-A965-02D58AB4CEB5}"/>
              </a:ext>
            </a:extLst>
          </p:cNvPr>
          <p:cNvPicPr>
            <a:picLocks noChangeAspect="1"/>
          </p:cNvPicPr>
          <p:nvPr/>
        </p:nvPicPr>
        <p:blipFill>
          <a:blip r:embed="rId2"/>
          <a:stretch>
            <a:fillRect/>
          </a:stretch>
        </p:blipFill>
        <p:spPr>
          <a:xfrm>
            <a:off x="1333500" y="2524125"/>
            <a:ext cx="9525000" cy="1809750"/>
          </a:xfrm>
          <a:prstGeom prst="rect">
            <a:avLst/>
          </a:prstGeom>
          <a:ln>
            <a:solidFill>
              <a:schemeClr val="bg1">
                <a:lumMod val="50000"/>
              </a:schemeClr>
            </a:solidFill>
          </a:ln>
        </p:spPr>
      </p:pic>
      <p:grpSp>
        <p:nvGrpSpPr>
          <p:cNvPr id="11" name="그룹 10">
            <a:extLst>
              <a:ext uri="{FF2B5EF4-FFF2-40B4-BE49-F238E27FC236}">
                <a16:creationId xmlns:a16="http://schemas.microsoft.com/office/drawing/2014/main" id="{E0B884DF-BC93-4CFE-B4F1-846ECC51DE51}"/>
              </a:ext>
            </a:extLst>
          </p:cNvPr>
          <p:cNvGrpSpPr/>
          <p:nvPr/>
        </p:nvGrpSpPr>
        <p:grpSpPr>
          <a:xfrm>
            <a:off x="5324475" y="3559920"/>
            <a:ext cx="6029325" cy="2849110"/>
            <a:chOff x="5324475" y="3559920"/>
            <a:chExt cx="6029325" cy="2849110"/>
          </a:xfrm>
        </p:grpSpPr>
        <p:pic>
          <p:nvPicPr>
            <p:cNvPr id="9" name="그림 8">
              <a:extLst>
                <a:ext uri="{FF2B5EF4-FFF2-40B4-BE49-F238E27FC236}">
                  <a16:creationId xmlns:a16="http://schemas.microsoft.com/office/drawing/2014/main" id="{969A729B-8CCF-495D-A249-C58C7E2BD3E7}"/>
                </a:ext>
              </a:extLst>
            </p:cNvPr>
            <p:cNvPicPr>
              <a:picLocks noChangeAspect="1"/>
            </p:cNvPicPr>
            <p:nvPr/>
          </p:nvPicPr>
          <p:blipFill>
            <a:blip r:embed="rId3"/>
            <a:stretch>
              <a:fillRect/>
            </a:stretch>
          </p:blipFill>
          <p:spPr>
            <a:xfrm>
              <a:off x="5674995" y="3559920"/>
              <a:ext cx="5678805" cy="2849110"/>
            </a:xfrm>
            <a:prstGeom prst="rect">
              <a:avLst/>
            </a:prstGeom>
            <a:ln>
              <a:solidFill>
                <a:schemeClr val="bg1">
                  <a:lumMod val="50000"/>
                </a:schemeClr>
              </a:solidFill>
            </a:ln>
          </p:spPr>
        </p:pic>
        <p:sp>
          <p:nvSpPr>
            <p:cNvPr id="10" name="화살표: 오른쪽 9">
              <a:extLst>
                <a:ext uri="{FF2B5EF4-FFF2-40B4-BE49-F238E27FC236}">
                  <a16:creationId xmlns:a16="http://schemas.microsoft.com/office/drawing/2014/main" id="{85CB4265-451F-45DA-B98C-08FB00EEC85D}"/>
                </a:ext>
              </a:extLst>
            </p:cNvPr>
            <p:cNvSpPr/>
            <p:nvPr/>
          </p:nvSpPr>
          <p:spPr>
            <a:xfrm>
              <a:off x="5324475" y="4807902"/>
              <a:ext cx="350520" cy="358140"/>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834722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Ghost(7/13)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Ghost + MySQL :</a:t>
            </a:r>
          </a:p>
          <a:p>
            <a:pPr lvl="1">
              <a:buFont typeface="Wingdings" panose="05000000000000000000" pitchFamily="2" charset="2"/>
              <a:buChar char="§"/>
            </a:pPr>
            <a:r>
              <a:rPr lang="en-US" altLang="ko-KR" sz="1400" b="1" dirty="0"/>
              <a:t>Of course, this example isn’t very scalable, or even reliable, since the contents of the blog are stored in a local file inside the container</a:t>
            </a:r>
            <a:r>
              <a:rPr lang="en-US" altLang="ko-KR" sz="1400" dirty="0"/>
              <a:t>. A more scalable approach is to </a:t>
            </a:r>
            <a:r>
              <a:rPr lang="en-US" altLang="ko-KR" sz="1400" b="1" dirty="0"/>
              <a:t>store the blog’s data in a MySQL database</a:t>
            </a:r>
            <a:r>
              <a:rPr lang="en-US" altLang="ko-KR" sz="1400" dirty="0"/>
              <a:t>. </a:t>
            </a:r>
          </a:p>
          <a:p>
            <a:pPr lvl="1">
              <a:buFont typeface="Wingdings" panose="05000000000000000000" pitchFamily="2" charset="2"/>
              <a:buChar char="§"/>
            </a:pPr>
            <a:r>
              <a:rPr lang="en-US" altLang="ko-KR" sz="1400" dirty="0"/>
              <a:t>To do this, </a:t>
            </a:r>
            <a:r>
              <a:rPr lang="en-US" altLang="ko-KR" sz="1400" b="1" dirty="0"/>
              <a:t>first modify “config.js”</a:t>
            </a:r>
            <a:r>
              <a:rPr lang="en-US" altLang="ko-KR" sz="1400" dirty="0"/>
              <a:t> to include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Obviously, in a real-world deployment you’ll want to </a:t>
            </a:r>
            <a:r>
              <a:rPr lang="en-US" altLang="ko-KR" sz="1400" b="1" dirty="0"/>
              <a:t>change the password from root</a:t>
            </a:r>
            <a:r>
              <a:rPr lang="en-US" altLang="ko-KR" sz="1400" dirty="0"/>
              <a:t> to something more secret.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F26C0BB-06E9-44D3-81FD-A0401CAA1CB5}"/>
              </a:ext>
            </a:extLst>
          </p:cNvPr>
          <p:cNvGrpSpPr/>
          <p:nvPr/>
        </p:nvGrpSpPr>
        <p:grpSpPr>
          <a:xfrm>
            <a:off x="3048000" y="1900208"/>
            <a:ext cx="6096000" cy="3939540"/>
            <a:chOff x="3048000" y="1900208"/>
            <a:chExt cx="6096000" cy="3939540"/>
          </a:xfrm>
        </p:grpSpPr>
        <p:sp>
          <p:nvSpPr>
            <p:cNvPr id="8" name="직사각형 7">
              <a:extLst>
                <a:ext uri="{FF2B5EF4-FFF2-40B4-BE49-F238E27FC236}">
                  <a16:creationId xmlns:a16="http://schemas.microsoft.com/office/drawing/2014/main" id="{35796073-F2F1-4B90-8515-50CA370961BF}"/>
                </a:ext>
              </a:extLst>
            </p:cNvPr>
            <p:cNvSpPr/>
            <p:nvPr/>
          </p:nvSpPr>
          <p:spPr>
            <a:xfrm>
              <a:off x="3048000" y="1900208"/>
              <a:ext cx="6096000" cy="3939540"/>
            </a:xfrm>
            <a:prstGeom prst="rect">
              <a:avLst/>
            </a:prstGeom>
            <a:ln>
              <a:solidFill>
                <a:schemeClr val="bg1">
                  <a:lumMod val="50000"/>
                </a:schemeClr>
              </a:solidFill>
            </a:ln>
          </p:spPr>
          <p:txBody>
            <a:bodyPr>
              <a:spAutoFit/>
            </a:bodyPr>
            <a:lstStyle/>
            <a:p>
              <a:r>
                <a:rPr lang="en-US" altLang="ko-KR" sz="1000" b="1" dirty="0"/>
                <a:t>var path = require('path'),</a:t>
              </a:r>
            </a:p>
            <a:p>
              <a:r>
                <a:rPr lang="en-US" altLang="ko-KR" sz="1000" b="1" dirty="0"/>
                <a:t>  config;</a:t>
              </a:r>
            </a:p>
            <a:p>
              <a:r>
                <a:rPr lang="en-US" altLang="ko-KR" sz="1000" b="1" dirty="0"/>
                <a:t>config = {</a:t>
              </a:r>
            </a:p>
            <a:p>
              <a:r>
                <a:rPr lang="en-US" altLang="ko-KR" sz="1000" b="1" dirty="0"/>
                <a:t>  development: {</a:t>
              </a:r>
            </a:p>
            <a:p>
              <a:r>
                <a:rPr lang="en-US" altLang="ko-KR" sz="1000" b="1" dirty="0"/>
                <a:t>    url: 'http://localhost:2368',</a:t>
              </a:r>
            </a:p>
            <a:p>
              <a:r>
                <a:rPr lang="en-US" altLang="ko-KR" sz="1000" b="1" dirty="0">
                  <a:solidFill>
                    <a:srgbClr val="FF0000"/>
                  </a:solidFill>
                </a:rPr>
                <a:t>    database: {</a:t>
              </a:r>
            </a:p>
            <a:p>
              <a:r>
                <a:rPr lang="en-US" altLang="ko-KR" sz="1000" b="1" dirty="0">
                  <a:solidFill>
                    <a:srgbClr val="FF0000"/>
                  </a:solidFill>
                </a:rPr>
                <a:t>      client: '</a:t>
              </a:r>
              <a:r>
                <a:rPr lang="en-US" altLang="ko-KR" sz="1000" b="1" dirty="0" err="1">
                  <a:solidFill>
                    <a:srgbClr val="FF0000"/>
                  </a:solidFill>
                </a:rPr>
                <a:t>mysql</a:t>
              </a:r>
              <a:r>
                <a:rPr lang="en-US" altLang="ko-KR" sz="1000" b="1" dirty="0">
                  <a:solidFill>
                    <a:srgbClr val="FF0000"/>
                  </a:solidFill>
                </a:rPr>
                <a:t>',</a:t>
              </a:r>
            </a:p>
            <a:p>
              <a:r>
                <a:rPr lang="en-US" altLang="ko-KR" sz="1000" b="1" dirty="0">
                  <a:solidFill>
                    <a:srgbClr val="FF0000"/>
                  </a:solidFill>
                </a:rPr>
                <a:t>      connection: {</a:t>
              </a:r>
            </a:p>
            <a:p>
              <a:r>
                <a:rPr lang="en-US" altLang="ko-KR" sz="1000" b="1" dirty="0">
                  <a:solidFill>
                    <a:srgbClr val="FF0000"/>
                  </a:solidFill>
                </a:rPr>
                <a:t>        host: '</a:t>
              </a:r>
              <a:r>
                <a:rPr lang="en-US" altLang="ko-KR" sz="1000" b="1" dirty="0" err="1">
                  <a:solidFill>
                    <a:srgbClr val="FF0000"/>
                  </a:solidFill>
                </a:rPr>
                <a:t>mysql</a:t>
              </a:r>
              <a:r>
                <a:rPr lang="en-US" altLang="ko-KR" sz="1000" b="1" dirty="0">
                  <a:solidFill>
                    <a:srgbClr val="FF0000"/>
                  </a:solidFill>
                </a:rPr>
                <a:t>',</a:t>
              </a:r>
            </a:p>
            <a:p>
              <a:r>
                <a:rPr lang="en-US" altLang="ko-KR" sz="1000" b="1" dirty="0">
                  <a:solidFill>
                    <a:srgbClr val="FF0000"/>
                  </a:solidFill>
                </a:rPr>
                <a:t>        user: 'root',</a:t>
              </a:r>
            </a:p>
            <a:p>
              <a:r>
                <a:rPr lang="en-US" altLang="ko-KR" sz="1000" b="1" dirty="0">
                  <a:solidFill>
                    <a:srgbClr val="FF0000"/>
                  </a:solidFill>
                </a:rPr>
                <a:t>        password: 'root',</a:t>
              </a:r>
            </a:p>
            <a:p>
              <a:r>
                <a:rPr lang="en-US" altLang="ko-KR" sz="1000" b="1" dirty="0">
                  <a:solidFill>
                    <a:srgbClr val="FF0000"/>
                  </a:solidFill>
                </a:rPr>
                <a:t>        database: '</a:t>
              </a:r>
              <a:r>
                <a:rPr lang="en-US" altLang="ko-KR" sz="1000" b="1" dirty="0" err="1">
                  <a:solidFill>
                    <a:srgbClr val="FF0000"/>
                  </a:solidFill>
                </a:rPr>
                <a:t>ghost_db</a:t>
              </a:r>
              <a:r>
                <a:rPr lang="en-US" altLang="ko-KR" sz="1000" b="1" dirty="0">
                  <a:solidFill>
                    <a:srgbClr val="FF0000"/>
                  </a:solidFill>
                </a:rPr>
                <a:t>',</a:t>
              </a:r>
            </a:p>
            <a:p>
              <a:r>
                <a:rPr lang="en-US" altLang="ko-KR" sz="1000" b="1" dirty="0">
                  <a:solidFill>
                    <a:srgbClr val="FF0000"/>
                  </a:solidFill>
                </a:rPr>
                <a:t>        charset: 'utf8'</a:t>
              </a:r>
            </a:p>
            <a:p>
              <a:r>
                <a:rPr lang="en-US" altLang="ko-KR" sz="1000" b="1" dirty="0">
                  <a:solidFill>
                    <a:srgbClr val="FF0000"/>
                  </a:solidFill>
                </a:rPr>
                <a:t>      },</a:t>
              </a:r>
            </a:p>
            <a:p>
              <a:r>
                <a:rPr lang="en-US" altLang="ko-KR" sz="1000" b="1" dirty="0">
                  <a:solidFill>
                    <a:srgbClr val="FF0000"/>
                  </a:solidFill>
                </a:rPr>
                <a:t>    },</a:t>
              </a:r>
            </a:p>
            <a:p>
              <a:r>
                <a:rPr lang="en-US" altLang="ko-KR" sz="1000" b="1" dirty="0"/>
                <a:t>    server: {</a:t>
              </a:r>
            </a:p>
            <a:p>
              <a:r>
                <a:rPr lang="en-US" altLang="ko-KR" sz="1000" b="1" dirty="0"/>
                <a:t>      host: '0.0.0.0',</a:t>
              </a:r>
            </a:p>
            <a:p>
              <a:r>
                <a:rPr lang="en-US" altLang="ko-KR" sz="1000" b="1" dirty="0"/>
                <a:t>      port: '2368'</a:t>
              </a:r>
            </a:p>
            <a:p>
              <a:r>
                <a:rPr lang="en-US" altLang="ko-KR" sz="1000" b="1" dirty="0"/>
                <a:t>    },</a:t>
              </a:r>
            </a:p>
            <a:p>
              <a:r>
                <a:rPr lang="en-US" altLang="ko-KR" sz="1000" b="1" dirty="0"/>
                <a:t>    paths: {</a:t>
              </a:r>
            </a:p>
            <a:p>
              <a:r>
                <a:rPr lang="en-US" altLang="ko-KR" sz="1000" b="1" dirty="0"/>
                <a:t>      </a:t>
              </a:r>
              <a:r>
                <a:rPr lang="en-US" altLang="ko-KR" sz="1000" b="1" dirty="0" err="1"/>
                <a:t>contentPath</a:t>
              </a:r>
              <a:r>
                <a:rPr lang="en-US" altLang="ko-KR" sz="1000" b="1" dirty="0"/>
                <a:t>: </a:t>
              </a:r>
              <a:r>
                <a:rPr lang="en-US" altLang="ko-KR" sz="1000" b="1" dirty="0" err="1"/>
                <a:t>path.join</a:t>
              </a:r>
              <a:r>
                <a:rPr lang="en-US" altLang="ko-KR" sz="1000" b="1" dirty="0"/>
                <a:t>(</a:t>
              </a:r>
              <a:r>
                <a:rPr lang="en-US" altLang="ko-KR" sz="1000" b="1" dirty="0" err="1"/>
                <a:t>process.env.GHOST_CONTENT</a:t>
              </a:r>
              <a:r>
                <a:rPr lang="en-US" altLang="ko-KR" sz="1000" b="1" dirty="0"/>
                <a:t>, '/')</a:t>
              </a:r>
            </a:p>
            <a:p>
              <a:r>
                <a:rPr lang="en-US" altLang="ko-KR" sz="1000" b="1" dirty="0"/>
                <a:t>    }</a:t>
              </a:r>
            </a:p>
            <a:p>
              <a:r>
                <a:rPr lang="en-US" altLang="ko-KR" sz="1000" b="1" dirty="0"/>
                <a:t>  }</a:t>
              </a:r>
            </a:p>
            <a:p>
              <a:r>
                <a:rPr lang="en-US" altLang="ko-KR" sz="1000" b="1" dirty="0"/>
                <a:t>};</a:t>
              </a:r>
            </a:p>
            <a:p>
              <a:r>
                <a:rPr lang="en-US" altLang="ko-KR" sz="1000" b="1" dirty="0" err="1"/>
                <a:t>module.exports</a:t>
              </a:r>
              <a:r>
                <a:rPr lang="en-US" altLang="ko-KR" sz="1000" b="1" dirty="0"/>
                <a:t> = config;</a:t>
              </a:r>
              <a:endParaRPr lang="ko-KR" altLang="en-US" sz="1000" b="1" dirty="0"/>
            </a:p>
          </p:txBody>
        </p:sp>
        <p:sp>
          <p:nvSpPr>
            <p:cNvPr id="9" name="직사각형 8">
              <a:extLst>
                <a:ext uri="{FF2B5EF4-FFF2-40B4-BE49-F238E27FC236}">
                  <a16:creationId xmlns:a16="http://schemas.microsoft.com/office/drawing/2014/main" id="{B9989502-534A-4443-A810-69B2B5EE0389}"/>
                </a:ext>
              </a:extLst>
            </p:cNvPr>
            <p:cNvSpPr/>
            <p:nvPr/>
          </p:nvSpPr>
          <p:spPr>
            <a:xfrm>
              <a:off x="8045622" y="1900208"/>
              <a:ext cx="1098378" cy="246221"/>
            </a:xfrm>
            <a:prstGeom prst="rect">
              <a:avLst/>
            </a:prstGeom>
          </p:spPr>
          <p:txBody>
            <a:bodyPr wrap="none">
              <a:spAutoFit/>
            </a:bodyPr>
            <a:lstStyle/>
            <a:p>
              <a:r>
                <a:rPr lang="en-US" altLang="ko-KR" sz="1000" b="1" dirty="0"/>
                <a:t>ghost-config.js</a:t>
              </a:r>
              <a:endParaRPr lang="ko-KR" altLang="en-US" sz="1000" b="1" dirty="0"/>
            </a:p>
          </p:txBody>
        </p:sp>
      </p:grpSp>
    </p:spTree>
    <p:extLst>
      <p:ext uri="{BB962C8B-B14F-4D97-AF65-F5344CB8AC3E}">
        <p14:creationId xmlns:p14="http://schemas.microsoft.com/office/powerpoint/2010/main" val="39464841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Ghost(8/13)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Ghost + MySQL :</a:t>
            </a:r>
          </a:p>
          <a:p>
            <a:pPr lvl="1">
              <a:buFont typeface="Wingdings" panose="05000000000000000000" pitchFamily="2" charset="2"/>
              <a:buChar char="§"/>
            </a:pPr>
            <a:r>
              <a:rPr lang="en-US" altLang="ko-KR" sz="1400" dirty="0"/>
              <a:t>Next, </a:t>
            </a:r>
            <a:r>
              <a:rPr lang="en-US" altLang="ko-KR" sz="1400" b="1" dirty="0"/>
              <a:t>create a new “ghost-config” </a:t>
            </a:r>
            <a:r>
              <a:rPr lang="en-US" altLang="ko-KR" sz="1400" b="1" dirty="0" err="1"/>
              <a:t>ConfigMap</a:t>
            </a:r>
            <a:r>
              <a:rPr lang="en-US" altLang="ko-KR" sz="1400" b="1" dirty="0"/>
              <a:t> object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25BDF20-1440-4522-8074-45B78DF92DD6}"/>
              </a:ext>
            </a:extLst>
          </p:cNvPr>
          <p:cNvGrpSpPr/>
          <p:nvPr/>
        </p:nvGrpSpPr>
        <p:grpSpPr>
          <a:xfrm>
            <a:off x="950443" y="1650391"/>
            <a:ext cx="10291114" cy="2597097"/>
            <a:chOff x="950443" y="1650391"/>
            <a:chExt cx="10291114" cy="2597097"/>
          </a:xfrm>
        </p:grpSpPr>
        <p:grpSp>
          <p:nvGrpSpPr>
            <p:cNvPr id="10" name="그룹 9">
              <a:extLst>
                <a:ext uri="{FF2B5EF4-FFF2-40B4-BE49-F238E27FC236}">
                  <a16:creationId xmlns:a16="http://schemas.microsoft.com/office/drawing/2014/main" id="{2F958724-917F-4FD1-80AE-60EB7FD79000}"/>
                </a:ext>
              </a:extLst>
            </p:cNvPr>
            <p:cNvGrpSpPr/>
            <p:nvPr/>
          </p:nvGrpSpPr>
          <p:grpSpPr>
            <a:xfrm>
              <a:off x="950443" y="1650391"/>
              <a:ext cx="10291114" cy="2597097"/>
              <a:chOff x="950443" y="1513255"/>
              <a:chExt cx="10291114" cy="2597097"/>
            </a:xfrm>
          </p:grpSpPr>
          <p:sp>
            <p:nvSpPr>
              <p:cNvPr id="4" name="직사각형 3">
                <a:extLst>
                  <a:ext uri="{FF2B5EF4-FFF2-40B4-BE49-F238E27FC236}">
                    <a16:creationId xmlns:a16="http://schemas.microsoft.com/office/drawing/2014/main" id="{3B780EA5-D9FE-446D-A533-C6154908B175}"/>
                  </a:ext>
                </a:extLst>
              </p:cNvPr>
              <p:cNvSpPr/>
              <p:nvPr/>
            </p:nvSpPr>
            <p:spPr>
              <a:xfrm>
                <a:off x="3048000" y="1513255"/>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a:t>
                </a:r>
                <a:r>
                  <a:rPr lang="en-US" altLang="ko-KR" sz="1000" b="1" dirty="0">
                    <a:solidFill>
                      <a:srgbClr val="FF0000"/>
                    </a:solidFill>
                  </a:rPr>
                  <a:t>ghost-config-</a:t>
                </a:r>
                <a:r>
                  <a:rPr lang="en-US" altLang="ko-KR" sz="1000" b="1" dirty="0" err="1">
                    <a:solidFill>
                      <a:srgbClr val="FF0000"/>
                    </a:solidFill>
                  </a:rPr>
                  <a:t>mysql</a:t>
                </a:r>
                <a:r>
                  <a:rPr lang="en-US" altLang="ko-KR" sz="1000" b="1" dirty="0"/>
                  <a:t> --from-file </a:t>
                </a:r>
                <a:r>
                  <a:rPr lang="en-US" altLang="ko-KR" sz="1000" b="1" dirty="0">
                    <a:solidFill>
                      <a:srgbClr val="FF0000"/>
                    </a:solidFill>
                  </a:rPr>
                  <a:t>ghost-config-mysql.js</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4736B381-B9F3-4B92-8956-8E9CF7CE98BD}"/>
                  </a:ext>
                </a:extLst>
              </p:cNvPr>
              <p:cNvPicPr>
                <a:picLocks noChangeAspect="1"/>
              </p:cNvPicPr>
              <p:nvPr/>
            </p:nvPicPr>
            <p:blipFill>
              <a:blip r:embed="rId2"/>
              <a:stretch>
                <a:fillRect/>
              </a:stretch>
            </p:blipFill>
            <p:spPr>
              <a:xfrm>
                <a:off x="950443" y="2093595"/>
                <a:ext cx="10291114" cy="2016757"/>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BECCC610-2B73-4D29-B04D-CEDC9538E52C}"/>
                  </a:ext>
                </a:extLst>
              </p:cNvPr>
              <p:cNvSpPr/>
              <p:nvPr/>
            </p:nvSpPr>
            <p:spPr>
              <a:xfrm>
                <a:off x="5882640" y="1789015"/>
                <a:ext cx="426720" cy="3045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FBD43E1F-31F9-4C07-B190-85C70961373E}"/>
                </a:ext>
              </a:extLst>
            </p:cNvPr>
            <p:cNvSpPr/>
            <p:nvPr/>
          </p:nvSpPr>
          <p:spPr>
            <a:xfrm>
              <a:off x="1036320" y="3576478"/>
              <a:ext cx="2636520" cy="1497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985838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Ghost(9/13)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Ghost + MySQL :</a:t>
            </a:r>
          </a:p>
          <a:p>
            <a:pPr lvl="1">
              <a:buFont typeface="Wingdings" panose="05000000000000000000" pitchFamily="2" charset="2"/>
              <a:buChar char="§"/>
            </a:pPr>
            <a:r>
              <a:rPr lang="en-US" altLang="ko-KR" sz="1400" b="1" dirty="0"/>
              <a:t>Then update the Ghost deployment</a:t>
            </a:r>
            <a:r>
              <a:rPr lang="en-US" altLang="ko-KR" sz="1400" dirty="0"/>
              <a:t> to </a:t>
            </a:r>
            <a:r>
              <a:rPr lang="en-US" altLang="ko-KR" sz="1400" b="1" dirty="0"/>
              <a:t>change the name of the </a:t>
            </a:r>
            <a:r>
              <a:rPr lang="en-US" altLang="ko-KR" sz="1400" b="1" dirty="0" err="1"/>
              <a:t>ConfigMap</a:t>
            </a:r>
            <a:r>
              <a:rPr lang="en-US" altLang="ko-KR" sz="1400" b="1" dirty="0"/>
              <a:t> mounted from config-map to config-map-</a:t>
            </a:r>
            <a:r>
              <a:rPr lang="en-US" altLang="ko-KR" sz="1400" b="1" dirty="0" err="1"/>
              <a:t>mysql</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CBB59EF1-C05B-4619-9FC3-3C0BDABD8743}"/>
              </a:ext>
            </a:extLst>
          </p:cNvPr>
          <p:cNvGrpSpPr/>
          <p:nvPr/>
        </p:nvGrpSpPr>
        <p:grpSpPr>
          <a:xfrm>
            <a:off x="3048000" y="1479069"/>
            <a:ext cx="6096000" cy="4955202"/>
            <a:chOff x="3048000" y="1479069"/>
            <a:chExt cx="6096000" cy="4955202"/>
          </a:xfrm>
        </p:grpSpPr>
        <p:sp>
          <p:nvSpPr>
            <p:cNvPr id="4" name="직사각형 3">
              <a:extLst>
                <a:ext uri="{FF2B5EF4-FFF2-40B4-BE49-F238E27FC236}">
                  <a16:creationId xmlns:a16="http://schemas.microsoft.com/office/drawing/2014/main" id="{7B4931D6-77E1-4321-A61A-CF02C32E3C4B}"/>
                </a:ext>
              </a:extLst>
            </p:cNvPr>
            <p:cNvSpPr/>
            <p:nvPr/>
          </p:nvSpPr>
          <p:spPr>
            <a:xfrm>
              <a:off x="3048000" y="1479069"/>
              <a:ext cx="6096000" cy="4708981"/>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a:t>
              </a:r>
              <a:r>
                <a:rPr lang="en-US" altLang="ko-KR" sz="1000" b="1" dirty="0">
                  <a:solidFill>
                    <a:srgbClr val="FF0000"/>
                  </a:solidFill>
                </a:rPr>
                <a:t>ghost-</a:t>
              </a:r>
              <a:r>
                <a:rPr lang="en-US" altLang="ko-KR" sz="1000" b="1" dirty="0" err="1">
                  <a:solidFill>
                    <a:srgbClr val="FF0000"/>
                  </a:solidFill>
                </a:rPr>
                <a:t>mysql</a:t>
              </a:r>
              <a:endParaRPr lang="en-US" altLang="ko-KR" sz="1000" b="1" dirty="0">
                <a:solidFill>
                  <a:srgbClr val="FF0000"/>
                </a:solidFill>
              </a:endParaRPr>
            </a:p>
            <a:p>
              <a:r>
                <a:rPr lang="en-US" altLang="ko-KR" sz="1000" b="1" dirty="0"/>
                <a:t>spec:</a:t>
              </a:r>
            </a:p>
            <a:p>
              <a:r>
                <a:rPr lang="en-US" altLang="ko-KR" sz="1000" b="1" dirty="0"/>
                <a:t>  replicas: 1</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run: ghost</a:t>
              </a:r>
            </a:p>
            <a:p>
              <a:r>
                <a:rPr lang="en-US" altLang="ko-KR" sz="1000" b="1" dirty="0"/>
                <a:t>  template:</a:t>
              </a:r>
            </a:p>
            <a:p>
              <a:r>
                <a:rPr lang="en-US" altLang="ko-KR" sz="1000" b="1" dirty="0"/>
                <a:t>    metadata:</a:t>
              </a:r>
            </a:p>
            <a:p>
              <a:r>
                <a:rPr lang="en-US" altLang="ko-KR" sz="1000" b="1" dirty="0"/>
                <a:t>      labels:</a:t>
              </a:r>
            </a:p>
            <a:p>
              <a:r>
                <a:rPr lang="en-US" altLang="ko-KR" sz="1000" b="1" dirty="0"/>
                <a:t>        run: ghost</a:t>
              </a:r>
            </a:p>
            <a:p>
              <a:r>
                <a:rPr lang="en-US" altLang="ko-KR" sz="1000" b="1" dirty="0"/>
                <a:t>    spec:</a:t>
              </a:r>
            </a:p>
            <a:p>
              <a:r>
                <a:rPr lang="en-US" altLang="ko-KR" sz="1000" b="1" dirty="0"/>
                <a:t>      containers:</a:t>
              </a:r>
            </a:p>
            <a:p>
              <a:r>
                <a:rPr lang="en-US" altLang="ko-KR" sz="1000" b="1" dirty="0"/>
                <a:t>        - image: ghost</a:t>
              </a:r>
            </a:p>
            <a:p>
              <a:r>
                <a:rPr lang="en-US" altLang="ko-KR" sz="1000" b="1" dirty="0"/>
                <a:t>          name: ghost</a:t>
              </a:r>
            </a:p>
            <a:p>
              <a:r>
                <a:rPr lang="en-US" altLang="ko-KR" sz="1000" b="1" dirty="0"/>
                <a:t>          command:</a:t>
              </a:r>
            </a:p>
            <a:p>
              <a:r>
                <a:rPr lang="en-US" altLang="ko-KR" sz="1000" b="1" dirty="0"/>
                <a:t>            - </a:t>
              </a:r>
              <a:r>
                <a:rPr lang="en-US" altLang="ko-KR" sz="1000" b="1" dirty="0" err="1"/>
                <a:t>sh</a:t>
              </a:r>
              <a:endParaRPr lang="en-US" altLang="ko-KR" sz="1000" b="1" dirty="0"/>
            </a:p>
            <a:p>
              <a:r>
                <a:rPr lang="en-US" altLang="ko-KR" sz="1000" b="1" dirty="0"/>
                <a:t>            - -c</a:t>
              </a:r>
            </a:p>
            <a:p>
              <a:r>
                <a:rPr lang="en-US" altLang="ko-KR" sz="1000" b="1" dirty="0"/>
                <a:t>            - cp /ghost-config/</a:t>
              </a:r>
              <a:r>
                <a:rPr lang="en-US" altLang="ko-KR" sz="1000" b="1" dirty="0">
                  <a:solidFill>
                    <a:srgbClr val="FF0000"/>
                  </a:solidFill>
                </a:rPr>
                <a:t>ghost-config-mysql.js </a:t>
              </a:r>
              <a:r>
                <a:rPr lang="en-US" altLang="ko-KR" sz="1000" b="1" dirty="0"/>
                <a:t>/var/lib/ghost/config.js</a:t>
              </a:r>
            </a:p>
            <a:p>
              <a:r>
                <a:rPr lang="en-US" altLang="ko-KR" sz="1000" b="1" dirty="0"/>
                <a:t>              &amp;&amp; /usr/local/bin/docker-entrypoint.sh node current/index.js</a:t>
              </a:r>
            </a:p>
            <a:p>
              <a:r>
                <a:rPr lang="en-US" altLang="ko-KR" sz="1000" b="1" dirty="0"/>
                <a:t>          </a:t>
              </a:r>
              <a:r>
                <a:rPr lang="en-US" altLang="ko-KR" sz="1000" b="1" dirty="0" err="1"/>
                <a:t>volumeMounts</a:t>
              </a:r>
              <a:r>
                <a:rPr lang="en-US" altLang="ko-KR" sz="1000" b="1" dirty="0"/>
                <a:t>:</a:t>
              </a:r>
            </a:p>
            <a:p>
              <a:r>
                <a:rPr lang="en-US" altLang="ko-KR" sz="1000" b="1" dirty="0"/>
                <a:t>            - </a:t>
              </a:r>
              <a:r>
                <a:rPr lang="en-US" altLang="ko-KR" sz="1000" b="1" dirty="0" err="1"/>
                <a:t>mountPath</a:t>
              </a:r>
              <a:r>
                <a:rPr lang="en-US" altLang="ko-KR" sz="1000" b="1" dirty="0"/>
                <a:t>: /ghost-config</a:t>
              </a:r>
            </a:p>
            <a:p>
              <a:r>
                <a:rPr lang="en-US" altLang="ko-KR" sz="1000" b="1" dirty="0"/>
                <a:t>              name: config</a:t>
              </a:r>
            </a:p>
            <a:p>
              <a:r>
                <a:rPr lang="en-US" altLang="ko-KR" sz="1000" b="1" dirty="0"/>
                <a:t>      volumes:</a:t>
              </a:r>
            </a:p>
            <a:p>
              <a:r>
                <a:rPr lang="en-US" altLang="ko-KR" sz="1000" b="1" dirty="0"/>
                <a:t>        - name: config</a:t>
              </a:r>
            </a:p>
            <a:p>
              <a:r>
                <a:rPr lang="en-US" altLang="ko-KR" sz="1000" b="1" dirty="0"/>
                <a:t>          </a:t>
              </a:r>
              <a:r>
                <a:rPr lang="en-US" altLang="ko-KR" sz="1000" b="1" dirty="0" err="1"/>
                <a:t>configMap</a:t>
              </a:r>
              <a:r>
                <a:rPr lang="en-US" altLang="ko-KR" sz="1000" b="1" dirty="0"/>
                <a:t>:</a:t>
              </a:r>
            </a:p>
            <a:p>
              <a:r>
                <a:rPr lang="en-US" altLang="ko-KR" sz="1000" b="1" dirty="0"/>
                <a:t>            </a:t>
              </a:r>
              <a:r>
                <a:rPr lang="en-US" altLang="ko-KR" sz="1000" b="1" dirty="0" err="1"/>
                <a:t>defaultMode</a:t>
              </a:r>
              <a:r>
                <a:rPr lang="en-US" altLang="ko-KR" sz="1000" b="1" dirty="0"/>
                <a:t>: 420</a:t>
              </a:r>
            </a:p>
            <a:p>
              <a:r>
                <a:rPr lang="en-US" altLang="ko-KR" sz="1000" b="1" dirty="0"/>
                <a:t>            name: </a:t>
              </a:r>
              <a:r>
                <a:rPr lang="en-US" altLang="ko-KR" sz="1000" b="1" dirty="0">
                  <a:solidFill>
                    <a:srgbClr val="FF0000"/>
                  </a:solidFill>
                </a:rPr>
                <a:t>ghost-config-</a:t>
              </a:r>
              <a:r>
                <a:rPr lang="en-US" altLang="ko-KR" sz="1000" b="1" dirty="0" err="1">
                  <a:solidFill>
                    <a:srgbClr val="FF0000"/>
                  </a:solidFill>
                </a:rPr>
                <a:t>mysql</a:t>
              </a:r>
              <a:endParaRPr lang="ko-KR" altLang="en-US" sz="1000" b="1" dirty="0">
                <a:solidFill>
                  <a:srgbClr val="FF0000"/>
                </a:solidFill>
              </a:endParaRPr>
            </a:p>
          </p:txBody>
        </p:sp>
        <p:sp>
          <p:nvSpPr>
            <p:cNvPr id="8" name="TextBox 7">
              <a:extLst>
                <a:ext uri="{FF2B5EF4-FFF2-40B4-BE49-F238E27FC236}">
                  <a16:creationId xmlns:a16="http://schemas.microsoft.com/office/drawing/2014/main" id="{101CE759-DB40-40E1-87E4-8E1FE1702C20}"/>
                </a:ext>
              </a:extLst>
            </p:cNvPr>
            <p:cNvSpPr txBox="1"/>
            <p:nvPr/>
          </p:nvSpPr>
          <p:spPr>
            <a:xfrm>
              <a:off x="5459447" y="6188050"/>
              <a:ext cx="1273105" cy="246221"/>
            </a:xfrm>
            <a:prstGeom prst="rect">
              <a:avLst/>
            </a:prstGeom>
            <a:noFill/>
          </p:spPr>
          <p:txBody>
            <a:bodyPr wrap="none" rtlCol="0">
              <a:spAutoFit/>
            </a:bodyPr>
            <a:lstStyle/>
            <a:p>
              <a:pPr algn="ctr"/>
              <a:r>
                <a:rPr lang="en-US" altLang="ko-KR" sz="1000" b="1" dirty="0"/>
                <a:t>ghost-</a:t>
              </a:r>
              <a:r>
                <a:rPr lang="en-US" altLang="ko-KR" sz="1000" b="1" dirty="0" err="1"/>
                <a:t>mysql.yaml</a:t>
              </a:r>
              <a:endParaRPr lang="ko-KR" altLang="en-US" sz="1000" b="1" dirty="0"/>
            </a:p>
          </p:txBody>
        </p:sp>
      </p:grpSp>
    </p:spTree>
    <p:extLst>
      <p:ext uri="{BB962C8B-B14F-4D97-AF65-F5344CB8AC3E}">
        <p14:creationId xmlns:p14="http://schemas.microsoft.com/office/powerpoint/2010/main" val="21232935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Ghost(10/13)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Ghost + MySQL :</a:t>
            </a:r>
          </a:p>
          <a:p>
            <a:pPr lvl="1">
              <a:buFont typeface="Wingdings" panose="05000000000000000000" pitchFamily="2" charset="2"/>
              <a:buChar char="§"/>
            </a:pPr>
            <a:r>
              <a:rPr lang="en-US" altLang="ko-KR" sz="1400" dirty="0"/>
              <a:t>Using the following instruction, </a:t>
            </a:r>
            <a:r>
              <a:rPr lang="en-US" altLang="ko-KR" sz="1400" b="1" dirty="0"/>
              <a:t>deploy a MySQL server </a:t>
            </a:r>
            <a:r>
              <a:rPr lang="en-US" altLang="ko-KR" sz="1400" dirty="0"/>
              <a:t>in your Kubernetes cluster. </a:t>
            </a:r>
            <a:r>
              <a:rPr lang="en-US" altLang="ko-KR" sz="1400" b="1" dirty="0"/>
              <a:t>Make sure that it has a service named </a:t>
            </a:r>
            <a:r>
              <a:rPr lang="en-US" altLang="ko-KR" sz="1400" b="1" dirty="0" err="1"/>
              <a:t>mysql</a:t>
            </a:r>
            <a:r>
              <a:rPr lang="en-US" altLang="ko-KR" sz="1400" b="1" dirty="0"/>
              <a:t> defined as well</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574940A5-8190-4F4F-9B8B-41BD1170EE1F}"/>
              </a:ext>
            </a:extLst>
          </p:cNvPr>
          <p:cNvGrpSpPr/>
          <p:nvPr/>
        </p:nvGrpSpPr>
        <p:grpSpPr>
          <a:xfrm>
            <a:off x="1333500" y="2001663"/>
            <a:ext cx="9525000" cy="2854673"/>
            <a:chOff x="1333500" y="1660970"/>
            <a:chExt cx="9525000" cy="2854673"/>
          </a:xfrm>
        </p:grpSpPr>
        <p:grpSp>
          <p:nvGrpSpPr>
            <p:cNvPr id="13" name="그룹 12">
              <a:extLst>
                <a:ext uri="{FF2B5EF4-FFF2-40B4-BE49-F238E27FC236}">
                  <a16:creationId xmlns:a16="http://schemas.microsoft.com/office/drawing/2014/main" id="{B21B773D-A96D-4352-82AE-8EF98FD806E2}"/>
                </a:ext>
              </a:extLst>
            </p:cNvPr>
            <p:cNvGrpSpPr/>
            <p:nvPr/>
          </p:nvGrpSpPr>
          <p:grpSpPr>
            <a:xfrm>
              <a:off x="1333500" y="1660970"/>
              <a:ext cx="9525000" cy="2854673"/>
              <a:chOff x="1333500" y="1660970"/>
              <a:chExt cx="9525000" cy="2854673"/>
            </a:xfrm>
          </p:grpSpPr>
          <p:grpSp>
            <p:nvGrpSpPr>
              <p:cNvPr id="11" name="그룹 10">
                <a:extLst>
                  <a:ext uri="{FF2B5EF4-FFF2-40B4-BE49-F238E27FC236}">
                    <a16:creationId xmlns:a16="http://schemas.microsoft.com/office/drawing/2014/main" id="{3B198200-882A-4E1A-9E30-750A208901A9}"/>
                  </a:ext>
                </a:extLst>
              </p:cNvPr>
              <p:cNvGrpSpPr/>
              <p:nvPr/>
            </p:nvGrpSpPr>
            <p:grpSpPr>
              <a:xfrm>
                <a:off x="3679281" y="1660970"/>
                <a:ext cx="4833438" cy="1005078"/>
                <a:chOff x="3679281" y="1660970"/>
                <a:chExt cx="4833438" cy="1005078"/>
              </a:xfrm>
            </p:grpSpPr>
            <p:sp>
              <p:nvSpPr>
                <p:cNvPr id="9" name="직사각형 8">
                  <a:extLst>
                    <a:ext uri="{FF2B5EF4-FFF2-40B4-BE49-F238E27FC236}">
                      <a16:creationId xmlns:a16="http://schemas.microsoft.com/office/drawing/2014/main" id="{ED4C411C-93D9-4870-9B0A-ABCEA1F34710}"/>
                    </a:ext>
                  </a:extLst>
                </p:cNvPr>
                <p:cNvSpPr/>
                <p:nvPr/>
              </p:nvSpPr>
              <p:spPr>
                <a:xfrm>
                  <a:off x="3679281" y="1660970"/>
                  <a:ext cx="4833438" cy="707886"/>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nfs-volume.yaml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nfs</a:t>
                  </a:r>
                  <a:r>
                    <a:rPr lang="en-US" altLang="ko-KR" sz="1000" b="1" dirty="0">
                      <a:solidFill>
                        <a:srgbClr val="FF0000"/>
                      </a:solidFill>
                    </a:rPr>
                    <a:t>-volume-</a:t>
                  </a:r>
                  <a:r>
                    <a:rPr lang="en-US" altLang="ko-KR" sz="1000" b="1" dirty="0" err="1">
                      <a:solidFill>
                        <a:srgbClr val="FF0000"/>
                      </a:solidFill>
                    </a:rPr>
                    <a:t>claim.yaml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mysql-replicaset.yaml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mysql-service.yaml</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4C69AAD2-ACE2-42A0-BEFD-1C3C22A810FB}"/>
                    </a:ext>
                  </a:extLst>
                </p:cNvPr>
                <p:cNvSpPr/>
                <p:nvPr/>
              </p:nvSpPr>
              <p:spPr>
                <a:xfrm>
                  <a:off x="5886450" y="2384108"/>
                  <a:ext cx="419100" cy="2819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3B0DD97C-6E88-4618-95BE-CAF00BF01756}"/>
                  </a:ext>
                </a:extLst>
              </p:cNvPr>
              <p:cNvPicPr>
                <a:picLocks noChangeAspect="1"/>
              </p:cNvPicPr>
              <p:nvPr/>
            </p:nvPicPr>
            <p:blipFill>
              <a:blip r:embed="rId2"/>
              <a:stretch>
                <a:fillRect/>
              </a:stretch>
            </p:blipFill>
            <p:spPr>
              <a:xfrm>
                <a:off x="1333500" y="2667793"/>
                <a:ext cx="9525000" cy="1847850"/>
              </a:xfrm>
              <a:prstGeom prst="rect">
                <a:avLst/>
              </a:prstGeom>
            </p:spPr>
          </p:pic>
        </p:grpSp>
        <p:sp>
          <p:nvSpPr>
            <p:cNvPr id="14" name="직사각형 13">
              <a:extLst>
                <a:ext uri="{FF2B5EF4-FFF2-40B4-BE49-F238E27FC236}">
                  <a16:creationId xmlns:a16="http://schemas.microsoft.com/office/drawing/2014/main" id="{328DDF7B-A8E3-4F93-A45D-2D243D375487}"/>
                </a:ext>
              </a:extLst>
            </p:cNvPr>
            <p:cNvSpPr/>
            <p:nvPr/>
          </p:nvSpPr>
          <p:spPr>
            <a:xfrm>
              <a:off x="1409700" y="4008120"/>
              <a:ext cx="3802380" cy="1981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663109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Ghost(11/13)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Ghost + MySQL :</a:t>
            </a:r>
          </a:p>
          <a:p>
            <a:pPr lvl="1">
              <a:buFont typeface="Wingdings" panose="05000000000000000000" pitchFamily="2" charset="2"/>
              <a:buChar char="§"/>
            </a:pPr>
            <a:r>
              <a:rPr lang="en-US" altLang="ko-KR" sz="1400" dirty="0"/>
              <a:t>You will need to </a:t>
            </a:r>
            <a:r>
              <a:rPr lang="en-US" altLang="ko-KR" sz="1400" b="1" dirty="0"/>
              <a:t>create the database in the MySQL database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Enter password </a:t>
            </a:r>
            <a:r>
              <a:rPr lang="en-US" altLang="ko-KR" sz="1400" dirty="0"/>
              <a:t>: “</a:t>
            </a:r>
            <a:r>
              <a:rPr lang="en-US" altLang="ko-KR" sz="1400" b="1" dirty="0"/>
              <a:t>1234</a:t>
            </a:r>
            <a:r>
              <a:rPr lang="en-US" altLang="ko-KR" sz="1400" dirty="0"/>
              <a:t>” from “</a:t>
            </a:r>
            <a:r>
              <a:rPr lang="en-US" altLang="ko-KR" sz="1400" b="1" dirty="0" err="1"/>
              <a:t>mysql-replicaset.yaml</a:t>
            </a:r>
            <a:r>
              <a:rPr lang="en-US" altLang="ko-KR" sz="1400" dirty="0"/>
              <a:t>” file.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FD0D82D6-B3FF-4C92-AF75-3C5437CE14E7}"/>
              </a:ext>
            </a:extLst>
          </p:cNvPr>
          <p:cNvSpPr/>
          <p:nvPr/>
        </p:nvSpPr>
        <p:spPr>
          <a:xfrm>
            <a:off x="4445548" y="1491329"/>
            <a:ext cx="3300904"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mysql-n6679</a:t>
            </a:r>
            <a:r>
              <a:rPr lang="en-US" altLang="ko-KR" sz="1000" b="1" dirty="0"/>
              <a:t> -- </a:t>
            </a:r>
            <a:r>
              <a:rPr lang="en-US" altLang="ko-KR" sz="1000" b="1" dirty="0" err="1"/>
              <a:t>mysql</a:t>
            </a:r>
            <a:r>
              <a:rPr lang="en-US" altLang="ko-KR" sz="1000" b="1" dirty="0"/>
              <a:t> -u root -p</a:t>
            </a:r>
          </a:p>
        </p:txBody>
      </p:sp>
      <p:pic>
        <p:nvPicPr>
          <p:cNvPr id="9" name="그림 8">
            <a:extLst>
              <a:ext uri="{FF2B5EF4-FFF2-40B4-BE49-F238E27FC236}">
                <a16:creationId xmlns:a16="http://schemas.microsoft.com/office/drawing/2014/main" id="{50443B45-2C15-48BC-B678-0B50E4E2DB49}"/>
              </a:ext>
            </a:extLst>
          </p:cNvPr>
          <p:cNvPicPr>
            <a:picLocks noChangeAspect="1"/>
          </p:cNvPicPr>
          <p:nvPr/>
        </p:nvPicPr>
        <p:blipFill>
          <a:blip r:embed="rId2"/>
          <a:stretch>
            <a:fillRect/>
          </a:stretch>
        </p:blipFill>
        <p:spPr>
          <a:xfrm>
            <a:off x="1333500" y="2299641"/>
            <a:ext cx="9525000" cy="4010025"/>
          </a:xfrm>
          <a:prstGeom prst="rect">
            <a:avLst/>
          </a:prstGeom>
          <a:ln>
            <a:solidFill>
              <a:schemeClr val="bg1">
                <a:lumMod val="50000"/>
              </a:schemeClr>
            </a:solidFill>
          </a:ln>
        </p:spPr>
      </p:pic>
    </p:spTree>
    <p:extLst>
      <p:ext uri="{BB962C8B-B14F-4D97-AF65-F5344CB8AC3E}">
        <p14:creationId xmlns:p14="http://schemas.microsoft.com/office/powerpoint/2010/main" val="36449823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Ghost(12/13)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Ghost + MySQL :</a:t>
            </a:r>
          </a:p>
          <a:p>
            <a:pPr lvl="1">
              <a:buFont typeface="Wingdings" panose="05000000000000000000" pitchFamily="2" charset="2"/>
              <a:buChar char="§"/>
            </a:pPr>
            <a:r>
              <a:rPr lang="en-US" altLang="ko-KR" sz="1400" dirty="0"/>
              <a:t>Finally, perform </a:t>
            </a:r>
            <a:r>
              <a:rPr lang="en-US" altLang="ko-KR" sz="1400" b="1" dirty="0"/>
              <a:t>a rollout(or apply) to deploy this new configuration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use “</a:t>
            </a:r>
            <a:r>
              <a:rPr lang="en-US" altLang="ko-KR" sz="1400" b="1" dirty="0"/>
              <a:t>$ </a:t>
            </a:r>
            <a:r>
              <a:rPr lang="en-US" altLang="ko-KR" sz="1400" b="1" dirty="0" err="1"/>
              <a:t>kubectl</a:t>
            </a:r>
            <a:r>
              <a:rPr lang="en-US" altLang="ko-KR" sz="1400" b="1" dirty="0"/>
              <a:t> expose deployments ghost --port=2368</a:t>
            </a:r>
            <a:r>
              <a:rPr lang="en-US" altLang="ko-KR" sz="1400" dirty="0"/>
              <a:t>” and “</a:t>
            </a:r>
            <a:r>
              <a:rPr lang="en-US" altLang="ko-KR" sz="1400" b="1" dirty="0"/>
              <a:t>$ </a:t>
            </a:r>
            <a:r>
              <a:rPr lang="en-US" altLang="ko-KR" sz="1400" b="1" dirty="0" err="1"/>
              <a:t>kubectl</a:t>
            </a:r>
            <a:r>
              <a:rPr lang="en-US" altLang="ko-KR" sz="1400" b="1" dirty="0"/>
              <a:t> proxy</a:t>
            </a:r>
            <a:r>
              <a:rPr lang="en-US" altLang="ko-KR" sz="1400" dirty="0"/>
              <a:t>” command to access “ghost” service. Open “</a:t>
            </a:r>
            <a:r>
              <a:rPr lang="en-US" altLang="ko-KR" sz="1400" b="1" dirty="0"/>
              <a:t>http://localhost:8001/</a:t>
            </a:r>
            <a:r>
              <a:rPr lang="en-US" altLang="ko-KR" sz="1400" b="1" dirty="0" err="1"/>
              <a:t>api</a:t>
            </a:r>
            <a:r>
              <a:rPr lang="en-US" altLang="ko-KR" sz="1400" b="1" dirty="0"/>
              <a:t>/v1/namespaces/default/services/ghost/proxy/” </a:t>
            </a:r>
            <a:r>
              <a:rPr lang="en-US" altLang="ko-KR" sz="1400" dirty="0"/>
              <a:t>with your browser</a:t>
            </a:r>
            <a:r>
              <a:rPr lang="en-US" altLang="ko-KR" sz="1400" b="1" dirty="0"/>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ED7AD97-C5F6-4D13-97A8-435413273E2A}"/>
              </a:ext>
            </a:extLst>
          </p:cNvPr>
          <p:cNvGrpSpPr/>
          <p:nvPr/>
        </p:nvGrpSpPr>
        <p:grpSpPr>
          <a:xfrm>
            <a:off x="1333500" y="1484114"/>
            <a:ext cx="9525000" cy="3115163"/>
            <a:chOff x="1333500" y="1468874"/>
            <a:chExt cx="9525000" cy="3115163"/>
          </a:xfrm>
        </p:grpSpPr>
        <p:sp>
          <p:nvSpPr>
            <p:cNvPr id="4" name="직사각형 3">
              <a:extLst>
                <a:ext uri="{FF2B5EF4-FFF2-40B4-BE49-F238E27FC236}">
                  <a16:creationId xmlns:a16="http://schemas.microsoft.com/office/drawing/2014/main" id="{F471D5D5-20F3-4F4F-9CCB-CDB407699079}"/>
                </a:ext>
              </a:extLst>
            </p:cNvPr>
            <p:cNvSpPr/>
            <p:nvPr/>
          </p:nvSpPr>
          <p:spPr>
            <a:xfrm>
              <a:off x="4891984" y="1468874"/>
              <a:ext cx="240803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apply -f </a:t>
              </a:r>
              <a:r>
                <a:rPr lang="en-US" altLang="ko-KR" sz="1000" b="1" dirty="0">
                  <a:solidFill>
                    <a:srgbClr val="FF0000"/>
                  </a:solidFill>
                </a:rPr>
                <a:t>ghost-</a:t>
              </a:r>
              <a:r>
                <a:rPr lang="en-US" altLang="ko-KR" sz="1000" b="1" dirty="0" err="1">
                  <a:solidFill>
                    <a:srgbClr val="FF0000"/>
                  </a:solidFill>
                </a:rPr>
                <a:t>mysql.yaml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42236842-0EB7-49A3-8F80-94936B40B7B9}"/>
                </a:ext>
              </a:extLst>
            </p:cNvPr>
            <p:cNvSpPr/>
            <p:nvPr/>
          </p:nvSpPr>
          <p:spPr>
            <a:xfrm>
              <a:off x="5890260" y="1730347"/>
              <a:ext cx="411480" cy="2819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8A8D87D-94F1-4588-99C0-98825E1C9509}"/>
                </a:ext>
              </a:extLst>
            </p:cNvPr>
            <p:cNvPicPr>
              <a:picLocks noChangeAspect="1"/>
            </p:cNvPicPr>
            <p:nvPr/>
          </p:nvPicPr>
          <p:blipFill>
            <a:blip r:embed="rId2"/>
            <a:stretch>
              <a:fillRect/>
            </a:stretch>
          </p:blipFill>
          <p:spPr>
            <a:xfrm>
              <a:off x="1333500" y="2012287"/>
              <a:ext cx="9525000" cy="2571750"/>
            </a:xfrm>
            <a:prstGeom prst="rect">
              <a:avLst/>
            </a:prstGeom>
            <a:ln>
              <a:solidFill>
                <a:schemeClr val="bg1">
                  <a:lumMod val="50000"/>
                </a:schemeClr>
              </a:solidFill>
            </a:ln>
          </p:spPr>
        </p:pic>
      </p:grpSp>
      <p:pic>
        <p:nvPicPr>
          <p:cNvPr id="11" name="그림 10">
            <a:extLst>
              <a:ext uri="{FF2B5EF4-FFF2-40B4-BE49-F238E27FC236}">
                <a16:creationId xmlns:a16="http://schemas.microsoft.com/office/drawing/2014/main" id="{984ECC02-4945-463F-A40F-24CE67CE5668}"/>
              </a:ext>
            </a:extLst>
          </p:cNvPr>
          <p:cNvPicPr>
            <a:picLocks noChangeAspect="1"/>
          </p:cNvPicPr>
          <p:nvPr/>
        </p:nvPicPr>
        <p:blipFill>
          <a:blip r:embed="rId3"/>
          <a:stretch>
            <a:fillRect/>
          </a:stretch>
        </p:blipFill>
        <p:spPr>
          <a:xfrm>
            <a:off x="8155303" y="2626642"/>
            <a:ext cx="3198497" cy="1604716"/>
          </a:xfrm>
          <a:prstGeom prst="rect">
            <a:avLst/>
          </a:prstGeom>
          <a:ln>
            <a:solidFill>
              <a:schemeClr val="bg1">
                <a:lumMod val="50000"/>
              </a:schemeClr>
            </a:solidFill>
          </a:ln>
        </p:spPr>
      </p:pic>
    </p:spTree>
    <p:extLst>
      <p:ext uri="{BB962C8B-B14F-4D97-AF65-F5344CB8AC3E}">
        <p14:creationId xmlns:p14="http://schemas.microsoft.com/office/powerpoint/2010/main" val="265905479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Ghost(13/13)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Ghost + MySQL :</a:t>
            </a:r>
          </a:p>
          <a:p>
            <a:pPr lvl="1">
              <a:buFont typeface="Wingdings" panose="05000000000000000000" pitchFamily="2" charset="2"/>
              <a:buChar char="§"/>
            </a:pPr>
            <a:r>
              <a:rPr lang="en-US" altLang="ko-KR" sz="1400" dirty="0"/>
              <a:t>Because </a:t>
            </a:r>
            <a:r>
              <a:rPr lang="en-US" altLang="ko-KR" sz="1400" b="1" dirty="0"/>
              <a:t>your Ghost server is now </a:t>
            </a:r>
            <a:r>
              <a:rPr lang="en-US" altLang="ko-KR" sz="1400" b="1" dirty="0">
                <a:solidFill>
                  <a:srgbClr val="FF0000"/>
                </a:solidFill>
              </a:rPr>
              <a:t>decoupled</a:t>
            </a:r>
            <a:r>
              <a:rPr lang="en-US" altLang="ko-KR" sz="1400" b="1" dirty="0"/>
              <a:t> from its database</a:t>
            </a:r>
            <a:r>
              <a:rPr lang="en-US" altLang="ko-KR" sz="1400" dirty="0"/>
              <a:t>, you can </a:t>
            </a:r>
            <a:r>
              <a:rPr lang="en-US" altLang="ko-KR" sz="1400" b="1" dirty="0"/>
              <a:t>scale up your Ghost server </a:t>
            </a:r>
            <a:r>
              <a:rPr lang="en-US" altLang="ko-KR" sz="1400" dirty="0"/>
              <a:t>and </a:t>
            </a:r>
            <a:r>
              <a:rPr lang="en-US" altLang="ko-KR" sz="1400" b="1" dirty="0"/>
              <a:t>it will continue to share the data across all replicas</a:t>
            </a:r>
            <a:r>
              <a:rPr lang="en-US" altLang="ko-KR" sz="1400" dirty="0"/>
              <a:t>.</a:t>
            </a:r>
          </a:p>
          <a:p>
            <a:pPr lvl="1">
              <a:buFont typeface="Wingdings" panose="05000000000000000000" pitchFamily="2" charset="2"/>
              <a:buChar char="§"/>
            </a:pPr>
            <a:r>
              <a:rPr lang="en-US" altLang="ko-KR" sz="1400" dirty="0"/>
              <a:t>Edit “</a:t>
            </a:r>
            <a:r>
              <a:rPr lang="en-US" altLang="ko-KR" sz="1400" b="1" dirty="0"/>
              <a:t>ghost-</a:t>
            </a:r>
            <a:r>
              <a:rPr lang="en-US" altLang="ko-KR" sz="1400" b="1" dirty="0" err="1"/>
              <a:t>mysql.yaml</a:t>
            </a:r>
            <a:r>
              <a:rPr lang="en-US" altLang="ko-KR" sz="1400" dirty="0"/>
              <a:t>” to </a:t>
            </a:r>
            <a:r>
              <a:rPr lang="en-US" altLang="ko-KR" sz="1400" b="1" dirty="0"/>
              <a:t>set “</a:t>
            </a:r>
            <a:r>
              <a:rPr lang="en-US" altLang="ko-KR" sz="1400" b="1" dirty="0" err="1"/>
              <a:t>spec.replicas</a:t>
            </a:r>
            <a:r>
              <a:rPr lang="en-US" altLang="ko-KR" sz="1400" b="1" dirty="0"/>
              <a:t>” to 3</a:t>
            </a:r>
            <a:r>
              <a:rPr lang="en-US" altLang="ko-KR" sz="1400" dirty="0"/>
              <a:t>, then run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D96495F4-1351-411A-B031-01FB9764964C}"/>
              </a:ext>
            </a:extLst>
          </p:cNvPr>
          <p:cNvGrpSpPr/>
          <p:nvPr/>
        </p:nvGrpSpPr>
        <p:grpSpPr>
          <a:xfrm>
            <a:off x="1333500" y="2032754"/>
            <a:ext cx="9525000" cy="2404802"/>
            <a:chOff x="1333500" y="2032754"/>
            <a:chExt cx="9525000" cy="2404802"/>
          </a:xfrm>
        </p:grpSpPr>
        <p:grpSp>
          <p:nvGrpSpPr>
            <p:cNvPr id="10" name="그룹 9">
              <a:extLst>
                <a:ext uri="{FF2B5EF4-FFF2-40B4-BE49-F238E27FC236}">
                  <a16:creationId xmlns:a16="http://schemas.microsoft.com/office/drawing/2014/main" id="{94DC5C25-5E4C-4DC6-96AE-A111D8161730}"/>
                </a:ext>
              </a:extLst>
            </p:cNvPr>
            <p:cNvGrpSpPr/>
            <p:nvPr/>
          </p:nvGrpSpPr>
          <p:grpSpPr>
            <a:xfrm>
              <a:off x="1333500" y="2032754"/>
              <a:ext cx="9525000" cy="2404802"/>
              <a:chOff x="1333500" y="1933694"/>
              <a:chExt cx="9525000" cy="2404802"/>
            </a:xfrm>
          </p:grpSpPr>
          <p:sp>
            <p:nvSpPr>
              <p:cNvPr id="4" name="직사각형 3">
                <a:extLst>
                  <a:ext uri="{FF2B5EF4-FFF2-40B4-BE49-F238E27FC236}">
                    <a16:creationId xmlns:a16="http://schemas.microsoft.com/office/drawing/2014/main" id="{DA55B540-7BBF-4360-A50F-FDBCA38512B2}"/>
                  </a:ext>
                </a:extLst>
              </p:cNvPr>
              <p:cNvSpPr/>
              <p:nvPr/>
            </p:nvSpPr>
            <p:spPr>
              <a:xfrm>
                <a:off x="4891984" y="1933694"/>
                <a:ext cx="2408032"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ghost-</a:t>
                </a:r>
                <a:r>
                  <a:rPr lang="en-US" altLang="ko-KR" sz="1000" b="1" dirty="0" err="1">
                    <a:solidFill>
                      <a:srgbClr val="FF0000"/>
                    </a:solidFill>
                  </a:rPr>
                  <a:t>mysql.yaml</a:t>
                </a:r>
                <a:endParaRPr lang="en-US" altLang="ko-KR" sz="1000" b="1" dirty="0">
                  <a:solidFill>
                    <a:srgbClr val="FF0000"/>
                  </a:solidFill>
                </a:endParaRPr>
              </a:p>
            </p:txBody>
          </p:sp>
          <p:pic>
            <p:nvPicPr>
              <p:cNvPr id="8" name="그림 7">
                <a:extLst>
                  <a:ext uri="{FF2B5EF4-FFF2-40B4-BE49-F238E27FC236}">
                    <a16:creationId xmlns:a16="http://schemas.microsoft.com/office/drawing/2014/main" id="{543F8C18-AD36-4879-88C6-9FC51A46CBC1}"/>
                  </a:ext>
                </a:extLst>
              </p:cNvPr>
              <p:cNvPicPr>
                <a:picLocks noChangeAspect="1"/>
              </p:cNvPicPr>
              <p:nvPr/>
            </p:nvPicPr>
            <p:blipFill>
              <a:blip r:embed="rId2"/>
              <a:stretch>
                <a:fillRect/>
              </a:stretch>
            </p:blipFill>
            <p:spPr>
              <a:xfrm>
                <a:off x="1333500" y="2471596"/>
                <a:ext cx="9525000" cy="18669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30CBF228-4109-48A7-B83F-2188D3D0C61C}"/>
                  </a:ext>
                </a:extLst>
              </p:cNvPr>
              <p:cNvSpPr/>
              <p:nvPr/>
            </p:nvSpPr>
            <p:spPr>
              <a:xfrm>
                <a:off x="5909310" y="2202645"/>
                <a:ext cx="37338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A0E3A82F-9D7B-41B1-8536-F9D5EA8082FC}"/>
                </a:ext>
              </a:extLst>
            </p:cNvPr>
            <p:cNvSpPr/>
            <p:nvPr/>
          </p:nvSpPr>
          <p:spPr>
            <a:xfrm>
              <a:off x="1447800" y="3429000"/>
              <a:ext cx="5166360" cy="4876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034388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Redis(1/4)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ConfigMap</a:t>
            </a:r>
            <a:r>
              <a:rPr lang="en-US" altLang="ko-KR" sz="1800" b="1" dirty="0"/>
              <a:t> :</a:t>
            </a:r>
          </a:p>
          <a:p>
            <a:pPr lvl="1">
              <a:buFont typeface="Wingdings" panose="05000000000000000000" pitchFamily="2" charset="2"/>
              <a:buChar char="§"/>
            </a:pPr>
            <a:r>
              <a:rPr lang="en-US" altLang="ko-KR" sz="1400" b="1" dirty="0"/>
              <a:t>Redis is a popular “in-memory key/value store”</a:t>
            </a:r>
            <a:r>
              <a:rPr lang="en-US" altLang="ko-KR" sz="1400" dirty="0"/>
              <a:t>, with numerous additional features. It’s an interesting application to deploy because it is </a:t>
            </a:r>
            <a:r>
              <a:rPr lang="en-US" altLang="ko-KR" sz="1400" b="1" dirty="0"/>
              <a:t>a good example of the value of the </a:t>
            </a:r>
            <a:r>
              <a:rPr lang="en-US" altLang="ko-KR" sz="1400" b="1" dirty="0">
                <a:solidFill>
                  <a:srgbClr val="FF0000"/>
                </a:solidFill>
              </a:rPr>
              <a:t>Kubernetes Pod abstraction</a:t>
            </a:r>
            <a:r>
              <a:rPr lang="en-US" altLang="ko-KR" sz="1400" dirty="0"/>
              <a:t>. To deploy Redis on the Kubernetes cluster, we will make three files like “</a:t>
            </a:r>
            <a:r>
              <a:rPr lang="en-US" altLang="ko-KR" sz="1400" b="1" dirty="0" err="1"/>
              <a:t>redis-configmap.yaml</a:t>
            </a:r>
            <a:r>
              <a:rPr lang="en-US" altLang="ko-KR" sz="1400" b="1" dirty="0"/>
              <a:t>, </a:t>
            </a:r>
            <a:r>
              <a:rPr lang="en-US" altLang="ko-KR" sz="1400" b="1" dirty="0" err="1"/>
              <a:t>redis-service.yaml</a:t>
            </a:r>
            <a:r>
              <a:rPr lang="en-US" altLang="ko-KR" sz="1400" b="1" dirty="0"/>
              <a:t>, </a:t>
            </a:r>
            <a:r>
              <a:rPr lang="en-US" altLang="ko-KR" sz="1400" b="1" dirty="0" err="1"/>
              <a:t>redis-statefulset.yaml</a:t>
            </a:r>
            <a:r>
              <a:rPr lang="en-US" altLang="ko-KR" sz="1400" dirty="0"/>
              <a:t>”. </a:t>
            </a:r>
          </a:p>
          <a:p>
            <a:pPr lvl="1">
              <a:buFont typeface="Wingdings" panose="05000000000000000000" pitchFamily="2" charset="2"/>
              <a:buChar char="§"/>
            </a:pPr>
            <a:r>
              <a:rPr lang="en-US" altLang="ko-KR" sz="1400" dirty="0"/>
              <a:t>Let’s see the “</a:t>
            </a:r>
            <a:r>
              <a:rPr lang="en-US" altLang="ko-KR" sz="1400" b="1" dirty="0" err="1"/>
              <a:t>redis-configmap.yaml</a:t>
            </a:r>
            <a:r>
              <a:rPr lang="en-US" altLang="ko-KR" sz="1400" dirty="0"/>
              <a:t>” file first.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a:t>
            </a:r>
            <a:r>
              <a:rPr lang="en-US" altLang="ko-KR" sz="1400" b="1" dirty="0" err="1"/>
              <a:t>redis-configmap.yaml</a:t>
            </a:r>
            <a:r>
              <a:rPr lang="en-US" altLang="ko-KR" sz="1400" dirty="0"/>
              <a:t>” file, we defined “</a:t>
            </a:r>
            <a:r>
              <a:rPr lang="en-US" altLang="ko-KR" sz="1400" b="1" dirty="0" err="1"/>
              <a:t>master.conf</a:t>
            </a:r>
            <a:r>
              <a:rPr lang="en-US" altLang="ko-KR" sz="1400" dirty="0"/>
              <a:t>” and “</a:t>
            </a:r>
            <a:r>
              <a:rPr lang="en-US" altLang="ko-KR" sz="1400" b="1" dirty="0" err="1"/>
              <a:t>slave.conf</a:t>
            </a:r>
            <a:r>
              <a:rPr lang="en-US" altLang="ko-KR" sz="1400" dirty="0"/>
              <a:t>”, those are used in configuration of Redis Master and Slave nodes.</a:t>
            </a:r>
          </a:p>
          <a:p>
            <a:pPr lvl="1">
              <a:buFont typeface="Wingdings" panose="05000000000000000000" pitchFamily="2" charset="2"/>
              <a:buChar char="§"/>
            </a:pPr>
            <a:r>
              <a:rPr lang="en-US" altLang="ko-KR" sz="1400" b="1" dirty="0"/>
              <a:t>NOTE : For the detection and failover of master node, you can use “Redis Sentinel” node also</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D281C57-67EA-45BB-B752-D8D90FD8774C}"/>
              </a:ext>
            </a:extLst>
          </p:cNvPr>
          <p:cNvGrpSpPr/>
          <p:nvPr/>
        </p:nvGrpSpPr>
        <p:grpSpPr>
          <a:xfrm>
            <a:off x="3048000" y="2175053"/>
            <a:ext cx="6096000" cy="3262431"/>
            <a:chOff x="3048000" y="2083613"/>
            <a:chExt cx="6096000" cy="3262431"/>
          </a:xfrm>
        </p:grpSpPr>
        <p:sp>
          <p:nvSpPr>
            <p:cNvPr id="8" name="직사각형 7">
              <a:extLst>
                <a:ext uri="{FF2B5EF4-FFF2-40B4-BE49-F238E27FC236}">
                  <a16:creationId xmlns:a16="http://schemas.microsoft.com/office/drawing/2014/main" id="{FEB19AE8-F7E4-4177-899A-7CB6DFB098C2}"/>
                </a:ext>
              </a:extLst>
            </p:cNvPr>
            <p:cNvSpPr/>
            <p:nvPr/>
          </p:nvSpPr>
          <p:spPr>
            <a:xfrm>
              <a:off x="3048000" y="2083613"/>
              <a:ext cx="6096000" cy="3016210"/>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ConfigMap</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t>redis</a:t>
              </a:r>
              <a:endParaRPr lang="en-US" altLang="ko-KR" sz="1000" b="1" dirty="0"/>
            </a:p>
            <a:p>
              <a:r>
                <a:rPr lang="en-US" altLang="ko-KR" sz="1000" b="1" dirty="0"/>
                <a:t>data:</a:t>
              </a:r>
            </a:p>
            <a:p>
              <a:r>
                <a:rPr lang="en-US" altLang="ko-KR" sz="1000" b="1" dirty="0"/>
                <a:t>  </a:t>
              </a:r>
              <a:r>
                <a:rPr lang="en-US" altLang="ko-KR" sz="1000" b="1" dirty="0" err="1">
                  <a:solidFill>
                    <a:srgbClr val="FF0000"/>
                  </a:solidFill>
                </a:rPr>
                <a:t>master.conf</a:t>
              </a:r>
              <a:r>
                <a:rPr lang="en-US" altLang="ko-KR" sz="1000" b="1" dirty="0"/>
                <a:t>: | </a:t>
              </a:r>
            </a:p>
            <a:p>
              <a:r>
                <a:rPr lang="en-US" altLang="ko-KR" sz="1000" b="1" dirty="0"/>
                <a:t>    bind 0.0.0.0</a:t>
              </a:r>
            </a:p>
            <a:p>
              <a:r>
                <a:rPr lang="en-US" altLang="ko-KR" sz="1000" b="1" dirty="0"/>
                <a:t>    protected-mode yes</a:t>
              </a:r>
            </a:p>
            <a:p>
              <a:r>
                <a:rPr lang="en-US" altLang="ko-KR" sz="1000" b="1" dirty="0"/>
                <a:t>    port 6379</a:t>
              </a:r>
            </a:p>
            <a:p>
              <a:r>
                <a:rPr lang="en-US" altLang="ko-KR" sz="1000" b="1" dirty="0"/>
                <a:t>    </a:t>
              </a:r>
              <a:r>
                <a:rPr lang="en-US" altLang="ko-KR" sz="1000" b="1" dirty="0" err="1"/>
                <a:t>tcp</a:t>
              </a:r>
              <a:r>
                <a:rPr lang="en-US" altLang="ko-KR" sz="1000" b="1" dirty="0"/>
                <a:t>-backlog 511</a:t>
              </a:r>
            </a:p>
            <a:p>
              <a:r>
                <a:rPr lang="en-US" altLang="ko-KR" sz="1000" b="1" dirty="0"/>
                <a:t>    timeout 0</a:t>
              </a:r>
            </a:p>
            <a:p>
              <a:r>
                <a:rPr lang="en-US" altLang="ko-KR" sz="1000" b="1" dirty="0"/>
                <a:t>    </a:t>
              </a:r>
              <a:r>
                <a:rPr lang="en-US" altLang="ko-KR" sz="1000" b="1" dirty="0" err="1"/>
                <a:t>tcp</a:t>
              </a:r>
              <a:r>
                <a:rPr lang="en-US" altLang="ko-KR" sz="1000" b="1" dirty="0"/>
                <a:t>-keepalive 300</a:t>
              </a:r>
            </a:p>
            <a:p>
              <a:r>
                <a:rPr lang="en-US" altLang="ko-KR" sz="1000" b="1" dirty="0"/>
                <a:t>    </a:t>
              </a:r>
              <a:r>
                <a:rPr lang="en-US" altLang="ko-KR" sz="1000" b="1" dirty="0" err="1"/>
                <a:t>daemonize</a:t>
              </a:r>
              <a:r>
                <a:rPr lang="en-US" altLang="ko-KR" sz="1000" b="1" dirty="0"/>
                <a:t> no</a:t>
              </a:r>
            </a:p>
            <a:p>
              <a:r>
                <a:rPr lang="en-US" altLang="ko-KR" sz="1000" b="1" dirty="0"/>
                <a:t>    supervised no</a:t>
              </a:r>
            </a:p>
            <a:p>
              <a:r>
                <a:rPr lang="en-US" altLang="ko-KR" sz="1000" b="1" dirty="0"/>
                <a:t>    </a:t>
              </a:r>
              <a:r>
                <a:rPr lang="en-US" altLang="ko-KR" sz="1000" b="1" dirty="0" err="1"/>
                <a:t>pidfile</a:t>
              </a:r>
              <a:r>
                <a:rPr lang="en-US" altLang="ko-KR" sz="1000" b="1" dirty="0"/>
                <a:t> /var/run/redis_6379.pid</a:t>
              </a:r>
            </a:p>
            <a:p>
              <a:r>
                <a:rPr lang="en-US" altLang="ko-KR" sz="1000" b="1" dirty="0"/>
                <a:t>    </a:t>
              </a:r>
              <a:r>
                <a:rPr lang="en-US" altLang="ko-KR" sz="1000" b="1" dirty="0" err="1"/>
                <a:t>loglevel</a:t>
              </a:r>
              <a:r>
                <a:rPr lang="en-US" altLang="ko-KR" sz="1000" b="1" dirty="0"/>
                <a:t> notice</a:t>
              </a:r>
            </a:p>
            <a:p>
              <a:r>
                <a:rPr lang="en-US" altLang="ko-KR" sz="1000" b="1" dirty="0"/>
                <a:t>    logfile ""</a:t>
              </a:r>
            </a:p>
            <a:p>
              <a:r>
                <a:rPr lang="en-US" altLang="ko-KR" sz="1000" b="1" dirty="0"/>
                <a:t>  </a:t>
              </a:r>
              <a:r>
                <a:rPr lang="en-US" altLang="ko-KR" sz="1000" b="1" dirty="0" err="1">
                  <a:solidFill>
                    <a:srgbClr val="FF0000"/>
                  </a:solidFill>
                </a:rPr>
                <a:t>slave.conf</a:t>
              </a:r>
              <a:r>
                <a:rPr lang="en-US" altLang="ko-KR" sz="1000" b="1" dirty="0"/>
                <a:t>: |</a:t>
              </a:r>
            </a:p>
            <a:p>
              <a:r>
                <a:rPr lang="en-US" altLang="ko-KR" sz="1000" b="1" dirty="0"/>
                <a:t>    </a:t>
              </a:r>
              <a:r>
                <a:rPr lang="en-US" altLang="ko-KR" sz="1000" b="1" dirty="0" err="1"/>
                <a:t>slaveof</a:t>
              </a:r>
              <a:r>
                <a:rPr lang="en-US" altLang="ko-KR" sz="1000" b="1" dirty="0"/>
                <a:t> redis-0.redis 6379</a:t>
              </a:r>
              <a:endParaRPr lang="ko-KR" altLang="en-US" sz="1000" b="1" dirty="0"/>
            </a:p>
          </p:txBody>
        </p:sp>
        <p:sp>
          <p:nvSpPr>
            <p:cNvPr id="9" name="직사각형 8">
              <a:extLst>
                <a:ext uri="{FF2B5EF4-FFF2-40B4-BE49-F238E27FC236}">
                  <a16:creationId xmlns:a16="http://schemas.microsoft.com/office/drawing/2014/main" id="{DF98BAF6-E403-4C70-B970-CEA849911EF4}"/>
                </a:ext>
              </a:extLst>
            </p:cNvPr>
            <p:cNvSpPr/>
            <p:nvPr/>
          </p:nvSpPr>
          <p:spPr>
            <a:xfrm>
              <a:off x="5340824" y="5099823"/>
              <a:ext cx="1510350" cy="246221"/>
            </a:xfrm>
            <a:prstGeom prst="rect">
              <a:avLst/>
            </a:prstGeom>
          </p:spPr>
          <p:txBody>
            <a:bodyPr wrap="none">
              <a:spAutoFit/>
            </a:bodyPr>
            <a:lstStyle/>
            <a:p>
              <a:pPr algn="ctr"/>
              <a:r>
                <a:rPr lang="en-US" altLang="ko-KR" sz="1000" b="1" dirty="0" err="1">
                  <a:solidFill>
                    <a:prstClr val="black"/>
                  </a:solidFill>
                </a:rPr>
                <a:t>redis-configmap.yaml</a:t>
              </a:r>
              <a:endParaRPr lang="ko-KR" altLang="en-US" sz="1100" dirty="0"/>
            </a:p>
          </p:txBody>
        </p:sp>
      </p:grpSp>
      <p:pic>
        <p:nvPicPr>
          <p:cNvPr id="11" name="그림 10">
            <a:extLst>
              <a:ext uri="{FF2B5EF4-FFF2-40B4-BE49-F238E27FC236}">
                <a16:creationId xmlns:a16="http://schemas.microsoft.com/office/drawing/2014/main" id="{1BBAE081-C4B2-4682-8203-05B610CA0952}"/>
              </a:ext>
            </a:extLst>
          </p:cNvPr>
          <p:cNvPicPr>
            <a:picLocks noChangeAspect="1"/>
          </p:cNvPicPr>
          <p:nvPr/>
        </p:nvPicPr>
        <p:blipFill>
          <a:blip r:embed="rId2"/>
          <a:stretch>
            <a:fillRect/>
          </a:stretch>
        </p:blipFill>
        <p:spPr>
          <a:xfrm>
            <a:off x="5969415" y="2477566"/>
            <a:ext cx="3957539" cy="2401252"/>
          </a:xfrm>
          <a:prstGeom prst="rect">
            <a:avLst/>
          </a:prstGeom>
          <a:ln>
            <a:solidFill>
              <a:schemeClr val="bg1">
                <a:lumMod val="50000"/>
              </a:schemeClr>
            </a:solidFill>
          </a:ln>
        </p:spPr>
      </p:pic>
    </p:spTree>
    <p:extLst>
      <p:ext uri="{BB962C8B-B14F-4D97-AF65-F5344CB8AC3E}">
        <p14:creationId xmlns:p14="http://schemas.microsoft.com/office/powerpoint/2010/main" val="417807103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Redis(2/4)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 :</a:t>
            </a:r>
          </a:p>
          <a:p>
            <a:pPr lvl="1">
              <a:buFont typeface="Wingdings" panose="05000000000000000000" pitchFamily="2" charset="2"/>
              <a:buChar char="§"/>
            </a:pPr>
            <a:r>
              <a:rPr lang="en-US" altLang="ko-KR" sz="1400" dirty="0"/>
              <a:t>Now, you need to </a:t>
            </a:r>
            <a:r>
              <a:rPr lang="en-US" altLang="ko-KR" sz="1400" b="1" dirty="0"/>
              <a:t>define service for naming and service discovery </a:t>
            </a:r>
            <a:r>
              <a:rPr lang="en-US" altLang="ko-KR" sz="1400" dirty="0"/>
              <a:t>for Redis replicas. To do this, we created a service without a cluster IP address.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To create the service, you need to </a:t>
            </a:r>
            <a:r>
              <a:rPr lang="en-US" altLang="ko-KR" sz="1400" b="1" dirty="0"/>
              <a:t>make a </a:t>
            </a:r>
            <a:r>
              <a:rPr lang="en-US" altLang="ko-KR" sz="1400" b="1" dirty="0" err="1"/>
              <a:t>ConfigMap</a:t>
            </a:r>
            <a:r>
              <a:rPr lang="en-US" altLang="ko-KR" sz="1400" b="1" dirty="0"/>
              <a:t> </a:t>
            </a:r>
            <a:r>
              <a:rPr lang="en-US" altLang="ko-KR" sz="1400" dirty="0"/>
              <a:t>first and a </a:t>
            </a:r>
            <a:r>
              <a:rPr lang="en-US" altLang="ko-KR" sz="1400" b="1" dirty="0"/>
              <a:t>service</a:t>
            </a:r>
            <a:r>
              <a:rPr lang="en-US" altLang="ko-KR" sz="1400" dirty="0"/>
              <a:t> later. Run “</a:t>
            </a:r>
            <a:r>
              <a:rPr lang="en-US" altLang="ko-KR" sz="1400" b="1" dirty="0" err="1"/>
              <a:t>kubectl</a:t>
            </a:r>
            <a:r>
              <a:rPr lang="en-US" altLang="ko-KR" sz="1400" b="1" dirty="0"/>
              <a:t> apply -f</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74FD1A55-559C-46B4-9B5A-E69E26001FFA}"/>
              </a:ext>
            </a:extLst>
          </p:cNvPr>
          <p:cNvGrpSpPr/>
          <p:nvPr/>
        </p:nvGrpSpPr>
        <p:grpSpPr>
          <a:xfrm>
            <a:off x="3048000" y="1570703"/>
            <a:ext cx="6096000" cy="2800766"/>
            <a:chOff x="3048000" y="1692623"/>
            <a:chExt cx="6096000" cy="2800766"/>
          </a:xfrm>
        </p:grpSpPr>
        <p:sp>
          <p:nvSpPr>
            <p:cNvPr id="4" name="직사각형 3">
              <a:extLst>
                <a:ext uri="{FF2B5EF4-FFF2-40B4-BE49-F238E27FC236}">
                  <a16:creationId xmlns:a16="http://schemas.microsoft.com/office/drawing/2014/main" id="{D0B6C528-E8D2-4C36-B849-870078924879}"/>
                </a:ext>
              </a:extLst>
            </p:cNvPr>
            <p:cNvSpPr/>
            <p:nvPr/>
          </p:nvSpPr>
          <p:spPr>
            <a:xfrm>
              <a:off x="3048000" y="1692623"/>
              <a:ext cx="6096000" cy="2554545"/>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solidFill>
                    <a:srgbClr val="FF0000"/>
                  </a:solidFill>
                </a:rPr>
                <a:t>redis</a:t>
              </a:r>
              <a:endParaRPr lang="en-US" altLang="ko-KR" sz="1000" b="1" dirty="0">
                <a:solidFill>
                  <a:srgbClr val="FF0000"/>
                </a:solidFill>
              </a:endParaRPr>
            </a:p>
            <a:p>
              <a:r>
                <a:rPr lang="en-US" altLang="ko-KR" sz="1000" b="1" dirty="0"/>
                <a:t>  labels:</a:t>
              </a:r>
            </a:p>
            <a:p>
              <a:r>
                <a:rPr lang="en-US" altLang="ko-KR" sz="1000" b="1" dirty="0"/>
                <a:t>    </a:t>
              </a:r>
              <a:r>
                <a:rPr lang="en-US" altLang="ko-KR" sz="1000" b="1" dirty="0">
                  <a:solidFill>
                    <a:srgbClr val="FF0000"/>
                  </a:solidFill>
                </a:rPr>
                <a:t>app: </a:t>
              </a:r>
              <a:r>
                <a:rPr lang="en-US" altLang="ko-KR" sz="1000" b="1" dirty="0" err="1">
                  <a:solidFill>
                    <a:srgbClr val="FF0000"/>
                  </a:solidFill>
                </a:rPr>
                <a:t>redis</a:t>
              </a:r>
              <a:endParaRPr lang="en-US" altLang="ko-KR" sz="1000" b="1" dirty="0">
                <a:solidFill>
                  <a:srgbClr val="FF0000"/>
                </a:solidFill>
              </a:endParaRPr>
            </a:p>
            <a:p>
              <a:r>
                <a:rPr lang="en-US" altLang="ko-KR" sz="1000" b="1" dirty="0"/>
                <a:t>spec:</a:t>
              </a:r>
            </a:p>
            <a:p>
              <a:r>
                <a:rPr lang="en-US" altLang="ko-KR" sz="1000" b="1" dirty="0"/>
                <a:t>  type: </a:t>
              </a:r>
              <a:r>
                <a:rPr lang="en-US" altLang="ko-KR" sz="1000" b="1" dirty="0" err="1"/>
                <a:t>ClusterIP</a:t>
              </a:r>
              <a:endParaRPr lang="en-US" altLang="ko-KR" sz="1000" b="1" dirty="0"/>
            </a:p>
            <a:p>
              <a:r>
                <a:rPr lang="en-US" altLang="ko-KR" sz="1000" b="1" dirty="0"/>
                <a:t>  ports:</a:t>
              </a:r>
            </a:p>
            <a:p>
              <a:r>
                <a:rPr lang="en-US" altLang="ko-KR" sz="1000" b="1" dirty="0"/>
                <a:t>  - name: </a:t>
              </a:r>
              <a:r>
                <a:rPr lang="en-US" altLang="ko-KR" sz="1000" b="1" dirty="0" err="1"/>
                <a:t>redis</a:t>
              </a:r>
              <a:endParaRPr lang="en-US" altLang="ko-KR" sz="1000" b="1" dirty="0"/>
            </a:p>
            <a:p>
              <a:r>
                <a:rPr lang="en-US" altLang="ko-KR" sz="1000" b="1" dirty="0"/>
                <a:t>    port: 6379</a:t>
              </a:r>
            </a:p>
            <a:p>
              <a:r>
                <a:rPr lang="en-US" altLang="ko-KR" sz="1000" b="1" dirty="0"/>
                <a:t>    </a:t>
              </a:r>
              <a:r>
                <a:rPr lang="en-US" altLang="ko-KR" sz="1000" b="1" dirty="0" err="1"/>
                <a:t>targetPort</a:t>
              </a:r>
              <a:r>
                <a:rPr lang="en-US" altLang="ko-KR" sz="1000" b="1" dirty="0"/>
                <a:t>: </a:t>
              </a:r>
              <a:r>
                <a:rPr lang="en-US" altLang="ko-KR" sz="1000" b="1" dirty="0" err="1"/>
                <a:t>redis</a:t>
              </a:r>
              <a:endParaRPr lang="en-US" altLang="ko-KR" sz="1000" b="1" dirty="0"/>
            </a:p>
            <a:p>
              <a:r>
                <a:rPr lang="en-US" altLang="ko-KR" sz="1000" b="1" dirty="0"/>
                <a:t>  </a:t>
              </a:r>
              <a:r>
                <a:rPr lang="en-US" altLang="ko-KR" sz="1000" b="1" dirty="0" err="1">
                  <a:solidFill>
                    <a:srgbClr val="FF0000"/>
                  </a:solidFill>
                </a:rPr>
                <a:t>clusterIP</a:t>
              </a:r>
              <a:r>
                <a:rPr lang="en-US" altLang="ko-KR" sz="1000" b="1" dirty="0">
                  <a:solidFill>
                    <a:srgbClr val="FF0000"/>
                  </a:solidFill>
                </a:rPr>
                <a:t>: None</a:t>
              </a:r>
            </a:p>
            <a:p>
              <a:r>
                <a:rPr lang="en-US" altLang="ko-KR" sz="1000" b="1" dirty="0"/>
                <a:t>  selector:</a:t>
              </a:r>
            </a:p>
            <a:p>
              <a:r>
                <a:rPr lang="en-US" altLang="ko-KR" sz="1000" b="1" dirty="0"/>
                <a:t>    </a:t>
              </a:r>
              <a:r>
                <a:rPr lang="en-US" altLang="ko-KR" sz="1000" b="1" dirty="0">
                  <a:solidFill>
                    <a:srgbClr val="FF0000"/>
                  </a:solidFill>
                </a:rPr>
                <a:t>app: </a:t>
              </a:r>
              <a:r>
                <a:rPr lang="en-US" altLang="ko-KR" sz="1000" b="1" dirty="0" err="1">
                  <a:solidFill>
                    <a:srgbClr val="FF0000"/>
                  </a:solidFill>
                </a:rPr>
                <a:t>redis</a:t>
              </a:r>
              <a:endParaRPr lang="en-US" altLang="ko-KR" sz="1000" b="1" dirty="0">
                <a:solidFill>
                  <a:srgbClr val="FF0000"/>
                </a:solidFill>
              </a:endParaRPr>
            </a:p>
            <a:p>
              <a:r>
                <a:rPr lang="en-US" altLang="ko-KR" sz="1000" b="1" dirty="0"/>
                <a:t>    </a:t>
              </a:r>
              <a:r>
                <a:rPr lang="en-US" altLang="ko-KR" sz="1000" b="1" dirty="0">
                  <a:solidFill>
                    <a:srgbClr val="FF0000"/>
                  </a:solidFill>
                </a:rPr>
                <a:t>role: master</a:t>
              </a:r>
              <a:endParaRPr lang="ko-KR" altLang="en-US" sz="1000" b="1" dirty="0">
                <a:solidFill>
                  <a:srgbClr val="FF0000"/>
                </a:solidFill>
              </a:endParaRPr>
            </a:p>
          </p:txBody>
        </p:sp>
        <p:sp>
          <p:nvSpPr>
            <p:cNvPr id="8" name="TextBox 7">
              <a:extLst>
                <a:ext uri="{FF2B5EF4-FFF2-40B4-BE49-F238E27FC236}">
                  <a16:creationId xmlns:a16="http://schemas.microsoft.com/office/drawing/2014/main" id="{4EFFAA94-7EFA-4B03-AC2A-1D2D3287DF73}"/>
                </a:ext>
              </a:extLst>
            </p:cNvPr>
            <p:cNvSpPr txBox="1"/>
            <p:nvPr/>
          </p:nvSpPr>
          <p:spPr>
            <a:xfrm>
              <a:off x="5458645" y="4247168"/>
              <a:ext cx="1274709" cy="246221"/>
            </a:xfrm>
            <a:prstGeom prst="rect">
              <a:avLst/>
            </a:prstGeom>
            <a:noFill/>
          </p:spPr>
          <p:txBody>
            <a:bodyPr wrap="none" rtlCol="0">
              <a:spAutoFit/>
            </a:bodyPr>
            <a:lstStyle/>
            <a:p>
              <a:pPr algn="ctr"/>
              <a:r>
                <a:rPr lang="en-US" altLang="ko-KR" sz="1000" b="1" dirty="0" err="1"/>
                <a:t>redis-service.yaml</a:t>
              </a:r>
              <a:endParaRPr lang="ko-KR" altLang="en-US" sz="1000" b="1" dirty="0"/>
            </a:p>
          </p:txBody>
        </p:sp>
      </p:grpSp>
      <p:pic>
        <p:nvPicPr>
          <p:cNvPr id="10" name="그림 9">
            <a:extLst>
              <a:ext uri="{FF2B5EF4-FFF2-40B4-BE49-F238E27FC236}">
                <a16:creationId xmlns:a16="http://schemas.microsoft.com/office/drawing/2014/main" id="{FBB1D18F-010F-4B80-ACFB-E8F36E93099D}"/>
              </a:ext>
            </a:extLst>
          </p:cNvPr>
          <p:cNvPicPr>
            <a:picLocks noChangeAspect="1"/>
          </p:cNvPicPr>
          <p:nvPr/>
        </p:nvPicPr>
        <p:blipFill>
          <a:blip r:embed="rId2"/>
          <a:stretch>
            <a:fillRect/>
          </a:stretch>
        </p:blipFill>
        <p:spPr>
          <a:xfrm>
            <a:off x="1634490" y="4713656"/>
            <a:ext cx="8923020" cy="1695374"/>
          </a:xfrm>
          <a:prstGeom prst="rect">
            <a:avLst/>
          </a:prstGeom>
        </p:spPr>
      </p:pic>
    </p:spTree>
    <p:extLst>
      <p:ext uri="{BB962C8B-B14F-4D97-AF65-F5344CB8AC3E}">
        <p14:creationId xmlns:p14="http://schemas.microsoft.com/office/powerpoint/2010/main" val="66902877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Redis(3/4)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StatefulSets</a:t>
            </a:r>
            <a:r>
              <a:rPr lang="en-US" altLang="ko-KR" sz="1800" b="1" dirty="0"/>
              <a:t> :</a:t>
            </a:r>
          </a:p>
          <a:p>
            <a:pPr lvl="1">
              <a:buFont typeface="Wingdings" panose="05000000000000000000" pitchFamily="2" charset="2"/>
              <a:buChar char="§"/>
            </a:pPr>
            <a:r>
              <a:rPr lang="en-US" altLang="ko-KR" sz="1400" dirty="0"/>
              <a:t>We’re ready to </a:t>
            </a:r>
            <a:r>
              <a:rPr lang="en-US" altLang="ko-KR" sz="1400" b="1" dirty="0"/>
              <a:t>deploy our Redis cluster</a:t>
            </a:r>
            <a:r>
              <a:rPr lang="en-US" altLang="ko-KR" sz="1400" dirty="0"/>
              <a:t>. To do this we’re going to </a:t>
            </a:r>
            <a:r>
              <a:rPr lang="en-US" altLang="ko-KR" sz="1400" b="1" dirty="0"/>
              <a:t>use a </a:t>
            </a:r>
            <a:r>
              <a:rPr lang="en-US" altLang="ko-KR" sz="1400" b="1" dirty="0" err="1"/>
              <a:t>StatefulSet</a:t>
            </a:r>
            <a:r>
              <a:rPr lang="en-US" altLang="ko-KR" sz="1400" dirty="0"/>
              <a:t>. </a:t>
            </a:r>
            <a:r>
              <a:rPr lang="en-US" altLang="ko-KR" sz="1400" b="1" dirty="0" err="1"/>
              <a:t>StatefulSets</a:t>
            </a:r>
            <a:r>
              <a:rPr lang="en-US" altLang="ko-KR" sz="1400" b="1" dirty="0"/>
              <a:t> provide indexing</a:t>
            </a:r>
            <a:r>
              <a:rPr lang="en-US" altLang="ko-KR" sz="1400" dirty="0"/>
              <a:t>(e.g., redis-0.redis) as well </a:t>
            </a:r>
            <a:r>
              <a:rPr lang="en-US" altLang="ko-KR" sz="1400" b="1" dirty="0"/>
              <a:t>as ordered creation and deletion semantics </a:t>
            </a:r>
            <a:r>
              <a:rPr lang="en-US" altLang="ko-KR" sz="1400" dirty="0"/>
              <a:t>(redis-0 will always be created before redis-1, and so 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824E56B-04F2-4003-9C05-1B58D6F7FEE1}"/>
              </a:ext>
            </a:extLst>
          </p:cNvPr>
          <p:cNvGrpSpPr/>
          <p:nvPr/>
        </p:nvGrpSpPr>
        <p:grpSpPr>
          <a:xfrm>
            <a:off x="1032510" y="1761604"/>
            <a:ext cx="10126980" cy="4647426"/>
            <a:chOff x="1402080" y="1682026"/>
            <a:chExt cx="10126980" cy="4647426"/>
          </a:xfrm>
        </p:grpSpPr>
        <p:grpSp>
          <p:nvGrpSpPr>
            <p:cNvPr id="10" name="그룹 9">
              <a:extLst>
                <a:ext uri="{FF2B5EF4-FFF2-40B4-BE49-F238E27FC236}">
                  <a16:creationId xmlns:a16="http://schemas.microsoft.com/office/drawing/2014/main" id="{6F326A52-5DF5-4F18-8E69-804229E0C2A7}"/>
                </a:ext>
              </a:extLst>
            </p:cNvPr>
            <p:cNvGrpSpPr/>
            <p:nvPr/>
          </p:nvGrpSpPr>
          <p:grpSpPr>
            <a:xfrm>
              <a:off x="1402080" y="1682026"/>
              <a:ext cx="10126980" cy="4401568"/>
              <a:chOff x="838200" y="1608183"/>
              <a:chExt cx="10126980" cy="4401568"/>
            </a:xfrm>
          </p:grpSpPr>
          <p:sp>
            <p:nvSpPr>
              <p:cNvPr id="4" name="직사각형 3">
                <a:extLst>
                  <a:ext uri="{FF2B5EF4-FFF2-40B4-BE49-F238E27FC236}">
                    <a16:creationId xmlns:a16="http://schemas.microsoft.com/office/drawing/2014/main" id="{F8877C1B-6A76-4BD5-818B-44796B62A92D}"/>
                  </a:ext>
                </a:extLst>
              </p:cNvPr>
              <p:cNvSpPr/>
              <p:nvPr/>
            </p:nvSpPr>
            <p:spPr>
              <a:xfrm>
                <a:off x="3581400" y="1608546"/>
                <a:ext cx="4640580" cy="4401205"/>
              </a:xfrm>
              <a:prstGeom prst="rect">
                <a:avLst/>
              </a:prstGeom>
              <a:ln>
                <a:solidFill>
                  <a:schemeClr val="bg1">
                    <a:lumMod val="50000"/>
                  </a:schemeClr>
                </a:solidFill>
              </a:ln>
            </p:spPr>
            <p:txBody>
              <a:bodyPr wrap="square">
                <a:spAutoFit/>
              </a:bodyPr>
              <a:lstStyle/>
              <a:p>
                <a:r>
                  <a:rPr lang="en-US" altLang="ko-KR" sz="1000" b="1" dirty="0"/>
                  <a:t>              # Generate </a:t>
                </a:r>
                <a:r>
                  <a:rPr lang="en-US" altLang="ko-KR" sz="1000" b="1" dirty="0" err="1"/>
                  <a:t>mysql</a:t>
                </a:r>
                <a:r>
                  <a:rPr lang="en-US" altLang="ko-KR" sz="1000" b="1" dirty="0"/>
                  <a:t> server-id from pod ordinal index.</a:t>
                </a:r>
              </a:p>
              <a:p>
                <a:r>
                  <a:rPr lang="en-US" altLang="ko-KR" sz="1000" b="1" dirty="0"/>
                  <a:t>              [[ `</a:t>
                </a:r>
                <a:r>
                  <a:rPr lang="en-US" altLang="ko-KR" sz="1000" b="1" dirty="0">
                    <a:solidFill>
                      <a:srgbClr val="FF0000"/>
                    </a:solidFill>
                  </a:rPr>
                  <a:t>hostname` =~ -([0-9]+)$</a:t>
                </a:r>
                <a:r>
                  <a:rPr lang="en-US" altLang="ko-KR" sz="1000" b="1" dirty="0"/>
                  <a:t> ]] || exit 1</a:t>
                </a:r>
              </a:p>
              <a:p>
                <a:r>
                  <a:rPr lang="en-US" altLang="ko-KR" sz="1000" b="1" dirty="0"/>
                  <a:t>              ordinal=${</a:t>
                </a:r>
                <a:r>
                  <a:rPr lang="en-US" altLang="ko-KR" sz="1000" b="1" dirty="0">
                    <a:solidFill>
                      <a:srgbClr val="FF0000"/>
                    </a:solidFill>
                  </a:rPr>
                  <a:t>BASH_REMATCH[1]</a:t>
                </a:r>
                <a:r>
                  <a:rPr lang="en-US" altLang="ko-KR" sz="1000" b="1" dirty="0"/>
                  <a:t>}</a:t>
                </a:r>
              </a:p>
              <a:p>
                <a:r>
                  <a:rPr lang="en-US" altLang="ko-KR" sz="1000" b="1" dirty="0"/>
                  <a:t>              # Copy appropriate </a:t>
                </a:r>
                <a:r>
                  <a:rPr lang="en-US" altLang="ko-KR" sz="1000" b="1" dirty="0" err="1"/>
                  <a:t>conf.d</a:t>
                </a:r>
                <a:r>
                  <a:rPr lang="en-US" altLang="ko-KR" sz="1000" b="1" dirty="0"/>
                  <a:t> files from config-map to </a:t>
                </a:r>
                <a:r>
                  <a:rPr lang="en-US" altLang="ko-KR" sz="1000" b="1" dirty="0" err="1"/>
                  <a:t>emptyDir</a:t>
                </a:r>
                <a:r>
                  <a:rPr lang="en-US" altLang="ko-KR" sz="1000" b="1" dirty="0"/>
                  <a:t>.</a:t>
                </a:r>
              </a:p>
              <a:p>
                <a:r>
                  <a:rPr lang="en-US" altLang="ko-KR" sz="1000" b="1" dirty="0"/>
                  <a:t>              if [[ </a:t>
                </a:r>
                <a:r>
                  <a:rPr lang="en-US" altLang="ko-KR" sz="1000" b="1" dirty="0">
                    <a:solidFill>
                      <a:srgbClr val="FF0000"/>
                    </a:solidFill>
                  </a:rPr>
                  <a:t>$ordinal -eq 0</a:t>
                </a:r>
                <a:r>
                  <a:rPr lang="en-US" altLang="ko-KR" sz="1000" b="1" dirty="0"/>
                  <a:t> ]]; then</a:t>
                </a:r>
              </a:p>
              <a:p>
                <a:r>
                  <a:rPr lang="en-US" altLang="ko-KR" sz="1000" b="1" dirty="0"/>
                  <a:t>                cp </a:t>
                </a:r>
                <a:r>
                  <a:rPr lang="en-US" altLang="ko-KR" sz="1000" b="1" dirty="0">
                    <a:solidFill>
                      <a:srgbClr val="FF0000"/>
                    </a:solidFill>
                  </a:rPr>
                  <a:t>/</a:t>
                </a:r>
                <a:r>
                  <a:rPr lang="en-US" altLang="ko-KR" sz="1000" b="1" dirty="0" err="1">
                    <a:solidFill>
                      <a:srgbClr val="FF0000"/>
                    </a:solidFill>
                  </a:rPr>
                  <a:t>mnt</a:t>
                </a:r>
                <a:r>
                  <a:rPr lang="en-US" altLang="ko-KR" sz="1000" b="1" dirty="0">
                    <a:solidFill>
                      <a:srgbClr val="FF0000"/>
                    </a:solidFill>
                  </a:rPr>
                  <a:t>/config-map/</a:t>
                </a:r>
                <a:r>
                  <a:rPr lang="en-US" altLang="ko-KR" sz="1000" b="1" dirty="0" err="1">
                    <a:solidFill>
                      <a:srgbClr val="FF0000"/>
                    </a:solidFill>
                  </a:rPr>
                  <a:t>master.conf</a:t>
                </a:r>
                <a:r>
                  <a:rPr lang="en-US" altLang="ko-KR" sz="1000" b="1" dirty="0">
                    <a:solidFill>
                      <a:srgbClr val="FF0000"/>
                    </a:solidFill>
                  </a:rPr>
                  <a:t> /</a:t>
                </a:r>
                <a:r>
                  <a:rPr lang="en-US" altLang="ko-KR" sz="1000" b="1" dirty="0" err="1">
                    <a:solidFill>
                      <a:srgbClr val="FF0000"/>
                    </a:solidFill>
                  </a:rPr>
                  <a:t>etc</a:t>
                </a:r>
                <a:r>
                  <a:rPr lang="en-US" altLang="ko-KR" sz="1000" b="1" dirty="0">
                    <a:solidFill>
                      <a:srgbClr val="FF0000"/>
                    </a:solidFill>
                  </a:rPr>
                  <a:t>/</a:t>
                </a:r>
                <a:r>
                  <a:rPr lang="en-US" altLang="ko-KR" sz="1000" b="1" dirty="0" err="1">
                    <a:solidFill>
                      <a:srgbClr val="FF0000"/>
                    </a:solidFill>
                  </a:rPr>
                  <a:t>redis.conf</a:t>
                </a:r>
                <a:endParaRPr lang="en-US" altLang="ko-KR" sz="1000" b="1" dirty="0">
                  <a:solidFill>
                    <a:srgbClr val="FF0000"/>
                  </a:solidFill>
                </a:endParaRPr>
              </a:p>
              <a:p>
                <a:r>
                  <a:rPr lang="en-US" altLang="ko-KR" sz="1000" b="1" dirty="0"/>
                  <a:t>              else</a:t>
                </a:r>
              </a:p>
              <a:p>
                <a:r>
                  <a:rPr lang="en-US" altLang="ko-KR" sz="1000" b="1" dirty="0"/>
                  <a:t>                cp </a:t>
                </a:r>
                <a:r>
                  <a:rPr lang="en-US" altLang="ko-KR" sz="1000" b="1" dirty="0">
                    <a:solidFill>
                      <a:srgbClr val="FF0000"/>
                    </a:solidFill>
                  </a:rPr>
                  <a:t>/</a:t>
                </a:r>
                <a:r>
                  <a:rPr lang="en-US" altLang="ko-KR" sz="1000" b="1" dirty="0" err="1">
                    <a:solidFill>
                      <a:srgbClr val="FF0000"/>
                    </a:solidFill>
                  </a:rPr>
                  <a:t>mnt</a:t>
                </a:r>
                <a:r>
                  <a:rPr lang="en-US" altLang="ko-KR" sz="1000" b="1" dirty="0">
                    <a:solidFill>
                      <a:srgbClr val="FF0000"/>
                    </a:solidFill>
                  </a:rPr>
                  <a:t>/config-map/</a:t>
                </a:r>
                <a:r>
                  <a:rPr lang="en-US" altLang="ko-KR" sz="1000" b="1" dirty="0" err="1">
                    <a:solidFill>
                      <a:srgbClr val="FF0000"/>
                    </a:solidFill>
                  </a:rPr>
                  <a:t>slave.conf</a:t>
                </a:r>
                <a:r>
                  <a:rPr lang="en-US" altLang="ko-KR" sz="1000" b="1" dirty="0">
                    <a:solidFill>
                      <a:srgbClr val="FF0000"/>
                    </a:solidFill>
                  </a:rPr>
                  <a:t> /</a:t>
                </a:r>
                <a:r>
                  <a:rPr lang="en-US" altLang="ko-KR" sz="1000" b="1" dirty="0" err="1">
                    <a:solidFill>
                      <a:srgbClr val="FF0000"/>
                    </a:solidFill>
                  </a:rPr>
                  <a:t>etc</a:t>
                </a:r>
                <a:r>
                  <a:rPr lang="en-US" altLang="ko-KR" sz="1000" b="1" dirty="0">
                    <a:solidFill>
                      <a:srgbClr val="FF0000"/>
                    </a:solidFill>
                  </a:rPr>
                  <a:t>/</a:t>
                </a:r>
                <a:r>
                  <a:rPr lang="en-US" altLang="ko-KR" sz="1000" b="1" dirty="0" err="1">
                    <a:solidFill>
                      <a:srgbClr val="FF0000"/>
                    </a:solidFill>
                  </a:rPr>
                  <a:t>redis.conf</a:t>
                </a:r>
                <a:endParaRPr lang="en-US" altLang="ko-KR" sz="1000" b="1" dirty="0">
                  <a:solidFill>
                    <a:srgbClr val="FF0000"/>
                  </a:solidFill>
                </a:endParaRPr>
              </a:p>
              <a:p>
                <a:r>
                  <a:rPr lang="en-US" altLang="ko-KR" sz="1000" b="1" dirty="0"/>
                  <a:t>              fi</a:t>
                </a:r>
              </a:p>
              <a:p>
                <a:r>
                  <a:rPr lang="en-US" altLang="ko-KR" sz="1000" b="1" dirty="0"/>
                  <a:t>          </a:t>
                </a:r>
                <a:r>
                  <a:rPr lang="en-US" altLang="ko-KR" sz="1000" b="1" dirty="0" err="1"/>
                  <a:t>volumeMounts</a:t>
                </a:r>
                <a:r>
                  <a:rPr lang="en-US" altLang="ko-KR" sz="1000" b="1" dirty="0"/>
                  <a:t>:</a:t>
                </a:r>
              </a:p>
              <a:p>
                <a:r>
                  <a:rPr lang="en-US" altLang="ko-KR" sz="1000" b="1" dirty="0">
                    <a:solidFill>
                      <a:srgbClr val="FF0000"/>
                    </a:solidFill>
                  </a:rPr>
                  <a:t>            - name: conf</a:t>
                </a:r>
              </a:p>
              <a:p>
                <a:r>
                  <a:rPr lang="en-US" altLang="ko-KR" sz="1000" b="1" dirty="0">
                    <a:solidFill>
                      <a:srgbClr val="FF0000"/>
                    </a:solidFill>
                  </a:rPr>
                  <a:t>              </a:t>
                </a:r>
                <a:r>
                  <a:rPr lang="en-US" altLang="ko-KR" sz="1000" b="1" dirty="0" err="1">
                    <a:solidFill>
                      <a:srgbClr val="FF0000"/>
                    </a:solidFill>
                  </a:rPr>
                  <a:t>mountPath</a:t>
                </a:r>
                <a:r>
                  <a:rPr lang="en-US" altLang="ko-KR" sz="1000" b="1" dirty="0">
                    <a:solidFill>
                      <a:srgbClr val="FF0000"/>
                    </a:solidFill>
                  </a:rPr>
                  <a:t>: /</a:t>
                </a:r>
                <a:r>
                  <a:rPr lang="en-US" altLang="ko-KR" sz="1000" b="1" dirty="0" err="1">
                    <a:solidFill>
                      <a:srgbClr val="FF0000"/>
                    </a:solidFill>
                  </a:rPr>
                  <a:t>etc</a:t>
                </a:r>
                <a:endParaRPr lang="en-US" altLang="ko-KR" sz="1000" b="1" dirty="0">
                  <a:solidFill>
                    <a:srgbClr val="FF0000"/>
                  </a:solidFill>
                </a:endParaRPr>
              </a:p>
              <a:p>
                <a:r>
                  <a:rPr lang="en-US" altLang="ko-KR" sz="1000" b="1" dirty="0">
                    <a:solidFill>
                      <a:srgbClr val="FF0000"/>
                    </a:solidFill>
                  </a:rPr>
                  <a:t>              </a:t>
                </a:r>
                <a:r>
                  <a:rPr lang="en-US" altLang="ko-KR" sz="1000" b="1" dirty="0" err="1">
                    <a:solidFill>
                      <a:srgbClr val="FF0000"/>
                    </a:solidFill>
                  </a:rPr>
                  <a:t>subPath</a:t>
                </a:r>
                <a:r>
                  <a:rPr lang="en-US" altLang="ko-KR" sz="1000" b="1" dirty="0">
                    <a:solidFill>
                      <a:srgbClr val="FF0000"/>
                    </a:solidFill>
                  </a:rPr>
                  <a:t>: </a:t>
                </a:r>
                <a:r>
                  <a:rPr lang="en-US" altLang="ko-KR" sz="1000" b="1" dirty="0" err="1">
                    <a:solidFill>
                      <a:srgbClr val="FF0000"/>
                    </a:solidFill>
                  </a:rPr>
                  <a:t>redis.conf</a:t>
                </a:r>
                <a:endParaRPr lang="en-US" altLang="ko-KR" sz="1000" b="1" dirty="0">
                  <a:solidFill>
                    <a:srgbClr val="FF0000"/>
                  </a:solidFill>
                </a:endParaRPr>
              </a:p>
              <a:p>
                <a:r>
                  <a:rPr lang="en-US" altLang="ko-KR" sz="1000" b="1" dirty="0">
                    <a:solidFill>
                      <a:srgbClr val="FF0000"/>
                    </a:solidFill>
                  </a:rPr>
                  <a:t>            - name: config-map</a:t>
                </a:r>
              </a:p>
              <a:p>
                <a:r>
                  <a:rPr lang="en-US" altLang="ko-KR" sz="1000" b="1" dirty="0">
                    <a:solidFill>
                      <a:srgbClr val="FF0000"/>
                    </a:solidFill>
                  </a:rPr>
                  <a:t>              </a:t>
                </a:r>
                <a:r>
                  <a:rPr lang="en-US" altLang="ko-KR" sz="1000" b="1" dirty="0" err="1">
                    <a:solidFill>
                      <a:srgbClr val="FF0000"/>
                    </a:solidFill>
                  </a:rPr>
                  <a:t>mountPath</a:t>
                </a:r>
                <a:r>
                  <a:rPr lang="en-US" altLang="ko-KR" sz="1000" b="1" dirty="0">
                    <a:solidFill>
                      <a:srgbClr val="FF0000"/>
                    </a:solidFill>
                  </a:rPr>
                  <a:t>: /</a:t>
                </a:r>
                <a:r>
                  <a:rPr lang="en-US" altLang="ko-KR" sz="1000" b="1" dirty="0" err="1">
                    <a:solidFill>
                      <a:srgbClr val="FF0000"/>
                    </a:solidFill>
                  </a:rPr>
                  <a:t>mnt</a:t>
                </a:r>
                <a:r>
                  <a:rPr lang="en-US" altLang="ko-KR" sz="1000" b="1" dirty="0">
                    <a:solidFill>
                      <a:srgbClr val="FF0000"/>
                    </a:solidFill>
                  </a:rPr>
                  <a:t>/config-map</a:t>
                </a:r>
              </a:p>
              <a:p>
                <a:r>
                  <a:rPr lang="en-US" altLang="ko-KR" sz="1000" b="1" dirty="0"/>
                  <a:t>      containers:</a:t>
                </a:r>
              </a:p>
              <a:p>
                <a:r>
                  <a:rPr lang="en-US" altLang="ko-KR" sz="1000" b="1" dirty="0"/>
                  <a:t>        - name: </a:t>
                </a:r>
                <a:r>
                  <a:rPr lang="en-US" altLang="ko-KR" sz="1000" b="1" dirty="0" err="1"/>
                  <a:t>redis</a:t>
                </a:r>
                <a:endParaRPr lang="en-US" altLang="ko-KR" sz="1000" b="1" dirty="0"/>
              </a:p>
              <a:p>
                <a:r>
                  <a:rPr lang="en-US" altLang="ko-KR" sz="1000" b="1" dirty="0"/>
                  <a:t>          image: redis:4.0.9</a:t>
                </a:r>
              </a:p>
              <a:p>
                <a:r>
                  <a:rPr lang="en-US" altLang="ko-KR" sz="1000" b="1" dirty="0"/>
                  <a:t>          command: ["</a:t>
                </a:r>
                <a:r>
                  <a:rPr lang="en-US" altLang="ko-KR" sz="1000" b="1" dirty="0" err="1">
                    <a:solidFill>
                      <a:srgbClr val="FF0000"/>
                    </a:solidFill>
                  </a:rPr>
                  <a:t>redis</a:t>
                </a:r>
                <a:r>
                  <a:rPr lang="en-US" altLang="ko-KR" sz="1000" b="1" dirty="0">
                    <a:solidFill>
                      <a:srgbClr val="FF0000"/>
                    </a:solidFill>
                  </a:rPr>
                  <a:t>-server</a:t>
                </a:r>
                <a:r>
                  <a:rPr lang="en-US" altLang="ko-KR" sz="1000" b="1" dirty="0"/>
                  <a:t>"]</a:t>
                </a:r>
              </a:p>
              <a:p>
                <a:r>
                  <a:rPr lang="en-US" altLang="ko-KR" sz="1000" b="1" dirty="0"/>
                  <a:t>          </a:t>
                </a:r>
                <a:r>
                  <a:rPr lang="en-US" altLang="ko-KR" sz="1000" b="1" dirty="0" err="1"/>
                  <a:t>args</a:t>
                </a:r>
                <a:r>
                  <a:rPr lang="en-US" altLang="ko-KR" sz="1000" b="1" dirty="0"/>
                  <a:t>: ["</a:t>
                </a:r>
                <a:r>
                  <a:rPr lang="en-US" altLang="ko-KR" sz="1000" b="1" dirty="0">
                    <a:solidFill>
                      <a:srgbClr val="FF0000"/>
                    </a:solidFill>
                  </a:rPr>
                  <a:t>/</a:t>
                </a:r>
                <a:r>
                  <a:rPr lang="en-US" altLang="ko-KR" sz="1000" b="1" dirty="0" err="1">
                    <a:solidFill>
                      <a:srgbClr val="FF0000"/>
                    </a:solidFill>
                  </a:rPr>
                  <a:t>etc</a:t>
                </a:r>
                <a:r>
                  <a:rPr lang="en-US" altLang="ko-KR" sz="1000" b="1" dirty="0">
                    <a:solidFill>
                      <a:srgbClr val="FF0000"/>
                    </a:solidFill>
                  </a:rPr>
                  <a:t>/</a:t>
                </a:r>
                <a:r>
                  <a:rPr lang="en-US" altLang="ko-KR" sz="1000" b="1" dirty="0" err="1">
                    <a:solidFill>
                      <a:srgbClr val="FF0000"/>
                    </a:solidFill>
                  </a:rPr>
                  <a:t>redis.conf</a:t>
                </a:r>
                <a:r>
                  <a:rPr lang="en-US" altLang="ko-KR" sz="1000" b="1" dirty="0"/>
                  <a:t>"]</a:t>
                </a:r>
              </a:p>
              <a:p>
                <a:r>
                  <a:rPr lang="en-US" altLang="ko-KR" sz="1000" b="1" dirty="0"/>
                  <a:t>          env:</a:t>
                </a:r>
              </a:p>
              <a:p>
                <a:r>
                  <a:rPr lang="en-US" altLang="ko-KR" sz="1000" b="1" dirty="0"/>
                  <a:t>            - name: ALLOW_EMPTY_PASSWORD</a:t>
                </a:r>
              </a:p>
              <a:p>
                <a:r>
                  <a:rPr lang="en-US" altLang="ko-KR" sz="1000" b="1" dirty="0"/>
                  <a:t>              value: "yes"</a:t>
                </a:r>
              </a:p>
              <a:p>
                <a:r>
                  <a:rPr lang="en-US" altLang="ko-KR" sz="1000" b="1" dirty="0"/>
                  <a:t>          ports:</a:t>
                </a:r>
              </a:p>
              <a:p>
                <a:r>
                  <a:rPr lang="en-US" altLang="ko-KR" sz="1000" b="1" dirty="0"/>
                  <a:t>            - name: </a:t>
                </a:r>
                <a:r>
                  <a:rPr lang="en-US" altLang="ko-KR" sz="1000" b="1" dirty="0" err="1"/>
                  <a:t>redis</a:t>
                </a:r>
                <a:endParaRPr lang="en-US" altLang="ko-KR" sz="1000" b="1" dirty="0"/>
              </a:p>
              <a:p>
                <a:r>
                  <a:rPr lang="en-US" altLang="ko-KR" sz="1000" b="1" dirty="0"/>
                  <a:t>              </a:t>
                </a:r>
                <a:r>
                  <a:rPr lang="en-US" altLang="ko-KR" sz="1000" b="1" dirty="0" err="1"/>
                  <a:t>containerPort</a:t>
                </a:r>
                <a:r>
                  <a:rPr lang="en-US" altLang="ko-KR" sz="1000" b="1" dirty="0"/>
                  <a:t>: 6379</a:t>
                </a:r>
              </a:p>
              <a:p>
                <a:endParaRPr lang="en-US" altLang="ko-KR" sz="1000" b="1" dirty="0"/>
              </a:p>
              <a:p>
                <a:endParaRPr lang="en-US" altLang="ko-KR" sz="1000" b="1" dirty="0"/>
              </a:p>
            </p:txBody>
          </p:sp>
          <p:sp>
            <p:nvSpPr>
              <p:cNvPr id="8" name="직사각형 7">
                <a:extLst>
                  <a:ext uri="{FF2B5EF4-FFF2-40B4-BE49-F238E27FC236}">
                    <a16:creationId xmlns:a16="http://schemas.microsoft.com/office/drawing/2014/main" id="{1BAF228C-6102-4629-904A-2D24391F2AF8}"/>
                  </a:ext>
                </a:extLst>
              </p:cNvPr>
              <p:cNvSpPr/>
              <p:nvPr/>
            </p:nvSpPr>
            <p:spPr>
              <a:xfrm>
                <a:off x="838200" y="1608183"/>
                <a:ext cx="2743200" cy="4401205"/>
              </a:xfrm>
              <a:prstGeom prst="rect">
                <a:avLst/>
              </a:prstGeom>
              <a:ln>
                <a:solidFill>
                  <a:schemeClr val="bg1">
                    <a:lumMod val="50000"/>
                  </a:schemeClr>
                </a:solidFill>
              </a:ln>
            </p:spPr>
            <p:txBody>
              <a:bodyPr wrap="square">
                <a:spAutoFit/>
              </a:bodyPr>
              <a:lstStyle/>
              <a:p>
                <a:pPr lvl="0"/>
                <a:r>
                  <a:rPr lang="en-US" altLang="ko-KR" sz="1000" b="1" dirty="0" err="1">
                    <a:solidFill>
                      <a:prstClr val="black"/>
                    </a:solidFill>
                  </a:rPr>
                  <a:t>apiVersion</a:t>
                </a:r>
                <a:r>
                  <a:rPr lang="en-US" altLang="ko-KR" sz="1000" b="1" dirty="0">
                    <a:solidFill>
                      <a:prstClr val="black"/>
                    </a:solidFill>
                  </a:rPr>
                  <a:t>: apps/v1</a:t>
                </a:r>
              </a:p>
              <a:p>
                <a:pPr lvl="0"/>
                <a:r>
                  <a:rPr lang="en-US" altLang="ko-KR" sz="1000" b="1" dirty="0">
                    <a:solidFill>
                      <a:prstClr val="black"/>
                    </a:solidFill>
                  </a:rPr>
                  <a:t>kind: </a:t>
                </a:r>
                <a:r>
                  <a:rPr lang="en-US" altLang="ko-KR" sz="1000" b="1" dirty="0" err="1">
                    <a:solidFill>
                      <a:srgbClr val="FF0000"/>
                    </a:solidFill>
                  </a:rPr>
                  <a:t>StatefulSet</a:t>
                </a:r>
                <a:endParaRPr lang="en-US" altLang="ko-KR" sz="1000" b="1" dirty="0">
                  <a:solidFill>
                    <a:srgbClr val="FF0000"/>
                  </a:solidFill>
                </a:endParaRPr>
              </a:p>
              <a:p>
                <a:pPr lvl="0"/>
                <a:r>
                  <a:rPr lang="en-US" altLang="ko-KR" sz="1000" b="1" dirty="0">
                    <a:solidFill>
                      <a:prstClr val="black"/>
                    </a:solidFill>
                  </a:rPr>
                  <a:t>metadata:</a:t>
                </a:r>
              </a:p>
              <a:p>
                <a:pPr lvl="0"/>
                <a:r>
                  <a:rPr lang="en-US" altLang="ko-KR" sz="1000" b="1" dirty="0">
                    <a:solidFill>
                      <a:prstClr val="black"/>
                    </a:solidFill>
                  </a:rPr>
                  <a:t>  name: </a:t>
                </a:r>
                <a:r>
                  <a:rPr lang="en-US" altLang="ko-KR" sz="1000" b="1" dirty="0" err="1">
                    <a:solidFill>
                      <a:prstClr val="black"/>
                    </a:solidFill>
                  </a:rPr>
                  <a:t>redis</a:t>
                </a:r>
                <a:endParaRPr lang="en-US" altLang="ko-KR" sz="1000" b="1" dirty="0">
                  <a:solidFill>
                    <a:prstClr val="black"/>
                  </a:solidFill>
                </a:endParaRPr>
              </a:p>
              <a:p>
                <a:pPr lvl="0"/>
                <a:r>
                  <a:rPr lang="en-US" altLang="ko-KR" sz="1000" b="1" dirty="0">
                    <a:solidFill>
                      <a:prstClr val="black"/>
                    </a:solidFill>
                  </a:rPr>
                  <a:t>  labels:</a:t>
                </a:r>
              </a:p>
              <a:p>
                <a:pPr lvl="0"/>
                <a:r>
                  <a:rPr lang="en-US" altLang="ko-KR" sz="1000" b="1" dirty="0">
                    <a:solidFill>
                      <a:prstClr val="black"/>
                    </a:solidFill>
                  </a:rPr>
                  <a:t>    app: </a:t>
                </a:r>
                <a:r>
                  <a:rPr lang="en-US" altLang="ko-KR" sz="1000" b="1" dirty="0" err="1">
                    <a:solidFill>
                      <a:prstClr val="black"/>
                    </a:solidFill>
                  </a:rPr>
                  <a:t>redis</a:t>
                </a:r>
                <a:endParaRPr lang="en-US" altLang="ko-KR" sz="1000" b="1" dirty="0">
                  <a:solidFill>
                    <a:prstClr val="black"/>
                  </a:solidFill>
                </a:endParaRPr>
              </a:p>
              <a:p>
                <a:pPr lvl="0"/>
                <a:r>
                  <a:rPr lang="en-US" altLang="ko-KR" sz="1000" b="1" dirty="0">
                    <a:solidFill>
                      <a:prstClr val="black"/>
                    </a:solidFill>
                  </a:rPr>
                  <a:t>spec:</a:t>
                </a:r>
              </a:p>
              <a:p>
                <a:pPr lvl="0"/>
                <a:r>
                  <a:rPr lang="en-US" altLang="ko-KR" sz="1000" b="1" dirty="0">
                    <a:solidFill>
                      <a:prstClr val="black"/>
                    </a:solidFill>
                  </a:rPr>
                  <a:t>  selector:</a:t>
                </a:r>
              </a:p>
              <a:p>
                <a:pPr lvl="0"/>
                <a:r>
                  <a:rPr lang="en-US" altLang="ko-KR" sz="1000" b="1" dirty="0">
                    <a:solidFill>
                      <a:prstClr val="black"/>
                    </a:solidFill>
                  </a:rPr>
                  <a:t>    </a:t>
                </a:r>
                <a:r>
                  <a:rPr lang="en-US" altLang="ko-KR" sz="1000" b="1" dirty="0" err="1">
                    <a:solidFill>
                      <a:prstClr val="black"/>
                    </a:solidFill>
                  </a:rPr>
                  <a:t>matchLabels</a:t>
                </a:r>
                <a:r>
                  <a:rPr lang="en-US" altLang="ko-KR" sz="1000" b="1" dirty="0">
                    <a:solidFill>
                      <a:prstClr val="black"/>
                    </a:solidFill>
                  </a:rPr>
                  <a:t>:</a:t>
                </a:r>
              </a:p>
              <a:p>
                <a:pPr lvl="0"/>
                <a:r>
                  <a:rPr lang="en-US" altLang="ko-KR" sz="1000" b="1" dirty="0">
                    <a:solidFill>
                      <a:srgbClr val="FF0000"/>
                    </a:solidFill>
                  </a:rPr>
                  <a:t>      role: master</a:t>
                </a:r>
              </a:p>
              <a:p>
                <a:pPr lvl="0"/>
                <a:r>
                  <a:rPr lang="en-US" altLang="ko-KR" sz="1000" b="1" dirty="0">
                    <a:solidFill>
                      <a:srgbClr val="FF0000"/>
                    </a:solidFill>
                  </a:rPr>
                  <a:t>      app: </a:t>
                </a:r>
                <a:r>
                  <a:rPr lang="en-US" altLang="ko-KR" sz="1000" b="1" dirty="0" err="1">
                    <a:solidFill>
                      <a:srgbClr val="FF0000"/>
                    </a:solidFill>
                  </a:rPr>
                  <a:t>redis</a:t>
                </a:r>
                <a:endParaRPr lang="en-US" altLang="ko-KR" sz="1000" b="1" dirty="0">
                  <a:solidFill>
                    <a:srgbClr val="FF0000"/>
                  </a:solidFill>
                </a:endParaRPr>
              </a:p>
              <a:p>
                <a:pPr lvl="0"/>
                <a:r>
                  <a:rPr lang="en-US" altLang="ko-KR" sz="1000" b="1" dirty="0">
                    <a:solidFill>
                      <a:prstClr val="black"/>
                    </a:solidFill>
                  </a:rPr>
                  <a:t>  </a:t>
                </a:r>
                <a:r>
                  <a:rPr lang="en-US" altLang="ko-KR" sz="1000" b="1" dirty="0" err="1">
                    <a:solidFill>
                      <a:prstClr val="black"/>
                    </a:solidFill>
                  </a:rPr>
                  <a:t>serviceName</a:t>
                </a:r>
                <a:r>
                  <a:rPr lang="en-US" altLang="ko-KR" sz="1000" b="1" dirty="0">
                    <a:solidFill>
                      <a:prstClr val="black"/>
                    </a:solidFill>
                  </a:rPr>
                  <a:t>: "</a:t>
                </a:r>
                <a:r>
                  <a:rPr lang="en-US" altLang="ko-KR" sz="1000" b="1" dirty="0" err="1">
                    <a:solidFill>
                      <a:prstClr val="black"/>
                    </a:solidFill>
                  </a:rPr>
                  <a:t>redis</a:t>
                </a:r>
                <a:r>
                  <a:rPr lang="en-US" altLang="ko-KR" sz="1000" b="1" dirty="0">
                    <a:solidFill>
                      <a:prstClr val="black"/>
                    </a:solidFill>
                  </a:rPr>
                  <a:t>"</a:t>
                </a:r>
              </a:p>
              <a:p>
                <a:pPr lvl="0"/>
                <a:r>
                  <a:rPr lang="en-US" altLang="ko-KR" sz="1000" b="1" dirty="0">
                    <a:solidFill>
                      <a:prstClr val="black"/>
                    </a:solidFill>
                  </a:rPr>
                  <a:t>  replicas: </a:t>
                </a:r>
                <a:r>
                  <a:rPr lang="en-US" altLang="ko-KR" sz="1000" b="1" dirty="0">
                    <a:solidFill>
                      <a:srgbClr val="FF0000"/>
                    </a:solidFill>
                  </a:rPr>
                  <a:t>3</a:t>
                </a:r>
              </a:p>
              <a:p>
                <a:pPr lvl="0"/>
                <a:r>
                  <a:rPr lang="en-US" altLang="ko-KR" sz="1000" b="1" dirty="0">
                    <a:solidFill>
                      <a:prstClr val="black"/>
                    </a:solidFill>
                  </a:rPr>
                  <a:t>  template:</a:t>
                </a:r>
              </a:p>
              <a:p>
                <a:pPr lvl="0"/>
                <a:r>
                  <a:rPr lang="en-US" altLang="ko-KR" sz="1000" b="1" dirty="0">
                    <a:solidFill>
                      <a:prstClr val="black"/>
                    </a:solidFill>
                  </a:rPr>
                  <a:t>    metadata:</a:t>
                </a:r>
              </a:p>
              <a:p>
                <a:pPr lvl="0"/>
                <a:r>
                  <a:rPr lang="en-US" altLang="ko-KR" sz="1000" b="1" dirty="0">
                    <a:solidFill>
                      <a:prstClr val="black"/>
                    </a:solidFill>
                  </a:rPr>
                  <a:t>      labels:</a:t>
                </a:r>
              </a:p>
              <a:p>
                <a:pPr lvl="0"/>
                <a:r>
                  <a:rPr lang="en-US" altLang="ko-KR" sz="1000" b="1" dirty="0">
                    <a:solidFill>
                      <a:srgbClr val="FF0000"/>
                    </a:solidFill>
                  </a:rPr>
                  <a:t>        role: master</a:t>
                </a:r>
              </a:p>
              <a:p>
                <a:pPr lvl="0"/>
                <a:r>
                  <a:rPr lang="en-US" altLang="ko-KR" sz="1000" b="1" dirty="0">
                    <a:solidFill>
                      <a:srgbClr val="FF0000"/>
                    </a:solidFill>
                  </a:rPr>
                  <a:t>        app: </a:t>
                </a:r>
                <a:r>
                  <a:rPr lang="en-US" altLang="ko-KR" sz="1000" b="1" dirty="0" err="1">
                    <a:solidFill>
                      <a:srgbClr val="FF0000"/>
                    </a:solidFill>
                  </a:rPr>
                  <a:t>redis</a:t>
                </a:r>
                <a:endParaRPr lang="en-US" altLang="ko-KR" sz="1000" b="1" dirty="0">
                  <a:solidFill>
                    <a:srgbClr val="FF0000"/>
                  </a:solidFill>
                </a:endParaRPr>
              </a:p>
              <a:p>
                <a:pPr lvl="0"/>
                <a:r>
                  <a:rPr lang="en-US" altLang="ko-KR" sz="1000" b="1" dirty="0">
                    <a:solidFill>
                      <a:prstClr val="black"/>
                    </a:solidFill>
                  </a:rPr>
                  <a:t>      annotations:</a:t>
                </a:r>
              </a:p>
              <a:p>
                <a:pPr lvl="0"/>
                <a:r>
                  <a:rPr lang="en-US" altLang="ko-KR" sz="1000" b="1" dirty="0">
                    <a:solidFill>
                      <a:prstClr val="black"/>
                    </a:solidFill>
                  </a:rPr>
                  <a:t>    spec:</a:t>
                </a:r>
              </a:p>
              <a:p>
                <a:pPr lvl="0"/>
                <a:r>
                  <a:rPr lang="en-US" altLang="ko-KR" sz="1000" b="1" dirty="0">
                    <a:solidFill>
                      <a:prstClr val="black"/>
                    </a:solidFill>
                  </a:rPr>
                  <a:t>      </a:t>
                </a:r>
                <a:r>
                  <a:rPr lang="en-US" altLang="ko-KR" sz="1000" b="1" dirty="0" err="1">
                    <a:solidFill>
                      <a:srgbClr val="FF0000"/>
                    </a:solidFill>
                  </a:rPr>
                  <a:t>initContainers</a:t>
                </a:r>
                <a:r>
                  <a:rPr lang="en-US" altLang="ko-KR" sz="1000" b="1" dirty="0">
                    <a:solidFill>
                      <a:prstClr val="black"/>
                    </a:solidFill>
                  </a:rPr>
                  <a:t>:</a:t>
                </a:r>
              </a:p>
              <a:p>
                <a:pPr lvl="0"/>
                <a:r>
                  <a:rPr lang="en-US" altLang="ko-KR" sz="1000" b="1" dirty="0">
                    <a:solidFill>
                      <a:prstClr val="black"/>
                    </a:solidFill>
                  </a:rPr>
                  <a:t>        - name: </a:t>
                </a:r>
                <a:r>
                  <a:rPr lang="en-US" altLang="ko-KR" sz="1000" b="1" dirty="0" err="1">
                    <a:solidFill>
                      <a:prstClr val="black"/>
                    </a:solidFill>
                  </a:rPr>
                  <a:t>init-redis</a:t>
                </a:r>
                <a:endParaRPr lang="en-US" altLang="ko-KR" sz="1000" b="1" dirty="0">
                  <a:solidFill>
                    <a:prstClr val="black"/>
                  </a:solidFill>
                </a:endParaRPr>
              </a:p>
              <a:p>
                <a:pPr lvl="0"/>
                <a:r>
                  <a:rPr lang="en-US" altLang="ko-KR" sz="1000" b="1" dirty="0">
                    <a:solidFill>
                      <a:prstClr val="black"/>
                    </a:solidFill>
                  </a:rPr>
                  <a:t>          image: redis:4.0.9</a:t>
                </a:r>
              </a:p>
              <a:p>
                <a:pPr lvl="0"/>
                <a:r>
                  <a:rPr lang="en-US" altLang="ko-KR" sz="1000" b="1" dirty="0">
                    <a:solidFill>
                      <a:prstClr val="black"/>
                    </a:solidFill>
                  </a:rPr>
                  <a:t>          </a:t>
                </a:r>
                <a:r>
                  <a:rPr lang="en-US" altLang="ko-KR" sz="1000" b="1" dirty="0">
                    <a:solidFill>
                      <a:srgbClr val="FF0000"/>
                    </a:solidFill>
                  </a:rPr>
                  <a:t>command</a:t>
                </a:r>
                <a:r>
                  <a:rPr lang="en-US" altLang="ko-KR" sz="1000" b="1" dirty="0">
                    <a:solidFill>
                      <a:prstClr val="black"/>
                    </a:solidFill>
                  </a:rPr>
                  <a:t>:</a:t>
                </a:r>
              </a:p>
              <a:p>
                <a:pPr lvl="0"/>
                <a:r>
                  <a:rPr lang="en-US" altLang="ko-KR" sz="1000" b="1" dirty="0">
                    <a:solidFill>
                      <a:prstClr val="black"/>
                    </a:solidFill>
                  </a:rPr>
                  <a:t>            - bash</a:t>
                </a:r>
              </a:p>
              <a:p>
                <a:pPr lvl="0"/>
                <a:r>
                  <a:rPr lang="en-US" altLang="ko-KR" sz="1000" b="1" dirty="0">
                    <a:solidFill>
                      <a:prstClr val="black"/>
                    </a:solidFill>
                  </a:rPr>
                  <a:t>            - "-c"</a:t>
                </a:r>
              </a:p>
              <a:p>
                <a:pPr lvl="0"/>
                <a:r>
                  <a:rPr lang="en-US" altLang="ko-KR" sz="1000" b="1" dirty="0">
                    <a:solidFill>
                      <a:prstClr val="black"/>
                    </a:solidFill>
                  </a:rPr>
                  <a:t>            - |</a:t>
                </a:r>
              </a:p>
              <a:p>
                <a:pPr lvl="0"/>
                <a:r>
                  <a:rPr lang="en-US" altLang="ko-KR" sz="1000" b="1" dirty="0">
                    <a:solidFill>
                      <a:prstClr val="black"/>
                    </a:solidFill>
                  </a:rPr>
                  <a:t>              set -ex</a:t>
                </a:r>
              </a:p>
            </p:txBody>
          </p:sp>
          <p:sp>
            <p:nvSpPr>
              <p:cNvPr id="9" name="직사각형 8">
                <a:extLst>
                  <a:ext uri="{FF2B5EF4-FFF2-40B4-BE49-F238E27FC236}">
                    <a16:creationId xmlns:a16="http://schemas.microsoft.com/office/drawing/2014/main" id="{028FB609-D1CB-4D77-BBC9-DC84CE97A951}"/>
                  </a:ext>
                </a:extLst>
              </p:cNvPr>
              <p:cNvSpPr/>
              <p:nvPr/>
            </p:nvSpPr>
            <p:spPr>
              <a:xfrm>
                <a:off x="8221980" y="1608183"/>
                <a:ext cx="2743200" cy="4401205"/>
              </a:xfrm>
              <a:prstGeom prst="rect">
                <a:avLst/>
              </a:prstGeom>
              <a:ln>
                <a:solidFill>
                  <a:schemeClr val="bg1">
                    <a:lumMod val="50000"/>
                  </a:schemeClr>
                </a:solidFill>
              </a:ln>
            </p:spPr>
            <p:txBody>
              <a:bodyPr wrap="square">
                <a:spAutoFit/>
              </a:bodyPr>
              <a:lstStyle/>
              <a:p>
                <a:pPr lvl="0"/>
                <a:r>
                  <a:rPr lang="en-US" altLang="ko-KR" sz="1000" b="1" dirty="0">
                    <a:solidFill>
                      <a:prstClr val="black"/>
                    </a:solidFill>
                  </a:rPr>
                  <a:t>          </a:t>
                </a:r>
                <a:r>
                  <a:rPr lang="en-US" altLang="ko-KR" sz="1000" b="1" dirty="0" err="1">
                    <a:solidFill>
                      <a:prstClr val="black"/>
                    </a:solidFill>
                  </a:rPr>
                  <a:t>volumeMounts</a:t>
                </a:r>
                <a:r>
                  <a:rPr lang="en-US" altLang="ko-KR" sz="1000" b="1" dirty="0">
                    <a:solidFill>
                      <a:prstClr val="black"/>
                    </a:solidFill>
                  </a:rPr>
                  <a:t>:</a:t>
                </a:r>
              </a:p>
              <a:p>
                <a:pPr lvl="0"/>
                <a:r>
                  <a:rPr lang="en-US" altLang="ko-KR" sz="1000" b="1" dirty="0">
                    <a:solidFill>
                      <a:prstClr val="black"/>
                    </a:solidFill>
                  </a:rPr>
                  <a:t>            - name: </a:t>
                </a:r>
                <a:r>
                  <a:rPr lang="en-US" altLang="ko-KR" sz="1000" b="1" dirty="0" err="1">
                    <a:solidFill>
                      <a:prstClr val="black"/>
                    </a:solidFill>
                  </a:rPr>
                  <a:t>redis</a:t>
                </a:r>
                <a:r>
                  <a:rPr lang="en-US" altLang="ko-KR" sz="1000" b="1" dirty="0">
                    <a:solidFill>
                      <a:prstClr val="black"/>
                    </a:solidFill>
                  </a:rPr>
                  <a:t>-data</a:t>
                </a:r>
              </a:p>
              <a:p>
                <a:pPr lvl="0"/>
                <a:r>
                  <a:rPr lang="en-US" altLang="ko-KR" sz="1000" b="1" dirty="0">
                    <a:solidFill>
                      <a:prstClr val="black"/>
                    </a:solidFill>
                  </a:rPr>
                  <a:t>              </a:t>
                </a:r>
                <a:r>
                  <a:rPr lang="en-US" altLang="ko-KR" sz="1000" b="1" dirty="0" err="1">
                    <a:solidFill>
                      <a:srgbClr val="FF0000"/>
                    </a:solidFill>
                  </a:rPr>
                  <a:t>mountPath</a:t>
                </a:r>
                <a:r>
                  <a:rPr lang="en-US" altLang="ko-KR" sz="1000" b="1" dirty="0">
                    <a:solidFill>
                      <a:srgbClr val="FF0000"/>
                    </a:solidFill>
                  </a:rPr>
                  <a:t>: /data</a:t>
                </a:r>
              </a:p>
              <a:p>
                <a:pPr lvl="0"/>
                <a:r>
                  <a:rPr lang="en-US" altLang="ko-KR" sz="1000" b="1" dirty="0">
                    <a:solidFill>
                      <a:prstClr val="black"/>
                    </a:solidFill>
                  </a:rPr>
                  <a:t>            - name: conf</a:t>
                </a:r>
              </a:p>
              <a:p>
                <a:pPr lvl="0"/>
                <a:r>
                  <a:rPr lang="en-US" altLang="ko-KR" sz="1000" b="1" dirty="0">
                    <a:solidFill>
                      <a:prstClr val="black"/>
                    </a:solidFill>
                  </a:rPr>
                  <a:t>              </a:t>
                </a:r>
                <a:r>
                  <a:rPr lang="en-US" altLang="ko-KR" sz="1000" b="1" dirty="0" err="1">
                    <a:solidFill>
                      <a:prstClr val="black"/>
                    </a:solidFill>
                  </a:rPr>
                  <a:t>mountPath</a:t>
                </a:r>
                <a:r>
                  <a:rPr lang="en-US" altLang="ko-KR" sz="1000" b="1" dirty="0">
                    <a:solidFill>
                      <a:prstClr val="black"/>
                    </a:solidFill>
                  </a:rPr>
                  <a:t>: /</a:t>
                </a:r>
                <a:r>
                  <a:rPr lang="en-US" altLang="ko-KR" sz="1000" b="1" dirty="0" err="1">
                    <a:solidFill>
                      <a:prstClr val="black"/>
                    </a:solidFill>
                  </a:rPr>
                  <a:t>etc</a:t>
                </a:r>
                <a:r>
                  <a:rPr lang="en-US" altLang="ko-KR" sz="1000" b="1" dirty="0">
                    <a:solidFill>
                      <a:prstClr val="black"/>
                    </a:solidFill>
                  </a:rPr>
                  <a:t>/</a:t>
                </a:r>
              </a:p>
              <a:p>
                <a:pPr lvl="0"/>
                <a:r>
                  <a:rPr lang="en-US" altLang="ko-KR" sz="1000" b="1" dirty="0">
                    <a:solidFill>
                      <a:prstClr val="black"/>
                    </a:solidFill>
                  </a:rPr>
                  <a:t>              </a:t>
                </a:r>
                <a:r>
                  <a:rPr lang="en-US" altLang="ko-KR" sz="1000" b="1" dirty="0" err="1">
                    <a:solidFill>
                      <a:srgbClr val="FF0000"/>
                    </a:solidFill>
                  </a:rPr>
                  <a:t>subPath</a:t>
                </a:r>
                <a:r>
                  <a:rPr lang="en-US" altLang="ko-KR" sz="1000" b="1" dirty="0">
                    <a:solidFill>
                      <a:srgbClr val="FF0000"/>
                    </a:solidFill>
                  </a:rPr>
                  <a:t>: </a:t>
                </a:r>
                <a:r>
                  <a:rPr lang="en-US" altLang="ko-KR" sz="1000" b="1" dirty="0" err="1">
                    <a:solidFill>
                      <a:srgbClr val="FF0000"/>
                    </a:solidFill>
                  </a:rPr>
                  <a:t>redis.conf</a:t>
                </a:r>
                <a:endParaRPr lang="en-US" altLang="ko-KR" sz="1000" b="1" dirty="0">
                  <a:solidFill>
                    <a:srgbClr val="FF0000"/>
                  </a:solidFill>
                </a:endParaRPr>
              </a:p>
              <a:p>
                <a:pPr lvl="0"/>
                <a:r>
                  <a:rPr lang="en-US" altLang="ko-KR" sz="1000" b="1" dirty="0">
                    <a:solidFill>
                      <a:prstClr val="black"/>
                    </a:solidFill>
                  </a:rPr>
                  <a:t>      volumes:</a:t>
                </a:r>
              </a:p>
              <a:p>
                <a:pPr lvl="0"/>
                <a:r>
                  <a:rPr lang="en-US" altLang="ko-KR" sz="1000" b="1" dirty="0">
                    <a:solidFill>
                      <a:prstClr val="black"/>
                    </a:solidFill>
                  </a:rPr>
                  <a:t>        - name: "</a:t>
                </a:r>
                <a:r>
                  <a:rPr lang="en-US" altLang="ko-KR" sz="1000" b="1" dirty="0" err="1">
                    <a:solidFill>
                      <a:prstClr val="black"/>
                    </a:solidFill>
                  </a:rPr>
                  <a:t>redis</a:t>
                </a:r>
                <a:r>
                  <a:rPr lang="en-US" altLang="ko-KR" sz="1000" b="1" dirty="0">
                    <a:solidFill>
                      <a:prstClr val="black"/>
                    </a:solidFill>
                  </a:rPr>
                  <a:t>-data"</a:t>
                </a:r>
              </a:p>
              <a:p>
                <a:pPr lvl="0"/>
                <a:r>
                  <a:rPr lang="en-US" altLang="ko-KR" sz="1000" b="1" dirty="0">
                    <a:solidFill>
                      <a:prstClr val="black"/>
                    </a:solidFill>
                  </a:rPr>
                  <a:t>          </a:t>
                </a:r>
                <a:r>
                  <a:rPr lang="en-US" altLang="ko-KR" sz="1000" b="1" dirty="0" err="1">
                    <a:solidFill>
                      <a:prstClr val="black"/>
                    </a:solidFill>
                  </a:rPr>
                  <a:t>emptyDir</a:t>
                </a:r>
                <a:r>
                  <a:rPr lang="en-US" altLang="ko-KR" sz="1000" b="1" dirty="0">
                    <a:solidFill>
                      <a:prstClr val="black"/>
                    </a:solidFill>
                  </a:rPr>
                  <a:t>: {}</a:t>
                </a:r>
              </a:p>
              <a:p>
                <a:pPr lvl="0"/>
                <a:r>
                  <a:rPr lang="en-US" altLang="ko-KR" sz="1000" b="1" dirty="0">
                    <a:solidFill>
                      <a:prstClr val="black"/>
                    </a:solidFill>
                  </a:rPr>
                  <a:t>        - name: conf</a:t>
                </a:r>
              </a:p>
              <a:p>
                <a:pPr lvl="0"/>
                <a:r>
                  <a:rPr lang="en-US" altLang="ko-KR" sz="1000" b="1" dirty="0">
                    <a:solidFill>
                      <a:prstClr val="black"/>
                    </a:solidFill>
                  </a:rPr>
                  <a:t>          </a:t>
                </a:r>
                <a:r>
                  <a:rPr lang="en-US" altLang="ko-KR" sz="1000" b="1" dirty="0" err="1">
                    <a:solidFill>
                      <a:prstClr val="black"/>
                    </a:solidFill>
                  </a:rPr>
                  <a:t>emptyDir</a:t>
                </a:r>
                <a:r>
                  <a:rPr lang="en-US" altLang="ko-KR" sz="1000" b="1" dirty="0">
                    <a:solidFill>
                      <a:prstClr val="black"/>
                    </a:solidFill>
                  </a:rPr>
                  <a:t>: {}</a:t>
                </a:r>
              </a:p>
              <a:p>
                <a:pPr lvl="0"/>
                <a:r>
                  <a:rPr lang="en-US" altLang="ko-KR" sz="1000" b="1" dirty="0">
                    <a:solidFill>
                      <a:prstClr val="black"/>
                    </a:solidFill>
                  </a:rPr>
                  <a:t>        - name: config-map</a:t>
                </a:r>
              </a:p>
              <a:p>
                <a:pPr lvl="0"/>
                <a:r>
                  <a:rPr lang="en-US" altLang="ko-KR" sz="1000" b="1" dirty="0">
                    <a:solidFill>
                      <a:srgbClr val="FF0000"/>
                    </a:solidFill>
                  </a:rPr>
                  <a:t>          </a:t>
                </a:r>
                <a:r>
                  <a:rPr lang="en-US" altLang="ko-KR" sz="1000" b="1" dirty="0" err="1">
                    <a:solidFill>
                      <a:srgbClr val="FF0000"/>
                    </a:solidFill>
                  </a:rPr>
                  <a:t>configMap</a:t>
                </a:r>
                <a:r>
                  <a:rPr lang="en-US" altLang="ko-KR" sz="1000" b="1" dirty="0">
                    <a:solidFill>
                      <a:srgbClr val="FF0000"/>
                    </a:solidFill>
                  </a:rPr>
                  <a:t>:</a:t>
                </a:r>
              </a:p>
              <a:p>
                <a:pPr lvl="0"/>
                <a:r>
                  <a:rPr lang="en-US" altLang="ko-KR" sz="1000" b="1" dirty="0">
                    <a:solidFill>
                      <a:srgbClr val="FF0000"/>
                    </a:solidFill>
                  </a:rPr>
                  <a:t>            name: </a:t>
                </a:r>
                <a:r>
                  <a:rPr lang="en-US" altLang="ko-KR" sz="1000" b="1" dirty="0" err="1">
                    <a:solidFill>
                      <a:srgbClr val="FF0000"/>
                    </a:solidFill>
                  </a:rPr>
                  <a:t>redis</a:t>
                </a:r>
                <a:endParaRPr lang="en-US" altLang="ko-KR" sz="1000" b="1" dirty="0">
                  <a:solidFill>
                    <a:srgbClr val="FF0000"/>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a:p>
                <a:pPr lvl="0"/>
                <a:endParaRPr lang="en-US" altLang="ko-KR" sz="1000" b="1" dirty="0">
                  <a:solidFill>
                    <a:prstClr val="black"/>
                  </a:solidFill>
                </a:endParaRPr>
              </a:p>
            </p:txBody>
          </p:sp>
        </p:grpSp>
        <p:sp>
          <p:nvSpPr>
            <p:cNvPr id="11" name="TextBox 10">
              <a:extLst>
                <a:ext uri="{FF2B5EF4-FFF2-40B4-BE49-F238E27FC236}">
                  <a16:creationId xmlns:a16="http://schemas.microsoft.com/office/drawing/2014/main" id="{327A289E-7909-441A-AC0D-0CDCAEB36B1A}"/>
                </a:ext>
              </a:extLst>
            </p:cNvPr>
            <p:cNvSpPr txBox="1"/>
            <p:nvPr/>
          </p:nvSpPr>
          <p:spPr>
            <a:xfrm>
              <a:off x="5716807" y="6083231"/>
              <a:ext cx="1497526" cy="246221"/>
            </a:xfrm>
            <a:prstGeom prst="rect">
              <a:avLst/>
            </a:prstGeom>
            <a:noFill/>
          </p:spPr>
          <p:txBody>
            <a:bodyPr wrap="none" rtlCol="0">
              <a:spAutoFit/>
            </a:bodyPr>
            <a:lstStyle/>
            <a:p>
              <a:pPr algn="ctr"/>
              <a:r>
                <a:rPr lang="en-US" altLang="ko-KR" sz="1000" b="1" dirty="0" err="1"/>
                <a:t>redis-statefulset.yaml</a:t>
              </a:r>
              <a:endParaRPr lang="ko-KR" altLang="en-US" sz="1000" b="1" dirty="0"/>
            </a:p>
          </p:txBody>
        </p:sp>
      </p:grpSp>
    </p:spTree>
    <p:extLst>
      <p:ext uri="{BB962C8B-B14F-4D97-AF65-F5344CB8AC3E}">
        <p14:creationId xmlns:p14="http://schemas.microsoft.com/office/powerpoint/2010/main" val="339493266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Redis(4/4)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StatefulSets</a:t>
            </a:r>
            <a:r>
              <a:rPr lang="en-US" altLang="ko-KR" sz="1800" b="1" dirty="0"/>
              <a:t> :</a:t>
            </a:r>
          </a:p>
          <a:p>
            <a:pPr lvl="1">
              <a:buFont typeface="Wingdings" panose="05000000000000000000" pitchFamily="2" charset="2"/>
              <a:buChar char="§"/>
            </a:pPr>
            <a:r>
              <a:rPr lang="en-US" altLang="ko-KR" sz="1400" dirty="0"/>
              <a:t>You can also see that there are </a:t>
            </a:r>
            <a:r>
              <a:rPr lang="en-US" altLang="ko-KR" sz="1400" b="1" dirty="0"/>
              <a:t>three volumes defined in the Pod</a:t>
            </a:r>
            <a:r>
              <a:rPr lang="en-US" altLang="ko-KR" sz="1400" dirty="0"/>
              <a:t>. One is the volume that uses our </a:t>
            </a:r>
            <a:r>
              <a:rPr lang="en-US" altLang="ko-KR" sz="1400" b="1" dirty="0" err="1"/>
              <a:t>ConfigMap</a:t>
            </a:r>
            <a:r>
              <a:rPr lang="en-US" altLang="ko-KR" sz="1400" dirty="0"/>
              <a:t> to configure the Redis applications, and the others are two simple </a:t>
            </a:r>
            <a:r>
              <a:rPr lang="en-US" altLang="ko-KR" sz="1400" b="1" dirty="0" err="1"/>
              <a:t>emptyDir</a:t>
            </a:r>
            <a:r>
              <a:rPr lang="en-US" altLang="ko-KR" sz="1400" b="1" dirty="0"/>
              <a:t> volumes that are mapped into the Redis server container to hold the application configuration and data so that they survive a container restart</a:t>
            </a:r>
            <a:r>
              <a:rPr lang="en-US" altLang="ko-KR" sz="1400" dirty="0"/>
              <a:t>. For a more reliable Redis installation, this could be a network-attached disk.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766C798-378E-4E85-A062-5DC1AB2DE7F0}"/>
              </a:ext>
            </a:extLst>
          </p:cNvPr>
          <p:cNvGrpSpPr/>
          <p:nvPr/>
        </p:nvGrpSpPr>
        <p:grpSpPr>
          <a:xfrm>
            <a:off x="1771650" y="2078474"/>
            <a:ext cx="8648700" cy="4327146"/>
            <a:chOff x="1771650" y="2078474"/>
            <a:chExt cx="8648700" cy="4327146"/>
          </a:xfrm>
        </p:grpSpPr>
        <p:sp>
          <p:nvSpPr>
            <p:cNvPr id="4" name="직사각형 3">
              <a:extLst>
                <a:ext uri="{FF2B5EF4-FFF2-40B4-BE49-F238E27FC236}">
                  <a16:creationId xmlns:a16="http://schemas.microsoft.com/office/drawing/2014/main" id="{395800DE-B702-45E6-BDF8-E265E0496EFA}"/>
                </a:ext>
              </a:extLst>
            </p:cNvPr>
            <p:cNvSpPr/>
            <p:nvPr/>
          </p:nvSpPr>
          <p:spPr>
            <a:xfrm>
              <a:off x="4779774" y="2078474"/>
              <a:ext cx="263245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redis-statefulset.yaml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E3ABFFFC-9875-4F09-ADAB-E5AE6C26A40D}"/>
                </a:ext>
              </a:extLst>
            </p:cNvPr>
            <p:cNvSpPr/>
            <p:nvPr/>
          </p:nvSpPr>
          <p:spPr>
            <a:xfrm>
              <a:off x="5882640" y="2312689"/>
              <a:ext cx="426720" cy="3048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45426E64-F64E-47BF-8CD4-EA213B070681}"/>
                </a:ext>
              </a:extLst>
            </p:cNvPr>
            <p:cNvPicPr>
              <a:picLocks noChangeAspect="1"/>
            </p:cNvPicPr>
            <p:nvPr/>
          </p:nvPicPr>
          <p:blipFill>
            <a:blip r:embed="rId2"/>
            <a:stretch>
              <a:fillRect/>
            </a:stretch>
          </p:blipFill>
          <p:spPr>
            <a:xfrm>
              <a:off x="1771650" y="2617489"/>
              <a:ext cx="8648700" cy="3788131"/>
            </a:xfrm>
            <a:prstGeom prst="rect">
              <a:avLst/>
            </a:prstGeom>
            <a:ln>
              <a:solidFill>
                <a:schemeClr val="bg1">
                  <a:lumMod val="50000"/>
                </a:schemeClr>
              </a:solidFill>
            </a:ln>
          </p:spPr>
        </p:pic>
      </p:grpSp>
    </p:spTree>
    <p:extLst>
      <p:ext uri="{BB962C8B-B14F-4D97-AF65-F5344CB8AC3E}">
        <p14:creationId xmlns:p14="http://schemas.microsoft.com/office/powerpoint/2010/main" val="36310616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Redis Deployment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Big Picture :</a:t>
            </a:r>
          </a:p>
          <a:p>
            <a:pPr lvl="1">
              <a:buFont typeface="Wingdings" panose="05000000000000000000" pitchFamily="2" charset="2"/>
              <a:buChar char="§"/>
            </a:pPr>
            <a:r>
              <a:rPr lang="en-US" altLang="ko-KR" sz="1400" b="1" dirty="0"/>
              <a:t>Redis Master, Slave, Sentinel </a:t>
            </a:r>
            <a:r>
              <a:rPr lang="en-US" altLang="ko-KR" sz="1400" dirty="0"/>
              <a:t>- Here we didn’t explain how to make a </a:t>
            </a:r>
            <a:r>
              <a:rPr lang="en-US" altLang="ko-KR" sz="1400" b="1" dirty="0"/>
              <a:t>Redis Sentinel</a:t>
            </a:r>
            <a:r>
              <a:rPr lang="en-US" altLang="ko-KR" sz="1400" dirty="0"/>
              <a:t>. You can find more information in </a:t>
            </a:r>
            <a:r>
              <a:rPr lang="en-US" altLang="ko-KR" sz="1400" b="1" dirty="0">
                <a:hlinkClick r:id="rId2"/>
              </a:rPr>
              <a:t>https://redis.io/topics/sentinel</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837CF8DB-3972-43BE-A971-BF49B4D44DCD}"/>
              </a:ext>
            </a:extLst>
          </p:cNvPr>
          <p:cNvGrpSpPr/>
          <p:nvPr/>
        </p:nvGrpSpPr>
        <p:grpSpPr>
          <a:xfrm>
            <a:off x="1278030" y="2102008"/>
            <a:ext cx="9635939" cy="3695699"/>
            <a:chOff x="1203501" y="1581149"/>
            <a:chExt cx="9635939" cy="3695699"/>
          </a:xfrm>
        </p:grpSpPr>
        <p:pic>
          <p:nvPicPr>
            <p:cNvPr id="4" name="그림 3">
              <a:extLst>
                <a:ext uri="{FF2B5EF4-FFF2-40B4-BE49-F238E27FC236}">
                  <a16:creationId xmlns:a16="http://schemas.microsoft.com/office/drawing/2014/main" id="{43FD9290-4586-4495-A2DA-873D4C798C0A}"/>
                </a:ext>
              </a:extLst>
            </p:cNvPr>
            <p:cNvPicPr>
              <a:picLocks noChangeAspect="1"/>
            </p:cNvPicPr>
            <p:nvPr/>
          </p:nvPicPr>
          <p:blipFill>
            <a:blip r:embed="rId3"/>
            <a:stretch>
              <a:fillRect/>
            </a:stretch>
          </p:blipFill>
          <p:spPr>
            <a:xfrm>
              <a:off x="1203501" y="1581149"/>
              <a:ext cx="4230017" cy="3695699"/>
            </a:xfrm>
            <a:prstGeom prst="rect">
              <a:avLst/>
            </a:prstGeom>
          </p:spPr>
        </p:pic>
        <p:pic>
          <p:nvPicPr>
            <p:cNvPr id="8" name="그림 7">
              <a:extLst>
                <a:ext uri="{FF2B5EF4-FFF2-40B4-BE49-F238E27FC236}">
                  <a16:creationId xmlns:a16="http://schemas.microsoft.com/office/drawing/2014/main" id="{62E8E4B6-2181-4519-82FA-C469863F0654}"/>
                </a:ext>
              </a:extLst>
            </p:cNvPr>
            <p:cNvPicPr>
              <a:picLocks noChangeAspect="1"/>
            </p:cNvPicPr>
            <p:nvPr/>
          </p:nvPicPr>
          <p:blipFill>
            <a:blip r:embed="rId4"/>
            <a:stretch>
              <a:fillRect/>
            </a:stretch>
          </p:blipFill>
          <p:spPr>
            <a:xfrm>
              <a:off x="5798819" y="2413236"/>
              <a:ext cx="5040621" cy="2031523"/>
            </a:xfrm>
            <a:prstGeom prst="rect">
              <a:avLst/>
            </a:prstGeom>
          </p:spPr>
        </p:pic>
      </p:grpSp>
    </p:spTree>
    <p:extLst>
      <p:ext uri="{BB962C8B-B14F-4D97-AF65-F5344CB8AC3E}">
        <p14:creationId xmlns:p14="http://schemas.microsoft.com/office/powerpoint/2010/main" val="42701277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dirty="0"/>
              <a:t>Here we described how to </a:t>
            </a:r>
            <a:r>
              <a:rPr lang="en-US" altLang="ko-KR" sz="1400" b="1" dirty="0"/>
              <a:t>deploy a variety of applications using assorted Kubernetes concepts</a:t>
            </a:r>
            <a:r>
              <a:rPr lang="en-US" altLang="ko-KR" sz="1400" dirty="0"/>
              <a:t>. We saw how to put together </a:t>
            </a:r>
            <a:r>
              <a:rPr lang="en-US" altLang="ko-KR" sz="1400" b="1" dirty="0"/>
              <a:t>service-based naming and discovery</a:t>
            </a:r>
            <a:r>
              <a:rPr lang="en-US" altLang="ko-KR" sz="1400" dirty="0"/>
              <a:t> to deploy web frontends like </a:t>
            </a:r>
            <a:r>
              <a:rPr lang="en-US" altLang="ko-KR" sz="1400" b="1" dirty="0"/>
              <a:t>Ghost</a:t>
            </a:r>
            <a:r>
              <a:rPr lang="en-US" altLang="ko-KR" sz="1400" dirty="0"/>
              <a:t> as well as API servers like </a:t>
            </a:r>
            <a:r>
              <a:rPr lang="en-US" altLang="ko-KR" sz="1400" b="1" dirty="0"/>
              <a:t>Parse</a:t>
            </a:r>
            <a:r>
              <a:rPr lang="en-US" altLang="ko-KR" sz="1400" dirty="0"/>
              <a:t>, and we saw how </a:t>
            </a:r>
            <a:r>
              <a:rPr lang="en-US" altLang="ko-KR" sz="1400" b="1" dirty="0"/>
              <a:t>Pod abstraction</a:t>
            </a:r>
            <a:r>
              <a:rPr lang="en-US" altLang="ko-KR" sz="1400" dirty="0"/>
              <a:t> makes it </a:t>
            </a:r>
            <a:r>
              <a:rPr lang="en-US" altLang="ko-KR" sz="1400" b="1" dirty="0"/>
              <a:t>easy to deploy the components that make up a reliable Redis cluster</a:t>
            </a:r>
            <a:r>
              <a:rPr lang="en-US" altLang="ko-KR" sz="1400" dirty="0"/>
              <a:t>. </a:t>
            </a:r>
          </a:p>
          <a:p>
            <a:pPr lvl="1">
              <a:buFont typeface="Wingdings" panose="05000000000000000000" pitchFamily="2" charset="2"/>
              <a:buChar char="§"/>
            </a:pPr>
            <a:r>
              <a:rPr lang="en-US" altLang="ko-KR" sz="1400" dirty="0"/>
              <a:t>Regardless of whether you will actually deploy these applications to production, the examples </a:t>
            </a:r>
            <a:r>
              <a:rPr lang="en-US" altLang="ko-KR" sz="1400" b="1" dirty="0"/>
              <a:t>demonstrated patterns that you can repeat to manage your applications using Kubernetes</a:t>
            </a:r>
            <a:r>
              <a:rPr lang="en-US" altLang="ko-KR" sz="1400" dirty="0"/>
              <a:t>. We hope that seeing the concepts we described in previous tutorials come to life in real-world examples helps you better understand how to make Kubernetes work for you.</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4051900-C4D3-4A58-BA74-4D8293EA0401}"/>
              </a:ext>
            </a:extLst>
          </p:cNvPr>
          <p:cNvPicPr>
            <a:picLocks noChangeAspect="1"/>
          </p:cNvPicPr>
          <p:nvPr/>
        </p:nvPicPr>
        <p:blipFill>
          <a:blip r:embed="rId2"/>
          <a:stretch>
            <a:fillRect/>
          </a:stretch>
        </p:blipFill>
        <p:spPr>
          <a:xfrm>
            <a:off x="3014942" y="2836936"/>
            <a:ext cx="6162116" cy="3572094"/>
          </a:xfrm>
          <a:prstGeom prst="rect">
            <a:avLst/>
          </a:prstGeom>
        </p:spPr>
      </p:pic>
    </p:spTree>
    <p:extLst>
      <p:ext uri="{BB962C8B-B14F-4D97-AF65-F5344CB8AC3E}">
        <p14:creationId xmlns:p14="http://schemas.microsoft.com/office/powerpoint/2010/main" val="18006342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Imperative vs. Declarative Management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Create vs Apply :</a:t>
            </a:r>
          </a:p>
          <a:p>
            <a:pPr lvl="1">
              <a:buFont typeface="Wingdings" panose="05000000000000000000" pitchFamily="2" charset="2"/>
              <a:buChar char="§"/>
            </a:pPr>
            <a:r>
              <a:rPr lang="en-US" altLang="ko-KR" sz="1400" b="1" dirty="0">
                <a:solidFill>
                  <a:srgbClr val="FF0000"/>
                </a:solidFill>
              </a:rPr>
              <a:t>Imperative Management</a:t>
            </a:r>
            <a:r>
              <a:rPr lang="en-US" altLang="ko-KR" sz="1400" b="1" dirty="0"/>
              <a:t> </a:t>
            </a:r>
            <a:r>
              <a:rPr lang="en-US" altLang="ko-KR" sz="1400" dirty="0"/>
              <a:t>- </a:t>
            </a:r>
            <a:r>
              <a:rPr lang="en-US" altLang="ko-KR" sz="1400" b="1" dirty="0"/>
              <a:t>“</a:t>
            </a:r>
            <a:r>
              <a:rPr lang="en-US" altLang="ko-KR" sz="1400" b="1" dirty="0" err="1"/>
              <a:t>kubectl</a:t>
            </a:r>
            <a:r>
              <a:rPr lang="en-US" altLang="ko-KR" sz="1400" b="1" dirty="0"/>
              <a:t> create” is what we call Imperative Management</a:t>
            </a:r>
            <a:r>
              <a:rPr lang="en-US" altLang="ko-KR" sz="1400" dirty="0"/>
              <a:t>. On this approach you tell the Kubernetes API what you want to </a:t>
            </a:r>
            <a:r>
              <a:rPr lang="en-US" altLang="ko-KR" sz="1400" b="1" dirty="0"/>
              <a:t>create</a:t>
            </a:r>
            <a:r>
              <a:rPr lang="en-US" altLang="ko-KR" sz="1400" dirty="0"/>
              <a:t>, </a:t>
            </a:r>
            <a:r>
              <a:rPr lang="en-US" altLang="ko-KR" sz="1400" b="1" dirty="0"/>
              <a:t>replace</a:t>
            </a:r>
            <a:r>
              <a:rPr lang="en-US" altLang="ko-KR" sz="1400" dirty="0"/>
              <a:t> or </a:t>
            </a:r>
            <a:r>
              <a:rPr lang="en-US" altLang="ko-KR" sz="1400" b="1" dirty="0"/>
              <a:t>delete</a:t>
            </a:r>
            <a:r>
              <a:rPr lang="en-US" altLang="ko-KR" sz="1400" dirty="0"/>
              <a:t>, not how you want your K8s cluster world to look like.</a:t>
            </a:r>
          </a:p>
          <a:p>
            <a:pPr lvl="1">
              <a:buFont typeface="Wingdings" panose="05000000000000000000" pitchFamily="2" charset="2"/>
              <a:buChar char="§"/>
            </a:pPr>
            <a:r>
              <a:rPr lang="en-US" altLang="ko-KR" sz="1400" b="1" dirty="0">
                <a:solidFill>
                  <a:srgbClr val="FF0000"/>
                </a:solidFill>
              </a:rPr>
              <a:t>Declarative Management </a:t>
            </a:r>
            <a:r>
              <a:rPr lang="en-US" altLang="ko-KR" sz="1400" dirty="0"/>
              <a:t>- </a:t>
            </a:r>
            <a:r>
              <a:rPr lang="en-US" altLang="ko-KR" sz="1400" b="1" dirty="0"/>
              <a:t>“</a:t>
            </a:r>
            <a:r>
              <a:rPr lang="en-US" altLang="ko-KR" sz="1400" b="1" dirty="0" err="1"/>
              <a:t>kubectl</a:t>
            </a:r>
            <a:r>
              <a:rPr lang="en-US" altLang="ko-KR" sz="1400" b="1" dirty="0"/>
              <a:t> apply” is part of the Declarative Management approach</a:t>
            </a:r>
            <a:r>
              <a:rPr lang="en-US" altLang="ko-KR" sz="1400" dirty="0"/>
              <a:t>, where changes that you may have applied to a live object (i.e. through </a:t>
            </a:r>
            <a:r>
              <a:rPr lang="en-US" altLang="ko-KR" sz="1400" b="1" dirty="0"/>
              <a:t>scale</a:t>
            </a:r>
            <a:r>
              <a:rPr lang="en-US" altLang="ko-KR" sz="1400" dirty="0"/>
              <a:t>) are "</a:t>
            </a:r>
            <a:r>
              <a:rPr lang="en-US" altLang="ko-KR" sz="1400" b="1" dirty="0"/>
              <a:t>maintained</a:t>
            </a:r>
            <a:r>
              <a:rPr lang="en-US" altLang="ko-KR" sz="1400" dirty="0"/>
              <a:t>" even if you apply other changes to the object.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9BE3A59-FAB3-4F3F-8AA8-C294CD689A3C}"/>
              </a:ext>
            </a:extLst>
          </p:cNvPr>
          <p:cNvPicPr>
            <a:picLocks noChangeAspect="1"/>
          </p:cNvPicPr>
          <p:nvPr/>
        </p:nvPicPr>
        <p:blipFill>
          <a:blip r:embed="rId2"/>
          <a:stretch>
            <a:fillRect/>
          </a:stretch>
        </p:blipFill>
        <p:spPr>
          <a:xfrm>
            <a:off x="2619375" y="2425065"/>
            <a:ext cx="6953250" cy="3333750"/>
          </a:xfrm>
          <a:prstGeom prst="rect">
            <a:avLst/>
          </a:prstGeom>
        </p:spPr>
      </p:pic>
    </p:spTree>
    <p:extLst>
      <p:ext uri="{BB962C8B-B14F-4D97-AF65-F5344CB8AC3E}">
        <p14:creationId xmlns:p14="http://schemas.microsoft.com/office/powerpoint/2010/main" val="26878081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1"/>
          </a:xfrm>
        </p:spPr>
        <p:txBody>
          <a:bodyPr>
            <a:normAutofit/>
          </a:bodyPr>
          <a:lstStyle/>
          <a:p>
            <a:pPr marL="0" indent="0">
              <a:buNone/>
            </a:pPr>
            <a:r>
              <a:rPr lang="en-US" altLang="ko-KR" sz="1400" b="1" dirty="0"/>
              <a:t>[1] Kubernetes: Up and Running, Dive into the Future of Infrastructure, Brendan Burns, Joe Beda, and Kelsey Hightower, </a:t>
            </a:r>
            <a:r>
              <a:rPr lang="en-US" altLang="ko-KR" sz="1400" b="1" dirty="0" err="1"/>
              <a:t>Oreilly</a:t>
            </a:r>
            <a:r>
              <a:rPr lang="en-US" altLang="ko-KR" sz="1400" b="1" dirty="0"/>
              <a:t>, 2</a:t>
            </a:r>
            <a:r>
              <a:rPr lang="en-US" altLang="ko-KR" sz="1400" b="1" baseline="30000" dirty="0"/>
              <a:t>nd</a:t>
            </a:r>
            <a:r>
              <a:rPr lang="en-US" altLang="ko-KR" sz="1400" b="1" dirty="0"/>
              <a:t> Edition, 2019. </a:t>
            </a:r>
          </a:p>
          <a:p>
            <a:pPr marL="0" indent="0">
              <a:buNone/>
            </a:pPr>
            <a:r>
              <a:rPr lang="en-US" altLang="ko-KR" sz="1400" b="1" dirty="0"/>
              <a:t>[2] </a:t>
            </a:r>
            <a:r>
              <a:rPr lang="en-US" altLang="ko-KR" sz="1400" b="1" dirty="0">
                <a:hlinkClick r:id="rId2"/>
              </a:rPr>
              <a:t>https://github.com/kubernetes-up-and-running</a:t>
            </a:r>
            <a:endParaRPr lang="en-US" altLang="ko-KR" sz="1400" b="1" dirty="0"/>
          </a:p>
          <a:p>
            <a:pPr marL="0" indent="0">
              <a:buNone/>
            </a:pPr>
            <a:r>
              <a:rPr lang="en-US" altLang="ko-KR" sz="1400" b="1" dirty="0"/>
              <a:t>[3] </a:t>
            </a:r>
            <a:r>
              <a:rPr lang="en-US" altLang="ko-KR" sz="1400" b="1" dirty="0">
                <a:hlinkClick r:id="rId3"/>
              </a:rPr>
              <a:t>https://kubernetes.io/docs/tasks/extend-kubernetes/custom-resources/custom-resource-definitions/</a:t>
            </a:r>
            <a:endParaRPr lang="en-US" altLang="ko-KR" sz="1400" b="1" dirty="0"/>
          </a:p>
          <a:p>
            <a:pPr marL="0" indent="0">
              <a:buNone/>
            </a:pPr>
            <a:r>
              <a:rPr lang="en-US" altLang="ko-KR" sz="1400" b="1" dirty="0"/>
              <a:t>[4] </a:t>
            </a:r>
            <a:r>
              <a:rPr lang="en-US" altLang="ko-KR" sz="1400" b="1" dirty="0">
                <a:hlinkClick r:id="rId4"/>
              </a:rPr>
              <a:t>https://github.com/OAI/OpenAPI-Specification/blob/main/versions/3.0.0.md</a:t>
            </a:r>
            <a:endParaRPr lang="en-US" altLang="ko-KR" sz="1400" b="1" dirty="0"/>
          </a:p>
          <a:p>
            <a:pPr marL="0" indent="0">
              <a:buNone/>
            </a:pPr>
            <a:r>
              <a:rPr lang="en-US" altLang="ko-KR" sz="1400" b="1" dirty="0"/>
              <a:t>[5] </a:t>
            </a:r>
            <a:r>
              <a:rPr lang="en-US" altLang="ko-KR" sz="1400" b="1" dirty="0">
                <a:hlinkClick r:id="rId5"/>
              </a:rPr>
              <a:t>https://kubernetes.io/docs/reference/access-authn-authz/extensible-admission-controllers/</a:t>
            </a:r>
            <a:r>
              <a:rPr lang="en-US" altLang="ko-KR" sz="1400" b="1" dirty="0"/>
              <a:t> </a:t>
            </a:r>
          </a:p>
          <a:p>
            <a:pPr marL="0" indent="0">
              <a:buNone/>
            </a:pPr>
            <a:r>
              <a:rPr lang="en-US" altLang="ko-KR" sz="1400" b="1" dirty="0"/>
              <a:t>[6] </a:t>
            </a:r>
            <a:r>
              <a:rPr lang="en-US" altLang="ko-KR" sz="1400" b="1" dirty="0">
                <a:hlinkClick r:id="rId6"/>
              </a:rPr>
              <a:t>https://www.pulumi.com/registry/packages/kubernetes/api-docs/admissionregistration/v1/validatingwebhookconfiguration/</a:t>
            </a:r>
            <a:r>
              <a:rPr lang="en-US" altLang="ko-KR" sz="1400" b="1" dirty="0"/>
              <a:t> </a:t>
            </a:r>
          </a:p>
          <a:p>
            <a:pPr marL="0" indent="0">
              <a:buNone/>
            </a:pPr>
            <a:r>
              <a:rPr lang="en-US" altLang="ko-KR" sz="1400" b="1" dirty="0"/>
              <a:t>[7] </a:t>
            </a:r>
            <a:r>
              <a:rPr lang="en-US" altLang="ko-KR" sz="1400" b="1" dirty="0">
                <a:hlinkClick r:id="rId7"/>
              </a:rPr>
              <a:t>https://kubernetes.io/docs/reference/access-authn-authz/certificate-signing-requests/</a:t>
            </a:r>
            <a:endParaRPr lang="en-US" altLang="ko-KR" sz="1400" b="1" dirty="0"/>
          </a:p>
          <a:p>
            <a:pPr marL="0" indent="0">
              <a:buNone/>
            </a:pPr>
            <a:r>
              <a:rPr lang="en-US" altLang="ko-KR" sz="1400" b="1" dirty="0"/>
              <a:t>[8] </a:t>
            </a:r>
            <a:r>
              <a:rPr lang="en-US" altLang="ko-KR" sz="1400" b="1" dirty="0">
                <a:hlinkClick r:id="rId8"/>
              </a:rPr>
              <a:t>https://fixes.co.za/kubernetes/kubernetes-up-and-running/</a:t>
            </a:r>
            <a:r>
              <a:rPr lang="en-US" altLang="ko-KR" sz="1400" b="1" dirty="0"/>
              <a:t> </a:t>
            </a:r>
          </a:p>
          <a:p>
            <a:pPr marL="0" indent="0">
              <a:buNone/>
            </a:pPr>
            <a:r>
              <a:rPr lang="en-US" altLang="ko-KR" sz="1400" b="1" dirty="0"/>
              <a:t>[9] </a:t>
            </a:r>
            <a:r>
              <a:rPr lang="en-US" altLang="ko-KR" sz="1400" b="1" dirty="0">
                <a:hlinkClick r:id="rId9"/>
              </a:rPr>
              <a:t>https://help.hcltechsw.com/domino/11.0.0/conf_keyusageextensionsandextendedkeyusage_r.html</a:t>
            </a:r>
            <a:r>
              <a:rPr lang="en-US" altLang="ko-KR" sz="1400" b="1" dirty="0"/>
              <a:t> </a:t>
            </a:r>
          </a:p>
          <a:p>
            <a:pPr marL="0" indent="0">
              <a:buNone/>
            </a:pPr>
            <a:r>
              <a:rPr lang="en-US" altLang="ko-KR" sz="1400" b="1" dirty="0"/>
              <a:t>[10] </a:t>
            </a:r>
            <a:r>
              <a:rPr lang="en-US" altLang="ko-KR" sz="1400" b="1" dirty="0">
                <a:hlinkClick r:id="rId10"/>
              </a:rPr>
              <a:t>https://happycloud-lee.tistory.com/68</a:t>
            </a:r>
            <a:endParaRPr lang="en-US" altLang="ko-KR" sz="1400" b="1" dirty="0"/>
          </a:p>
          <a:p>
            <a:pPr marL="0" indent="0">
              <a:buNone/>
            </a:pPr>
            <a:r>
              <a:rPr lang="en-US" altLang="ko-KR" sz="1400" b="1" dirty="0"/>
              <a:t>[11] </a:t>
            </a:r>
            <a:r>
              <a:rPr lang="en-US" altLang="ko-KR" sz="1400" b="1" dirty="0">
                <a:hlinkClick r:id="rId11"/>
              </a:rPr>
              <a:t>https://schoolofdevops.github.io/ultimate-kubernetes-bootcamp/13_redis_statefulset/</a:t>
            </a:r>
            <a:endParaRPr lang="en-US" altLang="ko-KR" sz="1400" b="1" dirty="0"/>
          </a:p>
          <a:p>
            <a:pPr marL="0" indent="0">
              <a:buNone/>
            </a:pPr>
            <a:r>
              <a:rPr lang="en-US" altLang="ko-KR" sz="1400" b="1" dirty="0"/>
              <a:t>[12] </a:t>
            </a:r>
            <a:r>
              <a:rPr lang="en-US" altLang="ko-KR" sz="1400" b="1" dirty="0">
                <a:hlinkClick r:id="rId12"/>
              </a:rPr>
              <a:t>https://github.com/schoolofdevops/k8s-code/tree/master/projects/instavote/dev/redis-sts</a:t>
            </a:r>
            <a:r>
              <a:rPr lang="en-US" altLang="ko-KR" sz="1400" b="1" dirty="0"/>
              <a:t> </a:t>
            </a:r>
          </a:p>
          <a:p>
            <a:pPr marL="0" indent="0">
              <a:buNone/>
            </a:pPr>
            <a:r>
              <a:rPr lang="en-US" altLang="ko-KR" sz="1400" b="1" dirty="0"/>
              <a:t>[13] </a:t>
            </a:r>
            <a:r>
              <a:rPr lang="en-US" altLang="ko-KR" sz="1400" b="1" dirty="0">
                <a:hlinkClick r:id="rId13"/>
              </a:rPr>
              <a:t>https://github.com/bdimcheff/rediskube</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F9582E8-13A6-4248-A570-E642AB1BB67D}"/>
              </a:ext>
            </a:extLst>
          </p:cNvPr>
          <p:cNvPicPr>
            <a:picLocks noChangeAspect="1"/>
          </p:cNvPicPr>
          <p:nvPr/>
        </p:nvPicPr>
        <p:blipFill>
          <a:blip r:embed="rId14"/>
          <a:stretch>
            <a:fillRect/>
          </a:stretch>
        </p:blipFill>
        <p:spPr>
          <a:xfrm>
            <a:off x="9770319" y="4282440"/>
            <a:ext cx="1583481" cy="2073903"/>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2026-08-23</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136909</TotalTime>
  <Words>15602</Words>
  <Application>Microsoft Office PowerPoint</Application>
  <PresentationFormat>와이드스크린</PresentationFormat>
  <Paragraphs>1824</Paragraphs>
  <Slides>106</Slides>
  <Notes>0</Notes>
  <HiddenSlides>0</HiddenSlides>
  <MMClips>0</MMClips>
  <ScaleCrop>false</ScaleCrop>
  <HeadingPairs>
    <vt:vector size="8" baseType="variant">
      <vt:variant>
        <vt:lpstr>사용한 글꼴</vt:lpstr>
      </vt:variant>
      <vt:variant>
        <vt:i4>3</vt:i4>
      </vt:variant>
      <vt:variant>
        <vt:lpstr>테마</vt:lpstr>
      </vt:variant>
      <vt:variant>
        <vt:i4>1</vt:i4>
      </vt:variant>
      <vt:variant>
        <vt:lpstr>포함된 OLE 서버</vt:lpstr>
      </vt:variant>
      <vt:variant>
        <vt:i4>1</vt:i4>
      </vt:variant>
      <vt:variant>
        <vt:lpstr>슬라이드 제목</vt:lpstr>
      </vt:variant>
      <vt:variant>
        <vt:i4>106</vt:i4>
      </vt:variant>
    </vt:vector>
  </HeadingPairs>
  <TitlesOfParts>
    <vt:vector size="111" baseType="lpstr">
      <vt:lpstr>맑은 고딕</vt:lpstr>
      <vt:lpstr>Arial</vt:lpstr>
      <vt:lpstr>Wingdings</vt:lpstr>
      <vt:lpstr>Office 테마</vt:lpstr>
      <vt:lpstr>비트맵 이미지</vt:lpstr>
      <vt:lpstr>Kubernetes</vt:lpstr>
      <vt:lpstr>Integrating Storage Solutions and Kubernetes</vt:lpstr>
      <vt:lpstr>Introduction(1/2)</vt:lpstr>
      <vt:lpstr>Introduction(2/2)</vt:lpstr>
      <vt:lpstr>Importing External Services(1/8)</vt:lpstr>
      <vt:lpstr>Importing External Services(2/8)</vt:lpstr>
      <vt:lpstr>Importing External Services(3/8)</vt:lpstr>
      <vt:lpstr>Importing External Services(4/8)</vt:lpstr>
      <vt:lpstr>Importing External Services(5/8)</vt:lpstr>
      <vt:lpstr>Importing External Services(6/8)</vt:lpstr>
      <vt:lpstr>Importing External Services(7/8)</vt:lpstr>
      <vt:lpstr>Importing External Services(8/8)</vt:lpstr>
      <vt:lpstr>Running Reliable Singletons(1/10)</vt:lpstr>
      <vt:lpstr>Running Reliable Singletons(2/10)</vt:lpstr>
      <vt:lpstr>Running Reliable Singletons(3/10)</vt:lpstr>
      <vt:lpstr>Running Reliable Singletons(4/10)</vt:lpstr>
      <vt:lpstr>Running Reliable Singletons(5/10)</vt:lpstr>
      <vt:lpstr>Running Reliable Singletons(6/10)</vt:lpstr>
      <vt:lpstr>Running Reliable Singletons(7/10)</vt:lpstr>
      <vt:lpstr>NOTE : Running All Together</vt:lpstr>
      <vt:lpstr>Running Reliable Singletons(8/10)</vt:lpstr>
      <vt:lpstr>Running Reliable Singletons(9/10)</vt:lpstr>
      <vt:lpstr>Running Reliable Singletons(10/10)</vt:lpstr>
      <vt:lpstr>Kubernetes-Native Storage with StatefulSets(1/15)</vt:lpstr>
      <vt:lpstr>Kubernetes-Native Storage with StatefulSets(2/15)</vt:lpstr>
      <vt:lpstr>Kubernetes-Native Storage with StatefulSets(3/15)</vt:lpstr>
      <vt:lpstr>Kubernetes-Native Storage with StatefulSets(4/15)</vt:lpstr>
      <vt:lpstr>Kubernetes-Native Storage with StatefulSets(5/15)</vt:lpstr>
      <vt:lpstr>NOTE : The “Mongo” Service</vt:lpstr>
      <vt:lpstr>Kubernetes-Native Storage with StatefulSets(6/15)</vt:lpstr>
      <vt:lpstr>Kubernetes-Native Storage with StatefulSets(7/15)</vt:lpstr>
      <vt:lpstr>Kubernetes-Native Storage with StatefulSets(8/15)</vt:lpstr>
      <vt:lpstr>Kubernetes-Native Storage with StatefulSets(9/15)</vt:lpstr>
      <vt:lpstr>Kubernetes-Native Storage with StatefulSets(10/15)</vt:lpstr>
      <vt:lpstr>Kubernetes-Native Storage with StatefulSets(11/15)</vt:lpstr>
      <vt:lpstr>Kubernetes-Native Storage with StatefulSets(12/15)</vt:lpstr>
      <vt:lpstr>Kubernetes-Native Storage with StatefulSets(13/15)</vt:lpstr>
      <vt:lpstr>Kubernetes-Native Storage with StatefulSets(14/15)</vt:lpstr>
      <vt:lpstr>Kubernetes-Native Storage with StatefulSets(15/15)</vt:lpstr>
      <vt:lpstr>NOTE : Summary</vt:lpstr>
      <vt:lpstr>Extending Kubernetes</vt:lpstr>
      <vt:lpstr>Introduction</vt:lpstr>
      <vt:lpstr>What It Means to Extend Kubernetes</vt:lpstr>
      <vt:lpstr>Points of Extensibility(1/18)</vt:lpstr>
      <vt:lpstr>Points of Extensibility(2/18)</vt:lpstr>
      <vt:lpstr>Points of Extensibility(3/18)</vt:lpstr>
      <vt:lpstr>Points of Extensibility(4/18)</vt:lpstr>
      <vt:lpstr>Points of Extensibility(5/18)</vt:lpstr>
      <vt:lpstr>Points of Extensibility(6/18)</vt:lpstr>
      <vt:lpstr>Points of Extensibility(7/18)</vt:lpstr>
      <vt:lpstr>NOTE : Using Custom Resource Definition</vt:lpstr>
      <vt:lpstr>Points of Extensibility(8/18)</vt:lpstr>
      <vt:lpstr>Points of Extensibility(9/18)</vt:lpstr>
      <vt:lpstr>Points of Extensibility(10/18)</vt:lpstr>
      <vt:lpstr>Points of Extensibility(11/18)</vt:lpstr>
      <vt:lpstr>NOTE : Kubernetes API Versions</vt:lpstr>
      <vt:lpstr>Points of Extensibility(12/18)</vt:lpstr>
      <vt:lpstr>NOTE : Client Configuration in Webhook </vt:lpstr>
      <vt:lpstr>Points of Extensibility(13/18)</vt:lpstr>
      <vt:lpstr>Points of Extensibility(14/18)</vt:lpstr>
      <vt:lpstr>NOTE : Running Golang CSR Program</vt:lpstr>
      <vt:lpstr>NOTE : Installing Golang</vt:lpstr>
      <vt:lpstr>Points of Extensibility(15/18)</vt:lpstr>
      <vt:lpstr>Points of Extensibility(16/18)</vt:lpstr>
      <vt:lpstr>Points of Extensibility(17/18)</vt:lpstr>
      <vt:lpstr>Points of Extensibility(18/18)</vt:lpstr>
      <vt:lpstr>Patterns for Custom Resources(1/4)</vt:lpstr>
      <vt:lpstr>Patterns for Custom Resources(2/4)</vt:lpstr>
      <vt:lpstr>Patterns for Custom Resources(3/4)</vt:lpstr>
      <vt:lpstr>Patterns for Custom Resources(4/4)</vt:lpstr>
      <vt:lpstr>NOTE : Summary</vt:lpstr>
      <vt:lpstr>Deploying Real-World Applications</vt:lpstr>
      <vt:lpstr>Jupyter(1/6)</vt:lpstr>
      <vt:lpstr>Jupyter(2/6)</vt:lpstr>
      <vt:lpstr>Jupyter(3/6)</vt:lpstr>
      <vt:lpstr>Jupyter(4/6)</vt:lpstr>
      <vt:lpstr>Jupyter(5/6)</vt:lpstr>
      <vt:lpstr>Jupyter(6/6)</vt:lpstr>
      <vt:lpstr>Parse(1/4)</vt:lpstr>
      <vt:lpstr>Parse(2/4)</vt:lpstr>
      <vt:lpstr>NOTE : Docker Hub</vt:lpstr>
      <vt:lpstr>NOTE : Docker Image</vt:lpstr>
      <vt:lpstr>Parse(3/4)</vt:lpstr>
      <vt:lpstr>Parse(4/4)</vt:lpstr>
      <vt:lpstr>Ghost(1/13)</vt:lpstr>
      <vt:lpstr>Ghost(2/13)</vt:lpstr>
      <vt:lpstr>Ghost(3/13)</vt:lpstr>
      <vt:lpstr>Ghost(4/13)</vt:lpstr>
      <vt:lpstr>Ghost(5/13)</vt:lpstr>
      <vt:lpstr>Ghost(6/13)</vt:lpstr>
      <vt:lpstr>Ghost(7/13)</vt:lpstr>
      <vt:lpstr>Ghost(8/13)</vt:lpstr>
      <vt:lpstr>Ghost(9/13)</vt:lpstr>
      <vt:lpstr>Ghost(10/13)</vt:lpstr>
      <vt:lpstr>Ghost(11/13)</vt:lpstr>
      <vt:lpstr>Ghost(12/13)</vt:lpstr>
      <vt:lpstr>Ghost(13/13)</vt:lpstr>
      <vt:lpstr>Redis(1/4)</vt:lpstr>
      <vt:lpstr>Redis(2/4)</vt:lpstr>
      <vt:lpstr>Redis(3/4)</vt:lpstr>
      <vt:lpstr>Redis(4/4)</vt:lpstr>
      <vt:lpstr>NOTE : Redis Deployment</vt:lpstr>
      <vt:lpstr>NOTE : Summary</vt:lpstr>
      <vt:lpstr>NOTE : Imperative vs. Declarative Management</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6021</cp:revision>
  <dcterms:created xsi:type="dcterms:W3CDTF">2020-11-26T08:00:10Z</dcterms:created>
  <dcterms:modified xsi:type="dcterms:W3CDTF">2026-08-23T05:42:23Z</dcterms:modified>
</cp:coreProperties>
</file>