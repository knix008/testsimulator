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7"/>
  </p:notesMasterIdLst>
  <p:sldIdLst>
    <p:sldId id="256" r:id="rId2"/>
    <p:sldId id="776" r:id="rId3"/>
    <p:sldId id="1138" r:id="rId4"/>
    <p:sldId id="1139" r:id="rId5"/>
    <p:sldId id="1140" r:id="rId6"/>
    <p:sldId id="1141" r:id="rId7"/>
    <p:sldId id="1142" r:id="rId8"/>
    <p:sldId id="1143" r:id="rId9"/>
    <p:sldId id="1144" r:id="rId10"/>
    <p:sldId id="1145" r:id="rId11"/>
    <p:sldId id="1146" r:id="rId12"/>
    <p:sldId id="1147" r:id="rId13"/>
    <p:sldId id="1148" r:id="rId14"/>
    <p:sldId id="1149" r:id="rId15"/>
    <p:sldId id="1150" r:id="rId16"/>
    <p:sldId id="1151" r:id="rId17"/>
    <p:sldId id="1152" r:id="rId18"/>
    <p:sldId id="1153" r:id="rId19"/>
    <p:sldId id="1154" r:id="rId20"/>
    <p:sldId id="1155" r:id="rId21"/>
    <p:sldId id="1156" r:id="rId22"/>
    <p:sldId id="1157" r:id="rId23"/>
    <p:sldId id="1158" r:id="rId24"/>
    <p:sldId id="1159" r:id="rId25"/>
    <p:sldId id="1160" r:id="rId26"/>
    <p:sldId id="1161" r:id="rId27"/>
    <p:sldId id="1162" r:id="rId28"/>
    <p:sldId id="1163" r:id="rId29"/>
    <p:sldId id="1164" r:id="rId30"/>
    <p:sldId id="1165" r:id="rId31"/>
    <p:sldId id="1166" r:id="rId32"/>
    <p:sldId id="1167" r:id="rId33"/>
    <p:sldId id="1168" r:id="rId34"/>
    <p:sldId id="1169" r:id="rId35"/>
    <p:sldId id="1170" r:id="rId36"/>
    <p:sldId id="1171" r:id="rId37"/>
    <p:sldId id="1172" r:id="rId38"/>
    <p:sldId id="1173" r:id="rId39"/>
    <p:sldId id="1174" r:id="rId40"/>
    <p:sldId id="1175" r:id="rId41"/>
    <p:sldId id="1176" r:id="rId42"/>
    <p:sldId id="1177" r:id="rId43"/>
    <p:sldId id="1178" r:id="rId44"/>
    <p:sldId id="1179" r:id="rId45"/>
    <p:sldId id="1198" r:id="rId46"/>
    <p:sldId id="1180" r:id="rId47"/>
    <p:sldId id="1181" r:id="rId48"/>
    <p:sldId id="1182" r:id="rId49"/>
    <p:sldId id="1183" r:id="rId50"/>
    <p:sldId id="1184" r:id="rId51"/>
    <p:sldId id="1185" r:id="rId52"/>
    <p:sldId id="1186" r:id="rId53"/>
    <p:sldId id="1187" r:id="rId54"/>
    <p:sldId id="1188" r:id="rId55"/>
    <p:sldId id="1189" r:id="rId56"/>
    <p:sldId id="1190" r:id="rId57"/>
    <p:sldId id="1191" r:id="rId58"/>
    <p:sldId id="1192" r:id="rId59"/>
    <p:sldId id="1193" r:id="rId60"/>
    <p:sldId id="1194" r:id="rId61"/>
    <p:sldId id="1195" r:id="rId62"/>
    <p:sldId id="1196" r:id="rId63"/>
    <p:sldId id="1197" r:id="rId64"/>
    <p:sldId id="1199" r:id="rId65"/>
    <p:sldId id="1200" r:id="rId66"/>
    <p:sldId id="1201" r:id="rId67"/>
    <p:sldId id="1202" r:id="rId68"/>
    <p:sldId id="1203" r:id="rId69"/>
    <p:sldId id="1204" r:id="rId70"/>
    <p:sldId id="1205" r:id="rId71"/>
    <p:sldId id="1206" r:id="rId72"/>
    <p:sldId id="1207" r:id="rId73"/>
    <p:sldId id="1208" r:id="rId74"/>
    <p:sldId id="1209" r:id="rId75"/>
    <p:sldId id="1210" r:id="rId76"/>
    <p:sldId id="1211" r:id="rId77"/>
    <p:sldId id="1212" r:id="rId78"/>
    <p:sldId id="1213" r:id="rId79"/>
    <p:sldId id="1214" r:id="rId80"/>
    <p:sldId id="1215" r:id="rId81"/>
    <p:sldId id="1216" r:id="rId82"/>
    <p:sldId id="1217" r:id="rId83"/>
    <p:sldId id="1218" r:id="rId84"/>
    <p:sldId id="1219" r:id="rId85"/>
    <p:sldId id="1220" r:id="rId86"/>
    <p:sldId id="1221" r:id="rId87"/>
    <p:sldId id="1222" r:id="rId88"/>
    <p:sldId id="1223" r:id="rId89"/>
    <p:sldId id="1224" r:id="rId90"/>
    <p:sldId id="1251" r:id="rId91"/>
    <p:sldId id="1247" r:id="rId92"/>
    <p:sldId id="1248" r:id="rId93"/>
    <p:sldId id="1249" r:id="rId94"/>
    <p:sldId id="1225" r:id="rId95"/>
    <p:sldId id="1226" r:id="rId96"/>
    <p:sldId id="1227" r:id="rId97"/>
    <p:sldId id="1230" r:id="rId98"/>
    <p:sldId id="1231" r:id="rId99"/>
    <p:sldId id="1232" r:id="rId100"/>
    <p:sldId id="1233" r:id="rId101"/>
    <p:sldId id="1234" r:id="rId102"/>
    <p:sldId id="1235" r:id="rId103"/>
    <p:sldId id="1236" r:id="rId104"/>
    <p:sldId id="1237" r:id="rId105"/>
    <p:sldId id="1238" r:id="rId106"/>
    <p:sldId id="1239" r:id="rId107"/>
    <p:sldId id="1240" r:id="rId108"/>
    <p:sldId id="1241" r:id="rId109"/>
    <p:sldId id="1242" r:id="rId110"/>
    <p:sldId id="1243" r:id="rId111"/>
    <p:sldId id="1244" r:id="rId112"/>
    <p:sldId id="1245" r:id="rId113"/>
    <p:sldId id="1246" r:id="rId114"/>
    <p:sldId id="281" r:id="rId115"/>
    <p:sldId id="259" r:id="rId11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4" autoAdjust="0"/>
    <p:restoredTop sz="94660"/>
  </p:normalViewPr>
  <p:slideViewPr>
    <p:cSldViewPr snapToGrid="0">
      <p:cViewPr varScale="1">
        <p:scale>
          <a:sx n="116" d="100"/>
          <a:sy n="116" d="100"/>
        </p:scale>
        <p:origin x="120" y="54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commentAuthors" Target="commen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zipkin.i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localhost:8080/" TargetMode="Externa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quay.io/" TargetMode="External"/><Relationship Id="rId2" Type="http://schemas.openxmlformats.org/officeDocument/2006/relationships/hyperlink" Target="http://hub.docker.com/" TargetMode="Externa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hyperlink" Target="https://cloud.google.com/container-registry"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github.com/kubernetes/kops" TargetMode="External"/><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minikube.sigs.k8s.io/docs/start/" TargetMode="External"/><Relationship Id="rId2" Type="http://schemas.openxmlformats.org/officeDocument/2006/relationships/hyperlink" Target="http://github.com/kubernetes/minikube"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hyperlink" Target="https://kubernetes.io/docs/tasks/tools/install-kubectl-macos/"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hyperlink" Target="http://localhost:8080/" TargetMode="Externa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8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hyperlink" Target="http://localhost:8080/"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hyperlink" Target="https://kubernetes.io/docs/tasks/access-application-cluster/web-ui-dashboard/"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hyperlink" Target="https://kind.sigs.k8s.io/docs/user/quick-start/#installation"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I</a:t>
            </a:r>
          </a:p>
          <a:p>
            <a:endParaRPr lang="en-US" altLang="ko-KR" b="1" dirty="0"/>
          </a:p>
          <a:p>
            <a:r>
              <a:rPr lang="en-US" altLang="ko-KR" sz="2000" b="1" dirty="0"/>
              <a:t>2026.08.25</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Introduction</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Kubernetes?(1/2)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Microservices :</a:t>
            </a:r>
          </a:p>
          <a:p>
            <a:pPr lvl="1">
              <a:buFont typeface="Wingdings" panose="05000000000000000000" pitchFamily="2" charset="2"/>
              <a:buChar char="§"/>
            </a:pPr>
            <a:r>
              <a:rPr lang="en-US" altLang="ko-KR" sz="1400" b="1" dirty="0"/>
              <a:t>Years ago, most software applications were big monoliths, running either as a single process or as a small number of processes spread across a handful of servers</a:t>
            </a:r>
            <a:r>
              <a:rPr lang="en-US" altLang="ko-KR" sz="1400" dirty="0"/>
              <a:t>. These legacy systems are still widespread today. </a:t>
            </a:r>
            <a:r>
              <a:rPr lang="en-US" altLang="ko-KR" sz="1400" b="1" dirty="0"/>
              <a:t>They have slow release cycles and are updated relatively infrequently</a:t>
            </a:r>
            <a:r>
              <a:rPr lang="en-US" altLang="ko-KR" sz="1400" dirty="0"/>
              <a:t>. At the end of every release cycle, developers package up the whole system and hand it over to the ops team, who then deploys and monitors it. In case of hardware failures, the ops team </a:t>
            </a:r>
            <a:r>
              <a:rPr lang="en-US" altLang="ko-KR" sz="1400" b="1" dirty="0"/>
              <a:t>manually migrates it to the remaining healthy servers</a:t>
            </a:r>
            <a:r>
              <a:rPr lang="en-US" altLang="ko-KR" sz="1400" dirty="0"/>
              <a:t>.</a:t>
            </a:r>
          </a:p>
          <a:p>
            <a:pPr lvl="1">
              <a:buFont typeface="Wingdings" panose="05000000000000000000" pitchFamily="2" charset="2"/>
              <a:buChar char="§"/>
            </a:pPr>
            <a:r>
              <a:rPr lang="en-US" altLang="ko-KR" sz="1400" b="1" dirty="0"/>
              <a:t>Today, these big monolithic legacy applications are slowly being broken down into smaller, independently running components called </a:t>
            </a:r>
            <a:r>
              <a:rPr lang="en-US" altLang="ko-KR" sz="1400" b="1" dirty="0">
                <a:solidFill>
                  <a:srgbClr val="FF0000"/>
                </a:solidFill>
              </a:rPr>
              <a:t>microservices</a:t>
            </a:r>
            <a:r>
              <a:rPr lang="en-US" altLang="ko-KR" sz="1400" b="1" dirty="0"/>
              <a:t>.</a:t>
            </a:r>
            <a:r>
              <a:rPr lang="en-US" altLang="ko-KR" sz="1400" dirty="0"/>
              <a:t> Because microservices are </a:t>
            </a:r>
            <a:r>
              <a:rPr lang="en-US" altLang="ko-KR" sz="1400" b="1" dirty="0"/>
              <a:t>decoupled from each other</a:t>
            </a:r>
            <a:r>
              <a:rPr lang="en-US" altLang="ko-KR" sz="1400" dirty="0"/>
              <a:t>, </a:t>
            </a:r>
            <a:r>
              <a:rPr lang="en-US" altLang="ko-KR" sz="1400" b="1" dirty="0"/>
              <a:t>they can be developed, deployed, updated, and scaled individually</a:t>
            </a:r>
            <a:r>
              <a:rPr lang="en-US" altLang="ko-KR" sz="1400" dirty="0"/>
              <a:t>. This enables you to change components quickly and as often as necessary to </a:t>
            </a:r>
            <a:r>
              <a:rPr lang="en-US" altLang="ko-KR" sz="1400" b="1" dirty="0"/>
              <a:t>keep up with today’s rapidly changing business requirements</a:t>
            </a:r>
            <a:r>
              <a:rPr lang="en-US" altLang="ko-KR" sz="1400" dirty="0"/>
              <a:t>. But with bigger numbers of deployable components and increasingly larger datacenters, it becomes increasingly difficult to configure, manage, and keep the whole system running smoothly. It’s much harder to figure out where to put each of those components </a:t>
            </a:r>
            <a:r>
              <a:rPr lang="en-US" altLang="ko-KR" sz="1400" b="1" dirty="0"/>
              <a:t>to achieve high resource utilization </a:t>
            </a:r>
            <a:r>
              <a:rPr lang="en-US" altLang="ko-KR" sz="1400" dirty="0"/>
              <a:t>and thereby </a:t>
            </a:r>
            <a:r>
              <a:rPr lang="en-US" altLang="ko-KR" sz="1400" b="1" dirty="0"/>
              <a:t>keep the hardware costs down</a:t>
            </a:r>
            <a:r>
              <a:rPr lang="en-US" altLang="ko-KR" sz="1400" dirty="0"/>
              <a:t>. Doing all this manually is hard work. </a:t>
            </a:r>
            <a:r>
              <a:rPr lang="en-US" altLang="ko-KR" sz="1400" b="1" dirty="0"/>
              <a:t>We need automation, which includes </a:t>
            </a:r>
            <a:r>
              <a:rPr lang="en-US" altLang="ko-KR" sz="1400" b="1" dirty="0">
                <a:solidFill>
                  <a:srgbClr val="FF0000"/>
                </a:solidFill>
              </a:rPr>
              <a:t>automatic scheduling</a:t>
            </a:r>
            <a:r>
              <a:rPr lang="en-US" altLang="ko-KR" sz="1400" b="1" dirty="0"/>
              <a:t> of those components to our servers, </a:t>
            </a:r>
            <a:r>
              <a:rPr lang="en-US" altLang="ko-KR" sz="1400" b="1" dirty="0">
                <a:solidFill>
                  <a:srgbClr val="FF0000"/>
                </a:solidFill>
              </a:rPr>
              <a:t>automatic configuration</a:t>
            </a:r>
            <a:r>
              <a:rPr lang="en-US" altLang="ko-KR" sz="1400" b="1" dirty="0"/>
              <a:t>, </a:t>
            </a:r>
            <a:r>
              <a:rPr lang="en-US" altLang="ko-KR" sz="1400" b="1" dirty="0">
                <a:solidFill>
                  <a:srgbClr val="FF0000"/>
                </a:solidFill>
              </a:rPr>
              <a:t>supervision</a:t>
            </a:r>
            <a:r>
              <a:rPr lang="en-US" altLang="ko-KR" sz="1400" b="1" dirty="0"/>
              <a:t>, and </a:t>
            </a:r>
            <a:r>
              <a:rPr lang="en-US" altLang="ko-KR" sz="1400" b="1" dirty="0">
                <a:solidFill>
                  <a:srgbClr val="FF0000"/>
                </a:solidFill>
              </a:rPr>
              <a:t>failure-handling</a:t>
            </a:r>
            <a:r>
              <a:rPr lang="en-US" altLang="ko-KR" sz="1400" dirty="0"/>
              <a:t>. This is where Kubernetes comes in. </a:t>
            </a:r>
          </a:p>
          <a:p>
            <a:pPr lvl="1">
              <a:buFont typeface="Wingdings" panose="05000000000000000000" pitchFamily="2" charset="2"/>
              <a:buChar char="§"/>
            </a:pPr>
            <a:r>
              <a:rPr lang="en-US" altLang="ko-KR" sz="1400" b="1" dirty="0"/>
              <a:t>Kubernetes enables developers to deploy their applications themselves and as often as they want, without requiring any assistance from the operations (ops) team</a:t>
            </a:r>
            <a:r>
              <a:rPr lang="en-US" altLang="ko-KR" sz="1400" dirty="0"/>
              <a:t>. But Kubernetes doesn’t benefit only developers. It also </a:t>
            </a:r>
            <a:r>
              <a:rPr lang="en-US" altLang="ko-KR" sz="1400" b="1" dirty="0"/>
              <a:t>helps the ops team by automatically monitoring and rescheduling those apps in the event of a hardware failure</a:t>
            </a:r>
            <a:r>
              <a:rPr lang="en-US" altLang="ko-KR" sz="1400" dirty="0"/>
              <a:t>. </a:t>
            </a:r>
            <a:r>
              <a:rPr lang="en-US" altLang="ko-KR" sz="1400" b="1" dirty="0"/>
              <a:t>The focus for system administrators (sysadmins) </a:t>
            </a:r>
            <a:r>
              <a:rPr lang="en-US" altLang="ko-KR" sz="1400" b="1" dirty="0">
                <a:solidFill>
                  <a:srgbClr val="FF0000"/>
                </a:solidFill>
              </a:rPr>
              <a:t>shifts from supervising individual apps to mostly supervising and managing Kubernetes and the rest of the infrastructure</a:t>
            </a:r>
            <a:r>
              <a:rPr lang="en-US" altLang="ko-KR" sz="1400" dirty="0"/>
              <a:t>, while Kubernetes itself takes care of the apps.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3B15A35-EBD1-2322-08AD-E9C868E8C096}"/>
              </a:ext>
            </a:extLst>
          </p:cNvPr>
          <p:cNvPicPr>
            <a:picLocks noChangeAspect="1"/>
          </p:cNvPicPr>
          <p:nvPr/>
        </p:nvPicPr>
        <p:blipFill>
          <a:blip r:embed="rId2"/>
          <a:stretch>
            <a:fillRect/>
          </a:stretch>
        </p:blipFill>
        <p:spPr>
          <a:xfrm>
            <a:off x="3465094" y="5126527"/>
            <a:ext cx="5261811" cy="1136454"/>
          </a:xfrm>
          <a:prstGeom prst="rect">
            <a:avLst/>
          </a:prstGeom>
        </p:spPr>
      </p:pic>
    </p:spTree>
    <p:extLst>
      <p:ext uri="{BB962C8B-B14F-4D97-AF65-F5344CB8AC3E}">
        <p14:creationId xmlns:p14="http://schemas.microsoft.com/office/powerpoint/2010/main" val="1681537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Kubernetes?(2/2)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Abstracting Hardware Infrastructure :</a:t>
            </a:r>
          </a:p>
          <a:p>
            <a:pPr lvl="1">
              <a:buFont typeface="Wingdings" panose="05000000000000000000" pitchFamily="2" charset="2"/>
              <a:buChar char="§"/>
            </a:pPr>
            <a:r>
              <a:rPr lang="en-US" altLang="ko-KR" sz="1400" b="1" dirty="0">
                <a:solidFill>
                  <a:srgbClr val="FF0000"/>
                </a:solidFill>
              </a:rPr>
              <a:t>Kubernetes abstracts away the hardware infrastructure and exposes your whole datacenter as a single enormous computational resource</a:t>
            </a:r>
            <a:r>
              <a:rPr lang="en-US" altLang="ko-KR" sz="1400" dirty="0"/>
              <a:t>. It allows you to </a:t>
            </a:r>
            <a:r>
              <a:rPr lang="en-US" altLang="ko-KR" sz="1400" b="1" dirty="0"/>
              <a:t>deploy and run your software components without having to know about the actual servers underneath</a:t>
            </a:r>
            <a:r>
              <a:rPr lang="en-US" altLang="ko-KR" sz="1400" dirty="0"/>
              <a:t>. When deploying a multi-component application through Kubernetes, it </a:t>
            </a:r>
            <a:r>
              <a:rPr lang="en-US" altLang="ko-KR" sz="1400" b="1" dirty="0"/>
              <a:t>selects a server for each component, deploys it, and enables it to easily find and communicate with all the other components of your application</a:t>
            </a:r>
            <a:r>
              <a:rPr lang="en-US" altLang="ko-KR" sz="1400" dirty="0"/>
              <a:t>.</a:t>
            </a:r>
          </a:p>
          <a:p>
            <a:pPr lvl="1">
              <a:buFont typeface="Wingdings" panose="05000000000000000000" pitchFamily="2" charset="2"/>
              <a:buChar char="§"/>
            </a:pPr>
            <a:r>
              <a:rPr lang="en-US" altLang="ko-KR" sz="1400" b="1" dirty="0"/>
              <a:t>This makes Kubernetes great for most on-premises datacenters, but where it starts to shine is when it’s used in the largest datacenters, such as the ones built and operated by cloud providers</a:t>
            </a:r>
            <a:r>
              <a:rPr lang="en-US" altLang="ko-KR" sz="1400" dirty="0"/>
              <a:t>. Kubernetes allows them to offer developers </a:t>
            </a:r>
            <a:r>
              <a:rPr lang="en-US" altLang="ko-KR" sz="1400" b="1" dirty="0"/>
              <a:t>a simple platform for deploying and running any type of application</a:t>
            </a:r>
            <a:r>
              <a:rPr lang="en-US" altLang="ko-KR" sz="1400" dirty="0"/>
              <a:t>, while not requiring the cloud provider’s own sysadmins to know anything about the tens of thousands of apps running on their hardware.</a:t>
            </a:r>
          </a:p>
          <a:p>
            <a:pPr lvl="1">
              <a:buFont typeface="Wingdings" panose="05000000000000000000" pitchFamily="2" charset="2"/>
              <a:buChar char="§"/>
            </a:pPr>
            <a:r>
              <a:rPr lang="en-US" altLang="ko-KR" sz="1400" dirty="0"/>
              <a:t>With more and more big companies accepting the Kubernetes model as the best way to run apps, </a:t>
            </a:r>
            <a:r>
              <a:rPr lang="en-US" altLang="ko-KR" sz="1400" b="1" dirty="0"/>
              <a:t>it’s becoming the standard way of running distributed apps both in the cloud, as well as on local on-premises infrastructure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1301611-E084-FAC6-39B3-F7B3E2749EBA}"/>
              </a:ext>
            </a:extLst>
          </p:cNvPr>
          <p:cNvPicPr>
            <a:picLocks noChangeAspect="1"/>
          </p:cNvPicPr>
          <p:nvPr/>
        </p:nvPicPr>
        <p:blipFill>
          <a:blip r:embed="rId2"/>
          <a:stretch>
            <a:fillRect/>
          </a:stretch>
        </p:blipFill>
        <p:spPr>
          <a:xfrm>
            <a:off x="2930191" y="3450566"/>
            <a:ext cx="6331618" cy="2958464"/>
          </a:xfrm>
          <a:prstGeom prst="rect">
            <a:avLst/>
          </a:prstGeom>
        </p:spPr>
      </p:pic>
    </p:spTree>
    <p:extLst>
      <p:ext uri="{BB962C8B-B14F-4D97-AF65-F5344CB8AC3E}">
        <p14:creationId xmlns:p14="http://schemas.microsoft.com/office/powerpoint/2010/main" val="1433292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Meaning of Kubernetes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a:t>
            </a:r>
            <a:r>
              <a:rPr lang="ko-KR" altLang="en-US" sz="1800" b="1" dirty="0"/>
              <a:t> </a:t>
            </a:r>
            <a:r>
              <a:rPr lang="en-US" altLang="ko-KR" sz="1800" b="1" dirty="0"/>
              <a:t>Pilot</a:t>
            </a:r>
            <a:r>
              <a:rPr lang="ko-KR" altLang="en-US" sz="1800" b="1" dirty="0"/>
              <a:t> </a:t>
            </a:r>
            <a:r>
              <a:rPr lang="en-US" altLang="ko-KR" sz="1800" b="1" dirty="0"/>
              <a:t>or</a:t>
            </a:r>
            <a:r>
              <a:rPr lang="ko-KR" altLang="en-US" sz="1800" b="1" dirty="0"/>
              <a:t> </a:t>
            </a:r>
            <a:r>
              <a:rPr lang="en-US" altLang="ko-KR" sz="1800" b="1" dirty="0"/>
              <a:t>Helmsman</a:t>
            </a:r>
            <a:r>
              <a:rPr lang="ko-KR" altLang="en-US" sz="1800" b="1" dirty="0"/>
              <a:t> </a:t>
            </a:r>
            <a:r>
              <a:rPr lang="en-US" altLang="ko-KR" sz="1800" b="1" dirty="0"/>
              <a:t>:</a:t>
            </a:r>
          </a:p>
          <a:p>
            <a:pPr lvl="1">
              <a:buFont typeface="Wingdings" panose="05000000000000000000" pitchFamily="2" charset="2"/>
              <a:buChar char="§"/>
            </a:pPr>
            <a:r>
              <a:rPr lang="en-US" altLang="ko-KR" sz="1400" b="1" dirty="0"/>
              <a:t>Kubernetes is Greek for pilot or helmsman (the person holding the ship’s steering wheel : </a:t>
            </a:r>
            <a:r>
              <a:rPr lang="ko-KR" altLang="en-US" sz="1400" b="1" dirty="0"/>
              <a:t>조타수</a:t>
            </a:r>
            <a:r>
              <a:rPr lang="en-US" altLang="ko-KR" sz="1400" b="1" dirty="0"/>
              <a:t>)</a:t>
            </a:r>
            <a:r>
              <a:rPr lang="en-US" altLang="ko-KR" sz="1400" dirty="0"/>
              <a:t>. People pronounce Kubernetes in a few different ways. Many pronounce it as “</a:t>
            </a:r>
            <a:r>
              <a:rPr lang="en-US" altLang="ko-KR" sz="1400" b="1" dirty="0"/>
              <a:t>Koo-</a:t>
            </a:r>
            <a:r>
              <a:rPr lang="en-US" altLang="ko-KR" sz="1400" b="1" dirty="0" err="1"/>
              <a:t>ber</a:t>
            </a:r>
            <a:r>
              <a:rPr lang="en-US" altLang="ko-KR" sz="1400" b="1" dirty="0"/>
              <a:t>-nay-</a:t>
            </a:r>
            <a:r>
              <a:rPr lang="en-US" altLang="ko-KR" sz="1400" b="1" dirty="0" err="1"/>
              <a:t>tace</a:t>
            </a:r>
            <a:r>
              <a:rPr lang="en-US" altLang="ko-KR" sz="1400" dirty="0"/>
              <a:t>”, while others pronounce it more like “</a:t>
            </a:r>
            <a:r>
              <a:rPr lang="en-US" altLang="ko-KR" sz="1400" b="1" dirty="0"/>
              <a:t>Koo-</a:t>
            </a:r>
            <a:r>
              <a:rPr lang="en-US" altLang="ko-KR" sz="1400" b="1" dirty="0" err="1"/>
              <a:t>ber</a:t>
            </a:r>
            <a:r>
              <a:rPr lang="en-US" altLang="ko-KR" sz="1400" b="1" dirty="0"/>
              <a:t>-</a:t>
            </a:r>
            <a:r>
              <a:rPr lang="en-US" altLang="ko-KR" sz="1400" b="1" dirty="0" err="1"/>
              <a:t>netties</a:t>
            </a:r>
            <a:r>
              <a:rPr lang="en-US" altLang="ko-KR" sz="1400" dirty="0"/>
              <a:t>”. No matter which form you use, people will understand what you mean.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B096A8F-C8DD-359A-9254-5D8A0BB8B404}"/>
              </a:ext>
            </a:extLst>
          </p:cNvPr>
          <p:cNvPicPr>
            <a:picLocks noChangeAspect="1"/>
          </p:cNvPicPr>
          <p:nvPr/>
        </p:nvPicPr>
        <p:blipFill>
          <a:blip r:embed="rId2"/>
          <a:stretch>
            <a:fillRect/>
          </a:stretch>
        </p:blipFill>
        <p:spPr>
          <a:xfrm>
            <a:off x="4661886" y="2521017"/>
            <a:ext cx="2868228" cy="2868228"/>
          </a:xfrm>
          <a:prstGeom prst="rect">
            <a:avLst/>
          </a:prstGeom>
        </p:spPr>
      </p:pic>
    </p:spTree>
    <p:extLst>
      <p:ext uri="{BB962C8B-B14F-4D97-AF65-F5344CB8AC3E}">
        <p14:creationId xmlns:p14="http://schemas.microsoft.com/office/powerpoint/2010/main" val="4111900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Moving from Monolithic Apps to Microservices :</a:t>
            </a:r>
          </a:p>
          <a:p>
            <a:pPr lvl="1">
              <a:buFont typeface="Wingdings" panose="05000000000000000000" pitchFamily="2" charset="2"/>
              <a:buChar char="§"/>
            </a:pPr>
            <a:r>
              <a:rPr lang="en-US" altLang="ko-KR" sz="1400" b="1" dirty="0">
                <a:solidFill>
                  <a:srgbClr val="FF0000"/>
                </a:solidFill>
              </a:rPr>
              <a:t>Monolithic applications </a:t>
            </a:r>
            <a:r>
              <a:rPr lang="en-US" altLang="ko-KR" sz="1400" b="1" dirty="0"/>
              <a:t>consist of components that are all </a:t>
            </a:r>
            <a:r>
              <a:rPr lang="en-US" altLang="ko-KR" sz="1400" b="1" dirty="0">
                <a:solidFill>
                  <a:srgbClr val="FF0000"/>
                </a:solidFill>
              </a:rPr>
              <a:t>tightly coupled </a:t>
            </a:r>
            <a:r>
              <a:rPr lang="en-US" altLang="ko-KR" sz="1400" b="1" dirty="0"/>
              <a:t>together and have to be developed, deployed, and managed as one entity, because they all run as a </a:t>
            </a:r>
            <a:r>
              <a:rPr lang="en-US" altLang="ko-KR" sz="1400" b="1" dirty="0">
                <a:solidFill>
                  <a:srgbClr val="FF0000"/>
                </a:solidFill>
              </a:rPr>
              <a:t>single OS process</a:t>
            </a:r>
            <a:r>
              <a:rPr lang="en-US" altLang="ko-KR" sz="1400" dirty="0"/>
              <a:t>. </a:t>
            </a:r>
            <a:r>
              <a:rPr lang="en-US" altLang="ko-KR" sz="1400" b="1" dirty="0"/>
              <a:t>Changes to one part of the application require a redeployment of the whole application</a:t>
            </a:r>
            <a:r>
              <a:rPr lang="en-US" altLang="ko-KR" sz="1400" dirty="0"/>
              <a:t>, and over time the lack of hard boundaries between the parts results </a:t>
            </a:r>
            <a:r>
              <a:rPr lang="en-US" altLang="ko-KR" sz="1400" dirty="0">
                <a:solidFill>
                  <a:srgbClr val="FF0000"/>
                </a:solidFill>
              </a:rPr>
              <a:t>in </a:t>
            </a:r>
            <a:r>
              <a:rPr lang="en-US" altLang="ko-KR" sz="1400" b="1" dirty="0">
                <a:solidFill>
                  <a:srgbClr val="FF0000"/>
                </a:solidFill>
              </a:rPr>
              <a:t>the increase of complexity </a:t>
            </a:r>
            <a:r>
              <a:rPr lang="en-US" altLang="ko-KR" sz="1400" b="1" dirty="0"/>
              <a:t>and </a:t>
            </a:r>
            <a:r>
              <a:rPr lang="en-US" altLang="ko-KR" sz="1400" b="1" dirty="0">
                <a:solidFill>
                  <a:srgbClr val="FF0000"/>
                </a:solidFill>
              </a:rPr>
              <a:t>consequential deterioration of the quality </a:t>
            </a:r>
            <a:r>
              <a:rPr lang="en-US" altLang="ko-KR" sz="1400" b="1" dirty="0"/>
              <a:t>of the whole system </a:t>
            </a:r>
            <a:r>
              <a:rPr lang="en-US" altLang="ko-KR" sz="1400" dirty="0"/>
              <a:t>because of </a:t>
            </a:r>
            <a:r>
              <a:rPr lang="en-US" altLang="ko-KR" sz="1400" b="1" dirty="0"/>
              <a:t>the unconstrained growth of inter-dependencies </a:t>
            </a:r>
            <a:r>
              <a:rPr lang="en-US" altLang="ko-KR" sz="1400" dirty="0"/>
              <a:t>between these parts. </a:t>
            </a:r>
          </a:p>
          <a:p>
            <a:pPr lvl="1">
              <a:buFont typeface="Wingdings" panose="05000000000000000000" pitchFamily="2" charset="2"/>
              <a:buChar char="§"/>
            </a:pPr>
            <a:r>
              <a:rPr lang="en-US" altLang="ko-KR" sz="1400" b="1" dirty="0"/>
              <a:t>Running a monolithic application usually requires a small number of powerful servers that can provide enough resources for running the application</a:t>
            </a:r>
            <a:r>
              <a:rPr lang="en-US" altLang="ko-KR" sz="1400" dirty="0"/>
              <a:t>. To deal with increasing loads on the system, you then either have to vertically scale the servers (also known as </a:t>
            </a:r>
            <a:r>
              <a:rPr lang="en-US" altLang="ko-KR" sz="1400" b="1" dirty="0">
                <a:solidFill>
                  <a:srgbClr val="FF0000"/>
                </a:solidFill>
              </a:rPr>
              <a:t>scaling up</a:t>
            </a:r>
            <a:r>
              <a:rPr lang="en-US" altLang="ko-KR" sz="1400" dirty="0"/>
              <a:t>) by adding more CPUs, memory, and other server components, or </a:t>
            </a:r>
            <a:r>
              <a:rPr lang="en-US" altLang="ko-KR" sz="1400" b="1" dirty="0"/>
              <a:t>scale the whole system horizontally</a:t>
            </a:r>
            <a:r>
              <a:rPr lang="en-US" altLang="ko-KR" sz="1400" dirty="0"/>
              <a:t>, by setting up additional servers and running multiple copies (or replicas) of an application (</a:t>
            </a:r>
            <a:r>
              <a:rPr lang="en-US" altLang="ko-KR" sz="1400" b="1" dirty="0">
                <a:solidFill>
                  <a:srgbClr val="FF0000"/>
                </a:solidFill>
              </a:rPr>
              <a:t>scaling out</a:t>
            </a:r>
            <a:r>
              <a:rPr lang="en-US" altLang="ko-KR" sz="1400" dirty="0"/>
              <a:t>). </a:t>
            </a:r>
            <a:r>
              <a:rPr lang="en-US" altLang="ko-KR" sz="1400" b="1" dirty="0"/>
              <a:t>While scaling up usually doesn’t require any changes to the app, it gets expensive relatively quickly and in practice always has an upper limit. Scaling out, on the other hand, is relatively cheap hardware-wise, but may require big changes in the application code and isn’t always possible</a:t>
            </a:r>
            <a:r>
              <a:rPr lang="en-US" altLang="ko-KR" sz="1400" dirty="0"/>
              <a:t>—certain parts of an application are extremely hard or next to impossible to scale horizontally (relational databases, for example</a:t>
            </a:r>
            <a:r>
              <a:rPr lang="en-US" altLang="ko-KR" sz="1400" b="1" dirty="0"/>
              <a:t>). If any part of a monolithic application isn’t scalable, the whole application becomes unscalable, unless you can split up the monolith somehow</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EBB62C4-65D4-86C8-FA3C-07EE4F387A12}"/>
              </a:ext>
            </a:extLst>
          </p:cNvPr>
          <p:cNvPicPr>
            <a:picLocks noChangeAspect="1"/>
          </p:cNvPicPr>
          <p:nvPr/>
        </p:nvPicPr>
        <p:blipFill>
          <a:blip r:embed="rId2"/>
          <a:stretch>
            <a:fillRect/>
          </a:stretch>
        </p:blipFill>
        <p:spPr>
          <a:xfrm>
            <a:off x="4146790" y="4087698"/>
            <a:ext cx="3898420" cy="2321332"/>
          </a:xfrm>
          <a:prstGeom prst="rect">
            <a:avLst/>
          </a:prstGeom>
          <a:ln>
            <a:solidFill>
              <a:schemeClr val="bg1">
                <a:lumMod val="50000"/>
              </a:schemeClr>
            </a:solidFill>
          </a:ln>
        </p:spPr>
      </p:pic>
    </p:spTree>
    <p:extLst>
      <p:ext uri="{BB962C8B-B14F-4D97-AF65-F5344CB8AC3E}">
        <p14:creationId xmlns:p14="http://schemas.microsoft.com/office/powerpoint/2010/main" val="3772449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Splitting Apps into Microservices :</a:t>
            </a:r>
          </a:p>
          <a:p>
            <a:pPr lvl="1">
              <a:buFont typeface="Wingdings" panose="05000000000000000000" pitchFamily="2" charset="2"/>
              <a:buChar char="§"/>
            </a:pPr>
            <a:r>
              <a:rPr lang="en-US" altLang="ko-KR" sz="1400" dirty="0"/>
              <a:t>The problems specified in the previous pages have forced us to start </a:t>
            </a:r>
            <a:r>
              <a:rPr lang="en-US" altLang="ko-KR" sz="1400" b="1" dirty="0"/>
              <a:t>splitting complex monolithic applications into smaller independently deployable components called </a:t>
            </a:r>
            <a:r>
              <a:rPr lang="en-US" altLang="ko-KR" sz="1400" b="1" dirty="0">
                <a:solidFill>
                  <a:srgbClr val="FF0000"/>
                </a:solidFill>
              </a:rPr>
              <a:t>microservices</a:t>
            </a:r>
            <a:r>
              <a:rPr lang="en-US" altLang="ko-KR" sz="1400" dirty="0"/>
              <a:t>. </a:t>
            </a:r>
            <a:r>
              <a:rPr lang="en-US" altLang="ko-KR" sz="1400" b="1" dirty="0"/>
              <a:t>Each microservice </a:t>
            </a:r>
            <a:r>
              <a:rPr lang="en-US" altLang="ko-KR" sz="1400" b="1" dirty="0">
                <a:solidFill>
                  <a:srgbClr val="FF0000"/>
                </a:solidFill>
              </a:rPr>
              <a:t>runs as an independent process</a:t>
            </a:r>
            <a:r>
              <a:rPr lang="en-US" altLang="ko-KR" sz="1400" b="1" dirty="0"/>
              <a:t> and communicates with other microservices through </a:t>
            </a:r>
            <a:r>
              <a:rPr lang="en-US" altLang="ko-KR" sz="1400" b="1" dirty="0">
                <a:solidFill>
                  <a:srgbClr val="FF0000"/>
                </a:solidFill>
              </a:rPr>
              <a:t>simple, well-defined interfaces </a:t>
            </a:r>
            <a:r>
              <a:rPr lang="en-US" altLang="ko-KR" sz="1400" b="1" dirty="0"/>
              <a:t>(APIs)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Microservices communicate through synchronous protocols such as HTTP, over which they usually expose RESTful (</a:t>
            </a:r>
            <a:r>
              <a:rPr lang="en-US" altLang="ko-KR" sz="1400" b="1" dirty="0" err="1">
                <a:solidFill>
                  <a:srgbClr val="FF0000"/>
                </a:solidFill>
              </a:rPr>
              <a:t>RE</a:t>
            </a:r>
            <a:r>
              <a:rPr lang="en-US" altLang="ko-KR" sz="1400" b="1" dirty="0" err="1"/>
              <a:t>presentational</a:t>
            </a:r>
            <a:r>
              <a:rPr lang="en-US" altLang="ko-KR" sz="1400" b="1" dirty="0"/>
              <a:t> </a:t>
            </a:r>
            <a:r>
              <a:rPr lang="en-US" altLang="ko-KR" sz="1400" b="1" dirty="0">
                <a:solidFill>
                  <a:srgbClr val="FF0000"/>
                </a:solidFill>
              </a:rPr>
              <a:t>S</a:t>
            </a:r>
            <a:r>
              <a:rPr lang="en-US" altLang="ko-KR" sz="1400" b="1" dirty="0"/>
              <a:t>tate </a:t>
            </a:r>
            <a:r>
              <a:rPr lang="en-US" altLang="ko-KR" sz="1400" b="1" dirty="0">
                <a:solidFill>
                  <a:srgbClr val="FF0000"/>
                </a:solidFill>
              </a:rPr>
              <a:t>T</a:t>
            </a:r>
            <a:r>
              <a:rPr lang="en-US" altLang="ko-KR" sz="1400" b="1" dirty="0"/>
              <a:t>ransfer) APIs</a:t>
            </a:r>
            <a:r>
              <a:rPr lang="en-US" altLang="ko-KR" sz="1400" dirty="0"/>
              <a:t>, </a:t>
            </a:r>
            <a:r>
              <a:rPr lang="en-US" altLang="ko-KR" sz="1400" b="1" dirty="0"/>
              <a:t>or through asynchronous protocols such as AMQP (Advanced Message Queueing Protocol)</a:t>
            </a:r>
            <a:r>
              <a:rPr lang="en-US" altLang="ko-KR" sz="1400" dirty="0"/>
              <a:t>. These protocols are simple, well understood by most developers, and not tied to any specific programming language.</a:t>
            </a:r>
            <a:r>
              <a:rPr lang="en-US" altLang="ko-KR" sz="1400" b="1" dirty="0"/>
              <a:t> Each microservice can be written in the language that’s most appropriate for implementing that specific microservice</a:t>
            </a:r>
            <a:r>
              <a:rPr lang="en-US" altLang="ko-KR" sz="1400" dirty="0"/>
              <a:t>. </a:t>
            </a:r>
          </a:p>
          <a:p>
            <a:pPr lvl="1">
              <a:buFont typeface="Wingdings" panose="05000000000000000000" pitchFamily="2" charset="2"/>
              <a:buChar char="§"/>
            </a:pPr>
            <a:r>
              <a:rPr lang="en-US" altLang="ko-KR" sz="1400" b="1" dirty="0"/>
              <a:t>Because each microservice is a standalone process with a relatively static external API, it’s possible to develop and deploy each microservice separately</a:t>
            </a:r>
            <a:r>
              <a:rPr lang="en-US" altLang="ko-KR" sz="1400" dirty="0"/>
              <a:t>. A change to one of them doesn’t require changes or redeployment of any other service, provided that the API doesn’t change or changes only in a backward-compatible way.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C24B288A-1403-BBA1-AE22-5379294FBFED}"/>
              </a:ext>
            </a:extLst>
          </p:cNvPr>
          <p:cNvPicPr>
            <a:picLocks noChangeAspect="1"/>
          </p:cNvPicPr>
          <p:nvPr/>
        </p:nvPicPr>
        <p:blipFill>
          <a:blip r:embed="rId2"/>
          <a:stretch>
            <a:fillRect/>
          </a:stretch>
        </p:blipFill>
        <p:spPr>
          <a:xfrm>
            <a:off x="3598606" y="1840348"/>
            <a:ext cx="4994787" cy="2625213"/>
          </a:xfrm>
          <a:prstGeom prst="rect">
            <a:avLst/>
          </a:prstGeom>
        </p:spPr>
      </p:pic>
    </p:spTree>
    <p:extLst>
      <p:ext uri="{BB962C8B-B14F-4D97-AF65-F5344CB8AC3E}">
        <p14:creationId xmlns:p14="http://schemas.microsoft.com/office/powerpoint/2010/main" val="2891612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Microservices :</a:t>
            </a:r>
          </a:p>
          <a:p>
            <a:pPr lvl="1">
              <a:buFont typeface="Wingdings" panose="05000000000000000000" pitchFamily="2" charset="2"/>
              <a:buChar char="§"/>
            </a:pPr>
            <a:r>
              <a:rPr lang="en-US" altLang="ko-KR" sz="1400" b="1" dirty="0"/>
              <a:t>Scaling microservices, unlike monolithic systems, where you need to scale the system as a whole, is done on a </a:t>
            </a:r>
            <a:r>
              <a:rPr lang="en-US" altLang="ko-KR" sz="1400" b="1" dirty="0">
                <a:solidFill>
                  <a:srgbClr val="FF0000"/>
                </a:solidFill>
              </a:rPr>
              <a:t>per-service basis</a:t>
            </a:r>
            <a:r>
              <a:rPr lang="en-US" altLang="ko-KR" sz="1400" dirty="0"/>
              <a:t>, which means you have </a:t>
            </a:r>
            <a:r>
              <a:rPr lang="en-US" altLang="ko-KR" sz="1400" b="1" dirty="0"/>
              <a:t>the option of scaling only those services that require more resources</a:t>
            </a:r>
            <a:r>
              <a:rPr lang="en-US" altLang="ko-KR" sz="1400" dirty="0"/>
              <a:t>, while leaving others at their original scale. </a:t>
            </a:r>
          </a:p>
          <a:p>
            <a:pPr lvl="1">
              <a:buFont typeface="Wingdings" panose="05000000000000000000" pitchFamily="2" charset="2"/>
              <a:buChar char="§"/>
            </a:pPr>
            <a:r>
              <a:rPr lang="en-US" altLang="ko-KR" sz="1400" b="1" dirty="0"/>
              <a:t>Certain components are replicated and run as multiple processes deployed on different servers, while others run as a single application process</a:t>
            </a:r>
            <a:r>
              <a:rPr lang="en-US" altLang="ko-KR" sz="1400" dirty="0"/>
              <a:t>. When a monolithic application can’t be scaled out because one of its parts is unscalable, </a:t>
            </a:r>
            <a:r>
              <a:rPr lang="en-US" altLang="ko-KR" sz="1400" b="1" dirty="0"/>
              <a:t>splitting the app into microservices allows you to horizontally scale the parts that allow scaling out, and scale the parts that don’t, vertically instead of horizontally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EA33653-84E3-FAB3-7D97-E195FCE3A096}"/>
              </a:ext>
            </a:extLst>
          </p:cNvPr>
          <p:cNvPicPr>
            <a:picLocks noChangeAspect="1"/>
          </p:cNvPicPr>
          <p:nvPr/>
        </p:nvPicPr>
        <p:blipFill>
          <a:blip r:embed="rId2"/>
          <a:stretch>
            <a:fillRect/>
          </a:stretch>
        </p:blipFill>
        <p:spPr>
          <a:xfrm>
            <a:off x="3732676" y="2711313"/>
            <a:ext cx="4726647" cy="3697717"/>
          </a:xfrm>
          <a:prstGeom prst="rect">
            <a:avLst/>
          </a:prstGeom>
        </p:spPr>
      </p:pic>
    </p:spTree>
    <p:extLst>
      <p:ext uri="{BB962C8B-B14F-4D97-AF65-F5344CB8AC3E}">
        <p14:creationId xmlns:p14="http://schemas.microsoft.com/office/powerpoint/2010/main" val="3905982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Microservices :</a:t>
            </a:r>
          </a:p>
          <a:p>
            <a:pPr lvl="1">
              <a:buFont typeface="Wingdings" panose="05000000000000000000" pitchFamily="2" charset="2"/>
              <a:buChar char="§"/>
            </a:pPr>
            <a:r>
              <a:rPr lang="en-US" altLang="ko-KR" sz="1400" b="1" dirty="0"/>
              <a:t>Microservices also have drawbacks. When your system consists of only a small number of deployable components, managing those components is easy</a:t>
            </a:r>
            <a:r>
              <a:rPr lang="en-US" altLang="ko-KR" sz="1400" dirty="0"/>
              <a:t>. It’s trivial to decide where to deploy each component, because there aren’t that many choices. When the number of those components increases, deployment-related decisions become increasingly difficult because </a:t>
            </a:r>
            <a:r>
              <a:rPr lang="en-US" altLang="ko-KR" sz="1400" b="1" dirty="0"/>
              <a:t>not only does the number of deployment combinations increase, but the number of </a:t>
            </a:r>
            <a:r>
              <a:rPr lang="en-US" altLang="ko-KR" sz="1400" b="1" dirty="0">
                <a:solidFill>
                  <a:srgbClr val="FF0000"/>
                </a:solidFill>
              </a:rPr>
              <a:t>inter-dependencies between the components increases</a:t>
            </a:r>
            <a:r>
              <a:rPr lang="en-US" altLang="ko-KR" sz="1400" b="1" dirty="0"/>
              <a:t> by an even greater factor</a:t>
            </a:r>
            <a:r>
              <a:rPr lang="en-US" altLang="ko-KR" sz="1400" dirty="0"/>
              <a:t>.</a:t>
            </a:r>
          </a:p>
          <a:p>
            <a:pPr lvl="1">
              <a:buFont typeface="Wingdings" panose="05000000000000000000" pitchFamily="2" charset="2"/>
              <a:buChar char="§"/>
            </a:pPr>
            <a:r>
              <a:rPr lang="en-US" altLang="ko-KR" sz="1400" b="1" dirty="0"/>
              <a:t>Microservices perform their work together as a team, so they need to find and talk to each other</a:t>
            </a:r>
            <a:r>
              <a:rPr lang="en-US" altLang="ko-KR" sz="1400" dirty="0"/>
              <a:t>. When deploying them, someone or something needs to configure all of them properly to </a:t>
            </a:r>
            <a:r>
              <a:rPr lang="en-US" altLang="ko-KR" sz="1400" b="1" dirty="0"/>
              <a:t>enable them to work together as a single system</a:t>
            </a:r>
            <a:r>
              <a:rPr lang="en-US" altLang="ko-KR" sz="1400" dirty="0"/>
              <a:t>. With increasing numbers of microservices, this becomes tedious and error-prone, especially when you consider what the </a:t>
            </a:r>
            <a:r>
              <a:rPr lang="en-US" altLang="ko-KR" sz="1400" b="1" dirty="0"/>
              <a:t>ops/sysadmin(or </a:t>
            </a:r>
            <a:r>
              <a:rPr lang="en-US" altLang="ko-KR" sz="1400" b="1" dirty="0" err="1"/>
              <a:t>devops</a:t>
            </a:r>
            <a:r>
              <a:rPr lang="en-US" altLang="ko-KR" sz="1400" b="1" dirty="0"/>
              <a:t>) teams </a:t>
            </a:r>
            <a:r>
              <a:rPr lang="en-US" altLang="ko-KR" sz="1400" dirty="0"/>
              <a:t>need to do when a server fails. </a:t>
            </a:r>
          </a:p>
          <a:p>
            <a:pPr lvl="1">
              <a:buFont typeface="Wingdings" panose="05000000000000000000" pitchFamily="2" charset="2"/>
              <a:buChar char="§"/>
            </a:pPr>
            <a:r>
              <a:rPr lang="en-US" altLang="ko-KR" sz="1400" b="1" dirty="0"/>
              <a:t>Microservices also bring other problems, such as making it </a:t>
            </a:r>
            <a:r>
              <a:rPr lang="en-US" altLang="ko-KR" sz="1400" b="1" dirty="0">
                <a:solidFill>
                  <a:srgbClr val="FF0000"/>
                </a:solidFill>
              </a:rPr>
              <a:t>hard to debug and trace execution calls</a:t>
            </a:r>
            <a:r>
              <a:rPr lang="en-US" altLang="ko-KR" sz="1400" b="1" dirty="0"/>
              <a:t>, because they span multiple processes and machines</a:t>
            </a:r>
            <a:r>
              <a:rPr lang="en-US" altLang="ko-KR" sz="1400" dirty="0"/>
              <a:t>. Luckily, these problems are now being addressed with </a:t>
            </a:r>
            <a:r>
              <a:rPr lang="en-US" altLang="ko-KR" sz="1400" b="1" dirty="0"/>
              <a:t>distributed tracing systems</a:t>
            </a:r>
            <a:r>
              <a:rPr lang="en-US" altLang="ko-KR" sz="1400" dirty="0"/>
              <a:t> such as </a:t>
            </a:r>
            <a:r>
              <a:rPr lang="en-US" altLang="ko-KR" sz="1400" b="1" dirty="0" err="1">
                <a:hlinkClick r:id="rId2"/>
              </a:rPr>
              <a:t>Zipkin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0AB15C1-4390-C117-A075-42BCB05296AD}"/>
              </a:ext>
            </a:extLst>
          </p:cNvPr>
          <p:cNvPicPr>
            <a:picLocks noChangeAspect="1"/>
          </p:cNvPicPr>
          <p:nvPr/>
        </p:nvPicPr>
        <p:blipFill>
          <a:blip r:embed="rId3"/>
          <a:stretch>
            <a:fillRect/>
          </a:stretch>
        </p:blipFill>
        <p:spPr>
          <a:xfrm>
            <a:off x="3907025" y="3769743"/>
            <a:ext cx="4377949" cy="2639287"/>
          </a:xfrm>
          <a:prstGeom prst="rect">
            <a:avLst/>
          </a:prstGeom>
          <a:ln>
            <a:solidFill>
              <a:schemeClr val="bg1">
                <a:lumMod val="50000"/>
              </a:schemeClr>
            </a:solidFill>
          </a:ln>
        </p:spPr>
      </p:pic>
    </p:spTree>
    <p:extLst>
      <p:ext uri="{BB962C8B-B14F-4D97-AF65-F5344CB8AC3E}">
        <p14:creationId xmlns:p14="http://schemas.microsoft.com/office/powerpoint/2010/main" val="4092011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a:t>
            </a:r>
            <a:r>
              <a:rPr lang="en-US" altLang="ko-KR" sz="1800" b="1" dirty="0">
                <a:solidFill>
                  <a:srgbClr val="FF0000"/>
                </a:solidFill>
              </a:rPr>
              <a:t>the Divergence of Environment </a:t>
            </a:r>
            <a:r>
              <a:rPr lang="en-US" altLang="ko-KR" sz="1800" b="1" dirty="0"/>
              <a:t>Requirements :</a:t>
            </a:r>
          </a:p>
          <a:p>
            <a:pPr lvl="1">
              <a:buFont typeface="Wingdings" panose="05000000000000000000" pitchFamily="2" charset="2"/>
              <a:buChar char="§"/>
            </a:pPr>
            <a:r>
              <a:rPr lang="en-US" altLang="ko-KR" sz="1400" b="1" dirty="0"/>
              <a:t>Components in a microservices architecture aren’t only </a:t>
            </a:r>
            <a:r>
              <a:rPr lang="en-US" altLang="ko-KR" sz="1400" b="1" dirty="0">
                <a:solidFill>
                  <a:srgbClr val="FF0000"/>
                </a:solidFill>
              </a:rPr>
              <a:t>deployed independently</a:t>
            </a:r>
            <a:r>
              <a:rPr lang="en-US" altLang="ko-KR" sz="1400" b="1" dirty="0"/>
              <a:t>, but are also </a:t>
            </a:r>
            <a:r>
              <a:rPr lang="en-US" altLang="ko-KR" sz="1400" b="1" dirty="0">
                <a:solidFill>
                  <a:srgbClr val="FF0000"/>
                </a:solidFill>
              </a:rPr>
              <a:t>developed</a:t>
            </a:r>
            <a:r>
              <a:rPr lang="en-US" altLang="ko-KR" sz="1400" b="1" dirty="0"/>
              <a:t> that way</a:t>
            </a:r>
            <a:r>
              <a:rPr lang="en-US" altLang="ko-KR" sz="1400" dirty="0"/>
              <a:t>. Because of their independence and the fact that it’s common to have </a:t>
            </a:r>
            <a:r>
              <a:rPr lang="en-US" altLang="ko-KR" sz="1400" b="1" dirty="0"/>
              <a:t>separate teams developing each component</a:t>
            </a:r>
            <a:r>
              <a:rPr lang="en-US" altLang="ko-KR" sz="1400" dirty="0"/>
              <a:t>, nothing impedes each team from using different libraries and replacing them whenever the need arises. </a:t>
            </a:r>
            <a:r>
              <a:rPr lang="en-US" altLang="ko-KR" sz="1400" b="1" dirty="0">
                <a:solidFill>
                  <a:srgbClr val="FF0000"/>
                </a:solidFill>
              </a:rPr>
              <a:t>The divergence of dependencies between application components</a:t>
            </a:r>
            <a:r>
              <a:rPr lang="en-US" altLang="ko-KR" sz="1400" b="1" dirty="0"/>
              <a:t>, where applications require different versions of the same libraries, is inevitable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Deploying dynamically linked applications that require different versions of shared libraries, and/or require other environment specifics, can quickly become a nightmare for the ops team who deploys and manages them on production servers</a:t>
            </a:r>
            <a:r>
              <a:rPr lang="en-US" altLang="ko-KR" sz="1400" dirty="0"/>
              <a:t>. The bigger the number of components you need to deploy on the same host, the harder it will be to manage all their dependencies to satisfy all their requirements.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60F86B5-3235-2453-D363-DE626C6C51EE}"/>
              </a:ext>
            </a:extLst>
          </p:cNvPr>
          <p:cNvPicPr>
            <a:picLocks noChangeAspect="1"/>
          </p:cNvPicPr>
          <p:nvPr/>
        </p:nvPicPr>
        <p:blipFill>
          <a:blip r:embed="rId2"/>
          <a:stretch>
            <a:fillRect/>
          </a:stretch>
        </p:blipFill>
        <p:spPr>
          <a:xfrm>
            <a:off x="3563538" y="2297897"/>
            <a:ext cx="5064923" cy="2929710"/>
          </a:xfrm>
          <a:prstGeom prst="rect">
            <a:avLst/>
          </a:prstGeom>
        </p:spPr>
      </p:pic>
    </p:spTree>
    <p:extLst>
      <p:ext uri="{BB962C8B-B14F-4D97-AF65-F5344CB8AC3E}">
        <p14:creationId xmlns:p14="http://schemas.microsoft.com/office/powerpoint/2010/main" val="328032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a:t>
            </a:r>
            <a:r>
              <a:rPr lang="en-US" altLang="ko-KR" sz="1800" b="1" dirty="0">
                <a:solidFill>
                  <a:srgbClr val="FF0000"/>
                </a:solidFill>
              </a:rPr>
              <a:t>Consistent Environment </a:t>
            </a:r>
            <a:r>
              <a:rPr lang="en-US" altLang="ko-KR" sz="1800" b="1" dirty="0"/>
              <a:t>to Applications :</a:t>
            </a:r>
          </a:p>
          <a:p>
            <a:pPr lvl="1">
              <a:buFont typeface="Wingdings" panose="05000000000000000000" pitchFamily="2" charset="2"/>
              <a:buChar char="§"/>
            </a:pPr>
            <a:r>
              <a:rPr lang="en-US" altLang="ko-KR" sz="1400" b="1" dirty="0"/>
              <a:t>Regardless of how many individual components you’re developing and deploying, one of the biggest problems that developers and operations teams always have to deal with is </a:t>
            </a:r>
            <a:r>
              <a:rPr lang="en-US" altLang="ko-KR" sz="1400" b="1" dirty="0">
                <a:solidFill>
                  <a:srgbClr val="FF0000"/>
                </a:solidFill>
              </a:rPr>
              <a:t>the differences in the environments </a:t>
            </a:r>
            <a:r>
              <a:rPr lang="en-US" altLang="ko-KR" sz="1400" b="1" dirty="0"/>
              <a:t>they run their apps in</a:t>
            </a:r>
            <a:r>
              <a:rPr lang="en-US" altLang="ko-KR" sz="1400" dirty="0"/>
              <a:t>. Not only is there </a:t>
            </a:r>
            <a:r>
              <a:rPr lang="en-US" altLang="ko-KR" sz="1400" b="1" dirty="0"/>
              <a:t>a huge difference between development and production environments</a:t>
            </a:r>
            <a:r>
              <a:rPr lang="en-US" altLang="ko-KR" sz="1400" dirty="0"/>
              <a:t>, </a:t>
            </a:r>
            <a:r>
              <a:rPr lang="en-US" altLang="ko-KR" sz="1400" b="1" dirty="0"/>
              <a:t>differences even exist between individual production machines</a:t>
            </a:r>
            <a:r>
              <a:rPr lang="en-US" altLang="ko-KR" sz="1400" dirty="0"/>
              <a:t>. Another unavoidable fact is that </a:t>
            </a:r>
            <a:r>
              <a:rPr lang="en-US" altLang="ko-KR" sz="1400" b="1" dirty="0"/>
              <a:t>the environment of a single production machine will change over time</a:t>
            </a:r>
            <a:r>
              <a:rPr lang="en-US" altLang="ko-KR" sz="1400" dirty="0"/>
              <a:t>. </a:t>
            </a:r>
          </a:p>
          <a:p>
            <a:pPr lvl="1">
              <a:buFont typeface="Wingdings" panose="05000000000000000000" pitchFamily="2" charset="2"/>
              <a:buChar char="§"/>
            </a:pPr>
            <a:r>
              <a:rPr lang="en-US" altLang="ko-KR" sz="1400" b="1" dirty="0"/>
              <a:t>These differences range from hardware to the operating system to the libraries that are available on each machine</a:t>
            </a:r>
            <a:r>
              <a:rPr lang="en-US" altLang="ko-KR" sz="1400" dirty="0"/>
              <a:t>. Production environments are managed by the operations team, while developers often take care of their development laptops on their own. The difference is how much these two groups of people know about system administration, and this understandably leads to relatively big differences between those two systems, not to mention that </a:t>
            </a:r>
            <a:r>
              <a:rPr lang="en-US" altLang="ko-KR" sz="1400" b="1" dirty="0"/>
              <a:t>system administrators give much more emphasis on keeping the system up to date with the latest security patches, while a lot of developers don’t care about that as much</a:t>
            </a:r>
            <a:r>
              <a:rPr lang="en-US" altLang="ko-KR" sz="1400" dirty="0"/>
              <a:t>.</a:t>
            </a:r>
          </a:p>
          <a:p>
            <a:pPr lvl="1">
              <a:buFont typeface="Wingdings" panose="05000000000000000000" pitchFamily="2" charset="2"/>
              <a:buChar char="§"/>
            </a:pPr>
            <a:r>
              <a:rPr lang="en-US" altLang="ko-KR" sz="1400" b="1" dirty="0"/>
              <a:t>Production systems can run applications from multiple developers or development teams, which isn’t necessarily true for developers’ computers</a:t>
            </a:r>
            <a:r>
              <a:rPr lang="en-US" altLang="ko-KR" sz="1400" dirty="0"/>
              <a:t>. </a:t>
            </a:r>
            <a:r>
              <a:rPr lang="en-US" altLang="ko-KR" sz="1400" b="1" dirty="0"/>
              <a:t>A production system must provide the proper environment to all applications it hosts</a:t>
            </a:r>
            <a:r>
              <a:rPr lang="en-US" altLang="ko-KR" sz="1400" dirty="0"/>
              <a:t>, even though they may require different, even conflicting, versions of libraries.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4" name="개체 3">
            <a:extLst>
              <a:ext uri="{FF2B5EF4-FFF2-40B4-BE49-F238E27FC236}">
                <a16:creationId xmlns:a16="http://schemas.microsoft.com/office/drawing/2014/main" id="{7DC18422-9CE4-7EF5-2631-4A2BD359FA0F}"/>
              </a:ext>
            </a:extLst>
          </p:cNvPr>
          <p:cNvGraphicFramePr>
            <a:graphicFrameLocks noChangeAspect="1"/>
          </p:cNvGraphicFramePr>
          <p:nvPr>
            <p:extLst>
              <p:ext uri="{D42A27DB-BD31-4B8C-83A1-F6EECF244321}">
                <p14:modId xmlns:p14="http://schemas.microsoft.com/office/powerpoint/2010/main" val="922866382"/>
              </p:ext>
            </p:extLst>
          </p:nvPr>
        </p:nvGraphicFramePr>
        <p:xfrm>
          <a:off x="7513608" y="3999145"/>
          <a:ext cx="3840192" cy="2409885"/>
        </p:xfrm>
        <a:graphic>
          <a:graphicData uri="http://schemas.openxmlformats.org/presentationml/2006/ole">
            <mc:AlternateContent xmlns:mc="http://schemas.openxmlformats.org/markup-compatibility/2006">
              <mc:Choice xmlns:v="urn:schemas-microsoft-com:vml" Requires="v">
                <p:oleObj name="Bitmap Image" r:id="rId2" imgW="6086520" imgH="3819600" progId="PBrush">
                  <p:embed/>
                </p:oleObj>
              </mc:Choice>
              <mc:Fallback>
                <p:oleObj name="Bitmap Image" r:id="rId2" imgW="6086520" imgH="3819600" progId="PBrush">
                  <p:embed/>
                  <p:pic>
                    <p:nvPicPr>
                      <p:cNvPr id="0" name=""/>
                      <p:cNvPicPr/>
                      <p:nvPr/>
                    </p:nvPicPr>
                    <p:blipFill>
                      <a:blip r:embed="rId3"/>
                      <a:stretch>
                        <a:fillRect/>
                      </a:stretch>
                    </p:blipFill>
                    <p:spPr>
                      <a:xfrm>
                        <a:off x="7513608" y="3999145"/>
                        <a:ext cx="3840192" cy="240988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A4EFE6D1-1929-4B3C-331A-68E7B58CECDE}"/>
              </a:ext>
            </a:extLst>
          </p:cNvPr>
          <p:cNvSpPr txBox="1"/>
          <p:nvPr/>
        </p:nvSpPr>
        <p:spPr>
          <a:xfrm>
            <a:off x="838200" y="3999145"/>
            <a:ext cx="6675408" cy="164352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reduce the number of problems that only show up in production, it would be ideal if applications could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run in the exact same environment during development and in production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so they have the exact same operating system, libraries, system configuration, networking environment, and everything else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You also don’t want this environment to change too much over time, if at all. Also, if possible, you want the ability to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add applications to the same server without affecting any of the existing applications on that server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481623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Moving to Continuous Delivery(CD) : DevOps and </a:t>
            </a:r>
            <a:r>
              <a:rPr lang="en-US" altLang="ko-KR" sz="1800" b="1" dirty="0" err="1"/>
              <a:t>NoOps</a:t>
            </a:r>
            <a:endParaRPr lang="en-US" altLang="ko-KR" sz="1800" b="1" dirty="0"/>
          </a:p>
          <a:p>
            <a:pPr lvl="1">
              <a:buFont typeface="Wingdings" panose="05000000000000000000" pitchFamily="2" charset="2"/>
              <a:buChar char="§"/>
            </a:pPr>
            <a:r>
              <a:rPr lang="en-US" altLang="ko-KR" sz="1400" b="1" dirty="0"/>
              <a:t>Now, organizations are realizing it’s better to have the same team that develops the application also take part in deploying it and taking care of it over its whole lifetime</a:t>
            </a:r>
            <a:r>
              <a:rPr lang="en-US" altLang="ko-KR" sz="1400" dirty="0"/>
              <a:t>. This means </a:t>
            </a:r>
            <a:r>
              <a:rPr lang="en-US" altLang="ko-KR" sz="1400" b="1" dirty="0"/>
              <a:t>the developer, QA, and operations teams now need to </a:t>
            </a:r>
            <a:r>
              <a:rPr lang="en-US" altLang="ko-KR" sz="1400" b="1" dirty="0">
                <a:solidFill>
                  <a:srgbClr val="FF0000"/>
                </a:solidFill>
              </a:rPr>
              <a:t>collaborate throughout the whole process</a:t>
            </a:r>
            <a:r>
              <a:rPr lang="en-US" altLang="ko-KR" sz="1400" dirty="0"/>
              <a:t>. This practice is called </a:t>
            </a:r>
            <a:r>
              <a:rPr lang="en-US" altLang="ko-KR" sz="1400" b="1" dirty="0">
                <a:solidFill>
                  <a:srgbClr val="FF0000"/>
                </a:solidFill>
              </a:rPr>
              <a:t>DevOps</a:t>
            </a:r>
            <a:r>
              <a:rPr lang="en-US" altLang="ko-KR" sz="1400" dirty="0"/>
              <a:t>.</a:t>
            </a:r>
          </a:p>
          <a:p>
            <a:pPr lvl="1">
              <a:buFont typeface="Wingdings" panose="05000000000000000000" pitchFamily="2" charset="2"/>
              <a:buChar char="§"/>
            </a:pPr>
            <a:r>
              <a:rPr lang="en-US" altLang="ko-KR" sz="1400" b="1" dirty="0"/>
              <a:t>Having the developers more involved in running the application in production leads to them having a better understanding of both the users’ needs and issues and the problems faced by the ops team while maintaining the app</a:t>
            </a:r>
            <a:r>
              <a:rPr lang="en-US" altLang="ko-KR" sz="1400" dirty="0"/>
              <a:t>. Application developers are now also much more inclined to </a:t>
            </a:r>
            <a:r>
              <a:rPr lang="en-US" altLang="ko-KR" sz="1400" b="1" dirty="0"/>
              <a:t>give users the app </a:t>
            </a:r>
            <a:r>
              <a:rPr lang="en-US" altLang="ko-KR" sz="1400" b="1" dirty="0">
                <a:solidFill>
                  <a:srgbClr val="FF0000"/>
                </a:solidFill>
              </a:rPr>
              <a:t>earlier</a:t>
            </a:r>
            <a:r>
              <a:rPr lang="en-US" altLang="ko-KR" sz="1400" b="1" dirty="0"/>
              <a:t> and then use their </a:t>
            </a:r>
            <a:r>
              <a:rPr lang="en-US" altLang="ko-KR" sz="1400" b="1" dirty="0">
                <a:solidFill>
                  <a:srgbClr val="FF0000"/>
                </a:solidFill>
              </a:rPr>
              <a:t>feedback</a:t>
            </a:r>
            <a:r>
              <a:rPr lang="en-US" altLang="ko-KR" sz="1400" b="1" dirty="0"/>
              <a:t> to steer further development of the app</a:t>
            </a:r>
            <a:r>
              <a:rPr lang="en-US" altLang="ko-KR" sz="1400" dirty="0"/>
              <a:t>.</a:t>
            </a:r>
          </a:p>
          <a:p>
            <a:pPr lvl="1">
              <a:buFont typeface="Wingdings" panose="05000000000000000000" pitchFamily="2" charset="2"/>
              <a:buChar char="§"/>
            </a:pPr>
            <a:r>
              <a:rPr lang="en-US" altLang="ko-KR" sz="1400" b="1" dirty="0"/>
              <a:t>To release newer versions of applications more often, you need to </a:t>
            </a:r>
            <a:r>
              <a:rPr lang="en-US" altLang="ko-KR" sz="1400" b="1" dirty="0">
                <a:solidFill>
                  <a:srgbClr val="FF0000"/>
                </a:solidFill>
              </a:rPr>
              <a:t>streamline</a:t>
            </a:r>
            <a:r>
              <a:rPr lang="en-US" altLang="ko-KR" sz="1400" b="1" dirty="0"/>
              <a:t> the deployment process</a:t>
            </a:r>
            <a:r>
              <a:rPr lang="en-US" altLang="ko-KR" sz="1400" dirty="0"/>
              <a:t>. </a:t>
            </a:r>
            <a:r>
              <a:rPr lang="en-US" altLang="ko-KR" sz="1400" b="1" dirty="0"/>
              <a:t>Ideally, you want developers to deploy the applications themselves without having to wait for the ops people</a:t>
            </a:r>
            <a:r>
              <a:rPr lang="en-US" altLang="ko-KR" sz="1400" dirty="0"/>
              <a:t>. But deploying an application often requires an understanding of the underlying infrastructure and the organization of the hardware in the datacenter. Developers don’t always know those details and, most of the time, don’t even want to know about them.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6E30654-20B2-2F59-F937-A3B7636B8679}"/>
              </a:ext>
            </a:extLst>
          </p:cNvPr>
          <p:cNvPicPr>
            <a:picLocks noChangeAspect="1"/>
          </p:cNvPicPr>
          <p:nvPr/>
        </p:nvPicPr>
        <p:blipFill>
          <a:blip r:embed="rId2"/>
          <a:stretch>
            <a:fillRect/>
          </a:stretch>
        </p:blipFill>
        <p:spPr>
          <a:xfrm>
            <a:off x="3653942" y="3701662"/>
            <a:ext cx="4884116" cy="2707368"/>
          </a:xfrm>
          <a:prstGeom prst="rect">
            <a:avLst/>
          </a:prstGeom>
        </p:spPr>
      </p:pic>
    </p:spTree>
    <p:extLst>
      <p:ext uri="{BB962C8B-B14F-4D97-AF65-F5344CB8AC3E}">
        <p14:creationId xmlns:p14="http://schemas.microsoft.com/office/powerpoint/2010/main" val="2347675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Monolithic Apps to Microservice(8/8)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Moving to Continuous Delivery(CD) : DevOps and </a:t>
            </a:r>
            <a:r>
              <a:rPr lang="en-US" altLang="ko-KR" sz="1800" b="1" dirty="0" err="1"/>
              <a:t>NoOps</a:t>
            </a:r>
            <a:endParaRPr lang="en-US" altLang="ko-KR" sz="1800" b="1" dirty="0"/>
          </a:p>
          <a:p>
            <a:pPr lvl="1">
              <a:buFont typeface="Wingdings" panose="05000000000000000000" pitchFamily="2" charset="2"/>
              <a:buChar char="§"/>
            </a:pPr>
            <a:r>
              <a:rPr lang="en-US" altLang="ko-KR" sz="1400" b="1" dirty="0"/>
              <a:t>Even though developers and system administrators both work toward achieving the same goal of running a successful software application as a service to its customers, they have </a:t>
            </a:r>
            <a:r>
              <a:rPr lang="en-US" altLang="ko-KR" sz="1400" b="1" dirty="0">
                <a:solidFill>
                  <a:srgbClr val="FF0000"/>
                </a:solidFill>
              </a:rPr>
              <a:t>different individual goals and motivating factors</a:t>
            </a:r>
            <a:r>
              <a:rPr lang="en-US" altLang="ko-KR" sz="1400" dirty="0"/>
              <a:t>. </a:t>
            </a:r>
          </a:p>
          <a:p>
            <a:pPr lvl="1">
              <a:buFont typeface="Wingdings" panose="05000000000000000000" pitchFamily="2" charset="2"/>
              <a:buChar char="§"/>
            </a:pPr>
            <a:r>
              <a:rPr lang="en-US" altLang="ko-KR" sz="1400" b="1" dirty="0"/>
              <a:t>Developers love creating new features and improving the user experience</a:t>
            </a:r>
            <a:r>
              <a:rPr lang="en-US" altLang="ko-KR" sz="1400" dirty="0"/>
              <a:t>. They don’t normally want to be the ones making sure that the underlying operating system is up to date with all the security patches and things like that. They prefer to leave that up to the system administrators.</a:t>
            </a:r>
          </a:p>
          <a:p>
            <a:pPr lvl="1">
              <a:buFont typeface="Wingdings" panose="05000000000000000000" pitchFamily="2" charset="2"/>
              <a:buChar char="§"/>
            </a:pPr>
            <a:r>
              <a:rPr lang="en-US" altLang="ko-KR" sz="1400" b="1" dirty="0"/>
              <a:t>The ops team is in charge of the </a:t>
            </a:r>
            <a:r>
              <a:rPr lang="en-US" altLang="ko-KR" sz="1400" b="1" dirty="0">
                <a:solidFill>
                  <a:srgbClr val="FF0000"/>
                </a:solidFill>
              </a:rPr>
              <a:t>production deployments </a:t>
            </a:r>
            <a:r>
              <a:rPr lang="en-US" altLang="ko-KR" sz="1400" b="1" dirty="0"/>
              <a:t>and the hardware infrastructure they run on</a:t>
            </a:r>
            <a:r>
              <a:rPr lang="en-US" altLang="ko-KR" sz="1400" dirty="0"/>
              <a:t>. They care about </a:t>
            </a:r>
            <a:r>
              <a:rPr lang="en-US" altLang="ko-KR" sz="1400" b="1" dirty="0"/>
              <a:t>system security, utilization</a:t>
            </a:r>
            <a:r>
              <a:rPr lang="en-US" altLang="ko-KR" sz="1400" dirty="0"/>
              <a:t>, and other aspects that aren’t a high priority for developers. </a:t>
            </a:r>
            <a:r>
              <a:rPr lang="en-US" altLang="ko-KR" sz="1400" b="1" dirty="0"/>
              <a:t>The ops people don’t want to deal with the implicit interdependencies of all the application components and don’t want to think about how changes to either the underlying operating system or the infrastructure can affect the operation of the application as a whole, but they must</a:t>
            </a:r>
            <a:r>
              <a:rPr lang="en-US" altLang="ko-KR" sz="1400" dirty="0"/>
              <a:t>. </a:t>
            </a:r>
          </a:p>
          <a:p>
            <a:pPr lvl="1">
              <a:buFont typeface="Wingdings" panose="05000000000000000000" pitchFamily="2" charset="2"/>
              <a:buChar char="§"/>
            </a:pPr>
            <a:r>
              <a:rPr lang="en-US" altLang="ko-KR" sz="1400" b="1" dirty="0"/>
              <a:t>Ideally, you want the developers to deploy applications themselves without knowing anything about the hardware infrastructure and without dealing with the ops team</a:t>
            </a:r>
            <a:r>
              <a:rPr lang="en-US" altLang="ko-KR" sz="1400" dirty="0"/>
              <a:t>. This is referred to as </a:t>
            </a:r>
            <a:r>
              <a:rPr lang="en-US" altLang="ko-KR" sz="1400" b="1" dirty="0" err="1">
                <a:solidFill>
                  <a:srgbClr val="FF0000"/>
                </a:solidFill>
              </a:rPr>
              <a:t>NoOps</a:t>
            </a:r>
            <a:r>
              <a:rPr lang="en-US" altLang="ko-KR" sz="1400" dirty="0"/>
              <a:t>. Obviously, you still need someone to take care of the hardware infrastructure, but ideally, without having to deal with peculiarities of each application running on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B1B69CE-8F91-74A9-82CC-FBFF88C5B4BD}"/>
              </a:ext>
            </a:extLst>
          </p:cNvPr>
          <p:cNvPicPr>
            <a:picLocks noChangeAspect="1"/>
          </p:cNvPicPr>
          <p:nvPr/>
        </p:nvPicPr>
        <p:blipFill>
          <a:blip r:embed="rId2"/>
          <a:stretch>
            <a:fillRect/>
          </a:stretch>
        </p:blipFill>
        <p:spPr>
          <a:xfrm>
            <a:off x="6924824" y="4247738"/>
            <a:ext cx="4426375" cy="1585567"/>
          </a:xfrm>
          <a:prstGeom prst="rect">
            <a:avLst/>
          </a:prstGeom>
        </p:spPr>
      </p:pic>
      <p:sp>
        <p:nvSpPr>
          <p:cNvPr id="9" name="TextBox 8">
            <a:extLst>
              <a:ext uri="{FF2B5EF4-FFF2-40B4-BE49-F238E27FC236}">
                <a16:creationId xmlns:a16="http://schemas.microsoft.com/office/drawing/2014/main" id="{52B12500-E210-11E2-5F2A-9F55AB660C1B}"/>
              </a:ext>
            </a:extLst>
          </p:cNvPr>
          <p:cNvSpPr txBox="1"/>
          <p:nvPr/>
        </p:nvSpPr>
        <p:spPr>
          <a:xfrm>
            <a:off x="840801" y="4247738"/>
            <a:ext cx="6094428" cy="164352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Kubernetes enables us to achieve all of this by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abstracting away the actual hardware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exposing it as a single platform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for deploying and running apps.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It allows developers to configure and deploy their applications without any help from the sysadmins and allows the sysadmins to focus on keeping the underlying infrastructure up and running, while not having to know anything about the actual applications running on top of it.</a:t>
            </a:r>
          </a:p>
        </p:txBody>
      </p:sp>
    </p:spTree>
    <p:extLst>
      <p:ext uri="{BB962C8B-B14F-4D97-AF65-F5344CB8AC3E}">
        <p14:creationId xmlns:p14="http://schemas.microsoft.com/office/powerpoint/2010/main" val="3196224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Container Technologies :</a:t>
            </a:r>
          </a:p>
          <a:p>
            <a:pPr lvl="1">
              <a:buFont typeface="Wingdings" panose="05000000000000000000" pitchFamily="2" charset="2"/>
              <a:buChar char="§"/>
            </a:pPr>
            <a:r>
              <a:rPr lang="en-US" altLang="ko-KR" sz="1400" b="1" dirty="0"/>
              <a:t>Kubernetes uses </a:t>
            </a:r>
            <a:r>
              <a:rPr lang="en-US" altLang="ko-KR" sz="1400" b="1" dirty="0">
                <a:solidFill>
                  <a:srgbClr val="FF0000"/>
                </a:solidFill>
              </a:rPr>
              <a:t>Linux container technologies </a:t>
            </a:r>
            <a:r>
              <a:rPr lang="en-US" altLang="ko-KR" sz="1400" b="1" dirty="0"/>
              <a:t>to provide isolation of running applications</a:t>
            </a:r>
            <a:r>
              <a:rPr lang="en-US" altLang="ko-KR" sz="1400" dirty="0"/>
              <a:t>, so before we dig into Kubernetes itself, you need to become familiar with the basics of containers to understand what Kubernetes does itself, and what it offloads to container technologies like </a:t>
            </a:r>
            <a:r>
              <a:rPr lang="en-US" altLang="ko-KR" sz="1400" b="1" i="1" dirty="0"/>
              <a:t>Docker</a:t>
            </a:r>
            <a:r>
              <a:rPr lang="en-US" altLang="ko-KR" sz="1400" dirty="0"/>
              <a:t> or </a:t>
            </a:r>
            <a:r>
              <a:rPr lang="en-US" altLang="ko-KR" sz="1400" b="1" i="1" dirty="0" err="1"/>
              <a:t>rkt</a:t>
            </a:r>
            <a:r>
              <a:rPr lang="en-US" altLang="ko-KR" sz="1400" dirty="0"/>
              <a:t> (pronounced “</a:t>
            </a:r>
            <a:r>
              <a:rPr lang="en-US" altLang="ko-KR" sz="1400" b="1" dirty="0"/>
              <a:t>rock-it</a:t>
            </a:r>
            <a:r>
              <a:rPr lang="en-US" altLang="ko-KR" sz="1400" dirty="0"/>
              <a:t>”).</a:t>
            </a:r>
          </a:p>
          <a:p>
            <a:pPr lvl="1">
              <a:buFont typeface="Wingdings" panose="05000000000000000000" pitchFamily="2" charset="2"/>
              <a:buChar char="§"/>
            </a:pPr>
            <a:r>
              <a:rPr lang="en-US" altLang="ko-KR" sz="1400" dirty="0"/>
              <a:t>When an application is composed of only smaller numbers of large components, it’s completely acceptable to give a dedicated Virtual Machine (VM) to each component and isolate their environments by providing each of them with their own operating system instance. But when these components start getting smaller and their numbers start to grow, you can’t give each of them their own VM if you don’t want to waste hardware resources and keep your hardware costs down. But it’s not only about wasting hardware resources. </a:t>
            </a:r>
            <a:r>
              <a:rPr lang="en-US" altLang="ko-KR" sz="1400" b="1" dirty="0"/>
              <a:t>Because each VM usually needs to be configured and managed individually, rising numbers of VMs also lead to wasting human resources, because they increase the system administrators’ workload considerably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D348F71-718F-7875-6353-BDEE5A56B022}"/>
              </a:ext>
            </a:extLst>
          </p:cNvPr>
          <p:cNvPicPr>
            <a:picLocks noChangeAspect="1"/>
          </p:cNvPicPr>
          <p:nvPr/>
        </p:nvPicPr>
        <p:blipFill>
          <a:blip r:embed="rId2"/>
          <a:stretch>
            <a:fillRect/>
          </a:stretch>
        </p:blipFill>
        <p:spPr>
          <a:xfrm>
            <a:off x="2736228" y="3429000"/>
            <a:ext cx="6719544" cy="2604843"/>
          </a:xfrm>
          <a:prstGeom prst="rect">
            <a:avLst/>
          </a:prstGeom>
        </p:spPr>
      </p:pic>
    </p:spTree>
    <p:extLst>
      <p:ext uri="{BB962C8B-B14F-4D97-AF65-F5344CB8AC3E}">
        <p14:creationId xmlns:p14="http://schemas.microsoft.com/office/powerpoint/2010/main" val="1159270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Isolating Components with Linux Container Technologies :</a:t>
            </a:r>
          </a:p>
          <a:p>
            <a:pPr lvl="1">
              <a:buFont typeface="Wingdings" panose="05000000000000000000" pitchFamily="2" charset="2"/>
              <a:buChar char="§"/>
            </a:pPr>
            <a:r>
              <a:rPr lang="en-US" altLang="ko-KR" sz="1400" b="1" dirty="0"/>
              <a:t>Instead of using virtual machines to isolate the environments of each microservice (or software processes in general), developers are turning to Linux container technologies</a:t>
            </a:r>
            <a:r>
              <a:rPr lang="en-US" altLang="ko-KR" sz="1400" dirty="0"/>
              <a:t>. They allow you to </a:t>
            </a:r>
            <a:r>
              <a:rPr lang="en-US" altLang="ko-KR" sz="1400" b="1" dirty="0"/>
              <a:t>run multiple services on the same host machine, while not only </a:t>
            </a:r>
            <a:r>
              <a:rPr lang="en-US" altLang="ko-KR" sz="1400" b="1" dirty="0">
                <a:solidFill>
                  <a:srgbClr val="FF0000"/>
                </a:solidFill>
              </a:rPr>
              <a:t>exposing a different environment to each of them</a:t>
            </a:r>
            <a:r>
              <a:rPr lang="en-US" altLang="ko-KR" sz="1400" b="1" dirty="0"/>
              <a:t>, but also </a:t>
            </a:r>
            <a:r>
              <a:rPr lang="en-US" altLang="ko-KR" sz="1400" b="1" dirty="0">
                <a:solidFill>
                  <a:srgbClr val="FF0000"/>
                </a:solidFill>
              </a:rPr>
              <a:t>isolating them from each other</a:t>
            </a:r>
            <a:r>
              <a:rPr lang="en-US" altLang="ko-KR" sz="1400" dirty="0"/>
              <a:t>, </a:t>
            </a:r>
            <a:r>
              <a:rPr lang="en-US" altLang="ko-KR" sz="1400" b="1" dirty="0"/>
              <a:t>similarly to VMs, but with </a:t>
            </a:r>
            <a:r>
              <a:rPr lang="en-US" altLang="ko-KR" sz="1400" b="1" dirty="0">
                <a:solidFill>
                  <a:srgbClr val="FF0000"/>
                </a:solidFill>
              </a:rPr>
              <a:t>much less overhead</a:t>
            </a:r>
            <a:r>
              <a:rPr lang="en-US" altLang="ko-KR" sz="1400" dirty="0"/>
              <a:t>. </a:t>
            </a:r>
          </a:p>
          <a:p>
            <a:pPr lvl="1">
              <a:buFont typeface="Wingdings" panose="05000000000000000000" pitchFamily="2" charset="2"/>
              <a:buChar char="§"/>
            </a:pPr>
            <a:r>
              <a:rPr lang="en-US" altLang="ko-KR" sz="1400" b="1" dirty="0"/>
              <a:t>A process running in a container runs inside the host’s operating system</a:t>
            </a:r>
            <a:r>
              <a:rPr lang="en-US" altLang="ko-KR" sz="1400" dirty="0"/>
              <a:t>, like all the other processes (unlike VMs, where processes run in separate operating systems). But </a:t>
            </a:r>
            <a:r>
              <a:rPr lang="en-US" altLang="ko-KR" sz="1400" b="1" dirty="0"/>
              <a:t>the process in the container is still isolated from other processes</a:t>
            </a:r>
            <a:r>
              <a:rPr lang="en-US" altLang="ko-KR" sz="1400" dirty="0"/>
              <a:t>. To the process itself, it looks like it’s the only one running on the machine and in its operating system.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4AC6B69-6CC9-1AA5-B654-8A92F6FEAD5B}"/>
              </a:ext>
            </a:extLst>
          </p:cNvPr>
          <p:cNvPicPr>
            <a:picLocks noChangeAspect="1"/>
          </p:cNvPicPr>
          <p:nvPr/>
        </p:nvPicPr>
        <p:blipFill>
          <a:blip r:embed="rId2"/>
          <a:stretch>
            <a:fillRect/>
          </a:stretch>
        </p:blipFill>
        <p:spPr>
          <a:xfrm>
            <a:off x="3188617" y="2750073"/>
            <a:ext cx="5814765" cy="3512908"/>
          </a:xfrm>
          <a:prstGeom prst="rect">
            <a:avLst/>
          </a:prstGeom>
        </p:spPr>
      </p:pic>
    </p:spTree>
    <p:extLst>
      <p:ext uri="{BB962C8B-B14F-4D97-AF65-F5344CB8AC3E}">
        <p14:creationId xmlns:p14="http://schemas.microsoft.com/office/powerpoint/2010/main" val="591817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Virtual Machines to Containers :</a:t>
            </a:r>
          </a:p>
          <a:p>
            <a:pPr lvl="1">
              <a:buFont typeface="Wingdings" panose="05000000000000000000" pitchFamily="2" charset="2"/>
              <a:buChar char="§"/>
            </a:pPr>
            <a:r>
              <a:rPr lang="en-US" altLang="ko-KR" sz="1400" b="1" dirty="0"/>
              <a:t>Compared to VMs, </a:t>
            </a:r>
            <a:r>
              <a:rPr lang="en-US" altLang="ko-KR" sz="1400" b="1" dirty="0">
                <a:solidFill>
                  <a:srgbClr val="FF0000"/>
                </a:solidFill>
              </a:rPr>
              <a:t>containers are much more lightweight</a:t>
            </a:r>
            <a:r>
              <a:rPr lang="en-US" altLang="ko-KR" sz="1400" b="1" dirty="0"/>
              <a:t>, which allows you to run higher numbers of software components on the same hardware, mainly because each </a:t>
            </a:r>
            <a:r>
              <a:rPr lang="en-US" altLang="ko-KR" sz="1400" b="1" dirty="0">
                <a:solidFill>
                  <a:srgbClr val="FF0000"/>
                </a:solidFill>
              </a:rPr>
              <a:t>VM needs to run its own set of system processes</a:t>
            </a:r>
            <a:r>
              <a:rPr lang="en-US" altLang="ko-KR" sz="1400" b="1" dirty="0"/>
              <a:t>, which requires additional compute resources in addition to those consumed by the component’s own process</a:t>
            </a:r>
            <a:r>
              <a:rPr lang="en-US" altLang="ko-KR" sz="1400" dirty="0"/>
              <a:t>. A container, on the other hand, is nothing more than </a:t>
            </a:r>
            <a:r>
              <a:rPr lang="en-US" altLang="ko-KR" sz="1400" b="1" dirty="0">
                <a:solidFill>
                  <a:srgbClr val="FF0000"/>
                </a:solidFill>
              </a:rPr>
              <a:t>a single isolated process running in the host OS</a:t>
            </a:r>
            <a:r>
              <a:rPr lang="en-US" altLang="ko-KR" sz="1400" dirty="0"/>
              <a:t>, consuming only the resources that the app consumes and without the overhead of any additional processes.</a:t>
            </a:r>
          </a:p>
          <a:p>
            <a:pPr lvl="1">
              <a:buFont typeface="Wingdings" panose="05000000000000000000" pitchFamily="2" charset="2"/>
              <a:buChar char="§"/>
            </a:pPr>
            <a:r>
              <a:rPr lang="en-US" altLang="ko-KR" sz="1400" b="1" dirty="0"/>
              <a:t>Because of the overhead of VMs, you often end up grouping multiple applications into each VM because you don’t have enough resources to dedicate a whole VM to each app</a:t>
            </a:r>
            <a:r>
              <a:rPr lang="en-US" altLang="ko-KR" sz="1400" dirty="0"/>
              <a:t>. </a:t>
            </a:r>
            <a:r>
              <a:rPr lang="en-US" altLang="ko-KR" sz="1400" b="1" dirty="0"/>
              <a:t>When using containers, you can (and should) have one container for each application</a:t>
            </a:r>
            <a:r>
              <a:rPr lang="en-US" altLang="ko-KR" sz="1400" dirty="0"/>
              <a:t>. The end-result is that you can fit many more applications on the same </a:t>
            </a:r>
            <a:r>
              <a:rPr lang="en-US" altLang="ko-KR" sz="1400" b="1" dirty="0"/>
              <a:t>bare-metal</a:t>
            </a:r>
            <a:r>
              <a:rPr lang="en-US" altLang="ko-KR" sz="1400" dirty="0"/>
              <a:t> machine.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94DA8CB-5990-1A0A-CC46-C7F43846D457}"/>
              </a:ext>
            </a:extLst>
          </p:cNvPr>
          <p:cNvGrpSpPr/>
          <p:nvPr/>
        </p:nvGrpSpPr>
        <p:grpSpPr>
          <a:xfrm>
            <a:off x="3342967" y="3026733"/>
            <a:ext cx="5506065" cy="3382297"/>
            <a:chOff x="3342967" y="3026733"/>
            <a:chExt cx="5506065" cy="3382297"/>
          </a:xfrm>
        </p:grpSpPr>
        <p:pic>
          <p:nvPicPr>
            <p:cNvPr id="8" name="그림 7">
              <a:extLst>
                <a:ext uri="{FF2B5EF4-FFF2-40B4-BE49-F238E27FC236}">
                  <a16:creationId xmlns:a16="http://schemas.microsoft.com/office/drawing/2014/main" id="{587686FC-0BF7-8C4C-E2F7-7F5A18C834EB}"/>
                </a:ext>
              </a:extLst>
            </p:cNvPr>
            <p:cNvPicPr>
              <a:picLocks noChangeAspect="1"/>
            </p:cNvPicPr>
            <p:nvPr/>
          </p:nvPicPr>
          <p:blipFill>
            <a:blip r:embed="rId2"/>
            <a:stretch>
              <a:fillRect/>
            </a:stretch>
          </p:blipFill>
          <p:spPr>
            <a:xfrm>
              <a:off x="3342967" y="3026733"/>
              <a:ext cx="5506065" cy="3382297"/>
            </a:xfrm>
            <a:prstGeom prst="rect">
              <a:avLst/>
            </a:prstGeom>
          </p:spPr>
        </p:pic>
        <p:sp>
          <p:nvSpPr>
            <p:cNvPr id="9" name="직사각형 8">
              <a:extLst>
                <a:ext uri="{FF2B5EF4-FFF2-40B4-BE49-F238E27FC236}">
                  <a16:creationId xmlns:a16="http://schemas.microsoft.com/office/drawing/2014/main" id="{09C37016-6CDF-53B9-B802-34BB20456C85}"/>
                </a:ext>
              </a:extLst>
            </p:cNvPr>
            <p:cNvSpPr/>
            <p:nvPr/>
          </p:nvSpPr>
          <p:spPr>
            <a:xfrm>
              <a:off x="3506772" y="5344998"/>
              <a:ext cx="2394408" cy="2733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1784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Virtual Machines to Containers :</a:t>
            </a:r>
          </a:p>
          <a:p>
            <a:pPr lvl="1">
              <a:buFont typeface="Wingdings" panose="05000000000000000000" pitchFamily="2" charset="2"/>
              <a:buChar char="§"/>
            </a:pPr>
            <a:r>
              <a:rPr lang="en-US" altLang="ko-KR" sz="1400" b="1" dirty="0"/>
              <a:t>When you run three VMs on a host, you have three completely separate operating systems running on and sharing the same bare-metal hardware</a:t>
            </a:r>
            <a:r>
              <a:rPr lang="en-US" altLang="ko-KR" sz="1400" dirty="0"/>
              <a:t>. Underneath those VMs is </a:t>
            </a:r>
            <a:r>
              <a:rPr lang="en-US" altLang="ko-KR" sz="1400" b="1" dirty="0"/>
              <a:t>the </a:t>
            </a:r>
            <a:r>
              <a:rPr lang="en-US" altLang="ko-KR" sz="1400" b="1" dirty="0">
                <a:solidFill>
                  <a:srgbClr val="FF0000"/>
                </a:solidFill>
              </a:rPr>
              <a:t>host’s OS </a:t>
            </a:r>
            <a:r>
              <a:rPr lang="en-US" altLang="ko-KR" sz="1400" b="1" dirty="0"/>
              <a:t>and a </a:t>
            </a:r>
            <a:r>
              <a:rPr lang="en-US" altLang="ko-KR" sz="1400" b="1" dirty="0">
                <a:solidFill>
                  <a:srgbClr val="FF0000"/>
                </a:solidFill>
              </a:rPr>
              <a:t>hypervisor</a:t>
            </a:r>
            <a:r>
              <a:rPr lang="en-US" altLang="ko-KR" sz="1400" dirty="0"/>
              <a:t>, </a:t>
            </a:r>
            <a:r>
              <a:rPr lang="en-US" altLang="ko-KR" sz="1400" b="1" dirty="0"/>
              <a:t>which divides the physical hardware resources into smaller sets of virtual resources that can be used by the operating system inside each VM</a:t>
            </a:r>
            <a:r>
              <a:rPr lang="en-US" altLang="ko-KR" sz="1400" dirty="0"/>
              <a:t>. </a:t>
            </a:r>
            <a:r>
              <a:rPr lang="en-US" altLang="ko-KR" sz="1400" b="1" dirty="0"/>
              <a:t>Applications running inside those VMs perform system calls to the guest OS’ kernel in the VM, and the kernel then performs x86 instructions on the host’s physical CPU through the hypervisor</a:t>
            </a:r>
            <a:r>
              <a:rPr lang="en-US" altLang="ko-KR" sz="1400" dirty="0"/>
              <a:t>.</a:t>
            </a:r>
          </a:p>
          <a:p>
            <a:pPr lvl="1">
              <a:buFont typeface="Wingdings" panose="05000000000000000000" pitchFamily="2" charset="2"/>
              <a:buChar char="§"/>
            </a:pPr>
            <a:r>
              <a:rPr lang="en-US" altLang="ko-KR" sz="1400" b="1" dirty="0"/>
              <a:t>NOTE : Two types of hypervisors exist</a:t>
            </a:r>
            <a:r>
              <a:rPr lang="en-US" altLang="ko-KR" sz="1400" dirty="0"/>
              <a:t>. </a:t>
            </a:r>
            <a:r>
              <a:rPr lang="en-US" altLang="ko-KR" sz="1400" b="1" dirty="0"/>
              <a:t>Type 1 hypervisors </a:t>
            </a:r>
            <a:r>
              <a:rPr lang="en-US" altLang="ko-KR" sz="1400" dirty="0"/>
              <a:t>don’t use a host OS, while </a:t>
            </a:r>
            <a:r>
              <a:rPr lang="en-US" altLang="ko-KR" sz="1400" b="1" dirty="0"/>
              <a:t>Type 2</a:t>
            </a:r>
            <a:r>
              <a:rPr lang="en-US" altLang="ko-KR" sz="1400" dirty="0"/>
              <a:t> do.</a:t>
            </a:r>
          </a:p>
          <a:p>
            <a:pPr lvl="1">
              <a:buFont typeface="Wingdings" panose="05000000000000000000" pitchFamily="2" charset="2"/>
              <a:buChar char="§"/>
            </a:pPr>
            <a:r>
              <a:rPr lang="en-US" altLang="ko-KR" sz="1400" b="1" dirty="0"/>
              <a:t>Containers, on the other hand, all perform system calls on the exact same kernel running in the host OS</a:t>
            </a:r>
            <a:r>
              <a:rPr lang="en-US" altLang="ko-KR" sz="1400" dirty="0"/>
              <a:t>. This single kernel is the only one performing x86 instructions on the host’s CPU. </a:t>
            </a:r>
            <a:r>
              <a:rPr lang="en-US" altLang="ko-KR" sz="1400" b="1" dirty="0"/>
              <a:t>The CPU doesn’t need to do any kind of virtualization the way it does with VMs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0BFBEF1-C307-6152-989A-0730B3650EF8}"/>
              </a:ext>
            </a:extLst>
          </p:cNvPr>
          <p:cNvGrpSpPr/>
          <p:nvPr/>
        </p:nvGrpSpPr>
        <p:grpSpPr>
          <a:xfrm>
            <a:off x="2755972" y="3216267"/>
            <a:ext cx="6680055" cy="3046714"/>
            <a:chOff x="2270148" y="3092111"/>
            <a:chExt cx="6680055" cy="3046714"/>
          </a:xfrm>
        </p:grpSpPr>
        <p:pic>
          <p:nvPicPr>
            <p:cNvPr id="8" name="그림 7">
              <a:extLst>
                <a:ext uri="{FF2B5EF4-FFF2-40B4-BE49-F238E27FC236}">
                  <a16:creationId xmlns:a16="http://schemas.microsoft.com/office/drawing/2014/main" id="{25C975D3-0A92-1114-C7B8-2FDD2B36AE4D}"/>
                </a:ext>
              </a:extLst>
            </p:cNvPr>
            <p:cNvPicPr>
              <a:picLocks noChangeAspect="1"/>
            </p:cNvPicPr>
            <p:nvPr/>
          </p:nvPicPr>
          <p:blipFill>
            <a:blip r:embed="rId2"/>
            <a:stretch>
              <a:fillRect/>
            </a:stretch>
          </p:blipFill>
          <p:spPr>
            <a:xfrm>
              <a:off x="2270148" y="3092111"/>
              <a:ext cx="3224981" cy="3038168"/>
            </a:xfrm>
            <a:prstGeom prst="rect">
              <a:avLst/>
            </a:prstGeom>
          </p:spPr>
        </p:pic>
        <p:pic>
          <p:nvPicPr>
            <p:cNvPr id="10" name="그림 9">
              <a:extLst>
                <a:ext uri="{FF2B5EF4-FFF2-40B4-BE49-F238E27FC236}">
                  <a16:creationId xmlns:a16="http://schemas.microsoft.com/office/drawing/2014/main" id="{3F30A0F4-44B8-A8D2-510F-06902BA49582}"/>
                </a:ext>
              </a:extLst>
            </p:cNvPr>
            <p:cNvPicPr>
              <a:picLocks noChangeAspect="1"/>
            </p:cNvPicPr>
            <p:nvPr/>
          </p:nvPicPr>
          <p:blipFill>
            <a:blip r:embed="rId3"/>
            <a:stretch>
              <a:fillRect/>
            </a:stretch>
          </p:blipFill>
          <p:spPr>
            <a:xfrm>
              <a:off x="5685893" y="3100657"/>
              <a:ext cx="3264310" cy="3038168"/>
            </a:xfrm>
            <a:prstGeom prst="rect">
              <a:avLst/>
            </a:prstGeom>
          </p:spPr>
        </p:pic>
      </p:grpSp>
    </p:spTree>
    <p:extLst>
      <p:ext uri="{BB962C8B-B14F-4D97-AF65-F5344CB8AC3E}">
        <p14:creationId xmlns:p14="http://schemas.microsoft.com/office/powerpoint/2010/main" val="2365089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Virtual Machines to Containers :</a:t>
            </a:r>
          </a:p>
          <a:p>
            <a:pPr lvl="1">
              <a:buFont typeface="Wingdings" panose="05000000000000000000" pitchFamily="2" charset="2"/>
              <a:buChar char="§"/>
            </a:pPr>
            <a:r>
              <a:rPr lang="en-US" altLang="ko-KR" sz="1400" b="1" dirty="0"/>
              <a:t>The main benefit of virtual machines is the full isolation they provide, because each VM runs its own Linux kernel, while containers all call out to the same kernel</a:t>
            </a:r>
            <a:r>
              <a:rPr lang="en-US" altLang="ko-KR" sz="1400" dirty="0"/>
              <a:t>, </a:t>
            </a:r>
            <a:r>
              <a:rPr lang="en-US" altLang="ko-KR" sz="1400" b="1" dirty="0"/>
              <a:t>which can clearly pose a security risk</a:t>
            </a:r>
            <a:r>
              <a:rPr lang="en-US" altLang="ko-KR" sz="1400" dirty="0"/>
              <a:t>. If you have a limited amount of hardware resources, VMs may only be an option when you have a small number of processes that you want to isolate. </a:t>
            </a:r>
            <a:r>
              <a:rPr lang="en-US" altLang="ko-KR" sz="1400" b="1" dirty="0"/>
              <a:t>To run greater numbers of isolated processes on the same machine, containers are a much better choice because of their </a:t>
            </a:r>
            <a:r>
              <a:rPr lang="en-US" altLang="ko-KR" sz="1400" b="1" dirty="0">
                <a:solidFill>
                  <a:srgbClr val="FF0000"/>
                </a:solidFill>
              </a:rPr>
              <a:t>low overhead</a:t>
            </a:r>
            <a:r>
              <a:rPr lang="en-US" altLang="ko-KR" sz="1400" dirty="0"/>
              <a:t>. </a:t>
            </a:r>
          </a:p>
          <a:p>
            <a:pPr lvl="1">
              <a:buFont typeface="Wingdings" panose="05000000000000000000" pitchFamily="2" charset="2"/>
              <a:buChar char="§"/>
            </a:pPr>
            <a:r>
              <a:rPr lang="en-US" altLang="ko-KR" sz="1400" b="1" dirty="0"/>
              <a:t>Remember, each VM runs its own set of system services, while containers don’t, because they all run in the same OS. That also means that to run a container, nothing needs to be booted up, as is the case in VMs</a:t>
            </a:r>
            <a:r>
              <a:rPr lang="en-US" altLang="ko-KR" sz="1400" dirty="0"/>
              <a:t>. A process run in a container </a:t>
            </a:r>
            <a:r>
              <a:rPr lang="en-US" altLang="ko-KR" sz="1400" b="1" dirty="0">
                <a:solidFill>
                  <a:srgbClr val="FF0000"/>
                </a:solidFill>
              </a:rPr>
              <a:t>starts up immediately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E87578F-AF80-282C-C9BC-273D82556285}"/>
              </a:ext>
            </a:extLst>
          </p:cNvPr>
          <p:cNvPicPr>
            <a:picLocks noChangeAspect="1"/>
          </p:cNvPicPr>
          <p:nvPr/>
        </p:nvPicPr>
        <p:blipFill>
          <a:blip r:embed="rId2"/>
          <a:stretch>
            <a:fillRect/>
          </a:stretch>
        </p:blipFill>
        <p:spPr>
          <a:xfrm>
            <a:off x="4400683" y="2920771"/>
            <a:ext cx="3390633" cy="3354690"/>
          </a:xfrm>
          <a:prstGeom prst="rect">
            <a:avLst/>
          </a:prstGeom>
        </p:spPr>
      </p:pic>
    </p:spTree>
    <p:extLst>
      <p:ext uri="{BB962C8B-B14F-4D97-AF65-F5344CB8AC3E}">
        <p14:creationId xmlns:p14="http://schemas.microsoft.com/office/powerpoint/2010/main" val="3271555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a:t>
            </a:r>
            <a:r>
              <a:rPr lang="ko-KR" altLang="en-US" sz="1800" b="1" dirty="0"/>
              <a:t> </a:t>
            </a:r>
            <a:r>
              <a:rPr lang="en-US" altLang="ko-KR" sz="1800" b="1" dirty="0"/>
              <a:t>the</a:t>
            </a:r>
            <a:r>
              <a:rPr lang="ko-KR" altLang="en-US" sz="1800" b="1" dirty="0"/>
              <a:t> </a:t>
            </a:r>
            <a:r>
              <a:rPr lang="en-US" altLang="ko-KR" sz="1800" b="1" dirty="0"/>
              <a:t>Mechanisms That Make Container Isolation Possible :</a:t>
            </a:r>
          </a:p>
          <a:p>
            <a:pPr lvl="1">
              <a:buFont typeface="Wingdings" panose="05000000000000000000" pitchFamily="2" charset="2"/>
              <a:buChar char="§"/>
            </a:pPr>
            <a:r>
              <a:rPr lang="en-US" altLang="ko-KR" sz="1400" b="1" dirty="0">
                <a:solidFill>
                  <a:srgbClr val="FF0000"/>
                </a:solidFill>
              </a:rPr>
              <a:t>Linux Namespaces </a:t>
            </a:r>
            <a:r>
              <a:rPr lang="en-US" altLang="ko-KR" sz="1400" b="1" dirty="0"/>
              <a:t>- makes sure each process sees its own personal view of the system (files, processes, network interfaces, hostname, and so on). </a:t>
            </a:r>
          </a:p>
          <a:p>
            <a:pPr lvl="1">
              <a:buFont typeface="Wingdings" panose="05000000000000000000" pitchFamily="2" charset="2"/>
              <a:buChar char="§"/>
            </a:pPr>
            <a:r>
              <a:rPr lang="en-US" altLang="ko-KR" sz="1400" b="1" dirty="0">
                <a:solidFill>
                  <a:srgbClr val="FF0000"/>
                </a:solidFill>
              </a:rPr>
              <a:t>Linux Control Groups (</a:t>
            </a:r>
            <a:r>
              <a:rPr lang="en-US" altLang="ko-KR" sz="1400" b="1" dirty="0" err="1">
                <a:solidFill>
                  <a:srgbClr val="FF0000"/>
                </a:solidFill>
              </a:rPr>
              <a:t>cgroups</a:t>
            </a:r>
            <a:r>
              <a:rPr lang="en-US" altLang="ko-KR" sz="1400" b="1" dirty="0">
                <a:solidFill>
                  <a:srgbClr val="FF0000"/>
                </a:solidFill>
              </a:rPr>
              <a:t>)</a:t>
            </a:r>
            <a:r>
              <a:rPr lang="en-US" altLang="ko-KR" sz="1400" b="1" dirty="0"/>
              <a:t> - limit the amount of resources the process can consume (CPU, memory, network bandwidth, and so 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9C98FA2-4092-3B0F-E239-ACFBA251E845}"/>
              </a:ext>
            </a:extLst>
          </p:cNvPr>
          <p:cNvPicPr>
            <a:picLocks noChangeAspect="1"/>
          </p:cNvPicPr>
          <p:nvPr/>
        </p:nvPicPr>
        <p:blipFill>
          <a:blip r:embed="rId2"/>
          <a:stretch>
            <a:fillRect/>
          </a:stretch>
        </p:blipFill>
        <p:spPr>
          <a:xfrm>
            <a:off x="2980702" y="2477921"/>
            <a:ext cx="6230596" cy="3504710"/>
          </a:xfrm>
          <a:prstGeom prst="rect">
            <a:avLst/>
          </a:prstGeom>
        </p:spPr>
      </p:pic>
    </p:spTree>
    <p:extLst>
      <p:ext uri="{BB962C8B-B14F-4D97-AF65-F5344CB8AC3E}">
        <p14:creationId xmlns:p14="http://schemas.microsoft.com/office/powerpoint/2010/main" val="2231363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Isolating Processes with Linux Namespaces :</a:t>
            </a:r>
          </a:p>
          <a:p>
            <a:pPr lvl="1">
              <a:buFont typeface="Wingdings" panose="05000000000000000000" pitchFamily="2" charset="2"/>
              <a:buChar char="§"/>
            </a:pPr>
            <a:r>
              <a:rPr lang="en-US" altLang="ko-KR" sz="1400" b="1" dirty="0"/>
              <a:t>By default, each Linux system initially has one single namespace</a:t>
            </a:r>
            <a:r>
              <a:rPr lang="en-US" altLang="ko-KR" sz="1400" dirty="0"/>
              <a:t>. All system resources, such as filesystems, process IDs, user IDs, network interfaces, and others, belong to the single namespace. </a:t>
            </a:r>
            <a:r>
              <a:rPr lang="en-US" altLang="ko-KR" sz="1400" b="1" dirty="0"/>
              <a:t>But you can create additional namespaces and organize resources across them</a:t>
            </a:r>
            <a:r>
              <a:rPr lang="en-US" altLang="ko-KR" sz="1400" dirty="0"/>
              <a:t>. </a:t>
            </a:r>
            <a:r>
              <a:rPr lang="en-US" altLang="ko-KR" sz="1400" b="1" dirty="0"/>
              <a:t>When running a process, you run it inside one of those </a:t>
            </a:r>
            <a:r>
              <a:rPr lang="en-US" altLang="ko-KR" sz="1400" b="1" dirty="0">
                <a:solidFill>
                  <a:srgbClr val="FF0000"/>
                </a:solidFill>
              </a:rPr>
              <a:t>namespaces</a:t>
            </a:r>
            <a:r>
              <a:rPr lang="en-US" altLang="ko-KR" sz="1400" dirty="0"/>
              <a:t>. </a:t>
            </a:r>
            <a:r>
              <a:rPr lang="en-US" altLang="ko-KR" sz="1400" b="1" dirty="0"/>
              <a:t>The process will only see resources that are inside the same namespace</a:t>
            </a:r>
            <a:r>
              <a:rPr lang="en-US" altLang="ko-KR" sz="1400" dirty="0"/>
              <a:t>. Well, multiple kinds of namespaces exist, so a process doesn’t belong to one namespace, but to one namespace of each kind.</a:t>
            </a:r>
          </a:p>
          <a:p>
            <a:pPr lvl="2">
              <a:buFont typeface="Wingdings" panose="05000000000000000000" pitchFamily="2" charset="2"/>
              <a:buChar char="§"/>
            </a:pPr>
            <a:r>
              <a:rPr lang="en-US" altLang="ko-KR" sz="1400" b="1" dirty="0"/>
              <a:t>Mount (</a:t>
            </a:r>
            <a:r>
              <a:rPr lang="en-US" altLang="ko-KR" sz="1400" b="1" dirty="0" err="1"/>
              <a:t>mnt</a:t>
            </a:r>
            <a:r>
              <a:rPr lang="en-US" altLang="ko-KR" sz="1400" b="1" dirty="0"/>
              <a:t>)</a:t>
            </a:r>
          </a:p>
          <a:p>
            <a:pPr lvl="2">
              <a:buFont typeface="Wingdings" panose="05000000000000000000" pitchFamily="2" charset="2"/>
              <a:buChar char="§"/>
            </a:pPr>
            <a:r>
              <a:rPr lang="en-US" altLang="ko-KR" sz="1400" b="1" dirty="0"/>
              <a:t>Process ID (</a:t>
            </a:r>
            <a:r>
              <a:rPr lang="en-US" altLang="ko-KR" sz="1400" b="1" dirty="0" err="1"/>
              <a:t>pid</a:t>
            </a:r>
            <a:r>
              <a:rPr lang="en-US" altLang="ko-KR" sz="1400" b="1" dirty="0"/>
              <a:t>)</a:t>
            </a:r>
          </a:p>
          <a:p>
            <a:pPr lvl="2">
              <a:buFont typeface="Wingdings" panose="05000000000000000000" pitchFamily="2" charset="2"/>
              <a:buChar char="§"/>
            </a:pPr>
            <a:r>
              <a:rPr lang="en-US" altLang="ko-KR" sz="1400" b="1" dirty="0"/>
              <a:t>Network (net)</a:t>
            </a:r>
          </a:p>
          <a:p>
            <a:pPr lvl="2">
              <a:buFont typeface="Wingdings" panose="05000000000000000000" pitchFamily="2" charset="2"/>
              <a:buChar char="§"/>
            </a:pPr>
            <a:r>
              <a:rPr lang="en-US" altLang="ko-KR" sz="1400" b="1" dirty="0"/>
              <a:t>Inter-process communication (</a:t>
            </a:r>
            <a:r>
              <a:rPr lang="en-US" altLang="ko-KR" sz="1400" b="1" dirty="0" err="1"/>
              <a:t>ipc</a:t>
            </a:r>
            <a:r>
              <a:rPr lang="en-US" altLang="ko-KR" sz="1400" b="1" dirty="0"/>
              <a:t>)</a:t>
            </a:r>
          </a:p>
          <a:p>
            <a:pPr lvl="2">
              <a:buFont typeface="Wingdings" panose="05000000000000000000" pitchFamily="2" charset="2"/>
              <a:buChar char="§"/>
            </a:pPr>
            <a:r>
              <a:rPr lang="en-US" altLang="ko-KR" sz="1400" b="1" dirty="0"/>
              <a:t>UTS[UNIX Timesharing System]</a:t>
            </a:r>
          </a:p>
          <a:p>
            <a:pPr lvl="2">
              <a:buFont typeface="Wingdings" panose="05000000000000000000" pitchFamily="2" charset="2"/>
              <a:buChar char="§"/>
            </a:pPr>
            <a:r>
              <a:rPr lang="en-US" altLang="ko-KR" sz="1400" b="1" dirty="0"/>
              <a:t>User ID (user)</a:t>
            </a:r>
          </a:p>
          <a:p>
            <a:pPr lvl="1">
              <a:buFont typeface="Wingdings" panose="05000000000000000000" pitchFamily="2" charset="2"/>
              <a:buChar char="§"/>
            </a:pPr>
            <a:r>
              <a:rPr lang="en-US" altLang="ko-KR" sz="1400" b="1" dirty="0"/>
              <a:t>Each namespace kind is used to isolate a certain group of resources</a:t>
            </a:r>
            <a:r>
              <a:rPr lang="en-US" altLang="ko-KR" sz="1400" dirty="0"/>
              <a:t>. For example, the </a:t>
            </a:r>
            <a:r>
              <a:rPr lang="en-US" altLang="ko-KR" sz="1400" b="1" dirty="0"/>
              <a:t>UTS</a:t>
            </a:r>
            <a:r>
              <a:rPr lang="en-US" altLang="ko-KR" sz="1400" dirty="0"/>
              <a:t> namespace determines what hostname and domain name the process running inside that namespace sees. By assigning two different UTS namespaces to a pair of processes, you can make them see different local hostnames. In other words, to the two processes, it will appear as though they are running on two different machines (at least as far as the hostname is concerned).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98167F9-7064-76C1-E090-FE430304724F}"/>
              </a:ext>
            </a:extLst>
          </p:cNvPr>
          <p:cNvPicPr>
            <a:picLocks noChangeAspect="1"/>
          </p:cNvPicPr>
          <p:nvPr/>
        </p:nvPicPr>
        <p:blipFill>
          <a:blip r:embed="rId2"/>
          <a:stretch>
            <a:fillRect/>
          </a:stretch>
        </p:blipFill>
        <p:spPr>
          <a:xfrm>
            <a:off x="8868261" y="4627548"/>
            <a:ext cx="2485539" cy="1781482"/>
          </a:xfrm>
          <a:prstGeom prst="rect">
            <a:avLst/>
          </a:prstGeom>
        </p:spPr>
      </p:pic>
      <p:sp>
        <p:nvSpPr>
          <p:cNvPr id="9" name="TextBox 8">
            <a:extLst>
              <a:ext uri="{FF2B5EF4-FFF2-40B4-BE49-F238E27FC236}">
                <a16:creationId xmlns:a16="http://schemas.microsoft.com/office/drawing/2014/main" id="{84BD2590-0C64-D7F0-AE68-4AB24C7B7351}"/>
              </a:ext>
            </a:extLst>
          </p:cNvPr>
          <p:cNvSpPr txBox="1"/>
          <p:nvPr/>
        </p:nvSpPr>
        <p:spPr>
          <a:xfrm>
            <a:off x="838200" y="4655633"/>
            <a:ext cx="8030061" cy="125572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What Network namespace a process belongs to determines which network interfaces the application running inside the process sees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Each network interface belongs to exactly one namespace, but can be moved from one namespace to another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Each container uses its own Network namespace, and therefore each container sees its own set of network interfaces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This should give you a basic idea of how namespaces are used to isolate applications running in containers from each other.</a:t>
            </a:r>
          </a:p>
        </p:txBody>
      </p:sp>
    </p:spTree>
    <p:extLst>
      <p:ext uri="{BB962C8B-B14F-4D97-AF65-F5344CB8AC3E}">
        <p14:creationId xmlns:p14="http://schemas.microsoft.com/office/powerpoint/2010/main" val="2706080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Resources Available to a Process :</a:t>
            </a:r>
          </a:p>
          <a:p>
            <a:pPr lvl="1">
              <a:buFont typeface="Wingdings" panose="05000000000000000000" pitchFamily="2" charset="2"/>
              <a:buChar char="§"/>
            </a:pPr>
            <a:r>
              <a:rPr lang="en-US" altLang="ko-KR" sz="1400" b="1" dirty="0"/>
              <a:t>The other half of container isolation deals with </a:t>
            </a:r>
            <a:r>
              <a:rPr lang="en-US" altLang="ko-KR" sz="1400" b="1" dirty="0">
                <a:solidFill>
                  <a:srgbClr val="FF0000"/>
                </a:solidFill>
              </a:rPr>
              <a:t>limiting the amount of system resources </a:t>
            </a:r>
            <a:r>
              <a:rPr lang="en-US" altLang="ko-KR" sz="1400" b="1" dirty="0"/>
              <a:t>a container can consume</a:t>
            </a:r>
            <a:r>
              <a:rPr lang="en-US" altLang="ko-KR" sz="1400" dirty="0"/>
              <a:t>. This is achieved with </a:t>
            </a:r>
            <a:r>
              <a:rPr lang="en-US" altLang="ko-KR" sz="1400" b="1" dirty="0" err="1">
                <a:solidFill>
                  <a:srgbClr val="FF0000"/>
                </a:solidFill>
              </a:rPr>
              <a:t>cgroups</a:t>
            </a:r>
            <a:r>
              <a:rPr lang="en-US" altLang="ko-KR" sz="1400" dirty="0"/>
              <a:t>, </a:t>
            </a:r>
            <a:r>
              <a:rPr lang="en-US" altLang="ko-KR" sz="1400" b="1" dirty="0"/>
              <a:t>a Linux kernel feature that limits the resource usage of a process (or a group of processes)</a:t>
            </a:r>
            <a:r>
              <a:rPr lang="en-US" altLang="ko-KR" sz="1400" dirty="0"/>
              <a:t>. A process can’t use more than the configured amount of CPU, memory, network bandwidth, and so on. </a:t>
            </a:r>
            <a:r>
              <a:rPr lang="en-US" altLang="ko-KR" sz="1400" b="1" dirty="0"/>
              <a:t>This way, processes cannot hog resources reserved for other processes</a:t>
            </a:r>
            <a:r>
              <a:rPr lang="en-US" altLang="ko-KR" sz="1400" dirty="0"/>
              <a:t>, which is similar to when each process runs on a separate machine.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658699F-45EA-33E0-02F2-1C95AF7F75FA}"/>
              </a:ext>
            </a:extLst>
          </p:cNvPr>
          <p:cNvPicPr>
            <a:picLocks noChangeAspect="1"/>
          </p:cNvPicPr>
          <p:nvPr/>
        </p:nvPicPr>
        <p:blipFill>
          <a:blip r:embed="rId2"/>
          <a:stretch>
            <a:fillRect/>
          </a:stretch>
        </p:blipFill>
        <p:spPr>
          <a:xfrm>
            <a:off x="3486150" y="2592447"/>
            <a:ext cx="5219700" cy="3057525"/>
          </a:xfrm>
          <a:prstGeom prst="rect">
            <a:avLst/>
          </a:prstGeom>
        </p:spPr>
      </p:pic>
    </p:spTree>
    <p:extLst>
      <p:ext uri="{BB962C8B-B14F-4D97-AF65-F5344CB8AC3E}">
        <p14:creationId xmlns:p14="http://schemas.microsoft.com/office/powerpoint/2010/main" val="678809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Docker Container Platform :</a:t>
            </a:r>
          </a:p>
          <a:p>
            <a:pPr lvl="1">
              <a:buFont typeface="Wingdings" panose="05000000000000000000" pitchFamily="2" charset="2"/>
              <a:buChar char="§"/>
            </a:pPr>
            <a:r>
              <a:rPr lang="en-US" altLang="ko-KR" sz="1400" dirty="0"/>
              <a:t>While container technologies have been around for a long time, they’ve become more widely known with the rise of </a:t>
            </a:r>
            <a:r>
              <a:rPr lang="en-US" altLang="ko-KR" sz="1400" b="1" dirty="0"/>
              <a:t>the Docker </a:t>
            </a:r>
            <a:r>
              <a:rPr lang="en-US" altLang="ko-KR" sz="1400" b="1" dirty="0">
                <a:solidFill>
                  <a:srgbClr val="FF0000"/>
                </a:solidFill>
              </a:rPr>
              <a:t>container</a:t>
            </a:r>
            <a:r>
              <a:rPr lang="en-US" altLang="ko-KR" sz="1400" b="1" dirty="0"/>
              <a:t> platform</a:t>
            </a:r>
            <a:r>
              <a:rPr lang="en-US" altLang="ko-KR" sz="1400" dirty="0"/>
              <a:t>. </a:t>
            </a:r>
            <a:r>
              <a:rPr lang="en-US" altLang="ko-KR" sz="1400" b="1" dirty="0"/>
              <a:t>Docker was the first container system that made containers easily portable across different machines</a:t>
            </a:r>
            <a:r>
              <a:rPr lang="en-US" altLang="ko-KR" sz="1400" dirty="0"/>
              <a:t>. </a:t>
            </a:r>
            <a:r>
              <a:rPr lang="en-US" altLang="ko-KR" sz="1400" b="1" dirty="0"/>
              <a:t>It simplified the process of packaging up</a:t>
            </a:r>
            <a:r>
              <a:rPr lang="en-US" altLang="ko-KR" sz="1400" dirty="0"/>
              <a:t> not only the application but also all its libraries and other dependencies, even the whole OS file system, into a simple, portable package that can be used to provision the application to any other machine running Docker.</a:t>
            </a:r>
          </a:p>
          <a:p>
            <a:pPr lvl="1">
              <a:buFont typeface="Wingdings" panose="05000000000000000000" pitchFamily="2" charset="2"/>
              <a:buChar char="§"/>
            </a:pPr>
            <a:r>
              <a:rPr lang="en-US" altLang="ko-KR" sz="1400" b="1" dirty="0"/>
              <a:t>When you run an application packaged with Docker, it sees the exact filesystem contents that you’ve bundled with it</a:t>
            </a:r>
            <a:r>
              <a:rPr lang="en-US" altLang="ko-KR" sz="1400" dirty="0"/>
              <a:t>. </a:t>
            </a:r>
            <a:r>
              <a:rPr lang="en-US" altLang="ko-KR" sz="1400" b="1" dirty="0">
                <a:solidFill>
                  <a:srgbClr val="FF0000"/>
                </a:solidFill>
              </a:rPr>
              <a:t>It sees the same files whether it’s running on your development machine or a production machine</a:t>
            </a:r>
            <a:r>
              <a:rPr lang="en-US" altLang="ko-KR" sz="1400" dirty="0"/>
              <a:t>, even if it the production server is running a completely different Linux OS. The application won’t see anything from the server it’s running on, so it doesn’t matter if the server has a completely different set of installed libraries compared to your development machine.</a:t>
            </a:r>
          </a:p>
          <a:p>
            <a:pPr lvl="1">
              <a:buFont typeface="Wingdings" panose="05000000000000000000" pitchFamily="2" charset="2"/>
              <a:buChar char="§"/>
            </a:pPr>
            <a:r>
              <a:rPr lang="en-US" altLang="ko-KR" sz="1400" b="1" dirty="0"/>
              <a:t>This is similar to creating a VM image by installing an operating system into a VM, installing the app inside it, and then distributing the whole VM image around and running it</a:t>
            </a:r>
            <a:r>
              <a:rPr lang="en-US" altLang="ko-KR" sz="1400" dirty="0"/>
              <a:t>. </a:t>
            </a:r>
            <a:r>
              <a:rPr lang="en-US" altLang="ko-KR" sz="1400" b="1" dirty="0"/>
              <a:t>Docker achieves the same effect</a:t>
            </a:r>
            <a:r>
              <a:rPr lang="en-US" altLang="ko-KR" sz="1400" dirty="0"/>
              <a:t>, but instead of using VMs to achieve app isolation, </a:t>
            </a:r>
            <a:r>
              <a:rPr lang="en-US" altLang="ko-KR" sz="1400" b="1" dirty="0"/>
              <a:t>it uses Linux container technologies</a:t>
            </a:r>
            <a:r>
              <a:rPr lang="en-US" altLang="ko-KR" sz="1400" dirty="0"/>
              <a:t> to provide (almost) the same level of isolation that VMs do. </a:t>
            </a:r>
            <a:r>
              <a:rPr lang="en-US" altLang="ko-KR" sz="1400" b="1" dirty="0"/>
              <a:t>Instead of using big monolithic VM images, it uses </a:t>
            </a:r>
            <a:r>
              <a:rPr lang="en-US" altLang="ko-KR" sz="1400" b="1" dirty="0">
                <a:solidFill>
                  <a:srgbClr val="FF0000"/>
                </a:solidFill>
              </a:rPr>
              <a:t>container images</a:t>
            </a:r>
            <a:r>
              <a:rPr lang="en-US" altLang="ko-KR" sz="1400" b="1" dirty="0"/>
              <a:t>, which are usually smaller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9D6984A-7716-B9E6-AD4D-5DF36458BBC3}"/>
              </a:ext>
            </a:extLst>
          </p:cNvPr>
          <p:cNvPicPr>
            <a:picLocks noChangeAspect="1"/>
          </p:cNvPicPr>
          <p:nvPr/>
        </p:nvPicPr>
        <p:blipFill>
          <a:blip r:embed="rId2"/>
          <a:stretch>
            <a:fillRect/>
          </a:stretch>
        </p:blipFill>
        <p:spPr>
          <a:xfrm>
            <a:off x="5989890" y="4232088"/>
            <a:ext cx="5363910" cy="2124262"/>
          </a:xfrm>
          <a:prstGeom prst="rect">
            <a:avLst/>
          </a:prstGeom>
        </p:spPr>
      </p:pic>
      <p:sp>
        <p:nvSpPr>
          <p:cNvPr id="9" name="TextBox 8">
            <a:extLst>
              <a:ext uri="{FF2B5EF4-FFF2-40B4-BE49-F238E27FC236}">
                <a16:creationId xmlns:a16="http://schemas.microsoft.com/office/drawing/2014/main" id="{FC82B00C-173E-6C36-DECE-D709283003DD}"/>
              </a:ext>
            </a:extLst>
          </p:cNvPr>
          <p:cNvSpPr txBox="1"/>
          <p:nvPr/>
        </p:nvSpPr>
        <p:spPr>
          <a:xfrm>
            <a:off x="838200" y="4158566"/>
            <a:ext cx="5257800" cy="164352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big difference between Docker-based container images and VM images is that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container images are composed of layers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which can be shared and reused across multiple images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This means only certain layers of an image need to be downloaded if the other layers were already downloaded previously when running a different container image that also contains the same layers.</a:t>
            </a:r>
          </a:p>
        </p:txBody>
      </p:sp>
    </p:spTree>
    <p:extLst>
      <p:ext uri="{BB962C8B-B14F-4D97-AF65-F5344CB8AC3E}">
        <p14:creationId xmlns:p14="http://schemas.microsoft.com/office/powerpoint/2010/main" val="2855470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Container?(10/10)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Concepts :</a:t>
            </a:r>
          </a:p>
          <a:p>
            <a:pPr lvl="1">
              <a:buFont typeface="Wingdings" panose="05000000000000000000" pitchFamily="2" charset="2"/>
              <a:buChar char="§"/>
            </a:pPr>
            <a:r>
              <a:rPr lang="en-US" altLang="ko-KR" sz="1400" b="1" dirty="0"/>
              <a:t>Docker is a platform for packaging, distributing, and running applications</a:t>
            </a:r>
            <a:r>
              <a:rPr lang="en-US" altLang="ko-KR" sz="1400" dirty="0"/>
              <a:t>. It allows you to </a:t>
            </a:r>
            <a:r>
              <a:rPr lang="en-US" altLang="ko-KR" sz="1400" b="1" dirty="0">
                <a:solidFill>
                  <a:srgbClr val="FF0000"/>
                </a:solidFill>
              </a:rPr>
              <a:t>package your application together with its whole environment</a:t>
            </a:r>
            <a:r>
              <a:rPr lang="en-US" altLang="ko-KR" sz="1400" dirty="0"/>
              <a:t>. This can be either a few libraries that the app requires or even all the files that are usually available on the filesystem of an installed operating system. </a:t>
            </a:r>
            <a:r>
              <a:rPr lang="en-US" altLang="ko-KR" sz="1400" b="1" dirty="0"/>
              <a:t>Docker makes it possible to transfer this package to a central repository from which it can then be transferred to any computer running Docker and executed there</a:t>
            </a:r>
            <a:r>
              <a:rPr lang="en-US" altLang="ko-KR" sz="1400" dirty="0"/>
              <a:t>.</a:t>
            </a:r>
          </a:p>
          <a:p>
            <a:pPr lvl="2">
              <a:buFont typeface="Wingdings" panose="05000000000000000000" pitchFamily="2" charset="2"/>
              <a:buChar char="§"/>
            </a:pPr>
            <a:r>
              <a:rPr lang="en-US" altLang="ko-KR" sz="1400" b="1" dirty="0"/>
              <a:t>Images</a:t>
            </a:r>
            <a:r>
              <a:rPr lang="en-US" altLang="ko-KR" sz="1400" dirty="0"/>
              <a:t>—</a:t>
            </a:r>
            <a:r>
              <a:rPr lang="en-US" altLang="ko-KR" sz="1400" b="1" dirty="0">
                <a:solidFill>
                  <a:srgbClr val="FF0000"/>
                </a:solidFill>
              </a:rPr>
              <a:t>A Docker-based container image </a:t>
            </a:r>
            <a:r>
              <a:rPr lang="en-US" altLang="ko-KR" sz="1400" b="1" dirty="0"/>
              <a:t>is something you package your application and its environment into</a:t>
            </a:r>
            <a:r>
              <a:rPr lang="en-US" altLang="ko-KR" sz="1400" dirty="0"/>
              <a:t>. It contains the </a:t>
            </a:r>
            <a:r>
              <a:rPr lang="en-US" altLang="ko-KR" sz="1400" b="1" dirty="0"/>
              <a:t>filesystem</a:t>
            </a:r>
            <a:r>
              <a:rPr lang="en-US" altLang="ko-KR" sz="1400" dirty="0"/>
              <a:t> that will be available to the application and other </a:t>
            </a:r>
            <a:r>
              <a:rPr lang="en-US" altLang="ko-KR" sz="1400" b="1" dirty="0"/>
              <a:t>metadata</a:t>
            </a:r>
            <a:r>
              <a:rPr lang="en-US" altLang="ko-KR" sz="1400" dirty="0"/>
              <a:t>, such as the path to the executable that should be executed when the image is run.</a:t>
            </a:r>
          </a:p>
          <a:p>
            <a:pPr lvl="2">
              <a:buFont typeface="Wingdings" panose="05000000000000000000" pitchFamily="2" charset="2"/>
              <a:buChar char="§"/>
            </a:pPr>
            <a:r>
              <a:rPr lang="en-US" altLang="ko-KR" sz="1400" b="1" dirty="0"/>
              <a:t>Registries</a:t>
            </a:r>
            <a:r>
              <a:rPr lang="en-US" altLang="ko-KR" sz="1400" dirty="0"/>
              <a:t>—</a:t>
            </a:r>
            <a:r>
              <a:rPr lang="en-US" altLang="ko-KR" sz="1400" b="1" dirty="0">
                <a:solidFill>
                  <a:srgbClr val="FF0000"/>
                </a:solidFill>
              </a:rPr>
              <a:t>A Docker Registry </a:t>
            </a:r>
            <a:r>
              <a:rPr lang="en-US" altLang="ko-KR" sz="1400" b="1" dirty="0"/>
              <a:t>is a repository that stores your Docker images and facilitates easy sharing of those images between different people and computers</a:t>
            </a:r>
            <a:r>
              <a:rPr lang="en-US" altLang="ko-KR" sz="1400" dirty="0"/>
              <a:t>. When you build your image, you can either run it on the computer you’ve built it on, or you can </a:t>
            </a:r>
            <a:r>
              <a:rPr lang="en-US" altLang="ko-KR" sz="1400" b="1" dirty="0"/>
              <a:t>push (upload) </a:t>
            </a:r>
            <a:r>
              <a:rPr lang="en-US" altLang="ko-KR" sz="1400" dirty="0"/>
              <a:t>the image to a registry and then </a:t>
            </a:r>
            <a:r>
              <a:rPr lang="en-US" altLang="ko-KR" sz="1400" b="1" dirty="0"/>
              <a:t>pull (download) </a:t>
            </a:r>
            <a:r>
              <a:rPr lang="en-US" altLang="ko-KR" sz="1400" dirty="0"/>
              <a:t>it on another computer and run it there. Certain registries are public, allowing anyone to pull images from it, while others are private, only accessible to certain people or machines.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8B30518-AD9F-097A-2F05-602A9B7F6A19}"/>
              </a:ext>
            </a:extLst>
          </p:cNvPr>
          <p:cNvPicPr>
            <a:picLocks noChangeAspect="1"/>
          </p:cNvPicPr>
          <p:nvPr/>
        </p:nvPicPr>
        <p:blipFill>
          <a:blip r:embed="rId2"/>
          <a:stretch>
            <a:fillRect/>
          </a:stretch>
        </p:blipFill>
        <p:spPr>
          <a:xfrm>
            <a:off x="6735243" y="3792648"/>
            <a:ext cx="4618557" cy="2441237"/>
          </a:xfrm>
          <a:prstGeom prst="rect">
            <a:avLst/>
          </a:prstGeom>
        </p:spPr>
      </p:pic>
      <p:sp>
        <p:nvSpPr>
          <p:cNvPr id="9" name="TextBox 8">
            <a:extLst>
              <a:ext uri="{FF2B5EF4-FFF2-40B4-BE49-F238E27FC236}">
                <a16:creationId xmlns:a16="http://schemas.microsoft.com/office/drawing/2014/main" id="{E2B2BD64-7646-43AA-2E75-1D6379AFC63A}"/>
              </a:ext>
            </a:extLst>
          </p:cNvPr>
          <p:cNvSpPr txBox="1"/>
          <p:nvPr/>
        </p:nvSpPr>
        <p:spPr>
          <a:xfrm>
            <a:off x="838199" y="3745963"/>
            <a:ext cx="6835924" cy="1449628"/>
          </a:xfrm>
          <a:prstGeom prst="rect">
            <a:avLst/>
          </a:prstGeom>
          <a:noFill/>
        </p:spPr>
        <p:txBody>
          <a:bodyPr wrap="square">
            <a:spAutoFit/>
          </a:bodyPr>
          <a:lstStyle/>
          <a:p>
            <a:pPr marL="1143000" marR="0" lvl="2"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Containers—</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 Docker-based container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 regular Linux container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created from a Docker-based container image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running container is a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process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running on the host running Docker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but it’s completely isolated from both the host and all other processes running on it. The process is also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resource-constrained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meaning it can only access and use the amount of resources (CPU, RAM, and so on) that are allocated to it.</a:t>
            </a:r>
          </a:p>
        </p:txBody>
      </p:sp>
    </p:spTree>
    <p:extLst>
      <p:ext uri="{BB962C8B-B14F-4D97-AF65-F5344CB8AC3E}">
        <p14:creationId xmlns:p14="http://schemas.microsoft.com/office/powerpoint/2010/main" val="3212021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Container Technologies(1/5)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Distributing and Running a Docker Image :</a:t>
            </a:r>
          </a:p>
          <a:p>
            <a:pPr lvl="1">
              <a:buFont typeface="Wingdings" panose="05000000000000000000" pitchFamily="2" charset="2"/>
              <a:buChar char="§"/>
            </a:pPr>
            <a:r>
              <a:rPr lang="en-US" altLang="ko-KR" sz="1400" b="1" dirty="0"/>
              <a:t>The developer first builds an image and then pushes it to a registry</a:t>
            </a:r>
            <a:r>
              <a:rPr lang="en-US" altLang="ko-KR" sz="1400" dirty="0"/>
              <a:t>. The image is thus available to anyone who can access the registry. They can then </a:t>
            </a:r>
            <a:r>
              <a:rPr lang="en-US" altLang="ko-KR" sz="1400" b="1" dirty="0"/>
              <a:t>pull the image </a:t>
            </a:r>
            <a:r>
              <a:rPr lang="en-US" altLang="ko-KR" sz="1400" dirty="0"/>
              <a:t>to any other machine running Docker and run the image. </a:t>
            </a:r>
            <a:r>
              <a:rPr lang="en-US" altLang="ko-KR" sz="1400" b="1" dirty="0"/>
              <a:t>Docker creates an isolated container based on the image </a:t>
            </a:r>
            <a:r>
              <a:rPr lang="en-US" altLang="ko-KR" sz="1400" dirty="0"/>
              <a:t>and </a:t>
            </a:r>
            <a:r>
              <a:rPr lang="en-US" altLang="ko-KR" sz="1400" b="1" dirty="0"/>
              <a:t>runs the binary executable specified as part of the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DB59B43-F34F-4A18-25B9-741E3FCE9604}"/>
              </a:ext>
            </a:extLst>
          </p:cNvPr>
          <p:cNvPicPr>
            <a:picLocks noChangeAspect="1"/>
          </p:cNvPicPr>
          <p:nvPr/>
        </p:nvPicPr>
        <p:blipFill>
          <a:blip r:embed="rId2"/>
          <a:stretch>
            <a:fillRect/>
          </a:stretch>
        </p:blipFill>
        <p:spPr>
          <a:xfrm>
            <a:off x="3028335" y="2423685"/>
            <a:ext cx="6135329" cy="2969342"/>
          </a:xfrm>
          <a:prstGeom prst="rect">
            <a:avLst/>
          </a:prstGeom>
        </p:spPr>
      </p:pic>
    </p:spTree>
    <p:extLst>
      <p:ext uri="{BB962C8B-B14F-4D97-AF65-F5344CB8AC3E}">
        <p14:creationId xmlns:p14="http://schemas.microsoft.com/office/powerpoint/2010/main" val="3822011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Container Technologies(2/5)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Virtual Machines and Docker Containers :</a:t>
            </a:r>
          </a:p>
          <a:p>
            <a:pPr lvl="1">
              <a:buFont typeface="Wingdings" panose="05000000000000000000" pitchFamily="2" charset="2"/>
              <a:buChar char="§"/>
            </a:pPr>
            <a:r>
              <a:rPr lang="en-US" altLang="ko-KR" sz="1400" dirty="0"/>
              <a:t>In the VM, both apps(A, B or C, D, E) see the same filesystem (that of the VM). But, </a:t>
            </a:r>
            <a:r>
              <a:rPr lang="en-US" altLang="ko-KR" sz="1400" b="1" dirty="0"/>
              <a:t>each container has its own </a:t>
            </a:r>
            <a:r>
              <a:rPr lang="en-US" altLang="ko-KR" sz="1400" b="1" dirty="0">
                <a:solidFill>
                  <a:srgbClr val="FF0000"/>
                </a:solidFill>
              </a:rPr>
              <a:t>isolated</a:t>
            </a:r>
            <a:r>
              <a:rPr lang="en-US" altLang="ko-KR" sz="1400" b="1" dirty="0"/>
              <a:t> filesystem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80DABF65-3CBD-21DB-AFA9-FA0C3D521CB6}"/>
              </a:ext>
            </a:extLst>
          </p:cNvPr>
          <p:cNvGrpSpPr/>
          <p:nvPr/>
        </p:nvGrpSpPr>
        <p:grpSpPr>
          <a:xfrm>
            <a:off x="2792361" y="2100372"/>
            <a:ext cx="6607278" cy="2930013"/>
            <a:chOff x="2792361" y="2100372"/>
            <a:chExt cx="6607278" cy="2930013"/>
          </a:xfrm>
        </p:grpSpPr>
        <p:grpSp>
          <p:nvGrpSpPr>
            <p:cNvPr id="11" name="그룹 10">
              <a:extLst>
                <a:ext uri="{FF2B5EF4-FFF2-40B4-BE49-F238E27FC236}">
                  <a16:creationId xmlns:a16="http://schemas.microsoft.com/office/drawing/2014/main" id="{EFD53935-481D-8094-4C0D-076C916C07FC}"/>
                </a:ext>
              </a:extLst>
            </p:cNvPr>
            <p:cNvGrpSpPr/>
            <p:nvPr/>
          </p:nvGrpSpPr>
          <p:grpSpPr>
            <a:xfrm>
              <a:off x="2792361" y="2100372"/>
              <a:ext cx="6607278" cy="2930013"/>
              <a:chOff x="1713110" y="2328522"/>
              <a:chExt cx="6607278" cy="2930013"/>
            </a:xfrm>
          </p:grpSpPr>
          <p:pic>
            <p:nvPicPr>
              <p:cNvPr id="8" name="그림 7">
                <a:extLst>
                  <a:ext uri="{FF2B5EF4-FFF2-40B4-BE49-F238E27FC236}">
                    <a16:creationId xmlns:a16="http://schemas.microsoft.com/office/drawing/2014/main" id="{33EDECAC-44D6-5C47-96DA-B3EB5DF4870F}"/>
                  </a:ext>
                </a:extLst>
              </p:cNvPr>
              <p:cNvPicPr>
                <a:picLocks noChangeAspect="1"/>
              </p:cNvPicPr>
              <p:nvPr/>
            </p:nvPicPr>
            <p:blipFill>
              <a:blip r:embed="rId2"/>
              <a:stretch>
                <a:fillRect/>
              </a:stretch>
            </p:blipFill>
            <p:spPr>
              <a:xfrm>
                <a:off x="1713110" y="2328522"/>
                <a:ext cx="3303639" cy="2713703"/>
              </a:xfrm>
              <a:prstGeom prst="rect">
                <a:avLst/>
              </a:prstGeom>
            </p:spPr>
          </p:pic>
          <p:pic>
            <p:nvPicPr>
              <p:cNvPr id="10" name="그림 9">
                <a:extLst>
                  <a:ext uri="{FF2B5EF4-FFF2-40B4-BE49-F238E27FC236}">
                    <a16:creationId xmlns:a16="http://schemas.microsoft.com/office/drawing/2014/main" id="{D08630D9-0ECD-EEF8-6B64-327D4143D666}"/>
                  </a:ext>
                </a:extLst>
              </p:cNvPr>
              <p:cNvPicPr>
                <a:picLocks noChangeAspect="1"/>
              </p:cNvPicPr>
              <p:nvPr/>
            </p:nvPicPr>
            <p:blipFill>
              <a:blip r:embed="rId3"/>
              <a:stretch>
                <a:fillRect/>
              </a:stretch>
            </p:blipFill>
            <p:spPr>
              <a:xfrm>
                <a:off x="5016749" y="2328522"/>
                <a:ext cx="3303639" cy="2930013"/>
              </a:xfrm>
              <a:prstGeom prst="rect">
                <a:avLst/>
              </a:prstGeom>
            </p:spPr>
          </p:pic>
        </p:grpSp>
        <p:sp>
          <p:nvSpPr>
            <p:cNvPr id="12" name="직사각형 11">
              <a:extLst>
                <a:ext uri="{FF2B5EF4-FFF2-40B4-BE49-F238E27FC236}">
                  <a16:creationId xmlns:a16="http://schemas.microsoft.com/office/drawing/2014/main" id="{5464634C-D742-D518-CBE0-8660DAF68C1F}"/>
                </a:ext>
              </a:extLst>
            </p:cNvPr>
            <p:cNvSpPr/>
            <p:nvPr/>
          </p:nvSpPr>
          <p:spPr>
            <a:xfrm>
              <a:off x="2965391" y="2828658"/>
              <a:ext cx="94003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0125DCBF-A99F-5502-1219-B5B2879DBB1F}"/>
                </a:ext>
              </a:extLst>
            </p:cNvPr>
            <p:cNvSpPr/>
            <p:nvPr/>
          </p:nvSpPr>
          <p:spPr>
            <a:xfrm>
              <a:off x="3968109" y="2828658"/>
              <a:ext cx="94003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68220C0E-879B-7BA9-5B52-D7E104377FCB}"/>
                </a:ext>
              </a:extLst>
            </p:cNvPr>
            <p:cNvSpPr/>
            <p:nvPr/>
          </p:nvSpPr>
          <p:spPr>
            <a:xfrm>
              <a:off x="6269030" y="3591718"/>
              <a:ext cx="31977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F0E8DDC2-FD58-8783-DCDE-F7EE72DD571A}"/>
                </a:ext>
              </a:extLst>
            </p:cNvPr>
            <p:cNvSpPr/>
            <p:nvPr/>
          </p:nvSpPr>
          <p:spPr>
            <a:xfrm>
              <a:off x="6703442" y="3591718"/>
              <a:ext cx="31977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D4388215-0574-7B66-B736-2DA48FAEDD72}"/>
                </a:ext>
              </a:extLst>
            </p:cNvPr>
            <p:cNvGrpSpPr/>
            <p:nvPr/>
          </p:nvGrpSpPr>
          <p:grpSpPr>
            <a:xfrm>
              <a:off x="7039594" y="3587024"/>
              <a:ext cx="986343" cy="924052"/>
              <a:chOff x="5069771" y="5242895"/>
              <a:chExt cx="986343" cy="924052"/>
            </a:xfrm>
          </p:grpSpPr>
          <p:sp>
            <p:nvSpPr>
              <p:cNvPr id="16" name="직사각형 15">
                <a:extLst>
                  <a:ext uri="{FF2B5EF4-FFF2-40B4-BE49-F238E27FC236}">
                    <a16:creationId xmlns:a16="http://schemas.microsoft.com/office/drawing/2014/main" id="{3F7E1056-2943-FFBB-CE4B-3CBD31345962}"/>
                  </a:ext>
                </a:extLst>
              </p:cNvPr>
              <p:cNvSpPr/>
              <p:nvPr/>
            </p:nvSpPr>
            <p:spPr>
              <a:xfrm>
                <a:off x="5069771" y="5244001"/>
                <a:ext cx="31977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BBFD2D70-A78F-AEA0-7954-D23CA73E6D24}"/>
                  </a:ext>
                </a:extLst>
              </p:cNvPr>
              <p:cNvSpPr/>
              <p:nvPr/>
            </p:nvSpPr>
            <p:spPr>
              <a:xfrm>
                <a:off x="5403054" y="5242895"/>
                <a:ext cx="31977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E3DCAB-8984-4BE5-5EE8-0FE8B93AD475}"/>
                  </a:ext>
                </a:extLst>
              </p:cNvPr>
              <p:cNvSpPr/>
              <p:nvPr/>
            </p:nvSpPr>
            <p:spPr>
              <a:xfrm>
                <a:off x="5736337" y="5242895"/>
                <a:ext cx="319777" cy="9229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945678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Container Technologies(3/5)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Image Layers :</a:t>
            </a:r>
          </a:p>
          <a:p>
            <a:pPr lvl="1">
              <a:buFont typeface="Wingdings" panose="05000000000000000000" pitchFamily="2" charset="2"/>
              <a:buChar char="§"/>
            </a:pPr>
            <a:r>
              <a:rPr lang="en-US" altLang="ko-KR" sz="1400" b="1" dirty="0"/>
              <a:t>Docker images are composed of </a:t>
            </a:r>
            <a:r>
              <a:rPr lang="en-US" altLang="ko-KR" sz="1400" b="1" dirty="0">
                <a:solidFill>
                  <a:srgbClr val="FF0000"/>
                </a:solidFill>
              </a:rPr>
              <a:t>layers</a:t>
            </a:r>
            <a:r>
              <a:rPr lang="en-US" altLang="ko-KR" sz="1400" dirty="0"/>
              <a:t>. </a:t>
            </a:r>
            <a:r>
              <a:rPr lang="en-US" altLang="ko-KR" sz="1400" b="1" dirty="0"/>
              <a:t>Different images can contain the exact same layers because every Docker image is built on top of another image and two different images can both use the same parent image as their base</a:t>
            </a:r>
            <a:r>
              <a:rPr lang="en-US" altLang="ko-KR" sz="1400" dirty="0"/>
              <a:t>. </a:t>
            </a:r>
            <a:r>
              <a:rPr lang="en-US" altLang="ko-KR" sz="1400" b="1" dirty="0"/>
              <a:t>This </a:t>
            </a:r>
            <a:r>
              <a:rPr lang="en-US" altLang="ko-KR" sz="1400" b="1" dirty="0">
                <a:solidFill>
                  <a:srgbClr val="FF0000"/>
                </a:solidFill>
              </a:rPr>
              <a:t>speeds up the distribution of images </a:t>
            </a:r>
            <a:r>
              <a:rPr lang="en-US" altLang="ko-KR" sz="1400" b="1" dirty="0"/>
              <a:t>across the network</a:t>
            </a:r>
            <a:r>
              <a:rPr lang="en-US" altLang="ko-KR" sz="1400" dirty="0"/>
              <a:t>, because layers that have already been transferred as part of the first image don’t need to be transferred again when transferring the other image.</a:t>
            </a:r>
          </a:p>
          <a:p>
            <a:pPr lvl="1">
              <a:buFont typeface="Wingdings" panose="05000000000000000000" pitchFamily="2" charset="2"/>
              <a:buChar char="§"/>
            </a:pPr>
            <a:r>
              <a:rPr lang="en-US" altLang="ko-KR" sz="1400" b="1" dirty="0"/>
              <a:t>Layers also help </a:t>
            </a:r>
            <a:r>
              <a:rPr lang="en-US" altLang="ko-KR" sz="1400" b="1" dirty="0">
                <a:solidFill>
                  <a:srgbClr val="FF0000"/>
                </a:solidFill>
              </a:rPr>
              <a:t>reduce the storage footprint of images</a:t>
            </a:r>
            <a:r>
              <a:rPr lang="en-US" altLang="ko-KR" sz="1400" dirty="0"/>
              <a:t>. </a:t>
            </a:r>
            <a:r>
              <a:rPr lang="en-US" altLang="ko-KR" sz="1400" b="1" dirty="0"/>
              <a:t>Each layer is only stored once</a:t>
            </a:r>
            <a:r>
              <a:rPr lang="en-US" altLang="ko-KR" sz="1400" dirty="0"/>
              <a:t>. Two containers created from two images based on the same base layers can therefore read the same files, but if one of them writes over those files, the other one doesn’t see those changes. Therefore, even if they share files, they’re still isolated from each other. This works because </a:t>
            </a:r>
            <a:r>
              <a:rPr lang="en-US" altLang="ko-KR" sz="1400" b="1" dirty="0"/>
              <a:t>container image layers are read-only</a:t>
            </a:r>
            <a:r>
              <a:rPr lang="en-US" altLang="ko-KR" sz="1400" dirty="0"/>
              <a:t>. </a:t>
            </a:r>
            <a:r>
              <a:rPr lang="en-US" altLang="ko-KR" sz="1400" b="1" dirty="0"/>
              <a:t>When a container is run, a new writable layer is created on top of the layers in the image</a:t>
            </a:r>
            <a:r>
              <a:rPr lang="en-US" altLang="ko-KR" sz="1400" dirty="0"/>
              <a:t>. When the process in the container writes to a file located in one of the underlying layers, </a:t>
            </a:r>
            <a:r>
              <a:rPr lang="en-US" altLang="ko-KR" sz="1400" b="1" dirty="0"/>
              <a:t>a copy of the whole file is created in the top-most layer and the process writes to the copy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79EDE6A-A0AB-4B0C-FB0E-F41A2AEE097B}"/>
              </a:ext>
            </a:extLst>
          </p:cNvPr>
          <p:cNvPicPr>
            <a:picLocks noChangeAspect="1"/>
          </p:cNvPicPr>
          <p:nvPr/>
        </p:nvPicPr>
        <p:blipFill>
          <a:blip r:embed="rId2"/>
          <a:stretch>
            <a:fillRect/>
          </a:stretch>
        </p:blipFill>
        <p:spPr>
          <a:xfrm>
            <a:off x="4305204" y="3360943"/>
            <a:ext cx="3581592" cy="2995407"/>
          </a:xfrm>
          <a:prstGeom prst="rect">
            <a:avLst/>
          </a:prstGeom>
        </p:spPr>
      </p:pic>
    </p:spTree>
    <p:extLst>
      <p:ext uri="{BB962C8B-B14F-4D97-AF65-F5344CB8AC3E}">
        <p14:creationId xmlns:p14="http://schemas.microsoft.com/office/powerpoint/2010/main" val="443486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Container Technologies(4/5)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Portability Limitations of Container Images :</a:t>
            </a:r>
          </a:p>
          <a:p>
            <a:pPr lvl="1">
              <a:buFont typeface="Wingdings" panose="05000000000000000000" pitchFamily="2" charset="2"/>
              <a:buChar char="§"/>
            </a:pPr>
            <a:r>
              <a:rPr lang="en-US" altLang="ko-KR" sz="1400" b="1" dirty="0"/>
              <a:t>In theory, a container image can be run on any Linux machine running Docker</a:t>
            </a:r>
            <a:r>
              <a:rPr lang="en-US" altLang="ko-KR" sz="1400" dirty="0"/>
              <a:t>, but one small caveat exists—one related to the fact that </a:t>
            </a:r>
            <a:r>
              <a:rPr lang="en-US" altLang="ko-KR" sz="1400" b="1" dirty="0"/>
              <a:t>all containers running on a host use the host’s Linux kernel</a:t>
            </a:r>
            <a:r>
              <a:rPr lang="en-US" altLang="ko-KR" sz="1400" dirty="0"/>
              <a:t>. </a:t>
            </a:r>
            <a:r>
              <a:rPr lang="en-US" altLang="ko-KR" sz="1400" b="1" dirty="0"/>
              <a:t>If a containerized application requires a specific kernel version, it may not work on every machine</a:t>
            </a:r>
            <a:r>
              <a:rPr lang="en-US" altLang="ko-KR" sz="1400" dirty="0"/>
              <a:t>. If a machine runs a different version of the Linux kernel or doesn’t have the same kernel modules available, the app can’t run on it. </a:t>
            </a:r>
          </a:p>
          <a:p>
            <a:pPr lvl="1">
              <a:buFont typeface="Wingdings" panose="05000000000000000000" pitchFamily="2" charset="2"/>
              <a:buChar char="§"/>
            </a:pPr>
            <a:r>
              <a:rPr lang="en-US" altLang="ko-KR" sz="1400" b="1" dirty="0"/>
              <a:t>While containers are much more lightweight compared to VMs, they impose certain constraints on the apps running inside them</a:t>
            </a:r>
            <a:r>
              <a:rPr lang="en-US" altLang="ko-KR" sz="1400" dirty="0"/>
              <a:t>. VMs have no such constraints, because each VM runs its own kernel.</a:t>
            </a:r>
          </a:p>
          <a:p>
            <a:pPr lvl="1">
              <a:buFont typeface="Wingdings" panose="05000000000000000000" pitchFamily="2" charset="2"/>
              <a:buChar char="§"/>
            </a:pPr>
            <a:r>
              <a:rPr lang="en-US" altLang="ko-KR" sz="1400" b="1" dirty="0"/>
              <a:t>A containerized app built for a specific hardware architecture can only run on other machines that have the same architecture</a:t>
            </a:r>
            <a:r>
              <a:rPr lang="en-US" altLang="ko-KR" sz="1400" dirty="0"/>
              <a:t>. You can’t containerize an application built for the x86 architecture and expect it to run on an ARM-based machine because it also runs Docker. You still need a VM for that.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7941E8A-570A-FDF8-CE71-E1FAC67475BB}"/>
              </a:ext>
            </a:extLst>
          </p:cNvPr>
          <p:cNvPicPr>
            <a:picLocks noChangeAspect="1"/>
          </p:cNvPicPr>
          <p:nvPr/>
        </p:nvPicPr>
        <p:blipFill>
          <a:blip r:embed="rId2"/>
          <a:stretch>
            <a:fillRect/>
          </a:stretch>
        </p:blipFill>
        <p:spPr>
          <a:xfrm>
            <a:off x="4338965" y="3161944"/>
            <a:ext cx="3514069" cy="3247086"/>
          </a:xfrm>
          <a:prstGeom prst="rect">
            <a:avLst/>
          </a:prstGeom>
        </p:spPr>
      </p:pic>
    </p:spTree>
    <p:extLst>
      <p:ext uri="{BB962C8B-B14F-4D97-AF65-F5344CB8AC3E}">
        <p14:creationId xmlns:p14="http://schemas.microsoft.com/office/powerpoint/2010/main" val="4126182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Container Technologies(5/5)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rkt</a:t>
            </a:r>
            <a:r>
              <a:rPr lang="en-US" altLang="ko-KR" sz="1800" b="1" dirty="0"/>
              <a:t> – An Alternative to Docker :</a:t>
            </a:r>
          </a:p>
          <a:p>
            <a:pPr lvl="1">
              <a:buFont typeface="Wingdings" panose="05000000000000000000" pitchFamily="2" charset="2"/>
              <a:buChar char="§"/>
            </a:pPr>
            <a:r>
              <a:rPr lang="en-US" altLang="ko-KR" sz="1400" dirty="0"/>
              <a:t>Docker was the first container platform that made containers mainstream. But,</a:t>
            </a:r>
            <a:r>
              <a:rPr lang="ko-KR" altLang="en-US" sz="1400" dirty="0"/>
              <a:t> </a:t>
            </a:r>
            <a:r>
              <a:rPr lang="en-US" altLang="ko-KR" sz="1400" dirty="0"/>
              <a:t>Docker itself doesn’t provide process isolation. </a:t>
            </a:r>
            <a:r>
              <a:rPr lang="en-US" altLang="ko-KR" sz="1400" b="1" dirty="0"/>
              <a:t>The actual isolation of containers is done at the Linux kernel level using kernel features such as Linux </a:t>
            </a:r>
            <a:r>
              <a:rPr lang="en-US" altLang="ko-KR" sz="1400" b="1" dirty="0">
                <a:solidFill>
                  <a:srgbClr val="FF0000"/>
                </a:solidFill>
              </a:rPr>
              <a:t>Namespaces</a:t>
            </a:r>
            <a:r>
              <a:rPr lang="en-US" altLang="ko-KR" sz="1400" b="1" dirty="0"/>
              <a:t> and </a:t>
            </a:r>
            <a:r>
              <a:rPr lang="en-US" altLang="ko-KR" sz="1400" b="1" dirty="0" err="1">
                <a:solidFill>
                  <a:srgbClr val="FF0000"/>
                </a:solidFill>
              </a:rPr>
              <a:t>cgroups</a:t>
            </a:r>
            <a:r>
              <a:rPr lang="en-US" altLang="ko-KR" sz="1400" dirty="0"/>
              <a:t>. Docker only makes it easy to use those features.</a:t>
            </a:r>
          </a:p>
          <a:p>
            <a:pPr lvl="1">
              <a:buFont typeface="Wingdings" panose="05000000000000000000" pitchFamily="2" charset="2"/>
              <a:buChar char="§"/>
            </a:pPr>
            <a:r>
              <a:rPr lang="en-US" altLang="ko-KR" sz="1400" dirty="0"/>
              <a:t>After the success of Docker, </a:t>
            </a:r>
            <a:r>
              <a:rPr lang="en-US" altLang="ko-KR" sz="1400" b="1" dirty="0"/>
              <a:t>the </a:t>
            </a:r>
            <a:r>
              <a:rPr lang="en-US" altLang="ko-KR" sz="1400" b="1" dirty="0">
                <a:solidFill>
                  <a:srgbClr val="FF0000"/>
                </a:solidFill>
              </a:rPr>
              <a:t>Open Container Initiative (OCI)</a:t>
            </a:r>
            <a:r>
              <a:rPr lang="en-US" altLang="ko-KR" sz="1400" b="1" dirty="0"/>
              <a:t> </a:t>
            </a:r>
            <a:r>
              <a:rPr lang="en-US" altLang="ko-KR" sz="1400" dirty="0"/>
              <a:t>was born to </a:t>
            </a:r>
            <a:r>
              <a:rPr lang="en-US" altLang="ko-KR" sz="1400" b="1" dirty="0"/>
              <a:t>create open industry standards around container formats and runtime</a:t>
            </a:r>
            <a:r>
              <a:rPr lang="en-US" altLang="ko-KR" sz="1400" dirty="0"/>
              <a:t>. Docker is part of that initiative, as is “</a:t>
            </a:r>
            <a:r>
              <a:rPr lang="en-US" altLang="ko-KR" sz="1400" b="1" dirty="0" err="1">
                <a:solidFill>
                  <a:srgbClr val="FF0000"/>
                </a:solidFill>
              </a:rPr>
              <a:t>rkt</a:t>
            </a:r>
            <a:r>
              <a:rPr lang="en-US" altLang="ko-KR" sz="1400" b="1" dirty="0"/>
              <a:t>" (pronounced “rock-it”)</a:t>
            </a:r>
            <a:r>
              <a:rPr lang="en-US" altLang="ko-KR" sz="1400" dirty="0"/>
              <a:t>, </a:t>
            </a:r>
            <a:r>
              <a:rPr lang="en-US" altLang="ko-KR" sz="1400" b="1" dirty="0"/>
              <a:t>which is another Linux container engine</a:t>
            </a:r>
            <a:r>
              <a:rPr lang="en-US" altLang="ko-KR" sz="1400" dirty="0"/>
              <a:t>.</a:t>
            </a:r>
          </a:p>
          <a:p>
            <a:pPr lvl="1">
              <a:buFont typeface="Wingdings" panose="05000000000000000000" pitchFamily="2" charset="2"/>
              <a:buChar char="§"/>
            </a:pPr>
            <a:r>
              <a:rPr lang="en-US" altLang="ko-KR" sz="1400" dirty="0"/>
              <a:t>Like Docker, </a:t>
            </a:r>
            <a:r>
              <a:rPr lang="en-US" altLang="ko-KR" sz="1400" b="1" dirty="0" err="1"/>
              <a:t>rkt</a:t>
            </a:r>
            <a:r>
              <a:rPr lang="en-US" altLang="ko-KR" sz="1400" dirty="0"/>
              <a:t> </a:t>
            </a:r>
            <a:r>
              <a:rPr lang="en-US" altLang="ko-KR" sz="1400" b="1" dirty="0"/>
              <a:t>is a platform for running containers</a:t>
            </a:r>
            <a:r>
              <a:rPr lang="en-US" altLang="ko-KR" sz="1400" dirty="0"/>
              <a:t>. It puts a strong emphasis on </a:t>
            </a:r>
            <a:r>
              <a:rPr lang="en-US" altLang="ko-KR" sz="1400" b="1" dirty="0"/>
              <a:t>security</a:t>
            </a:r>
            <a:r>
              <a:rPr lang="en-US" altLang="ko-KR" sz="1400" dirty="0"/>
              <a:t>, </a:t>
            </a:r>
            <a:r>
              <a:rPr lang="en-US" altLang="ko-KR" sz="1400" b="1" dirty="0"/>
              <a:t>composability</a:t>
            </a:r>
            <a:r>
              <a:rPr lang="en-US" altLang="ko-KR" sz="1400" dirty="0"/>
              <a:t>, and </a:t>
            </a:r>
            <a:r>
              <a:rPr lang="en-US" altLang="ko-KR" sz="1400" b="1" dirty="0"/>
              <a:t>conforming to open standards</a:t>
            </a:r>
            <a:r>
              <a:rPr lang="en-US" altLang="ko-KR" sz="1400" dirty="0"/>
              <a:t>. </a:t>
            </a:r>
            <a:r>
              <a:rPr lang="en-US" altLang="ko-KR" sz="1400" b="1" dirty="0"/>
              <a:t>It uses the OCI container image format </a:t>
            </a:r>
            <a:r>
              <a:rPr lang="en-US" altLang="ko-KR" sz="1400" dirty="0"/>
              <a:t>and can even run regular Docker container images.</a:t>
            </a:r>
          </a:p>
          <a:p>
            <a:pPr lvl="1">
              <a:buFont typeface="Wingdings" panose="05000000000000000000" pitchFamily="2" charset="2"/>
              <a:buChar char="§"/>
            </a:pPr>
            <a:r>
              <a:rPr lang="en-US" altLang="ko-KR" sz="1400" b="1" dirty="0"/>
              <a:t>Recently, Kubernetes has also started supporting “</a:t>
            </a:r>
            <a:r>
              <a:rPr lang="en-US" altLang="ko-KR" sz="1400" b="1" dirty="0" err="1"/>
              <a:t>rkt</a:t>
            </a:r>
            <a:r>
              <a:rPr lang="en-US" altLang="ko-KR" sz="1400" b="1" dirty="0"/>
              <a:t>"</a:t>
            </a:r>
            <a:r>
              <a:rPr lang="en-US" altLang="ko-KR" sz="1400" dirty="0"/>
              <a:t>, as well as others, as the container runtime. </a:t>
            </a:r>
            <a:r>
              <a:rPr lang="en-US" altLang="ko-KR" sz="1400" b="1" dirty="0"/>
              <a:t>The essence of Kubernetes isn’t orchestrating containers</a:t>
            </a:r>
            <a:r>
              <a:rPr lang="en-US" altLang="ko-KR" sz="1400" dirty="0"/>
              <a:t>. It’s much more. Containers happen to be the best way to run apps on different cluster nodes.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69F14CC-F922-62B4-DEF0-53364BAC0D1E}"/>
              </a:ext>
            </a:extLst>
          </p:cNvPr>
          <p:cNvPicPr>
            <a:picLocks noChangeAspect="1"/>
          </p:cNvPicPr>
          <p:nvPr/>
        </p:nvPicPr>
        <p:blipFill>
          <a:blip r:embed="rId2"/>
          <a:stretch>
            <a:fillRect/>
          </a:stretch>
        </p:blipFill>
        <p:spPr>
          <a:xfrm>
            <a:off x="3877810" y="3488282"/>
            <a:ext cx="4436380" cy="2920748"/>
          </a:xfrm>
          <a:prstGeom prst="rect">
            <a:avLst/>
          </a:prstGeom>
        </p:spPr>
      </p:pic>
    </p:spTree>
    <p:extLst>
      <p:ext uri="{BB962C8B-B14F-4D97-AF65-F5344CB8AC3E}">
        <p14:creationId xmlns:p14="http://schemas.microsoft.com/office/powerpoint/2010/main" val="1165609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Origins :</a:t>
            </a:r>
          </a:p>
          <a:p>
            <a:pPr lvl="1">
              <a:buFont typeface="Wingdings" panose="05000000000000000000" pitchFamily="2" charset="2"/>
              <a:buChar char="§"/>
            </a:pPr>
            <a:r>
              <a:rPr lang="en-US" altLang="ko-KR" sz="1400" b="1" dirty="0"/>
              <a:t>Through the years, Google developed an internal system called </a:t>
            </a:r>
            <a:r>
              <a:rPr lang="en-US" altLang="ko-KR" sz="1400" b="1" dirty="0">
                <a:solidFill>
                  <a:srgbClr val="FF0000"/>
                </a:solidFill>
              </a:rPr>
              <a:t>Borg</a:t>
            </a:r>
            <a:r>
              <a:rPr lang="en-US" altLang="ko-KR" sz="1400" b="1" dirty="0"/>
              <a:t> (and later a new system called </a:t>
            </a:r>
            <a:r>
              <a:rPr lang="en-US" altLang="ko-KR" sz="1400" b="1" dirty="0">
                <a:solidFill>
                  <a:srgbClr val="FF0000"/>
                </a:solidFill>
              </a:rPr>
              <a:t>Omega</a:t>
            </a:r>
            <a:r>
              <a:rPr lang="en-US" altLang="ko-KR" sz="1400" b="1" dirty="0"/>
              <a:t>), that helped both application developers and system administrators manage those thousands of applications and services</a:t>
            </a:r>
            <a:r>
              <a:rPr lang="en-US" altLang="ko-KR" sz="1400" dirty="0"/>
              <a:t>. In addition to simplifying the development and management, it also helped them </a:t>
            </a:r>
            <a:r>
              <a:rPr lang="en-US" altLang="ko-KR" sz="1400" b="1" dirty="0"/>
              <a:t>achieve a much higher utilization of their infrastructure</a:t>
            </a:r>
            <a:r>
              <a:rPr lang="en-US" altLang="ko-KR" sz="1400" dirty="0"/>
              <a:t>, which is important when your organization is that large. </a:t>
            </a:r>
            <a:r>
              <a:rPr lang="en-US" altLang="ko-KR" sz="1400" b="1" dirty="0"/>
              <a:t>When you run hundreds of thousands of machines, even tiny improvements in utilization mean savings in the millions of dollars, so the incentives for developing such a system are clear</a:t>
            </a:r>
            <a:r>
              <a:rPr lang="en-US" altLang="ko-KR" sz="1400" dirty="0"/>
              <a:t>.</a:t>
            </a:r>
          </a:p>
          <a:p>
            <a:pPr lvl="1">
              <a:buFont typeface="Wingdings" panose="05000000000000000000" pitchFamily="2" charset="2"/>
              <a:buChar char="§"/>
            </a:pPr>
            <a:r>
              <a:rPr lang="en-US" altLang="ko-KR" sz="1400" b="1" dirty="0"/>
              <a:t>After having kept Borg and Omega secret for a whole decade, </a:t>
            </a:r>
            <a:r>
              <a:rPr lang="en-US" altLang="ko-KR" sz="1400" b="1" dirty="0">
                <a:solidFill>
                  <a:srgbClr val="FF0000"/>
                </a:solidFill>
              </a:rPr>
              <a:t>in 2014 Google introduced Kubernetes</a:t>
            </a:r>
            <a:r>
              <a:rPr lang="en-US" altLang="ko-KR" sz="1400" b="1" dirty="0"/>
              <a:t>, an open-source system based on the experience gained through Borg, Omega, and other internal Google systems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0F35421-3CFA-A99E-A878-7146BC7D6360}"/>
              </a:ext>
            </a:extLst>
          </p:cNvPr>
          <p:cNvPicPr>
            <a:picLocks noChangeAspect="1"/>
          </p:cNvPicPr>
          <p:nvPr/>
        </p:nvPicPr>
        <p:blipFill>
          <a:blip r:embed="rId2"/>
          <a:stretch>
            <a:fillRect/>
          </a:stretch>
        </p:blipFill>
        <p:spPr>
          <a:xfrm>
            <a:off x="3124200" y="2989733"/>
            <a:ext cx="5943600" cy="3343275"/>
          </a:xfrm>
          <a:prstGeom prst="rect">
            <a:avLst/>
          </a:prstGeom>
        </p:spPr>
      </p:pic>
    </p:spTree>
    <p:extLst>
      <p:ext uri="{BB962C8B-B14F-4D97-AF65-F5344CB8AC3E}">
        <p14:creationId xmlns:p14="http://schemas.microsoft.com/office/powerpoint/2010/main" val="2136684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What is Kubernetes? :</a:t>
            </a:r>
          </a:p>
          <a:p>
            <a:pPr lvl="1">
              <a:buFont typeface="Wingdings" panose="05000000000000000000" pitchFamily="2" charset="2"/>
              <a:buChar char="§"/>
            </a:pPr>
            <a:r>
              <a:rPr lang="en-US" altLang="ko-KR" sz="1400" b="1" dirty="0"/>
              <a:t>Kubernetes is a software system that allows you to easily deploy and manage containerized applications on top of it</a:t>
            </a:r>
            <a:r>
              <a:rPr lang="en-US" altLang="ko-KR" sz="1400" dirty="0"/>
              <a:t>. It relies on the features of </a:t>
            </a:r>
            <a:r>
              <a:rPr lang="en-US" altLang="ko-KR" sz="1400" b="1" dirty="0"/>
              <a:t>Linux containers to run heterogeneous applications without having to know any internal details of these applications and without having to manually deploy these applications on each host</a:t>
            </a:r>
            <a:r>
              <a:rPr lang="en-US" altLang="ko-KR" sz="1400" dirty="0"/>
              <a:t>. Because these apps run in containers, they don’t affect other apps running on the same server, which is critical when you run applications for completely different organizations on the same hardware. This is of paramount importance for </a:t>
            </a:r>
            <a:r>
              <a:rPr lang="en-US" altLang="ko-KR" sz="1400" b="1" dirty="0"/>
              <a:t>cloud providers</a:t>
            </a:r>
            <a:r>
              <a:rPr lang="en-US" altLang="ko-KR" sz="1400" dirty="0"/>
              <a:t>, because they </a:t>
            </a:r>
            <a:r>
              <a:rPr lang="en-US" altLang="ko-KR" sz="1400" b="1" dirty="0"/>
              <a:t>strive for the best possible utilization of their hardware while still having to maintain complete isolation of hosted applications</a:t>
            </a:r>
            <a:r>
              <a:rPr lang="en-US" altLang="ko-KR" sz="1400" dirty="0"/>
              <a:t>.</a:t>
            </a:r>
          </a:p>
          <a:p>
            <a:pPr lvl="1">
              <a:buFont typeface="Wingdings" panose="05000000000000000000" pitchFamily="2" charset="2"/>
              <a:buChar char="§"/>
            </a:pPr>
            <a:r>
              <a:rPr lang="en-US" altLang="ko-KR" sz="1400" b="1" dirty="0"/>
              <a:t>Kubernetes enables you to run your software applications on thousands of computer nodes</a:t>
            </a:r>
            <a:r>
              <a:rPr lang="en-US" altLang="ko-KR" sz="1400" dirty="0"/>
              <a:t> </a:t>
            </a:r>
            <a:r>
              <a:rPr lang="en-US" altLang="ko-KR" sz="1400" b="1" dirty="0"/>
              <a:t>as if all those nodes were a single, enormous computer</a:t>
            </a:r>
            <a:r>
              <a:rPr lang="en-US" altLang="ko-KR" sz="1400" dirty="0"/>
              <a:t>. </a:t>
            </a:r>
            <a:r>
              <a:rPr lang="en-US" altLang="ko-KR" sz="1400" b="1" dirty="0">
                <a:solidFill>
                  <a:srgbClr val="FF0000"/>
                </a:solidFill>
              </a:rPr>
              <a:t>It abstracts away the underlying infrastructure </a:t>
            </a:r>
            <a:r>
              <a:rPr lang="en-US" altLang="ko-KR" sz="1400" dirty="0"/>
              <a:t>and, by doing so, </a:t>
            </a:r>
            <a:r>
              <a:rPr lang="en-US" altLang="ko-KR" sz="1400" b="1" dirty="0"/>
              <a:t>simplifies development, deployment, and management for both development and the operations teams</a:t>
            </a:r>
            <a:r>
              <a:rPr lang="en-US" altLang="ko-KR" sz="1400" dirty="0"/>
              <a:t>.</a:t>
            </a:r>
          </a:p>
          <a:p>
            <a:pPr lvl="1">
              <a:buFont typeface="Wingdings" panose="05000000000000000000" pitchFamily="2" charset="2"/>
              <a:buChar char="§"/>
            </a:pPr>
            <a:r>
              <a:rPr lang="en-US" altLang="ko-KR" sz="1400" dirty="0"/>
              <a:t>Deploying applications through Kubernetes is always the same, whether your cluster contains only a couple of nodes or thousands of them. </a:t>
            </a:r>
            <a:r>
              <a:rPr lang="en-US" altLang="ko-KR" sz="1400" b="1" dirty="0"/>
              <a:t>The size of the cluster makes no difference at all</a:t>
            </a:r>
            <a:r>
              <a:rPr lang="en-US" altLang="ko-KR" sz="1400" dirty="0"/>
              <a:t>. </a:t>
            </a:r>
            <a:r>
              <a:rPr lang="en-US" altLang="ko-KR" sz="1400" b="1" dirty="0"/>
              <a:t>Additional cluster nodes simply represent an additional amount of resources available to deployed apps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B6F8C9B8-1B24-A840-60E4-48A87517DE2C}"/>
              </a:ext>
            </a:extLst>
          </p:cNvPr>
          <p:cNvPicPr>
            <a:picLocks noChangeAspect="1"/>
          </p:cNvPicPr>
          <p:nvPr/>
        </p:nvPicPr>
        <p:blipFill>
          <a:blip r:embed="rId2"/>
          <a:stretch>
            <a:fillRect/>
          </a:stretch>
        </p:blipFill>
        <p:spPr>
          <a:xfrm>
            <a:off x="3507828" y="3831917"/>
            <a:ext cx="5176345" cy="2577113"/>
          </a:xfrm>
          <a:prstGeom prst="rect">
            <a:avLst/>
          </a:prstGeom>
        </p:spPr>
      </p:pic>
    </p:spTree>
    <p:extLst>
      <p:ext uri="{BB962C8B-B14F-4D97-AF65-F5344CB8AC3E}">
        <p14:creationId xmlns:p14="http://schemas.microsoft.com/office/powerpoint/2010/main" val="531869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Core of Kubernetes :</a:t>
            </a:r>
          </a:p>
          <a:p>
            <a:pPr lvl="1">
              <a:buFont typeface="Wingdings" panose="05000000000000000000" pitchFamily="2" charset="2"/>
              <a:buChar char="§"/>
            </a:pPr>
            <a:r>
              <a:rPr lang="en-US" altLang="ko-KR" sz="1400" b="1" dirty="0"/>
              <a:t>The system is composed of a </a:t>
            </a:r>
            <a:r>
              <a:rPr lang="en-US" altLang="ko-KR" sz="1400" b="1" dirty="0">
                <a:solidFill>
                  <a:srgbClr val="FF0000"/>
                </a:solidFill>
              </a:rPr>
              <a:t>master</a:t>
            </a:r>
            <a:r>
              <a:rPr lang="en-US" altLang="ko-KR" sz="1400" b="1" dirty="0"/>
              <a:t> node and any number of </a:t>
            </a:r>
            <a:r>
              <a:rPr lang="en-US" altLang="ko-KR" sz="1400" b="1" dirty="0">
                <a:solidFill>
                  <a:srgbClr val="FF0000"/>
                </a:solidFill>
              </a:rPr>
              <a:t>worker</a:t>
            </a:r>
            <a:r>
              <a:rPr lang="en-US" altLang="ko-KR" sz="1400" b="1" dirty="0"/>
              <a:t> nodes</a:t>
            </a:r>
            <a:r>
              <a:rPr lang="en-US" altLang="ko-KR" sz="1400" dirty="0"/>
              <a:t>. </a:t>
            </a:r>
            <a:r>
              <a:rPr lang="en-US" altLang="ko-KR" sz="1400" b="1" dirty="0"/>
              <a:t>When the developer submits a list of apps to the master, Kubernetes deploys them to the cluster of worker nodes</a:t>
            </a:r>
            <a:r>
              <a:rPr lang="en-US" altLang="ko-KR" sz="1400" dirty="0"/>
              <a:t>. What node a component lands on doesn’t (and shouldn’t) matter—neither to the developer nor to the system administrator.</a:t>
            </a:r>
          </a:p>
          <a:p>
            <a:pPr lvl="1">
              <a:buFont typeface="Wingdings" panose="05000000000000000000" pitchFamily="2" charset="2"/>
              <a:buChar char="§"/>
            </a:pPr>
            <a:r>
              <a:rPr lang="en-US" altLang="ko-KR" sz="1400" b="1" dirty="0"/>
              <a:t>The developer can specify that certain apps must run together and Kubernetes will deploy them on the same worker node</a:t>
            </a:r>
            <a:r>
              <a:rPr lang="en-US" altLang="ko-KR" sz="1400" dirty="0"/>
              <a:t>. Others will be spread around the cluster, but they can talk to each other in the same way, regardless of where they’re deployed.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D2AAA39-C786-2DA0-1332-057D4F47CF6E}"/>
              </a:ext>
            </a:extLst>
          </p:cNvPr>
          <p:cNvPicPr>
            <a:picLocks noChangeAspect="1"/>
          </p:cNvPicPr>
          <p:nvPr/>
        </p:nvPicPr>
        <p:blipFill>
          <a:blip r:embed="rId2"/>
          <a:stretch>
            <a:fillRect/>
          </a:stretch>
        </p:blipFill>
        <p:spPr>
          <a:xfrm>
            <a:off x="2949677" y="2881105"/>
            <a:ext cx="6292645" cy="2703871"/>
          </a:xfrm>
          <a:prstGeom prst="rect">
            <a:avLst/>
          </a:prstGeom>
        </p:spPr>
      </p:pic>
    </p:spTree>
    <p:extLst>
      <p:ext uri="{BB962C8B-B14F-4D97-AF65-F5344CB8AC3E}">
        <p14:creationId xmlns:p14="http://schemas.microsoft.com/office/powerpoint/2010/main" val="2752205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Core of Kubernetes :</a:t>
            </a:r>
          </a:p>
          <a:p>
            <a:pPr lvl="1">
              <a:buFont typeface="Wingdings" panose="05000000000000000000" pitchFamily="2" charset="2"/>
              <a:buChar char="§"/>
            </a:pPr>
            <a:r>
              <a:rPr lang="en-US" altLang="ko-KR" sz="1400" b="1" dirty="0"/>
              <a:t>Kubernetes can be thought of as </a:t>
            </a:r>
            <a:r>
              <a:rPr lang="en-US" altLang="ko-KR" sz="1400" b="1" dirty="0">
                <a:solidFill>
                  <a:srgbClr val="FF0000"/>
                </a:solidFill>
              </a:rPr>
              <a:t>an operating system for the cluster</a:t>
            </a:r>
            <a:r>
              <a:rPr lang="en-US" altLang="ko-KR" sz="1400" dirty="0"/>
              <a:t>. </a:t>
            </a:r>
            <a:r>
              <a:rPr lang="en-US" altLang="ko-KR" sz="1400" b="1" dirty="0"/>
              <a:t>It relieves application developers from having to implement certain infrastructure-related services into their apps</a:t>
            </a:r>
            <a:r>
              <a:rPr lang="en-US" altLang="ko-KR" sz="1400" dirty="0"/>
              <a:t>; instead they rely on Kubernetes to provide these services. This includes things such as </a:t>
            </a:r>
            <a:r>
              <a:rPr lang="en-US" altLang="ko-KR" sz="1400" b="1" dirty="0"/>
              <a:t>service discovery</a:t>
            </a:r>
            <a:r>
              <a:rPr lang="en-US" altLang="ko-KR" sz="1400" dirty="0"/>
              <a:t>, </a:t>
            </a:r>
            <a:r>
              <a:rPr lang="en-US" altLang="ko-KR" sz="1400" b="1" dirty="0"/>
              <a:t>scaling</a:t>
            </a:r>
            <a:r>
              <a:rPr lang="en-US" altLang="ko-KR" sz="1400" dirty="0"/>
              <a:t>, </a:t>
            </a:r>
            <a:r>
              <a:rPr lang="en-US" altLang="ko-KR" sz="1400" b="1" dirty="0"/>
              <a:t>load-balancing</a:t>
            </a:r>
            <a:r>
              <a:rPr lang="en-US" altLang="ko-KR" sz="1400" dirty="0"/>
              <a:t>, </a:t>
            </a:r>
            <a:r>
              <a:rPr lang="en-US" altLang="ko-KR" sz="1400" b="1" dirty="0"/>
              <a:t>self-healing</a:t>
            </a:r>
            <a:r>
              <a:rPr lang="en-US" altLang="ko-KR" sz="1400" dirty="0"/>
              <a:t>, and even </a:t>
            </a:r>
            <a:r>
              <a:rPr lang="en-US" altLang="ko-KR" sz="1400" b="1" dirty="0"/>
              <a:t>leader election</a:t>
            </a:r>
            <a:r>
              <a:rPr lang="en-US" altLang="ko-KR" sz="1400" dirty="0"/>
              <a:t>. </a:t>
            </a:r>
            <a:r>
              <a:rPr lang="en-US" altLang="ko-KR" sz="1400" b="1" dirty="0"/>
              <a:t>Application developers can therefore focus on implementing the actual features of the applications</a:t>
            </a:r>
            <a:r>
              <a:rPr lang="en-US" altLang="ko-KR" sz="1400" dirty="0"/>
              <a:t> and not waste time figuring out how to integrate them with the infrastructure.</a:t>
            </a:r>
          </a:p>
          <a:p>
            <a:pPr lvl="1">
              <a:buFont typeface="Wingdings" panose="05000000000000000000" pitchFamily="2" charset="2"/>
              <a:buChar char="§"/>
            </a:pPr>
            <a:r>
              <a:rPr lang="en-US" altLang="ko-KR" sz="1400" b="1" dirty="0"/>
              <a:t>Kubernetes will run your containerized app somewhere in the cluster, provide information to its components on how to find each other, and keep all of them running</a:t>
            </a:r>
            <a:r>
              <a:rPr lang="en-US" altLang="ko-KR" sz="1400" dirty="0"/>
              <a:t>. Because your application doesn’t care which node it’s running on, </a:t>
            </a:r>
            <a:r>
              <a:rPr lang="en-US" altLang="ko-KR" sz="1400" b="1" dirty="0"/>
              <a:t>Kubernetes can relocate the app at any time</a:t>
            </a:r>
            <a:r>
              <a:rPr lang="en-US" altLang="ko-KR" sz="1400" dirty="0"/>
              <a:t>, and by mixing and matching apps, </a:t>
            </a:r>
            <a:r>
              <a:rPr lang="en-US" altLang="ko-KR" sz="1400" b="1" dirty="0"/>
              <a:t>achieve far better resource utilization than is possible with manual </a:t>
            </a:r>
            <a:r>
              <a:rPr lang="en-US" altLang="ko-KR" sz="1400" b="1" dirty="0">
                <a:solidFill>
                  <a:srgbClr val="FF0000"/>
                </a:solidFill>
              </a:rPr>
              <a:t>scheduling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57689F0-92A6-910F-1ECC-98FACE75C3EB}"/>
              </a:ext>
            </a:extLst>
          </p:cNvPr>
          <p:cNvGrpSpPr/>
          <p:nvPr/>
        </p:nvGrpSpPr>
        <p:grpSpPr>
          <a:xfrm>
            <a:off x="3548471" y="3054488"/>
            <a:ext cx="5095059" cy="3354542"/>
            <a:chOff x="3548471" y="3054488"/>
            <a:chExt cx="5095059" cy="3354542"/>
          </a:xfrm>
        </p:grpSpPr>
        <p:pic>
          <p:nvPicPr>
            <p:cNvPr id="9" name="그림 8">
              <a:extLst>
                <a:ext uri="{FF2B5EF4-FFF2-40B4-BE49-F238E27FC236}">
                  <a16:creationId xmlns:a16="http://schemas.microsoft.com/office/drawing/2014/main" id="{EA59CE94-8B07-E6F7-5FF9-83F202F3E631}"/>
                </a:ext>
              </a:extLst>
            </p:cNvPr>
            <p:cNvPicPr>
              <a:picLocks noChangeAspect="1"/>
            </p:cNvPicPr>
            <p:nvPr/>
          </p:nvPicPr>
          <p:blipFill>
            <a:blip r:embed="rId2"/>
            <a:stretch>
              <a:fillRect/>
            </a:stretch>
          </p:blipFill>
          <p:spPr>
            <a:xfrm>
              <a:off x="3548471" y="3054488"/>
              <a:ext cx="5095059" cy="3354542"/>
            </a:xfrm>
            <a:prstGeom prst="rect">
              <a:avLst/>
            </a:prstGeom>
          </p:spPr>
        </p:pic>
        <p:sp>
          <p:nvSpPr>
            <p:cNvPr id="10" name="TextBox 9">
              <a:extLst>
                <a:ext uri="{FF2B5EF4-FFF2-40B4-BE49-F238E27FC236}">
                  <a16:creationId xmlns:a16="http://schemas.microsoft.com/office/drawing/2014/main" id="{381EC65E-3819-FAFE-3C3D-EED9DC01CED2}"/>
                </a:ext>
              </a:extLst>
            </p:cNvPr>
            <p:cNvSpPr txBox="1"/>
            <p:nvPr/>
          </p:nvSpPr>
          <p:spPr>
            <a:xfrm>
              <a:off x="4883760" y="5399690"/>
              <a:ext cx="984565" cy="246221"/>
            </a:xfrm>
            <a:prstGeom prst="rect">
              <a:avLst/>
            </a:prstGeom>
            <a:noFill/>
          </p:spPr>
          <p:txBody>
            <a:bodyPr wrap="none" rtlCol="0">
              <a:spAutoFit/>
            </a:bodyPr>
            <a:lstStyle/>
            <a:p>
              <a:pPr algn="ctr"/>
              <a:r>
                <a:rPr lang="en-US" altLang="ko-KR" sz="1000" b="1" dirty="0"/>
                <a:t>Master Node</a:t>
              </a:r>
              <a:endParaRPr lang="ko-KR" altLang="en-US" sz="1000" b="1" dirty="0"/>
            </a:p>
          </p:txBody>
        </p:sp>
      </p:grpSp>
    </p:spTree>
    <p:extLst>
      <p:ext uri="{BB962C8B-B14F-4D97-AF65-F5344CB8AC3E}">
        <p14:creationId xmlns:p14="http://schemas.microsoft.com/office/powerpoint/2010/main" val="424609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Architecture of a Kubernetes Cluster :</a:t>
            </a:r>
          </a:p>
          <a:p>
            <a:pPr lvl="1">
              <a:buFont typeface="Wingdings" panose="05000000000000000000" pitchFamily="2" charset="2"/>
              <a:buChar char="§"/>
            </a:pPr>
            <a:r>
              <a:rPr lang="en-US" altLang="ko-KR" sz="1400" dirty="0"/>
              <a:t>At the hardware level, a Kubernetes cluster is composed of many nodes, which can be split into two types :</a:t>
            </a:r>
          </a:p>
          <a:p>
            <a:pPr lvl="2">
              <a:buFont typeface="Wingdings" panose="05000000000000000000" pitchFamily="2" charset="2"/>
              <a:buChar char="§"/>
            </a:pPr>
            <a:r>
              <a:rPr lang="en-US" altLang="ko-KR" sz="1400" b="1" dirty="0"/>
              <a:t>The </a:t>
            </a:r>
            <a:r>
              <a:rPr lang="en-US" altLang="ko-KR" sz="1400" b="1" dirty="0">
                <a:solidFill>
                  <a:srgbClr val="FF0000"/>
                </a:solidFill>
              </a:rPr>
              <a:t>master node</a:t>
            </a:r>
            <a:r>
              <a:rPr lang="en-US" altLang="ko-KR" sz="1400" b="1" dirty="0"/>
              <a:t>, which hosts the </a:t>
            </a:r>
            <a:r>
              <a:rPr lang="en-US" altLang="ko-KR" sz="1400" b="1" dirty="0">
                <a:solidFill>
                  <a:srgbClr val="FF0000"/>
                </a:solidFill>
              </a:rPr>
              <a:t>Kubernetes Control Plane </a:t>
            </a:r>
            <a:r>
              <a:rPr lang="en-US" altLang="ko-KR" sz="1400" b="1" dirty="0"/>
              <a:t>that controls and manages the whole Kubernetes system.</a:t>
            </a:r>
          </a:p>
          <a:p>
            <a:pPr lvl="2">
              <a:buFont typeface="Wingdings" panose="05000000000000000000" pitchFamily="2" charset="2"/>
              <a:buChar char="§"/>
            </a:pPr>
            <a:r>
              <a:rPr lang="en-US" altLang="ko-KR" sz="1400" b="1" dirty="0"/>
              <a:t>The </a:t>
            </a:r>
            <a:r>
              <a:rPr lang="en-US" altLang="ko-KR" sz="1400" b="1" dirty="0">
                <a:solidFill>
                  <a:srgbClr val="FF0000"/>
                </a:solidFill>
              </a:rPr>
              <a:t>worker nodes </a:t>
            </a:r>
            <a:r>
              <a:rPr lang="en-US" altLang="ko-KR" sz="1400" b="1" dirty="0"/>
              <a:t>that run the actual applications you deploy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5015650-DBF7-E4B6-4DCE-5B273B04DE0B}"/>
              </a:ext>
            </a:extLst>
          </p:cNvPr>
          <p:cNvPicPr>
            <a:picLocks noChangeAspect="1"/>
          </p:cNvPicPr>
          <p:nvPr/>
        </p:nvPicPr>
        <p:blipFill>
          <a:blip r:embed="rId2"/>
          <a:stretch>
            <a:fillRect/>
          </a:stretch>
        </p:blipFill>
        <p:spPr>
          <a:xfrm>
            <a:off x="2930013" y="2328273"/>
            <a:ext cx="6331974" cy="2526890"/>
          </a:xfrm>
          <a:prstGeom prst="rect">
            <a:avLst/>
          </a:prstGeom>
        </p:spPr>
      </p:pic>
    </p:spTree>
    <p:extLst>
      <p:ext uri="{BB962C8B-B14F-4D97-AF65-F5344CB8AC3E}">
        <p14:creationId xmlns:p14="http://schemas.microsoft.com/office/powerpoint/2010/main" val="4058272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Control Plane :</a:t>
            </a:r>
          </a:p>
          <a:p>
            <a:pPr lvl="1">
              <a:buFont typeface="Wingdings" panose="05000000000000000000" pitchFamily="2" charset="2"/>
              <a:buChar char="§"/>
            </a:pPr>
            <a:r>
              <a:rPr lang="en-US" altLang="ko-KR" sz="1400" b="1" dirty="0"/>
              <a:t>The </a:t>
            </a:r>
            <a:r>
              <a:rPr lang="en-US" altLang="ko-KR" sz="1400" b="1" dirty="0">
                <a:solidFill>
                  <a:srgbClr val="FF0000"/>
                </a:solidFill>
              </a:rPr>
              <a:t>Control Plane </a:t>
            </a:r>
            <a:r>
              <a:rPr lang="en-US" altLang="ko-KR" sz="1400" b="1" dirty="0"/>
              <a:t>is what controls the cluster and makes it function</a:t>
            </a:r>
            <a:r>
              <a:rPr lang="en-US" altLang="ko-KR" sz="1400" dirty="0"/>
              <a:t>. It consists of multiple components that can run on a single master node or be split across multiple nodes and replicated to ensure high availability.</a:t>
            </a:r>
          </a:p>
          <a:p>
            <a:pPr lvl="2">
              <a:buFont typeface="Wingdings" panose="05000000000000000000" pitchFamily="2" charset="2"/>
              <a:buChar char="§"/>
            </a:pPr>
            <a:r>
              <a:rPr lang="en-US" altLang="ko-KR" sz="1400" b="1" dirty="0"/>
              <a:t>The Kubernetes API Server</a:t>
            </a:r>
            <a:r>
              <a:rPr lang="en-US" altLang="ko-KR" sz="1400" dirty="0"/>
              <a:t>, which you and the other Control Plane components communicate with.</a:t>
            </a:r>
          </a:p>
          <a:p>
            <a:pPr lvl="2">
              <a:buFont typeface="Wingdings" panose="05000000000000000000" pitchFamily="2" charset="2"/>
              <a:buChar char="§"/>
            </a:pPr>
            <a:r>
              <a:rPr lang="en-US" altLang="ko-KR" sz="1400" b="1" dirty="0"/>
              <a:t>The Scheduler</a:t>
            </a:r>
            <a:r>
              <a:rPr lang="en-US" altLang="ko-KR" sz="1400" dirty="0"/>
              <a:t>, which schedules your apps (assigns a worker node to each deployable component of your application)</a:t>
            </a:r>
          </a:p>
          <a:p>
            <a:pPr lvl="2">
              <a:buFont typeface="Wingdings" panose="05000000000000000000" pitchFamily="2" charset="2"/>
              <a:buChar char="§"/>
            </a:pPr>
            <a:r>
              <a:rPr lang="en-US" altLang="ko-KR" sz="1400" b="1" dirty="0"/>
              <a:t>The Controller Manager</a:t>
            </a:r>
            <a:r>
              <a:rPr lang="en-US" altLang="ko-KR" sz="1400" dirty="0"/>
              <a:t>, which performs cluster-level functions, such as </a:t>
            </a:r>
            <a:r>
              <a:rPr lang="en-US" altLang="ko-KR" sz="1400" b="1" dirty="0"/>
              <a:t>replicating components</a:t>
            </a:r>
            <a:r>
              <a:rPr lang="en-US" altLang="ko-KR" sz="1400" dirty="0"/>
              <a:t>, </a:t>
            </a:r>
            <a:r>
              <a:rPr lang="en-US" altLang="ko-KR" sz="1400" b="1" dirty="0"/>
              <a:t>keeping track of worker nodes</a:t>
            </a:r>
            <a:r>
              <a:rPr lang="en-US" altLang="ko-KR" sz="1400" dirty="0"/>
              <a:t>, </a:t>
            </a:r>
            <a:r>
              <a:rPr lang="en-US" altLang="ko-KR" sz="1400" b="1" dirty="0"/>
              <a:t>handling node failures</a:t>
            </a:r>
            <a:r>
              <a:rPr lang="en-US" altLang="ko-KR" sz="1400" dirty="0"/>
              <a:t>, and so on</a:t>
            </a:r>
          </a:p>
          <a:p>
            <a:pPr lvl="2">
              <a:buFont typeface="Wingdings" panose="05000000000000000000" pitchFamily="2" charset="2"/>
              <a:buChar char="§"/>
            </a:pPr>
            <a:r>
              <a:rPr lang="en-US" altLang="ko-KR" sz="1400" b="1" dirty="0" err="1"/>
              <a:t>etcd</a:t>
            </a:r>
            <a:r>
              <a:rPr lang="en-US" altLang="ko-KR" sz="1400" dirty="0"/>
              <a:t>, </a:t>
            </a:r>
            <a:r>
              <a:rPr lang="en-US" altLang="ko-KR" sz="1400" b="1" dirty="0"/>
              <a:t>a reliable distributed data store that persistently stores the cluster configuration</a:t>
            </a:r>
            <a:r>
              <a:rPr lang="en-US" altLang="ko-KR" sz="1400" dirty="0"/>
              <a:t>.</a:t>
            </a:r>
          </a:p>
          <a:p>
            <a:pPr lvl="1">
              <a:buFont typeface="Wingdings" panose="05000000000000000000" pitchFamily="2" charset="2"/>
              <a:buChar char="§"/>
            </a:pPr>
            <a:r>
              <a:rPr lang="en-US" altLang="ko-KR" sz="1400" b="1" dirty="0"/>
              <a:t>The components of the Control Plane hold and control the state of the cluster</a:t>
            </a:r>
            <a:r>
              <a:rPr lang="en-US" altLang="ko-KR" sz="1400" dirty="0"/>
              <a:t>, but they don’t run your applications. This is done by the </a:t>
            </a:r>
            <a:r>
              <a:rPr lang="en-US" altLang="ko-KR" sz="1400" b="1" dirty="0"/>
              <a:t>(worker) nodes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6626ADB-6CF7-E810-C41B-E8F8A54D4E80}"/>
              </a:ext>
            </a:extLst>
          </p:cNvPr>
          <p:cNvGrpSpPr/>
          <p:nvPr/>
        </p:nvGrpSpPr>
        <p:grpSpPr>
          <a:xfrm>
            <a:off x="3431627" y="3549534"/>
            <a:ext cx="5328746" cy="2859496"/>
            <a:chOff x="3431627" y="3549534"/>
            <a:chExt cx="5328746" cy="2859496"/>
          </a:xfrm>
        </p:grpSpPr>
        <p:pic>
          <p:nvPicPr>
            <p:cNvPr id="8" name="그림 7">
              <a:extLst>
                <a:ext uri="{FF2B5EF4-FFF2-40B4-BE49-F238E27FC236}">
                  <a16:creationId xmlns:a16="http://schemas.microsoft.com/office/drawing/2014/main" id="{469EE1A1-F3D7-A27C-ECD2-16B34431A498}"/>
                </a:ext>
              </a:extLst>
            </p:cNvPr>
            <p:cNvPicPr>
              <a:picLocks noChangeAspect="1"/>
            </p:cNvPicPr>
            <p:nvPr/>
          </p:nvPicPr>
          <p:blipFill>
            <a:blip r:embed="rId2"/>
            <a:stretch>
              <a:fillRect/>
            </a:stretch>
          </p:blipFill>
          <p:spPr>
            <a:xfrm>
              <a:off x="3431627" y="3549534"/>
              <a:ext cx="5328746" cy="2859496"/>
            </a:xfrm>
            <a:prstGeom prst="rect">
              <a:avLst/>
            </a:prstGeom>
          </p:spPr>
        </p:pic>
        <p:sp>
          <p:nvSpPr>
            <p:cNvPr id="9" name="직사각형 8">
              <a:extLst>
                <a:ext uri="{FF2B5EF4-FFF2-40B4-BE49-F238E27FC236}">
                  <a16:creationId xmlns:a16="http://schemas.microsoft.com/office/drawing/2014/main" id="{2EC46898-D359-C837-883E-12DCE516B1E7}"/>
                </a:ext>
              </a:extLst>
            </p:cNvPr>
            <p:cNvSpPr/>
            <p:nvPr/>
          </p:nvSpPr>
          <p:spPr>
            <a:xfrm>
              <a:off x="3515710" y="4280338"/>
              <a:ext cx="2806262" cy="19826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01911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Nodes :</a:t>
            </a:r>
          </a:p>
          <a:p>
            <a:pPr lvl="1">
              <a:buFont typeface="Wingdings" panose="05000000000000000000" pitchFamily="2" charset="2"/>
              <a:buChar char="§"/>
            </a:pPr>
            <a:r>
              <a:rPr lang="en-US" altLang="ko-KR" sz="1400" b="1" dirty="0"/>
              <a:t>The worker nodes are the machines that run your containerized applications</a:t>
            </a:r>
            <a:r>
              <a:rPr lang="en-US" altLang="ko-KR" sz="1400" dirty="0"/>
              <a:t>. The task of </a:t>
            </a:r>
            <a:r>
              <a:rPr lang="en-US" altLang="ko-KR" sz="1400" b="1" dirty="0"/>
              <a:t>running</a:t>
            </a:r>
            <a:r>
              <a:rPr lang="en-US" altLang="ko-KR" sz="1400" dirty="0"/>
              <a:t>, </a:t>
            </a:r>
            <a:r>
              <a:rPr lang="en-US" altLang="ko-KR" sz="1400" b="1" dirty="0"/>
              <a:t>monitoring</a:t>
            </a:r>
            <a:r>
              <a:rPr lang="en-US" altLang="ko-KR" sz="1400" dirty="0"/>
              <a:t>, and </a:t>
            </a:r>
            <a:r>
              <a:rPr lang="en-US" altLang="ko-KR" sz="1400" b="1" dirty="0"/>
              <a:t>providing services to your applications </a:t>
            </a:r>
            <a:r>
              <a:rPr lang="en-US" altLang="ko-KR" sz="1400" dirty="0"/>
              <a:t>is done by the following components :</a:t>
            </a:r>
          </a:p>
          <a:p>
            <a:pPr lvl="2">
              <a:buFont typeface="Wingdings" panose="05000000000000000000" pitchFamily="2" charset="2"/>
              <a:buChar char="§"/>
            </a:pPr>
            <a:r>
              <a:rPr lang="en-US" altLang="ko-KR" sz="1400" b="1" dirty="0"/>
              <a:t>Docker, </a:t>
            </a:r>
            <a:r>
              <a:rPr lang="en-US" altLang="ko-KR" sz="1400" b="1" dirty="0" err="1"/>
              <a:t>rkt</a:t>
            </a:r>
            <a:r>
              <a:rPr lang="en-US" altLang="ko-KR" sz="1400" b="1" dirty="0"/>
              <a:t>, or another container runtime</a:t>
            </a:r>
            <a:r>
              <a:rPr lang="en-US" altLang="ko-KR" sz="1400" dirty="0"/>
              <a:t>, which runs your containers</a:t>
            </a:r>
          </a:p>
          <a:p>
            <a:pPr lvl="2">
              <a:buFont typeface="Wingdings" panose="05000000000000000000" pitchFamily="2" charset="2"/>
              <a:buChar char="§"/>
            </a:pPr>
            <a:r>
              <a:rPr lang="en-US" altLang="ko-KR" sz="1400" b="1" dirty="0"/>
              <a:t>The </a:t>
            </a:r>
            <a:r>
              <a:rPr lang="en-US" altLang="ko-KR" sz="1400" b="1" dirty="0" err="1">
                <a:solidFill>
                  <a:srgbClr val="FF0000"/>
                </a:solidFill>
              </a:rPr>
              <a:t>Kubelet</a:t>
            </a:r>
            <a:r>
              <a:rPr lang="en-US" altLang="ko-KR" sz="1400" dirty="0"/>
              <a:t>, </a:t>
            </a:r>
            <a:r>
              <a:rPr lang="en-US" altLang="ko-KR" sz="1400" b="1" dirty="0"/>
              <a:t>which talks to the API server and manages containers on its node</a:t>
            </a:r>
          </a:p>
          <a:p>
            <a:pPr lvl="2">
              <a:buFont typeface="Wingdings" panose="05000000000000000000" pitchFamily="2" charset="2"/>
              <a:buChar char="§"/>
            </a:pPr>
            <a:r>
              <a:rPr lang="en-US" altLang="ko-KR" sz="1400" b="1" dirty="0"/>
              <a:t>The </a:t>
            </a:r>
            <a:r>
              <a:rPr lang="en-US" altLang="ko-KR" sz="1400" b="1" dirty="0">
                <a:solidFill>
                  <a:srgbClr val="FF0000"/>
                </a:solidFill>
              </a:rPr>
              <a:t>Kubernetes Service Proxy (</a:t>
            </a:r>
            <a:r>
              <a:rPr lang="en-US" altLang="ko-KR" sz="1400" b="1" dirty="0" err="1">
                <a:solidFill>
                  <a:srgbClr val="FF0000"/>
                </a:solidFill>
              </a:rPr>
              <a:t>kube</a:t>
            </a:r>
            <a:r>
              <a:rPr lang="en-US" altLang="ko-KR" sz="1400" b="1" dirty="0">
                <a:solidFill>
                  <a:srgbClr val="FF0000"/>
                </a:solidFill>
              </a:rPr>
              <a:t>-proxy)</a:t>
            </a:r>
            <a:r>
              <a:rPr lang="en-US" altLang="ko-KR" sz="1400" dirty="0"/>
              <a:t>, </a:t>
            </a:r>
            <a:r>
              <a:rPr lang="en-US" altLang="ko-KR" sz="1400" b="1" dirty="0"/>
              <a:t>which load-balances network traffic between application components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BD5F9A88-C58F-D62C-3648-565E819C1686}"/>
              </a:ext>
            </a:extLst>
          </p:cNvPr>
          <p:cNvGrpSpPr/>
          <p:nvPr/>
        </p:nvGrpSpPr>
        <p:grpSpPr>
          <a:xfrm>
            <a:off x="3378254" y="2834824"/>
            <a:ext cx="5435491" cy="2943729"/>
            <a:chOff x="3378254" y="2834824"/>
            <a:chExt cx="5435491" cy="2943729"/>
          </a:xfrm>
        </p:grpSpPr>
        <p:pic>
          <p:nvPicPr>
            <p:cNvPr id="4" name="그림 3">
              <a:extLst>
                <a:ext uri="{FF2B5EF4-FFF2-40B4-BE49-F238E27FC236}">
                  <a16:creationId xmlns:a16="http://schemas.microsoft.com/office/drawing/2014/main" id="{AB6C59B3-974E-0488-4409-A21C2178A62B}"/>
                </a:ext>
              </a:extLst>
            </p:cNvPr>
            <p:cNvPicPr>
              <a:picLocks noChangeAspect="1"/>
            </p:cNvPicPr>
            <p:nvPr/>
          </p:nvPicPr>
          <p:blipFill>
            <a:blip r:embed="rId2"/>
            <a:stretch>
              <a:fillRect/>
            </a:stretch>
          </p:blipFill>
          <p:spPr>
            <a:xfrm>
              <a:off x="3378254" y="2834824"/>
              <a:ext cx="5435491" cy="2943729"/>
            </a:xfrm>
            <a:prstGeom prst="rect">
              <a:avLst/>
            </a:prstGeom>
          </p:spPr>
        </p:pic>
        <p:sp>
          <p:nvSpPr>
            <p:cNvPr id="8" name="직사각형 7">
              <a:extLst>
                <a:ext uri="{FF2B5EF4-FFF2-40B4-BE49-F238E27FC236}">
                  <a16:creationId xmlns:a16="http://schemas.microsoft.com/office/drawing/2014/main" id="{A49F25ED-0664-805D-CBF4-14F205BBE381}"/>
                </a:ext>
              </a:extLst>
            </p:cNvPr>
            <p:cNvSpPr/>
            <p:nvPr/>
          </p:nvSpPr>
          <p:spPr>
            <a:xfrm>
              <a:off x="5273565" y="2900855"/>
              <a:ext cx="2459421" cy="28220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23830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an Application in Kubernetes :</a:t>
            </a:r>
          </a:p>
          <a:p>
            <a:pPr lvl="1">
              <a:buFont typeface="Wingdings" panose="05000000000000000000" pitchFamily="2" charset="2"/>
              <a:buChar char="§"/>
            </a:pPr>
            <a:r>
              <a:rPr lang="en-US" altLang="ko-KR" sz="1400" b="1" dirty="0"/>
              <a:t>To run an application in Kubernetes, you first need to package it up into one or more </a:t>
            </a:r>
            <a:r>
              <a:rPr lang="en-US" altLang="ko-KR" sz="1400" b="1" dirty="0">
                <a:solidFill>
                  <a:srgbClr val="FF0000"/>
                </a:solidFill>
              </a:rPr>
              <a:t>container images</a:t>
            </a:r>
            <a:r>
              <a:rPr lang="en-US" altLang="ko-KR" sz="1400" b="1" dirty="0"/>
              <a:t>, push those images to an </a:t>
            </a:r>
            <a:r>
              <a:rPr lang="en-US" altLang="ko-KR" sz="1400" b="1" dirty="0">
                <a:solidFill>
                  <a:srgbClr val="FF0000"/>
                </a:solidFill>
              </a:rPr>
              <a:t>image registry</a:t>
            </a:r>
            <a:r>
              <a:rPr lang="en-US" altLang="ko-KR" sz="1400" b="1" dirty="0"/>
              <a:t>, and then post a </a:t>
            </a:r>
            <a:r>
              <a:rPr lang="en-US" altLang="ko-KR" sz="1400" b="1" dirty="0">
                <a:solidFill>
                  <a:srgbClr val="FF0000"/>
                </a:solidFill>
              </a:rPr>
              <a:t>description</a:t>
            </a:r>
            <a:r>
              <a:rPr lang="en-US" altLang="ko-KR" sz="1400" b="1" dirty="0"/>
              <a:t> of your app to the Kubernetes API server</a:t>
            </a:r>
            <a:r>
              <a:rPr lang="en-US" altLang="ko-KR" sz="1400" dirty="0"/>
              <a:t>.</a:t>
            </a:r>
          </a:p>
          <a:p>
            <a:pPr lvl="1">
              <a:buFont typeface="Wingdings" panose="05000000000000000000" pitchFamily="2" charset="2"/>
              <a:buChar char="§"/>
            </a:pPr>
            <a:r>
              <a:rPr lang="en-US" altLang="ko-KR" sz="1400" b="1" dirty="0"/>
              <a:t>The description includes information such as the container image or images that contain your application components, how those components are related to each other, and which ones need to be run co-located (together on the same node) and which don’t</a:t>
            </a:r>
            <a:r>
              <a:rPr lang="en-US" altLang="ko-KR" sz="1400" dirty="0"/>
              <a:t>. For each component, you can also specify </a:t>
            </a:r>
            <a:r>
              <a:rPr lang="en-US" altLang="ko-KR" sz="1400" b="1" dirty="0"/>
              <a:t>how many copies (or replicas) you want to run</a:t>
            </a:r>
            <a:r>
              <a:rPr lang="en-US" altLang="ko-KR" sz="1400" dirty="0"/>
              <a:t>. Additionally, the description also includes </a:t>
            </a:r>
            <a:r>
              <a:rPr lang="en-US" altLang="ko-KR" sz="1400" b="1" dirty="0"/>
              <a:t>which of those components provide a service to either internal or external clients and should be exposed through a single IP address and made discoverable to the other components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0DF03ED-D137-EB8A-8FB6-D473A5348466}"/>
              </a:ext>
            </a:extLst>
          </p:cNvPr>
          <p:cNvPicPr>
            <a:picLocks noChangeAspect="1"/>
          </p:cNvPicPr>
          <p:nvPr/>
        </p:nvPicPr>
        <p:blipFill>
          <a:blip r:embed="rId2"/>
          <a:stretch>
            <a:fillRect/>
          </a:stretch>
        </p:blipFill>
        <p:spPr>
          <a:xfrm>
            <a:off x="3652386" y="2822028"/>
            <a:ext cx="4887227" cy="3587002"/>
          </a:xfrm>
          <a:prstGeom prst="rect">
            <a:avLst/>
          </a:prstGeom>
        </p:spPr>
      </p:pic>
    </p:spTree>
    <p:extLst>
      <p:ext uri="{BB962C8B-B14F-4D97-AF65-F5344CB8AC3E}">
        <p14:creationId xmlns:p14="http://schemas.microsoft.com/office/powerpoint/2010/main" val="1640416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an Application in Kubernetes :</a:t>
            </a:r>
          </a:p>
          <a:p>
            <a:pPr lvl="1">
              <a:buFont typeface="Wingdings" panose="05000000000000000000" pitchFamily="2" charset="2"/>
              <a:buChar char="§"/>
            </a:pPr>
            <a:r>
              <a:rPr lang="en-US" altLang="ko-KR" sz="1400" b="1" dirty="0"/>
              <a:t>When the </a:t>
            </a:r>
            <a:r>
              <a:rPr lang="en-US" altLang="ko-KR" sz="1400" b="1" dirty="0">
                <a:solidFill>
                  <a:srgbClr val="FF0000"/>
                </a:solidFill>
              </a:rPr>
              <a:t>API server </a:t>
            </a:r>
            <a:r>
              <a:rPr lang="en-US" altLang="ko-KR" sz="1400" b="1" dirty="0"/>
              <a:t>processes your app’s description, the </a:t>
            </a:r>
            <a:r>
              <a:rPr lang="en-US" altLang="ko-KR" sz="1400" b="1" dirty="0">
                <a:solidFill>
                  <a:srgbClr val="FF0000"/>
                </a:solidFill>
              </a:rPr>
              <a:t>Scheduler</a:t>
            </a:r>
            <a:r>
              <a:rPr lang="en-US" altLang="ko-KR" sz="1400" b="1" dirty="0"/>
              <a:t> schedules the specified groups of containers onto the available worker nodes based on computational resources required by each group and the unallocated resources on each node at that moment</a:t>
            </a:r>
            <a:r>
              <a:rPr lang="en-US" altLang="ko-KR" sz="1400" dirty="0"/>
              <a:t>. </a:t>
            </a:r>
            <a:r>
              <a:rPr lang="en-US" altLang="ko-KR" sz="1400" b="1" dirty="0"/>
              <a:t>The </a:t>
            </a:r>
            <a:r>
              <a:rPr lang="en-US" altLang="ko-KR" sz="1400" b="1" dirty="0" err="1">
                <a:solidFill>
                  <a:srgbClr val="FF0000"/>
                </a:solidFill>
              </a:rPr>
              <a:t>Kubelet</a:t>
            </a:r>
            <a:r>
              <a:rPr lang="en-US" altLang="ko-KR" sz="1400" b="1" dirty="0"/>
              <a:t> on those nodes then instructs the Container Runtime (Docker, for example) to pull the required container images and run the containers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9D7065B-17F5-C918-EF92-3F0D933A9E0E}"/>
              </a:ext>
            </a:extLst>
          </p:cNvPr>
          <p:cNvPicPr>
            <a:picLocks noChangeAspect="1"/>
          </p:cNvPicPr>
          <p:nvPr/>
        </p:nvPicPr>
        <p:blipFill>
          <a:blip r:embed="rId2"/>
          <a:stretch>
            <a:fillRect/>
          </a:stretch>
        </p:blipFill>
        <p:spPr>
          <a:xfrm>
            <a:off x="6096000" y="1978572"/>
            <a:ext cx="5257800" cy="3673157"/>
          </a:xfrm>
          <a:prstGeom prst="rect">
            <a:avLst/>
          </a:prstGeom>
        </p:spPr>
      </p:pic>
      <p:sp>
        <p:nvSpPr>
          <p:cNvPr id="12" name="TextBox 11">
            <a:extLst>
              <a:ext uri="{FF2B5EF4-FFF2-40B4-BE49-F238E27FC236}">
                <a16:creationId xmlns:a16="http://schemas.microsoft.com/office/drawing/2014/main" id="{DC0C1968-F474-1BFD-FCDC-93DF615F19CD}"/>
              </a:ext>
            </a:extLst>
          </p:cNvPr>
          <p:cNvSpPr txBox="1"/>
          <p:nvPr/>
        </p:nvSpPr>
        <p:spPr>
          <a:xfrm>
            <a:off x="838200" y="1978572"/>
            <a:ext cx="5136931" cy="2806922"/>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lang="en-US" altLang="ko-KR" sz="1400" b="1" dirty="0">
                <a:solidFill>
                  <a:prstClr val="black"/>
                </a:solidFill>
                <a:latin typeface="맑은 고딕" panose="020F0502020204030204"/>
                <a:ea typeface="맑은 고딕" panose="020B0503020000020004" pitchFamily="50" charset="-127"/>
              </a:rPr>
              <a:t>Ex) 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he app descriptor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lists four containers, grouped into three sets (these sets are called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first two pods each contain only a single container, whereas the last one contains two. That means both containers need to run co-located and shouldn’t be isolated from each other. Next to each pod, you also see a number representing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number of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replicas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of each pod that need to run in parallel</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After submitting the descriptor to Kubernetes, it will schedule the specified number of replicas of each pod to the available worker nodes.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Kubelets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on the nodes will then tell Docker to pull the container images from the image registry and run the containers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1526814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Keeping</a:t>
            </a:r>
            <a:r>
              <a:rPr lang="ko-KR" altLang="en-US" sz="1800" b="1" dirty="0"/>
              <a:t> </a:t>
            </a:r>
            <a:r>
              <a:rPr lang="en-US" altLang="ko-KR" sz="1800" b="1" dirty="0"/>
              <a:t>the</a:t>
            </a:r>
            <a:r>
              <a:rPr lang="ko-KR" altLang="en-US" sz="1800" b="1" dirty="0"/>
              <a:t> </a:t>
            </a:r>
            <a:r>
              <a:rPr lang="en-US" altLang="ko-KR" sz="1800" b="1" dirty="0"/>
              <a:t>Containers</a:t>
            </a:r>
            <a:r>
              <a:rPr lang="ko-KR" altLang="en-US" sz="1800" b="1" dirty="0"/>
              <a:t> </a:t>
            </a:r>
            <a:r>
              <a:rPr lang="en-US" altLang="ko-KR" sz="1800" b="1" dirty="0"/>
              <a:t>Running</a:t>
            </a:r>
            <a:r>
              <a:rPr lang="ko-KR" altLang="en-US" sz="1800" b="1" dirty="0"/>
              <a:t> </a:t>
            </a:r>
            <a:r>
              <a:rPr lang="en-US" altLang="ko-KR" sz="1800" b="1" dirty="0"/>
              <a:t>:</a:t>
            </a:r>
          </a:p>
          <a:p>
            <a:pPr lvl="1">
              <a:buFont typeface="Wingdings" panose="05000000000000000000" pitchFamily="2" charset="2"/>
              <a:buChar char="§"/>
            </a:pPr>
            <a:r>
              <a:rPr lang="en-US" altLang="ko-KR" sz="1400" b="1" dirty="0"/>
              <a:t>Once the application is running, Kubernetes continuously makes sure that the deployed state of the application always matches the description you provided</a:t>
            </a:r>
            <a:r>
              <a:rPr lang="en-US" altLang="ko-KR" sz="1400" dirty="0"/>
              <a:t>. For example, if you specify that you always want five instances of a web server running, Kubernetes will always keep exactly five instances running. If one of those instances stops working properly, like when its process crashes or when it stops responding, </a:t>
            </a:r>
            <a:r>
              <a:rPr lang="en-US" altLang="ko-KR" sz="1400" b="1" dirty="0"/>
              <a:t>Kubernetes will restart it automatically</a:t>
            </a:r>
            <a:r>
              <a:rPr lang="en-US" altLang="ko-KR" sz="1400" dirty="0"/>
              <a:t>.</a:t>
            </a:r>
          </a:p>
          <a:p>
            <a:pPr lvl="1">
              <a:buFont typeface="Wingdings" panose="05000000000000000000" pitchFamily="2" charset="2"/>
              <a:buChar char="§"/>
            </a:pPr>
            <a:r>
              <a:rPr lang="en-US" altLang="ko-KR" sz="1400" b="1" dirty="0"/>
              <a:t>Similarly, if a whole worker node dies or becomes inaccessible, Kubernetes will select new nodes for all the containers that were running on the node and run them on the newly selected nodes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A7A3AAC-7FEC-209C-A7E5-5CCE73FDA640}"/>
              </a:ext>
            </a:extLst>
          </p:cNvPr>
          <p:cNvPicPr>
            <a:picLocks noChangeAspect="1"/>
          </p:cNvPicPr>
          <p:nvPr/>
        </p:nvPicPr>
        <p:blipFill>
          <a:blip r:embed="rId2"/>
          <a:stretch>
            <a:fillRect/>
          </a:stretch>
        </p:blipFill>
        <p:spPr>
          <a:xfrm>
            <a:off x="3136845" y="2764013"/>
            <a:ext cx="5918309" cy="3366266"/>
          </a:xfrm>
          <a:prstGeom prst="rect">
            <a:avLst/>
          </a:prstGeom>
        </p:spPr>
      </p:pic>
    </p:spTree>
    <p:extLst>
      <p:ext uri="{BB962C8B-B14F-4D97-AF65-F5344CB8AC3E}">
        <p14:creationId xmlns:p14="http://schemas.microsoft.com/office/powerpoint/2010/main" val="452939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the Number of Copies :</a:t>
            </a:r>
          </a:p>
          <a:p>
            <a:pPr lvl="1">
              <a:buFont typeface="Wingdings" panose="05000000000000000000" pitchFamily="2" charset="2"/>
              <a:buChar char="§"/>
            </a:pPr>
            <a:r>
              <a:rPr lang="en-US" altLang="ko-KR" sz="1400" dirty="0"/>
              <a:t>While the application is running, you can decide you want to increase or decrease the number of copies(</a:t>
            </a:r>
            <a:r>
              <a:rPr lang="en-US" altLang="ko-KR" sz="1400" b="1" dirty="0"/>
              <a:t>replicas</a:t>
            </a:r>
            <a:r>
              <a:rPr lang="en-US" altLang="ko-KR" sz="1400" dirty="0"/>
              <a:t>), and Kubernetes will spin up additional ones or stop the excess ones, respectively. </a:t>
            </a:r>
            <a:r>
              <a:rPr lang="en-US" altLang="ko-KR" sz="1400" b="1" dirty="0"/>
              <a:t>You can even leave the job of deciding the optimal number of copies to Kubernetes</a:t>
            </a:r>
            <a:r>
              <a:rPr lang="en-US" altLang="ko-KR" sz="1400" dirty="0"/>
              <a:t>. It can automatically keep adjusting the number, based on </a:t>
            </a:r>
            <a:r>
              <a:rPr lang="en-US" altLang="ko-KR" sz="1400" b="1" dirty="0"/>
              <a:t>real-time metrics</a:t>
            </a:r>
            <a:r>
              <a:rPr lang="en-US" altLang="ko-KR" sz="1400" dirty="0"/>
              <a:t>, such as CPU load, memory consumption, queries per second, or any other metric your app exposes.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8D137D8-8926-D031-F475-8686661B49E0}"/>
              </a:ext>
            </a:extLst>
          </p:cNvPr>
          <p:cNvPicPr>
            <a:picLocks noChangeAspect="1"/>
          </p:cNvPicPr>
          <p:nvPr/>
        </p:nvPicPr>
        <p:blipFill>
          <a:blip r:embed="rId2"/>
          <a:stretch>
            <a:fillRect/>
          </a:stretch>
        </p:blipFill>
        <p:spPr>
          <a:xfrm>
            <a:off x="2568958" y="2516863"/>
            <a:ext cx="7054084" cy="3527042"/>
          </a:xfrm>
          <a:prstGeom prst="rect">
            <a:avLst/>
          </a:prstGeom>
        </p:spPr>
      </p:pic>
    </p:spTree>
    <p:extLst>
      <p:ext uri="{BB962C8B-B14F-4D97-AF65-F5344CB8AC3E}">
        <p14:creationId xmlns:p14="http://schemas.microsoft.com/office/powerpoint/2010/main" val="629040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Kubernetes(12/12)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Hitting a Moving Target :</a:t>
            </a:r>
          </a:p>
          <a:p>
            <a:pPr lvl="1">
              <a:buFont typeface="Wingdings" panose="05000000000000000000" pitchFamily="2" charset="2"/>
              <a:buChar char="§"/>
            </a:pPr>
            <a:r>
              <a:rPr lang="en-US" altLang="ko-KR" sz="1400" b="1" dirty="0"/>
              <a:t>To allow clients to easily find containers that provide a specific service, you can tell Kubernetes which containers provide the same service and Kubernetes will </a:t>
            </a:r>
            <a:r>
              <a:rPr lang="en-US" altLang="ko-KR" sz="1400" b="1" dirty="0">
                <a:solidFill>
                  <a:srgbClr val="FF0000"/>
                </a:solidFill>
              </a:rPr>
              <a:t>expose</a:t>
            </a:r>
            <a:r>
              <a:rPr lang="en-US" altLang="ko-KR" sz="1400" b="1" dirty="0"/>
              <a:t> </a:t>
            </a:r>
            <a:r>
              <a:rPr lang="en-US" altLang="ko-KR" sz="1400" b="1" dirty="0">
                <a:solidFill>
                  <a:srgbClr val="FF0000"/>
                </a:solidFill>
              </a:rPr>
              <a:t>all of them at a single static IP address </a:t>
            </a:r>
            <a:r>
              <a:rPr lang="en-US" altLang="ko-KR" sz="1400" b="1" dirty="0"/>
              <a:t>and </a:t>
            </a:r>
            <a:r>
              <a:rPr lang="en-US" altLang="ko-KR" sz="1400" b="1" dirty="0">
                <a:solidFill>
                  <a:srgbClr val="FF0000"/>
                </a:solidFill>
              </a:rPr>
              <a:t>expose that address to all applications running in the cluster</a:t>
            </a:r>
            <a:r>
              <a:rPr lang="en-US" altLang="ko-KR" sz="1400" dirty="0"/>
              <a:t>. </a:t>
            </a:r>
            <a:r>
              <a:rPr lang="en-US" altLang="ko-KR" sz="1400" b="1" dirty="0"/>
              <a:t>This is done through environment variables</a:t>
            </a:r>
            <a:r>
              <a:rPr lang="en-US" altLang="ko-KR" sz="1400" dirty="0"/>
              <a:t>, but clients can also look up the service IP through good old DNS. </a:t>
            </a:r>
            <a:r>
              <a:rPr lang="en-US" altLang="ko-KR" sz="1400" b="1" dirty="0"/>
              <a:t>The </a:t>
            </a:r>
            <a:r>
              <a:rPr lang="en-US" altLang="ko-KR" sz="1400" b="1" dirty="0" err="1">
                <a:solidFill>
                  <a:srgbClr val="FF0000"/>
                </a:solidFill>
              </a:rPr>
              <a:t>kube</a:t>
            </a:r>
            <a:r>
              <a:rPr lang="en-US" altLang="ko-KR" sz="1400" b="1" dirty="0">
                <a:solidFill>
                  <a:srgbClr val="FF0000"/>
                </a:solidFill>
              </a:rPr>
              <a:t>-proxy</a:t>
            </a:r>
            <a:r>
              <a:rPr lang="en-US" altLang="ko-KR" sz="1400" b="1" dirty="0"/>
              <a:t> will make sure connections to the service are load balanced across all the containers that provide the service</a:t>
            </a:r>
            <a:r>
              <a:rPr lang="en-US" altLang="ko-KR" sz="1400" dirty="0"/>
              <a:t>. </a:t>
            </a:r>
          </a:p>
          <a:p>
            <a:pPr lvl="1">
              <a:buFont typeface="Wingdings" panose="05000000000000000000" pitchFamily="2" charset="2"/>
              <a:buChar char="§"/>
            </a:pPr>
            <a:r>
              <a:rPr lang="en-US" altLang="ko-KR" sz="1400" b="1" dirty="0"/>
              <a:t>The IP address of the service stays constant</a:t>
            </a:r>
            <a:r>
              <a:rPr lang="en-US" altLang="ko-KR" sz="1400" dirty="0"/>
              <a:t>, so clients can always connect to its containers, even when they’re moved around the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896D3B7-3DED-50B3-28F6-C41536365ACA}"/>
              </a:ext>
            </a:extLst>
          </p:cNvPr>
          <p:cNvPicPr>
            <a:picLocks noChangeAspect="1"/>
          </p:cNvPicPr>
          <p:nvPr/>
        </p:nvPicPr>
        <p:blipFill>
          <a:blip r:embed="rId2"/>
          <a:stretch>
            <a:fillRect/>
          </a:stretch>
        </p:blipFill>
        <p:spPr>
          <a:xfrm>
            <a:off x="4007035" y="2656490"/>
            <a:ext cx="4177929" cy="3752540"/>
          </a:xfrm>
          <a:prstGeom prst="rect">
            <a:avLst/>
          </a:prstGeom>
        </p:spPr>
      </p:pic>
    </p:spTree>
    <p:extLst>
      <p:ext uri="{BB962C8B-B14F-4D97-AF65-F5344CB8AC3E}">
        <p14:creationId xmlns:p14="http://schemas.microsoft.com/office/powerpoint/2010/main" val="3117111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Benefits of Using Kubernetes(1/4)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Application Deployment :</a:t>
            </a:r>
          </a:p>
          <a:p>
            <a:pPr lvl="1">
              <a:buFont typeface="Wingdings" panose="05000000000000000000" pitchFamily="2" charset="2"/>
              <a:buChar char="§"/>
            </a:pPr>
            <a:r>
              <a:rPr lang="en-US" altLang="ko-KR" sz="1400" b="1" dirty="0"/>
              <a:t>Because </a:t>
            </a:r>
            <a:r>
              <a:rPr lang="en-US" altLang="ko-KR" sz="1400" b="1" dirty="0">
                <a:solidFill>
                  <a:srgbClr val="FF0000"/>
                </a:solidFill>
              </a:rPr>
              <a:t>Kubernetes exposes all its worker nodes as a single deployment platform</a:t>
            </a:r>
            <a:r>
              <a:rPr lang="en-US" altLang="ko-KR" sz="1400" b="1" dirty="0"/>
              <a:t>, application developers can start deploying applications on their own and don’t need to know anything about the servers that make up the cluster</a:t>
            </a:r>
            <a:r>
              <a:rPr lang="en-US" altLang="ko-KR" sz="1400" dirty="0"/>
              <a:t>.</a:t>
            </a:r>
          </a:p>
          <a:p>
            <a:pPr lvl="1">
              <a:buFont typeface="Wingdings" panose="05000000000000000000" pitchFamily="2" charset="2"/>
              <a:buChar char="§"/>
            </a:pPr>
            <a:r>
              <a:rPr lang="en-US" altLang="ko-KR" sz="1400" dirty="0"/>
              <a:t>In essence, </a:t>
            </a:r>
            <a:r>
              <a:rPr lang="en-US" altLang="ko-KR" sz="1400" b="1" dirty="0"/>
              <a:t>all the nodes are now a single bunch of computational resources </a:t>
            </a:r>
            <a:r>
              <a:rPr lang="en-US" altLang="ko-KR" sz="1400" dirty="0"/>
              <a:t>that are waiting for applications to consume them. A developer doesn’t usually care what kind of server the application is running on, as long as the server can provide the application with adequate system resources.</a:t>
            </a:r>
          </a:p>
          <a:p>
            <a:pPr lvl="1">
              <a:buFont typeface="Wingdings" panose="05000000000000000000" pitchFamily="2" charset="2"/>
              <a:buChar char="§"/>
            </a:pPr>
            <a:r>
              <a:rPr lang="en-US" altLang="ko-KR" sz="1400" b="1" dirty="0"/>
              <a:t>Certain cases do exist where the developer does care what kind of hardware the application should run on</a:t>
            </a:r>
            <a:r>
              <a:rPr lang="en-US" altLang="ko-KR" sz="1400" dirty="0"/>
              <a:t>. If the nodes are heterogeneous, you’ll find cases when you want certain apps to run on nodes with certain capabilities and run other apps on others. </a:t>
            </a:r>
          </a:p>
          <a:p>
            <a:pPr lvl="1">
              <a:buFont typeface="Wingdings" panose="05000000000000000000" pitchFamily="2" charset="2"/>
              <a:buChar char="§"/>
            </a:pPr>
            <a:r>
              <a:rPr lang="en-US" altLang="ko-KR" sz="1400" dirty="0"/>
              <a:t>For example, one of your apps may require being run on a system with SSDs instead of HDDs, while other apps run fine on HDDs. In such cases, you obviously want to ensure that particular app is always scheduled to a node with an SSD. Without using Kubernetes, the sysadmin would select one specific node that has an SSD and deploy the app there. </a:t>
            </a:r>
            <a:r>
              <a:rPr lang="en-US" altLang="ko-KR" sz="1400" b="1" dirty="0"/>
              <a:t>But when using Kubernetes, instead of selecting a specific node where your app should be run, it’s more appropriate to tell Kubernetes to only choose among nodes with an SSD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E5C68D4-CE87-1398-0A82-CD4ACD01E842}"/>
              </a:ext>
            </a:extLst>
          </p:cNvPr>
          <p:cNvPicPr>
            <a:picLocks noChangeAspect="1"/>
          </p:cNvPicPr>
          <p:nvPr/>
        </p:nvPicPr>
        <p:blipFill>
          <a:blip r:embed="rId2"/>
          <a:stretch>
            <a:fillRect/>
          </a:stretch>
        </p:blipFill>
        <p:spPr>
          <a:xfrm>
            <a:off x="3371850" y="4132555"/>
            <a:ext cx="5448300" cy="2276475"/>
          </a:xfrm>
          <a:prstGeom prst="rect">
            <a:avLst/>
          </a:prstGeom>
        </p:spPr>
      </p:pic>
    </p:spTree>
    <p:extLst>
      <p:ext uri="{BB962C8B-B14F-4D97-AF65-F5344CB8AC3E}">
        <p14:creationId xmlns:p14="http://schemas.microsoft.com/office/powerpoint/2010/main" val="1681366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Benefits of Using Kubernetes(2/4)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Achieving Better Utilization of Hardware :</a:t>
            </a:r>
          </a:p>
          <a:p>
            <a:pPr lvl="1">
              <a:buFont typeface="Wingdings" panose="05000000000000000000" pitchFamily="2" charset="2"/>
              <a:buChar char="§"/>
            </a:pPr>
            <a:r>
              <a:rPr lang="en-US" altLang="ko-KR" sz="1400" b="1" dirty="0"/>
              <a:t>By setting up Kubernetes on your servers and using it to run your apps instead of running them manually, you’ve </a:t>
            </a:r>
            <a:r>
              <a:rPr lang="en-US" altLang="ko-KR" sz="1400" b="1" dirty="0">
                <a:solidFill>
                  <a:srgbClr val="FF0000"/>
                </a:solidFill>
              </a:rPr>
              <a:t>decoupled your app from the infrastructure</a:t>
            </a:r>
            <a:r>
              <a:rPr lang="en-US" altLang="ko-KR" sz="1400" dirty="0"/>
              <a:t>. </a:t>
            </a:r>
            <a:r>
              <a:rPr lang="en-US" altLang="ko-KR" sz="1400" b="1" dirty="0"/>
              <a:t>When you tell Kubernetes to run your application, you’re letting it choose the most appropriate node to run your application on based on the description of the application’s resource requirements and the available resources on each node</a:t>
            </a:r>
            <a:r>
              <a:rPr lang="en-US" altLang="ko-KR" sz="1400" dirty="0"/>
              <a:t>.</a:t>
            </a:r>
          </a:p>
          <a:p>
            <a:pPr lvl="1">
              <a:buFont typeface="Wingdings" panose="05000000000000000000" pitchFamily="2" charset="2"/>
              <a:buChar char="§"/>
            </a:pPr>
            <a:r>
              <a:rPr lang="en-US" altLang="ko-KR" sz="1400" dirty="0"/>
              <a:t>By using containers and not tying the app down to a specific node in your cluster, </a:t>
            </a:r>
            <a:r>
              <a:rPr lang="en-US" altLang="ko-KR" sz="1400" b="1" dirty="0"/>
              <a:t>you’re allowing the app to freely move around the cluster at any time, so the different app components running on the cluster can be mixed and matched to be packed tightly onto the cluster nodes</a:t>
            </a:r>
            <a:r>
              <a:rPr lang="en-US" altLang="ko-KR" sz="1400" dirty="0"/>
              <a:t>. </a:t>
            </a:r>
            <a:r>
              <a:rPr lang="en-US" altLang="ko-KR" sz="1400" b="1" dirty="0"/>
              <a:t>This ensures the node’s hardware resources are utilized as best as possible</a:t>
            </a:r>
            <a:r>
              <a:rPr lang="en-US" altLang="ko-KR" sz="1400" dirty="0"/>
              <a:t>.</a:t>
            </a:r>
          </a:p>
          <a:p>
            <a:pPr lvl="1">
              <a:buFont typeface="Wingdings" panose="05000000000000000000" pitchFamily="2" charset="2"/>
              <a:buChar char="§"/>
            </a:pPr>
            <a:r>
              <a:rPr lang="en-US" altLang="ko-KR" sz="1400" dirty="0"/>
              <a:t>The ability to move applications around the cluster at any time allows </a:t>
            </a:r>
            <a:r>
              <a:rPr lang="en-US" altLang="ko-KR" sz="1400" b="1" dirty="0"/>
              <a:t>Kubernetes to utilize the infrastructure much better than what you can achieve manually</a:t>
            </a:r>
            <a:r>
              <a:rPr lang="en-US" altLang="ko-KR" sz="1400" dirty="0"/>
              <a:t>. Humans aren’t good at finding optimal combinations, especially when the number of all possible options is huge, such as when you have many application components and many server nodes they can be deployed on. </a:t>
            </a:r>
            <a:r>
              <a:rPr lang="en-US" altLang="ko-KR" sz="1400" b="1" dirty="0"/>
              <a:t>Computers can obviously perform this work much better and faster than humans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1B4644F-5782-0A5E-61C6-3508C330C3BB}"/>
              </a:ext>
            </a:extLst>
          </p:cNvPr>
          <p:cNvPicPr>
            <a:picLocks noChangeAspect="1"/>
          </p:cNvPicPr>
          <p:nvPr/>
        </p:nvPicPr>
        <p:blipFill>
          <a:blip r:embed="rId2"/>
          <a:stretch>
            <a:fillRect/>
          </a:stretch>
        </p:blipFill>
        <p:spPr>
          <a:xfrm>
            <a:off x="3745624" y="3933852"/>
            <a:ext cx="4700752" cy="1962564"/>
          </a:xfrm>
          <a:prstGeom prst="rect">
            <a:avLst/>
          </a:prstGeom>
        </p:spPr>
      </p:pic>
    </p:spTree>
    <p:extLst>
      <p:ext uri="{BB962C8B-B14F-4D97-AF65-F5344CB8AC3E}">
        <p14:creationId xmlns:p14="http://schemas.microsoft.com/office/powerpoint/2010/main" val="2691761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Benefits of Using Kubernetes(3/4)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Health Checking and Self-Healing :</a:t>
            </a:r>
          </a:p>
          <a:p>
            <a:pPr lvl="1">
              <a:buFont typeface="Wingdings" panose="05000000000000000000" pitchFamily="2" charset="2"/>
              <a:buChar char="§"/>
            </a:pPr>
            <a:r>
              <a:rPr lang="en-US" altLang="ko-KR" sz="1400" b="1" dirty="0"/>
              <a:t>Having a system that allows moving an application across the cluster at any time is also valuable in the event of server failures</a:t>
            </a:r>
            <a:r>
              <a:rPr lang="en-US" altLang="ko-KR" sz="1400" dirty="0"/>
              <a:t>. As your cluster size increases, you’ll deal with failing computer components ever more frequently.</a:t>
            </a:r>
          </a:p>
          <a:p>
            <a:pPr lvl="1">
              <a:buFont typeface="Wingdings" panose="05000000000000000000" pitchFamily="2" charset="2"/>
              <a:buChar char="§"/>
            </a:pPr>
            <a:r>
              <a:rPr lang="en-US" altLang="ko-KR" sz="1400" b="1" dirty="0"/>
              <a:t>Kubernetes monitors your app components and the nodes they run on and automatically reschedules them to other nodes in the event of a node failure</a:t>
            </a:r>
            <a:r>
              <a:rPr lang="en-US" altLang="ko-KR" sz="1400" dirty="0"/>
              <a:t>. This frees the ops team from having to migrate app components manually and allows the team to immediately focus on fixing the node itself and returning it to the pool of available hardware resources instead of focusing on relocating the app.</a:t>
            </a:r>
          </a:p>
          <a:p>
            <a:pPr lvl="1">
              <a:buFont typeface="Wingdings" panose="05000000000000000000" pitchFamily="2" charset="2"/>
              <a:buChar char="§"/>
            </a:pPr>
            <a:r>
              <a:rPr lang="en-US" altLang="ko-KR" sz="1400" b="1" dirty="0"/>
              <a:t>If your infrastructure has enough spare resources to allow normal system operation even without the failed node, the ops team doesn’t even need to react to the failure immediately</a:t>
            </a:r>
            <a:r>
              <a:rPr lang="en-US" altLang="ko-KR" sz="1400" dirty="0"/>
              <a:t>, such as at 3 a.m. They can sleep tight and deal with the failed node during regular work hours.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32DFE92-2A03-4F8D-083E-D0F891305EBF}"/>
              </a:ext>
            </a:extLst>
          </p:cNvPr>
          <p:cNvPicPr>
            <a:picLocks noChangeAspect="1"/>
          </p:cNvPicPr>
          <p:nvPr/>
        </p:nvPicPr>
        <p:blipFill>
          <a:blip r:embed="rId2"/>
          <a:stretch>
            <a:fillRect/>
          </a:stretch>
        </p:blipFill>
        <p:spPr>
          <a:xfrm>
            <a:off x="3632473" y="3164755"/>
            <a:ext cx="4927053" cy="3244275"/>
          </a:xfrm>
          <a:prstGeom prst="rect">
            <a:avLst/>
          </a:prstGeom>
        </p:spPr>
      </p:pic>
    </p:spTree>
    <p:extLst>
      <p:ext uri="{BB962C8B-B14F-4D97-AF65-F5344CB8AC3E}">
        <p14:creationId xmlns:p14="http://schemas.microsoft.com/office/powerpoint/2010/main" val="2827266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The Benefits of Using Kubernetes(4/4)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Simplifying Application Development :</a:t>
            </a:r>
          </a:p>
          <a:p>
            <a:pPr lvl="1">
              <a:buFont typeface="Wingdings" panose="05000000000000000000" pitchFamily="2" charset="2"/>
              <a:buChar char="§"/>
            </a:pPr>
            <a:r>
              <a:rPr lang="en-US" altLang="ko-KR" sz="1400" b="1" dirty="0"/>
              <a:t>If you turn back to the fact that </a:t>
            </a:r>
            <a:r>
              <a:rPr lang="en-US" altLang="ko-KR" sz="1400" b="1" dirty="0">
                <a:solidFill>
                  <a:srgbClr val="FF0000"/>
                </a:solidFill>
              </a:rPr>
              <a:t>apps run in the same environment both during development and in production</a:t>
            </a:r>
            <a:r>
              <a:rPr lang="en-US" altLang="ko-KR" sz="1400" b="1" dirty="0"/>
              <a:t>, this has a big effect on when bugs are discovered</a:t>
            </a:r>
            <a:r>
              <a:rPr lang="en-US" altLang="ko-KR" sz="1400" dirty="0"/>
              <a:t>. We all agree the sooner you discover a bug, the easier it is to fix it, and fixing it requires less work. It’s the developers who do the fixing, so this means less work for them. </a:t>
            </a:r>
          </a:p>
          <a:p>
            <a:pPr lvl="1">
              <a:buFont typeface="Wingdings" panose="05000000000000000000" pitchFamily="2" charset="2"/>
              <a:buChar char="§"/>
            </a:pPr>
            <a:r>
              <a:rPr lang="en-US" altLang="ko-KR" sz="1400" dirty="0"/>
              <a:t>Then there’s the fact that developers don’t need to implement features that they would usually implement. This includes </a:t>
            </a:r>
            <a:r>
              <a:rPr lang="en-US" altLang="ko-KR" sz="1400" b="1" dirty="0">
                <a:solidFill>
                  <a:srgbClr val="FF0000"/>
                </a:solidFill>
              </a:rPr>
              <a:t>discovery of services and/or peers </a:t>
            </a:r>
            <a:r>
              <a:rPr lang="en-US" altLang="ko-KR" sz="1400" b="1" dirty="0"/>
              <a:t>in a clustered application</a:t>
            </a:r>
            <a:r>
              <a:rPr lang="en-US" altLang="ko-KR" sz="1400" dirty="0"/>
              <a:t>. </a:t>
            </a:r>
            <a:r>
              <a:rPr lang="en-US" altLang="ko-KR" sz="1400" b="1" dirty="0"/>
              <a:t>Kubernetes does this instead of the app</a:t>
            </a:r>
            <a:r>
              <a:rPr lang="en-US" altLang="ko-KR" sz="1400" dirty="0"/>
              <a:t>. Usually, the app only needs to look up certain environment variables or perform a DNS lookup. If that’s not enough, </a:t>
            </a:r>
            <a:r>
              <a:rPr lang="en-US" altLang="ko-KR" sz="1400" b="1" dirty="0"/>
              <a:t>the application can query the </a:t>
            </a:r>
            <a:r>
              <a:rPr lang="en-US" altLang="ko-KR" sz="1400" b="1" dirty="0">
                <a:solidFill>
                  <a:srgbClr val="FF0000"/>
                </a:solidFill>
              </a:rPr>
              <a:t>Kubernetes API server </a:t>
            </a:r>
            <a:r>
              <a:rPr lang="en-US" altLang="ko-KR" sz="1400" b="1" dirty="0"/>
              <a:t>directly to get that and/or other information</a:t>
            </a:r>
            <a:r>
              <a:rPr lang="en-US" altLang="ko-KR" sz="1400" dirty="0"/>
              <a:t>. Querying the Kubernetes API server like that can even save developers from having to implement complicated mechanisms such as </a:t>
            </a:r>
            <a:r>
              <a:rPr lang="en-US" altLang="ko-KR" sz="1400" b="1" dirty="0"/>
              <a:t>leader election</a:t>
            </a:r>
            <a:r>
              <a:rPr lang="en-US" altLang="ko-KR" sz="1400" dirty="0"/>
              <a:t>. </a:t>
            </a:r>
          </a:p>
          <a:p>
            <a:pPr lvl="1">
              <a:buFont typeface="Wingdings" panose="05000000000000000000" pitchFamily="2" charset="2"/>
              <a:buChar char="§"/>
            </a:pPr>
            <a:r>
              <a:rPr lang="en-US" altLang="ko-KR" sz="1400" dirty="0"/>
              <a:t>As a final example of what Kubernetes brings to the table, you also need to consider </a:t>
            </a:r>
            <a:r>
              <a:rPr lang="en-US" altLang="ko-KR" sz="1400" b="1" dirty="0"/>
              <a:t>the increase in confidence developers will feel knowing that when a new version of their app is going to be rolled out</a:t>
            </a:r>
            <a:r>
              <a:rPr lang="en-US" altLang="ko-KR" sz="1400" dirty="0"/>
              <a:t>, </a:t>
            </a:r>
            <a:r>
              <a:rPr lang="en-US" altLang="ko-KR" sz="1400" b="1" dirty="0"/>
              <a:t>Kubernetes can automatically detect if the new version is bad and stop its </a:t>
            </a:r>
            <a:r>
              <a:rPr lang="en-US" altLang="ko-KR" sz="1400" b="1" dirty="0">
                <a:solidFill>
                  <a:srgbClr val="FF0000"/>
                </a:solidFill>
              </a:rPr>
              <a:t>rollout</a:t>
            </a:r>
            <a:r>
              <a:rPr lang="en-US" altLang="ko-KR" sz="1400" b="1" dirty="0"/>
              <a:t> immediately</a:t>
            </a:r>
            <a:r>
              <a:rPr lang="en-US" altLang="ko-KR" sz="1400" dirty="0"/>
              <a:t>. This increase in confidence usually </a:t>
            </a:r>
            <a:r>
              <a:rPr lang="en-US" altLang="ko-KR" sz="1400" b="1" dirty="0"/>
              <a:t>accelerates the continuous delivery of apps</a:t>
            </a:r>
            <a:r>
              <a:rPr lang="en-US" altLang="ko-KR" sz="1400" dirty="0"/>
              <a:t>, which benefits the whole organization.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2C76C9D-9769-386A-9B06-F41CACC86B1C}"/>
              </a:ext>
            </a:extLst>
          </p:cNvPr>
          <p:cNvPicPr>
            <a:picLocks noChangeAspect="1"/>
          </p:cNvPicPr>
          <p:nvPr/>
        </p:nvPicPr>
        <p:blipFill>
          <a:blip r:embed="rId2"/>
          <a:stretch>
            <a:fillRect/>
          </a:stretch>
        </p:blipFill>
        <p:spPr>
          <a:xfrm>
            <a:off x="3730515" y="3869213"/>
            <a:ext cx="4730969" cy="2539817"/>
          </a:xfrm>
          <a:prstGeom prst="rect">
            <a:avLst/>
          </a:prstGeom>
        </p:spPr>
      </p:pic>
    </p:spTree>
    <p:extLst>
      <p:ext uri="{BB962C8B-B14F-4D97-AF65-F5344CB8AC3E}">
        <p14:creationId xmlns:p14="http://schemas.microsoft.com/office/powerpoint/2010/main" val="3306792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Docker &amp; Kubernetes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3560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Installing Docker and Running a Hello World Container :</a:t>
            </a:r>
          </a:p>
          <a:p>
            <a:pPr lvl="1">
              <a:buFont typeface="Wingdings" panose="05000000000000000000" pitchFamily="2" charset="2"/>
              <a:buChar char="§"/>
            </a:pPr>
            <a:r>
              <a:rPr lang="en-US" altLang="ko-KR" sz="1400" dirty="0"/>
              <a:t>First, you’ll need to install Docker on your Linux machine. If you don’t use Linux, you’ll need to start a </a:t>
            </a:r>
            <a:r>
              <a:rPr lang="en-US" altLang="ko-KR" sz="1400" b="1" dirty="0"/>
              <a:t>Linux virtual machine (VM)</a:t>
            </a:r>
            <a:r>
              <a:rPr lang="en-US" altLang="ko-KR" sz="1400" dirty="0"/>
              <a:t> and </a:t>
            </a:r>
            <a:r>
              <a:rPr lang="en-US" altLang="ko-KR" sz="1400" b="1" dirty="0"/>
              <a:t>run Docker inside that VM</a:t>
            </a:r>
            <a:r>
              <a:rPr lang="en-US" altLang="ko-KR" sz="1400" dirty="0"/>
              <a:t>. If you’re using a Mac or Windows and install Docker per instructions, Docker will set up a VM for you and run the </a:t>
            </a:r>
            <a:r>
              <a:rPr lang="en-US" altLang="ko-KR" sz="1400" b="1" dirty="0">
                <a:solidFill>
                  <a:srgbClr val="FF0000"/>
                </a:solidFill>
              </a:rPr>
              <a:t>Docker daemon </a:t>
            </a:r>
            <a:r>
              <a:rPr lang="en-US" altLang="ko-KR" sz="1400" dirty="0"/>
              <a:t>inside that VM. </a:t>
            </a:r>
            <a:r>
              <a:rPr lang="en-US" altLang="ko-KR" sz="1400" b="1" dirty="0"/>
              <a:t>The Docker client executable will be available on your host OS, and will communicate with the daemon inside the VM</a:t>
            </a:r>
            <a:r>
              <a:rPr lang="en-US" altLang="ko-KR" sz="1400" dirty="0"/>
              <a:t>.</a:t>
            </a:r>
          </a:p>
          <a:p>
            <a:pPr lvl="1">
              <a:buFont typeface="Wingdings" panose="05000000000000000000" pitchFamily="2" charset="2"/>
              <a:buChar char="§"/>
            </a:pPr>
            <a:r>
              <a:rPr lang="en-US" altLang="ko-KR" sz="1400" b="1" dirty="0"/>
              <a:t>In Ubuntu Linux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After the installation of Docker, you need to </a:t>
            </a:r>
            <a:r>
              <a:rPr lang="en-US" altLang="ko-KR" sz="1400" b="1" dirty="0">
                <a:solidFill>
                  <a:srgbClr val="FF0000"/>
                </a:solidFill>
              </a:rPr>
              <a:t>reboot your system</a:t>
            </a:r>
            <a:r>
              <a:rPr lang="en-US" altLang="ko-KR" sz="1400" b="1" dirty="0"/>
              <a:t> to run “docker” command in normal user mode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A2F5F88-B9C2-85AF-3E35-D5327223489D}"/>
              </a:ext>
            </a:extLst>
          </p:cNvPr>
          <p:cNvSpPr txBox="1"/>
          <p:nvPr/>
        </p:nvSpPr>
        <p:spPr>
          <a:xfrm>
            <a:off x="1856389" y="2382559"/>
            <a:ext cx="8479221" cy="2092881"/>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sudo</a:t>
            </a:r>
            <a:r>
              <a:rPr lang="en-US" altLang="ko-KR" sz="1000" b="1" dirty="0"/>
              <a:t> apt-get remove docker docker-engine docker.io </a:t>
            </a:r>
            <a:r>
              <a:rPr lang="en-US" altLang="ko-KR" sz="1000" b="1" dirty="0" err="1"/>
              <a:t>containerd</a:t>
            </a:r>
            <a:r>
              <a:rPr lang="en-US" altLang="ko-KR" sz="1000" b="1" dirty="0"/>
              <a:t> </a:t>
            </a:r>
            <a:r>
              <a:rPr lang="en-US" altLang="ko-KR" sz="1000" b="1" dirty="0" err="1"/>
              <a:t>runc</a:t>
            </a:r>
            <a:endParaRPr lang="en-US" altLang="ko-KR" sz="1000" b="1" dirty="0"/>
          </a:p>
          <a:p>
            <a:r>
              <a:rPr lang="en-US" altLang="ko-KR" sz="1000" b="1" dirty="0"/>
              <a:t>$ </a:t>
            </a:r>
            <a:r>
              <a:rPr lang="en-US" altLang="ko-KR" sz="1000" b="1" dirty="0" err="1"/>
              <a:t>sudo</a:t>
            </a:r>
            <a:r>
              <a:rPr lang="en-US" altLang="ko-KR" sz="1000" b="1" dirty="0"/>
              <a:t> apt-get update</a:t>
            </a:r>
          </a:p>
          <a:p>
            <a:r>
              <a:rPr lang="en-US" altLang="ko-KR" sz="1000" b="1" dirty="0"/>
              <a:t>$ </a:t>
            </a:r>
            <a:r>
              <a:rPr lang="en-US" altLang="ko-KR" sz="1000" b="1" dirty="0" err="1"/>
              <a:t>sudo</a:t>
            </a:r>
            <a:r>
              <a:rPr lang="en-US" altLang="ko-KR" sz="1000" b="1" dirty="0"/>
              <a:t> apt-get install ca-certificates curl </a:t>
            </a:r>
            <a:r>
              <a:rPr lang="en-US" altLang="ko-KR" sz="1000" b="1" dirty="0" err="1"/>
              <a:t>gnupg</a:t>
            </a:r>
            <a:r>
              <a:rPr lang="en-US" altLang="ko-KR" sz="1000" b="1" dirty="0"/>
              <a:t> </a:t>
            </a:r>
            <a:r>
              <a:rPr lang="en-US" altLang="ko-KR" sz="1000" b="1" dirty="0" err="1"/>
              <a:t>lsb</a:t>
            </a:r>
            <a:r>
              <a:rPr lang="en-US" altLang="ko-KR" sz="1000" b="1" dirty="0"/>
              <a:t>-release</a:t>
            </a:r>
          </a:p>
          <a:p>
            <a:r>
              <a:rPr lang="en-US" altLang="ko-KR" sz="1000" b="1" dirty="0"/>
              <a:t>$ </a:t>
            </a:r>
            <a:r>
              <a:rPr lang="en-US" altLang="ko-KR" sz="1000" b="1" dirty="0" err="1"/>
              <a:t>sudo</a:t>
            </a:r>
            <a:r>
              <a:rPr lang="en-US" altLang="ko-KR" sz="1000" b="1" dirty="0"/>
              <a:t> </a:t>
            </a:r>
            <a:r>
              <a:rPr lang="en-US" altLang="ko-KR" sz="1000" b="1" dirty="0" err="1"/>
              <a:t>mkdir</a:t>
            </a:r>
            <a:r>
              <a:rPr lang="en-US" altLang="ko-KR" sz="1000" b="1" dirty="0"/>
              <a:t> -p /</a:t>
            </a:r>
            <a:r>
              <a:rPr lang="en-US" altLang="ko-KR" sz="1000" b="1" dirty="0" err="1"/>
              <a:t>etc</a:t>
            </a:r>
            <a:r>
              <a:rPr lang="en-US" altLang="ko-KR" sz="1000" b="1" dirty="0"/>
              <a:t>/apt/keyrings</a:t>
            </a:r>
          </a:p>
          <a:p>
            <a:r>
              <a:rPr lang="en-US" altLang="ko-KR" sz="1000" b="1" dirty="0"/>
              <a:t>$ curl -</a:t>
            </a:r>
            <a:r>
              <a:rPr lang="en-US" altLang="ko-KR" sz="1000" b="1" dirty="0" err="1"/>
              <a:t>fsSL</a:t>
            </a:r>
            <a:r>
              <a:rPr lang="en-US" altLang="ko-KR" sz="1000" b="1" dirty="0"/>
              <a:t> https://download.docker.com/linux/ubuntu/gpg | </a:t>
            </a:r>
            <a:r>
              <a:rPr lang="en-US" altLang="ko-KR" sz="1000" b="1" dirty="0" err="1"/>
              <a:t>sudo</a:t>
            </a:r>
            <a:r>
              <a:rPr lang="en-US" altLang="ko-KR" sz="1000" b="1" dirty="0"/>
              <a:t> </a:t>
            </a:r>
            <a:r>
              <a:rPr lang="en-US" altLang="ko-KR" sz="1000" b="1" dirty="0" err="1"/>
              <a:t>gpg</a:t>
            </a:r>
            <a:r>
              <a:rPr lang="en-US" altLang="ko-KR" sz="1000" b="1" dirty="0"/>
              <a:t> --</a:t>
            </a:r>
            <a:r>
              <a:rPr lang="en-US" altLang="ko-KR" sz="1000" b="1" dirty="0" err="1"/>
              <a:t>dearmor</a:t>
            </a:r>
            <a:r>
              <a:rPr lang="en-US" altLang="ko-KR" sz="1000" b="1" dirty="0"/>
              <a:t> -o /</a:t>
            </a:r>
            <a:r>
              <a:rPr lang="en-US" altLang="ko-KR" sz="1000" b="1" dirty="0" err="1"/>
              <a:t>etc</a:t>
            </a:r>
            <a:r>
              <a:rPr lang="en-US" altLang="ko-KR" sz="1000" b="1" dirty="0"/>
              <a:t>/apt/keyrings/</a:t>
            </a:r>
            <a:r>
              <a:rPr lang="en-US" altLang="ko-KR" sz="1000" b="1" dirty="0" err="1"/>
              <a:t>docker.gpg</a:t>
            </a:r>
            <a:endParaRPr lang="en-US" altLang="ko-KR" sz="1000" b="1" dirty="0"/>
          </a:p>
          <a:p>
            <a:r>
              <a:rPr lang="en-US" altLang="ko-KR" sz="1000" b="1" dirty="0"/>
              <a:t>$ echo \</a:t>
            </a:r>
          </a:p>
          <a:p>
            <a:r>
              <a:rPr lang="en-US" altLang="ko-KR" sz="1000" b="1" dirty="0"/>
              <a:t>  "deb [arch=$(</a:t>
            </a:r>
            <a:r>
              <a:rPr lang="en-US" altLang="ko-KR" sz="1000" b="1" dirty="0" err="1"/>
              <a:t>dpkg</a:t>
            </a:r>
            <a:r>
              <a:rPr lang="en-US" altLang="ko-KR" sz="1000" b="1" dirty="0"/>
              <a:t> --print-architecture) signed-by=/</a:t>
            </a:r>
            <a:r>
              <a:rPr lang="en-US" altLang="ko-KR" sz="1000" b="1" dirty="0" err="1"/>
              <a:t>etc</a:t>
            </a:r>
            <a:r>
              <a:rPr lang="en-US" altLang="ko-KR" sz="1000" b="1" dirty="0"/>
              <a:t>/apt/keyrings/</a:t>
            </a:r>
            <a:r>
              <a:rPr lang="en-US" altLang="ko-KR" sz="1000" b="1" dirty="0" err="1"/>
              <a:t>docker.gpg</a:t>
            </a:r>
            <a:r>
              <a:rPr lang="en-US" altLang="ko-KR" sz="1000" b="1" dirty="0"/>
              <a:t>] https://download.docker.com/linux/ubuntu \</a:t>
            </a:r>
          </a:p>
          <a:p>
            <a:r>
              <a:rPr lang="en-US" altLang="ko-KR" sz="1000" b="1" dirty="0"/>
              <a:t>  $(</a:t>
            </a:r>
            <a:r>
              <a:rPr lang="en-US" altLang="ko-KR" sz="1000" b="1" dirty="0" err="1"/>
              <a:t>lsb_release</a:t>
            </a:r>
            <a:r>
              <a:rPr lang="en-US" altLang="ko-KR" sz="1000" b="1" dirty="0"/>
              <a:t> -cs) stable" | </a:t>
            </a:r>
            <a:r>
              <a:rPr lang="en-US" altLang="ko-KR" sz="1000" b="1" dirty="0" err="1"/>
              <a:t>sudo</a:t>
            </a:r>
            <a:r>
              <a:rPr lang="en-US" altLang="ko-KR" sz="1000" b="1" dirty="0"/>
              <a:t> tee /</a:t>
            </a:r>
            <a:r>
              <a:rPr lang="en-US" altLang="ko-KR" sz="1000" b="1" dirty="0" err="1"/>
              <a:t>etc</a:t>
            </a:r>
            <a:r>
              <a:rPr lang="en-US" altLang="ko-KR" sz="1000" b="1" dirty="0"/>
              <a:t>/apt/</a:t>
            </a:r>
            <a:r>
              <a:rPr lang="en-US" altLang="ko-KR" sz="1000" b="1" dirty="0" err="1"/>
              <a:t>sources.list.d</a:t>
            </a:r>
            <a:r>
              <a:rPr lang="en-US" altLang="ko-KR" sz="1000" b="1" dirty="0"/>
              <a:t>/</a:t>
            </a:r>
            <a:r>
              <a:rPr lang="en-US" altLang="ko-KR" sz="1000" b="1" dirty="0" err="1"/>
              <a:t>docker.list</a:t>
            </a:r>
            <a:r>
              <a:rPr lang="en-US" altLang="ko-KR" sz="1000" b="1" dirty="0"/>
              <a:t> &gt; /dev/null</a:t>
            </a:r>
          </a:p>
          <a:p>
            <a:r>
              <a:rPr lang="en-US" altLang="ko-KR" sz="1000" b="1" dirty="0"/>
              <a:t>$ </a:t>
            </a:r>
            <a:r>
              <a:rPr lang="en-US" altLang="ko-KR" sz="1000" b="1" dirty="0" err="1"/>
              <a:t>sudo</a:t>
            </a:r>
            <a:r>
              <a:rPr lang="en-US" altLang="ko-KR" sz="1000" b="1" dirty="0"/>
              <a:t> apt-get update</a:t>
            </a:r>
          </a:p>
          <a:p>
            <a:r>
              <a:rPr lang="en-US" altLang="ko-KR" sz="1000" b="1" dirty="0"/>
              <a:t>$ </a:t>
            </a:r>
            <a:r>
              <a:rPr lang="en-US" altLang="ko-KR" sz="1000" b="1" dirty="0" err="1">
                <a:solidFill>
                  <a:srgbClr val="FF0000"/>
                </a:solidFill>
              </a:rPr>
              <a:t>sudo</a:t>
            </a:r>
            <a:r>
              <a:rPr lang="en-US" altLang="ko-KR" sz="1000" b="1" dirty="0">
                <a:solidFill>
                  <a:srgbClr val="FF0000"/>
                </a:solidFill>
              </a:rPr>
              <a:t> apt-get install docker-</a:t>
            </a:r>
            <a:r>
              <a:rPr lang="en-US" altLang="ko-KR" sz="1000" b="1" dirty="0" err="1">
                <a:solidFill>
                  <a:srgbClr val="FF0000"/>
                </a:solidFill>
              </a:rPr>
              <a:t>ce</a:t>
            </a:r>
            <a:r>
              <a:rPr lang="en-US" altLang="ko-KR" sz="1000" b="1" dirty="0">
                <a:solidFill>
                  <a:srgbClr val="FF0000"/>
                </a:solidFill>
              </a:rPr>
              <a:t> docker-</a:t>
            </a:r>
            <a:r>
              <a:rPr lang="en-US" altLang="ko-KR" sz="1000" b="1" dirty="0" err="1">
                <a:solidFill>
                  <a:srgbClr val="FF0000"/>
                </a:solidFill>
              </a:rPr>
              <a:t>ce</a:t>
            </a:r>
            <a:r>
              <a:rPr lang="en-US" altLang="ko-KR" sz="1000" b="1" dirty="0">
                <a:solidFill>
                  <a:srgbClr val="FF0000"/>
                </a:solidFill>
              </a:rPr>
              <a:t>-cli containerd.io docker-compose-plugin</a:t>
            </a:r>
          </a:p>
          <a:p>
            <a:r>
              <a:rPr lang="en-US" altLang="ko-KR" sz="1000" b="1" dirty="0"/>
              <a:t>$ </a:t>
            </a:r>
            <a:r>
              <a:rPr lang="en-US" altLang="ko-KR" sz="1000" b="1" dirty="0" err="1"/>
              <a:t>sudo</a:t>
            </a:r>
            <a:r>
              <a:rPr lang="en-US" altLang="ko-KR" sz="1000" b="1" dirty="0"/>
              <a:t> docker run hello-world</a:t>
            </a:r>
          </a:p>
          <a:p>
            <a:r>
              <a:rPr lang="en-US" altLang="ko-KR" sz="1000" b="1" dirty="0"/>
              <a:t>$ </a:t>
            </a:r>
            <a:r>
              <a:rPr lang="de-DE" altLang="ko-KR" sz="1000" b="1" dirty="0"/>
              <a:t>sudo usermod -aG docker $USER</a:t>
            </a:r>
          </a:p>
          <a:p>
            <a:r>
              <a:rPr lang="de-DE" altLang="ko-KR" sz="1000" b="1" dirty="0"/>
              <a:t>$ </a:t>
            </a:r>
            <a:r>
              <a:rPr lang="de-DE" altLang="ko-KR" sz="1000" b="1" dirty="0">
                <a:solidFill>
                  <a:srgbClr val="FF0000"/>
                </a:solidFill>
              </a:rPr>
              <a:t>sudo shutdown -r now</a:t>
            </a:r>
            <a:endParaRPr lang="ko-KR" altLang="en-US" sz="1000" b="1" dirty="0">
              <a:solidFill>
                <a:srgbClr val="FF0000"/>
              </a:solidFill>
            </a:endParaRPr>
          </a:p>
        </p:txBody>
      </p:sp>
    </p:spTree>
    <p:extLst>
      <p:ext uri="{BB962C8B-B14F-4D97-AF65-F5344CB8AC3E}">
        <p14:creationId xmlns:p14="http://schemas.microsoft.com/office/powerpoint/2010/main" val="2866521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Image(2/15)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Hello World Container :</a:t>
            </a:r>
          </a:p>
          <a:p>
            <a:pPr lvl="1">
              <a:buFont typeface="Wingdings" panose="05000000000000000000" pitchFamily="2" charset="2"/>
              <a:buChar char="§"/>
            </a:pPr>
            <a:r>
              <a:rPr lang="en-US" altLang="ko-KR" sz="1400" b="1" dirty="0"/>
              <a:t>If you’re unfamiliar with </a:t>
            </a:r>
            <a:r>
              <a:rPr lang="en-US" altLang="ko-KR" sz="1400" b="1" dirty="0" err="1">
                <a:solidFill>
                  <a:srgbClr val="FF0000"/>
                </a:solidFill>
              </a:rPr>
              <a:t>busybox</a:t>
            </a:r>
            <a:r>
              <a:rPr lang="en-US" altLang="ko-KR" sz="1400" b="1" dirty="0"/>
              <a:t>, it’s a single executable that combines many of the standard UNIX command-line tools</a:t>
            </a:r>
            <a:r>
              <a:rPr lang="en-US" altLang="ko-KR" sz="1400" dirty="0"/>
              <a:t>, such as </a:t>
            </a:r>
            <a:r>
              <a:rPr lang="en-US" altLang="ko-KR" sz="1400" b="1" dirty="0"/>
              <a:t>echo</a:t>
            </a:r>
            <a:r>
              <a:rPr lang="en-US" altLang="ko-KR" sz="1400" dirty="0"/>
              <a:t>, </a:t>
            </a:r>
            <a:r>
              <a:rPr lang="en-US" altLang="ko-KR" sz="1400" b="1" dirty="0"/>
              <a:t>ls</a:t>
            </a:r>
            <a:r>
              <a:rPr lang="en-US" altLang="ko-KR" sz="1400" dirty="0"/>
              <a:t>, </a:t>
            </a:r>
            <a:r>
              <a:rPr lang="en-US" altLang="ko-KR" sz="1400" b="1" dirty="0" err="1"/>
              <a:t>gzip</a:t>
            </a:r>
            <a:r>
              <a:rPr lang="en-US" altLang="ko-KR" sz="1400" dirty="0"/>
              <a:t>, and so on. Instead of the </a:t>
            </a:r>
            <a:r>
              <a:rPr lang="en-US" altLang="ko-KR" sz="1400" b="1" dirty="0" err="1"/>
              <a:t>busybox</a:t>
            </a:r>
            <a:r>
              <a:rPr lang="en-US" altLang="ko-KR" sz="1400" dirty="0"/>
              <a:t> image, you could also use any other full-fledged OS container image such as </a:t>
            </a:r>
            <a:r>
              <a:rPr lang="en-US" altLang="ko-KR" sz="1400" b="1" dirty="0"/>
              <a:t>Fedora</a:t>
            </a:r>
            <a:r>
              <a:rPr lang="en-US" altLang="ko-KR" sz="1400" dirty="0"/>
              <a:t>, </a:t>
            </a:r>
            <a:r>
              <a:rPr lang="en-US" altLang="ko-KR" sz="1400" b="1" dirty="0"/>
              <a:t>Ubuntu</a:t>
            </a:r>
            <a:r>
              <a:rPr lang="en-US" altLang="ko-KR" sz="1400" dirty="0"/>
              <a:t>, or other similar images, as long as it includes the </a:t>
            </a:r>
            <a:r>
              <a:rPr lang="en-US" altLang="ko-KR" sz="1400" b="1" dirty="0"/>
              <a:t>echo</a:t>
            </a:r>
            <a:r>
              <a:rPr lang="en-US" altLang="ko-KR" sz="1400" dirty="0"/>
              <a:t> executable. </a:t>
            </a:r>
          </a:p>
          <a:p>
            <a:pPr lvl="1">
              <a:buFont typeface="Wingdings" panose="05000000000000000000" pitchFamily="2" charset="2"/>
              <a:buChar char="§"/>
            </a:pPr>
            <a:r>
              <a:rPr lang="en-US" altLang="ko-KR" sz="1400" b="1" dirty="0"/>
              <a:t>How do you run the </a:t>
            </a:r>
            <a:r>
              <a:rPr lang="en-US" altLang="ko-KR" sz="1400" b="1" dirty="0" err="1"/>
              <a:t>busybox</a:t>
            </a:r>
            <a:r>
              <a:rPr lang="en-US" altLang="ko-KR" sz="1400" b="1" dirty="0"/>
              <a:t> image? You don’t need to download or install anything. Use the docker run command and specify what image to download and run and (optionally) what command to execute</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b="1" dirty="0"/>
              <a:t>NOTE : The app was executed inside a container, </a:t>
            </a:r>
            <a:r>
              <a:rPr lang="en-US" altLang="ko-KR" sz="1400" b="1" dirty="0">
                <a:solidFill>
                  <a:srgbClr val="FF0000"/>
                </a:solidFill>
              </a:rPr>
              <a:t>completely isolated </a:t>
            </a:r>
            <a:r>
              <a:rPr lang="en-US" altLang="ko-KR" sz="1400" b="1" dirty="0"/>
              <a:t>from all the other processes running on your machine.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E1804E06-C5FC-110D-DA15-84EA10F21801}"/>
              </a:ext>
            </a:extLst>
          </p:cNvPr>
          <p:cNvGrpSpPr/>
          <p:nvPr/>
        </p:nvGrpSpPr>
        <p:grpSpPr>
          <a:xfrm>
            <a:off x="976312" y="2563960"/>
            <a:ext cx="10239375" cy="2538975"/>
            <a:chOff x="976311" y="2647364"/>
            <a:chExt cx="10239375" cy="2538975"/>
          </a:xfrm>
        </p:grpSpPr>
        <p:pic>
          <p:nvPicPr>
            <p:cNvPr id="8" name="그림 7">
              <a:extLst>
                <a:ext uri="{FF2B5EF4-FFF2-40B4-BE49-F238E27FC236}">
                  <a16:creationId xmlns:a16="http://schemas.microsoft.com/office/drawing/2014/main" id="{5CEA6418-982D-A862-D6B9-FE0FD7B2D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311" y="3138464"/>
              <a:ext cx="10239375" cy="2047875"/>
            </a:xfrm>
            <a:prstGeom prst="rect">
              <a:avLst/>
            </a:prstGeom>
          </p:spPr>
        </p:pic>
        <p:sp>
          <p:nvSpPr>
            <p:cNvPr id="9" name="TextBox 8">
              <a:extLst>
                <a:ext uri="{FF2B5EF4-FFF2-40B4-BE49-F238E27FC236}">
                  <a16:creationId xmlns:a16="http://schemas.microsoft.com/office/drawing/2014/main" id="{9B5FB6E1-5533-D571-36DE-271E7011B5BF}"/>
                </a:ext>
              </a:extLst>
            </p:cNvPr>
            <p:cNvSpPr txBox="1"/>
            <p:nvPr/>
          </p:nvSpPr>
          <p:spPr>
            <a:xfrm>
              <a:off x="4709241" y="2647364"/>
              <a:ext cx="2773516" cy="246221"/>
            </a:xfrm>
            <a:prstGeom prst="rect">
              <a:avLst/>
            </a:prstGeom>
            <a:noFill/>
            <a:ln>
              <a:solidFill>
                <a:schemeClr val="bg1">
                  <a:lumMod val="50000"/>
                </a:schemeClr>
              </a:solidFill>
            </a:ln>
          </p:spPr>
          <p:txBody>
            <a:bodyPr wrap="none" rtlCol="0">
              <a:spAutoFit/>
            </a:bodyPr>
            <a:lstStyle/>
            <a:p>
              <a:pPr algn="ctr"/>
              <a:r>
                <a:rPr lang="en-US" altLang="ko-KR" sz="1000" b="1" dirty="0"/>
                <a:t>$ docker run </a:t>
              </a:r>
              <a:r>
                <a:rPr lang="en-US" altLang="ko-KR" sz="1000" b="1" dirty="0" err="1"/>
                <a:t>busybox</a:t>
              </a:r>
              <a:r>
                <a:rPr lang="en-US" altLang="ko-KR" sz="1000" b="1" dirty="0"/>
                <a:t> echo “Hello World”</a:t>
              </a:r>
              <a:endParaRPr lang="ko-KR" altLang="en-US" sz="1000" b="1" dirty="0"/>
            </a:p>
          </p:txBody>
        </p:sp>
        <p:sp>
          <p:nvSpPr>
            <p:cNvPr id="10" name="화살표: 아래쪽 9">
              <a:extLst>
                <a:ext uri="{FF2B5EF4-FFF2-40B4-BE49-F238E27FC236}">
                  <a16:creationId xmlns:a16="http://schemas.microsoft.com/office/drawing/2014/main" id="{EC48697B-C283-A71A-E4FC-D116464DC61D}"/>
                </a:ext>
              </a:extLst>
            </p:cNvPr>
            <p:cNvSpPr/>
            <p:nvPr/>
          </p:nvSpPr>
          <p:spPr>
            <a:xfrm>
              <a:off x="5894989" y="2916927"/>
              <a:ext cx="402020" cy="2215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071993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Image(3/15)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Happens behind the Scenes :</a:t>
            </a:r>
          </a:p>
          <a:p>
            <a:pPr lvl="1">
              <a:buFont typeface="Wingdings" panose="05000000000000000000" pitchFamily="2" charset="2"/>
              <a:buChar char="§"/>
            </a:pPr>
            <a:r>
              <a:rPr lang="en-US" altLang="ko-KR" sz="1400" dirty="0"/>
              <a:t>First, Docker checked to see if the “</a:t>
            </a:r>
            <a:r>
              <a:rPr lang="en-US" altLang="ko-KR" sz="1400" b="1" dirty="0" err="1"/>
              <a:t>busybox:latest</a:t>
            </a:r>
            <a:r>
              <a:rPr lang="en-US" altLang="ko-KR" sz="1400" dirty="0"/>
              <a:t>” image was already present on your local machine. It wasn’t, so Docker pulled it from the “</a:t>
            </a:r>
            <a:r>
              <a:rPr lang="en-US" altLang="ko-KR" sz="1400" b="1" dirty="0"/>
              <a:t>Docker Hub registry at http://docker.io</a:t>
            </a:r>
            <a:r>
              <a:rPr lang="en-US" altLang="ko-KR" sz="1400" dirty="0"/>
              <a:t>”. After the image was downloaded to your machine, </a:t>
            </a:r>
            <a:r>
              <a:rPr lang="en-US" altLang="ko-KR" sz="1400" b="1" dirty="0"/>
              <a:t>Docker created a container from that image and ran the command inside it</a:t>
            </a:r>
            <a:r>
              <a:rPr lang="en-US" altLang="ko-KR" sz="1400" dirty="0"/>
              <a:t>. The “</a:t>
            </a:r>
            <a:r>
              <a:rPr lang="en-US" altLang="ko-KR" sz="1400" b="1" dirty="0"/>
              <a:t>echo</a:t>
            </a:r>
            <a:r>
              <a:rPr lang="en-US" altLang="ko-KR" sz="1400" dirty="0"/>
              <a:t>” command printed the text to </a:t>
            </a:r>
            <a:r>
              <a:rPr lang="en-US" altLang="ko-KR" sz="1400" b="1" dirty="0"/>
              <a:t>STDOUT</a:t>
            </a:r>
            <a:r>
              <a:rPr lang="en-US" altLang="ko-KR" sz="1400" dirty="0"/>
              <a:t> and then the process terminated and the container stopped.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A59684C4-766B-FF59-672E-8F894AF13E4A}"/>
              </a:ext>
            </a:extLst>
          </p:cNvPr>
          <p:cNvPicPr>
            <a:picLocks noChangeAspect="1"/>
          </p:cNvPicPr>
          <p:nvPr/>
        </p:nvPicPr>
        <p:blipFill>
          <a:blip r:embed="rId2"/>
          <a:stretch>
            <a:fillRect/>
          </a:stretch>
        </p:blipFill>
        <p:spPr>
          <a:xfrm>
            <a:off x="3165987" y="2572485"/>
            <a:ext cx="5860026" cy="2654710"/>
          </a:xfrm>
          <a:prstGeom prst="rect">
            <a:avLst/>
          </a:prstGeom>
        </p:spPr>
      </p:pic>
    </p:spTree>
    <p:extLst>
      <p:ext uri="{BB962C8B-B14F-4D97-AF65-F5344CB8AC3E}">
        <p14:creationId xmlns:p14="http://schemas.microsoft.com/office/powerpoint/2010/main" val="7650447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Image(4/15)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Other Images :</a:t>
            </a:r>
          </a:p>
          <a:p>
            <a:pPr lvl="1">
              <a:buFont typeface="Wingdings" panose="05000000000000000000" pitchFamily="2" charset="2"/>
              <a:buChar char="§"/>
            </a:pPr>
            <a:r>
              <a:rPr lang="en-US" altLang="ko-KR" sz="1400" b="1" dirty="0"/>
              <a:t>Running other existing container images is much the same as how you ran the “</a:t>
            </a:r>
            <a:r>
              <a:rPr lang="en-US" altLang="ko-KR" sz="1400" b="1" dirty="0" err="1"/>
              <a:t>busybox</a:t>
            </a:r>
            <a:r>
              <a:rPr lang="en-US" altLang="ko-KR" sz="1400" b="1" dirty="0"/>
              <a:t>” image</a:t>
            </a:r>
            <a:r>
              <a:rPr lang="en-US" altLang="ko-KR" sz="1400" dirty="0"/>
              <a:t>. In fact, it’s often even simpler, because </a:t>
            </a:r>
            <a:r>
              <a:rPr lang="en-US" altLang="ko-KR" sz="1400" b="1" dirty="0"/>
              <a:t>you usually don’t need to specify what command to execute</a:t>
            </a:r>
            <a:r>
              <a:rPr lang="en-US" altLang="ko-KR" sz="1400" dirty="0"/>
              <a:t>, the way you did in the example (echo "</a:t>
            </a:r>
            <a:r>
              <a:rPr lang="en-US" altLang="ko-KR" sz="1400" b="1" dirty="0"/>
              <a:t>Hello world</a:t>
            </a:r>
            <a:r>
              <a:rPr lang="en-US" altLang="ko-KR" sz="1400" dirty="0"/>
              <a:t>"). </a:t>
            </a:r>
          </a:p>
          <a:p>
            <a:pPr lvl="1">
              <a:buFont typeface="Wingdings" panose="05000000000000000000" pitchFamily="2" charset="2"/>
              <a:buChar char="§"/>
            </a:pPr>
            <a:r>
              <a:rPr lang="en-US" altLang="ko-KR" sz="1400" b="1" dirty="0"/>
              <a:t>The command that should be executed is usually baked into the image itself, but you can override it if you want</a:t>
            </a:r>
            <a:r>
              <a:rPr lang="en-US" altLang="ko-KR" sz="1400" dirty="0"/>
              <a:t>. After searching or browsing through the publicly available images on “</a:t>
            </a:r>
            <a:r>
              <a:rPr lang="en-US" altLang="ko-KR" sz="1400" b="1" dirty="0"/>
              <a:t>http://hub.docker.com</a:t>
            </a:r>
            <a:r>
              <a:rPr lang="en-US" altLang="ko-KR" sz="1400" dirty="0"/>
              <a:t>” or another public registry, you tell Docker to run the image like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a:buFont typeface="Wingdings" panose="05000000000000000000" pitchFamily="2" charset="2"/>
              <a:buChar char="§"/>
            </a:pPr>
            <a:r>
              <a:rPr lang="en-US" altLang="ko-KR" sz="1800" b="1" dirty="0"/>
              <a:t>Versioning Container Images :</a:t>
            </a:r>
          </a:p>
          <a:p>
            <a:pPr lvl="1">
              <a:buFont typeface="Wingdings" panose="05000000000000000000" pitchFamily="2" charset="2"/>
              <a:buChar char="§"/>
            </a:pPr>
            <a:r>
              <a:rPr lang="en-US" altLang="ko-KR" sz="1400" b="1" dirty="0"/>
              <a:t>All software packages get updated, so more than a single version of a package usually exists</a:t>
            </a:r>
            <a:r>
              <a:rPr lang="en-US" altLang="ko-KR" sz="1400" dirty="0"/>
              <a:t>. </a:t>
            </a:r>
            <a:r>
              <a:rPr lang="en-US" altLang="ko-KR" sz="1400" b="1" dirty="0"/>
              <a:t>Docker supports having multiple versions or variants of the same image under the same name</a:t>
            </a:r>
            <a:r>
              <a:rPr lang="en-US" altLang="ko-KR" sz="1400" dirty="0"/>
              <a:t>. </a:t>
            </a:r>
            <a:r>
              <a:rPr lang="en-US" altLang="ko-KR" sz="1400" b="1" dirty="0"/>
              <a:t>Each variant must have a unique </a:t>
            </a:r>
            <a:r>
              <a:rPr lang="en-US" altLang="ko-KR" sz="1400" b="1" dirty="0">
                <a:solidFill>
                  <a:srgbClr val="FF0000"/>
                </a:solidFill>
              </a:rPr>
              <a:t>tag</a:t>
            </a:r>
            <a:r>
              <a:rPr lang="en-US" altLang="ko-KR" sz="1400" dirty="0"/>
              <a:t>. When referring to images without explicitly specifying the tag, Docker will assume you’re referring to the so-called </a:t>
            </a:r>
            <a:r>
              <a:rPr lang="en-US" altLang="ko-KR" sz="1400" b="1" dirty="0"/>
              <a:t>latest tag</a:t>
            </a:r>
            <a:r>
              <a:rPr lang="en-US" altLang="ko-KR" sz="1400" dirty="0"/>
              <a:t>. </a:t>
            </a:r>
            <a:r>
              <a:rPr lang="en-US" altLang="ko-KR" sz="1400" b="1" dirty="0"/>
              <a:t>To run a different version of the image, you may specify the tag along with the image name </a:t>
            </a:r>
            <a:r>
              <a:rPr lang="en-US" altLang="ko-KR" sz="1400" dirty="0"/>
              <a:t>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4280A6C-CD49-C531-34B3-CE875B6FE1F9}"/>
              </a:ext>
            </a:extLst>
          </p:cNvPr>
          <p:cNvSpPr txBox="1"/>
          <p:nvPr/>
        </p:nvSpPr>
        <p:spPr>
          <a:xfrm>
            <a:off x="3047343" y="2527003"/>
            <a:ext cx="6097314" cy="246221"/>
          </a:xfrm>
          <a:prstGeom prst="rect">
            <a:avLst/>
          </a:prstGeom>
          <a:noFill/>
          <a:ln>
            <a:solidFill>
              <a:schemeClr val="bg1">
                <a:lumMod val="50000"/>
              </a:schemeClr>
            </a:solidFill>
          </a:ln>
        </p:spPr>
        <p:txBody>
          <a:bodyPr wrap="square">
            <a:spAutoFit/>
          </a:bodyPr>
          <a:lstStyle/>
          <a:p>
            <a:r>
              <a:rPr lang="en-US" altLang="ko-KR" sz="1000" b="1" dirty="0"/>
              <a:t>$ docker run </a:t>
            </a:r>
            <a:r>
              <a:rPr lang="en-US" altLang="ko-KR" sz="1000" b="1" dirty="0">
                <a:solidFill>
                  <a:srgbClr val="FF0000"/>
                </a:solidFill>
              </a:rPr>
              <a:t>&lt;image&gt;</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E03CBB37-940E-BFC7-EBD9-9FECDC32262B}"/>
              </a:ext>
            </a:extLst>
          </p:cNvPr>
          <p:cNvSpPr txBox="1"/>
          <p:nvPr/>
        </p:nvSpPr>
        <p:spPr>
          <a:xfrm>
            <a:off x="3047342" y="4299496"/>
            <a:ext cx="6097314" cy="246221"/>
          </a:xfrm>
          <a:prstGeom prst="rect">
            <a:avLst/>
          </a:prstGeom>
          <a:noFill/>
          <a:ln>
            <a:solidFill>
              <a:schemeClr val="bg1">
                <a:lumMod val="50000"/>
              </a:schemeClr>
            </a:solidFill>
          </a:ln>
        </p:spPr>
        <p:txBody>
          <a:bodyPr wrap="square">
            <a:spAutoFit/>
          </a:bodyPr>
          <a:lstStyle/>
          <a:p>
            <a:r>
              <a:rPr lang="en-US" altLang="ko-KR" sz="1000" b="1" dirty="0"/>
              <a:t>$ docker run </a:t>
            </a:r>
            <a:r>
              <a:rPr lang="en-US" altLang="ko-KR" sz="1000" b="1" dirty="0">
                <a:solidFill>
                  <a:srgbClr val="FF0000"/>
                </a:solidFill>
              </a:rPr>
              <a:t>&lt;image&gt;:&lt;tag&gt;</a:t>
            </a:r>
            <a:endParaRPr lang="ko-KR" altLang="en-US" sz="1000" b="1" dirty="0">
              <a:solidFill>
                <a:srgbClr val="FF0000"/>
              </a:solidFill>
            </a:endParaRPr>
          </a:p>
        </p:txBody>
      </p:sp>
      <p:pic>
        <p:nvPicPr>
          <p:cNvPr id="11" name="그림 10">
            <a:extLst>
              <a:ext uri="{FF2B5EF4-FFF2-40B4-BE49-F238E27FC236}">
                <a16:creationId xmlns:a16="http://schemas.microsoft.com/office/drawing/2014/main" id="{0BAFCDC4-B3EF-607A-741D-16E41D66F891}"/>
              </a:ext>
            </a:extLst>
          </p:cNvPr>
          <p:cNvPicPr>
            <a:picLocks noChangeAspect="1"/>
          </p:cNvPicPr>
          <p:nvPr/>
        </p:nvPicPr>
        <p:blipFill>
          <a:blip r:embed="rId2"/>
          <a:stretch>
            <a:fillRect/>
          </a:stretch>
        </p:blipFill>
        <p:spPr>
          <a:xfrm>
            <a:off x="2757487" y="4780255"/>
            <a:ext cx="6677025" cy="1628775"/>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78522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Image(5/15)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Trivial Node.js App :</a:t>
            </a:r>
          </a:p>
          <a:p>
            <a:pPr lvl="1">
              <a:buFont typeface="Wingdings" panose="05000000000000000000" pitchFamily="2" charset="2"/>
              <a:buChar char="§"/>
            </a:pPr>
            <a:r>
              <a:rPr lang="en-US" altLang="ko-KR" sz="1400" dirty="0"/>
              <a:t>Now you’ll build a trivial </a:t>
            </a:r>
            <a:r>
              <a:rPr lang="en-US" altLang="ko-KR" sz="1400" b="1" dirty="0"/>
              <a:t>Node.js web application </a:t>
            </a:r>
            <a:r>
              <a:rPr lang="en-US" altLang="ko-KR" sz="1400" dirty="0"/>
              <a:t>and </a:t>
            </a:r>
            <a:r>
              <a:rPr lang="en-US" altLang="ko-KR" sz="1400" b="1" dirty="0"/>
              <a:t>package it into a </a:t>
            </a:r>
            <a:r>
              <a:rPr lang="en-US" altLang="ko-KR" sz="1400" b="1" dirty="0">
                <a:solidFill>
                  <a:srgbClr val="FF0000"/>
                </a:solidFill>
              </a:rPr>
              <a:t>container image</a:t>
            </a:r>
            <a:r>
              <a:rPr lang="en-US" altLang="ko-KR" sz="1400" dirty="0"/>
              <a:t>. The application will accept </a:t>
            </a:r>
            <a:r>
              <a:rPr lang="en-US" altLang="ko-KR" sz="1400" b="1" dirty="0"/>
              <a:t>HTTP requests and respond </a:t>
            </a:r>
            <a:r>
              <a:rPr lang="en-US" altLang="ko-KR" sz="1400" dirty="0"/>
              <a:t>with the hostname of the machine it’s running in. This way, you’ll see that an app running inside a container sees its own hostname and not that of the host machine, even though it’s running on the host like any other process. This will be useful later, when you deploy the app on Kubernetes and </a:t>
            </a:r>
            <a:r>
              <a:rPr lang="en-US" altLang="ko-KR" sz="1400" b="1" dirty="0">
                <a:solidFill>
                  <a:srgbClr val="FF0000"/>
                </a:solidFill>
              </a:rPr>
              <a:t>scale it out </a:t>
            </a:r>
            <a:r>
              <a:rPr lang="en-US" altLang="ko-KR" sz="1400" dirty="0"/>
              <a:t>(</a:t>
            </a:r>
            <a:r>
              <a:rPr lang="en-US" altLang="ko-KR" sz="1400" b="1" dirty="0">
                <a:solidFill>
                  <a:srgbClr val="FF0000"/>
                </a:solidFill>
              </a:rPr>
              <a:t>scale it horizontally</a:t>
            </a:r>
            <a:r>
              <a:rPr lang="en-US" altLang="ko-KR" sz="1400" b="1" dirty="0"/>
              <a:t>; that is, run multiple instances of the app</a:t>
            </a:r>
            <a:r>
              <a:rPr lang="en-US" altLang="ko-KR" sz="1400" dirty="0"/>
              <a:t>). You’ll see your HTTP requests hitting different instances of the app.</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returned hostname is the server’s actual hostname</a:t>
            </a:r>
            <a:r>
              <a:rPr lang="en-US" altLang="ko-KR" sz="1400" dirty="0"/>
              <a:t>, not the one the client sends in the HTTP request’s Host header.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CFE61DF-DB7D-90BE-ED8B-53B5B71E5232}"/>
              </a:ext>
            </a:extLst>
          </p:cNvPr>
          <p:cNvGrpSpPr/>
          <p:nvPr/>
        </p:nvGrpSpPr>
        <p:grpSpPr>
          <a:xfrm>
            <a:off x="3047343" y="2518938"/>
            <a:ext cx="6097314" cy="2092881"/>
            <a:chOff x="3047343" y="2382559"/>
            <a:chExt cx="6097314" cy="2092881"/>
          </a:xfrm>
        </p:grpSpPr>
        <p:sp>
          <p:nvSpPr>
            <p:cNvPr id="8" name="TextBox 7">
              <a:extLst>
                <a:ext uri="{FF2B5EF4-FFF2-40B4-BE49-F238E27FC236}">
                  <a16:creationId xmlns:a16="http://schemas.microsoft.com/office/drawing/2014/main" id="{15F6E9C9-6686-C3A7-0213-9B76F411C9D2}"/>
                </a:ext>
              </a:extLst>
            </p:cNvPr>
            <p:cNvSpPr txBox="1"/>
            <p:nvPr/>
          </p:nvSpPr>
          <p:spPr>
            <a:xfrm>
              <a:off x="3047343" y="2382559"/>
              <a:ext cx="6097314" cy="2092881"/>
            </a:xfrm>
            <a:prstGeom prst="rect">
              <a:avLst/>
            </a:prstGeom>
            <a:noFill/>
            <a:ln>
              <a:solidFill>
                <a:schemeClr val="bg1">
                  <a:lumMod val="50000"/>
                </a:schemeClr>
              </a:solidFill>
            </a:ln>
          </p:spPr>
          <p:txBody>
            <a:bodyPr wrap="square">
              <a:spAutoFit/>
            </a:bodyPr>
            <a:lstStyle/>
            <a:p>
              <a:r>
                <a:rPr lang="en-US" altLang="ko-KR" sz="1000" b="1" dirty="0"/>
                <a:t>const http = require('http');</a:t>
              </a:r>
            </a:p>
            <a:p>
              <a:r>
                <a:rPr lang="en-US" altLang="ko-KR" sz="1000" b="1" dirty="0"/>
                <a:t>const </a:t>
              </a:r>
              <a:r>
                <a:rPr lang="en-US" altLang="ko-KR" sz="1000" b="1" dirty="0" err="1"/>
                <a:t>os</a:t>
              </a:r>
              <a:r>
                <a:rPr lang="en-US" altLang="ko-KR" sz="1000" b="1" dirty="0"/>
                <a:t> = require('</a:t>
              </a:r>
              <a:r>
                <a:rPr lang="en-US" altLang="ko-KR" sz="1000" b="1" dirty="0" err="1"/>
                <a:t>os</a:t>
              </a:r>
              <a:r>
                <a:rPr lang="en-US" altLang="ko-KR" sz="1000" b="1" dirty="0"/>
                <a:t>');</a:t>
              </a:r>
            </a:p>
            <a:p>
              <a:endParaRPr lang="en-US" altLang="ko-KR" sz="1000" b="1" dirty="0"/>
            </a:p>
            <a:p>
              <a:r>
                <a:rPr lang="en-US" altLang="ko-KR" sz="1000" b="1" dirty="0"/>
                <a:t>console.log("</a:t>
              </a:r>
              <a:r>
                <a:rPr lang="en-US" altLang="ko-KR" sz="1000" b="1" dirty="0" err="1"/>
                <a:t>Kubia</a:t>
              </a:r>
              <a:r>
                <a:rPr lang="en-US" altLang="ko-KR" sz="1000" b="1" dirty="0"/>
                <a:t> server starting...");</a:t>
              </a:r>
            </a:p>
            <a:p>
              <a:endParaRPr lang="en-US" altLang="ko-KR" sz="1000" b="1" dirty="0"/>
            </a:p>
            <a:p>
              <a:r>
                <a:rPr lang="en-US" altLang="ko-KR" sz="1000" b="1" dirty="0"/>
                <a:t>var handler = function (request, response) {</a:t>
              </a:r>
            </a:p>
            <a:p>
              <a:r>
                <a:rPr lang="en-US" altLang="ko-KR" sz="1000" b="1" dirty="0"/>
                <a:t>    console.log("Received request from " + </a:t>
              </a:r>
              <a:r>
                <a:rPr lang="en-US" altLang="ko-KR" sz="1000" b="1" dirty="0" err="1"/>
                <a:t>request.connection.remoteAddress</a:t>
              </a:r>
              <a:r>
                <a:rPr lang="en-US" altLang="ko-KR" sz="1000" b="1" dirty="0"/>
                <a:t>);</a:t>
              </a:r>
            </a:p>
            <a:p>
              <a:r>
                <a:rPr lang="en-US" altLang="ko-KR" sz="1000" b="1" dirty="0"/>
                <a:t>    </a:t>
              </a:r>
              <a:r>
                <a:rPr lang="en-US" altLang="ko-KR" sz="1000" b="1" dirty="0" err="1"/>
                <a:t>response.writeHead</a:t>
              </a:r>
              <a:r>
                <a:rPr lang="en-US" altLang="ko-KR" sz="1000" b="1" dirty="0"/>
                <a:t>(200);</a:t>
              </a:r>
            </a:p>
            <a:p>
              <a:r>
                <a:rPr lang="en-US" altLang="ko-KR" sz="1000" b="1" dirty="0"/>
                <a:t>    </a:t>
              </a:r>
              <a:r>
                <a:rPr lang="en-US" altLang="ko-KR" sz="1000" b="1" dirty="0" err="1"/>
                <a:t>response.end</a:t>
              </a:r>
              <a:r>
                <a:rPr lang="en-US" altLang="ko-KR" sz="1000" b="1" dirty="0"/>
                <a:t>("You've hit " + </a:t>
              </a:r>
              <a:r>
                <a:rPr lang="en-US" altLang="ko-KR" sz="1000" b="1" dirty="0" err="1"/>
                <a:t>os.hostname</a:t>
              </a:r>
              <a:r>
                <a:rPr lang="en-US" altLang="ko-KR" sz="1000" b="1" dirty="0"/>
                <a:t>() + "\n");</a:t>
              </a:r>
            </a:p>
            <a:p>
              <a:r>
                <a:rPr lang="en-US" altLang="ko-KR" sz="1000" b="1" dirty="0"/>
                <a:t>};</a:t>
              </a:r>
            </a:p>
            <a:p>
              <a:endParaRPr lang="en-US" altLang="ko-KR" sz="1000" b="1" dirty="0"/>
            </a:p>
            <a:p>
              <a:r>
                <a:rPr lang="en-US" altLang="ko-KR" sz="1000" b="1" dirty="0"/>
                <a:t>var www = </a:t>
              </a:r>
              <a:r>
                <a:rPr lang="en-US" altLang="ko-KR" sz="1000" b="1" dirty="0" err="1"/>
                <a:t>http.createServer</a:t>
              </a:r>
              <a:r>
                <a:rPr lang="en-US" altLang="ko-KR" sz="1000" b="1" dirty="0"/>
                <a:t>(handler);</a:t>
              </a:r>
            </a:p>
            <a:p>
              <a:r>
                <a:rPr lang="en-US" altLang="ko-KR" sz="1000" b="1" dirty="0"/>
                <a:t>www.listen(</a:t>
              </a:r>
              <a:r>
                <a:rPr lang="en-US" altLang="ko-KR" sz="1000" b="1" dirty="0">
                  <a:solidFill>
                    <a:srgbClr val="FF0000"/>
                  </a:solidFill>
                </a:rPr>
                <a:t>8080</a:t>
              </a:r>
              <a:r>
                <a:rPr lang="en-US" altLang="ko-KR" sz="1000" b="1" dirty="0"/>
                <a:t>);</a:t>
              </a:r>
              <a:endParaRPr lang="ko-KR" altLang="en-US" sz="1000" b="1" dirty="0"/>
            </a:p>
          </p:txBody>
        </p:sp>
        <p:sp>
          <p:nvSpPr>
            <p:cNvPr id="12" name="TextBox 11">
              <a:extLst>
                <a:ext uri="{FF2B5EF4-FFF2-40B4-BE49-F238E27FC236}">
                  <a16:creationId xmlns:a16="http://schemas.microsoft.com/office/drawing/2014/main" id="{1DEB1B98-2FE8-E1D1-F86B-9533454EB781}"/>
                </a:ext>
              </a:extLst>
            </p:cNvPr>
            <p:cNvSpPr txBox="1"/>
            <p:nvPr/>
          </p:nvSpPr>
          <p:spPr>
            <a:xfrm>
              <a:off x="8602521" y="2382559"/>
              <a:ext cx="542136" cy="246221"/>
            </a:xfrm>
            <a:prstGeom prst="rect">
              <a:avLst/>
            </a:prstGeom>
            <a:noFill/>
          </p:spPr>
          <p:txBody>
            <a:bodyPr wrap="none" rtlCol="0">
              <a:spAutoFit/>
            </a:bodyPr>
            <a:lstStyle/>
            <a:p>
              <a:pPr algn="ctr"/>
              <a:r>
                <a:rPr lang="en-US" altLang="ko-KR" sz="1000" b="1" dirty="0"/>
                <a:t>app.js</a:t>
              </a:r>
              <a:endParaRPr lang="ko-KR" altLang="en-US" sz="1000" b="1" dirty="0"/>
            </a:p>
          </p:txBody>
        </p:sp>
      </p:grpSp>
    </p:spTree>
    <p:extLst>
      <p:ext uri="{BB962C8B-B14F-4D97-AF65-F5344CB8AC3E}">
        <p14:creationId xmlns:p14="http://schemas.microsoft.com/office/powerpoint/2010/main" val="3027398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Node.js Application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Node.js Application :</a:t>
            </a:r>
          </a:p>
          <a:p>
            <a:pPr lvl="1">
              <a:buFont typeface="Wingdings" panose="05000000000000000000" pitchFamily="2" charset="2"/>
              <a:buChar char="§"/>
            </a:pPr>
            <a:r>
              <a:rPr lang="en-US" altLang="ko-KR" sz="1400" dirty="0"/>
              <a:t>To run the node.js application, you need to run the following command. To see the output of the example, you need to run a web browser and connect to the </a:t>
            </a:r>
            <a:r>
              <a:rPr lang="en-US" altLang="ko-KR" sz="1400" dirty="0">
                <a:hlinkClick r:id="rId2"/>
              </a:rPr>
              <a:t>http://localhost:8080</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3C402CE4-BE32-CD00-38B4-368230CBC9CB}"/>
              </a:ext>
            </a:extLst>
          </p:cNvPr>
          <p:cNvGrpSpPr/>
          <p:nvPr/>
        </p:nvGrpSpPr>
        <p:grpSpPr>
          <a:xfrm>
            <a:off x="1588704" y="1847049"/>
            <a:ext cx="9014591" cy="4108316"/>
            <a:chOff x="1588704" y="1531738"/>
            <a:chExt cx="9014591" cy="4108316"/>
          </a:xfrm>
        </p:grpSpPr>
        <p:grpSp>
          <p:nvGrpSpPr>
            <p:cNvPr id="10" name="그룹 9">
              <a:extLst>
                <a:ext uri="{FF2B5EF4-FFF2-40B4-BE49-F238E27FC236}">
                  <a16:creationId xmlns:a16="http://schemas.microsoft.com/office/drawing/2014/main" id="{B7F70705-82A6-028F-93A8-7AD0ABB3A7BB}"/>
                </a:ext>
              </a:extLst>
            </p:cNvPr>
            <p:cNvGrpSpPr/>
            <p:nvPr/>
          </p:nvGrpSpPr>
          <p:grpSpPr>
            <a:xfrm>
              <a:off x="1588704" y="2073165"/>
              <a:ext cx="9014591" cy="3566889"/>
              <a:chOff x="704850" y="1215240"/>
              <a:chExt cx="10477500" cy="4204097"/>
            </a:xfrm>
          </p:grpSpPr>
          <p:pic>
            <p:nvPicPr>
              <p:cNvPr id="8" name="그림 7">
                <a:extLst>
                  <a:ext uri="{FF2B5EF4-FFF2-40B4-BE49-F238E27FC236}">
                    <a16:creationId xmlns:a16="http://schemas.microsoft.com/office/drawing/2014/main" id="{9655064B-BEA7-6AE6-E5A3-65F5A215300C}"/>
                  </a:ext>
                </a:extLst>
              </p:cNvPr>
              <p:cNvPicPr>
                <a:picLocks noChangeAspect="1"/>
              </p:cNvPicPr>
              <p:nvPr/>
            </p:nvPicPr>
            <p:blipFill>
              <a:blip r:embed="rId3"/>
              <a:stretch>
                <a:fillRect/>
              </a:stretch>
            </p:blipFill>
            <p:spPr>
              <a:xfrm>
                <a:off x="704850" y="3040611"/>
                <a:ext cx="10477500" cy="2378726"/>
              </a:xfrm>
              <a:prstGeom prst="rect">
                <a:avLst/>
              </a:prstGeom>
            </p:spPr>
          </p:pic>
          <p:pic>
            <p:nvPicPr>
              <p:cNvPr id="9" name="그림 8">
                <a:extLst>
                  <a:ext uri="{FF2B5EF4-FFF2-40B4-BE49-F238E27FC236}">
                    <a16:creationId xmlns:a16="http://schemas.microsoft.com/office/drawing/2014/main" id="{B94E9059-78F2-D288-8B04-E70968457065}"/>
                  </a:ext>
                </a:extLst>
              </p:cNvPr>
              <p:cNvPicPr>
                <a:picLocks noChangeAspect="1"/>
              </p:cNvPicPr>
              <p:nvPr/>
            </p:nvPicPr>
            <p:blipFill>
              <a:blip r:embed="rId4"/>
              <a:stretch>
                <a:fillRect/>
              </a:stretch>
            </p:blipFill>
            <p:spPr>
              <a:xfrm>
                <a:off x="704850" y="1215240"/>
                <a:ext cx="10477500" cy="1809750"/>
              </a:xfrm>
              <a:prstGeom prst="rect">
                <a:avLst/>
              </a:prstGeom>
            </p:spPr>
          </p:pic>
        </p:grpSp>
        <p:sp>
          <p:nvSpPr>
            <p:cNvPr id="11" name="TextBox 10">
              <a:extLst>
                <a:ext uri="{FF2B5EF4-FFF2-40B4-BE49-F238E27FC236}">
                  <a16:creationId xmlns:a16="http://schemas.microsoft.com/office/drawing/2014/main" id="{CDA85042-B65F-E5AA-3D29-B369FADA77F4}"/>
                </a:ext>
              </a:extLst>
            </p:cNvPr>
            <p:cNvSpPr txBox="1"/>
            <p:nvPr/>
          </p:nvSpPr>
          <p:spPr>
            <a:xfrm>
              <a:off x="3493182" y="1531738"/>
              <a:ext cx="5205634" cy="246221"/>
            </a:xfrm>
            <a:prstGeom prst="rect">
              <a:avLst/>
            </a:prstGeom>
            <a:noFill/>
            <a:ln>
              <a:solidFill>
                <a:schemeClr val="bg1">
                  <a:lumMod val="50000"/>
                </a:schemeClr>
              </a:solidFill>
            </a:ln>
          </p:spPr>
          <p:txBody>
            <a:bodyPr wrap="square" rtlCol="0">
              <a:spAutoFit/>
            </a:bodyPr>
            <a:lstStyle/>
            <a:p>
              <a:r>
                <a:rPr lang="en-US" altLang="ko-KR" sz="1000" b="1" dirty="0"/>
                <a:t>$ node </a:t>
              </a:r>
              <a:r>
                <a:rPr lang="en-US" altLang="ko-KR" sz="1000" b="1" dirty="0">
                  <a:solidFill>
                    <a:srgbClr val="FF0000"/>
                  </a:solidFill>
                </a:rPr>
                <a:t>app.js</a:t>
              </a:r>
              <a:endParaRPr lang="ko-KR" altLang="en-US" sz="1000" b="1" dirty="0">
                <a:solidFill>
                  <a:srgbClr val="FF0000"/>
                </a:solidFill>
              </a:endParaRPr>
            </a:p>
          </p:txBody>
        </p:sp>
        <p:sp>
          <p:nvSpPr>
            <p:cNvPr id="12" name="화살표: 아래쪽 11">
              <a:extLst>
                <a:ext uri="{FF2B5EF4-FFF2-40B4-BE49-F238E27FC236}">
                  <a16:creationId xmlns:a16="http://schemas.microsoft.com/office/drawing/2014/main" id="{DA1CB766-D604-AA76-F8E7-8D2FF811DC99}"/>
                </a:ext>
              </a:extLst>
            </p:cNvPr>
            <p:cNvSpPr/>
            <p:nvPr/>
          </p:nvSpPr>
          <p:spPr>
            <a:xfrm>
              <a:off x="5883164" y="1807404"/>
              <a:ext cx="425669"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00542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Image(6/15)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Dockerfile</a:t>
            </a:r>
            <a:r>
              <a:rPr lang="en-US" altLang="ko-KR" sz="1800" b="1" dirty="0"/>
              <a:t> for the Image :</a:t>
            </a:r>
          </a:p>
          <a:p>
            <a:pPr lvl="1">
              <a:buFont typeface="Wingdings" panose="05000000000000000000" pitchFamily="2" charset="2"/>
              <a:buChar char="§"/>
            </a:pPr>
            <a:r>
              <a:rPr lang="en-US" altLang="ko-KR" sz="1400" b="1" dirty="0"/>
              <a:t>To package your app into an image, you first need to create a file called “</a:t>
            </a:r>
            <a:r>
              <a:rPr lang="en-US" altLang="ko-KR" sz="1400" b="1" dirty="0" err="1">
                <a:solidFill>
                  <a:srgbClr val="FF0000"/>
                </a:solidFill>
              </a:rPr>
              <a:t>Dockerfile</a:t>
            </a:r>
            <a:r>
              <a:rPr lang="en-US" altLang="ko-KR" sz="1400" b="1" dirty="0"/>
              <a:t>”, which will contain a list of instructions that Docker will perform when building the image</a:t>
            </a:r>
            <a:r>
              <a:rPr lang="en-US" altLang="ko-KR" sz="1400" dirty="0"/>
              <a:t>. </a:t>
            </a:r>
            <a:r>
              <a:rPr lang="en-US" altLang="ko-KR" sz="1400" b="1" dirty="0"/>
              <a:t>The “</a:t>
            </a:r>
            <a:r>
              <a:rPr lang="en-US" altLang="ko-KR" sz="1400" b="1" dirty="0" err="1"/>
              <a:t>Dockerfile</a:t>
            </a:r>
            <a:r>
              <a:rPr lang="en-US" altLang="ko-KR" sz="1400" b="1" dirty="0"/>
              <a:t>” needs to be in the same directory as the “app.js” file</a:t>
            </a:r>
            <a:r>
              <a:rPr lang="en-US" altLang="ko-KR" sz="1400" dirty="0"/>
              <a:t> and should contain the commands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FROM line defines the container image you’ll use as a starting point (the base image you’re building on top of)</a:t>
            </a:r>
            <a:r>
              <a:rPr lang="en-US" altLang="ko-KR" sz="1400" dirty="0"/>
              <a:t>. In your case, you’re using the node container image, </a:t>
            </a:r>
            <a:r>
              <a:rPr lang="en-US" altLang="ko-KR" sz="1400" b="1" dirty="0"/>
              <a:t>tag 18</a:t>
            </a:r>
            <a:r>
              <a:rPr lang="en-US" altLang="ko-KR" sz="1400" dirty="0"/>
              <a:t>. In the second line, you’re </a:t>
            </a:r>
            <a:r>
              <a:rPr lang="en-US" altLang="ko-KR" sz="1400" b="1" dirty="0"/>
              <a:t>adding your app.js file from your local directory into the root directory in the image</a:t>
            </a:r>
            <a:r>
              <a:rPr lang="en-US" altLang="ko-KR" sz="1400" dirty="0"/>
              <a:t>, under the same name (“</a:t>
            </a:r>
            <a:r>
              <a:rPr lang="en-US" altLang="ko-KR" sz="1400" b="1" dirty="0"/>
              <a:t>app.js”</a:t>
            </a:r>
            <a:r>
              <a:rPr lang="en-US" altLang="ko-KR" sz="1400" dirty="0"/>
              <a:t>). Finally, in the third line, </a:t>
            </a:r>
            <a:r>
              <a:rPr lang="en-US" altLang="ko-KR" sz="1400" b="1" dirty="0"/>
              <a:t>you’re defining what command should be executed when somebody runs the image</a:t>
            </a:r>
            <a:r>
              <a:rPr lang="en-US" altLang="ko-KR" sz="1400" dirty="0"/>
              <a:t>. In your case, the command is “</a:t>
            </a:r>
            <a:r>
              <a:rPr lang="en-US" altLang="ko-KR" sz="1400" b="1" dirty="0"/>
              <a:t>node app.js</a:t>
            </a:r>
            <a:r>
              <a:rPr lang="en-US" altLang="ko-KR" sz="1400" dirty="0"/>
              <a:t>”.</a:t>
            </a:r>
          </a:p>
          <a:p>
            <a:pPr lvl="1">
              <a:buFont typeface="Wingdings" panose="05000000000000000000" pitchFamily="2" charset="2"/>
              <a:buChar char="§"/>
            </a:pPr>
            <a:r>
              <a:rPr lang="en-US" altLang="ko-KR" sz="1400" b="1" dirty="0"/>
              <a:t>NOTE : You may wonder why we chose this specific image as your base. Because your app is a Node.js app, you need your image to contain the node binary executable to run the app</a:t>
            </a:r>
            <a:r>
              <a:rPr lang="en-US" altLang="ko-KR" sz="1400" dirty="0"/>
              <a:t>. You could have used any image that contains that binary, or you could have even used a Linux distro base image such as </a:t>
            </a:r>
            <a:r>
              <a:rPr lang="en-US" altLang="ko-KR" sz="1400" b="1" dirty="0"/>
              <a:t>fedora</a:t>
            </a:r>
            <a:r>
              <a:rPr lang="en-US" altLang="ko-KR" sz="1400" dirty="0"/>
              <a:t> or </a:t>
            </a:r>
            <a:r>
              <a:rPr lang="en-US" altLang="ko-KR" sz="1400" b="1" dirty="0"/>
              <a:t>ubuntu</a:t>
            </a:r>
            <a:r>
              <a:rPr lang="en-US" altLang="ko-KR" sz="1400" dirty="0"/>
              <a:t> and installed </a:t>
            </a:r>
            <a:r>
              <a:rPr lang="en-US" altLang="ko-KR" sz="1400" b="1" dirty="0"/>
              <a:t>Node.js </a:t>
            </a:r>
            <a:r>
              <a:rPr lang="en-US" altLang="ko-KR" sz="1400" dirty="0"/>
              <a:t>into the container at image build time. </a:t>
            </a:r>
            <a:r>
              <a:rPr lang="en-US" altLang="ko-KR" sz="1400" b="1" dirty="0"/>
              <a:t>But because the node image is made specifically for running Node.js apps, and includes everything you need to run your app, you’ll use that as the base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B1AC1C9E-669B-CBB1-F489-7A0A00A50B5B}"/>
              </a:ext>
            </a:extLst>
          </p:cNvPr>
          <p:cNvGrpSpPr/>
          <p:nvPr/>
        </p:nvGrpSpPr>
        <p:grpSpPr>
          <a:xfrm>
            <a:off x="3047343" y="2092349"/>
            <a:ext cx="6097314" cy="553998"/>
            <a:chOff x="3047343" y="1895280"/>
            <a:chExt cx="6097314" cy="553998"/>
          </a:xfrm>
        </p:grpSpPr>
        <p:sp>
          <p:nvSpPr>
            <p:cNvPr id="8" name="TextBox 7">
              <a:extLst>
                <a:ext uri="{FF2B5EF4-FFF2-40B4-BE49-F238E27FC236}">
                  <a16:creationId xmlns:a16="http://schemas.microsoft.com/office/drawing/2014/main" id="{A7A207E1-4576-211B-08FE-0129CC13EB31}"/>
                </a:ext>
              </a:extLst>
            </p:cNvPr>
            <p:cNvSpPr txBox="1"/>
            <p:nvPr/>
          </p:nvSpPr>
          <p:spPr>
            <a:xfrm>
              <a:off x="3047343" y="1895280"/>
              <a:ext cx="6097314" cy="553998"/>
            </a:xfrm>
            <a:prstGeom prst="rect">
              <a:avLst/>
            </a:prstGeom>
            <a:noFill/>
            <a:ln>
              <a:solidFill>
                <a:schemeClr val="bg1">
                  <a:lumMod val="50000"/>
                </a:schemeClr>
              </a:solidFill>
            </a:ln>
          </p:spPr>
          <p:txBody>
            <a:bodyPr wrap="square">
              <a:spAutoFit/>
            </a:bodyPr>
            <a:lstStyle/>
            <a:p>
              <a:r>
                <a:rPr lang="en-US" altLang="ko-KR" sz="1000" b="1" dirty="0">
                  <a:solidFill>
                    <a:srgbClr val="FF0000"/>
                  </a:solidFill>
                </a:rPr>
                <a:t>FROM</a:t>
              </a:r>
              <a:r>
                <a:rPr lang="en-US" altLang="ko-KR" sz="1000" b="1" dirty="0"/>
                <a:t> node:18</a:t>
              </a:r>
            </a:p>
            <a:p>
              <a:r>
                <a:rPr lang="en-US" altLang="ko-KR" sz="1000" b="1" dirty="0">
                  <a:solidFill>
                    <a:srgbClr val="FF0000"/>
                  </a:solidFill>
                </a:rPr>
                <a:t>ADD</a:t>
              </a:r>
              <a:r>
                <a:rPr lang="en-US" altLang="ko-KR" sz="1000" b="1" dirty="0"/>
                <a:t> app.js /app.js</a:t>
              </a:r>
            </a:p>
            <a:p>
              <a:r>
                <a:rPr lang="en-US" altLang="ko-KR" sz="1000" b="1" dirty="0">
                  <a:solidFill>
                    <a:srgbClr val="FF0000"/>
                  </a:solidFill>
                </a:rPr>
                <a:t>ENTRYPOINT</a:t>
              </a:r>
              <a:r>
                <a:rPr lang="en-US" altLang="ko-KR" sz="1000" b="1" dirty="0"/>
                <a:t> ["node", "app.js"]</a:t>
              </a:r>
              <a:endParaRPr lang="ko-KR" altLang="en-US" sz="1000" b="1" dirty="0"/>
            </a:p>
          </p:txBody>
        </p:sp>
        <p:sp>
          <p:nvSpPr>
            <p:cNvPr id="10" name="TextBox 9">
              <a:extLst>
                <a:ext uri="{FF2B5EF4-FFF2-40B4-BE49-F238E27FC236}">
                  <a16:creationId xmlns:a16="http://schemas.microsoft.com/office/drawing/2014/main" id="{D26B5B73-A46F-634F-0678-0324AA4B4390}"/>
                </a:ext>
              </a:extLst>
            </p:cNvPr>
            <p:cNvSpPr txBox="1"/>
            <p:nvPr/>
          </p:nvSpPr>
          <p:spPr>
            <a:xfrm>
              <a:off x="8341232" y="1895280"/>
              <a:ext cx="803425" cy="246221"/>
            </a:xfrm>
            <a:prstGeom prst="rect">
              <a:avLst/>
            </a:prstGeom>
            <a:noFill/>
          </p:spPr>
          <p:txBody>
            <a:bodyPr wrap="none" rtlCol="0">
              <a:spAutoFit/>
            </a:bodyPr>
            <a:lstStyle/>
            <a:p>
              <a:pPr algn="ctr"/>
              <a:r>
                <a:rPr lang="en-US" altLang="ko-KR" sz="1000" b="1" dirty="0" err="1"/>
                <a:t>Dockerfile</a:t>
              </a:r>
              <a:endParaRPr lang="ko-KR" altLang="en-US" sz="1000" b="1" dirty="0"/>
            </a:p>
          </p:txBody>
        </p:sp>
      </p:grpSp>
    </p:spTree>
    <p:extLst>
      <p:ext uri="{BB962C8B-B14F-4D97-AF65-F5344CB8AC3E}">
        <p14:creationId xmlns:p14="http://schemas.microsoft.com/office/powerpoint/2010/main" val="433538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Image(7/15)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the Container Image :</a:t>
            </a:r>
          </a:p>
          <a:p>
            <a:pPr lvl="1">
              <a:buFont typeface="Wingdings" panose="05000000000000000000" pitchFamily="2" charset="2"/>
              <a:buChar char="§"/>
            </a:pPr>
            <a:r>
              <a:rPr lang="en-US" altLang="ko-KR" sz="1400" dirty="0"/>
              <a:t>To build the image, run the following Docker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following screenshot will show you what happens during the build process. You’re telling Docker to build an image called “</a:t>
            </a:r>
            <a:r>
              <a:rPr lang="en-US" altLang="ko-KR" sz="1400" b="1" dirty="0" err="1"/>
              <a:t>kubia</a:t>
            </a:r>
            <a:r>
              <a:rPr lang="en-US" altLang="ko-KR" sz="1400" dirty="0"/>
              <a:t>” based on the contents of the current directory.</a:t>
            </a:r>
          </a:p>
          <a:p>
            <a:pPr lvl="1">
              <a:buFont typeface="Wingdings" panose="05000000000000000000" pitchFamily="2" charset="2"/>
              <a:buChar char="§"/>
            </a:pPr>
            <a:r>
              <a:rPr lang="en-US" altLang="ko-KR" sz="1400" b="1" dirty="0"/>
              <a:t>NOTE : The dot at the end of the build command(the current directory)</a:t>
            </a:r>
            <a:r>
              <a:rPr lang="en-US" altLang="ko-KR" sz="1400" dirty="0"/>
              <a:t>. </a:t>
            </a:r>
            <a:r>
              <a:rPr lang="en-US" altLang="ko-KR" sz="1400" b="1" dirty="0"/>
              <a:t>Docker will look for the </a:t>
            </a:r>
            <a:r>
              <a:rPr lang="en-US" altLang="ko-KR" sz="1400" b="1" dirty="0" err="1"/>
              <a:t>Dockerfile</a:t>
            </a:r>
            <a:r>
              <a:rPr lang="en-US" altLang="ko-KR" sz="1400" b="1" dirty="0"/>
              <a:t> in the directory and build the image based on the instructions in the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A7C51-A186-748A-C05C-12B5DC0A379E}"/>
              </a:ext>
            </a:extLst>
          </p:cNvPr>
          <p:cNvSpPr txBox="1"/>
          <p:nvPr/>
        </p:nvSpPr>
        <p:spPr>
          <a:xfrm>
            <a:off x="3047343" y="1481609"/>
            <a:ext cx="6097314" cy="246221"/>
          </a:xfrm>
          <a:prstGeom prst="rect">
            <a:avLst/>
          </a:prstGeom>
          <a:noFill/>
          <a:ln>
            <a:solidFill>
              <a:schemeClr val="bg1">
                <a:lumMod val="50000"/>
              </a:schemeClr>
            </a:solidFill>
          </a:ln>
        </p:spPr>
        <p:txBody>
          <a:bodyPr wrap="square">
            <a:spAutoFit/>
          </a:bodyPr>
          <a:lstStyle/>
          <a:p>
            <a:r>
              <a:rPr lang="en-US" altLang="ko-KR" sz="1000" b="1" dirty="0"/>
              <a:t>$ docker </a:t>
            </a:r>
            <a:r>
              <a:rPr lang="en-US" altLang="ko-KR" sz="1000" b="1" dirty="0">
                <a:solidFill>
                  <a:srgbClr val="FF0000"/>
                </a:solidFill>
              </a:rPr>
              <a:t>build -t </a:t>
            </a:r>
            <a:r>
              <a:rPr lang="en-US" altLang="ko-KR" sz="1000" b="1" dirty="0" err="1">
                <a:solidFill>
                  <a:srgbClr val="FF0000"/>
                </a:solidFill>
              </a:rPr>
              <a:t>kubia</a:t>
            </a:r>
            <a:r>
              <a:rPr lang="en-US" altLang="ko-KR" sz="1000" b="1" dirty="0">
                <a:solidFill>
                  <a:srgbClr val="FF0000"/>
                </a:solidFill>
              </a:rPr>
              <a:t> .</a:t>
            </a:r>
          </a:p>
        </p:txBody>
      </p:sp>
      <p:grpSp>
        <p:nvGrpSpPr>
          <p:cNvPr id="13" name="그룹 12">
            <a:extLst>
              <a:ext uri="{FF2B5EF4-FFF2-40B4-BE49-F238E27FC236}">
                <a16:creationId xmlns:a16="http://schemas.microsoft.com/office/drawing/2014/main" id="{12A01C7E-7B48-7CCD-77FF-F15431E2F9CF}"/>
              </a:ext>
            </a:extLst>
          </p:cNvPr>
          <p:cNvGrpSpPr/>
          <p:nvPr/>
        </p:nvGrpSpPr>
        <p:grpSpPr>
          <a:xfrm>
            <a:off x="2169483" y="2798379"/>
            <a:ext cx="7853033" cy="3610651"/>
            <a:chOff x="2494400" y="3108655"/>
            <a:chExt cx="7203199" cy="3300375"/>
          </a:xfrm>
        </p:grpSpPr>
        <p:pic>
          <p:nvPicPr>
            <p:cNvPr id="10" name="그림 9">
              <a:extLst>
                <a:ext uri="{FF2B5EF4-FFF2-40B4-BE49-F238E27FC236}">
                  <a16:creationId xmlns:a16="http://schemas.microsoft.com/office/drawing/2014/main" id="{202296A5-B13E-F0E9-08C5-91BB866D1B71}"/>
                </a:ext>
              </a:extLst>
            </p:cNvPr>
            <p:cNvPicPr>
              <a:picLocks noChangeAspect="1"/>
            </p:cNvPicPr>
            <p:nvPr/>
          </p:nvPicPr>
          <p:blipFill>
            <a:blip r:embed="rId2"/>
            <a:stretch>
              <a:fillRect/>
            </a:stretch>
          </p:blipFill>
          <p:spPr>
            <a:xfrm>
              <a:off x="2494400" y="3108655"/>
              <a:ext cx="7203199" cy="3300375"/>
            </a:xfrm>
            <a:prstGeom prst="rect">
              <a:avLst/>
            </a:prstGeom>
          </p:spPr>
        </p:pic>
        <p:sp>
          <p:nvSpPr>
            <p:cNvPr id="11" name="직사각형 10">
              <a:extLst>
                <a:ext uri="{FF2B5EF4-FFF2-40B4-BE49-F238E27FC236}">
                  <a16:creationId xmlns:a16="http://schemas.microsoft.com/office/drawing/2014/main" id="{FB13E06E-B5EE-3EB4-2406-B67D6A880E5B}"/>
                </a:ext>
              </a:extLst>
            </p:cNvPr>
            <p:cNvSpPr/>
            <p:nvPr/>
          </p:nvSpPr>
          <p:spPr>
            <a:xfrm>
              <a:off x="6187966" y="3444766"/>
              <a:ext cx="1316420"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0104F9FB-1F73-3B8F-86CA-AC0BEFCDB4B1}"/>
                </a:ext>
              </a:extLst>
            </p:cNvPr>
            <p:cNvSpPr/>
            <p:nvPr/>
          </p:nvSpPr>
          <p:spPr>
            <a:xfrm>
              <a:off x="2554013" y="5936669"/>
              <a:ext cx="1781504" cy="2276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37075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Docker Image Building Process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Build Process :</a:t>
            </a:r>
          </a:p>
          <a:p>
            <a:pPr lvl="1">
              <a:buFont typeface="Wingdings" panose="05000000000000000000" pitchFamily="2" charset="2"/>
              <a:buChar char="§"/>
            </a:pPr>
            <a:r>
              <a:rPr lang="en-US" altLang="ko-KR" sz="1400" b="1" dirty="0"/>
              <a:t>NOTICE : The “docker build” command will check all the subdirectories you have in the current working directory. If there is any file or directory you can not access, then it will not make the target image</a:t>
            </a:r>
            <a:r>
              <a:rPr lang="en-US" altLang="ko-KR" sz="1400" dirty="0"/>
              <a:t>. So it is recommended to run the command in separated project directory where you can full access all files and directories.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6119026-8448-E607-C4AA-6730EBA4594F}"/>
              </a:ext>
            </a:extLst>
          </p:cNvPr>
          <p:cNvGrpSpPr/>
          <p:nvPr/>
        </p:nvGrpSpPr>
        <p:grpSpPr>
          <a:xfrm>
            <a:off x="3106993" y="2102808"/>
            <a:ext cx="5978013" cy="3608439"/>
            <a:chOff x="3106993" y="2102808"/>
            <a:chExt cx="5978013" cy="3608439"/>
          </a:xfrm>
        </p:grpSpPr>
        <p:pic>
          <p:nvPicPr>
            <p:cNvPr id="8" name="그림 7">
              <a:extLst>
                <a:ext uri="{FF2B5EF4-FFF2-40B4-BE49-F238E27FC236}">
                  <a16:creationId xmlns:a16="http://schemas.microsoft.com/office/drawing/2014/main" id="{599E9929-3276-0D02-88B1-3B304BC695CC}"/>
                </a:ext>
              </a:extLst>
            </p:cNvPr>
            <p:cNvPicPr>
              <a:picLocks noChangeAspect="1"/>
            </p:cNvPicPr>
            <p:nvPr/>
          </p:nvPicPr>
          <p:blipFill>
            <a:blip r:embed="rId2"/>
            <a:stretch>
              <a:fillRect/>
            </a:stretch>
          </p:blipFill>
          <p:spPr>
            <a:xfrm>
              <a:off x="3106993" y="2102808"/>
              <a:ext cx="5978013" cy="3608439"/>
            </a:xfrm>
            <a:prstGeom prst="rect">
              <a:avLst/>
            </a:prstGeom>
          </p:spPr>
        </p:pic>
        <p:sp>
          <p:nvSpPr>
            <p:cNvPr id="9" name="직사각형 8">
              <a:extLst>
                <a:ext uri="{FF2B5EF4-FFF2-40B4-BE49-F238E27FC236}">
                  <a16:creationId xmlns:a16="http://schemas.microsoft.com/office/drawing/2014/main" id="{08BB816F-EEC3-5F17-1736-DC1CAF29CA2D}"/>
                </a:ext>
              </a:extLst>
            </p:cNvPr>
            <p:cNvSpPr/>
            <p:nvPr/>
          </p:nvSpPr>
          <p:spPr>
            <a:xfrm>
              <a:off x="5383924" y="3129455"/>
              <a:ext cx="1363717" cy="8513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25895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Image(8/15)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an Image is Built :</a:t>
            </a:r>
          </a:p>
          <a:p>
            <a:pPr lvl="1">
              <a:buFont typeface="Wingdings" panose="05000000000000000000" pitchFamily="2" charset="2"/>
              <a:buChar char="§"/>
            </a:pPr>
            <a:r>
              <a:rPr lang="en-US" altLang="ko-KR" sz="1400" b="1" dirty="0"/>
              <a:t>The build process isn’t performed by the Docker client. Instead, the contents of </a:t>
            </a:r>
            <a:r>
              <a:rPr lang="en-US" altLang="ko-KR" sz="1400" b="1" dirty="0">
                <a:solidFill>
                  <a:srgbClr val="FF0000"/>
                </a:solidFill>
              </a:rPr>
              <a:t>the whole directory are uploaded to the Docker daemon and the image is built there</a:t>
            </a:r>
            <a:r>
              <a:rPr lang="en-US" altLang="ko-KR" sz="1400" dirty="0"/>
              <a:t>. </a:t>
            </a:r>
            <a:r>
              <a:rPr lang="en-US" altLang="ko-KR" sz="1400" b="1" dirty="0"/>
              <a:t>The client and daemon don’t need to be on the same machine at all</a:t>
            </a:r>
            <a:r>
              <a:rPr lang="en-US" altLang="ko-KR" sz="1400" dirty="0"/>
              <a:t>. If you’re using Docker on a non-Linux OS, the client is on your host OS, but the daemon runs inside a VM. Because all the files in the build directory are uploaded to the daemon, if it contains many large files and the daemon isn’t running locally, the upload may take longer.</a:t>
            </a:r>
          </a:p>
          <a:p>
            <a:pPr lvl="1">
              <a:buFont typeface="Wingdings" panose="05000000000000000000" pitchFamily="2" charset="2"/>
              <a:buChar char="§"/>
            </a:pPr>
            <a:r>
              <a:rPr lang="en-US" altLang="ko-KR" sz="1400" b="1" dirty="0"/>
              <a:t>NOTE : Don’t include any unnecessary files in the build directory, because they’ll slow down the build process—especially when the Docker daemon is on a remote machine</a:t>
            </a:r>
            <a:r>
              <a:rPr lang="en-US" altLang="ko-KR" sz="1400" dirty="0"/>
              <a:t>.</a:t>
            </a:r>
          </a:p>
          <a:p>
            <a:pPr lvl="1">
              <a:buFont typeface="Wingdings" panose="05000000000000000000" pitchFamily="2" charset="2"/>
              <a:buChar char="§"/>
            </a:pPr>
            <a:r>
              <a:rPr lang="en-US" altLang="ko-KR" sz="1400" b="1" dirty="0"/>
              <a:t>During the build process, Docker will first pull the base image (node:7) from the public image repository (</a:t>
            </a:r>
            <a:r>
              <a:rPr lang="en-US" altLang="ko-KR" sz="1400" b="1" dirty="0">
                <a:solidFill>
                  <a:srgbClr val="FF0000"/>
                </a:solidFill>
              </a:rPr>
              <a:t>Docker Hub</a:t>
            </a:r>
            <a:r>
              <a:rPr lang="en-US" altLang="ko-KR" sz="1400" b="1" dirty="0"/>
              <a:t>)</a:t>
            </a:r>
            <a:r>
              <a:rPr lang="en-US" altLang="ko-KR" sz="1400" dirty="0"/>
              <a:t>, unless the image has already been pulled and is stored on your machine.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1F59F5A-AF64-71C3-AF3C-815E107C4BA7}"/>
              </a:ext>
            </a:extLst>
          </p:cNvPr>
          <p:cNvPicPr>
            <a:picLocks noChangeAspect="1"/>
          </p:cNvPicPr>
          <p:nvPr/>
        </p:nvPicPr>
        <p:blipFill>
          <a:blip r:embed="rId2"/>
          <a:stretch>
            <a:fillRect/>
          </a:stretch>
        </p:blipFill>
        <p:spPr>
          <a:xfrm>
            <a:off x="3396402" y="3223909"/>
            <a:ext cx="5399196" cy="2819996"/>
          </a:xfrm>
          <a:prstGeom prst="rect">
            <a:avLst/>
          </a:prstGeom>
        </p:spPr>
      </p:pic>
    </p:spTree>
    <p:extLst>
      <p:ext uri="{BB962C8B-B14F-4D97-AF65-F5344CB8AC3E}">
        <p14:creationId xmlns:p14="http://schemas.microsoft.com/office/powerpoint/2010/main" val="38688523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Image(9/15)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Image Layers :</a:t>
            </a:r>
          </a:p>
          <a:p>
            <a:pPr lvl="1">
              <a:buFont typeface="Wingdings" panose="05000000000000000000" pitchFamily="2" charset="2"/>
              <a:buChar char="§"/>
            </a:pPr>
            <a:r>
              <a:rPr lang="en-US" altLang="ko-KR" sz="1400" b="1" dirty="0"/>
              <a:t>An image isn’t a single, big, binary blob, but is composed of multiple layers</a:t>
            </a:r>
            <a:r>
              <a:rPr lang="en-US" altLang="ko-KR" sz="1400" dirty="0"/>
              <a:t>, which you may have already noticed when running the “</a:t>
            </a:r>
            <a:r>
              <a:rPr lang="en-US" altLang="ko-KR" sz="1400" b="1" dirty="0" err="1"/>
              <a:t>busybox</a:t>
            </a:r>
            <a:r>
              <a:rPr lang="en-US" altLang="ko-KR" sz="1400" dirty="0"/>
              <a:t>” example (there were </a:t>
            </a:r>
            <a:r>
              <a:rPr lang="en-US" altLang="ko-KR" sz="1400" b="1" dirty="0"/>
              <a:t>multiple Pull complete lines</a:t>
            </a:r>
            <a:r>
              <a:rPr lang="en-US" altLang="ko-KR" sz="1400" dirty="0"/>
              <a:t>—one for each layer). </a:t>
            </a:r>
            <a:r>
              <a:rPr lang="en-US" altLang="ko-KR" sz="1400" b="1" dirty="0"/>
              <a:t>Different images may </a:t>
            </a:r>
            <a:r>
              <a:rPr lang="en-US" altLang="ko-KR" sz="1400" b="1" dirty="0">
                <a:solidFill>
                  <a:srgbClr val="FF0000"/>
                </a:solidFill>
              </a:rPr>
              <a:t>share several layers</a:t>
            </a:r>
            <a:r>
              <a:rPr lang="en-US" altLang="ko-KR" sz="1400" b="1" dirty="0"/>
              <a:t>, which makes storing and transferring images much more efficient</a:t>
            </a:r>
            <a:r>
              <a:rPr lang="en-US" altLang="ko-KR" sz="1400" dirty="0"/>
              <a:t>. For example, if you create multiple images based on the same base image (such as “node:18” in the example), </a:t>
            </a:r>
            <a:r>
              <a:rPr lang="en-US" altLang="ko-KR" sz="1400" b="1" dirty="0"/>
              <a:t>all the layers comprising the base image will be stored only once</a:t>
            </a:r>
            <a:r>
              <a:rPr lang="en-US" altLang="ko-KR" sz="1400" dirty="0"/>
              <a:t>. </a:t>
            </a:r>
            <a:r>
              <a:rPr lang="en-US" altLang="ko-KR" sz="1400" b="1" dirty="0"/>
              <a:t>Also, when pulling an image, Docker will download each layer individually</a:t>
            </a:r>
            <a:r>
              <a:rPr lang="en-US" altLang="ko-KR" sz="1400" dirty="0"/>
              <a:t>. Several layers may already be stored on your machine, so Docker will only download those that aren’t.</a:t>
            </a:r>
          </a:p>
          <a:p>
            <a:pPr lvl="1">
              <a:buFont typeface="Wingdings" panose="05000000000000000000" pitchFamily="2" charset="2"/>
              <a:buChar char="§"/>
            </a:pPr>
            <a:r>
              <a:rPr lang="en-US" altLang="ko-KR" sz="1400" b="1" dirty="0"/>
              <a:t>When building an image, </a:t>
            </a:r>
            <a:r>
              <a:rPr lang="en-US" altLang="ko-KR" sz="1400" b="1" dirty="0">
                <a:solidFill>
                  <a:srgbClr val="FF0000"/>
                </a:solidFill>
              </a:rPr>
              <a:t>a new layer is created for each individual command in the </a:t>
            </a:r>
            <a:r>
              <a:rPr lang="en-US" altLang="ko-KR" sz="1400" b="1" dirty="0" err="1">
                <a:solidFill>
                  <a:srgbClr val="FF0000"/>
                </a:solidFill>
              </a:rPr>
              <a:t>Dockerfile</a:t>
            </a:r>
            <a:r>
              <a:rPr lang="en-US" altLang="ko-KR" sz="1400" dirty="0"/>
              <a:t>. </a:t>
            </a:r>
            <a:r>
              <a:rPr lang="en-US" altLang="ko-KR" sz="1400" b="1" dirty="0"/>
              <a:t>During the build of your image, after pulling all the layers of the base image, Docker will create a new layer on top of them and add the “app.js” file into it</a:t>
            </a:r>
            <a:r>
              <a:rPr lang="en-US" altLang="ko-KR" sz="1400" dirty="0"/>
              <a:t>. </a:t>
            </a:r>
            <a:r>
              <a:rPr lang="en-US" altLang="ko-KR" sz="1400" b="1" dirty="0"/>
              <a:t>Then it will create yet another layer that will specify the command that should be executed when the image is run</a:t>
            </a:r>
            <a:r>
              <a:rPr lang="en-US" altLang="ko-KR" sz="1400" dirty="0"/>
              <a:t>. This last layer will then be tagged as “</a:t>
            </a:r>
            <a:r>
              <a:rPr lang="en-US" altLang="ko-KR" sz="1400" b="1" dirty="0" err="1"/>
              <a:t>kubia:latest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59648FF-F81E-261D-14AF-4CF97C64CCE2}"/>
              </a:ext>
            </a:extLst>
          </p:cNvPr>
          <p:cNvPicPr>
            <a:picLocks noChangeAspect="1"/>
          </p:cNvPicPr>
          <p:nvPr/>
        </p:nvPicPr>
        <p:blipFill>
          <a:blip r:embed="rId2"/>
          <a:stretch>
            <a:fillRect/>
          </a:stretch>
        </p:blipFill>
        <p:spPr>
          <a:xfrm>
            <a:off x="3357769" y="3658035"/>
            <a:ext cx="5476461" cy="1970255"/>
          </a:xfrm>
          <a:prstGeom prst="rect">
            <a:avLst/>
          </a:prstGeom>
        </p:spPr>
      </p:pic>
    </p:spTree>
    <p:extLst>
      <p:ext uri="{BB962C8B-B14F-4D97-AF65-F5344CB8AC3E}">
        <p14:creationId xmlns:p14="http://schemas.microsoft.com/office/powerpoint/2010/main" val="6193507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Image(10/15)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Image Layers :</a:t>
            </a:r>
          </a:p>
          <a:p>
            <a:pPr lvl="1">
              <a:buFont typeface="Wingdings" panose="05000000000000000000" pitchFamily="2" charset="2"/>
              <a:buChar char="§"/>
            </a:pPr>
            <a:r>
              <a:rPr lang="en-US" altLang="ko-KR" sz="1400" dirty="0"/>
              <a:t>When the build process completes, you have a new image stored locally. You can see it by telling Docker to </a:t>
            </a:r>
            <a:r>
              <a:rPr lang="en-US" altLang="ko-KR" sz="1400" b="1" dirty="0"/>
              <a:t>list all locally stored images </a:t>
            </a:r>
            <a:r>
              <a:rPr lang="en-US" altLang="ko-KR" sz="1400" dirty="0"/>
              <a:t>with the “</a:t>
            </a:r>
            <a:r>
              <a:rPr lang="en-US" altLang="ko-KR" sz="1400" b="1" dirty="0"/>
              <a:t>$ docker images</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2FE64D7-EE2F-DF5B-64EF-887DE8AC7B4C}"/>
              </a:ext>
            </a:extLst>
          </p:cNvPr>
          <p:cNvGrpSpPr/>
          <p:nvPr/>
        </p:nvGrpSpPr>
        <p:grpSpPr>
          <a:xfrm>
            <a:off x="857250" y="2075137"/>
            <a:ext cx="10477500" cy="2171700"/>
            <a:chOff x="857250" y="1744061"/>
            <a:chExt cx="10477500" cy="2171700"/>
          </a:xfrm>
        </p:grpSpPr>
        <p:pic>
          <p:nvPicPr>
            <p:cNvPr id="8" name="그림 7">
              <a:extLst>
                <a:ext uri="{FF2B5EF4-FFF2-40B4-BE49-F238E27FC236}">
                  <a16:creationId xmlns:a16="http://schemas.microsoft.com/office/drawing/2014/main" id="{4683CB30-D634-BE3F-6688-5E52B19A44EE}"/>
                </a:ext>
              </a:extLst>
            </p:cNvPr>
            <p:cNvPicPr>
              <a:picLocks noChangeAspect="1"/>
            </p:cNvPicPr>
            <p:nvPr/>
          </p:nvPicPr>
          <p:blipFill>
            <a:blip r:embed="rId2"/>
            <a:stretch>
              <a:fillRect/>
            </a:stretch>
          </p:blipFill>
          <p:spPr>
            <a:xfrm>
              <a:off x="857250" y="1744061"/>
              <a:ext cx="10477500" cy="2171700"/>
            </a:xfrm>
            <a:prstGeom prst="rect">
              <a:avLst/>
            </a:prstGeom>
          </p:spPr>
        </p:pic>
        <p:sp>
          <p:nvSpPr>
            <p:cNvPr id="9" name="직사각형 8">
              <a:extLst>
                <a:ext uri="{FF2B5EF4-FFF2-40B4-BE49-F238E27FC236}">
                  <a16:creationId xmlns:a16="http://schemas.microsoft.com/office/drawing/2014/main" id="{1237D508-8675-9E78-47B7-D50D2897792A}"/>
                </a:ext>
              </a:extLst>
            </p:cNvPr>
            <p:cNvSpPr/>
            <p:nvPr/>
          </p:nvSpPr>
          <p:spPr>
            <a:xfrm>
              <a:off x="6243145" y="2278117"/>
              <a:ext cx="1103586"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7DA009C-6061-36B3-3B3A-D0236A161FF0}"/>
                </a:ext>
              </a:extLst>
            </p:cNvPr>
            <p:cNvSpPr/>
            <p:nvPr/>
          </p:nvSpPr>
          <p:spPr>
            <a:xfrm>
              <a:off x="938048" y="2624959"/>
              <a:ext cx="8016766" cy="126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416185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Image(11/15)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Building Images with a </a:t>
            </a:r>
            <a:r>
              <a:rPr lang="en-US" altLang="ko-KR" sz="1800" b="1" dirty="0" err="1"/>
              <a:t>Dockerfile</a:t>
            </a:r>
            <a:r>
              <a:rPr lang="en-US" altLang="ko-KR" sz="1800" b="1" dirty="0"/>
              <a:t> vs. Manually :</a:t>
            </a:r>
          </a:p>
          <a:p>
            <a:pPr lvl="1">
              <a:buFont typeface="Wingdings" panose="05000000000000000000" pitchFamily="2" charset="2"/>
              <a:buChar char="§"/>
            </a:pPr>
            <a:r>
              <a:rPr lang="en-US" altLang="ko-KR" sz="1400" b="1" dirty="0" err="1"/>
              <a:t>Dockerfiles</a:t>
            </a:r>
            <a:r>
              <a:rPr lang="en-US" altLang="ko-KR" sz="1400" b="1" dirty="0"/>
              <a:t> are the usual way of building container images with Docker</a:t>
            </a:r>
            <a:r>
              <a:rPr lang="en-US" altLang="ko-KR" sz="1400" dirty="0"/>
              <a:t>, but you could also build the image manually by running a container from an existing image, executing commands in the container, exiting the container, and committing the final state as a new image. This is exactly what happens when you build from a </a:t>
            </a:r>
            <a:r>
              <a:rPr lang="en-US" altLang="ko-KR" sz="1400" b="1" dirty="0" err="1"/>
              <a:t>Dockerfile</a:t>
            </a:r>
            <a:r>
              <a:rPr lang="en-US" altLang="ko-KR" sz="1400" dirty="0"/>
              <a:t>, but </a:t>
            </a:r>
            <a:r>
              <a:rPr lang="en-US" altLang="ko-KR" sz="1400" b="1" dirty="0"/>
              <a:t>it’s performed automatically and is repeatable, which allows you to make changes to the </a:t>
            </a:r>
            <a:r>
              <a:rPr lang="en-US" altLang="ko-KR" sz="1400" b="1" dirty="0" err="1"/>
              <a:t>Dockerfile</a:t>
            </a:r>
            <a:r>
              <a:rPr lang="en-US" altLang="ko-KR" sz="1400" b="1" dirty="0"/>
              <a:t> and rebuild the image any time</a:t>
            </a:r>
            <a:r>
              <a:rPr lang="en-US" altLang="ko-KR" sz="1400" dirty="0"/>
              <a:t>, without having to manually retype all the commands again.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44EEB06-AF0B-9C91-5672-87CD5D80D2E7}"/>
              </a:ext>
            </a:extLst>
          </p:cNvPr>
          <p:cNvPicPr>
            <a:picLocks noChangeAspect="1"/>
          </p:cNvPicPr>
          <p:nvPr/>
        </p:nvPicPr>
        <p:blipFill>
          <a:blip r:embed="rId2"/>
          <a:stretch>
            <a:fillRect/>
          </a:stretch>
        </p:blipFill>
        <p:spPr>
          <a:xfrm>
            <a:off x="1702676" y="2350393"/>
            <a:ext cx="8786648" cy="2930253"/>
          </a:xfrm>
          <a:prstGeom prst="rect">
            <a:avLst/>
          </a:prstGeom>
        </p:spPr>
      </p:pic>
    </p:spTree>
    <p:extLst>
      <p:ext uri="{BB962C8B-B14F-4D97-AF65-F5344CB8AC3E}">
        <p14:creationId xmlns:p14="http://schemas.microsoft.com/office/powerpoint/2010/main" val="40536426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Image(12/15)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Container Image :</a:t>
            </a:r>
          </a:p>
          <a:p>
            <a:pPr lvl="1">
              <a:buFont typeface="Wingdings" panose="05000000000000000000" pitchFamily="2" charset="2"/>
              <a:buChar char="§"/>
            </a:pPr>
            <a:r>
              <a:rPr lang="en-US" altLang="ko-KR" sz="1400" dirty="0"/>
              <a:t>You can now run your image 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tells Docker to run a new container called “</a:t>
            </a:r>
            <a:r>
              <a:rPr lang="en-US" altLang="ko-KR" sz="1400" b="1" dirty="0" err="1"/>
              <a:t>kubia</a:t>
            </a:r>
            <a:r>
              <a:rPr lang="en-US" altLang="ko-KR" sz="1400" b="1" dirty="0"/>
              <a:t>-container</a:t>
            </a:r>
            <a:r>
              <a:rPr lang="en-US" altLang="ko-KR" sz="1400" dirty="0"/>
              <a:t>” from the “</a:t>
            </a:r>
            <a:r>
              <a:rPr lang="en-US" altLang="ko-KR" sz="1400" b="1" dirty="0" err="1"/>
              <a:t>kubia</a:t>
            </a:r>
            <a:r>
              <a:rPr lang="en-US" altLang="ko-KR" sz="1400" dirty="0"/>
              <a:t>” image. The container will be </a:t>
            </a:r>
            <a:r>
              <a:rPr lang="en-US" altLang="ko-KR" sz="1400" b="1" dirty="0">
                <a:solidFill>
                  <a:srgbClr val="FF0000"/>
                </a:solidFill>
              </a:rPr>
              <a:t>detached</a:t>
            </a:r>
            <a:r>
              <a:rPr lang="en-US" altLang="ko-KR" sz="1400" b="1" dirty="0"/>
              <a:t> from the console (</a:t>
            </a:r>
            <a:r>
              <a:rPr lang="en-US" altLang="ko-KR" sz="1400" b="1" dirty="0">
                <a:solidFill>
                  <a:srgbClr val="FF0000"/>
                </a:solidFill>
              </a:rPr>
              <a:t>-d</a:t>
            </a:r>
            <a:r>
              <a:rPr lang="en-US" altLang="ko-KR" sz="1400" b="1" dirty="0"/>
              <a:t> flag)</a:t>
            </a:r>
            <a:r>
              <a:rPr lang="en-US" altLang="ko-KR" sz="1400" dirty="0"/>
              <a:t>, </a:t>
            </a:r>
            <a:r>
              <a:rPr lang="en-US" altLang="ko-KR" sz="1400" b="1" dirty="0"/>
              <a:t>which means it will run in the background</a:t>
            </a:r>
            <a:r>
              <a:rPr lang="en-US" altLang="ko-KR" sz="1400" dirty="0"/>
              <a:t>. </a:t>
            </a:r>
            <a:r>
              <a:rPr lang="en-US" altLang="ko-KR" sz="1400" b="1" dirty="0"/>
              <a:t>Port 8080 on the local machine will be mapped to port 8080 inside the container (</a:t>
            </a:r>
            <a:r>
              <a:rPr lang="en-US" altLang="ko-KR" sz="1400" b="1" dirty="0">
                <a:solidFill>
                  <a:srgbClr val="FF0000"/>
                </a:solidFill>
              </a:rPr>
              <a:t>-p</a:t>
            </a:r>
            <a:r>
              <a:rPr lang="en-US" altLang="ko-KR" sz="1400" b="1" dirty="0"/>
              <a:t> 8080:8080 option)</a:t>
            </a:r>
            <a:r>
              <a:rPr lang="en-US" altLang="ko-KR" sz="1400" dirty="0"/>
              <a:t>, so you can access the app through </a:t>
            </a:r>
            <a:r>
              <a:rPr lang="en-US" altLang="ko-KR" sz="1400" b="1" dirty="0"/>
              <a:t>http://localhost:8080</a:t>
            </a:r>
            <a:r>
              <a:rPr lang="en-US" altLang="ko-KR" sz="1400" dirty="0"/>
              <a:t>.</a:t>
            </a:r>
          </a:p>
          <a:p>
            <a:pPr lvl="1">
              <a:buFont typeface="Wingdings" panose="05000000000000000000" pitchFamily="2" charset="2"/>
              <a:buChar char="§"/>
            </a:pPr>
            <a:r>
              <a:rPr lang="en-US" altLang="ko-KR" sz="1400" dirty="0"/>
              <a:t>If you’re not running the Docker daemon on your local machine (if you’re using a Mac or Windows, the daemon is running inside a VM), </a:t>
            </a:r>
            <a:r>
              <a:rPr lang="en-US" altLang="ko-KR" sz="1400" b="1" dirty="0"/>
              <a:t>you’ll need to use the hostname or IP of the VM running the daemon instead of localhost</a:t>
            </a:r>
            <a:r>
              <a:rPr lang="en-US" altLang="ko-KR" sz="1400" dirty="0"/>
              <a:t>. You can look it up through the “</a:t>
            </a:r>
            <a:r>
              <a:rPr lang="en-US" altLang="ko-KR" sz="1400" b="1" dirty="0">
                <a:solidFill>
                  <a:srgbClr val="FF0000"/>
                </a:solidFill>
              </a:rPr>
              <a:t>DOCKER_HOST</a:t>
            </a:r>
            <a:r>
              <a:rPr lang="en-US" altLang="ko-KR" sz="1400" dirty="0"/>
              <a:t>” environment variable.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599512-953C-794E-0722-E8C9DAA783D3}"/>
              </a:ext>
            </a:extLst>
          </p:cNvPr>
          <p:cNvSpPr txBox="1"/>
          <p:nvPr/>
        </p:nvSpPr>
        <p:spPr>
          <a:xfrm>
            <a:off x="3047343" y="1474104"/>
            <a:ext cx="6097314" cy="246221"/>
          </a:xfrm>
          <a:prstGeom prst="rect">
            <a:avLst/>
          </a:prstGeom>
          <a:noFill/>
          <a:ln>
            <a:solidFill>
              <a:schemeClr val="bg1">
                <a:lumMod val="50000"/>
              </a:schemeClr>
            </a:solidFill>
          </a:ln>
        </p:spPr>
        <p:txBody>
          <a:bodyPr wrap="square">
            <a:spAutoFit/>
          </a:bodyPr>
          <a:lstStyle/>
          <a:p>
            <a:r>
              <a:rPr lang="en-US" altLang="ko-KR" sz="1000" b="1" dirty="0"/>
              <a:t>$ docker run </a:t>
            </a:r>
            <a:r>
              <a:rPr lang="en-US" altLang="ko-KR" sz="1000" b="1" dirty="0">
                <a:solidFill>
                  <a:srgbClr val="FF0000"/>
                </a:solidFill>
              </a:rPr>
              <a:t>--name </a:t>
            </a:r>
            <a:r>
              <a:rPr lang="en-US" altLang="ko-KR" sz="1000" b="1" dirty="0" err="1">
                <a:solidFill>
                  <a:srgbClr val="FF0000"/>
                </a:solidFill>
              </a:rPr>
              <a:t>kubia</a:t>
            </a:r>
            <a:r>
              <a:rPr lang="en-US" altLang="ko-KR" sz="1000" b="1" dirty="0">
                <a:solidFill>
                  <a:srgbClr val="FF0000"/>
                </a:solidFill>
              </a:rPr>
              <a:t>-container -p 8080:8080 -d </a:t>
            </a:r>
            <a:r>
              <a:rPr lang="en-US" altLang="ko-KR" sz="1000" b="1" dirty="0" err="1">
                <a:solidFill>
                  <a:srgbClr val="FF0000"/>
                </a:solidFill>
              </a:rPr>
              <a:t>kubia</a:t>
            </a:r>
            <a:endParaRPr lang="ko-KR" altLang="en-US" sz="1000" b="1" dirty="0">
              <a:solidFill>
                <a:srgbClr val="FF0000"/>
              </a:solidFill>
            </a:endParaRPr>
          </a:p>
        </p:txBody>
      </p:sp>
      <p:grpSp>
        <p:nvGrpSpPr>
          <p:cNvPr id="16" name="그룹 15">
            <a:extLst>
              <a:ext uri="{FF2B5EF4-FFF2-40B4-BE49-F238E27FC236}">
                <a16:creationId xmlns:a16="http://schemas.microsoft.com/office/drawing/2014/main" id="{BD5812BA-1D7D-E0C2-E226-59EEFFC4B1C3}"/>
              </a:ext>
            </a:extLst>
          </p:cNvPr>
          <p:cNvGrpSpPr/>
          <p:nvPr/>
        </p:nvGrpSpPr>
        <p:grpSpPr>
          <a:xfrm>
            <a:off x="1902373" y="3429000"/>
            <a:ext cx="8387255" cy="2980030"/>
            <a:chOff x="1902373" y="3429000"/>
            <a:chExt cx="8387255" cy="2980030"/>
          </a:xfrm>
        </p:grpSpPr>
        <p:grpSp>
          <p:nvGrpSpPr>
            <p:cNvPr id="13" name="그룹 12">
              <a:extLst>
                <a:ext uri="{FF2B5EF4-FFF2-40B4-BE49-F238E27FC236}">
                  <a16:creationId xmlns:a16="http://schemas.microsoft.com/office/drawing/2014/main" id="{BE72BC05-7345-1D15-83D3-7F33E66B087C}"/>
                </a:ext>
              </a:extLst>
            </p:cNvPr>
            <p:cNvGrpSpPr/>
            <p:nvPr/>
          </p:nvGrpSpPr>
          <p:grpSpPr>
            <a:xfrm>
              <a:off x="1902373" y="3429000"/>
              <a:ext cx="8387255" cy="2980030"/>
              <a:chOff x="504825" y="3507312"/>
              <a:chExt cx="11182350" cy="4062922"/>
            </a:xfrm>
          </p:grpSpPr>
          <p:pic>
            <p:nvPicPr>
              <p:cNvPr id="10" name="그림 9">
                <a:extLst>
                  <a:ext uri="{FF2B5EF4-FFF2-40B4-BE49-F238E27FC236}">
                    <a16:creationId xmlns:a16="http://schemas.microsoft.com/office/drawing/2014/main" id="{FC7D8EE0-ACE7-4336-D311-505ED99EF335}"/>
                  </a:ext>
                </a:extLst>
              </p:cNvPr>
              <p:cNvPicPr>
                <a:picLocks noChangeAspect="1"/>
              </p:cNvPicPr>
              <p:nvPr/>
            </p:nvPicPr>
            <p:blipFill>
              <a:blip r:embed="rId2"/>
              <a:stretch>
                <a:fillRect/>
              </a:stretch>
            </p:blipFill>
            <p:spPr>
              <a:xfrm>
                <a:off x="504825" y="3507312"/>
                <a:ext cx="11182350" cy="1809750"/>
              </a:xfrm>
              <a:prstGeom prst="rect">
                <a:avLst/>
              </a:prstGeom>
            </p:spPr>
          </p:pic>
          <p:pic>
            <p:nvPicPr>
              <p:cNvPr id="12" name="그림 11">
                <a:extLst>
                  <a:ext uri="{FF2B5EF4-FFF2-40B4-BE49-F238E27FC236}">
                    <a16:creationId xmlns:a16="http://schemas.microsoft.com/office/drawing/2014/main" id="{9687ECB2-C63B-3A11-583F-477E72EEE09B}"/>
                  </a:ext>
                </a:extLst>
              </p:cNvPr>
              <p:cNvPicPr>
                <a:picLocks noChangeAspect="1"/>
              </p:cNvPicPr>
              <p:nvPr/>
            </p:nvPicPr>
            <p:blipFill>
              <a:blip r:embed="rId3"/>
              <a:stretch>
                <a:fillRect/>
              </a:stretch>
            </p:blipFill>
            <p:spPr>
              <a:xfrm>
                <a:off x="504825" y="5341194"/>
                <a:ext cx="11182350" cy="2229040"/>
              </a:xfrm>
              <a:prstGeom prst="rect">
                <a:avLst/>
              </a:prstGeom>
            </p:spPr>
          </p:pic>
        </p:grpSp>
        <p:sp>
          <p:nvSpPr>
            <p:cNvPr id="14" name="직사각형 13">
              <a:extLst>
                <a:ext uri="{FF2B5EF4-FFF2-40B4-BE49-F238E27FC236}">
                  <a16:creationId xmlns:a16="http://schemas.microsoft.com/office/drawing/2014/main" id="{E47F23F1-E81D-1A44-DA11-C0434998DF73}"/>
                </a:ext>
              </a:extLst>
            </p:cNvPr>
            <p:cNvSpPr/>
            <p:nvPr/>
          </p:nvSpPr>
          <p:spPr>
            <a:xfrm>
              <a:off x="5951483" y="3799490"/>
              <a:ext cx="3193174"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B47BC7D4-7743-5F11-11C9-42B8AC1E3744}"/>
                </a:ext>
              </a:extLst>
            </p:cNvPr>
            <p:cNvSpPr/>
            <p:nvPr/>
          </p:nvSpPr>
          <p:spPr>
            <a:xfrm>
              <a:off x="2049517" y="5454869"/>
              <a:ext cx="1111469"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576132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Image(13/15)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Your IP :</a:t>
            </a:r>
          </a:p>
          <a:p>
            <a:pPr lvl="1">
              <a:buFont typeface="Wingdings" panose="05000000000000000000" pitchFamily="2" charset="2"/>
              <a:buChar char="§"/>
            </a:pPr>
            <a:r>
              <a:rPr lang="en-US" altLang="ko-KR" sz="1400" b="1" dirty="0"/>
              <a:t>Now try to access your application at “http://localhost:8080” </a:t>
            </a:r>
            <a:r>
              <a:rPr lang="en-US" altLang="ko-KR" sz="1400" dirty="0"/>
              <a:t>(be sure to </a:t>
            </a:r>
            <a:r>
              <a:rPr lang="en-US" altLang="ko-KR" sz="1400" b="1" dirty="0"/>
              <a:t>replace localhost with the hostname or IP of the Docker host </a:t>
            </a:r>
            <a:r>
              <a:rPr lang="en-US" altLang="ko-KR" sz="1400" dirty="0"/>
              <a:t>if necessary)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That’s the response from your app. </a:t>
            </a:r>
            <a:r>
              <a:rPr lang="en-US" altLang="ko-KR" sz="1400" b="1" dirty="0"/>
              <a:t>Your tiny application is now running inside a container, isolated from everything else</a:t>
            </a:r>
            <a:r>
              <a:rPr lang="en-US" altLang="ko-KR" sz="1400" dirty="0"/>
              <a:t>. As you can see, it’s returning “</a:t>
            </a:r>
            <a:r>
              <a:rPr lang="en-US" altLang="ko-KR" sz="1400" b="1" dirty="0"/>
              <a:t>d31aeb2d87e5</a:t>
            </a:r>
            <a:r>
              <a:rPr lang="en-US" altLang="ko-KR" sz="1400" dirty="0"/>
              <a:t>” as its hostname, and not the actual hostname of your host machine. </a:t>
            </a:r>
            <a:r>
              <a:rPr lang="en-US" altLang="ko-KR" sz="1400" b="1" dirty="0"/>
              <a:t>The hexadecimal number is </a:t>
            </a:r>
            <a:r>
              <a:rPr lang="en-US" altLang="ko-KR" sz="1400" b="1" dirty="0">
                <a:solidFill>
                  <a:srgbClr val="FF0000"/>
                </a:solidFill>
              </a:rPr>
              <a:t>the ID of the Docker container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422AD1B9-26F0-CD54-A964-EC56AD5A68B0}"/>
              </a:ext>
            </a:extLst>
          </p:cNvPr>
          <p:cNvGrpSpPr/>
          <p:nvPr/>
        </p:nvGrpSpPr>
        <p:grpSpPr>
          <a:xfrm>
            <a:off x="1085768" y="1757461"/>
            <a:ext cx="10020464" cy="1797663"/>
            <a:chOff x="1085768" y="1915116"/>
            <a:chExt cx="10020464" cy="1797663"/>
          </a:xfrm>
        </p:grpSpPr>
        <p:pic>
          <p:nvPicPr>
            <p:cNvPr id="14" name="그림 13">
              <a:extLst>
                <a:ext uri="{FF2B5EF4-FFF2-40B4-BE49-F238E27FC236}">
                  <a16:creationId xmlns:a16="http://schemas.microsoft.com/office/drawing/2014/main" id="{6604A605-964C-90A8-1345-9676FD2B0AD8}"/>
                </a:ext>
              </a:extLst>
            </p:cNvPr>
            <p:cNvPicPr>
              <a:picLocks noChangeAspect="1"/>
            </p:cNvPicPr>
            <p:nvPr/>
          </p:nvPicPr>
          <p:blipFill>
            <a:blip r:embed="rId2"/>
            <a:stretch>
              <a:fillRect/>
            </a:stretch>
          </p:blipFill>
          <p:spPr>
            <a:xfrm>
              <a:off x="1085768" y="1915116"/>
              <a:ext cx="10020464" cy="1797663"/>
            </a:xfrm>
            <a:prstGeom prst="rect">
              <a:avLst/>
            </a:prstGeom>
          </p:spPr>
        </p:pic>
        <p:sp>
          <p:nvSpPr>
            <p:cNvPr id="15" name="직사각형 14">
              <a:extLst>
                <a:ext uri="{FF2B5EF4-FFF2-40B4-BE49-F238E27FC236}">
                  <a16:creationId xmlns:a16="http://schemas.microsoft.com/office/drawing/2014/main" id="{0F393110-7F61-5DAD-1BE8-86298E5707AD}"/>
                </a:ext>
              </a:extLst>
            </p:cNvPr>
            <p:cNvSpPr/>
            <p:nvPr/>
          </p:nvSpPr>
          <p:spPr>
            <a:xfrm>
              <a:off x="5935717" y="2666547"/>
              <a:ext cx="1450428" cy="2106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CFA3CBC2-9969-B152-CF09-C6A9053E883F}"/>
                </a:ext>
              </a:extLst>
            </p:cNvPr>
            <p:cNvSpPr/>
            <p:nvPr/>
          </p:nvSpPr>
          <p:spPr>
            <a:xfrm>
              <a:off x="1954924" y="2806262"/>
              <a:ext cx="945931" cy="2106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370F5A6C-2CA3-0A9F-3153-048994178A1D}"/>
                </a:ext>
              </a:extLst>
            </p:cNvPr>
            <p:cNvSpPr/>
            <p:nvPr/>
          </p:nvSpPr>
          <p:spPr>
            <a:xfrm>
              <a:off x="1182413" y="3261544"/>
              <a:ext cx="945931" cy="2106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913171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Image(14/15)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All Running Containers :</a:t>
            </a:r>
          </a:p>
          <a:p>
            <a:pPr lvl="1">
              <a:buFont typeface="Wingdings" panose="05000000000000000000" pitchFamily="2" charset="2"/>
              <a:buChar char="§"/>
            </a:pPr>
            <a:r>
              <a:rPr lang="en-US" altLang="ko-KR" sz="1400" dirty="0"/>
              <a:t>To list all the running containers, you need to type the “</a:t>
            </a:r>
            <a:r>
              <a:rPr lang="en-US" altLang="ko-KR" sz="1400" b="1" dirty="0"/>
              <a:t>$ docker </a:t>
            </a:r>
            <a:r>
              <a:rPr lang="en-US" altLang="ko-KR" sz="1400" b="1" dirty="0" err="1"/>
              <a:t>ps</a:t>
            </a:r>
            <a:r>
              <a:rPr lang="en-US" altLang="ko-KR" sz="1400" dirty="0"/>
              <a:t>” or “</a:t>
            </a:r>
            <a:r>
              <a:rPr lang="en-US" altLang="ko-KR" sz="1400" b="1" dirty="0"/>
              <a:t>$ docker </a:t>
            </a:r>
            <a:r>
              <a:rPr lang="en-US" altLang="ko-KR" sz="1400" b="1" dirty="0" err="1"/>
              <a:t>ps</a:t>
            </a:r>
            <a:r>
              <a:rPr lang="en-US" altLang="ko-KR" sz="1400" b="1" dirty="0"/>
              <a:t> -a</a:t>
            </a:r>
            <a:r>
              <a:rPr lang="en-US" altLang="ko-KR" sz="1400" dirty="0"/>
              <a:t>”  commands.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For each container, Docker prints out its </a:t>
            </a:r>
            <a:r>
              <a:rPr lang="en-US" altLang="ko-KR" sz="1400" b="1" dirty="0"/>
              <a:t>ID and name</a:t>
            </a:r>
            <a:r>
              <a:rPr lang="en-US" altLang="ko-KR" sz="1400" dirty="0"/>
              <a:t>, </a:t>
            </a:r>
            <a:r>
              <a:rPr lang="en-US" altLang="ko-KR" sz="1400" b="1" dirty="0"/>
              <a:t>the image </a:t>
            </a:r>
            <a:r>
              <a:rPr lang="en-US" altLang="ko-KR" sz="1400" dirty="0"/>
              <a:t>used to run the container, and </a:t>
            </a:r>
            <a:r>
              <a:rPr lang="en-US" altLang="ko-KR" sz="1400" b="1" dirty="0"/>
              <a:t>the command that’s executing inside the container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794603F-1B5F-DC73-CD9C-D968C9602EE0}"/>
              </a:ext>
            </a:extLst>
          </p:cNvPr>
          <p:cNvGrpSpPr/>
          <p:nvPr/>
        </p:nvGrpSpPr>
        <p:grpSpPr>
          <a:xfrm>
            <a:off x="1684858" y="1588293"/>
            <a:ext cx="8822284" cy="1582710"/>
            <a:chOff x="1684858" y="1588293"/>
            <a:chExt cx="8822284" cy="1582710"/>
          </a:xfrm>
        </p:grpSpPr>
        <p:pic>
          <p:nvPicPr>
            <p:cNvPr id="8" name="그림 7">
              <a:extLst>
                <a:ext uri="{FF2B5EF4-FFF2-40B4-BE49-F238E27FC236}">
                  <a16:creationId xmlns:a16="http://schemas.microsoft.com/office/drawing/2014/main" id="{2303F671-1110-BD03-3EF1-84530781E8A0}"/>
                </a:ext>
              </a:extLst>
            </p:cNvPr>
            <p:cNvPicPr>
              <a:picLocks noChangeAspect="1"/>
            </p:cNvPicPr>
            <p:nvPr/>
          </p:nvPicPr>
          <p:blipFill>
            <a:blip r:embed="rId2"/>
            <a:stretch>
              <a:fillRect/>
            </a:stretch>
          </p:blipFill>
          <p:spPr>
            <a:xfrm>
              <a:off x="1684858" y="1588293"/>
              <a:ext cx="8822284" cy="1582710"/>
            </a:xfrm>
            <a:prstGeom prst="rect">
              <a:avLst/>
            </a:prstGeom>
          </p:spPr>
        </p:pic>
        <p:sp>
          <p:nvSpPr>
            <p:cNvPr id="9" name="직사각형 8">
              <a:extLst>
                <a:ext uri="{FF2B5EF4-FFF2-40B4-BE49-F238E27FC236}">
                  <a16:creationId xmlns:a16="http://schemas.microsoft.com/office/drawing/2014/main" id="{E2296779-5B88-492F-6B2F-523631F4D03E}"/>
                </a:ext>
              </a:extLst>
            </p:cNvPr>
            <p:cNvSpPr/>
            <p:nvPr/>
          </p:nvSpPr>
          <p:spPr>
            <a:xfrm>
              <a:off x="5959366" y="1978572"/>
              <a:ext cx="851337"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2EB9C69C-CD46-D4E3-DC2C-38144175BA29}"/>
                </a:ext>
              </a:extLst>
            </p:cNvPr>
            <p:cNvSpPr/>
            <p:nvPr/>
          </p:nvSpPr>
          <p:spPr>
            <a:xfrm>
              <a:off x="5959365" y="2371765"/>
              <a:ext cx="851337"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443351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Running and Sharing a Container Image(15/15)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Additional Information about a Container :</a:t>
            </a:r>
          </a:p>
          <a:p>
            <a:pPr lvl="1">
              <a:buFont typeface="Wingdings" panose="05000000000000000000" pitchFamily="2" charset="2"/>
              <a:buChar char="§"/>
            </a:pPr>
            <a:r>
              <a:rPr lang="en-US" altLang="ko-KR" sz="1400" b="1" dirty="0"/>
              <a:t>The “docker </a:t>
            </a:r>
            <a:r>
              <a:rPr lang="en-US" altLang="ko-KR" sz="1400" b="1" dirty="0" err="1"/>
              <a:t>ps</a:t>
            </a:r>
            <a:r>
              <a:rPr lang="en-US" altLang="ko-KR" sz="1400" b="1" dirty="0"/>
              <a:t>” command only shows the most basic information about the containers</a:t>
            </a:r>
            <a:r>
              <a:rPr lang="en-US" altLang="ko-KR" sz="1400" dirty="0"/>
              <a:t>. To see additional information, you can use “docker inspect” command like the following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marL="457200" lvl="1" indent="0">
              <a:buNone/>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Docker will print out a long JSON containing </a:t>
            </a:r>
            <a:r>
              <a:rPr lang="en-US" altLang="ko-KR" sz="1400" b="1" dirty="0">
                <a:solidFill>
                  <a:srgbClr val="FF0000"/>
                </a:solidFill>
              </a:rPr>
              <a:t>low-level information </a:t>
            </a:r>
            <a:r>
              <a:rPr lang="en-US" altLang="ko-KR" sz="1400" b="1" dirty="0"/>
              <a:t>about the container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1CD1244-6AD8-8A05-753E-8421304E56A7}"/>
              </a:ext>
            </a:extLst>
          </p:cNvPr>
          <p:cNvGrpSpPr/>
          <p:nvPr/>
        </p:nvGrpSpPr>
        <p:grpSpPr>
          <a:xfrm>
            <a:off x="1891780" y="1636251"/>
            <a:ext cx="8408440" cy="4154409"/>
            <a:chOff x="1891780" y="1675665"/>
            <a:chExt cx="8408440" cy="4154409"/>
          </a:xfrm>
        </p:grpSpPr>
        <p:sp>
          <p:nvSpPr>
            <p:cNvPr id="8" name="TextBox 7">
              <a:extLst>
                <a:ext uri="{FF2B5EF4-FFF2-40B4-BE49-F238E27FC236}">
                  <a16:creationId xmlns:a16="http://schemas.microsoft.com/office/drawing/2014/main" id="{82024E26-6CE7-F6DC-8C6C-7120C4C1C034}"/>
                </a:ext>
              </a:extLst>
            </p:cNvPr>
            <p:cNvSpPr txBox="1"/>
            <p:nvPr/>
          </p:nvSpPr>
          <p:spPr>
            <a:xfrm>
              <a:off x="3047343" y="1675665"/>
              <a:ext cx="6097314" cy="246221"/>
            </a:xfrm>
            <a:prstGeom prst="rect">
              <a:avLst/>
            </a:prstGeom>
            <a:noFill/>
            <a:ln>
              <a:solidFill>
                <a:schemeClr val="bg1">
                  <a:lumMod val="50000"/>
                </a:schemeClr>
              </a:solidFill>
            </a:ln>
          </p:spPr>
          <p:txBody>
            <a:bodyPr wrap="square">
              <a:spAutoFit/>
            </a:bodyPr>
            <a:lstStyle/>
            <a:p>
              <a:r>
                <a:rPr lang="en-US" altLang="ko-KR" sz="1000" b="1" dirty="0"/>
                <a:t>$ docker inspect </a:t>
              </a:r>
              <a:r>
                <a:rPr lang="en-US" altLang="ko-KR" sz="1000" b="1" dirty="0" err="1">
                  <a:solidFill>
                    <a:srgbClr val="FF0000"/>
                  </a:solidFill>
                </a:rPr>
                <a:t>kubia</a:t>
              </a:r>
              <a:r>
                <a:rPr lang="en-US" altLang="ko-KR" sz="1000" b="1" dirty="0">
                  <a:solidFill>
                    <a:srgbClr val="FF0000"/>
                  </a:solidFill>
                </a:rPr>
                <a:t>-container</a:t>
              </a:r>
            </a:p>
          </p:txBody>
        </p:sp>
        <p:sp>
          <p:nvSpPr>
            <p:cNvPr id="9" name="화살표: 아래쪽 8">
              <a:extLst>
                <a:ext uri="{FF2B5EF4-FFF2-40B4-BE49-F238E27FC236}">
                  <a16:creationId xmlns:a16="http://schemas.microsoft.com/office/drawing/2014/main" id="{E02FD8FD-EA2A-0375-6F1A-1C5EDF475BA1}"/>
                </a:ext>
              </a:extLst>
            </p:cNvPr>
            <p:cNvSpPr/>
            <p:nvPr/>
          </p:nvSpPr>
          <p:spPr>
            <a:xfrm>
              <a:off x="5891048" y="1921886"/>
              <a:ext cx="40990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00CA7D7-A1BF-7758-B7D5-5DC6CF61B998}"/>
                </a:ext>
              </a:extLst>
            </p:cNvPr>
            <p:cNvPicPr>
              <a:picLocks noChangeAspect="1"/>
            </p:cNvPicPr>
            <p:nvPr/>
          </p:nvPicPr>
          <p:blipFill>
            <a:blip r:embed="rId2"/>
            <a:stretch>
              <a:fillRect/>
            </a:stretch>
          </p:blipFill>
          <p:spPr>
            <a:xfrm>
              <a:off x="1891780" y="2168107"/>
              <a:ext cx="8408440" cy="3661967"/>
            </a:xfrm>
            <a:prstGeom prst="rect">
              <a:avLst/>
            </a:prstGeom>
          </p:spPr>
        </p:pic>
      </p:grpSp>
    </p:spTree>
    <p:extLst>
      <p:ext uri="{BB962C8B-B14F-4D97-AF65-F5344CB8AC3E}">
        <p14:creationId xmlns:p14="http://schemas.microsoft.com/office/powerpoint/2010/main" val="6066010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Exploring the Inside of a Running Container(1/4)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Shell Inside an Existing Container :</a:t>
            </a:r>
          </a:p>
          <a:p>
            <a:pPr lvl="1">
              <a:buFont typeface="Wingdings" panose="05000000000000000000" pitchFamily="2" charset="2"/>
              <a:buChar char="§"/>
            </a:pPr>
            <a:r>
              <a:rPr lang="en-US" altLang="ko-KR" sz="1400" dirty="0"/>
              <a:t>The </a:t>
            </a:r>
            <a:r>
              <a:rPr lang="en-US" altLang="ko-KR" sz="1400" b="1" dirty="0"/>
              <a:t>Node.js</a:t>
            </a:r>
            <a:r>
              <a:rPr lang="en-US" altLang="ko-KR" sz="1400" dirty="0"/>
              <a:t> image on which you’ve based your image contains the </a:t>
            </a:r>
            <a:r>
              <a:rPr lang="en-US" altLang="ko-KR" sz="1400" b="1" dirty="0"/>
              <a:t>bash shell</a:t>
            </a:r>
            <a:r>
              <a:rPr lang="en-US" altLang="ko-KR" sz="1400" dirty="0"/>
              <a:t>, so you can run the shell inside the container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will run bash inside the existing “</a:t>
            </a:r>
            <a:r>
              <a:rPr lang="en-US" altLang="ko-KR" sz="1400" b="1" dirty="0" err="1"/>
              <a:t>kubia</a:t>
            </a:r>
            <a:r>
              <a:rPr lang="en-US" altLang="ko-KR" sz="1400" b="1" dirty="0"/>
              <a:t>-container” container</a:t>
            </a:r>
            <a:r>
              <a:rPr lang="en-US" altLang="ko-KR" sz="1400" dirty="0"/>
              <a:t>. The </a:t>
            </a:r>
            <a:r>
              <a:rPr lang="en-US" altLang="ko-KR" sz="1400" b="1" dirty="0"/>
              <a:t>bash</a:t>
            </a:r>
            <a:r>
              <a:rPr lang="en-US" altLang="ko-KR" sz="1400" dirty="0"/>
              <a:t> process will have the same </a:t>
            </a:r>
            <a:r>
              <a:rPr lang="en-US" altLang="ko-KR" sz="1400" b="1" dirty="0"/>
              <a:t>Linux namespaces</a:t>
            </a:r>
            <a:r>
              <a:rPr lang="en-US" altLang="ko-KR" sz="1400" dirty="0"/>
              <a:t> as the main container process. This allows you to explore the container from within and see how </a:t>
            </a:r>
            <a:r>
              <a:rPr lang="en-US" altLang="ko-KR" sz="1400" b="1" dirty="0"/>
              <a:t>Node.js </a:t>
            </a:r>
            <a:r>
              <a:rPr lang="en-US" altLang="ko-KR" sz="1400" dirty="0"/>
              <a:t>and your app see the system when running inside the container. The “</a:t>
            </a:r>
            <a:r>
              <a:rPr lang="en-US" altLang="ko-KR" sz="1400" b="1" dirty="0">
                <a:solidFill>
                  <a:srgbClr val="FF0000"/>
                </a:solidFill>
              </a:rPr>
              <a:t>-it</a:t>
            </a:r>
            <a:r>
              <a:rPr lang="en-US" altLang="ko-KR" sz="1400" dirty="0"/>
              <a:t>” option is shorthand for two options :</a:t>
            </a:r>
          </a:p>
          <a:p>
            <a:pPr lvl="2">
              <a:buFont typeface="Wingdings" panose="05000000000000000000" pitchFamily="2" charset="2"/>
              <a:buChar char="§"/>
            </a:pPr>
            <a:r>
              <a:rPr lang="en-US" altLang="ko-KR" sz="1400" dirty="0"/>
              <a:t>“</a:t>
            </a:r>
            <a:r>
              <a:rPr lang="en-US" altLang="ko-KR" sz="1400" b="1" dirty="0">
                <a:solidFill>
                  <a:srgbClr val="FF0000"/>
                </a:solidFill>
              </a:rPr>
              <a:t>-</a:t>
            </a:r>
            <a:r>
              <a:rPr lang="en-US" altLang="ko-KR" sz="1400" b="1" dirty="0" err="1">
                <a:solidFill>
                  <a:srgbClr val="FF0000"/>
                </a:solidFill>
              </a:rPr>
              <a:t>i</a:t>
            </a:r>
            <a:r>
              <a:rPr lang="en-US" altLang="ko-KR" sz="1400" dirty="0"/>
              <a:t>”, </a:t>
            </a:r>
            <a:r>
              <a:rPr lang="en-US" altLang="ko-KR" sz="1400" b="1" dirty="0"/>
              <a:t>which makes sure STDIN is kept open</a:t>
            </a:r>
            <a:r>
              <a:rPr lang="en-US" altLang="ko-KR" sz="1400" dirty="0"/>
              <a:t>. You need this for entering commands into the shell. </a:t>
            </a:r>
          </a:p>
          <a:p>
            <a:pPr lvl="2">
              <a:buFont typeface="Wingdings" panose="05000000000000000000" pitchFamily="2" charset="2"/>
              <a:buChar char="§"/>
            </a:pPr>
            <a:r>
              <a:rPr lang="en-US" altLang="ko-KR" sz="1400" dirty="0"/>
              <a:t>“</a:t>
            </a:r>
            <a:r>
              <a:rPr lang="en-US" altLang="ko-KR" sz="1400" b="1" dirty="0">
                <a:solidFill>
                  <a:srgbClr val="FF0000"/>
                </a:solidFill>
              </a:rPr>
              <a:t>-t</a:t>
            </a:r>
            <a:r>
              <a:rPr lang="en-US" altLang="ko-KR" sz="1400" dirty="0"/>
              <a:t>”, </a:t>
            </a:r>
            <a:r>
              <a:rPr lang="en-US" altLang="ko-KR" sz="1400" b="1" dirty="0"/>
              <a:t>which allocates a pseudo terminal (TTY)</a:t>
            </a:r>
            <a:r>
              <a:rPr lang="en-US" altLang="ko-KR" sz="1400" dirty="0"/>
              <a:t>.</a:t>
            </a:r>
          </a:p>
          <a:p>
            <a:pPr lvl="1">
              <a:buFont typeface="Wingdings" panose="05000000000000000000" pitchFamily="2" charset="2"/>
              <a:buChar char="§"/>
            </a:pPr>
            <a:r>
              <a:rPr lang="en-US" altLang="ko-KR" sz="1400" dirty="0"/>
              <a:t>You need both if you want the use the shell like you’re used to. (If you leave out the first one, you can’t type any commands, and if you leave out the second one, the command prompt won’t be displayed and some commands will complain about the </a:t>
            </a:r>
            <a:r>
              <a:rPr lang="en-US" altLang="ko-KR" sz="1400" b="1" dirty="0"/>
              <a:t>TERM</a:t>
            </a:r>
            <a:r>
              <a:rPr lang="en-US" altLang="ko-KR" sz="1400" dirty="0"/>
              <a:t> variable not being set.).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0A2DFF0-FA1A-A7E0-DEEA-10ADECE46426}"/>
              </a:ext>
            </a:extLst>
          </p:cNvPr>
          <p:cNvSpPr txBox="1"/>
          <p:nvPr/>
        </p:nvSpPr>
        <p:spPr>
          <a:xfrm>
            <a:off x="3047343" y="1652017"/>
            <a:ext cx="6097314" cy="246221"/>
          </a:xfrm>
          <a:prstGeom prst="rect">
            <a:avLst/>
          </a:prstGeom>
          <a:noFill/>
          <a:ln>
            <a:solidFill>
              <a:schemeClr val="bg1">
                <a:lumMod val="50000"/>
              </a:schemeClr>
            </a:solidFill>
          </a:ln>
        </p:spPr>
        <p:txBody>
          <a:bodyPr wrap="square">
            <a:spAutoFit/>
          </a:bodyPr>
          <a:lstStyle/>
          <a:p>
            <a:r>
              <a:rPr lang="en-US" altLang="ko-KR" sz="1000" b="1" dirty="0"/>
              <a:t>$ docker exec </a:t>
            </a:r>
            <a:r>
              <a:rPr lang="en-US" altLang="ko-KR" sz="1000" b="1" dirty="0">
                <a:solidFill>
                  <a:srgbClr val="FF0000"/>
                </a:solidFill>
              </a:rPr>
              <a:t>-it </a:t>
            </a:r>
            <a:r>
              <a:rPr lang="en-US" altLang="ko-KR" sz="1000" b="1" dirty="0" err="1">
                <a:solidFill>
                  <a:srgbClr val="FF0000"/>
                </a:solidFill>
              </a:rPr>
              <a:t>kubia</a:t>
            </a:r>
            <a:r>
              <a:rPr lang="en-US" altLang="ko-KR" sz="1000" b="1" dirty="0">
                <a:solidFill>
                  <a:srgbClr val="FF0000"/>
                </a:solidFill>
              </a:rPr>
              <a:t>-container bash</a:t>
            </a:r>
          </a:p>
        </p:txBody>
      </p:sp>
      <p:grpSp>
        <p:nvGrpSpPr>
          <p:cNvPr id="12" name="그룹 11">
            <a:extLst>
              <a:ext uri="{FF2B5EF4-FFF2-40B4-BE49-F238E27FC236}">
                <a16:creationId xmlns:a16="http://schemas.microsoft.com/office/drawing/2014/main" id="{60C2D4C7-EF5F-7798-0115-07FE07856D8A}"/>
              </a:ext>
            </a:extLst>
          </p:cNvPr>
          <p:cNvGrpSpPr/>
          <p:nvPr/>
        </p:nvGrpSpPr>
        <p:grpSpPr>
          <a:xfrm>
            <a:off x="1369547" y="4207647"/>
            <a:ext cx="9452906" cy="1504232"/>
            <a:chOff x="1369547" y="4207647"/>
            <a:chExt cx="9452906" cy="1504232"/>
          </a:xfrm>
        </p:grpSpPr>
        <p:pic>
          <p:nvPicPr>
            <p:cNvPr id="10" name="그림 9">
              <a:extLst>
                <a:ext uri="{FF2B5EF4-FFF2-40B4-BE49-F238E27FC236}">
                  <a16:creationId xmlns:a16="http://schemas.microsoft.com/office/drawing/2014/main" id="{2CBF9C5B-464E-A963-0383-E65119FE3DE9}"/>
                </a:ext>
              </a:extLst>
            </p:cNvPr>
            <p:cNvPicPr>
              <a:picLocks noChangeAspect="1"/>
            </p:cNvPicPr>
            <p:nvPr/>
          </p:nvPicPr>
          <p:blipFill>
            <a:blip r:embed="rId2"/>
            <a:stretch>
              <a:fillRect/>
            </a:stretch>
          </p:blipFill>
          <p:spPr>
            <a:xfrm>
              <a:off x="1369547" y="4207647"/>
              <a:ext cx="9452906" cy="1504232"/>
            </a:xfrm>
            <a:prstGeom prst="rect">
              <a:avLst/>
            </a:prstGeom>
          </p:spPr>
        </p:pic>
        <p:sp>
          <p:nvSpPr>
            <p:cNvPr id="11" name="직사각형 10">
              <a:extLst>
                <a:ext uri="{FF2B5EF4-FFF2-40B4-BE49-F238E27FC236}">
                  <a16:creationId xmlns:a16="http://schemas.microsoft.com/office/drawing/2014/main" id="{AE990078-0E9E-14B8-F904-0FB05C63C4D3}"/>
                </a:ext>
              </a:extLst>
            </p:cNvPr>
            <p:cNvSpPr/>
            <p:nvPr/>
          </p:nvSpPr>
          <p:spPr>
            <a:xfrm>
              <a:off x="5833241" y="4635062"/>
              <a:ext cx="2388476"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421710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Exploring the Inside of a Running Container(2/4)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Exploring the Container from within :</a:t>
            </a:r>
          </a:p>
          <a:p>
            <a:pPr lvl="1">
              <a:buFont typeface="Wingdings" panose="05000000000000000000" pitchFamily="2" charset="2"/>
              <a:buChar char="§"/>
            </a:pPr>
            <a:r>
              <a:rPr lang="en-US" altLang="ko-KR" sz="1400" dirty="0"/>
              <a:t>Let’s see how to use the shell in the following </a:t>
            </a:r>
            <a:r>
              <a:rPr lang="en-US" altLang="ko-KR" sz="1400" b="1" dirty="0"/>
              <a:t>listing to see the processes running in the container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see only three processes. You don’t see any other processes from the host OS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C6A86D6-B783-DFC4-3AE6-370B01C8E7C3}"/>
              </a:ext>
            </a:extLst>
          </p:cNvPr>
          <p:cNvGrpSpPr/>
          <p:nvPr/>
        </p:nvGrpSpPr>
        <p:grpSpPr>
          <a:xfrm>
            <a:off x="1391142" y="1545481"/>
            <a:ext cx="9409715" cy="1883519"/>
            <a:chOff x="1391142" y="1545481"/>
            <a:chExt cx="9409715" cy="1883519"/>
          </a:xfrm>
        </p:grpSpPr>
        <p:grpSp>
          <p:nvGrpSpPr>
            <p:cNvPr id="10" name="그룹 9">
              <a:extLst>
                <a:ext uri="{FF2B5EF4-FFF2-40B4-BE49-F238E27FC236}">
                  <a16:creationId xmlns:a16="http://schemas.microsoft.com/office/drawing/2014/main" id="{8EB0A334-0B48-DD2D-FE70-1D4747F8C14D}"/>
                </a:ext>
              </a:extLst>
            </p:cNvPr>
            <p:cNvGrpSpPr/>
            <p:nvPr/>
          </p:nvGrpSpPr>
          <p:grpSpPr>
            <a:xfrm>
              <a:off x="1391142" y="1545481"/>
              <a:ext cx="9409715" cy="1883519"/>
              <a:chOff x="1391142" y="1545481"/>
              <a:chExt cx="9409715" cy="1883519"/>
            </a:xfrm>
          </p:grpSpPr>
          <p:pic>
            <p:nvPicPr>
              <p:cNvPr id="8" name="그림 7">
                <a:extLst>
                  <a:ext uri="{FF2B5EF4-FFF2-40B4-BE49-F238E27FC236}">
                    <a16:creationId xmlns:a16="http://schemas.microsoft.com/office/drawing/2014/main" id="{86B416BA-B254-DACB-347C-C6C412B0F47D}"/>
                  </a:ext>
                </a:extLst>
              </p:cNvPr>
              <p:cNvPicPr>
                <a:picLocks noChangeAspect="1"/>
              </p:cNvPicPr>
              <p:nvPr/>
            </p:nvPicPr>
            <p:blipFill>
              <a:blip r:embed="rId2"/>
              <a:stretch>
                <a:fillRect/>
              </a:stretch>
            </p:blipFill>
            <p:spPr>
              <a:xfrm>
                <a:off x="1391142" y="1545481"/>
                <a:ext cx="9409715" cy="1883519"/>
              </a:xfrm>
              <a:prstGeom prst="rect">
                <a:avLst/>
              </a:prstGeom>
            </p:spPr>
          </p:pic>
          <p:sp>
            <p:nvSpPr>
              <p:cNvPr id="9" name="직사각형 8">
                <a:extLst>
                  <a:ext uri="{FF2B5EF4-FFF2-40B4-BE49-F238E27FC236}">
                    <a16:creationId xmlns:a16="http://schemas.microsoft.com/office/drawing/2014/main" id="{4D67909B-513C-89EF-B984-9DB71788674E}"/>
                  </a:ext>
                </a:extLst>
              </p:cNvPr>
              <p:cNvSpPr/>
              <p:nvPr/>
            </p:nvSpPr>
            <p:spPr>
              <a:xfrm>
                <a:off x="2822027" y="2404241"/>
                <a:ext cx="512380"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A3F11D7E-A13A-3FA4-08B4-CD111DBB9158}"/>
                </a:ext>
              </a:extLst>
            </p:cNvPr>
            <p:cNvSpPr/>
            <p:nvPr/>
          </p:nvSpPr>
          <p:spPr>
            <a:xfrm>
              <a:off x="1497725" y="2664372"/>
              <a:ext cx="4997669" cy="4020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534329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Exploring the Inside of a Running Container(3/4)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that Processes in a Container Run in the Host Operating System :</a:t>
            </a:r>
          </a:p>
          <a:p>
            <a:pPr lvl="1">
              <a:buFont typeface="Wingdings" panose="05000000000000000000" pitchFamily="2" charset="2"/>
              <a:buChar char="§"/>
            </a:pPr>
            <a:r>
              <a:rPr lang="en-US" altLang="ko-KR" sz="1400" dirty="0"/>
              <a:t>If you now open another terminal and list the processes on the host OS itself, you will, among all other host processes, also </a:t>
            </a:r>
            <a:r>
              <a:rPr lang="en-US" altLang="ko-KR" sz="1400" b="1" dirty="0"/>
              <a:t>see the processes running in the container</a:t>
            </a:r>
            <a:r>
              <a:rPr lang="en-US" altLang="ko-KR" sz="1400" dirty="0"/>
              <a:t>, as shown in the following screenshot.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you’re using a Mac or Windows, you’ll need to log into the VM where the Docker daemon is running to see these processes</a:t>
            </a:r>
            <a:r>
              <a:rPr lang="en-US" altLang="ko-KR" sz="1400" dirty="0"/>
              <a:t>.</a:t>
            </a:r>
          </a:p>
          <a:p>
            <a:pPr lvl="1">
              <a:buFont typeface="Wingdings" panose="05000000000000000000" pitchFamily="2" charset="2"/>
              <a:buChar char="§"/>
            </a:pPr>
            <a:r>
              <a:rPr lang="en-US" altLang="ko-KR" sz="1400" b="1" dirty="0"/>
              <a:t>This proves that </a:t>
            </a:r>
            <a:r>
              <a:rPr lang="en-US" altLang="ko-KR" sz="1400" b="1" dirty="0">
                <a:solidFill>
                  <a:srgbClr val="FF0000"/>
                </a:solidFill>
              </a:rPr>
              <a:t>processes running in the container are running in the host OS</a:t>
            </a:r>
            <a:r>
              <a:rPr lang="en-US" altLang="ko-KR" sz="1400" dirty="0"/>
              <a:t>. If you have a keen eye, you may have noticed that </a:t>
            </a:r>
            <a:r>
              <a:rPr lang="en-US" altLang="ko-KR" sz="1400" b="1" dirty="0"/>
              <a:t>the processes have different IDs inside the container vs. on the host</a:t>
            </a:r>
            <a:r>
              <a:rPr lang="en-US" altLang="ko-KR" sz="1400" dirty="0"/>
              <a:t>. </a:t>
            </a:r>
            <a:r>
              <a:rPr lang="en-US" altLang="ko-KR" sz="1400" b="1" dirty="0"/>
              <a:t>The container is using its </a:t>
            </a:r>
            <a:r>
              <a:rPr lang="en-US" altLang="ko-KR" sz="1400" b="1" dirty="0">
                <a:solidFill>
                  <a:srgbClr val="FF0000"/>
                </a:solidFill>
              </a:rPr>
              <a:t>own PID Linux namespace </a:t>
            </a:r>
            <a:r>
              <a:rPr lang="en-US" altLang="ko-KR" sz="1400" b="1" dirty="0"/>
              <a:t>and has a </a:t>
            </a:r>
            <a:r>
              <a:rPr lang="en-US" altLang="ko-KR" sz="1400" b="1" dirty="0">
                <a:solidFill>
                  <a:srgbClr val="FF0000"/>
                </a:solidFill>
              </a:rPr>
              <a:t>completely isolated process tree</a:t>
            </a:r>
            <a:r>
              <a:rPr lang="en-US" altLang="ko-KR" sz="1400" b="1" dirty="0"/>
              <a:t>, with its own </a:t>
            </a:r>
            <a:r>
              <a:rPr lang="en-US" altLang="ko-KR" sz="1400" b="1" dirty="0">
                <a:solidFill>
                  <a:srgbClr val="FF0000"/>
                </a:solidFill>
              </a:rPr>
              <a:t>sequence of numbers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ED24879-46F1-66D4-62BC-5A6A8D74AE0F}"/>
              </a:ext>
            </a:extLst>
          </p:cNvPr>
          <p:cNvGrpSpPr/>
          <p:nvPr/>
        </p:nvGrpSpPr>
        <p:grpSpPr>
          <a:xfrm>
            <a:off x="1229711" y="1795969"/>
            <a:ext cx="9732578" cy="1459146"/>
            <a:chOff x="1229711" y="1795969"/>
            <a:chExt cx="9732578" cy="1459146"/>
          </a:xfrm>
        </p:grpSpPr>
        <p:pic>
          <p:nvPicPr>
            <p:cNvPr id="12" name="그림 11">
              <a:extLst>
                <a:ext uri="{FF2B5EF4-FFF2-40B4-BE49-F238E27FC236}">
                  <a16:creationId xmlns:a16="http://schemas.microsoft.com/office/drawing/2014/main" id="{F6FA5E9F-4560-427E-DF98-470514706F58}"/>
                </a:ext>
              </a:extLst>
            </p:cNvPr>
            <p:cNvPicPr>
              <a:picLocks noChangeAspect="1"/>
            </p:cNvPicPr>
            <p:nvPr/>
          </p:nvPicPr>
          <p:blipFill>
            <a:blip r:embed="rId2"/>
            <a:stretch>
              <a:fillRect/>
            </a:stretch>
          </p:blipFill>
          <p:spPr>
            <a:xfrm>
              <a:off x="1229711" y="1795969"/>
              <a:ext cx="9732578" cy="1459146"/>
            </a:xfrm>
            <a:prstGeom prst="rect">
              <a:avLst/>
            </a:prstGeom>
          </p:spPr>
        </p:pic>
        <p:sp>
          <p:nvSpPr>
            <p:cNvPr id="13" name="직사각형 12">
              <a:extLst>
                <a:ext uri="{FF2B5EF4-FFF2-40B4-BE49-F238E27FC236}">
                  <a16:creationId xmlns:a16="http://schemas.microsoft.com/office/drawing/2014/main" id="{25C07C24-8985-019D-FC58-FE123DFF7596}"/>
                </a:ext>
              </a:extLst>
            </p:cNvPr>
            <p:cNvSpPr/>
            <p:nvPr/>
          </p:nvSpPr>
          <p:spPr>
            <a:xfrm>
              <a:off x="1347952" y="2333297"/>
              <a:ext cx="4690241"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844685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Exploring the Inside of a Running Container(4/4)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Container’s Filesystem is also Isolated :</a:t>
            </a:r>
          </a:p>
          <a:p>
            <a:pPr lvl="1">
              <a:buFont typeface="Wingdings" panose="05000000000000000000" pitchFamily="2" charset="2"/>
              <a:buChar char="§"/>
            </a:pPr>
            <a:r>
              <a:rPr lang="en-US" altLang="ko-KR" sz="1400" b="1" dirty="0"/>
              <a:t>Like having an isolated process tree, each container also has an isolated filesystem</a:t>
            </a:r>
            <a:r>
              <a:rPr lang="en-US" altLang="ko-KR" sz="1400" dirty="0"/>
              <a:t>. Listing the contents of the root directory inside the container will only show the files in the container and will include </a:t>
            </a:r>
            <a:r>
              <a:rPr lang="en-US" altLang="ko-KR" sz="1400" b="1" dirty="0"/>
              <a:t>all the files that are in the image plus any files that are created while the container is running (log files and similar)</a:t>
            </a:r>
            <a:r>
              <a:rPr lang="en-US" altLang="ko-KR" sz="1400" dirty="0"/>
              <a:t>, as shown in the following screenshot.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It contains the “</a:t>
            </a:r>
            <a:r>
              <a:rPr lang="en-US" altLang="ko-KR" sz="1400" b="1" dirty="0"/>
              <a:t>app.js</a:t>
            </a:r>
            <a:r>
              <a:rPr lang="en-US" altLang="ko-KR" sz="1400" dirty="0"/>
              <a:t>” file and other system directories that are part of the </a:t>
            </a:r>
            <a:r>
              <a:rPr lang="en-US" altLang="ko-KR" sz="1400" b="1" dirty="0"/>
              <a:t>“node:18” base image </a:t>
            </a:r>
            <a:r>
              <a:rPr lang="en-US" altLang="ko-KR" sz="1400" dirty="0"/>
              <a:t>you’re using. To exit the container, you exit the shell by running the “</a:t>
            </a:r>
            <a:r>
              <a:rPr lang="en-US" altLang="ko-KR" sz="1400" b="1" dirty="0"/>
              <a:t>exit</a:t>
            </a:r>
            <a:r>
              <a:rPr lang="en-US" altLang="ko-KR" sz="1400" dirty="0"/>
              <a:t>” command and you’ll be returned to your host machine (like logging out of an </a:t>
            </a:r>
            <a:r>
              <a:rPr lang="en-US" altLang="ko-KR" sz="1400" b="1" dirty="0" err="1"/>
              <a:t>ssh</a:t>
            </a:r>
            <a:r>
              <a:rPr lang="en-US" altLang="ko-KR" sz="1400" dirty="0"/>
              <a:t> session, for example).</a:t>
            </a:r>
          </a:p>
          <a:p>
            <a:pPr lvl="1">
              <a:buFont typeface="Wingdings" panose="05000000000000000000" pitchFamily="2" charset="2"/>
              <a:buChar char="§"/>
            </a:pPr>
            <a:r>
              <a:rPr lang="en-US" altLang="ko-KR" sz="1400" b="1" dirty="0"/>
              <a:t>NOTE : Entering a running container like this is useful when debugging an app running in a container</a:t>
            </a:r>
            <a:r>
              <a:rPr lang="en-US" altLang="ko-KR" sz="1400" dirty="0"/>
              <a:t>. </a:t>
            </a:r>
            <a:r>
              <a:rPr lang="en-US" altLang="ko-KR" sz="1400" b="1" dirty="0"/>
              <a:t>When something’s wrong, the first thing you’ll want to explore is the actual state of the system your application sees</a:t>
            </a:r>
            <a:r>
              <a:rPr lang="en-US" altLang="ko-KR" sz="1400" dirty="0"/>
              <a:t>. Keep in mind that </a:t>
            </a:r>
            <a:r>
              <a:rPr lang="en-US" altLang="ko-KR" sz="1400" b="1" dirty="0"/>
              <a:t>an application will not only see its </a:t>
            </a:r>
            <a:r>
              <a:rPr lang="en-US" altLang="ko-KR" sz="1400" b="1" dirty="0">
                <a:solidFill>
                  <a:srgbClr val="FF0000"/>
                </a:solidFill>
              </a:rPr>
              <a:t>own unique filesystem, but also processes, users, hostname, and network interfaces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4347192-9E46-256D-D6E2-08CDBA8AA48C}"/>
              </a:ext>
            </a:extLst>
          </p:cNvPr>
          <p:cNvGrpSpPr/>
          <p:nvPr/>
        </p:nvGrpSpPr>
        <p:grpSpPr>
          <a:xfrm>
            <a:off x="1368972" y="2094826"/>
            <a:ext cx="9454055" cy="1496892"/>
            <a:chOff x="1368972" y="2094826"/>
            <a:chExt cx="9454055" cy="1496892"/>
          </a:xfrm>
        </p:grpSpPr>
        <p:pic>
          <p:nvPicPr>
            <p:cNvPr id="8" name="그림 7">
              <a:extLst>
                <a:ext uri="{FF2B5EF4-FFF2-40B4-BE49-F238E27FC236}">
                  <a16:creationId xmlns:a16="http://schemas.microsoft.com/office/drawing/2014/main" id="{47B9B6C0-0153-A0AD-B00F-3F7C027BD5DD}"/>
                </a:ext>
              </a:extLst>
            </p:cNvPr>
            <p:cNvPicPr>
              <a:picLocks noChangeAspect="1"/>
            </p:cNvPicPr>
            <p:nvPr/>
          </p:nvPicPr>
          <p:blipFill>
            <a:blip r:embed="rId2"/>
            <a:stretch>
              <a:fillRect/>
            </a:stretch>
          </p:blipFill>
          <p:spPr>
            <a:xfrm>
              <a:off x="1368972" y="2094826"/>
              <a:ext cx="9454055" cy="1496892"/>
            </a:xfrm>
            <a:prstGeom prst="rect">
              <a:avLst/>
            </a:prstGeom>
          </p:spPr>
        </p:pic>
        <p:sp>
          <p:nvSpPr>
            <p:cNvPr id="9" name="직사각형 8">
              <a:extLst>
                <a:ext uri="{FF2B5EF4-FFF2-40B4-BE49-F238E27FC236}">
                  <a16:creationId xmlns:a16="http://schemas.microsoft.com/office/drawing/2014/main" id="{0775EFE2-EE9B-2507-6563-8DC365D05C5A}"/>
                </a:ext>
              </a:extLst>
            </p:cNvPr>
            <p:cNvSpPr/>
            <p:nvPr/>
          </p:nvSpPr>
          <p:spPr>
            <a:xfrm>
              <a:off x="1481959" y="2827506"/>
              <a:ext cx="433551" cy="1285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956158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Exploring the Inside of a Running Container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Stopping and Removing a Container :</a:t>
            </a:r>
          </a:p>
          <a:p>
            <a:pPr lvl="1">
              <a:buFont typeface="Wingdings" panose="05000000000000000000" pitchFamily="2" charset="2"/>
              <a:buChar char="§"/>
            </a:pPr>
            <a:r>
              <a:rPr lang="en-US" altLang="ko-KR" sz="1400" dirty="0"/>
              <a:t>To stop your app, you tell </a:t>
            </a:r>
            <a:r>
              <a:rPr lang="en-US" altLang="ko-KR" sz="1400" b="1" dirty="0"/>
              <a:t>Docker to stop the “</a:t>
            </a:r>
            <a:r>
              <a:rPr lang="en-US" altLang="ko-KR" sz="1400" b="1" dirty="0" err="1"/>
              <a:t>kubia</a:t>
            </a:r>
            <a:r>
              <a:rPr lang="en-US" altLang="ko-KR" sz="1400" b="1" dirty="0"/>
              <a:t>-container” container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will stop the main process running in the container and consequently stop the container, because no other processes are running inside the container.</a:t>
            </a:r>
            <a:r>
              <a:rPr lang="en-US" altLang="ko-KR" sz="1400" dirty="0"/>
              <a:t> The container itself still exists and you can see it with “</a:t>
            </a:r>
            <a:r>
              <a:rPr lang="en-US" altLang="ko-KR" sz="1400" b="1" dirty="0">
                <a:solidFill>
                  <a:srgbClr val="FF0000"/>
                </a:solidFill>
              </a:rPr>
              <a:t>docker </a:t>
            </a:r>
            <a:r>
              <a:rPr lang="en-US" altLang="ko-KR" sz="1400" b="1" dirty="0" err="1">
                <a:solidFill>
                  <a:srgbClr val="FF0000"/>
                </a:solidFill>
              </a:rPr>
              <a:t>ps</a:t>
            </a:r>
            <a:r>
              <a:rPr lang="en-US" altLang="ko-KR" sz="1400" b="1" dirty="0">
                <a:solidFill>
                  <a:srgbClr val="FF0000"/>
                </a:solidFill>
              </a:rPr>
              <a:t> –a</a:t>
            </a:r>
            <a:r>
              <a:rPr lang="en-US" altLang="ko-KR" sz="1400" dirty="0"/>
              <a:t>”. The “</a:t>
            </a:r>
            <a:r>
              <a:rPr lang="en-US" altLang="ko-KR" sz="1400" b="1" dirty="0">
                <a:solidFill>
                  <a:srgbClr val="FF0000"/>
                </a:solidFill>
              </a:rPr>
              <a:t>-a</a:t>
            </a:r>
            <a:r>
              <a:rPr lang="en-US" altLang="ko-KR" sz="1400" dirty="0"/>
              <a:t>” option prints out all the containers, those running and those that have been stopped. </a:t>
            </a:r>
          </a:p>
          <a:p>
            <a:pPr lvl="1">
              <a:buFont typeface="Wingdings" panose="05000000000000000000" pitchFamily="2" charset="2"/>
              <a:buChar char="§"/>
            </a:pPr>
            <a:r>
              <a:rPr lang="en-US" altLang="ko-KR" sz="1400" dirty="0"/>
              <a:t>To truly remove a container, you need to </a:t>
            </a:r>
            <a:r>
              <a:rPr lang="en-US" altLang="ko-KR" sz="1400" b="1" dirty="0"/>
              <a:t>remove</a:t>
            </a:r>
            <a:r>
              <a:rPr lang="en-US" altLang="ko-KR" sz="1400" dirty="0"/>
              <a:t> it with the “</a:t>
            </a:r>
            <a:r>
              <a:rPr lang="en-US" altLang="ko-KR" sz="1400" b="1" dirty="0"/>
              <a:t>docker rm</a:t>
            </a:r>
            <a:r>
              <a:rPr lang="en-US" altLang="ko-KR" sz="1400" dirty="0"/>
              <a:t>” command. This will delete the container. All its contents are removed and it can’t be started again.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To remove all running containers, you can use “</a:t>
            </a:r>
            <a:r>
              <a:rPr lang="en-US" altLang="ko-KR" sz="1400" b="1" dirty="0">
                <a:solidFill>
                  <a:srgbClr val="FF0000"/>
                </a:solidFill>
              </a:rPr>
              <a:t>$ docker container rm $(docker </a:t>
            </a:r>
            <a:r>
              <a:rPr lang="en-US" altLang="ko-KR" sz="1400" b="1" dirty="0" err="1">
                <a:solidFill>
                  <a:srgbClr val="FF0000"/>
                </a:solidFill>
              </a:rPr>
              <a:t>ps</a:t>
            </a:r>
            <a:r>
              <a:rPr lang="en-US" altLang="ko-KR" sz="1400" b="1" dirty="0">
                <a:solidFill>
                  <a:srgbClr val="FF0000"/>
                </a:solidFill>
              </a:rPr>
              <a:t> –a –q)</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4F03021-04A5-B67D-C51C-CEE798E50E22}"/>
              </a:ext>
            </a:extLst>
          </p:cNvPr>
          <p:cNvSpPr txBox="1"/>
          <p:nvPr/>
        </p:nvSpPr>
        <p:spPr>
          <a:xfrm>
            <a:off x="3047343" y="1565306"/>
            <a:ext cx="6097314" cy="246221"/>
          </a:xfrm>
          <a:prstGeom prst="rect">
            <a:avLst/>
          </a:prstGeom>
          <a:noFill/>
          <a:ln>
            <a:solidFill>
              <a:schemeClr val="bg1">
                <a:lumMod val="50000"/>
              </a:schemeClr>
            </a:solidFill>
          </a:ln>
        </p:spPr>
        <p:txBody>
          <a:bodyPr wrap="square">
            <a:spAutoFit/>
          </a:bodyPr>
          <a:lstStyle/>
          <a:p>
            <a:r>
              <a:rPr lang="en-US" altLang="ko-KR" sz="1000" b="1" dirty="0"/>
              <a:t>$ docker stop </a:t>
            </a:r>
            <a:r>
              <a:rPr lang="en-US" altLang="ko-KR" sz="1000" b="1" dirty="0" err="1">
                <a:solidFill>
                  <a:srgbClr val="FF0000"/>
                </a:solidFill>
              </a:rPr>
              <a:t>kubia</a:t>
            </a:r>
            <a:r>
              <a:rPr lang="en-US" altLang="ko-KR" sz="1000" b="1" dirty="0">
                <a:solidFill>
                  <a:srgbClr val="FF0000"/>
                </a:solidFill>
              </a:rPr>
              <a:t>-container</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BF0EFDF8-F236-8FF0-FC28-59E939E54A92}"/>
              </a:ext>
            </a:extLst>
          </p:cNvPr>
          <p:cNvSpPr/>
          <p:nvPr/>
        </p:nvSpPr>
        <p:spPr>
          <a:xfrm>
            <a:off x="5875282" y="1825860"/>
            <a:ext cx="441435" cy="2837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A2D5E9B-43D2-601F-6EBE-2BEE5C6657DF}"/>
              </a:ext>
            </a:extLst>
          </p:cNvPr>
          <p:cNvPicPr>
            <a:picLocks noChangeAspect="1"/>
          </p:cNvPicPr>
          <p:nvPr/>
        </p:nvPicPr>
        <p:blipFill>
          <a:blip r:embed="rId2"/>
          <a:stretch>
            <a:fillRect/>
          </a:stretch>
        </p:blipFill>
        <p:spPr>
          <a:xfrm>
            <a:off x="1269452" y="2120780"/>
            <a:ext cx="9653094" cy="1513274"/>
          </a:xfrm>
          <a:prstGeom prst="rect">
            <a:avLst/>
          </a:prstGeom>
        </p:spPr>
      </p:pic>
      <p:sp>
        <p:nvSpPr>
          <p:cNvPr id="13" name="TextBox 12">
            <a:extLst>
              <a:ext uri="{FF2B5EF4-FFF2-40B4-BE49-F238E27FC236}">
                <a16:creationId xmlns:a16="http://schemas.microsoft.com/office/drawing/2014/main" id="{8FBF7DF0-5371-7AAF-E2C5-2EA5C18C9F00}"/>
              </a:ext>
            </a:extLst>
          </p:cNvPr>
          <p:cNvSpPr txBox="1"/>
          <p:nvPr/>
        </p:nvSpPr>
        <p:spPr>
          <a:xfrm>
            <a:off x="3047342" y="5153817"/>
            <a:ext cx="6097314" cy="246221"/>
          </a:xfrm>
          <a:prstGeom prst="rect">
            <a:avLst/>
          </a:prstGeom>
          <a:noFill/>
          <a:ln>
            <a:solidFill>
              <a:schemeClr val="bg1">
                <a:lumMod val="50000"/>
              </a:schemeClr>
            </a:solidFill>
          </a:ln>
        </p:spPr>
        <p:txBody>
          <a:bodyPr wrap="square">
            <a:spAutoFit/>
          </a:bodyPr>
          <a:lstStyle/>
          <a:p>
            <a:r>
              <a:rPr lang="en-US" altLang="ko-KR" sz="1000" b="1" dirty="0"/>
              <a:t>$ docker rm </a:t>
            </a:r>
            <a:r>
              <a:rPr lang="en-US" altLang="ko-KR" sz="1000" b="1" dirty="0" err="1">
                <a:solidFill>
                  <a:srgbClr val="FF0000"/>
                </a:solidFill>
              </a:rPr>
              <a:t>kubia</a:t>
            </a:r>
            <a:r>
              <a:rPr lang="en-US" altLang="ko-KR" sz="1000" b="1" dirty="0">
                <a:solidFill>
                  <a:srgbClr val="FF0000"/>
                </a:solidFill>
              </a:rPr>
              <a:t>-container</a:t>
            </a:r>
          </a:p>
        </p:txBody>
      </p:sp>
    </p:spTree>
    <p:extLst>
      <p:ext uri="{BB962C8B-B14F-4D97-AF65-F5344CB8AC3E}">
        <p14:creationId xmlns:p14="http://schemas.microsoft.com/office/powerpoint/2010/main" val="14887372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Pushing the Image to an Image Registry(1/3)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Tagging an Image under an Additional Tag :</a:t>
            </a:r>
          </a:p>
          <a:p>
            <a:pPr lvl="1">
              <a:buFont typeface="Wingdings" panose="05000000000000000000" pitchFamily="2" charset="2"/>
              <a:buChar char="§"/>
            </a:pPr>
            <a:r>
              <a:rPr lang="en-US" altLang="ko-KR" sz="1400" b="1" dirty="0"/>
              <a:t>The image you’ve built has so far only been available on your local machine</a:t>
            </a:r>
            <a:r>
              <a:rPr lang="en-US" altLang="ko-KR" sz="1400" dirty="0"/>
              <a:t>. To allow you to run it on any other machine, you need to </a:t>
            </a:r>
            <a:r>
              <a:rPr lang="en-US" altLang="ko-KR" sz="1400" b="1" dirty="0"/>
              <a:t>push the image to an </a:t>
            </a:r>
            <a:r>
              <a:rPr lang="en-US" altLang="ko-KR" sz="1400" b="1" dirty="0">
                <a:solidFill>
                  <a:srgbClr val="FF0000"/>
                </a:solidFill>
              </a:rPr>
              <a:t>external image registry</a:t>
            </a:r>
            <a:r>
              <a:rPr lang="en-US" altLang="ko-KR" sz="1400" dirty="0"/>
              <a:t>. For the sake of simplicity, you won’t set up a private image registry and will instead push the image to </a:t>
            </a:r>
            <a:r>
              <a:rPr lang="en-US" altLang="ko-KR" sz="1400" b="1" dirty="0"/>
              <a:t>Docker Hub (</a:t>
            </a:r>
            <a:r>
              <a:rPr lang="en-US" altLang="ko-KR" sz="1400" b="1" dirty="0">
                <a:hlinkClick r:id="rId2"/>
              </a:rPr>
              <a:t>http://hub.docker.com</a:t>
            </a:r>
            <a:r>
              <a:rPr lang="en-US" altLang="ko-KR" sz="1400" b="1" dirty="0"/>
              <a:t>)</a:t>
            </a:r>
            <a:r>
              <a:rPr lang="en-US" altLang="ko-KR" sz="1400" dirty="0"/>
              <a:t>, which is one of the </a:t>
            </a:r>
            <a:r>
              <a:rPr lang="en-US" altLang="ko-KR" sz="1400" b="1" dirty="0"/>
              <a:t>publicly available registries</a:t>
            </a:r>
            <a:r>
              <a:rPr lang="en-US" altLang="ko-KR" sz="1400" dirty="0"/>
              <a:t>. Other widely used such registries are </a:t>
            </a:r>
            <a:r>
              <a:rPr lang="en-US" altLang="ko-KR" sz="1400" b="1" dirty="0">
                <a:hlinkClick r:id="rId3"/>
              </a:rPr>
              <a:t>Quay.io</a:t>
            </a:r>
            <a:r>
              <a:rPr lang="en-US" altLang="ko-KR" sz="1400" b="1" dirty="0"/>
              <a:t> </a:t>
            </a:r>
            <a:r>
              <a:rPr lang="en-US" altLang="ko-KR" sz="1400" dirty="0"/>
              <a:t>and the </a:t>
            </a:r>
            <a:r>
              <a:rPr lang="en-US" altLang="ko-KR" sz="1400" b="1" dirty="0">
                <a:hlinkClick r:id="rId4"/>
              </a:rPr>
              <a:t>Google Container Registry</a:t>
            </a:r>
            <a:r>
              <a:rPr lang="en-US" altLang="ko-KR" sz="1400" dirty="0"/>
              <a:t>.</a:t>
            </a:r>
          </a:p>
          <a:p>
            <a:pPr lvl="1">
              <a:buFont typeface="Wingdings" panose="05000000000000000000" pitchFamily="2" charset="2"/>
              <a:buChar char="§"/>
            </a:pPr>
            <a:r>
              <a:rPr lang="en-US" altLang="ko-KR" sz="1400" b="1" dirty="0"/>
              <a:t>Before you do that, you need to </a:t>
            </a:r>
            <a:r>
              <a:rPr lang="en-US" altLang="ko-KR" sz="1400" b="1" dirty="0">
                <a:solidFill>
                  <a:srgbClr val="FF0000"/>
                </a:solidFill>
              </a:rPr>
              <a:t>re-tag</a:t>
            </a:r>
            <a:r>
              <a:rPr lang="en-US" altLang="ko-KR" sz="1400" b="1" dirty="0"/>
              <a:t> your image according to Docker Hub’s rules</a:t>
            </a:r>
            <a:r>
              <a:rPr lang="en-US" altLang="ko-KR" sz="1400" dirty="0"/>
              <a:t>. </a:t>
            </a:r>
            <a:r>
              <a:rPr lang="en-US" altLang="ko-KR" sz="1400" b="1" dirty="0"/>
              <a:t>Docker Hub will allow you to push an image if </a:t>
            </a:r>
            <a:r>
              <a:rPr lang="en-US" altLang="ko-KR" sz="1400" b="1" dirty="0">
                <a:solidFill>
                  <a:srgbClr val="FF0000"/>
                </a:solidFill>
              </a:rPr>
              <a:t>the image’s repository name starts with your Docker Hub ID</a:t>
            </a:r>
            <a:r>
              <a:rPr lang="en-US" altLang="ko-KR" sz="1400" dirty="0"/>
              <a:t>. You create your Docker Hub ID by registering at </a:t>
            </a:r>
            <a:r>
              <a:rPr lang="en-US" altLang="ko-KR" sz="1400" b="1" dirty="0">
                <a:hlinkClick r:id="rId2"/>
              </a:rPr>
              <a:t>http://hub.docker.com</a:t>
            </a:r>
            <a:r>
              <a:rPr lang="en-US" altLang="ko-KR" sz="1400" dirty="0"/>
              <a:t>.</a:t>
            </a:r>
          </a:p>
          <a:p>
            <a:pPr lvl="1">
              <a:buFont typeface="Wingdings" panose="05000000000000000000" pitchFamily="2" charset="2"/>
              <a:buChar char="§"/>
            </a:pPr>
            <a:r>
              <a:rPr lang="en-US" altLang="ko-KR" sz="1400" b="1" dirty="0"/>
              <a:t>Once you know your ID, you’re ready to rename your image, currently tagged as “</a:t>
            </a:r>
            <a:r>
              <a:rPr lang="en-US" altLang="ko-KR" sz="1400" b="1" dirty="0" err="1"/>
              <a:t>kubia</a:t>
            </a:r>
            <a:r>
              <a:rPr lang="en-US" altLang="ko-KR" sz="1400" b="1" dirty="0"/>
              <a:t>”, to “knix008/</a:t>
            </a:r>
            <a:r>
              <a:rPr lang="en-US" altLang="ko-KR" sz="1400" b="1" dirty="0" err="1"/>
              <a:t>kubia</a:t>
            </a:r>
            <a:r>
              <a:rPr lang="en-US" altLang="ko-KR" sz="1400" b="1" dirty="0"/>
              <a:t>” (replace “knix008” with your own Docker Hub ID)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This doesn’t rename the tag; it creates an additional tag for the same image</a:t>
            </a:r>
            <a:r>
              <a:rPr lang="en-US" altLang="ko-KR" sz="1400" dirty="0"/>
              <a:t>. You can confirm this by listing the images stored on your system with the “</a:t>
            </a:r>
            <a:r>
              <a:rPr lang="en-US" altLang="ko-KR" sz="1400" b="1" dirty="0">
                <a:solidFill>
                  <a:srgbClr val="FF0000"/>
                </a:solidFill>
              </a:rPr>
              <a:t>docker images</a:t>
            </a:r>
            <a:r>
              <a:rPr lang="en-US" altLang="ko-KR" sz="1400" dirty="0"/>
              <a:t>” command, as shown in the above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BA5DB972-13F8-C94F-BF7E-917AA705090A}"/>
              </a:ext>
            </a:extLst>
          </p:cNvPr>
          <p:cNvGrpSpPr/>
          <p:nvPr/>
        </p:nvGrpSpPr>
        <p:grpSpPr>
          <a:xfrm>
            <a:off x="1491155" y="3196047"/>
            <a:ext cx="9209690" cy="2007046"/>
            <a:chOff x="1491155" y="3196047"/>
            <a:chExt cx="9209690" cy="2007046"/>
          </a:xfrm>
        </p:grpSpPr>
        <p:sp>
          <p:nvSpPr>
            <p:cNvPr id="8" name="TextBox 7">
              <a:extLst>
                <a:ext uri="{FF2B5EF4-FFF2-40B4-BE49-F238E27FC236}">
                  <a16:creationId xmlns:a16="http://schemas.microsoft.com/office/drawing/2014/main" id="{79BC8800-E664-43F9-5F63-648B5C2CEDB5}"/>
                </a:ext>
              </a:extLst>
            </p:cNvPr>
            <p:cNvSpPr txBox="1"/>
            <p:nvPr/>
          </p:nvSpPr>
          <p:spPr>
            <a:xfrm>
              <a:off x="3047343" y="3196047"/>
              <a:ext cx="6097314" cy="246221"/>
            </a:xfrm>
            <a:prstGeom prst="rect">
              <a:avLst/>
            </a:prstGeom>
            <a:noFill/>
            <a:ln>
              <a:solidFill>
                <a:schemeClr val="bg1">
                  <a:lumMod val="50000"/>
                </a:schemeClr>
              </a:solidFill>
            </a:ln>
          </p:spPr>
          <p:txBody>
            <a:bodyPr wrap="square">
              <a:spAutoFit/>
            </a:bodyPr>
            <a:lstStyle/>
            <a:p>
              <a:r>
                <a:rPr lang="sv-SE" altLang="ko-KR" sz="1000" b="1" dirty="0"/>
                <a:t>$ docker tag </a:t>
              </a:r>
              <a:r>
                <a:rPr lang="sv-SE" altLang="ko-KR" sz="1000" b="1" dirty="0">
                  <a:solidFill>
                    <a:srgbClr val="FF0000"/>
                  </a:solidFill>
                </a:rPr>
                <a:t>kubia knix008/kubia</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089C7BDF-26B3-2188-7C86-2EEFAD3147C5}"/>
                </a:ext>
              </a:extLst>
            </p:cNvPr>
            <p:cNvSpPr/>
            <p:nvPr/>
          </p:nvSpPr>
          <p:spPr>
            <a:xfrm>
              <a:off x="5887107" y="3442268"/>
              <a:ext cx="417786" cy="28627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E667268-C18B-97A0-5A4C-82F5DBFDEDA6}"/>
                </a:ext>
              </a:extLst>
            </p:cNvPr>
            <p:cNvPicPr>
              <a:picLocks noChangeAspect="1"/>
            </p:cNvPicPr>
            <p:nvPr/>
          </p:nvPicPr>
          <p:blipFill>
            <a:blip r:embed="rId5"/>
            <a:stretch>
              <a:fillRect/>
            </a:stretch>
          </p:blipFill>
          <p:spPr>
            <a:xfrm>
              <a:off x="1491155" y="3744892"/>
              <a:ext cx="9209690" cy="1458201"/>
            </a:xfrm>
            <a:prstGeom prst="rect">
              <a:avLst/>
            </a:prstGeom>
          </p:spPr>
        </p:pic>
        <p:sp>
          <p:nvSpPr>
            <p:cNvPr id="12" name="직사각형 11">
              <a:extLst>
                <a:ext uri="{FF2B5EF4-FFF2-40B4-BE49-F238E27FC236}">
                  <a16:creationId xmlns:a16="http://schemas.microsoft.com/office/drawing/2014/main" id="{70A0A404-B7CE-F885-9F8C-88E077BB64A3}"/>
                </a:ext>
              </a:extLst>
            </p:cNvPr>
            <p:cNvSpPr/>
            <p:nvPr/>
          </p:nvSpPr>
          <p:spPr>
            <a:xfrm>
              <a:off x="1568670" y="4437993"/>
              <a:ext cx="6463862"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475389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Pushing the Image to an Image Registry(2/3)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Pushing the Image to Docker Hub :</a:t>
            </a:r>
          </a:p>
          <a:p>
            <a:pPr lvl="1">
              <a:buFont typeface="Wingdings" panose="05000000000000000000" pitchFamily="2" charset="2"/>
              <a:buChar char="§"/>
            </a:pPr>
            <a:r>
              <a:rPr lang="en-US" altLang="ko-KR" sz="1400" b="1" dirty="0"/>
              <a:t>Before you can push the image to Docker Hub, you need to log in under your user ID with the “</a:t>
            </a:r>
            <a:r>
              <a:rPr lang="en-US" altLang="ko-KR" sz="1400" b="1" dirty="0">
                <a:solidFill>
                  <a:srgbClr val="FF0000"/>
                </a:solidFill>
              </a:rPr>
              <a:t>docker login</a:t>
            </a:r>
            <a:r>
              <a:rPr lang="en-US" altLang="ko-KR" sz="1400" b="1" dirty="0"/>
              <a:t>” command</a:t>
            </a:r>
            <a:r>
              <a:rPr lang="en-US" altLang="ko-KR" sz="1400" dirty="0"/>
              <a:t>. Once you’re logged in, you can finally push the “</a:t>
            </a:r>
            <a:r>
              <a:rPr lang="en-US" altLang="ko-KR" sz="1400" b="1" dirty="0" err="1"/>
              <a:t>your_id</a:t>
            </a:r>
            <a:r>
              <a:rPr lang="en-US" altLang="ko-KR" sz="1400" b="1" dirty="0"/>
              <a:t>/</a:t>
            </a:r>
            <a:r>
              <a:rPr lang="en-US" altLang="ko-KR" sz="1400" b="1" dirty="0" err="1"/>
              <a:t>kubia</a:t>
            </a:r>
            <a:r>
              <a:rPr lang="en-US" altLang="ko-KR" sz="1400" dirty="0"/>
              <a:t>” image to Docker Hub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ACF29B75-89D5-E5C1-2352-5740EC5DE45C}"/>
              </a:ext>
            </a:extLst>
          </p:cNvPr>
          <p:cNvGrpSpPr/>
          <p:nvPr/>
        </p:nvGrpSpPr>
        <p:grpSpPr>
          <a:xfrm>
            <a:off x="1714171" y="1716092"/>
            <a:ext cx="8763657" cy="4692938"/>
            <a:chOff x="1714171" y="1716092"/>
            <a:chExt cx="8763657" cy="4692938"/>
          </a:xfrm>
        </p:grpSpPr>
        <p:grpSp>
          <p:nvGrpSpPr>
            <p:cNvPr id="16" name="그룹 15">
              <a:extLst>
                <a:ext uri="{FF2B5EF4-FFF2-40B4-BE49-F238E27FC236}">
                  <a16:creationId xmlns:a16="http://schemas.microsoft.com/office/drawing/2014/main" id="{F0B5C2BC-5733-E90F-2A16-DF90248AB466}"/>
                </a:ext>
              </a:extLst>
            </p:cNvPr>
            <p:cNvGrpSpPr/>
            <p:nvPr/>
          </p:nvGrpSpPr>
          <p:grpSpPr>
            <a:xfrm>
              <a:off x="1714171" y="1716092"/>
              <a:ext cx="8763657" cy="4692938"/>
              <a:chOff x="1714171" y="1594545"/>
              <a:chExt cx="8763657" cy="4692938"/>
            </a:xfrm>
          </p:grpSpPr>
          <p:grpSp>
            <p:nvGrpSpPr>
              <p:cNvPr id="10" name="그룹 9">
                <a:extLst>
                  <a:ext uri="{FF2B5EF4-FFF2-40B4-BE49-F238E27FC236}">
                    <a16:creationId xmlns:a16="http://schemas.microsoft.com/office/drawing/2014/main" id="{DCB148E8-E92D-585C-83C1-D5DDE0D8694F}"/>
                  </a:ext>
                </a:extLst>
              </p:cNvPr>
              <p:cNvGrpSpPr/>
              <p:nvPr/>
            </p:nvGrpSpPr>
            <p:grpSpPr>
              <a:xfrm>
                <a:off x="3047342" y="1594545"/>
                <a:ext cx="6097314" cy="548058"/>
                <a:chOff x="3047342" y="1594545"/>
                <a:chExt cx="6097314" cy="548058"/>
              </a:xfrm>
            </p:grpSpPr>
            <p:sp>
              <p:nvSpPr>
                <p:cNvPr id="8" name="TextBox 7">
                  <a:extLst>
                    <a:ext uri="{FF2B5EF4-FFF2-40B4-BE49-F238E27FC236}">
                      <a16:creationId xmlns:a16="http://schemas.microsoft.com/office/drawing/2014/main" id="{2ABCF78C-FC7E-165E-2AB3-9B6D48E28573}"/>
                    </a:ext>
                  </a:extLst>
                </p:cNvPr>
                <p:cNvSpPr txBox="1"/>
                <p:nvPr/>
              </p:nvSpPr>
              <p:spPr>
                <a:xfrm>
                  <a:off x="3047342" y="1594545"/>
                  <a:ext cx="6097314" cy="246221"/>
                </a:xfrm>
                <a:prstGeom prst="rect">
                  <a:avLst/>
                </a:prstGeom>
                <a:noFill/>
                <a:ln>
                  <a:solidFill>
                    <a:schemeClr val="bg1">
                      <a:lumMod val="50000"/>
                    </a:schemeClr>
                  </a:solidFill>
                </a:ln>
              </p:spPr>
              <p:txBody>
                <a:bodyPr wrap="square">
                  <a:spAutoFit/>
                </a:bodyPr>
                <a:lstStyle/>
                <a:p>
                  <a:r>
                    <a:rPr lang="en-US" altLang="ko-KR" sz="1000" b="1" dirty="0"/>
                    <a:t>$ docker push </a:t>
                  </a:r>
                  <a:r>
                    <a:rPr lang="en-US" altLang="ko-KR" sz="1000" b="1" dirty="0">
                      <a:solidFill>
                        <a:srgbClr val="FF0000"/>
                      </a:solidFill>
                    </a:rPr>
                    <a:t>knix008/</a:t>
                  </a:r>
                  <a:r>
                    <a:rPr lang="en-US" altLang="ko-KR" sz="1000" b="1" dirty="0" err="1">
                      <a:solidFill>
                        <a:srgbClr val="FF0000"/>
                      </a:solidFill>
                    </a:rPr>
                    <a:t>kubia</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E33062CF-2639-6965-1C79-4BDD2B37095C}"/>
                    </a:ext>
                  </a:extLst>
                </p:cNvPr>
                <p:cNvSpPr/>
                <p:nvPr/>
              </p:nvSpPr>
              <p:spPr>
                <a:xfrm>
                  <a:off x="5887107" y="1840767"/>
                  <a:ext cx="417786" cy="30183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0935E08F-B81E-C1E3-A12E-D304126C841E}"/>
                  </a:ext>
                </a:extLst>
              </p:cNvPr>
              <p:cNvGrpSpPr/>
              <p:nvPr/>
            </p:nvGrpSpPr>
            <p:grpSpPr>
              <a:xfrm>
                <a:off x="1714171" y="2142602"/>
                <a:ext cx="8763657" cy="4144881"/>
                <a:chOff x="381000" y="2176462"/>
                <a:chExt cx="11430000" cy="5539310"/>
              </a:xfrm>
            </p:grpSpPr>
            <p:pic>
              <p:nvPicPr>
                <p:cNvPr id="12" name="그림 11">
                  <a:extLst>
                    <a:ext uri="{FF2B5EF4-FFF2-40B4-BE49-F238E27FC236}">
                      <a16:creationId xmlns:a16="http://schemas.microsoft.com/office/drawing/2014/main" id="{24EB9323-AD13-9C09-F5A5-69A3D1F63862}"/>
                    </a:ext>
                  </a:extLst>
                </p:cNvPr>
                <p:cNvPicPr>
                  <a:picLocks noChangeAspect="1"/>
                </p:cNvPicPr>
                <p:nvPr/>
              </p:nvPicPr>
              <p:blipFill>
                <a:blip r:embed="rId2"/>
                <a:stretch>
                  <a:fillRect/>
                </a:stretch>
              </p:blipFill>
              <p:spPr>
                <a:xfrm>
                  <a:off x="381000" y="2176462"/>
                  <a:ext cx="11430000" cy="2505075"/>
                </a:xfrm>
                <a:prstGeom prst="rect">
                  <a:avLst/>
                </a:prstGeom>
              </p:spPr>
            </p:pic>
            <p:pic>
              <p:nvPicPr>
                <p:cNvPr id="14" name="그림 13">
                  <a:extLst>
                    <a:ext uri="{FF2B5EF4-FFF2-40B4-BE49-F238E27FC236}">
                      <a16:creationId xmlns:a16="http://schemas.microsoft.com/office/drawing/2014/main" id="{AAD1C2EB-CA86-8C3C-BE1C-8FC4DBB2B925}"/>
                    </a:ext>
                  </a:extLst>
                </p:cNvPr>
                <p:cNvPicPr>
                  <a:picLocks noChangeAspect="1"/>
                </p:cNvPicPr>
                <p:nvPr/>
              </p:nvPicPr>
              <p:blipFill>
                <a:blip r:embed="rId3"/>
                <a:stretch>
                  <a:fillRect/>
                </a:stretch>
              </p:blipFill>
              <p:spPr>
                <a:xfrm>
                  <a:off x="381000" y="4715397"/>
                  <a:ext cx="11430000" cy="3000375"/>
                </a:xfrm>
                <a:prstGeom prst="rect">
                  <a:avLst/>
                </a:prstGeom>
              </p:spPr>
            </p:pic>
          </p:grpSp>
        </p:grpSp>
        <p:sp>
          <p:nvSpPr>
            <p:cNvPr id="17" name="직사각형 16">
              <a:extLst>
                <a:ext uri="{FF2B5EF4-FFF2-40B4-BE49-F238E27FC236}">
                  <a16:creationId xmlns:a16="http://schemas.microsoft.com/office/drawing/2014/main" id="{61235054-C2CD-1D42-0391-7376F881C97D}"/>
                </a:ext>
              </a:extLst>
            </p:cNvPr>
            <p:cNvSpPr/>
            <p:nvPr/>
          </p:nvSpPr>
          <p:spPr>
            <a:xfrm>
              <a:off x="5841124" y="2648608"/>
              <a:ext cx="780393" cy="1734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D717314E-4596-64EB-B85D-C823281C2104}"/>
                </a:ext>
              </a:extLst>
            </p:cNvPr>
            <p:cNvSpPr/>
            <p:nvPr/>
          </p:nvSpPr>
          <p:spPr>
            <a:xfrm>
              <a:off x="5841124" y="4523071"/>
              <a:ext cx="1576552" cy="2302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700009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Pushing the Image to an Image Registry(3/3)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Image on a Different Machine :</a:t>
            </a:r>
          </a:p>
          <a:p>
            <a:pPr lvl="1">
              <a:buFont typeface="Wingdings" panose="05000000000000000000" pitchFamily="2" charset="2"/>
              <a:buChar char="§"/>
            </a:pPr>
            <a:r>
              <a:rPr lang="en-US" altLang="ko-KR" sz="1400" b="1" dirty="0"/>
              <a:t>After the push to Docker Hub is complete, the image will be available to everyone</a:t>
            </a:r>
            <a:r>
              <a:rPr lang="en-US" altLang="ko-KR" sz="1400" dirty="0"/>
              <a:t>. You can now </a:t>
            </a:r>
            <a:r>
              <a:rPr lang="en-US" altLang="ko-KR" sz="1400" b="1" dirty="0"/>
              <a:t>run the image on any machine running Docker </a:t>
            </a:r>
            <a:r>
              <a:rPr lang="en-US" altLang="ko-KR" sz="1400" dirty="0"/>
              <a:t>by executing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It doesn’t get much simpler than that. And the best thing about this is that your application will have the exact same environment every time and everywhere it’s run</a:t>
            </a:r>
            <a:r>
              <a:rPr lang="en-US" altLang="ko-KR" sz="1400" dirty="0"/>
              <a:t>. If it ran fine on your machine, it should run as well on every other Linux machine. No need to worry about whether the host machine has </a:t>
            </a:r>
            <a:r>
              <a:rPr lang="en-US" altLang="ko-KR" sz="1400" b="1" dirty="0"/>
              <a:t>Node.js </a:t>
            </a:r>
            <a:r>
              <a:rPr lang="en-US" altLang="ko-KR" sz="1400" dirty="0"/>
              <a:t>installed or not. In fact, even if it does, your app won’t use it, because </a:t>
            </a:r>
            <a:r>
              <a:rPr lang="en-US" altLang="ko-KR" sz="1400" b="1" dirty="0"/>
              <a:t>it will use the one installed inside the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A844889-A779-C3B4-5DA0-7C59A667B02E}"/>
              </a:ext>
            </a:extLst>
          </p:cNvPr>
          <p:cNvSpPr txBox="1"/>
          <p:nvPr/>
        </p:nvSpPr>
        <p:spPr>
          <a:xfrm>
            <a:off x="3047343" y="1699313"/>
            <a:ext cx="6097314" cy="246221"/>
          </a:xfrm>
          <a:prstGeom prst="rect">
            <a:avLst/>
          </a:prstGeom>
          <a:noFill/>
          <a:ln>
            <a:solidFill>
              <a:schemeClr val="bg1">
                <a:lumMod val="50000"/>
              </a:schemeClr>
            </a:solidFill>
          </a:ln>
        </p:spPr>
        <p:txBody>
          <a:bodyPr wrap="square">
            <a:spAutoFit/>
          </a:bodyPr>
          <a:lstStyle/>
          <a:p>
            <a:r>
              <a:rPr lang="sv-SE" altLang="ko-KR" sz="1000" b="1" dirty="0"/>
              <a:t>$ docker run -p 8080:8080 -d </a:t>
            </a:r>
            <a:r>
              <a:rPr lang="sv-SE" altLang="ko-KR" sz="1000" b="1" dirty="0">
                <a:solidFill>
                  <a:srgbClr val="FF0000"/>
                </a:solidFill>
              </a:rPr>
              <a:t>knix008/kubia</a:t>
            </a:r>
          </a:p>
        </p:txBody>
      </p:sp>
      <p:grpSp>
        <p:nvGrpSpPr>
          <p:cNvPr id="16" name="그룹 15">
            <a:extLst>
              <a:ext uri="{FF2B5EF4-FFF2-40B4-BE49-F238E27FC236}">
                <a16:creationId xmlns:a16="http://schemas.microsoft.com/office/drawing/2014/main" id="{4060524F-5717-F0AA-7F3F-C89E9C6F7892}"/>
              </a:ext>
            </a:extLst>
          </p:cNvPr>
          <p:cNvGrpSpPr/>
          <p:nvPr/>
        </p:nvGrpSpPr>
        <p:grpSpPr>
          <a:xfrm>
            <a:off x="1338877" y="2989075"/>
            <a:ext cx="9514247" cy="3367275"/>
            <a:chOff x="1338877" y="2989075"/>
            <a:chExt cx="9514247" cy="3367275"/>
          </a:xfrm>
        </p:grpSpPr>
        <p:grpSp>
          <p:nvGrpSpPr>
            <p:cNvPr id="14" name="그룹 13">
              <a:extLst>
                <a:ext uri="{FF2B5EF4-FFF2-40B4-BE49-F238E27FC236}">
                  <a16:creationId xmlns:a16="http://schemas.microsoft.com/office/drawing/2014/main" id="{01D43EF2-40A1-F389-8350-21193233CA7A}"/>
                </a:ext>
              </a:extLst>
            </p:cNvPr>
            <p:cNvGrpSpPr/>
            <p:nvPr/>
          </p:nvGrpSpPr>
          <p:grpSpPr>
            <a:xfrm>
              <a:off x="1338877" y="2989075"/>
              <a:ext cx="9514247" cy="3367275"/>
              <a:chOff x="1338877" y="2989075"/>
              <a:chExt cx="9514247" cy="3367275"/>
            </a:xfrm>
          </p:grpSpPr>
          <p:pic>
            <p:nvPicPr>
              <p:cNvPr id="12" name="그림 11">
                <a:extLst>
                  <a:ext uri="{FF2B5EF4-FFF2-40B4-BE49-F238E27FC236}">
                    <a16:creationId xmlns:a16="http://schemas.microsoft.com/office/drawing/2014/main" id="{BF8A2D0C-52AE-DE98-DAEC-A613C547CCF1}"/>
                  </a:ext>
                </a:extLst>
              </p:cNvPr>
              <p:cNvPicPr>
                <a:picLocks noChangeAspect="1"/>
              </p:cNvPicPr>
              <p:nvPr/>
            </p:nvPicPr>
            <p:blipFill>
              <a:blip r:embed="rId2"/>
              <a:stretch>
                <a:fillRect/>
              </a:stretch>
            </p:blipFill>
            <p:spPr>
              <a:xfrm>
                <a:off x="1338877" y="2989075"/>
                <a:ext cx="9514247" cy="3367275"/>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F81B2BFE-CF66-8F7B-2614-EF3BF1327DAD}"/>
                  </a:ext>
                </a:extLst>
              </p:cNvPr>
              <p:cNvSpPr/>
              <p:nvPr/>
            </p:nvSpPr>
            <p:spPr>
              <a:xfrm>
                <a:off x="5580992" y="3389587"/>
                <a:ext cx="2554014" cy="3092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A4F63DD4-70CF-B808-A6EC-D701E519D9A4}"/>
                </a:ext>
              </a:extLst>
            </p:cNvPr>
            <p:cNvSpPr/>
            <p:nvPr/>
          </p:nvSpPr>
          <p:spPr>
            <a:xfrm>
              <a:off x="1434662" y="5833241"/>
              <a:ext cx="9144000" cy="1948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738282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Removing Docker Image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Remove Image :</a:t>
            </a:r>
          </a:p>
          <a:p>
            <a:pPr lvl="1">
              <a:buFont typeface="Wingdings" panose="05000000000000000000" pitchFamily="2" charset="2"/>
              <a:buChar char="§"/>
            </a:pPr>
            <a:r>
              <a:rPr lang="en-US" altLang="ko-KR" sz="1400" b="1" dirty="0"/>
              <a:t>To remove docker image on your local machine, you can use </a:t>
            </a:r>
            <a:r>
              <a:rPr lang="en-US" altLang="ko-KR" sz="1400" b="1" dirty="0">
                <a:solidFill>
                  <a:srgbClr val="FF0000"/>
                </a:solidFill>
              </a:rPr>
              <a:t>“$ docker </a:t>
            </a:r>
            <a:r>
              <a:rPr lang="en-US" altLang="ko-KR" sz="1400" b="1" dirty="0" err="1">
                <a:solidFill>
                  <a:srgbClr val="FF0000"/>
                </a:solidFill>
              </a:rPr>
              <a:t>rmi</a:t>
            </a:r>
            <a:r>
              <a:rPr lang="en-US" altLang="ko-KR" sz="1400" b="1" dirty="0">
                <a:solidFill>
                  <a:srgbClr val="FF0000"/>
                </a:solidFill>
              </a:rPr>
              <a:t> </a:t>
            </a:r>
            <a:r>
              <a:rPr lang="en-US" altLang="ko-KR" sz="1400" b="1" dirty="0" err="1">
                <a:solidFill>
                  <a:srgbClr val="FF0000"/>
                </a:solidFill>
              </a:rPr>
              <a:t>image_name</a:t>
            </a:r>
            <a:r>
              <a:rPr lang="en-US" altLang="ko-KR" sz="1400" b="1" dirty="0"/>
              <a:t>” in the command line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To be sure that the image was deleted from the local machine, I used the command. “</a:t>
            </a:r>
            <a:r>
              <a:rPr lang="en-US" altLang="ko-KR" sz="1400" b="1" dirty="0">
                <a:solidFill>
                  <a:srgbClr val="FF0000"/>
                </a:solidFill>
              </a:rPr>
              <a:t>-f</a:t>
            </a:r>
            <a:r>
              <a:rPr lang="en-US" altLang="ko-KR" sz="1400" b="1" dirty="0"/>
              <a:t>” option will force the execution of the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934A921-E6C3-A755-6B4B-C9426C9F8A08}"/>
              </a:ext>
            </a:extLst>
          </p:cNvPr>
          <p:cNvGrpSpPr/>
          <p:nvPr/>
        </p:nvGrpSpPr>
        <p:grpSpPr>
          <a:xfrm>
            <a:off x="1200807" y="1673650"/>
            <a:ext cx="9790385" cy="2145727"/>
            <a:chOff x="1200807" y="1579057"/>
            <a:chExt cx="9790385" cy="2145727"/>
          </a:xfrm>
        </p:grpSpPr>
        <p:pic>
          <p:nvPicPr>
            <p:cNvPr id="4" name="그림 3">
              <a:extLst>
                <a:ext uri="{FF2B5EF4-FFF2-40B4-BE49-F238E27FC236}">
                  <a16:creationId xmlns:a16="http://schemas.microsoft.com/office/drawing/2014/main" id="{7C4B6762-3B8C-E609-2D63-A4386E4DEA29}"/>
                </a:ext>
              </a:extLst>
            </p:cNvPr>
            <p:cNvPicPr>
              <a:picLocks noChangeAspect="1"/>
            </p:cNvPicPr>
            <p:nvPr/>
          </p:nvPicPr>
          <p:blipFill>
            <a:blip r:embed="rId2"/>
            <a:stretch>
              <a:fillRect/>
            </a:stretch>
          </p:blipFill>
          <p:spPr>
            <a:xfrm>
              <a:off x="1200807" y="1579057"/>
              <a:ext cx="9790385" cy="2145727"/>
            </a:xfrm>
            <a:prstGeom prst="rect">
              <a:avLst/>
            </a:prstGeom>
          </p:spPr>
        </p:pic>
        <p:sp>
          <p:nvSpPr>
            <p:cNvPr id="8" name="직사각형 7">
              <a:extLst>
                <a:ext uri="{FF2B5EF4-FFF2-40B4-BE49-F238E27FC236}">
                  <a16:creationId xmlns:a16="http://schemas.microsoft.com/office/drawing/2014/main" id="{C24D6AB1-ACB8-6B6C-440F-079AA139EE12}"/>
                </a:ext>
              </a:extLst>
            </p:cNvPr>
            <p:cNvSpPr/>
            <p:nvPr/>
          </p:nvSpPr>
          <p:spPr>
            <a:xfrm>
              <a:off x="5825359" y="2861441"/>
              <a:ext cx="1355834" cy="1891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0368D84D-9203-B074-11B3-56796EFE8ADE}"/>
                </a:ext>
              </a:extLst>
            </p:cNvPr>
            <p:cNvSpPr/>
            <p:nvPr/>
          </p:nvSpPr>
          <p:spPr>
            <a:xfrm>
              <a:off x="5825359" y="2025872"/>
              <a:ext cx="1615965" cy="18918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444689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Multi-Node Kubernetes Cluster :</a:t>
            </a:r>
          </a:p>
          <a:p>
            <a:pPr lvl="1">
              <a:buFont typeface="Wingdings" panose="05000000000000000000" pitchFamily="2" charset="2"/>
              <a:buChar char="§"/>
            </a:pPr>
            <a:r>
              <a:rPr lang="en-US" altLang="ko-KR" sz="1400" b="1" dirty="0"/>
              <a:t>Now that you have your app packaged inside a container image and made available through Docker Hub, you can deploy it in a Kubernetes cluster instead of running it in Docker directly</a:t>
            </a:r>
            <a:r>
              <a:rPr lang="en-US" altLang="ko-KR" sz="1400" dirty="0"/>
              <a:t>. But first, you need to set up the cluster itself. </a:t>
            </a:r>
          </a:p>
          <a:p>
            <a:pPr lvl="1">
              <a:buFont typeface="Wingdings" panose="05000000000000000000" pitchFamily="2" charset="2"/>
              <a:buChar char="§"/>
            </a:pPr>
            <a:r>
              <a:rPr lang="en-US" altLang="ko-KR" sz="1400" b="1" dirty="0"/>
              <a:t>Setting </a:t>
            </a:r>
            <a:r>
              <a:rPr lang="en-US" altLang="ko-KR" sz="1400" b="1" dirty="0">
                <a:solidFill>
                  <a:srgbClr val="FF0000"/>
                </a:solidFill>
              </a:rPr>
              <a:t>up a full-fledged, multi-node Kubernetes cluster</a:t>
            </a:r>
            <a:r>
              <a:rPr lang="en-US" altLang="ko-KR" sz="1400" b="1" dirty="0"/>
              <a:t> isn’t a simple task, especially if you’re not well-versed in Linux and networking administration</a:t>
            </a:r>
            <a:r>
              <a:rPr lang="en-US" altLang="ko-KR" sz="1400" dirty="0"/>
              <a:t>. A proper Kubernetes install spans multiple physical or virtual machines and requires the networking to be set up properly, so that all the containers running inside the Kubernetes cluster can connect to each other through the same flat networking space. </a:t>
            </a:r>
          </a:p>
          <a:p>
            <a:pPr lvl="1">
              <a:buFont typeface="Wingdings" panose="05000000000000000000" pitchFamily="2" charset="2"/>
              <a:buChar char="§"/>
            </a:pPr>
            <a:r>
              <a:rPr lang="en-US" altLang="ko-KR" sz="1400" b="1" dirty="0"/>
              <a:t>Kubernetes can be run on your local development machine, your own organization’s cluster of machines, on cloud providers providing virtual machines </a:t>
            </a:r>
            <a:r>
              <a:rPr lang="en-US" altLang="ko-KR" sz="1400" dirty="0"/>
              <a:t>(Google Compute Engine, Amazon EC2, Microsoft Azure, and so on), or by using a managed Kubernetes cluster such as Google Kubernetes Engine (GKE, previously known as Google Container Engine).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835627C-2E17-DE01-4789-4E000CE098DE}"/>
              </a:ext>
            </a:extLst>
          </p:cNvPr>
          <p:cNvPicPr>
            <a:picLocks noChangeAspect="1"/>
          </p:cNvPicPr>
          <p:nvPr/>
        </p:nvPicPr>
        <p:blipFill>
          <a:blip r:embed="rId2"/>
          <a:stretch>
            <a:fillRect/>
          </a:stretch>
        </p:blipFill>
        <p:spPr>
          <a:xfrm>
            <a:off x="6424448" y="3414449"/>
            <a:ext cx="4929352" cy="2994581"/>
          </a:xfrm>
          <a:prstGeom prst="rect">
            <a:avLst/>
          </a:prstGeom>
        </p:spPr>
      </p:pic>
      <p:sp>
        <p:nvSpPr>
          <p:cNvPr id="9" name="TextBox 8">
            <a:extLst>
              <a:ext uri="{FF2B5EF4-FFF2-40B4-BE49-F238E27FC236}">
                <a16:creationId xmlns:a16="http://schemas.microsoft.com/office/drawing/2014/main" id="{56A66C2F-46DD-A24A-447E-E0777AF19F26}"/>
              </a:ext>
            </a:extLst>
          </p:cNvPr>
          <p:cNvSpPr txBox="1"/>
          <p:nvPr/>
        </p:nvSpPr>
        <p:spPr>
          <a:xfrm>
            <a:off x="838200" y="3429000"/>
            <a:ext cx="5586248" cy="164352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Another option is to install Kubernetes on Amazon’s AWS (Amazon Web Services). For this, you can look at the “kops” tool, which is built on top of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kubeadm</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is available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hlinkClick r:id="rId3"/>
              </a:rPr>
              <a:t>http://github.com/kubernetes/kops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It helps you deploy production-grade, highly available Kubernetes clusters on AWS and will eventually support other platforms as well (Google Kubernetes Engine, VMware, vSphere, and so on).</a:t>
            </a:r>
          </a:p>
        </p:txBody>
      </p:sp>
    </p:spTree>
    <p:extLst>
      <p:ext uri="{BB962C8B-B14F-4D97-AF65-F5344CB8AC3E}">
        <p14:creationId xmlns:p14="http://schemas.microsoft.com/office/powerpoint/2010/main" val="35446791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 Local Single-Node Kubernetes Cluster with </a:t>
            </a:r>
            <a:r>
              <a:rPr lang="en-US" altLang="ko-KR" sz="1800" b="1" dirty="0" err="1"/>
              <a:t>Minikube</a:t>
            </a:r>
            <a:r>
              <a:rPr lang="en-US" altLang="ko-KR" sz="1800" b="1" dirty="0"/>
              <a:t> :</a:t>
            </a:r>
          </a:p>
          <a:p>
            <a:pPr lvl="1">
              <a:buFont typeface="Wingdings" panose="05000000000000000000" pitchFamily="2" charset="2"/>
              <a:buChar char="§"/>
            </a:pPr>
            <a:r>
              <a:rPr lang="en-US" altLang="ko-KR" sz="1400" b="1" dirty="0"/>
              <a:t>The simplest and quickest path to a fully functioning Kubernetes cluster is by using </a:t>
            </a:r>
            <a:r>
              <a:rPr lang="en-US" altLang="ko-KR" sz="1400" b="1" dirty="0" err="1">
                <a:solidFill>
                  <a:srgbClr val="FF0000"/>
                </a:solidFill>
              </a:rPr>
              <a:t>Minikube</a:t>
            </a:r>
            <a:r>
              <a:rPr lang="en-US" altLang="ko-KR" sz="1400" dirty="0"/>
              <a:t>. </a:t>
            </a:r>
            <a:r>
              <a:rPr lang="en-US" altLang="ko-KR" sz="1400" b="1" dirty="0" err="1"/>
              <a:t>Minikube</a:t>
            </a:r>
            <a:r>
              <a:rPr lang="en-US" altLang="ko-KR" sz="1400" b="1" dirty="0"/>
              <a:t> is a tool that sets up a single-node cluster </a:t>
            </a:r>
            <a:r>
              <a:rPr lang="en-US" altLang="ko-KR" sz="1400" dirty="0"/>
              <a:t>that’s great for both testing Kubernetes and </a:t>
            </a:r>
            <a:r>
              <a:rPr lang="en-US" altLang="ko-KR" sz="1400" b="1" dirty="0"/>
              <a:t>developing apps locally</a:t>
            </a:r>
            <a:r>
              <a:rPr lang="en-US" altLang="ko-KR" sz="1400" dirty="0"/>
              <a:t>.</a:t>
            </a:r>
          </a:p>
          <a:p>
            <a:pPr lvl="1">
              <a:buFont typeface="Wingdings" panose="05000000000000000000" pitchFamily="2" charset="2"/>
              <a:buChar char="§"/>
            </a:pPr>
            <a:r>
              <a:rPr lang="en-US" altLang="ko-KR" sz="1400" b="1" dirty="0" err="1"/>
              <a:t>Minikube</a:t>
            </a:r>
            <a:r>
              <a:rPr lang="en-US" altLang="ko-KR" sz="1400" b="1" dirty="0"/>
              <a:t> is a single binary that needs to be downloaded and put onto your path</a:t>
            </a:r>
            <a:r>
              <a:rPr lang="en-US" altLang="ko-KR" sz="1400" dirty="0"/>
              <a:t>. It’s available for OSX, Linux, and Windows. To install it, the best place to start is to go to the </a:t>
            </a:r>
            <a:r>
              <a:rPr lang="en-US" altLang="ko-KR" sz="1400" dirty="0" err="1"/>
              <a:t>Minikube</a:t>
            </a:r>
            <a:r>
              <a:rPr lang="en-US" altLang="ko-KR" sz="1400" dirty="0"/>
              <a:t> repository on GitHub (</a:t>
            </a:r>
            <a:r>
              <a:rPr lang="en-US" altLang="ko-KR" sz="1400" b="1" dirty="0">
                <a:hlinkClick r:id="rId2"/>
              </a:rPr>
              <a:t>http://github.com/kubernetes/minikube</a:t>
            </a:r>
            <a:r>
              <a:rPr lang="en-US" altLang="ko-KR" sz="1400" dirty="0"/>
              <a:t>) and (</a:t>
            </a:r>
            <a:r>
              <a:rPr lang="en-US" altLang="ko-KR" sz="1400" b="1" dirty="0">
                <a:hlinkClick r:id="rId3"/>
              </a:rPr>
              <a:t>https://minikube.sigs.k8s.io/docs/start/</a:t>
            </a:r>
            <a:r>
              <a:rPr lang="en-US" altLang="ko-KR" sz="1400" dirty="0"/>
              <a:t>), then follow the instructions there.</a:t>
            </a:r>
          </a:p>
          <a:p>
            <a:pPr lvl="1">
              <a:buFont typeface="Wingdings" panose="05000000000000000000" pitchFamily="2" charset="2"/>
              <a:buChar char="§"/>
            </a:pPr>
            <a:r>
              <a:rPr lang="en-US" altLang="ko-KR" sz="1400" dirty="0"/>
              <a:t>For example, </a:t>
            </a:r>
            <a:r>
              <a:rPr lang="en-US" altLang="ko-KR" sz="1400" b="1" dirty="0"/>
              <a:t>on OSX and Linux</a:t>
            </a:r>
            <a:r>
              <a:rPr lang="en-US" altLang="ko-KR" sz="1400" dirty="0"/>
              <a:t>, </a:t>
            </a:r>
            <a:r>
              <a:rPr lang="en-US" altLang="ko-KR" sz="1400" b="1" dirty="0" err="1"/>
              <a:t>Minikube</a:t>
            </a:r>
            <a:r>
              <a:rPr lang="en-US" altLang="ko-KR" sz="1400" dirty="0"/>
              <a:t> can be downloaded and set up with a single command. For </a:t>
            </a:r>
            <a:r>
              <a:rPr lang="en-US" altLang="ko-KR" sz="1400" b="1" dirty="0"/>
              <a:t>OSX</a:t>
            </a:r>
            <a:r>
              <a:rPr lang="en-US" altLang="ko-KR" sz="1400" dirty="0"/>
              <a:t>, this is what the command looks like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On Linux</a:t>
            </a:r>
            <a:r>
              <a:rPr lang="en-US" altLang="ko-KR" sz="1400" dirty="0"/>
              <a:t>, you download a different release (replace “</a:t>
            </a:r>
            <a:r>
              <a:rPr lang="en-US" altLang="ko-KR" sz="1400" b="1" dirty="0" err="1"/>
              <a:t>darwin</a:t>
            </a:r>
            <a:r>
              <a:rPr lang="en-US" altLang="ko-KR" sz="1400" dirty="0"/>
              <a:t>” with “</a:t>
            </a:r>
            <a:r>
              <a:rPr lang="en-US" altLang="ko-KR" sz="1400" b="1" dirty="0" err="1"/>
              <a:t>linux</a:t>
            </a:r>
            <a:r>
              <a:rPr lang="en-US" altLang="ko-KR" sz="1400" dirty="0"/>
              <a:t>” in the URL). On Windows, you can download the file manually, rename it to </a:t>
            </a:r>
            <a:r>
              <a:rPr lang="en-US" altLang="ko-KR" sz="1400" b="1" dirty="0"/>
              <a:t>minikube.exe</a:t>
            </a:r>
            <a:r>
              <a:rPr lang="en-US" altLang="ko-KR" sz="1400" dirty="0"/>
              <a:t>, and put it onto your path. </a:t>
            </a:r>
          </a:p>
          <a:p>
            <a:pPr lvl="1">
              <a:buFont typeface="Wingdings" panose="05000000000000000000" pitchFamily="2" charset="2"/>
              <a:buChar char="§"/>
            </a:pPr>
            <a:r>
              <a:rPr lang="en-US" altLang="ko-KR" sz="1400" b="1" dirty="0" err="1"/>
              <a:t>Minikube</a:t>
            </a:r>
            <a:r>
              <a:rPr lang="en-US" altLang="ko-KR" sz="1400" b="1" dirty="0"/>
              <a:t> runs Kubernetes inside a VM run through either VirtualBox or KVM, so you also need to install one of them before you can start the </a:t>
            </a:r>
            <a:r>
              <a:rPr lang="en-US" altLang="ko-KR" sz="1400" b="1" dirty="0" err="1"/>
              <a:t>Minikube</a:t>
            </a:r>
            <a:r>
              <a:rPr lang="en-US" altLang="ko-KR" sz="1400" b="1" dirty="0"/>
              <a:t>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E17370-536F-0A71-22C9-6AE8CB281806}"/>
              </a:ext>
            </a:extLst>
          </p:cNvPr>
          <p:cNvSpPr txBox="1"/>
          <p:nvPr/>
        </p:nvSpPr>
        <p:spPr>
          <a:xfrm>
            <a:off x="3047343" y="2965213"/>
            <a:ext cx="6097314" cy="1169551"/>
          </a:xfrm>
          <a:prstGeom prst="rect">
            <a:avLst/>
          </a:prstGeom>
          <a:noFill/>
          <a:ln>
            <a:solidFill>
              <a:schemeClr val="bg1">
                <a:lumMod val="50000"/>
              </a:schemeClr>
            </a:solidFill>
          </a:ln>
        </p:spPr>
        <p:txBody>
          <a:bodyPr wrap="square">
            <a:spAutoFit/>
          </a:bodyPr>
          <a:lstStyle/>
          <a:p>
            <a:r>
              <a:rPr lang="en-US" altLang="ko-KR" sz="1000" b="1" dirty="0"/>
              <a:t>$ curl -LO https://storage.googleapis.com/minikube/releases/latest/</a:t>
            </a:r>
            <a:r>
              <a:rPr lang="en-US" altLang="ko-KR" sz="1000" b="1" dirty="0">
                <a:solidFill>
                  <a:srgbClr val="FF0000"/>
                </a:solidFill>
              </a:rPr>
              <a:t>minikube-darwin-arm64</a:t>
            </a:r>
          </a:p>
          <a:p>
            <a:r>
              <a:rPr lang="en-US" altLang="ko-KR" sz="1000" b="1" dirty="0"/>
              <a:t>$ </a:t>
            </a:r>
            <a:r>
              <a:rPr lang="en-US" altLang="ko-KR" sz="1000" b="1" dirty="0" err="1"/>
              <a:t>sudo</a:t>
            </a:r>
            <a:r>
              <a:rPr lang="en-US" altLang="ko-KR" sz="1000" b="1" dirty="0"/>
              <a:t> install </a:t>
            </a:r>
            <a:r>
              <a:rPr lang="en-US" altLang="ko-KR" sz="1000" b="1" dirty="0">
                <a:solidFill>
                  <a:srgbClr val="FF0000"/>
                </a:solidFill>
              </a:rPr>
              <a:t>minikube-darwin-arm64</a:t>
            </a:r>
            <a:r>
              <a:rPr lang="en-US" altLang="ko-KR" sz="1000" b="1" dirty="0"/>
              <a:t> /</a:t>
            </a:r>
            <a:r>
              <a:rPr lang="en-US" altLang="ko-KR" sz="1000" b="1" dirty="0" err="1"/>
              <a:t>usr</a:t>
            </a:r>
            <a:r>
              <a:rPr lang="en-US" altLang="ko-KR" sz="1000" b="1" dirty="0"/>
              <a:t>/local/bin/</a:t>
            </a:r>
            <a:r>
              <a:rPr lang="en-US" altLang="ko-KR" sz="1000" b="1" dirty="0" err="1">
                <a:solidFill>
                  <a:srgbClr val="FF0000"/>
                </a:solidFill>
              </a:rPr>
              <a:t>minikube</a:t>
            </a:r>
            <a:endParaRPr lang="en-US" altLang="ko-KR" sz="1000" b="1" dirty="0">
              <a:solidFill>
                <a:srgbClr val="FF0000"/>
              </a:solidFill>
            </a:endParaRPr>
          </a:p>
          <a:p>
            <a:endParaRPr lang="en-US" altLang="ko-KR" sz="1000" b="1" dirty="0"/>
          </a:p>
          <a:p>
            <a:r>
              <a:rPr lang="en-US" altLang="ko-KR" sz="1000" b="1" dirty="0"/>
              <a:t>or </a:t>
            </a:r>
          </a:p>
          <a:p>
            <a:endParaRPr lang="en-US" altLang="ko-KR" sz="1000" b="1" dirty="0"/>
          </a:p>
          <a:p>
            <a:r>
              <a:rPr lang="en-US" altLang="ko-KR" sz="1000" b="1" dirty="0"/>
              <a:t>$ curl -LO https://storage.googleapis.com/minikube/releases/latest/</a:t>
            </a:r>
            <a:r>
              <a:rPr lang="en-US" altLang="ko-KR" sz="1000" b="1" dirty="0">
                <a:solidFill>
                  <a:srgbClr val="FF0000"/>
                </a:solidFill>
              </a:rPr>
              <a:t>minikube-darwin-amd64</a:t>
            </a:r>
          </a:p>
          <a:p>
            <a:r>
              <a:rPr lang="en-US" altLang="ko-KR" sz="1000" b="1" dirty="0"/>
              <a:t>$ </a:t>
            </a:r>
            <a:r>
              <a:rPr lang="en-US" altLang="ko-KR" sz="1000" b="1" dirty="0" err="1"/>
              <a:t>sudo</a:t>
            </a:r>
            <a:r>
              <a:rPr lang="en-US" altLang="ko-KR" sz="1000" b="1" dirty="0"/>
              <a:t> install </a:t>
            </a:r>
            <a:r>
              <a:rPr lang="en-US" altLang="ko-KR" sz="1000" b="1" dirty="0">
                <a:solidFill>
                  <a:srgbClr val="FF0000"/>
                </a:solidFill>
              </a:rPr>
              <a:t>minikube-darwin-amd64</a:t>
            </a:r>
            <a:r>
              <a:rPr lang="en-US" altLang="ko-KR" sz="1000" b="1" dirty="0"/>
              <a:t> /</a:t>
            </a:r>
            <a:r>
              <a:rPr lang="en-US" altLang="ko-KR" sz="1000" b="1" dirty="0" err="1"/>
              <a:t>usr</a:t>
            </a:r>
            <a:r>
              <a:rPr lang="en-US" altLang="ko-KR" sz="1000" b="1" dirty="0"/>
              <a:t>/local/bin/</a:t>
            </a:r>
            <a:r>
              <a:rPr lang="en-US" altLang="ko-KR" sz="1000" b="1" dirty="0" err="1">
                <a:solidFill>
                  <a:srgbClr val="FF0000"/>
                </a:solidFill>
              </a:rPr>
              <a:t>minikube</a:t>
            </a:r>
            <a:endParaRPr lang="ko-KR" altLang="en-US" sz="1000" b="1" dirty="0">
              <a:solidFill>
                <a:srgbClr val="FF0000"/>
              </a:solidFill>
            </a:endParaRPr>
          </a:p>
        </p:txBody>
      </p:sp>
    </p:spTree>
    <p:extLst>
      <p:ext uri="{BB962C8B-B14F-4D97-AF65-F5344CB8AC3E}">
        <p14:creationId xmlns:p14="http://schemas.microsoft.com/office/powerpoint/2010/main" val="19001029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Starting a Kubernetes Cluster with </a:t>
            </a:r>
            <a:r>
              <a:rPr lang="en-US" altLang="ko-KR" sz="1800" b="1" dirty="0" err="1"/>
              <a:t>Minikube</a:t>
            </a:r>
            <a:r>
              <a:rPr lang="en-US" altLang="ko-KR" sz="1800" b="1" dirty="0"/>
              <a:t> : </a:t>
            </a:r>
          </a:p>
          <a:p>
            <a:pPr lvl="1">
              <a:buFont typeface="Wingdings" panose="05000000000000000000" pitchFamily="2" charset="2"/>
              <a:buChar char="§"/>
            </a:pPr>
            <a:r>
              <a:rPr lang="en-US" altLang="ko-KR" sz="1400" dirty="0"/>
              <a:t>Once you have </a:t>
            </a:r>
            <a:r>
              <a:rPr lang="en-US" altLang="ko-KR" sz="1400" b="1" dirty="0" err="1"/>
              <a:t>Minikube</a:t>
            </a:r>
            <a:r>
              <a:rPr lang="en-US" altLang="ko-KR" sz="1400" dirty="0"/>
              <a:t> installed locally, you can immediately </a:t>
            </a:r>
            <a:r>
              <a:rPr lang="en-US" altLang="ko-KR" sz="1400" b="1" dirty="0"/>
              <a:t>start up the Kubernetes cluster</a:t>
            </a:r>
            <a:r>
              <a:rPr lang="en-US" altLang="ko-KR" sz="1400" dirty="0"/>
              <a:t> with the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C0D76BF-BD26-A0F6-B5B3-E84009E878A6}"/>
              </a:ext>
            </a:extLst>
          </p:cNvPr>
          <p:cNvGrpSpPr/>
          <p:nvPr/>
        </p:nvGrpSpPr>
        <p:grpSpPr>
          <a:xfrm>
            <a:off x="1353207" y="1659900"/>
            <a:ext cx="9485586" cy="4239792"/>
            <a:chOff x="1353207" y="1659900"/>
            <a:chExt cx="9485586" cy="4239792"/>
          </a:xfrm>
        </p:grpSpPr>
        <p:grpSp>
          <p:nvGrpSpPr>
            <p:cNvPr id="13" name="그룹 12">
              <a:extLst>
                <a:ext uri="{FF2B5EF4-FFF2-40B4-BE49-F238E27FC236}">
                  <a16:creationId xmlns:a16="http://schemas.microsoft.com/office/drawing/2014/main" id="{4203663C-CF1C-A090-5213-AD472BDD47AB}"/>
                </a:ext>
              </a:extLst>
            </p:cNvPr>
            <p:cNvGrpSpPr/>
            <p:nvPr/>
          </p:nvGrpSpPr>
          <p:grpSpPr>
            <a:xfrm>
              <a:off x="1353207" y="1659900"/>
              <a:ext cx="9485586" cy="4239792"/>
              <a:chOff x="1353207" y="1541658"/>
              <a:chExt cx="9485586" cy="4239792"/>
            </a:xfrm>
          </p:grpSpPr>
          <p:sp>
            <p:nvSpPr>
              <p:cNvPr id="9" name="TextBox 8">
                <a:extLst>
                  <a:ext uri="{FF2B5EF4-FFF2-40B4-BE49-F238E27FC236}">
                    <a16:creationId xmlns:a16="http://schemas.microsoft.com/office/drawing/2014/main" id="{BB1C0C81-64B2-072E-A01D-687F25814961}"/>
                  </a:ext>
                </a:extLst>
              </p:cNvPr>
              <p:cNvSpPr txBox="1"/>
              <p:nvPr/>
            </p:nvSpPr>
            <p:spPr>
              <a:xfrm>
                <a:off x="3047343" y="1541658"/>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minikube</a:t>
                </a:r>
                <a:r>
                  <a:rPr lang="en-US" altLang="ko-KR" sz="1000" b="1" dirty="0"/>
                  <a:t> start</a:t>
                </a:r>
                <a:endParaRPr lang="ko-KR" altLang="en-US" sz="1000" b="1" dirty="0"/>
              </a:p>
            </p:txBody>
          </p:sp>
          <p:sp>
            <p:nvSpPr>
              <p:cNvPr id="10" name="화살표: 아래쪽 9">
                <a:extLst>
                  <a:ext uri="{FF2B5EF4-FFF2-40B4-BE49-F238E27FC236}">
                    <a16:creationId xmlns:a16="http://schemas.microsoft.com/office/drawing/2014/main" id="{AA27A5B2-A399-7AFB-F030-671FDC7129C2}"/>
                  </a:ext>
                </a:extLst>
              </p:cNvPr>
              <p:cNvSpPr/>
              <p:nvPr/>
            </p:nvSpPr>
            <p:spPr>
              <a:xfrm>
                <a:off x="5898931" y="1814036"/>
                <a:ext cx="394138" cy="26013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그림 11">
                <a:extLst>
                  <a:ext uri="{FF2B5EF4-FFF2-40B4-BE49-F238E27FC236}">
                    <a16:creationId xmlns:a16="http://schemas.microsoft.com/office/drawing/2014/main" id="{DFFA7C33-0FFF-F2E9-4DDF-B9FB37CDCC94}"/>
                  </a:ext>
                </a:extLst>
              </p:cNvPr>
              <p:cNvPicPr>
                <a:picLocks noChangeAspect="1"/>
              </p:cNvPicPr>
              <p:nvPr/>
            </p:nvPicPr>
            <p:blipFill>
              <a:blip r:embed="rId2"/>
              <a:stretch>
                <a:fillRect/>
              </a:stretch>
            </p:blipFill>
            <p:spPr>
              <a:xfrm>
                <a:off x="1353207" y="2074167"/>
                <a:ext cx="9485586" cy="3707283"/>
              </a:xfrm>
              <a:prstGeom prst="rect">
                <a:avLst/>
              </a:prstGeom>
            </p:spPr>
          </p:pic>
        </p:grpSp>
        <p:sp>
          <p:nvSpPr>
            <p:cNvPr id="14" name="직사각형 13">
              <a:extLst>
                <a:ext uri="{FF2B5EF4-FFF2-40B4-BE49-F238E27FC236}">
                  <a16:creationId xmlns:a16="http://schemas.microsoft.com/office/drawing/2014/main" id="{37A52757-1209-2501-3DFB-24AEA8706E78}"/>
                </a:ext>
              </a:extLst>
            </p:cNvPr>
            <p:cNvSpPr/>
            <p:nvPr/>
          </p:nvSpPr>
          <p:spPr>
            <a:xfrm>
              <a:off x="5352393" y="2609193"/>
              <a:ext cx="1008993" cy="1903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333581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Swapping in Linux</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Swapping Off :</a:t>
            </a:r>
          </a:p>
          <a:p>
            <a:pPr lvl="1">
              <a:buFont typeface="Wingdings" panose="05000000000000000000" pitchFamily="2" charset="2"/>
              <a:buChar char="§"/>
            </a:pPr>
            <a:r>
              <a:rPr lang="en-US" altLang="ko-KR" sz="1400" dirty="0"/>
              <a:t>In Linux system, you need to set “</a:t>
            </a:r>
            <a:r>
              <a:rPr lang="en-US" altLang="ko-KR" sz="1400" b="1" dirty="0"/>
              <a:t>Swap Off</a:t>
            </a:r>
            <a:r>
              <a:rPr lang="en-US" altLang="ko-KR" sz="1400" dirty="0"/>
              <a:t>” when you run the Kubernetes Cluster. If you don’t do this, it can make a trouble when you run an application on a Kubernetes Cluster. </a:t>
            </a:r>
            <a:r>
              <a:rPr lang="en-US" altLang="ko-KR" sz="1400" b="1" dirty="0"/>
              <a:t>It also speed up the performance of the system</a:t>
            </a:r>
            <a:r>
              <a:rPr lang="en-US" altLang="ko-KR" sz="1400" dirty="0"/>
              <a:t>.</a:t>
            </a:r>
          </a:p>
          <a:p>
            <a:pPr lvl="1">
              <a:buFont typeface="Wingdings" panose="05000000000000000000" pitchFamily="2" charset="2"/>
              <a:buChar char="§"/>
            </a:pPr>
            <a:r>
              <a:rPr lang="en-US" altLang="ko-KR" sz="1400" dirty="0"/>
              <a:t>You can use “</a:t>
            </a:r>
            <a:r>
              <a:rPr lang="en-US" altLang="ko-KR" sz="1400" b="1" dirty="0"/>
              <a:t>$ </a:t>
            </a:r>
            <a:r>
              <a:rPr lang="en-US" altLang="ko-KR" sz="1400" b="1" dirty="0" err="1"/>
              <a:t>sudo</a:t>
            </a:r>
            <a:r>
              <a:rPr lang="en-US" altLang="ko-KR" sz="1400" b="1" dirty="0"/>
              <a:t> </a:t>
            </a:r>
            <a:r>
              <a:rPr lang="en-US" altLang="ko-KR" sz="1400" b="1" dirty="0" err="1"/>
              <a:t>swapon</a:t>
            </a:r>
            <a:r>
              <a:rPr lang="en-US" altLang="ko-KR" sz="1400" b="1" dirty="0"/>
              <a:t> -s</a:t>
            </a:r>
            <a:r>
              <a:rPr lang="en-US" altLang="ko-KR" sz="1400" dirty="0"/>
              <a:t>” command to see the status of the “Swap”. To swap off, you can use “</a:t>
            </a:r>
            <a:r>
              <a:rPr lang="en-US" altLang="ko-KR" sz="1400" b="1" dirty="0"/>
              <a:t>$ </a:t>
            </a:r>
            <a:r>
              <a:rPr lang="en-US" altLang="ko-KR" sz="1400" b="1" dirty="0" err="1"/>
              <a:t>sudo</a:t>
            </a:r>
            <a:r>
              <a:rPr lang="en-US" altLang="ko-KR" sz="1400" b="1" dirty="0"/>
              <a:t> </a:t>
            </a:r>
            <a:r>
              <a:rPr lang="en-US" altLang="ko-KR" sz="1400" b="1" dirty="0" err="1"/>
              <a:t>swapoff</a:t>
            </a:r>
            <a:r>
              <a:rPr lang="en-US" altLang="ko-KR" sz="1400" b="1" dirty="0"/>
              <a:t> -a” command</a:t>
            </a:r>
            <a:r>
              <a:rPr lang="en-US" altLang="ko-KR" sz="1400" dirty="0"/>
              <a:t>. </a:t>
            </a:r>
            <a:r>
              <a:rPr lang="en-US" altLang="ko-KR" sz="1400" b="1" dirty="0"/>
              <a:t>To make the swap off from the beginning of the system boot</a:t>
            </a:r>
            <a:r>
              <a:rPr lang="en-US" altLang="ko-KR" sz="1400" dirty="0"/>
              <a:t>, </a:t>
            </a:r>
            <a:r>
              <a:rPr lang="en-US" altLang="ko-KR" sz="1400" b="1" dirty="0"/>
              <a:t>you can edit the “/</a:t>
            </a:r>
            <a:r>
              <a:rPr lang="en-US" altLang="ko-KR" sz="1400" b="1" dirty="0" err="1"/>
              <a:t>etc</a:t>
            </a:r>
            <a:r>
              <a:rPr lang="en-US" altLang="ko-KR" sz="1400" b="1" dirty="0"/>
              <a:t>/</a:t>
            </a:r>
            <a:r>
              <a:rPr lang="en-US" altLang="ko-KR" sz="1400" b="1" dirty="0" err="1"/>
              <a:t>fstab</a:t>
            </a:r>
            <a:r>
              <a:rPr lang="en-US" altLang="ko-KR" sz="1400" b="1" dirty="0"/>
              <a:t>”</a:t>
            </a:r>
            <a:r>
              <a:rPr lang="en-US" altLang="ko-KR" sz="1400" dirty="0"/>
              <a:t> file like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F75D4304-7003-71DB-CA47-929E5A2A0CFC}"/>
              </a:ext>
            </a:extLst>
          </p:cNvPr>
          <p:cNvGrpSpPr/>
          <p:nvPr/>
        </p:nvGrpSpPr>
        <p:grpSpPr>
          <a:xfrm>
            <a:off x="2527081" y="2290048"/>
            <a:ext cx="7137838" cy="1796356"/>
            <a:chOff x="2527081" y="2454974"/>
            <a:chExt cx="7137838" cy="1796356"/>
          </a:xfrm>
        </p:grpSpPr>
        <p:pic>
          <p:nvPicPr>
            <p:cNvPr id="8" name="그림 7">
              <a:extLst>
                <a:ext uri="{FF2B5EF4-FFF2-40B4-BE49-F238E27FC236}">
                  <a16:creationId xmlns:a16="http://schemas.microsoft.com/office/drawing/2014/main" id="{BA3B5646-FE5D-CB3A-8F19-4B6F69F1F4EA}"/>
                </a:ext>
              </a:extLst>
            </p:cNvPr>
            <p:cNvPicPr>
              <a:picLocks noChangeAspect="1"/>
            </p:cNvPicPr>
            <p:nvPr/>
          </p:nvPicPr>
          <p:blipFill>
            <a:blip r:embed="rId2"/>
            <a:stretch>
              <a:fillRect/>
            </a:stretch>
          </p:blipFill>
          <p:spPr>
            <a:xfrm>
              <a:off x="2527081" y="2454974"/>
              <a:ext cx="7137838" cy="1796356"/>
            </a:xfrm>
            <a:prstGeom prst="rect">
              <a:avLst/>
            </a:prstGeom>
          </p:spPr>
        </p:pic>
        <p:sp>
          <p:nvSpPr>
            <p:cNvPr id="16" name="직사각형 15">
              <a:extLst>
                <a:ext uri="{FF2B5EF4-FFF2-40B4-BE49-F238E27FC236}">
                  <a16:creationId xmlns:a16="http://schemas.microsoft.com/office/drawing/2014/main" id="{809B5CDA-67DC-10D6-13FD-F76E07591247}"/>
                </a:ext>
              </a:extLst>
            </p:cNvPr>
            <p:cNvSpPr/>
            <p:nvPr/>
          </p:nvSpPr>
          <p:spPr>
            <a:xfrm>
              <a:off x="2542847" y="3878317"/>
              <a:ext cx="4622582" cy="1460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21761433-2F46-67B8-1054-55471D4CD393}"/>
              </a:ext>
            </a:extLst>
          </p:cNvPr>
          <p:cNvGrpSpPr/>
          <p:nvPr/>
        </p:nvGrpSpPr>
        <p:grpSpPr>
          <a:xfrm>
            <a:off x="1803366" y="4298014"/>
            <a:ext cx="8585267" cy="2109751"/>
            <a:chOff x="1803366" y="4298014"/>
            <a:chExt cx="8585267" cy="2109751"/>
          </a:xfrm>
        </p:grpSpPr>
        <p:grpSp>
          <p:nvGrpSpPr>
            <p:cNvPr id="15" name="그룹 14">
              <a:extLst>
                <a:ext uri="{FF2B5EF4-FFF2-40B4-BE49-F238E27FC236}">
                  <a16:creationId xmlns:a16="http://schemas.microsoft.com/office/drawing/2014/main" id="{D7A78ADA-A8F5-BB36-C522-F2C48F4CE5CC}"/>
                </a:ext>
              </a:extLst>
            </p:cNvPr>
            <p:cNvGrpSpPr/>
            <p:nvPr/>
          </p:nvGrpSpPr>
          <p:grpSpPr>
            <a:xfrm>
              <a:off x="1803366" y="4298014"/>
              <a:ext cx="8585267" cy="2109751"/>
              <a:chOff x="1421524" y="4633145"/>
              <a:chExt cx="9843881" cy="2269323"/>
            </a:xfrm>
          </p:grpSpPr>
          <p:pic>
            <p:nvPicPr>
              <p:cNvPr id="12" name="그림 11">
                <a:extLst>
                  <a:ext uri="{FF2B5EF4-FFF2-40B4-BE49-F238E27FC236}">
                    <a16:creationId xmlns:a16="http://schemas.microsoft.com/office/drawing/2014/main" id="{7939C38C-B455-2F51-0D4C-5681781DA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1524" y="4633145"/>
                <a:ext cx="8101792" cy="1450449"/>
              </a:xfrm>
              <a:prstGeom prst="rect">
                <a:avLst/>
              </a:prstGeom>
              <a:ln>
                <a:solidFill>
                  <a:schemeClr val="bg1">
                    <a:lumMod val="50000"/>
                  </a:schemeClr>
                </a:solidFill>
              </a:ln>
            </p:spPr>
          </p:pic>
          <p:pic>
            <p:nvPicPr>
              <p:cNvPr id="14" name="그림 13">
                <a:extLst>
                  <a:ext uri="{FF2B5EF4-FFF2-40B4-BE49-F238E27FC236}">
                    <a16:creationId xmlns:a16="http://schemas.microsoft.com/office/drawing/2014/main" id="{410F67B4-689F-29FF-BF17-1C16446407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3612" y="5590157"/>
                <a:ext cx="8101793" cy="1312311"/>
              </a:xfrm>
              <a:prstGeom prst="rect">
                <a:avLst/>
              </a:prstGeom>
              <a:ln>
                <a:solidFill>
                  <a:schemeClr val="bg1">
                    <a:lumMod val="50000"/>
                  </a:schemeClr>
                </a:solidFill>
              </a:ln>
            </p:spPr>
          </p:pic>
        </p:grpSp>
        <p:sp>
          <p:nvSpPr>
            <p:cNvPr id="18" name="직사각형 17">
              <a:extLst>
                <a:ext uri="{FF2B5EF4-FFF2-40B4-BE49-F238E27FC236}">
                  <a16:creationId xmlns:a16="http://schemas.microsoft.com/office/drawing/2014/main" id="{2A996EC6-5C10-663A-2570-3119A141A372}"/>
                </a:ext>
              </a:extLst>
            </p:cNvPr>
            <p:cNvSpPr/>
            <p:nvPr/>
          </p:nvSpPr>
          <p:spPr>
            <a:xfrm>
              <a:off x="3090041" y="4635062"/>
              <a:ext cx="733097" cy="169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67C4D8AF-7A1A-E571-C73B-93A825D3038B}"/>
                </a:ext>
              </a:extLst>
            </p:cNvPr>
            <p:cNvSpPr/>
            <p:nvPr/>
          </p:nvSpPr>
          <p:spPr>
            <a:xfrm>
              <a:off x="4611414" y="5525513"/>
              <a:ext cx="819807" cy="2683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048408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a:ln>
            <a:noFill/>
          </a:ln>
        </p:spPr>
        <p:txBody>
          <a:bodyPr>
            <a:normAutofit/>
          </a:bodyPr>
          <a:lstStyle/>
          <a:p>
            <a:pPr>
              <a:buFont typeface="Wingdings" panose="05000000000000000000" pitchFamily="2" charset="2"/>
              <a:buChar char="§"/>
            </a:pPr>
            <a:r>
              <a:rPr lang="en-US" altLang="ko-KR" sz="1800" b="1" dirty="0"/>
              <a:t>Installing the Kubernetes Client(</a:t>
            </a:r>
            <a:r>
              <a:rPr lang="en-US" altLang="ko-KR" sz="1800" b="1" dirty="0" err="1"/>
              <a:t>kubectl</a:t>
            </a:r>
            <a:r>
              <a:rPr lang="en-US" altLang="ko-KR" sz="1800" b="1" dirty="0"/>
              <a:t>) :</a:t>
            </a:r>
          </a:p>
          <a:p>
            <a:pPr lvl="1">
              <a:buFont typeface="Wingdings" panose="05000000000000000000" pitchFamily="2" charset="2"/>
              <a:buChar char="§"/>
            </a:pPr>
            <a:r>
              <a:rPr lang="en-US" altLang="ko-KR" sz="1400" b="1" dirty="0"/>
              <a:t>To interact with Kubernetes, you also need the “</a:t>
            </a:r>
            <a:r>
              <a:rPr lang="en-US" altLang="ko-KR" sz="1400" b="1" dirty="0" err="1"/>
              <a:t>kubectl</a:t>
            </a:r>
            <a:r>
              <a:rPr lang="en-US" altLang="ko-KR" sz="1400" b="1" dirty="0"/>
              <a:t> CLI” client</a:t>
            </a:r>
            <a:r>
              <a:rPr lang="en-US" altLang="ko-KR" sz="1400" dirty="0"/>
              <a:t>. Again, all you need to do install it. You can use the following commands. Here I assume that we are using </a:t>
            </a:r>
            <a:r>
              <a:rPr lang="en-US" altLang="ko-KR" sz="1400" b="1" dirty="0"/>
              <a:t>Ubuntu Linux 22.04(or 20.04) </a:t>
            </a:r>
            <a:r>
              <a:rPr lang="en-US" altLang="ko-KR" sz="1400" dirty="0"/>
              <a:t>for the host operating system. For </a:t>
            </a:r>
            <a:r>
              <a:rPr lang="en-US" altLang="ko-KR" sz="1400" b="1" dirty="0" err="1"/>
              <a:t>MaxOS</a:t>
            </a:r>
            <a:r>
              <a:rPr lang="en-US" altLang="ko-KR" sz="1400" b="1" dirty="0"/>
              <a:t>,</a:t>
            </a:r>
            <a:r>
              <a:rPr lang="en-US" altLang="ko-KR" sz="1400" dirty="0"/>
              <a:t> you need to see the </a:t>
            </a:r>
            <a:r>
              <a:rPr lang="en-US" altLang="ko-KR" sz="1400" b="1" dirty="0">
                <a:hlinkClick r:id="rId2"/>
              </a:rPr>
              <a:t>https://kubernetes.io/docs/tasks/tools/install-kubectl-macos/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In the above commands, you can find that “</a:t>
            </a:r>
            <a:r>
              <a:rPr lang="en-US" altLang="ko-KR" sz="1400" b="1" dirty="0" err="1"/>
              <a:t>kubelet</a:t>
            </a:r>
            <a:r>
              <a:rPr lang="en-US" altLang="ko-KR" sz="1400" b="1" dirty="0"/>
              <a:t>, </a:t>
            </a:r>
            <a:r>
              <a:rPr lang="en-US" altLang="ko-KR" sz="1400" b="1" dirty="0" err="1"/>
              <a:t>kubeadm</a:t>
            </a:r>
            <a:r>
              <a:rPr lang="en-US" altLang="ko-KR" sz="1400" b="1" dirty="0"/>
              <a:t> and </a:t>
            </a:r>
            <a:r>
              <a:rPr lang="en-US" altLang="ko-KR" sz="1400" b="1" dirty="0" err="1"/>
              <a:t>kubectl</a:t>
            </a:r>
            <a:r>
              <a:rPr lang="en-US" altLang="ko-KR" sz="1400" b="1" dirty="0"/>
              <a:t>” will be installed on your Ubuntu Linux. The last line is for marking the programs not to be updated automatically with “$ </a:t>
            </a:r>
            <a:r>
              <a:rPr lang="en-US" altLang="ko-KR" sz="1400" b="1" dirty="0" err="1"/>
              <a:t>sudo</a:t>
            </a:r>
            <a:r>
              <a:rPr lang="en-US" altLang="ko-KR" sz="1400" b="1" dirty="0"/>
              <a:t> apt upgrade”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14CEB64-96DA-68C7-9FB6-4413C64F40AB}"/>
              </a:ext>
            </a:extLst>
          </p:cNvPr>
          <p:cNvSpPr txBox="1"/>
          <p:nvPr/>
        </p:nvSpPr>
        <p:spPr>
          <a:xfrm>
            <a:off x="2496535" y="1904266"/>
            <a:ext cx="7198929" cy="116955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apt update</a:t>
            </a:r>
          </a:p>
          <a:p>
            <a:r>
              <a:rPr lang="en-US" altLang="ko-KR" sz="1000" b="1" dirty="0"/>
              <a:t>$ </a:t>
            </a:r>
            <a:r>
              <a:rPr lang="en-US" altLang="ko-KR" sz="1000" b="1" dirty="0" err="1"/>
              <a:t>sudo</a:t>
            </a:r>
            <a:r>
              <a:rPr lang="en-US" altLang="ko-KR" sz="1000" b="1" dirty="0"/>
              <a:t> apt -y install curl apt-transport-https</a:t>
            </a:r>
          </a:p>
          <a:p>
            <a:r>
              <a:rPr lang="en-US" altLang="ko-KR" sz="1000" b="1" dirty="0"/>
              <a:t>$ curl -s https://packages.cloud.google.com/apt/doc/apt-key.gpg | </a:t>
            </a:r>
            <a:r>
              <a:rPr lang="en-US" altLang="ko-KR" sz="1000" b="1" dirty="0" err="1"/>
              <a:t>sudo</a:t>
            </a:r>
            <a:r>
              <a:rPr lang="en-US" altLang="ko-KR" sz="1000" b="1" dirty="0"/>
              <a:t> apt-key add -</a:t>
            </a:r>
          </a:p>
          <a:p>
            <a:r>
              <a:rPr lang="en-US" altLang="ko-KR" sz="1000" b="1" dirty="0"/>
              <a:t>$ echo "deb https://apt.kubernetes.io/ </a:t>
            </a:r>
            <a:r>
              <a:rPr lang="en-US" altLang="ko-KR" sz="1000" b="1" dirty="0" err="1"/>
              <a:t>kubernetes-xenial</a:t>
            </a:r>
            <a:r>
              <a:rPr lang="en-US" altLang="ko-KR" sz="1000" b="1" dirty="0"/>
              <a:t> main" | </a:t>
            </a:r>
            <a:r>
              <a:rPr lang="en-US" altLang="ko-KR" sz="1000" b="1" dirty="0" err="1"/>
              <a:t>sudo</a:t>
            </a:r>
            <a:r>
              <a:rPr lang="en-US" altLang="ko-KR" sz="1000" b="1" dirty="0"/>
              <a:t> tee /</a:t>
            </a:r>
            <a:r>
              <a:rPr lang="en-US" altLang="ko-KR" sz="1000" b="1" dirty="0" err="1"/>
              <a:t>etc</a:t>
            </a:r>
            <a:r>
              <a:rPr lang="en-US" altLang="ko-KR" sz="1000" b="1" dirty="0"/>
              <a:t>/apt/</a:t>
            </a:r>
            <a:r>
              <a:rPr lang="en-US" altLang="ko-KR" sz="1000" b="1" dirty="0" err="1"/>
              <a:t>sources.list.d</a:t>
            </a:r>
            <a:r>
              <a:rPr lang="en-US" altLang="ko-KR" sz="1000" b="1" dirty="0"/>
              <a:t>/</a:t>
            </a:r>
            <a:r>
              <a:rPr lang="en-US" altLang="ko-KR" sz="1000" b="1" dirty="0" err="1"/>
              <a:t>kubernetes.list</a:t>
            </a:r>
            <a:endParaRPr lang="en-US" altLang="ko-KR" sz="1000" b="1" dirty="0"/>
          </a:p>
          <a:p>
            <a:r>
              <a:rPr lang="en-US" altLang="ko-KR" sz="1000" b="1" dirty="0"/>
              <a:t>$ </a:t>
            </a:r>
            <a:r>
              <a:rPr lang="en-US" altLang="ko-KR" sz="1000" b="1" dirty="0" err="1"/>
              <a:t>sudo</a:t>
            </a:r>
            <a:r>
              <a:rPr lang="en-US" altLang="ko-KR" sz="1000" b="1" dirty="0"/>
              <a:t> apt update</a:t>
            </a:r>
          </a:p>
          <a:p>
            <a:r>
              <a:rPr lang="en-US" altLang="ko-KR" sz="1000" b="1" dirty="0"/>
              <a:t>$ </a:t>
            </a:r>
            <a:r>
              <a:rPr lang="en-US" altLang="ko-KR" sz="1000" b="1" dirty="0" err="1"/>
              <a:t>sudo</a:t>
            </a:r>
            <a:r>
              <a:rPr lang="en-US" altLang="ko-KR" sz="1000" b="1" dirty="0"/>
              <a:t> apt -y install vim git curl </a:t>
            </a:r>
            <a:r>
              <a:rPr lang="en-US" altLang="ko-KR" sz="1000" b="1" dirty="0" err="1"/>
              <a:t>wget</a:t>
            </a:r>
            <a:r>
              <a:rPr lang="en-US" altLang="ko-KR" sz="1000" b="1" dirty="0"/>
              <a:t> </a:t>
            </a:r>
            <a:r>
              <a:rPr lang="en-US" altLang="ko-KR" sz="1000" b="1" dirty="0" err="1">
                <a:solidFill>
                  <a:srgbClr val="FF0000"/>
                </a:solidFill>
              </a:rPr>
              <a:t>kubelet</a:t>
            </a:r>
            <a:r>
              <a:rPr lang="en-US" altLang="ko-KR" sz="1000" b="1" dirty="0">
                <a:solidFill>
                  <a:srgbClr val="FF0000"/>
                </a:solidFill>
              </a:rPr>
              <a:t> </a:t>
            </a:r>
            <a:r>
              <a:rPr lang="en-US" altLang="ko-KR" sz="1000" b="1" dirty="0" err="1">
                <a:solidFill>
                  <a:srgbClr val="FF0000"/>
                </a:solidFill>
              </a:rPr>
              <a:t>kubeadm</a:t>
            </a:r>
            <a:r>
              <a:rPr lang="en-US" altLang="ko-KR" sz="1000" b="1" dirty="0">
                <a:solidFill>
                  <a:srgbClr val="FF0000"/>
                </a:solidFill>
              </a:rPr>
              <a:t> </a:t>
            </a:r>
            <a:r>
              <a:rPr lang="en-US" altLang="ko-KR" sz="1000" b="1" dirty="0" err="1">
                <a:solidFill>
                  <a:srgbClr val="FF0000"/>
                </a:solidFill>
              </a:rPr>
              <a:t>kubectl</a:t>
            </a:r>
            <a:endParaRPr lang="en-US" altLang="ko-KR" sz="1000" b="1" dirty="0">
              <a:solidFill>
                <a:srgbClr val="FF0000"/>
              </a:solidFill>
            </a:endParaRPr>
          </a:p>
          <a:p>
            <a:r>
              <a:rPr lang="en-US" altLang="ko-KR" sz="1000" b="1" dirty="0">
                <a:solidFill>
                  <a:srgbClr val="FF0000"/>
                </a:solidFill>
              </a:rPr>
              <a:t>$ </a:t>
            </a:r>
            <a:r>
              <a:rPr lang="en-US" altLang="ko-KR" sz="1000" b="1" dirty="0" err="1">
                <a:solidFill>
                  <a:srgbClr val="FF0000"/>
                </a:solidFill>
              </a:rPr>
              <a:t>sudo</a:t>
            </a:r>
            <a:r>
              <a:rPr lang="en-US" altLang="ko-KR" sz="1000" b="1" dirty="0">
                <a:solidFill>
                  <a:srgbClr val="FF0000"/>
                </a:solidFill>
              </a:rPr>
              <a:t> apt-mark hold </a:t>
            </a:r>
            <a:r>
              <a:rPr lang="en-US" altLang="ko-KR" sz="1000" b="1" dirty="0" err="1">
                <a:solidFill>
                  <a:srgbClr val="FF0000"/>
                </a:solidFill>
              </a:rPr>
              <a:t>kubelet</a:t>
            </a:r>
            <a:r>
              <a:rPr lang="en-US" altLang="ko-KR" sz="1000" b="1" dirty="0">
                <a:solidFill>
                  <a:srgbClr val="FF0000"/>
                </a:solidFill>
              </a:rPr>
              <a:t> </a:t>
            </a:r>
            <a:r>
              <a:rPr lang="en-US" altLang="ko-KR" sz="1000" b="1" dirty="0" err="1">
                <a:solidFill>
                  <a:srgbClr val="FF0000"/>
                </a:solidFill>
              </a:rPr>
              <a:t>kubeadm</a:t>
            </a:r>
            <a:r>
              <a:rPr lang="en-US" altLang="ko-KR" sz="1000" b="1" dirty="0">
                <a:solidFill>
                  <a:srgbClr val="FF0000"/>
                </a:solidFill>
              </a:rPr>
              <a:t> </a:t>
            </a:r>
            <a:r>
              <a:rPr lang="en-US" altLang="ko-KR" sz="1000" b="1" dirty="0" err="1">
                <a:solidFill>
                  <a:srgbClr val="FF0000"/>
                </a:solidFill>
              </a:rPr>
              <a:t>kubectl</a:t>
            </a:r>
            <a:endParaRPr lang="ko-KR" altLang="en-US" sz="1000" b="1" dirty="0">
              <a:solidFill>
                <a:srgbClr val="FF0000"/>
              </a:solidFill>
            </a:endParaRPr>
          </a:p>
        </p:txBody>
      </p:sp>
      <p:grpSp>
        <p:nvGrpSpPr>
          <p:cNvPr id="12" name="그룹 11">
            <a:extLst>
              <a:ext uri="{FF2B5EF4-FFF2-40B4-BE49-F238E27FC236}">
                <a16:creationId xmlns:a16="http://schemas.microsoft.com/office/drawing/2014/main" id="{65C9A53A-A434-80DB-923A-96E2681CD271}"/>
              </a:ext>
            </a:extLst>
          </p:cNvPr>
          <p:cNvGrpSpPr/>
          <p:nvPr/>
        </p:nvGrpSpPr>
        <p:grpSpPr>
          <a:xfrm>
            <a:off x="1668517" y="4103467"/>
            <a:ext cx="8854966" cy="1402036"/>
            <a:chOff x="1668516" y="4040405"/>
            <a:chExt cx="8854966" cy="1402036"/>
          </a:xfrm>
        </p:grpSpPr>
        <p:pic>
          <p:nvPicPr>
            <p:cNvPr id="10" name="그림 9">
              <a:extLst>
                <a:ext uri="{FF2B5EF4-FFF2-40B4-BE49-F238E27FC236}">
                  <a16:creationId xmlns:a16="http://schemas.microsoft.com/office/drawing/2014/main" id="{CA5088DB-ABE5-9E3A-7E4B-41C001AC63B1}"/>
                </a:ext>
              </a:extLst>
            </p:cNvPr>
            <p:cNvPicPr>
              <a:picLocks noChangeAspect="1"/>
            </p:cNvPicPr>
            <p:nvPr/>
          </p:nvPicPr>
          <p:blipFill>
            <a:blip r:embed="rId3"/>
            <a:stretch>
              <a:fillRect/>
            </a:stretch>
          </p:blipFill>
          <p:spPr>
            <a:xfrm>
              <a:off x="1668516" y="4040405"/>
              <a:ext cx="8854966" cy="1402036"/>
            </a:xfrm>
            <a:prstGeom prst="rect">
              <a:avLst/>
            </a:prstGeom>
          </p:spPr>
        </p:pic>
        <p:sp>
          <p:nvSpPr>
            <p:cNvPr id="11" name="직사각형 10">
              <a:extLst>
                <a:ext uri="{FF2B5EF4-FFF2-40B4-BE49-F238E27FC236}">
                  <a16:creationId xmlns:a16="http://schemas.microsoft.com/office/drawing/2014/main" id="{E0D74D99-AA2A-FD7D-5A42-022D159AAE39}"/>
                </a:ext>
              </a:extLst>
            </p:cNvPr>
            <p:cNvSpPr/>
            <p:nvPr/>
          </p:nvSpPr>
          <p:spPr>
            <a:xfrm>
              <a:off x="1734207" y="4564117"/>
              <a:ext cx="1087821" cy="425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301768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Checking to See the Cluster Is up and </a:t>
            </a:r>
            <a:r>
              <a:rPr lang="en-US" altLang="ko-KR" sz="1800" b="1" dirty="0" err="1"/>
              <a:t>Kubectl</a:t>
            </a:r>
            <a:r>
              <a:rPr lang="en-US" altLang="ko-KR" sz="1800" b="1" dirty="0"/>
              <a:t> Can Talk to It :</a:t>
            </a:r>
          </a:p>
          <a:p>
            <a:pPr lvl="1">
              <a:buFont typeface="Wingdings" panose="05000000000000000000" pitchFamily="2" charset="2"/>
              <a:buChar char="§"/>
            </a:pPr>
            <a:r>
              <a:rPr lang="en-US" altLang="ko-KR" sz="1400" dirty="0"/>
              <a:t>To verify your cluster is working, you can use the “</a:t>
            </a:r>
            <a:r>
              <a:rPr lang="en-US" altLang="ko-KR" sz="1400" b="1" dirty="0" err="1"/>
              <a:t>kubectl</a:t>
            </a:r>
            <a:r>
              <a:rPr lang="en-US" altLang="ko-KR" sz="1400" b="1" dirty="0"/>
              <a:t> cluster-info</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above screenshot shows the cluster is up</a:t>
            </a:r>
            <a:r>
              <a:rPr lang="en-US" altLang="ko-KR" sz="1400" dirty="0"/>
              <a:t>. </a:t>
            </a:r>
            <a:r>
              <a:rPr lang="en-US" altLang="ko-KR" sz="1400" b="1" dirty="0"/>
              <a:t>It shows the URLs of the various Kubernetes components, including the API server and the web console</a:t>
            </a:r>
            <a:r>
              <a:rPr lang="en-US" altLang="ko-KR" sz="1400" dirty="0"/>
              <a:t>.  </a:t>
            </a:r>
            <a:r>
              <a:rPr lang="en-US" altLang="ko-KR" sz="1400" b="1" dirty="0"/>
              <a:t>You can run “</a:t>
            </a:r>
            <a:r>
              <a:rPr lang="en-US" altLang="ko-KR" sz="1400" b="1" dirty="0" err="1">
                <a:solidFill>
                  <a:srgbClr val="FF0000"/>
                </a:solidFill>
              </a:rPr>
              <a:t>minikube</a:t>
            </a:r>
            <a:r>
              <a:rPr lang="en-US" altLang="ko-KR" sz="1400" b="1" dirty="0">
                <a:solidFill>
                  <a:srgbClr val="FF0000"/>
                </a:solidFill>
              </a:rPr>
              <a:t> </a:t>
            </a:r>
            <a:r>
              <a:rPr lang="en-US" altLang="ko-KR" sz="1400" b="1" dirty="0" err="1">
                <a:solidFill>
                  <a:srgbClr val="FF0000"/>
                </a:solidFill>
              </a:rPr>
              <a:t>ssh</a:t>
            </a:r>
            <a:r>
              <a:rPr lang="en-US" altLang="ko-KR" sz="1400" b="1" dirty="0"/>
              <a:t>” </a:t>
            </a:r>
            <a:r>
              <a:rPr lang="en-US" altLang="ko-KR" sz="1400" b="1" dirty="0">
                <a:solidFill>
                  <a:srgbClr val="FF0000"/>
                </a:solidFill>
              </a:rPr>
              <a:t>to log into the “</a:t>
            </a:r>
            <a:r>
              <a:rPr lang="en-US" altLang="ko-KR" sz="1400" b="1" dirty="0" err="1">
                <a:solidFill>
                  <a:srgbClr val="FF0000"/>
                </a:solidFill>
              </a:rPr>
              <a:t>Minikube</a:t>
            </a:r>
            <a:r>
              <a:rPr lang="en-US" altLang="ko-KR" sz="1400" b="1" dirty="0">
                <a:solidFill>
                  <a:srgbClr val="FF0000"/>
                </a:solidFill>
              </a:rPr>
              <a:t> VM” </a:t>
            </a:r>
            <a:r>
              <a:rPr lang="en-US" altLang="ko-KR" sz="1400" b="1" dirty="0"/>
              <a:t>and explore it from the inside</a:t>
            </a:r>
            <a:r>
              <a:rPr lang="en-US" altLang="ko-KR" sz="1400" dirty="0"/>
              <a:t>. For example, you may want to see what processes are running on the node. </a:t>
            </a:r>
            <a:r>
              <a:rPr lang="en-US" altLang="ko-KR" sz="1400" b="1" dirty="0"/>
              <a:t>To exit from the “</a:t>
            </a:r>
            <a:r>
              <a:rPr lang="en-US" altLang="ko-KR" sz="1400" b="1" dirty="0" err="1"/>
              <a:t>minikube</a:t>
            </a:r>
            <a:r>
              <a:rPr lang="en-US" altLang="ko-KR" sz="1400" b="1" dirty="0"/>
              <a:t> </a:t>
            </a:r>
            <a:r>
              <a:rPr lang="en-US" altLang="ko-KR" sz="1400" b="1" dirty="0" err="1"/>
              <a:t>ssh</a:t>
            </a:r>
            <a:r>
              <a:rPr lang="en-US" altLang="ko-KR" sz="1400" b="1" dirty="0"/>
              <a:t>”, you can just type “</a:t>
            </a:r>
            <a:r>
              <a:rPr lang="en-US" altLang="ko-KR" sz="1400" b="1" dirty="0">
                <a:solidFill>
                  <a:srgbClr val="FF0000"/>
                </a:solidFill>
              </a:rPr>
              <a:t>exit</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0AC50CC-D8F6-BF6A-6A71-D98865F153D0}"/>
              </a:ext>
            </a:extLst>
          </p:cNvPr>
          <p:cNvGrpSpPr/>
          <p:nvPr/>
        </p:nvGrpSpPr>
        <p:grpSpPr>
          <a:xfrm>
            <a:off x="1321676" y="1409987"/>
            <a:ext cx="9548648" cy="4006493"/>
            <a:chOff x="1321676" y="1529233"/>
            <a:chExt cx="9548648" cy="4006493"/>
          </a:xfrm>
        </p:grpSpPr>
        <p:grpSp>
          <p:nvGrpSpPr>
            <p:cNvPr id="13" name="그룹 12">
              <a:extLst>
                <a:ext uri="{FF2B5EF4-FFF2-40B4-BE49-F238E27FC236}">
                  <a16:creationId xmlns:a16="http://schemas.microsoft.com/office/drawing/2014/main" id="{07EC2E61-8AD9-EA1C-1435-33DD00E3178A}"/>
                </a:ext>
              </a:extLst>
            </p:cNvPr>
            <p:cNvGrpSpPr/>
            <p:nvPr/>
          </p:nvGrpSpPr>
          <p:grpSpPr>
            <a:xfrm>
              <a:off x="1321676" y="1529233"/>
              <a:ext cx="9548648" cy="4006493"/>
              <a:chOff x="1321676" y="1529233"/>
              <a:chExt cx="9548648" cy="4006493"/>
            </a:xfrm>
          </p:grpSpPr>
          <p:grpSp>
            <p:nvGrpSpPr>
              <p:cNvPr id="10" name="그룹 9">
                <a:extLst>
                  <a:ext uri="{FF2B5EF4-FFF2-40B4-BE49-F238E27FC236}">
                    <a16:creationId xmlns:a16="http://schemas.microsoft.com/office/drawing/2014/main" id="{E682CE5F-2068-1F94-EA7D-2A596C6402ED}"/>
                  </a:ext>
                </a:extLst>
              </p:cNvPr>
              <p:cNvGrpSpPr/>
              <p:nvPr/>
            </p:nvGrpSpPr>
            <p:grpSpPr>
              <a:xfrm>
                <a:off x="1321676" y="1529233"/>
                <a:ext cx="9548648" cy="1511869"/>
                <a:chOff x="1321676" y="1584412"/>
                <a:chExt cx="9548648" cy="1511869"/>
              </a:xfrm>
            </p:grpSpPr>
            <p:pic>
              <p:nvPicPr>
                <p:cNvPr id="8" name="그림 7">
                  <a:extLst>
                    <a:ext uri="{FF2B5EF4-FFF2-40B4-BE49-F238E27FC236}">
                      <a16:creationId xmlns:a16="http://schemas.microsoft.com/office/drawing/2014/main" id="{5A69989C-F90E-5AFF-2551-4E04ED47B3FD}"/>
                    </a:ext>
                  </a:extLst>
                </p:cNvPr>
                <p:cNvPicPr>
                  <a:picLocks noChangeAspect="1"/>
                </p:cNvPicPr>
                <p:nvPr/>
              </p:nvPicPr>
              <p:blipFill>
                <a:blip r:embed="rId2"/>
                <a:stretch>
                  <a:fillRect/>
                </a:stretch>
              </p:blipFill>
              <p:spPr>
                <a:xfrm>
                  <a:off x="1321676" y="1584412"/>
                  <a:ext cx="9548648" cy="1511869"/>
                </a:xfrm>
                <a:prstGeom prst="rect">
                  <a:avLst/>
                </a:prstGeom>
              </p:spPr>
            </p:pic>
            <p:sp>
              <p:nvSpPr>
                <p:cNvPr id="9" name="직사각형 8">
                  <a:extLst>
                    <a:ext uri="{FF2B5EF4-FFF2-40B4-BE49-F238E27FC236}">
                      <a16:creationId xmlns:a16="http://schemas.microsoft.com/office/drawing/2014/main" id="{4E7EFAD3-145B-7D6B-499C-9C3E71BA87C3}"/>
                    </a:ext>
                  </a:extLst>
                </p:cNvPr>
                <p:cNvSpPr/>
                <p:nvPr/>
              </p:nvSpPr>
              <p:spPr>
                <a:xfrm>
                  <a:off x="5383924" y="2025869"/>
                  <a:ext cx="1347952" cy="1576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C5B82CAD-C4AB-32D9-7AF4-FEEF98A36118}"/>
                  </a:ext>
                </a:extLst>
              </p:cNvPr>
              <p:cNvPicPr>
                <a:picLocks noChangeAspect="1"/>
              </p:cNvPicPr>
              <p:nvPr/>
            </p:nvPicPr>
            <p:blipFill>
              <a:blip r:embed="rId3"/>
              <a:stretch>
                <a:fillRect/>
              </a:stretch>
            </p:blipFill>
            <p:spPr>
              <a:xfrm>
                <a:off x="1322236" y="3093150"/>
                <a:ext cx="9547528" cy="2442576"/>
              </a:xfrm>
              <a:prstGeom prst="rect">
                <a:avLst/>
              </a:prstGeom>
            </p:spPr>
          </p:pic>
        </p:grpSp>
        <p:sp>
          <p:nvSpPr>
            <p:cNvPr id="14" name="직사각형 13">
              <a:extLst>
                <a:ext uri="{FF2B5EF4-FFF2-40B4-BE49-F238E27FC236}">
                  <a16:creationId xmlns:a16="http://schemas.microsoft.com/office/drawing/2014/main" id="{2E211240-6F32-26CA-092B-5193E4DC078E}"/>
                </a:ext>
              </a:extLst>
            </p:cNvPr>
            <p:cNvSpPr/>
            <p:nvPr/>
          </p:nvSpPr>
          <p:spPr>
            <a:xfrm>
              <a:off x="5383924" y="3515711"/>
              <a:ext cx="827690"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172206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an Overview of Your Cluster :</a:t>
            </a:r>
          </a:p>
          <a:p>
            <a:pPr lvl="1">
              <a:buFont typeface="Wingdings" panose="05000000000000000000" pitchFamily="2" charset="2"/>
              <a:buChar char="§"/>
            </a:pPr>
            <a:r>
              <a:rPr lang="en-US" altLang="ko-KR" sz="1400" dirty="0"/>
              <a:t>To get a basic idea of what your cluster looks like and </a:t>
            </a:r>
            <a:r>
              <a:rPr lang="en-US" altLang="ko-KR" sz="1400" b="1" dirty="0"/>
              <a:t>how to interact with </a:t>
            </a:r>
            <a:r>
              <a:rPr lang="en-US" altLang="ko-KR" sz="1400" dirty="0"/>
              <a:t>it, see the following figure. </a:t>
            </a:r>
            <a:r>
              <a:rPr lang="en-US" altLang="ko-KR" sz="1400" b="1" dirty="0"/>
              <a:t>Each node runs Docker, the </a:t>
            </a:r>
            <a:r>
              <a:rPr lang="en-US" altLang="ko-KR" sz="1400" b="1" dirty="0" err="1"/>
              <a:t>Kubelet</a:t>
            </a:r>
            <a:r>
              <a:rPr lang="en-US" altLang="ko-KR" sz="1400" b="1" dirty="0"/>
              <a:t> and the </a:t>
            </a:r>
            <a:r>
              <a:rPr lang="en-US" altLang="ko-KR" sz="1400" b="1" dirty="0" err="1">
                <a:solidFill>
                  <a:srgbClr val="FF0000"/>
                </a:solidFill>
              </a:rPr>
              <a:t>kube</a:t>
            </a:r>
            <a:r>
              <a:rPr lang="en-US" altLang="ko-KR" sz="1400" b="1" dirty="0">
                <a:solidFill>
                  <a:srgbClr val="FF0000"/>
                </a:solidFill>
              </a:rPr>
              <a:t>-proxy</a:t>
            </a:r>
            <a:r>
              <a:rPr lang="en-US" altLang="ko-KR" sz="1400" dirty="0"/>
              <a:t>. </a:t>
            </a:r>
            <a:r>
              <a:rPr lang="en-US" altLang="ko-KR" sz="1400" b="1" dirty="0"/>
              <a:t>You’ll interact with the cluster through the </a:t>
            </a:r>
            <a:r>
              <a:rPr lang="en-US" altLang="ko-KR" sz="1400" b="1" dirty="0" err="1"/>
              <a:t>kubectl</a:t>
            </a:r>
            <a:r>
              <a:rPr lang="en-US" altLang="ko-KR" sz="1400" b="1" dirty="0"/>
              <a:t> command line client, which issues REST requests to the </a:t>
            </a:r>
            <a:r>
              <a:rPr lang="en-US" altLang="ko-KR" sz="1400" b="1" dirty="0">
                <a:solidFill>
                  <a:srgbClr val="FF0000"/>
                </a:solidFill>
              </a:rPr>
              <a:t>Kubernetes API server </a:t>
            </a:r>
            <a:r>
              <a:rPr lang="en-US" altLang="ko-KR" sz="1400" b="1" dirty="0"/>
              <a:t>running on the master node.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8750B02-2080-7E07-6D51-AD1083F1B079}"/>
              </a:ext>
            </a:extLst>
          </p:cNvPr>
          <p:cNvPicPr>
            <a:picLocks noChangeAspect="1"/>
          </p:cNvPicPr>
          <p:nvPr/>
        </p:nvPicPr>
        <p:blipFill>
          <a:blip r:embed="rId2"/>
          <a:stretch>
            <a:fillRect/>
          </a:stretch>
        </p:blipFill>
        <p:spPr>
          <a:xfrm>
            <a:off x="3283974" y="1912240"/>
            <a:ext cx="5624052" cy="4218039"/>
          </a:xfrm>
          <a:prstGeom prst="rect">
            <a:avLst/>
          </a:prstGeom>
        </p:spPr>
      </p:pic>
    </p:spTree>
    <p:extLst>
      <p:ext uri="{BB962C8B-B14F-4D97-AF65-F5344CB8AC3E}">
        <p14:creationId xmlns:p14="http://schemas.microsoft.com/office/powerpoint/2010/main" val="41019007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If the Cluster is up by Listing Cluster Nodes :</a:t>
            </a:r>
          </a:p>
          <a:p>
            <a:pPr lvl="1">
              <a:buFont typeface="Wingdings" panose="05000000000000000000" pitchFamily="2" charset="2"/>
              <a:buChar char="§"/>
            </a:pPr>
            <a:r>
              <a:rPr lang="en-US" altLang="ko-KR" sz="1400" dirty="0"/>
              <a:t>You’ll use the “</a:t>
            </a:r>
            <a:r>
              <a:rPr lang="en-US" altLang="ko-KR" sz="1400" b="1" dirty="0" err="1"/>
              <a:t>kubectl</a:t>
            </a:r>
            <a:r>
              <a:rPr lang="en-US" altLang="ko-KR" sz="1400" dirty="0"/>
              <a:t>” command now to list all the nodes in your cluster, as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err="1">
                <a:solidFill>
                  <a:srgbClr val="FF0000"/>
                </a:solidFill>
              </a:rPr>
              <a:t>kubectl</a:t>
            </a:r>
            <a:r>
              <a:rPr lang="en-US" altLang="ko-KR" sz="1400" b="1" dirty="0">
                <a:solidFill>
                  <a:srgbClr val="FF0000"/>
                </a:solidFill>
              </a:rPr>
              <a:t> get</a:t>
            </a:r>
            <a:r>
              <a:rPr lang="en-US" altLang="ko-KR" sz="1400" b="1" dirty="0"/>
              <a:t>” command can list all kinds of Kubernetes objects</a:t>
            </a:r>
            <a:r>
              <a:rPr lang="en-US" altLang="ko-KR" sz="1400" dirty="0"/>
              <a:t>. You’ll use it constantly, but it usually shows only the most basic information for the listed objects.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EBAE0439-F06F-EB11-24FF-B3710F1A6FED}"/>
              </a:ext>
            </a:extLst>
          </p:cNvPr>
          <p:cNvGrpSpPr/>
          <p:nvPr/>
        </p:nvGrpSpPr>
        <p:grpSpPr>
          <a:xfrm>
            <a:off x="1089134" y="1651406"/>
            <a:ext cx="10013731" cy="2146923"/>
            <a:chOff x="1089133" y="1572579"/>
            <a:chExt cx="10013731" cy="2146923"/>
          </a:xfrm>
        </p:grpSpPr>
        <p:grpSp>
          <p:nvGrpSpPr>
            <p:cNvPr id="10" name="그룹 9">
              <a:extLst>
                <a:ext uri="{FF2B5EF4-FFF2-40B4-BE49-F238E27FC236}">
                  <a16:creationId xmlns:a16="http://schemas.microsoft.com/office/drawing/2014/main" id="{23CBD7FA-028A-21CF-D0AF-7103CC12A9F3}"/>
                </a:ext>
              </a:extLst>
            </p:cNvPr>
            <p:cNvGrpSpPr/>
            <p:nvPr/>
          </p:nvGrpSpPr>
          <p:grpSpPr>
            <a:xfrm>
              <a:off x="1089133" y="2133995"/>
              <a:ext cx="10013731" cy="1585507"/>
              <a:chOff x="1089134" y="1573836"/>
              <a:chExt cx="10013731" cy="1585507"/>
            </a:xfrm>
          </p:grpSpPr>
          <p:pic>
            <p:nvPicPr>
              <p:cNvPr id="8" name="그림 7">
                <a:extLst>
                  <a:ext uri="{FF2B5EF4-FFF2-40B4-BE49-F238E27FC236}">
                    <a16:creationId xmlns:a16="http://schemas.microsoft.com/office/drawing/2014/main" id="{B6171793-757A-067C-6004-57B871FC6087}"/>
                  </a:ext>
                </a:extLst>
              </p:cNvPr>
              <p:cNvPicPr>
                <a:picLocks noChangeAspect="1"/>
              </p:cNvPicPr>
              <p:nvPr/>
            </p:nvPicPr>
            <p:blipFill>
              <a:blip r:embed="rId2"/>
              <a:stretch>
                <a:fillRect/>
              </a:stretch>
            </p:blipFill>
            <p:spPr>
              <a:xfrm>
                <a:off x="1089134" y="1573836"/>
                <a:ext cx="10013731" cy="1585507"/>
              </a:xfrm>
              <a:prstGeom prst="rect">
                <a:avLst/>
              </a:prstGeom>
            </p:spPr>
          </p:pic>
          <p:sp>
            <p:nvSpPr>
              <p:cNvPr id="9" name="직사각형 8">
                <a:extLst>
                  <a:ext uri="{FF2B5EF4-FFF2-40B4-BE49-F238E27FC236}">
                    <a16:creationId xmlns:a16="http://schemas.microsoft.com/office/drawing/2014/main" id="{88D04321-F839-713F-E611-3DC4EE3EE61A}"/>
                  </a:ext>
                </a:extLst>
              </p:cNvPr>
              <p:cNvSpPr/>
              <p:nvPr/>
            </p:nvSpPr>
            <p:spPr>
              <a:xfrm>
                <a:off x="5344510" y="2033752"/>
                <a:ext cx="1221828"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E821C0A6-3CFF-E7FC-8D2E-FB8D4A0D64A7}"/>
                </a:ext>
              </a:extLst>
            </p:cNvPr>
            <p:cNvSpPr txBox="1"/>
            <p:nvPr/>
          </p:nvSpPr>
          <p:spPr>
            <a:xfrm>
              <a:off x="3138410" y="1572579"/>
              <a:ext cx="5915178" cy="246221"/>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nodes</a:t>
              </a:r>
              <a:endParaRPr lang="ko-KR" altLang="en-US" sz="1000" b="1" dirty="0">
                <a:solidFill>
                  <a:srgbClr val="FF0000"/>
                </a:solidFill>
              </a:endParaRPr>
            </a:p>
          </p:txBody>
        </p:sp>
        <p:sp>
          <p:nvSpPr>
            <p:cNvPr id="12" name="화살표: 아래쪽 11">
              <a:extLst>
                <a:ext uri="{FF2B5EF4-FFF2-40B4-BE49-F238E27FC236}">
                  <a16:creationId xmlns:a16="http://schemas.microsoft.com/office/drawing/2014/main" id="{DCE572AE-C432-8F47-C63F-E4E4CA3CE209}"/>
                </a:ext>
              </a:extLst>
            </p:cNvPr>
            <p:cNvSpPr/>
            <p:nvPr/>
          </p:nvSpPr>
          <p:spPr>
            <a:xfrm>
              <a:off x="5865429" y="1818800"/>
              <a:ext cx="461142" cy="294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973827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 Kubernetes Cluster(8/8)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Retrieving Additional Details of an Object :</a:t>
            </a:r>
          </a:p>
          <a:p>
            <a:pPr lvl="1">
              <a:buFont typeface="Wingdings" panose="05000000000000000000" pitchFamily="2" charset="2"/>
              <a:buChar char="§"/>
            </a:pPr>
            <a:r>
              <a:rPr lang="en-US" altLang="ko-KR" sz="1400" b="1" dirty="0"/>
              <a:t>To see more detailed information about an object, you can use the “</a:t>
            </a:r>
            <a:r>
              <a:rPr lang="en-US" altLang="ko-KR" sz="1400" b="1" dirty="0" err="1">
                <a:solidFill>
                  <a:srgbClr val="FF0000"/>
                </a:solidFill>
              </a:rPr>
              <a:t>kubectl</a:t>
            </a:r>
            <a:r>
              <a:rPr lang="en-US" altLang="ko-KR" sz="1400" b="1" dirty="0">
                <a:solidFill>
                  <a:srgbClr val="FF0000"/>
                </a:solidFill>
              </a:rPr>
              <a:t> describe</a:t>
            </a:r>
            <a:r>
              <a:rPr lang="en-US" altLang="ko-KR" sz="1400" b="1" dirty="0"/>
              <a:t>” command</a:t>
            </a:r>
            <a:r>
              <a:rPr lang="en-US" altLang="ko-KR" sz="1400" dirty="0"/>
              <a:t>, which shows much more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above output shows the node’s status, its CPU and memory data, system information, containers running on the node, and much more</a:t>
            </a:r>
            <a:r>
              <a:rPr lang="en-US" altLang="ko-KR" sz="1400" dirty="0"/>
              <a:t>. </a:t>
            </a:r>
          </a:p>
          <a:p>
            <a:pPr lvl="1">
              <a:buFont typeface="Wingdings" panose="05000000000000000000" pitchFamily="2" charset="2"/>
              <a:buChar char="§"/>
            </a:pPr>
            <a:r>
              <a:rPr lang="en-US" altLang="ko-KR" sz="1400" dirty="0"/>
              <a:t>In the above “</a:t>
            </a:r>
            <a:r>
              <a:rPr lang="en-US" altLang="ko-KR" sz="1400" b="1" dirty="0" err="1"/>
              <a:t>kubectl</a:t>
            </a:r>
            <a:r>
              <a:rPr lang="en-US" altLang="ko-KR" sz="1400" b="1" dirty="0"/>
              <a:t> describe</a:t>
            </a:r>
            <a:r>
              <a:rPr lang="en-US" altLang="ko-KR" sz="1400" dirty="0"/>
              <a:t>” command example, you specified the name of the node explicitly, but </a:t>
            </a:r>
            <a:r>
              <a:rPr lang="en-US" altLang="ko-KR" sz="1400" b="1" dirty="0"/>
              <a:t>you could also have performed a simple “</a:t>
            </a:r>
            <a:r>
              <a:rPr lang="en-US" altLang="ko-KR" sz="1400" b="1" dirty="0" err="1">
                <a:solidFill>
                  <a:srgbClr val="FF0000"/>
                </a:solidFill>
              </a:rPr>
              <a:t>kubectl</a:t>
            </a:r>
            <a:r>
              <a:rPr lang="en-US" altLang="ko-KR" sz="1400" b="1" dirty="0">
                <a:solidFill>
                  <a:srgbClr val="FF0000"/>
                </a:solidFill>
              </a:rPr>
              <a:t> describe node</a:t>
            </a:r>
            <a:r>
              <a:rPr lang="en-US" altLang="ko-KR" sz="1400" b="1" dirty="0"/>
              <a:t>” without typing the node’s name and it would print out a detailed description of all the nodes</a:t>
            </a:r>
            <a:r>
              <a:rPr lang="en-US" altLang="ko-KR" sz="1400" dirty="0"/>
              <a:t>.</a:t>
            </a:r>
          </a:p>
          <a:p>
            <a:pPr lvl="1">
              <a:buFont typeface="Wingdings" panose="05000000000000000000" pitchFamily="2" charset="2"/>
              <a:buChar char="§"/>
            </a:pPr>
            <a:r>
              <a:rPr lang="en-US" altLang="ko-KR" sz="1400" b="1" dirty="0"/>
              <a:t>NOTE : Running the describe and get commands without specifying the name of the object comes in handy when only one object of a given type exists</a:t>
            </a:r>
            <a:r>
              <a:rPr lang="en-US" altLang="ko-KR" sz="1400" dirty="0"/>
              <a:t>, so you don’t waste time typing or copy/pasting the object’s name.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BE3F8A6A-D507-FBCC-941E-40D1F4F62521}"/>
              </a:ext>
            </a:extLst>
          </p:cNvPr>
          <p:cNvGrpSpPr/>
          <p:nvPr/>
        </p:nvGrpSpPr>
        <p:grpSpPr>
          <a:xfrm>
            <a:off x="1187062" y="1510127"/>
            <a:ext cx="9817875" cy="3369301"/>
            <a:chOff x="1140371" y="1667782"/>
            <a:chExt cx="9903170" cy="3143619"/>
          </a:xfrm>
        </p:grpSpPr>
        <p:sp>
          <p:nvSpPr>
            <p:cNvPr id="8" name="TextBox 7">
              <a:extLst>
                <a:ext uri="{FF2B5EF4-FFF2-40B4-BE49-F238E27FC236}">
                  <a16:creationId xmlns:a16="http://schemas.microsoft.com/office/drawing/2014/main" id="{2535241B-A161-9ED0-931D-54F8FD4C2DB7}"/>
                </a:ext>
              </a:extLst>
            </p:cNvPr>
            <p:cNvSpPr txBox="1"/>
            <p:nvPr/>
          </p:nvSpPr>
          <p:spPr>
            <a:xfrm>
              <a:off x="3047343" y="1667782"/>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node </a:t>
              </a:r>
              <a:r>
                <a:rPr lang="en-US" altLang="ko-KR" sz="1000" b="1" dirty="0">
                  <a:solidFill>
                    <a:srgbClr val="FF0000"/>
                  </a:solidFill>
                </a:rPr>
                <a:t>&lt;</a:t>
              </a:r>
              <a:r>
                <a:rPr lang="en-US" altLang="ko-KR" sz="1000" b="1" dirty="0" err="1">
                  <a:solidFill>
                    <a:srgbClr val="FF0000"/>
                  </a:solidFill>
                </a:rPr>
                <a:t>node_name</a:t>
              </a:r>
              <a:r>
                <a:rPr lang="en-US" altLang="ko-KR" sz="1000" b="1" dirty="0">
                  <a:solidFill>
                    <a:srgbClr val="FF0000"/>
                  </a:solidFill>
                </a:rPr>
                <a:t>&gt;</a:t>
              </a:r>
            </a:p>
          </p:txBody>
        </p:sp>
        <p:sp>
          <p:nvSpPr>
            <p:cNvPr id="9" name="화살표: 아래쪽 8">
              <a:extLst>
                <a:ext uri="{FF2B5EF4-FFF2-40B4-BE49-F238E27FC236}">
                  <a16:creationId xmlns:a16="http://schemas.microsoft.com/office/drawing/2014/main" id="{39354BA4-889F-88D4-7C21-A302936EFC06}"/>
                </a:ext>
              </a:extLst>
            </p:cNvPr>
            <p:cNvSpPr/>
            <p:nvPr/>
          </p:nvSpPr>
          <p:spPr>
            <a:xfrm>
              <a:off x="5863458" y="1914003"/>
              <a:ext cx="465083" cy="30893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8EF29353-1713-593B-29F9-8AFF01FCB501}"/>
                </a:ext>
              </a:extLst>
            </p:cNvPr>
            <p:cNvGrpSpPr/>
            <p:nvPr/>
          </p:nvGrpSpPr>
          <p:grpSpPr>
            <a:xfrm>
              <a:off x="1140371" y="2252283"/>
              <a:ext cx="9903170" cy="2559118"/>
              <a:chOff x="381000" y="2271712"/>
              <a:chExt cx="12003524" cy="3442644"/>
            </a:xfrm>
          </p:grpSpPr>
          <p:pic>
            <p:nvPicPr>
              <p:cNvPr id="13" name="그림 12">
                <a:extLst>
                  <a:ext uri="{FF2B5EF4-FFF2-40B4-BE49-F238E27FC236}">
                    <a16:creationId xmlns:a16="http://schemas.microsoft.com/office/drawing/2014/main" id="{7CD50B4F-4114-35F9-2FA4-5C85C8CB6A35}"/>
                  </a:ext>
                </a:extLst>
              </p:cNvPr>
              <p:cNvPicPr>
                <a:picLocks noChangeAspect="1"/>
              </p:cNvPicPr>
              <p:nvPr/>
            </p:nvPicPr>
            <p:blipFill>
              <a:blip r:embed="rId2"/>
              <a:stretch>
                <a:fillRect/>
              </a:stretch>
            </p:blipFill>
            <p:spPr>
              <a:xfrm>
                <a:off x="954524" y="3399779"/>
                <a:ext cx="11430000" cy="2314577"/>
              </a:xfrm>
              <a:prstGeom prst="rect">
                <a:avLst/>
              </a:prstGeom>
              <a:ln>
                <a:solidFill>
                  <a:schemeClr val="bg1">
                    <a:lumMod val="50000"/>
                  </a:schemeClr>
                </a:solidFill>
              </a:ln>
            </p:spPr>
          </p:pic>
          <p:pic>
            <p:nvPicPr>
              <p:cNvPr id="11" name="그림 10">
                <a:extLst>
                  <a:ext uri="{FF2B5EF4-FFF2-40B4-BE49-F238E27FC236}">
                    <a16:creationId xmlns:a16="http://schemas.microsoft.com/office/drawing/2014/main" id="{98425E85-C1BD-B666-72B8-CDB5464624C1}"/>
                  </a:ext>
                </a:extLst>
              </p:cNvPr>
              <p:cNvPicPr>
                <a:picLocks noChangeAspect="1"/>
              </p:cNvPicPr>
              <p:nvPr/>
            </p:nvPicPr>
            <p:blipFill>
              <a:blip r:embed="rId3"/>
              <a:stretch>
                <a:fillRect/>
              </a:stretch>
            </p:blipFill>
            <p:spPr>
              <a:xfrm>
                <a:off x="381000" y="2271712"/>
                <a:ext cx="11430000" cy="2314575"/>
              </a:xfrm>
              <a:prstGeom prst="rect">
                <a:avLst/>
              </a:prstGeom>
              <a:ln>
                <a:solidFill>
                  <a:schemeClr val="bg1">
                    <a:lumMod val="50000"/>
                  </a:schemeClr>
                </a:solidFill>
              </a:ln>
            </p:spPr>
          </p:pic>
        </p:grpSp>
      </p:grpSp>
      <p:sp>
        <p:nvSpPr>
          <p:cNvPr id="16" name="직사각형 15">
            <a:extLst>
              <a:ext uri="{FF2B5EF4-FFF2-40B4-BE49-F238E27FC236}">
                <a16:creationId xmlns:a16="http://schemas.microsoft.com/office/drawing/2014/main" id="{851E215B-5CED-B1C4-246F-421B2BD1FACD}"/>
              </a:ext>
            </a:extLst>
          </p:cNvPr>
          <p:cNvSpPr/>
          <p:nvPr/>
        </p:nvSpPr>
        <p:spPr>
          <a:xfrm>
            <a:off x="5155324" y="2538249"/>
            <a:ext cx="1954924" cy="1813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7357098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an Alias and Command-line Completion for </a:t>
            </a:r>
            <a:r>
              <a:rPr lang="en-US" altLang="ko-KR" sz="2800" b="1" dirty="0" err="1"/>
              <a:t>Kubectl</a:t>
            </a:r>
            <a:r>
              <a:rPr lang="en-US" altLang="ko-KR" sz="2800" b="1" dirty="0"/>
              <a:t>(1/2)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Alias :</a:t>
            </a:r>
          </a:p>
          <a:p>
            <a:pPr lvl="1">
              <a:buFont typeface="Wingdings" panose="05000000000000000000" pitchFamily="2" charset="2"/>
              <a:buChar char="§"/>
            </a:pPr>
            <a:r>
              <a:rPr lang="en-US" altLang="ko-KR" sz="1400" dirty="0"/>
              <a:t>You may want to add a short alias such as k for the “</a:t>
            </a:r>
            <a:r>
              <a:rPr lang="en-US" altLang="ko-KR" sz="1400" b="1" dirty="0" err="1"/>
              <a:t>kubectl</a:t>
            </a:r>
            <a:r>
              <a:rPr lang="en-US" altLang="ko-KR" sz="1400" dirty="0"/>
              <a:t>” command. So you won’t have to type </a:t>
            </a:r>
            <a:r>
              <a:rPr lang="en-US" altLang="ko-KR" sz="1400" b="1" dirty="0" err="1"/>
              <a:t>kubectl</a:t>
            </a:r>
            <a:r>
              <a:rPr lang="en-US" altLang="ko-KR" sz="1400" dirty="0"/>
              <a:t> every time. If you haven’t used aliases yet, here’s how you define one. Add the following line to your “</a:t>
            </a:r>
            <a:r>
              <a:rPr lang="en-US" altLang="ko-KR" sz="1400" b="1" dirty="0"/>
              <a:t>~/.</a:t>
            </a:r>
            <a:r>
              <a:rPr lang="en-US" altLang="ko-KR" sz="1400" b="1" dirty="0" err="1"/>
              <a:t>bashrc</a:t>
            </a:r>
            <a:r>
              <a:rPr lang="en-US" altLang="ko-KR" sz="1400" dirty="0"/>
              <a:t>” or equivalent file like “</a:t>
            </a:r>
            <a:r>
              <a:rPr lang="en-US" altLang="ko-KR" sz="1400" b="1" dirty="0"/>
              <a:t>~/.profile</a:t>
            </a:r>
            <a:r>
              <a:rPr lang="en-US" altLang="ko-KR" sz="1400" dirty="0"/>
              <a:t>” in Ubuntu Linux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588BC8B-AC4C-3ADF-EA33-72C84F116E38}"/>
              </a:ext>
            </a:extLst>
          </p:cNvPr>
          <p:cNvGrpSpPr/>
          <p:nvPr/>
        </p:nvGrpSpPr>
        <p:grpSpPr>
          <a:xfrm>
            <a:off x="1329558" y="2073984"/>
            <a:ext cx="9532883" cy="3969921"/>
            <a:chOff x="1329558" y="1797784"/>
            <a:chExt cx="9532883" cy="3969921"/>
          </a:xfrm>
        </p:grpSpPr>
        <p:sp>
          <p:nvSpPr>
            <p:cNvPr id="8" name="TextBox 7">
              <a:extLst>
                <a:ext uri="{FF2B5EF4-FFF2-40B4-BE49-F238E27FC236}">
                  <a16:creationId xmlns:a16="http://schemas.microsoft.com/office/drawing/2014/main" id="{95683F1F-C03D-04A3-4138-87C752DA93EB}"/>
                </a:ext>
              </a:extLst>
            </p:cNvPr>
            <p:cNvSpPr txBox="1"/>
            <p:nvPr/>
          </p:nvSpPr>
          <p:spPr>
            <a:xfrm>
              <a:off x="3047343" y="1797784"/>
              <a:ext cx="6097314" cy="1631216"/>
            </a:xfrm>
            <a:prstGeom prst="rect">
              <a:avLst/>
            </a:prstGeom>
            <a:noFill/>
            <a:ln>
              <a:solidFill>
                <a:schemeClr val="bg1">
                  <a:lumMod val="50000"/>
                </a:schemeClr>
              </a:solidFill>
            </a:ln>
          </p:spPr>
          <p:txBody>
            <a:bodyPr wrap="square">
              <a:spAutoFit/>
            </a:bodyPr>
            <a:lstStyle/>
            <a:p>
              <a:r>
                <a:rPr lang="en-US" altLang="ko-KR" sz="1000" b="1" dirty="0"/>
                <a:t>$ vi </a:t>
              </a:r>
              <a:r>
                <a:rPr lang="en-US" altLang="ko-KR" sz="1000" b="1" dirty="0">
                  <a:solidFill>
                    <a:srgbClr val="FF0000"/>
                  </a:solidFill>
                </a:rPr>
                <a:t>~/.</a:t>
              </a:r>
              <a:r>
                <a:rPr lang="en-US" altLang="ko-KR" sz="1000" b="1" dirty="0" err="1">
                  <a:solidFill>
                    <a:srgbClr val="FF0000"/>
                  </a:solidFill>
                </a:rPr>
                <a:t>bashrc</a:t>
              </a:r>
              <a:r>
                <a:rPr lang="en-US" altLang="ko-KR" sz="1000" b="1" dirty="0">
                  <a:solidFill>
                    <a:srgbClr val="FF0000"/>
                  </a:solidFill>
                </a:rPr>
                <a:t> </a:t>
              </a:r>
            </a:p>
            <a:p>
              <a:r>
                <a:rPr lang="en-US" altLang="ko-KR" sz="1000" b="1" dirty="0"/>
                <a:t>or </a:t>
              </a:r>
            </a:p>
            <a:p>
              <a:r>
                <a:rPr lang="en-US" altLang="ko-KR" sz="1000" b="1" dirty="0"/>
                <a:t>$ vi </a:t>
              </a:r>
              <a:r>
                <a:rPr lang="en-US" altLang="ko-KR" sz="1000" b="1" dirty="0">
                  <a:solidFill>
                    <a:srgbClr val="FF0000"/>
                  </a:solidFill>
                </a:rPr>
                <a:t>~/.profile</a:t>
              </a:r>
            </a:p>
            <a:p>
              <a:r>
                <a:rPr lang="en-US" altLang="ko-KR" sz="1000" b="1" dirty="0"/>
                <a:t>…</a:t>
              </a:r>
            </a:p>
            <a:p>
              <a:r>
                <a:rPr lang="en-US" altLang="ko-KR" sz="1000" b="1" dirty="0">
                  <a:solidFill>
                    <a:srgbClr val="FF0000"/>
                  </a:solidFill>
                </a:rPr>
                <a:t>alias k=</a:t>
              </a:r>
              <a:r>
                <a:rPr lang="en-US" altLang="ko-KR" sz="1000" b="1" dirty="0" err="1">
                  <a:solidFill>
                    <a:srgbClr val="FF0000"/>
                  </a:solidFill>
                </a:rPr>
                <a:t>kubectl</a:t>
              </a:r>
              <a:endParaRPr lang="en-US" altLang="ko-KR" sz="1000" b="1" dirty="0">
                <a:solidFill>
                  <a:srgbClr val="FF0000"/>
                </a:solidFill>
              </a:endParaRPr>
            </a:p>
            <a:p>
              <a:r>
                <a:rPr lang="en-US" altLang="ko-KR" sz="1000" b="1" dirty="0"/>
                <a:t>…</a:t>
              </a:r>
            </a:p>
            <a:p>
              <a:endParaRPr lang="en-US" altLang="ko-KR" sz="1000" b="1" dirty="0"/>
            </a:p>
            <a:p>
              <a:r>
                <a:rPr lang="en-US" altLang="ko-KR" sz="1000" b="1" dirty="0"/>
                <a:t>$ source </a:t>
              </a:r>
              <a:r>
                <a:rPr lang="en-US" altLang="ko-KR" sz="1000" b="1" dirty="0">
                  <a:solidFill>
                    <a:srgbClr val="FF0000"/>
                  </a:solidFill>
                </a:rPr>
                <a:t>~/.</a:t>
              </a:r>
              <a:r>
                <a:rPr lang="en-US" altLang="ko-KR" sz="1000" b="1" dirty="0" err="1">
                  <a:solidFill>
                    <a:srgbClr val="FF0000"/>
                  </a:solidFill>
                </a:rPr>
                <a:t>bashrc</a:t>
              </a:r>
              <a:endParaRPr lang="en-US" altLang="ko-KR" sz="1000" b="1" dirty="0">
                <a:solidFill>
                  <a:srgbClr val="FF0000"/>
                </a:solidFill>
              </a:endParaRPr>
            </a:p>
            <a:p>
              <a:r>
                <a:rPr lang="en-US" altLang="ko-KR" sz="1000" b="1" dirty="0"/>
                <a:t>or </a:t>
              </a:r>
            </a:p>
            <a:p>
              <a:r>
                <a:rPr lang="en-US" altLang="ko-KR" sz="1000" b="1" dirty="0"/>
                <a:t>$ source </a:t>
              </a:r>
              <a:r>
                <a:rPr lang="en-US" altLang="ko-KR" sz="1000" b="1" dirty="0">
                  <a:solidFill>
                    <a:srgbClr val="FF0000"/>
                  </a:solidFill>
                </a:rPr>
                <a:t>~/.profile</a:t>
              </a:r>
            </a:p>
          </p:txBody>
        </p:sp>
        <p:sp>
          <p:nvSpPr>
            <p:cNvPr id="11" name="화살표: 아래쪽 10">
              <a:extLst>
                <a:ext uri="{FF2B5EF4-FFF2-40B4-BE49-F238E27FC236}">
                  <a16:creationId xmlns:a16="http://schemas.microsoft.com/office/drawing/2014/main" id="{8E832119-4A70-6CA2-3E48-87AC0CB2FECD}"/>
                </a:ext>
              </a:extLst>
            </p:cNvPr>
            <p:cNvSpPr/>
            <p:nvPr/>
          </p:nvSpPr>
          <p:spPr>
            <a:xfrm>
              <a:off x="5910754" y="3447425"/>
              <a:ext cx="370490" cy="2758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93A93B0D-F798-A9F0-D857-9AA460ACA27B}"/>
                </a:ext>
              </a:extLst>
            </p:cNvPr>
            <p:cNvGrpSpPr/>
            <p:nvPr/>
          </p:nvGrpSpPr>
          <p:grpSpPr>
            <a:xfrm>
              <a:off x="1329558" y="3718135"/>
              <a:ext cx="9532883" cy="2049570"/>
              <a:chOff x="1329558" y="3718135"/>
              <a:chExt cx="9532883" cy="2049570"/>
            </a:xfrm>
          </p:grpSpPr>
          <p:pic>
            <p:nvPicPr>
              <p:cNvPr id="10" name="그림 9">
                <a:extLst>
                  <a:ext uri="{FF2B5EF4-FFF2-40B4-BE49-F238E27FC236}">
                    <a16:creationId xmlns:a16="http://schemas.microsoft.com/office/drawing/2014/main" id="{6556188E-1AA7-6B3E-5BA4-1C878651A9F0}"/>
                  </a:ext>
                </a:extLst>
              </p:cNvPr>
              <p:cNvPicPr>
                <a:picLocks noChangeAspect="1"/>
              </p:cNvPicPr>
              <p:nvPr/>
            </p:nvPicPr>
            <p:blipFill>
              <a:blip r:embed="rId2"/>
              <a:stretch>
                <a:fillRect/>
              </a:stretch>
            </p:blipFill>
            <p:spPr>
              <a:xfrm>
                <a:off x="1329558" y="3718135"/>
                <a:ext cx="9532883" cy="2049570"/>
              </a:xfrm>
              <a:prstGeom prst="rect">
                <a:avLst/>
              </a:prstGeom>
            </p:spPr>
          </p:pic>
          <p:sp>
            <p:nvSpPr>
              <p:cNvPr id="12" name="직사각형 11">
                <a:extLst>
                  <a:ext uri="{FF2B5EF4-FFF2-40B4-BE49-F238E27FC236}">
                    <a16:creationId xmlns:a16="http://schemas.microsoft.com/office/drawing/2014/main" id="{CDE7F7F7-AE23-C868-6494-03FDBF0707DE}"/>
                  </a:ext>
                </a:extLst>
              </p:cNvPr>
              <p:cNvSpPr/>
              <p:nvPr/>
            </p:nvSpPr>
            <p:spPr>
              <a:xfrm>
                <a:off x="1466193" y="5249917"/>
                <a:ext cx="1347952"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8638406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up an Alias and Command-line Completion for </a:t>
            </a:r>
            <a:r>
              <a:rPr lang="en-US" altLang="ko-KR" sz="2800" b="1" dirty="0" err="1"/>
              <a:t>Kubectl</a:t>
            </a:r>
            <a:r>
              <a:rPr lang="en-US" altLang="ko-KR" sz="2800" b="1" dirty="0"/>
              <a:t>(2/2)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Tab Completion for </a:t>
            </a:r>
            <a:r>
              <a:rPr lang="en-US" altLang="ko-KR" sz="1800" b="1" dirty="0" err="1"/>
              <a:t>Kubectl</a:t>
            </a:r>
            <a:r>
              <a:rPr lang="en-US" altLang="ko-KR" sz="1800" b="1" dirty="0"/>
              <a:t> :</a:t>
            </a:r>
          </a:p>
          <a:p>
            <a:pPr lvl="1">
              <a:buFont typeface="Wingdings" panose="05000000000000000000" pitchFamily="2" charset="2"/>
              <a:buChar char="§"/>
            </a:pPr>
            <a:r>
              <a:rPr lang="en-US" altLang="ko-KR" sz="1400" dirty="0"/>
              <a:t>Even with a short alias such as k, you’ll still need to type way more than you’d like. Luckily, the </a:t>
            </a:r>
            <a:r>
              <a:rPr lang="en-US" altLang="ko-KR" sz="1400" b="1" dirty="0" err="1"/>
              <a:t>kubectl</a:t>
            </a:r>
            <a:r>
              <a:rPr lang="en-US" altLang="ko-KR" sz="1400" dirty="0"/>
              <a:t> command can also output </a:t>
            </a:r>
            <a:r>
              <a:rPr lang="en-US" altLang="ko-KR" sz="1400" b="1" dirty="0"/>
              <a:t>shell completion code for both the “bash” and “</a:t>
            </a:r>
            <a:r>
              <a:rPr lang="en-US" altLang="ko-KR" sz="1400" b="1" dirty="0" err="1"/>
              <a:t>zsh</a:t>
            </a:r>
            <a:r>
              <a:rPr lang="en-US" altLang="ko-KR" sz="1400" b="1" dirty="0"/>
              <a:t>” shell</a:t>
            </a:r>
            <a:r>
              <a:rPr lang="en-US" altLang="ko-KR" sz="1400" dirty="0"/>
              <a:t>. </a:t>
            </a:r>
            <a:r>
              <a:rPr lang="en-US" altLang="ko-KR" sz="1400" b="1" dirty="0"/>
              <a:t>It doesn’t enable tab completion of only command names, but also of the actual object names</a:t>
            </a:r>
            <a:r>
              <a:rPr lang="en-US" altLang="ko-KR" sz="1400" dirty="0"/>
              <a:t>. For example, instead of having to write the whole node name in the previous example, all you’d need to type is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enable tab completion in bash</a:t>
            </a:r>
            <a:r>
              <a:rPr lang="en-US" altLang="ko-KR" sz="1400" dirty="0"/>
              <a:t>, you’ll first need to </a:t>
            </a:r>
            <a:r>
              <a:rPr lang="en-US" altLang="ko-KR" sz="1400" b="1" dirty="0"/>
              <a:t>install a package called “bash-completion”</a:t>
            </a:r>
            <a:r>
              <a:rPr lang="en-US" altLang="ko-KR" sz="1400" dirty="0"/>
              <a:t> and then run the following command (you’ll probably also want to add it to “</a:t>
            </a:r>
            <a:r>
              <a:rPr lang="en-US" altLang="ko-KR" sz="1400" b="1" dirty="0"/>
              <a:t>~/.</a:t>
            </a:r>
            <a:r>
              <a:rPr lang="en-US" altLang="ko-KR" sz="1400" b="1" dirty="0" err="1"/>
              <a:t>bashrc</a:t>
            </a:r>
            <a:r>
              <a:rPr lang="en-US" altLang="ko-KR" sz="1400" dirty="0"/>
              <a:t>” or equivalent like “</a:t>
            </a:r>
            <a:r>
              <a:rPr lang="en-US" altLang="ko-KR" sz="1400" b="1" dirty="0"/>
              <a:t>~/.profile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But there’s one caveat. </a:t>
            </a:r>
            <a:r>
              <a:rPr lang="en-US" altLang="ko-KR" sz="1400" b="1" dirty="0"/>
              <a:t>When you run the preceding command, tab completion will only work when you use the full </a:t>
            </a:r>
            <a:r>
              <a:rPr lang="en-US" altLang="ko-KR" sz="1400" b="1" dirty="0" err="1"/>
              <a:t>kubectl</a:t>
            </a:r>
            <a:r>
              <a:rPr lang="en-US" altLang="ko-KR" sz="1400" b="1" dirty="0"/>
              <a:t> name (it won’t work when you use the k alias)</a:t>
            </a:r>
            <a:r>
              <a:rPr lang="en-US" altLang="ko-KR" sz="1400" dirty="0"/>
              <a:t>. To fix this, you need to </a:t>
            </a:r>
            <a:r>
              <a:rPr lang="en-US" altLang="ko-KR" sz="1400" b="1" dirty="0"/>
              <a:t>transform the output of the </a:t>
            </a:r>
            <a:r>
              <a:rPr lang="en-US" altLang="ko-KR" sz="1400" b="1" dirty="0" err="1"/>
              <a:t>kubectl</a:t>
            </a:r>
            <a:r>
              <a:rPr lang="en-US" altLang="ko-KR" sz="1400" b="1" dirty="0"/>
              <a:t> completion command a bit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Unfortunately, I didn’t checked the shell completion in MacOS</a:t>
            </a:r>
            <a:r>
              <a:rPr lang="en-US" altLang="ko-KR" sz="1400" dirty="0"/>
              <a:t>. </a:t>
            </a:r>
            <a:r>
              <a:rPr lang="en-US" altLang="ko-KR" sz="1400" b="1" dirty="0"/>
              <a:t>Actually, the “bash-completion” package was already installed when you installed Ubuntu Linux. So you don’t need to install it again here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1B30ECE-62BA-852C-169F-193663C3D7CE}"/>
              </a:ext>
            </a:extLst>
          </p:cNvPr>
          <p:cNvSpPr txBox="1"/>
          <p:nvPr/>
        </p:nvSpPr>
        <p:spPr>
          <a:xfrm>
            <a:off x="3047343" y="204840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a:t>
            </a:r>
            <a:r>
              <a:rPr lang="en-US" altLang="ko-KR" sz="1000" b="1" dirty="0">
                <a:solidFill>
                  <a:srgbClr val="FF0000"/>
                </a:solidFill>
              </a:rPr>
              <a:t>&lt;TAB&gt;</a:t>
            </a:r>
            <a:r>
              <a:rPr lang="en-US" altLang="ko-KR" sz="1000" b="1" dirty="0"/>
              <a:t> no</a:t>
            </a:r>
            <a:r>
              <a:rPr lang="en-US" altLang="ko-KR" sz="1000" b="1" dirty="0">
                <a:solidFill>
                  <a:srgbClr val="FF0000"/>
                </a:solidFill>
              </a:rPr>
              <a:t>&lt;TAB&gt;</a:t>
            </a:r>
            <a:r>
              <a:rPr lang="en-US" altLang="ko-KR" sz="1000" b="1" dirty="0"/>
              <a:t> mini</a:t>
            </a:r>
            <a:r>
              <a:rPr lang="en-US" altLang="ko-KR" sz="1000" b="1" dirty="0">
                <a:solidFill>
                  <a:srgbClr val="FF0000"/>
                </a:solidFill>
              </a:rPr>
              <a:t>&lt;TAB&gt;</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397BB24F-7E57-FF74-5006-0615E1FA22B0}"/>
              </a:ext>
            </a:extLst>
          </p:cNvPr>
          <p:cNvSpPr txBox="1"/>
          <p:nvPr/>
        </p:nvSpPr>
        <p:spPr>
          <a:xfrm>
            <a:off x="3047343" y="3031500"/>
            <a:ext cx="6097314" cy="246221"/>
          </a:xfrm>
          <a:prstGeom prst="rect">
            <a:avLst/>
          </a:prstGeom>
          <a:noFill/>
          <a:ln>
            <a:solidFill>
              <a:schemeClr val="bg1">
                <a:lumMod val="50000"/>
              </a:schemeClr>
            </a:solidFill>
          </a:ln>
        </p:spPr>
        <p:txBody>
          <a:bodyPr wrap="square">
            <a:spAutoFit/>
          </a:bodyPr>
          <a:lstStyle/>
          <a:p>
            <a:r>
              <a:rPr lang="en-US" altLang="ko-KR" sz="1000" b="1" dirty="0"/>
              <a:t>$ source &lt;(</a:t>
            </a:r>
            <a:r>
              <a:rPr lang="en-US" altLang="ko-KR" sz="1000" b="1" dirty="0" err="1">
                <a:solidFill>
                  <a:srgbClr val="FF0000"/>
                </a:solidFill>
              </a:rPr>
              <a:t>kubectl</a:t>
            </a:r>
            <a:r>
              <a:rPr lang="en-US" altLang="ko-KR" sz="1000" b="1" dirty="0">
                <a:solidFill>
                  <a:srgbClr val="FF0000"/>
                </a:solidFill>
              </a:rPr>
              <a:t> completion bash</a:t>
            </a:r>
            <a:r>
              <a:rPr lang="en-US" altLang="ko-KR" sz="1000" b="1" dirty="0"/>
              <a:t>)</a:t>
            </a:r>
          </a:p>
        </p:txBody>
      </p:sp>
      <p:sp>
        <p:nvSpPr>
          <p:cNvPr id="12" name="TextBox 11">
            <a:extLst>
              <a:ext uri="{FF2B5EF4-FFF2-40B4-BE49-F238E27FC236}">
                <a16:creationId xmlns:a16="http://schemas.microsoft.com/office/drawing/2014/main" id="{3A1B2AA9-B484-775E-4990-985819063389}"/>
              </a:ext>
            </a:extLst>
          </p:cNvPr>
          <p:cNvSpPr txBox="1"/>
          <p:nvPr/>
        </p:nvSpPr>
        <p:spPr>
          <a:xfrm>
            <a:off x="3047343" y="4163831"/>
            <a:ext cx="6097314" cy="246221"/>
          </a:xfrm>
          <a:prstGeom prst="rect">
            <a:avLst/>
          </a:prstGeom>
          <a:noFill/>
          <a:ln>
            <a:solidFill>
              <a:schemeClr val="bg1">
                <a:lumMod val="50000"/>
              </a:schemeClr>
            </a:solidFill>
          </a:ln>
        </p:spPr>
        <p:txBody>
          <a:bodyPr wrap="square">
            <a:spAutoFit/>
          </a:bodyPr>
          <a:lstStyle/>
          <a:p>
            <a:r>
              <a:rPr lang="en-US" altLang="ko-KR" sz="1000" b="1" dirty="0"/>
              <a:t>$ source &lt;(</a:t>
            </a:r>
            <a:r>
              <a:rPr lang="en-US" altLang="ko-KR" sz="1000" b="1" dirty="0" err="1"/>
              <a:t>kubectl</a:t>
            </a:r>
            <a:r>
              <a:rPr lang="en-US" altLang="ko-KR" sz="1000" b="1" dirty="0"/>
              <a:t> completion bash | </a:t>
            </a:r>
            <a:r>
              <a:rPr lang="en-US" altLang="ko-KR" sz="1000" b="1" dirty="0">
                <a:solidFill>
                  <a:srgbClr val="FF0000"/>
                </a:solidFill>
              </a:rPr>
              <a:t>sed s/</a:t>
            </a:r>
            <a:r>
              <a:rPr lang="en-US" altLang="ko-KR" sz="1000" b="1" dirty="0" err="1">
                <a:solidFill>
                  <a:srgbClr val="FF0000"/>
                </a:solidFill>
              </a:rPr>
              <a:t>kubectl</a:t>
            </a:r>
            <a:r>
              <a:rPr lang="en-US" altLang="ko-KR" sz="1000" b="1" dirty="0">
                <a:solidFill>
                  <a:srgbClr val="FF0000"/>
                </a:solidFill>
              </a:rPr>
              <a:t>/k/g</a:t>
            </a:r>
            <a:r>
              <a:rPr lang="en-US" altLang="ko-KR" sz="1000" b="1" dirty="0"/>
              <a:t>)</a:t>
            </a:r>
            <a:endParaRPr lang="ko-KR" altLang="en-US" sz="1000" b="1" dirty="0"/>
          </a:p>
        </p:txBody>
      </p:sp>
      <p:grpSp>
        <p:nvGrpSpPr>
          <p:cNvPr id="16" name="그룹 15">
            <a:extLst>
              <a:ext uri="{FF2B5EF4-FFF2-40B4-BE49-F238E27FC236}">
                <a16:creationId xmlns:a16="http://schemas.microsoft.com/office/drawing/2014/main" id="{15F5B2BA-1EF5-9CA9-FEA1-B5555D64F34F}"/>
              </a:ext>
            </a:extLst>
          </p:cNvPr>
          <p:cNvGrpSpPr/>
          <p:nvPr/>
        </p:nvGrpSpPr>
        <p:grpSpPr>
          <a:xfrm>
            <a:off x="2425262" y="5147266"/>
            <a:ext cx="7341476" cy="1162400"/>
            <a:chOff x="2425262" y="5147266"/>
            <a:chExt cx="7341476" cy="1162400"/>
          </a:xfrm>
        </p:grpSpPr>
        <p:pic>
          <p:nvPicPr>
            <p:cNvPr id="14" name="그림 13">
              <a:extLst>
                <a:ext uri="{FF2B5EF4-FFF2-40B4-BE49-F238E27FC236}">
                  <a16:creationId xmlns:a16="http://schemas.microsoft.com/office/drawing/2014/main" id="{D5621C42-79AB-7926-EE47-C328ADFCCD36}"/>
                </a:ext>
              </a:extLst>
            </p:cNvPr>
            <p:cNvPicPr>
              <a:picLocks noChangeAspect="1"/>
            </p:cNvPicPr>
            <p:nvPr/>
          </p:nvPicPr>
          <p:blipFill>
            <a:blip r:embed="rId2"/>
            <a:stretch>
              <a:fillRect/>
            </a:stretch>
          </p:blipFill>
          <p:spPr>
            <a:xfrm>
              <a:off x="2425262" y="5147266"/>
              <a:ext cx="7341476" cy="1162400"/>
            </a:xfrm>
            <a:prstGeom prst="rect">
              <a:avLst/>
            </a:prstGeom>
          </p:spPr>
        </p:pic>
        <p:sp>
          <p:nvSpPr>
            <p:cNvPr id="15" name="직사각형 14">
              <a:extLst>
                <a:ext uri="{FF2B5EF4-FFF2-40B4-BE49-F238E27FC236}">
                  <a16:creationId xmlns:a16="http://schemas.microsoft.com/office/drawing/2014/main" id="{357A40F8-FCDF-BD0D-A290-4E726DAAC7F8}"/>
                </a:ext>
              </a:extLst>
            </p:cNvPr>
            <p:cNvSpPr/>
            <p:nvPr/>
          </p:nvSpPr>
          <p:spPr>
            <a:xfrm>
              <a:off x="2522483" y="5888421"/>
              <a:ext cx="2885089" cy="155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634586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Your First App on Kubernetes(1/4)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Deploying Your Node.js App :</a:t>
            </a:r>
          </a:p>
          <a:p>
            <a:pPr lvl="1">
              <a:buFont typeface="Wingdings" panose="05000000000000000000" pitchFamily="2" charset="2"/>
              <a:buChar char="§"/>
            </a:pPr>
            <a:r>
              <a:rPr lang="en-US" altLang="ko-KR" sz="1400" dirty="0"/>
              <a:t>The simplest way to deploy your app is to use the </a:t>
            </a:r>
            <a:r>
              <a:rPr lang="en-US" altLang="ko-KR" sz="1400" b="1" dirty="0" err="1"/>
              <a:t>kubectl</a:t>
            </a:r>
            <a:r>
              <a:rPr lang="en-US" altLang="ko-KR" sz="1400" dirty="0"/>
              <a:t> run command, which will create all the necessary components without having to deal with JSON or YAML. Try to run the image you created and pushed to Docker Hub earlier. Here’s how to run it in Kubernetes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“--image=knix008/</a:t>
            </a:r>
            <a:r>
              <a:rPr lang="en-US" altLang="ko-KR" sz="1400" b="1" dirty="0" err="1"/>
              <a:t>kubia</a:t>
            </a:r>
            <a:r>
              <a:rPr lang="en-US" altLang="ko-KR" sz="1400" b="1" dirty="0"/>
              <a:t>” part obviously specifies the container image you want to run</a:t>
            </a:r>
            <a:r>
              <a:rPr lang="en-US" altLang="ko-KR" sz="1400" dirty="0"/>
              <a:t>, and </a:t>
            </a:r>
            <a:r>
              <a:rPr lang="en-US" altLang="ko-KR" sz="1400" b="1" dirty="0"/>
              <a:t>the “--port=8080” option tells Kubernetes that your app is listening on port 8080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EDDFDE2-87D1-0ED5-623D-4EB08ED970A0}"/>
              </a:ext>
            </a:extLst>
          </p:cNvPr>
          <p:cNvGrpSpPr/>
          <p:nvPr/>
        </p:nvGrpSpPr>
        <p:grpSpPr>
          <a:xfrm>
            <a:off x="1851544" y="1844595"/>
            <a:ext cx="8488909" cy="2032360"/>
            <a:chOff x="1851544" y="1844595"/>
            <a:chExt cx="8488909" cy="2032360"/>
          </a:xfrm>
        </p:grpSpPr>
        <p:sp>
          <p:nvSpPr>
            <p:cNvPr id="8" name="TextBox 7">
              <a:extLst>
                <a:ext uri="{FF2B5EF4-FFF2-40B4-BE49-F238E27FC236}">
                  <a16:creationId xmlns:a16="http://schemas.microsoft.com/office/drawing/2014/main" id="{92D063AE-AA01-B992-92DC-D5804E92C690}"/>
                </a:ext>
              </a:extLst>
            </p:cNvPr>
            <p:cNvSpPr txBox="1"/>
            <p:nvPr/>
          </p:nvSpPr>
          <p:spPr>
            <a:xfrm>
              <a:off x="3047343" y="1844595"/>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err="1"/>
                <a:t>kubia</a:t>
              </a:r>
              <a:r>
                <a:rPr lang="en-US" altLang="ko-KR" sz="1000" b="1" dirty="0"/>
                <a:t> --image=</a:t>
              </a:r>
              <a:r>
                <a:rPr lang="en-US" altLang="ko-KR" sz="1000" b="1" dirty="0">
                  <a:solidFill>
                    <a:srgbClr val="FF0000"/>
                  </a:solidFill>
                </a:rPr>
                <a:t>knix008/</a:t>
              </a:r>
              <a:r>
                <a:rPr lang="en-US" altLang="ko-KR" sz="1000" b="1" dirty="0" err="1">
                  <a:solidFill>
                    <a:srgbClr val="FF0000"/>
                  </a:solidFill>
                </a:rPr>
                <a:t>kubia</a:t>
              </a:r>
              <a:r>
                <a:rPr lang="en-US" altLang="ko-KR" sz="1000" b="1" dirty="0">
                  <a:solidFill>
                    <a:srgbClr val="FF0000"/>
                  </a:solidFill>
                </a:rPr>
                <a:t> </a:t>
              </a:r>
              <a:r>
                <a:rPr lang="en-US" altLang="ko-KR" sz="1000" b="1" dirty="0"/>
                <a:t>--port=8080</a:t>
              </a:r>
            </a:p>
          </p:txBody>
        </p:sp>
        <p:pic>
          <p:nvPicPr>
            <p:cNvPr id="10" name="그림 9">
              <a:extLst>
                <a:ext uri="{FF2B5EF4-FFF2-40B4-BE49-F238E27FC236}">
                  <a16:creationId xmlns:a16="http://schemas.microsoft.com/office/drawing/2014/main" id="{5DD8D199-D10B-F2A6-DCD6-EF3C7AE65485}"/>
                </a:ext>
              </a:extLst>
            </p:cNvPr>
            <p:cNvPicPr>
              <a:picLocks noChangeAspect="1"/>
            </p:cNvPicPr>
            <p:nvPr/>
          </p:nvPicPr>
          <p:blipFill>
            <a:blip r:embed="rId2"/>
            <a:stretch>
              <a:fillRect/>
            </a:stretch>
          </p:blipFill>
          <p:spPr>
            <a:xfrm>
              <a:off x="1851544" y="2336465"/>
              <a:ext cx="8488909" cy="1540490"/>
            </a:xfrm>
            <a:prstGeom prst="rect">
              <a:avLst/>
            </a:prstGeom>
          </p:spPr>
        </p:pic>
        <p:sp>
          <p:nvSpPr>
            <p:cNvPr id="11" name="화살표: 아래쪽 10">
              <a:extLst>
                <a:ext uri="{FF2B5EF4-FFF2-40B4-BE49-F238E27FC236}">
                  <a16:creationId xmlns:a16="http://schemas.microsoft.com/office/drawing/2014/main" id="{58466B3F-2B62-30DF-10F4-EF8E997E63A5}"/>
                </a:ext>
              </a:extLst>
            </p:cNvPr>
            <p:cNvSpPr/>
            <p:nvPr/>
          </p:nvSpPr>
          <p:spPr>
            <a:xfrm>
              <a:off x="5902872" y="2090244"/>
              <a:ext cx="386255"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350206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Running Containers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the Created Containers :</a:t>
            </a:r>
          </a:p>
          <a:p>
            <a:pPr lvl="1">
              <a:buFont typeface="Wingdings" panose="05000000000000000000" pitchFamily="2" charset="2"/>
              <a:buChar char="§"/>
            </a:pPr>
            <a:r>
              <a:rPr lang="en-US" altLang="ko-KR" sz="1400" dirty="0"/>
              <a:t>To see the running containers, you can use “</a:t>
            </a:r>
            <a:r>
              <a:rPr lang="en-US" altLang="ko-KR" sz="1400" b="1" dirty="0"/>
              <a:t>docker </a:t>
            </a:r>
            <a:r>
              <a:rPr lang="en-US" altLang="ko-KR" sz="1400" b="1" dirty="0" err="1"/>
              <a:t>ps</a:t>
            </a:r>
            <a:r>
              <a:rPr lang="en-US" altLang="ko-KR" sz="1400" dirty="0"/>
              <a:t>” or “</a:t>
            </a:r>
            <a:r>
              <a:rPr lang="en-US" altLang="ko-KR" sz="1400" b="1" dirty="0"/>
              <a:t>docker </a:t>
            </a:r>
            <a:r>
              <a:rPr lang="en-US" altLang="ko-KR" sz="1400" b="1" dirty="0" err="1"/>
              <a:t>ps</a:t>
            </a:r>
            <a:r>
              <a:rPr lang="en-US" altLang="ko-KR" sz="1400" b="1" dirty="0"/>
              <a:t> -a</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the above screenshot, we have two containers, one for “</a:t>
            </a:r>
            <a:r>
              <a:rPr lang="en-US" altLang="ko-KR" sz="1400" b="1" dirty="0" err="1"/>
              <a:t>minikube</a:t>
            </a:r>
            <a:r>
              <a:rPr lang="en-US" altLang="ko-KR" sz="1400" b="1" dirty="0"/>
              <a:t>” and the other for the Node.js application. You can connect to the application in </a:t>
            </a:r>
            <a:r>
              <a:rPr lang="en-US" altLang="ko-KR" sz="1400" b="1" dirty="0">
                <a:hlinkClick r:id="rId2"/>
              </a:rPr>
              <a:t>http://localhost:8080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502B38C-1637-DD4B-F364-5C18D43D6DCB}"/>
              </a:ext>
            </a:extLst>
          </p:cNvPr>
          <p:cNvGrpSpPr/>
          <p:nvPr/>
        </p:nvGrpSpPr>
        <p:grpSpPr>
          <a:xfrm>
            <a:off x="1535414" y="1524573"/>
            <a:ext cx="9121172" cy="3276027"/>
            <a:chOff x="1535414" y="1524573"/>
            <a:chExt cx="9121172" cy="3276027"/>
          </a:xfrm>
        </p:grpSpPr>
        <p:grpSp>
          <p:nvGrpSpPr>
            <p:cNvPr id="11" name="그룹 10">
              <a:extLst>
                <a:ext uri="{FF2B5EF4-FFF2-40B4-BE49-F238E27FC236}">
                  <a16:creationId xmlns:a16="http://schemas.microsoft.com/office/drawing/2014/main" id="{E9CD9EB8-B5AB-99FD-1576-23924968CA0E}"/>
                </a:ext>
              </a:extLst>
            </p:cNvPr>
            <p:cNvGrpSpPr/>
            <p:nvPr/>
          </p:nvGrpSpPr>
          <p:grpSpPr>
            <a:xfrm>
              <a:off x="1535414" y="1524573"/>
              <a:ext cx="9121172" cy="3276027"/>
              <a:chOff x="185737" y="2386012"/>
              <a:chExt cx="11820525" cy="4281144"/>
            </a:xfrm>
          </p:grpSpPr>
          <p:pic>
            <p:nvPicPr>
              <p:cNvPr id="8" name="그림 7">
                <a:extLst>
                  <a:ext uri="{FF2B5EF4-FFF2-40B4-BE49-F238E27FC236}">
                    <a16:creationId xmlns:a16="http://schemas.microsoft.com/office/drawing/2014/main" id="{2004A4D2-FBFD-4D0B-6E2A-10D99DA1A4D2}"/>
                  </a:ext>
                </a:extLst>
              </p:cNvPr>
              <p:cNvPicPr>
                <a:picLocks noChangeAspect="1"/>
              </p:cNvPicPr>
              <p:nvPr/>
            </p:nvPicPr>
            <p:blipFill>
              <a:blip r:embed="rId3"/>
              <a:stretch>
                <a:fillRect/>
              </a:stretch>
            </p:blipFill>
            <p:spPr>
              <a:xfrm>
                <a:off x="185737" y="2386012"/>
                <a:ext cx="11820525" cy="2085975"/>
              </a:xfrm>
              <a:prstGeom prst="rect">
                <a:avLst/>
              </a:prstGeom>
            </p:spPr>
          </p:pic>
          <p:pic>
            <p:nvPicPr>
              <p:cNvPr id="10" name="그림 9">
                <a:extLst>
                  <a:ext uri="{FF2B5EF4-FFF2-40B4-BE49-F238E27FC236}">
                    <a16:creationId xmlns:a16="http://schemas.microsoft.com/office/drawing/2014/main" id="{1C013DBB-CF43-D4B6-CBA0-457B8C8ECAE4}"/>
                  </a:ext>
                </a:extLst>
              </p:cNvPr>
              <p:cNvPicPr>
                <a:picLocks noChangeAspect="1"/>
              </p:cNvPicPr>
              <p:nvPr/>
            </p:nvPicPr>
            <p:blipFill>
              <a:blip r:embed="rId4"/>
              <a:stretch>
                <a:fillRect/>
              </a:stretch>
            </p:blipFill>
            <p:spPr>
              <a:xfrm>
                <a:off x="185737" y="4492625"/>
                <a:ext cx="11820525" cy="2174531"/>
              </a:xfrm>
              <a:prstGeom prst="rect">
                <a:avLst/>
              </a:prstGeom>
            </p:spPr>
          </p:pic>
        </p:grpSp>
        <p:sp>
          <p:nvSpPr>
            <p:cNvPr id="12" name="직사각형 11">
              <a:extLst>
                <a:ext uri="{FF2B5EF4-FFF2-40B4-BE49-F238E27FC236}">
                  <a16:creationId xmlns:a16="http://schemas.microsoft.com/office/drawing/2014/main" id="{25460269-F901-5D0E-6A82-64A55E612AB2}"/>
                </a:ext>
              </a:extLst>
            </p:cNvPr>
            <p:cNvSpPr/>
            <p:nvPr/>
          </p:nvSpPr>
          <p:spPr>
            <a:xfrm>
              <a:off x="1647497" y="2554013"/>
              <a:ext cx="8568558" cy="2522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629411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Your First App on Kubernetes(2/4)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Pods :</a:t>
            </a:r>
          </a:p>
          <a:p>
            <a:pPr lvl="1">
              <a:buFont typeface="Wingdings" panose="05000000000000000000" pitchFamily="2" charset="2"/>
              <a:buChar char="§"/>
            </a:pPr>
            <a:r>
              <a:rPr lang="en-US" altLang="ko-KR" sz="1400" b="1" dirty="0"/>
              <a:t>Kubernetes</a:t>
            </a:r>
            <a:r>
              <a:rPr lang="ko-KR" altLang="en-US" sz="1400" b="1" dirty="0"/>
              <a:t> </a:t>
            </a:r>
            <a:r>
              <a:rPr lang="en-US" altLang="ko-KR" sz="1400" b="1" dirty="0"/>
              <a:t>doesn’t deal with individual containers directly. Instead, it uses the concept of multiple co-located containers. This group of containers is called a </a:t>
            </a:r>
            <a:r>
              <a:rPr lang="en-US" altLang="ko-KR" sz="1400" b="1" dirty="0">
                <a:solidFill>
                  <a:srgbClr val="FF0000"/>
                </a:solidFill>
              </a:rPr>
              <a:t>Pod</a:t>
            </a:r>
            <a:r>
              <a:rPr lang="en-US" altLang="ko-KR" sz="1400" dirty="0"/>
              <a:t>.</a:t>
            </a:r>
          </a:p>
          <a:p>
            <a:pPr lvl="1">
              <a:buFont typeface="Wingdings" panose="05000000000000000000" pitchFamily="2" charset="2"/>
              <a:buChar char="§"/>
            </a:pPr>
            <a:r>
              <a:rPr lang="en-US" altLang="ko-KR" sz="1400" b="1" dirty="0">
                <a:solidFill>
                  <a:srgbClr val="FF0000"/>
                </a:solidFill>
              </a:rPr>
              <a:t>A pod is a group of one or more tightly related containers </a:t>
            </a:r>
            <a:r>
              <a:rPr lang="en-US" altLang="ko-KR" sz="1400" b="1" dirty="0"/>
              <a:t>that will always run together on the same worker node and in the same Linux namespace(s)</a:t>
            </a:r>
            <a:r>
              <a:rPr lang="en-US" altLang="ko-KR" sz="1400" dirty="0"/>
              <a:t>. Each pod is like </a:t>
            </a:r>
            <a:r>
              <a:rPr lang="en-US" altLang="ko-KR" sz="1400" b="1" dirty="0"/>
              <a:t>a separate logical machine with its own IP, hostname, processes, and so on, running a single application</a:t>
            </a:r>
            <a:r>
              <a:rPr lang="en-US" altLang="ko-KR" sz="1400" dirty="0"/>
              <a:t>. The application can be a single process, running in a single container, or it can be a main application process and additional supporting processes, each running in its own container. </a:t>
            </a:r>
            <a:r>
              <a:rPr lang="en-US" altLang="ko-KR" sz="1400" b="1" dirty="0"/>
              <a:t>All the containers in a pod will appear to be running on the same logical machine</a:t>
            </a:r>
            <a:r>
              <a:rPr lang="en-US" altLang="ko-KR" sz="1400" dirty="0"/>
              <a:t>, </a:t>
            </a:r>
            <a:r>
              <a:rPr lang="en-US" altLang="ko-KR" sz="1400" b="1" dirty="0"/>
              <a:t>whereas containers in other pods, even if they’re running on the same worker node, will appear to be running on a different one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from the above figure, each pod has its </a:t>
            </a:r>
            <a:r>
              <a:rPr lang="en-US" altLang="ko-KR" sz="1400" b="1" dirty="0">
                <a:solidFill>
                  <a:srgbClr val="FF0000"/>
                </a:solidFill>
              </a:rPr>
              <a:t>own IP </a:t>
            </a:r>
            <a:r>
              <a:rPr lang="en-US" altLang="ko-KR" sz="1400" b="1" dirty="0"/>
              <a:t>and </a:t>
            </a:r>
            <a:r>
              <a:rPr lang="en-US" altLang="ko-KR" sz="1400" b="1" dirty="0">
                <a:solidFill>
                  <a:srgbClr val="FF0000"/>
                </a:solidFill>
              </a:rPr>
              <a:t>contains one or more containers</a:t>
            </a:r>
            <a:r>
              <a:rPr lang="en-US" altLang="ko-KR" sz="1400" b="1" dirty="0"/>
              <a:t>, each running an application process</a:t>
            </a:r>
            <a:r>
              <a:rPr lang="en-US" altLang="ko-KR" sz="1400" dirty="0"/>
              <a:t>. </a:t>
            </a:r>
            <a:r>
              <a:rPr lang="en-US" altLang="ko-KR" sz="1400" b="1" dirty="0"/>
              <a:t>Pods are spread out across different worker nodes</a:t>
            </a:r>
            <a:r>
              <a:rPr lang="en-US" altLang="ko-KR" sz="1400" dirty="0"/>
              <a:t>.</a:t>
            </a:r>
            <a:r>
              <a:rPr lang="ko-KR" altLang="en-US" sz="1400" dirty="0"/>
              <a:t> </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8636769-F74D-09D7-CCC6-069C8F60ADBC}"/>
              </a:ext>
            </a:extLst>
          </p:cNvPr>
          <p:cNvPicPr>
            <a:picLocks noChangeAspect="1"/>
          </p:cNvPicPr>
          <p:nvPr/>
        </p:nvPicPr>
        <p:blipFill>
          <a:blip r:embed="rId2"/>
          <a:stretch>
            <a:fillRect/>
          </a:stretch>
        </p:blipFill>
        <p:spPr>
          <a:xfrm>
            <a:off x="3414712" y="2967858"/>
            <a:ext cx="5362575" cy="2057400"/>
          </a:xfrm>
          <a:prstGeom prst="rect">
            <a:avLst/>
          </a:prstGeom>
        </p:spPr>
      </p:pic>
    </p:spTree>
    <p:extLst>
      <p:ext uri="{BB962C8B-B14F-4D97-AF65-F5344CB8AC3E}">
        <p14:creationId xmlns:p14="http://schemas.microsoft.com/office/powerpoint/2010/main" val="9742418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Your First App on Kubernetes(3/4)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a:t>
            </a:r>
          </a:p>
          <a:p>
            <a:pPr lvl="1">
              <a:buFont typeface="Wingdings" panose="05000000000000000000" pitchFamily="2" charset="2"/>
              <a:buChar char="§"/>
            </a:pPr>
            <a:r>
              <a:rPr lang="en-US" altLang="ko-KR" sz="1400" dirty="0"/>
              <a:t>To list all pods, you can use “</a:t>
            </a:r>
            <a:r>
              <a:rPr lang="en-US" altLang="ko-KR" sz="1400" b="1" dirty="0"/>
              <a:t>$ </a:t>
            </a:r>
            <a:r>
              <a:rPr lang="en-US" altLang="ko-KR" sz="1400" b="1" dirty="0" err="1"/>
              <a:t>kubectl</a:t>
            </a:r>
            <a:r>
              <a:rPr lang="en-US" altLang="ko-KR" sz="1400" b="1" dirty="0"/>
              <a:t> get pods</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When the container image download is finished, the pod’s container will be created and then the pod will transition to the </a:t>
            </a:r>
            <a:r>
              <a:rPr lang="en-US" altLang="ko-KR" sz="1400" b="1" dirty="0">
                <a:solidFill>
                  <a:srgbClr val="FF0000"/>
                </a:solidFill>
              </a:rPr>
              <a:t>Running</a:t>
            </a:r>
            <a:r>
              <a:rPr lang="en-US" altLang="ko-KR" sz="1400" b="1" dirty="0"/>
              <a:t> state</a:t>
            </a:r>
            <a:r>
              <a:rPr lang="en-US" altLang="ko-KR" sz="1400" dirty="0"/>
              <a:t>.</a:t>
            </a:r>
          </a:p>
          <a:p>
            <a:pPr lvl="1">
              <a:buFont typeface="Wingdings" panose="05000000000000000000" pitchFamily="2" charset="2"/>
              <a:buChar char="§"/>
            </a:pPr>
            <a:r>
              <a:rPr lang="en-US" altLang="ko-KR" sz="1400" b="1" dirty="0"/>
              <a:t>NOTE : If the pod stays stuck in the </a:t>
            </a:r>
            <a:r>
              <a:rPr lang="en-US" altLang="ko-KR" sz="1400" b="1" dirty="0">
                <a:solidFill>
                  <a:srgbClr val="FF0000"/>
                </a:solidFill>
              </a:rPr>
              <a:t>Pending</a:t>
            </a:r>
            <a:r>
              <a:rPr lang="en-US" altLang="ko-KR" sz="1400" b="1" dirty="0"/>
              <a:t> status, it might be that Kubernetes can’t pull the image from the registry</a:t>
            </a:r>
            <a:r>
              <a:rPr lang="en-US" altLang="ko-KR" sz="1400" dirty="0"/>
              <a:t>. If you’re using your own image, </a:t>
            </a:r>
            <a:r>
              <a:rPr lang="en-US" altLang="ko-KR" sz="1400" b="1" dirty="0"/>
              <a:t>make sure it’s marked as public on Docker Hub</a:t>
            </a:r>
            <a:r>
              <a:rPr lang="en-US" altLang="ko-KR" sz="1400" dirty="0"/>
              <a:t>. To make sure the image can be pulled successfully, </a:t>
            </a:r>
            <a:r>
              <a:rPr lang="en-US" altLang="ko-KR" sz="1400" b="1" dirty="0"/>
              <a:t>try pulling the image manually with the “</a:t>
            </a:r>
            <a:r>
              <a:rPr lang="en-US" altLang="ko-KR" sz="1400" b="1" dirty="0">
                <a:solidFill>
                  <a:srgbClr val="FF0000"/>
                </a:solidFill>
              </a:rPr>
              <a:t>docker pull</a:t>
            </a:r>
            <a:r>
              <a:rPr lang="en-US" altLang="ko-KR" sz="1400" b="1" dirty="0"/>
              <a:t>” command on another machine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3CA2133-8787-E054-A3C2-6D13C333AA02}"/>
              </a:ext>
            </a:extLst>
          </p:cNvPr>
          <p:cNvGrpSpPr/>
          <p:nvPr/>
        </p:nvGrpSpPr>
        <p:grpSpPr>
          <a:xfrm>
            <a:off x="1191610" y="1542370"/>
            <a:ext cx="9808779" cy="2117602"/>
            <a:chOff x="1191610" y="1447776"/>
            <a:chExt cx="9808779" cy="2117602"/>
          </a:xfrm>
        </p:grpSpPr>
        <p:grpSp>
          <p:nvGrpSpPr>
            <p:cNvPr id="12" name="그룹 11">
              <a:extLst>
                <a:ext uri="{FF2B5EF4-FFF2-40B4-BE49-F238E27FC236}">
                  <a16:creationId xmlns:a16="http://schemas.microsoft.com/office/drawing/2014/main" id="{828BDF2C-4DFF-8D09-61BF-BA33C56646D9}"/>
                </a:ext>
              </a:extLst>
            </p:cNvPr>
            <p:cNvGrpSpPr/>
            <p:nvPr/>
          </p:nvGrpSpPr>
          <p:grpSpPr>
            <a:xfrm>
              <a:off x="1191610" y="1447776"/>
              <a:ext cx="9808779" cy="2117602"/>
              <a:chOff x="1191609" y="1557424"/>
              <a:chExt cx="9808779" cy="2117602"/>
            </a:xfrm>
          </p:grpSpPr>
          <p:sp>
            <p:nvSpPr>
              <p:cNvPr id="8" name="TextBox 7">
                <a:extLst>
                  <a:ext uri="{FF2B5EF4-FFF2-40B4-BE49-F238E27FC236}">
                    <a16:creationId xmlns:a16="http://schemas.microsoft.com/office/drawing/2014/main" id="{5D14E320-153A-3ACC-0B41-A6C9C0E9EC28}"/>
                  </a:ext>
                </a:extLst>
              </p:cNvPr>
              <p:cNvSpPr txBox="1"/>
              <p:nvPr/>
            </p:nvSpPr>
            <p:spPr>
              <a:xfrm>
                <a:off x="3047343" y="1557424"/>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a:t>
                </a:r>
                <a:endParaRPr lang="ko-KR" altLang="en-US" sz="1000" b="1" dirty="0"/>
              </a:p>
            </p:txBody>
          </p:sp>
          <p:sp>
            <p:nvSpPr>
              <p:cNvPr id="9" name="화살표: 아래쪽 8">
                <a:extLst>
                  <a:ext uri="{FF2B5EF4-FFF2-40B4-BE49-F238E27FC236}">
                    <a16:creationId xmlns:a16="http://schemas.microsoft.com/office/drawing/2014/main" id="{BB60575B-1D4D-BE24-3C13-C540AEF9C75A}"/>
                  </a:ext>
                </a:extLst>
              </p:cNvPr>
              <p:cNvSpPr/>
              <p:nvPr/>
            </p:nvSpPr>
            <p:spPr>
              <a:xfrm>
                <a:off x="5891048" y="1828800"/>
                <a:ext cx="409903" cy="2680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AC4517B-85F6-B304-850D-988325B10E63}"/>
                  </a:ext>
                </a:extLst>
              </p:cNvPr>
              <p:cNvPicPr>
                <a:picLocks noChangeAspect="1"/>
              </p:cNvPicPr>
              <p:nvPr/>
            </p:nvPicPr>
            <p:blipFill>
              <a:blip r:embed="rId2"/>
              <a:stretch>
                <a:fillRect/>
              </a:stretch>
            </p:blipFill>
            <p:spPr>
              <a:xfrm>
                <a:off x="1191609" y="2121969"/>
                <a:ext cx="9808779" cy="1553057"/>
              </a:xfrm>
              <a:prstGeom prst="rect">
                <a:avLst/>
              </a:prstGeom>
            </p:spPr>
          </p:pic>
        </p:grpSp>
        <p:sp>
          <p:nvSpPr>
            <p:cNvPr id="13" name="직사각형 12">
              <a:extLst>
                <a:ext uri="{FF2B5EF4-FFF2-40B4-BE49-F238E27FC236}">
                  <a16:creationId xmlns:a16="http://schemas.microsoft.com/office/drawing/2014/main" id="{802D545B-A8FE-B84F-87CA-E408C25BEBA2}"/>
                </a:ext>
              </a:extLst>
            </p:cNvPr>
            <p:cNvSpPr/>
            <p:nvPr/>
          </p:nvSpPr>
          <p:spPr>
            <a:xfrm>
              <a:off x="1277007" y="2757317"/>
              <a:ext cx="2727434" cy="127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288218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Your First App on Kubernetes(4/4)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Happened behind the Scenes :</a:t>
            </a:r>
          </a:p>
          <a:p>
            <a:pPr lvl="1">
              <a:buFont typeface="Wingdings" panose="05000000000000000000" pitchFamily="2" charset="2"/>
              <a:buChar char="§"/>
            </a:pPr>
            <a:r>
              <a:rPr lang="en-US" altLang="ko-KR" sz="1400" dirty="0"/>
              <a:t>The following figure shows the steps you had to perform to get a container image running inside Kubernetes. </a:t>
            </a:r>
            <a:r>
              <a:rPr lang="en-US" altLang="ko-KR" sz="1400" b="1" dirty="0"/>
              <a:t>First, you built the image and pushed it to Docker Hub</a:t>
            </a:r>
            <a:r>
              <a:rPr lang="en-US" altLang="ko-KR" sz="1400" dirty="0"/>
              <a:t>. This was necessary because building the image on your local machine only makes it available on your local machine, but you needed to </a:t>
            </a:r>
            <a:r>
              <a:rPr lang="en-US" altLang="ko-KR" sz="1400" b="1" dirty="0"/>
              <a:t>make it accessible to the Docker daemons running on your worker nodes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8DC6C47-FB07-3820-5AB3-1BA5879744F3}"/>
              </a:ext>
            </a:extLst>
          </p:cNvPr>
          <p:cNvPicPr>
            <a:picLocks noChangeAspect="1"/>
          </p:cNvPicPr>
          <p:nvPr/>
        </p:nvPicPr>
        <p:blipFill>
          <a:blip r:embed="rId2"/>
          <a:stretch>
            <a:fillRect/>
          </a:stretch>
        </p:blipFill>
        <p:spPr>
          <a:xfrm>
            <a:off x="5352393" y="1972014"/>
            <a:ext cx="6001407" cy="4437016"/>
          </a:xfrm>
          <a:prstGeom prst="rect">
            <a:avLst/>
          </a:prstGeom>
        </p:spPr>
      </p:pic>
      <p:sp>
        <p:nvSpPr>
          <p:cNvPr id="12" name="TextBox 11">
            <a:extLst>
              <a:ext uri="{FF2B5EF4-FFF2-40B4-BE49-F238E27FC236}">
                <a16:creationId xmlns:a16="http://schemas.microsoft.com/office/drawing/2014/main" id="{23E90A95-0B43-C10D-CD4C-30137D869E5B}"/>
              </a:ext>
            </a:extLst>
          </p:cNvPr>
          <p:cNvSpPr txBox="1"/>
          <p:nvPr/>
        </p:nvSpPr>
        <p:spPr>
          <a:xfrm>
            <a:off x="838200" y="1972014"/>
            <a:ext cx="4514193" cy="3646639"/>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When you ran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kubectl</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it created a new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ReplicationController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object in the cluster by sending a REST HTTP request to 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Kubernetes API server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ReplicationController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then created a new pod, which was then scheduled to one of the worker nodes by the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Scheduler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Kubelet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on that node saw that the pod was scheduled to it and instructed Docker to pull the specified image from the registry because the image wasn’t available locally</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After downloading the image, Docker created and ran the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NOTE : The term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scheduling</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means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assigning the pod to a node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pod is run immediately, not at a time in the future as the term might lead you to believe.</a:t>
            </a:r>
          </a:p>
        </p:txBody>
      </p:sp>
    </p:spTree>
    <p:extLst>
      <p:ext uri="{BB962C8B-B14F-4D97-AF65-F5344CB8AC3E}">
        <p14:creationId xmlns:p14="http://schemas.microsoft.com/office/powerpoint/2010/main" val="29920972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Web Application(1/2)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Service Object :</a:t>
            </a:r>
          </a:p>
          <a:p>
            <a:pPr lvl="1">
              <a:buFont typeface="Wingdings" panose="05000000000000000000" pitchFamily="2" charset="2"/>
              <a:buChar char="§"/>
            </a:pPr>
            <a:r>
              <a:rPr lang="en-US" altLang="ko-KR" sz="1400" b="1" dirty="0">
                <a:solidFill>
                  <a:srgbClr val="FF0000"/>
                </a:solidFill>
              </a:rPr>
              <a:t>Each pod gets its own IP address</a:t>
            </a:r>
            <a:r>
              <a:rPr lang="en-US" altLang="ko-KR" sz="1400" b="1" dirty="0"/>
              <a:t>, but this address is </a:t>
            </a:r>
            <a:r>
              <a:rPr lang="en-US" altLang="ko-KR" sz="1400" b="1" dirty="0">
                <a:solidFill>
                  <a:srgbClr val="FF0000"/>
                </a:solidFill>
              </a:rPr>
              <a:t>internal</a:t>
            </a:r>
            <a:r>
              <a:rPr lang="en-US" altLang="ko-KR" sz="1400" b="1" dirty="0"/>
              <a:t> to the cluster and isn’t accessible from outside of it</a:t>
            </a:r>
            <a:r>
              <a:rPr lang="en-US" altLang="ko-KR" sz="1400" dirty="0"/>
              <a:t>. To make the pod accessible from the outside, you’ll </a:t>
            </a:r>
            <a:r>
              <a:rPr lang="en-US" altLang="ko-KR" sz="1400" b="1" dirty="0"/>
              <a:t>expose it through a </a:t>
            </a:r>
            <a:r>
              <a:rPr lang="en-US" altLang="ko-KR" sz="1400" b="1" dirty="0">
                <a:solidFill>
                  <a:srgbClr val="FF0000"/>
                </a:solidFill>
              </a:rPr>
              <a:t>Service object</a:t>
            </a:r>
            <a:r>
              <a:rPr lang="en-US" altLang="ko-KR" sz="1400" dirty="0"/>
              <a:t>. You’ll create a special service of type </a:t>
            </a:r>
            <a:r>
              <a:rPr lang="en-US" altLang="ko-KR" sz="1400" b="1" dirty="0" err="1">
                <a:solidFill>
                  <a:srgbClr val="FF0000"/>
                </a:solidFill>
              </a:rPr>
              <a:t>LoadBalancer</a:t>
            </a:r>
            <a:r>
              <a:rPr lang="en-US" altLang="ko-KR" sz="1400" dirty="0"/>
              <a:t>, because if you create a regular service (a </a:t>
            </a:r>
            <a:r>
              <a:rPr lang="en-US" altLang="ko-KR" sz="1400" b="1" dirty="0" err="1"/>
              <a:t>ClusterIP</a:t>
            </a:r>
            <a:r>
              <a:rPr lang="en-US" altLang="ko-KR" sz="1400" dirty="0"/>
              <a:t> service), like the pod, it would also only be accessible from inside the cluster. </a:t>
            </a:r>
            <a:r>
              <a:rPr lang="en-US" altLang="ko-KR" sz="1400" b="1" dirty="0"/>
              <a:t>By creating a </a:t>
            </a:r>
            <a:r>
              <a:rPr lang="en-US" altLang="ko-KR" sz="1400" b="1" dirty="0" err="1"/>
              <a:t>LoadBalancer</a:t>
            </a:r>
            <a:r>
              <a:rPr lang="en-US" altLang="ko-KR" sz="1400" b="1" dirty="0"/>
              <a:t>-type service, an external load balancer will be created and you can connect to the pod through the load balancer’s public IP</a:t>
            </a:r>
            <a:r>
              <a:rPr lang="en-US" altLang="ko-KR" sz="1400" dirty="0"/>
              <a:t>.</a:t>
            </a:r>
          </a:p>
          <a:p>
            <a:pPr lvl="1">
              <a:buFont typeface="Wingdings" panose="05000000000000000000" pitchFamily="2" charset="2"/>
              <a:buChar char="§"/>
            </a:pPr>
            <a:r>
              <a:rPr lang="en-US" altLang="ko-KR" sz="1400" dirty="0"/>
              <a:t>To create the service, you’ll tell Kubernetes to expose the </a:t>
            </a:r>
            <a:r>
              <a:rPr lang="en-US" altLang="ko-KR" sz="1400" b="1" dirty="0" err="1"/>
              <a:t>ReplicationController</a:t>
            </a:r>
            <a:r>
              <a:rPr lang="en-US" altLang="ko-KR" sz="1400" dirty="0"/>
              <a:t> you created earlier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t>
            </a:r>
            <a:r>
              <a:rPr lang="en-US" altLang="ko-KR" sz="1400" b="1" dirty="0" err="1"/>
              <a:t>LoadBalancer</a:t>
            </a:r>
            <a:r>
              <a:rPr lang="en-US" altLang="ko-KR" sz="1400" b="1" dirty="0"/>
              <a:t> is provided by cloud operator like Google. So you cannot get the IP address now</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a:t>
            </a:r>
            <a:r>
              <a:rPr lang="ko-KR" altLang="en-US" sz="1400" b="1" dirty="0"/>
              <a:t> </a:t>
            </a:r>
            <a:r>
              <a:rPr lang="en-US" altLang="ko-KR" sz="1400" b="1" dirty="0"/>
              <a:t>:</a:t>
            </a:r>
            <a:r>
              <a:rPr lang="ko-KR" altLang="en-US" sz="1400" b="1" dirty="0"/>
              <a:t> </a:t>
            </a:r>
            <a:r>
              <a:rPr lang="en-US" altLang="ko-KR" sz="1400" b="1" dirty="0"/>
              <a:t>If</a:t>
            </a:r>
            <a:r>
              <a:rPr lang="ko-KR" altLang="en-US" sz="1400" b="1" dirty="0"/>
              <a:t> </a:t>
            </a:r>
            <a:r>
              <a:rPr lang="en-US" altLang="ko-KR" sz="1400" b="1" dirty="0"/>
              <a:t>you</a:t>
            </a:r>
            <a:r>
              <a:rPr lang="ko-KR" altLang="en-US" sz="1400" b="1" dirty="0"/>
              <a:t> </a:t>
            </a:r>
            <a:r>
              <a:rPr lang="en-US" altLang="ko-KR" sz="1400" b="1" dirty="0"/>
              <a:t>want</a:t>
            </a:r>
            <a:r>
              <a:rPr lang="ko-KR" altLang="en-US" sz="1400" b="1" dirty="0"/>
              <a:t> </a:t>
            </a:r>
            <a:r>
              <a:rPr lang="en-US" altLang="ko-KR" sz="1400" b="1" dirty="0"/>
              <a:t>to</a:t>
            </a:r>
            <a:r>
              <a:rPr lang="ko-KR" altLang="en-US" sz="1400" b="1" dirty="0"/>
              <a:t> </a:t>
            </a:r>
            <a:r>
              <a:rPr lang="en-US" altLang="ko-KR" sz="1400" b="1" dirty="0"/>
              <a:t>access</a:t>
            </a:r>
            <a:r>
              <a:rPr lang="ko-KR" altLang="en-US" sz="1400" b="1" dirty="0"/>
              <a:t> </a:t>
            </a:r>
            <a:r>
              <a:rPr lang="en-US" altLang="ko-KR" sz="1400" b="1" dirty="0"/>
              <a:t>the</a:t>
            </a:r>
            <a:r>
              <a:rPr lang="ko-KR" altLang="en-US" sz="1400" b="1" dirty="0"/>
              <a:t> </a:t>
            </a:r>
            <a:r>
              <a:rPr lang="en-US" altLang="ko-KR" sz="1400" b="1" dirty="0"/>
              <a:t>service, use </a:t>
            </a:r>
            <a:r>
              <a:rPr lang="en-US" altLang="ko-KR" sz="1400" b="1" dirty="0">
                <a:hlinkClick r:id="rId2"/>
              </a:rPr>
              <a:t>http://localhost:8080</a:t>
            </a:r>
            <a:r>
              <a:rPr lang="en-US" altLang="ko-KR" sz="1400" b="1" dirty="0"/>
              <a:t>. You can the exposed IP address from the above screenshot. In the above screenshot, I used “docker run” command to run the service.</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A73A26-7A10-7126-BA17-8348238D49FF}"/>
              </a:ext>
            </a:extLst>
          </p:cNvPr>
          <p:cNvSpPr txBox="1"/>
          <p:nvPr/>
        </p:nvSpPr>
        <p:spPr>
          <a:xfrm>
            <a:off x="3047343" y="2509920"/>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expose </a:t>
            </a:r>
            <a:r>
              <a:rPr lang="en-US" altLang="ko-KR" sz="1000" b="1" dirty="0" err="1"/>
              <a:t>rc</a:t>
            </a:r>
            <a:r>
              <a:rPr lang="en-US" altLang="ko-KR" sz="1000" b="1" dirty="0"/>
              <a:t> </a:t>
            </a:r>
            <a:r>
              <a:rPr lang="en-US" altLang="ko-KR" sz="1000" b="1" dirty="0" err="1"/>
              <a:t>kubia</a:t>
            </a:r>
            <a:r>
              <a:rPr lang="en-US" altLang="ko-KR" sz="1000" b="1" dirty="0"/>
              <a:t> --type=</a:t>
            </a:r>
            <a:r>
              <a:rPr lang="en-US" altLang="ko-KR" sz="1000" b="1" dirty="0" err="1">
                <a:solidFill>
                  <a:srgbClr val="FF0000"/>
                </a:solidFill>
              </a:rPr>
              <a:t>LoadBalancer</a:t>
            </a:r>
            <a:r>
              <a:rPr lang="en-US" altLang="ko-KR" sz="1000" b="1" dirty="0"/>
              <a:t> --name </a:t>
            </a:r>
            <a:r>
              <a:rPr lang="en-US" altLang="ko-KR" sz="1000" b="1" dirty="0" err="1"/>
              <a:t>kubia</a:t>
            </a:r>
            <a:r>
              <a:rPr lang="en-US" altLang="ko-KR" sz="1000" b="1" dirty="0"/>
              <a:t>-http</a:t>
            </a:r>
            <a:endParaRPr lang="ko-KR" altLang="en-US" sz="1000" b="1" dirty="0"/>
          </a:p>
        </p:txBody>
      </p:sp>
      <p:grpSp>
        <p:nvGrpSpPr>
          <p:cNvPr id="11" name="그룹 10">
            <a:extLst>
              <a:ext uri="{FF2B5EF4-FFF2-40B4-BE49-F238E27FC236}">
                <a16:creationId xmlns:a16="http://schemas.microsoft.com/office/drawing/2014/main" id="{FEC2C424-D9D7-6564-5D47-F762D67896DA}"/>
              </a:ext>
            </a:extLst>
          </p:cNvPr>
          <p:cNvGrpSpPr/>
          <p:nvPr/>
        </p:nvGrpSpPr>
        <p:grpSpPr>
          <a:xfrm>
            <a:off x="1872689" y="3240182"/>
            <a:ext cx="8446622" cy="2148087"/>
            <a:chOff x="1687978" y="3448831"/>
            <a:chExt cx="8816044" cy="2285911"/>
          </a:xfrm>
        </p:grpSpPr>
        <p:pic>
          <p:nvPicPr>
            <p:cNvPr id="9" name="그림 8">
              <a:extLst>
                <a:ext uri="{FF2B5EF4-FFF2-40B4-BE49-F238E27FC236}">
                  <a16:creationId xmlns:a16="http://schemas.microsoft.com/office/drawing/2014/main" id="{14467508-C14B-EC17-8C41-1DD04E809A65}"/>
                </a:ext>
              </a:extLst>
            </p:cNvPr>
            <p:cNvPicPr>
              <a:picLocks noChangeAspect="1"/>
            </p:cNvPicPr>
            <p:nvPr/>
          </p:nvPicPr>
          <p:blipFill>
            <a:blip r:embed="rId3"/>
            <a:stretch>
              <a:fillRect/>
            </a:stretch>
          </p:blipFill>
          <p:spPr>
            <a:xfrm>
              <a:off x="1687978" y="3448831"/>
              <a:ext cx="8816044" cy="2285911"/>
            </a:xfrm>
            <a:prstGeom prst="rect">
              <a:avLst/>
            </a:prstGeom>
          </p:spPr>
        </p:pic>
        <p:sp>
          <p:nvSpPr>
            <p:cNvPr id="10" name="직사각형 9">
              <a:extLst>
                <a:ext uri="{FF2B5EF4-FFF2-40B4-BE49-F238E27FC236}">
                  <a16:creationId xmlns:a16="http://schemas.microsoft.com/office/drawing/2014/main" id="{1D868C0B-A017-175E-1B34-D83C5DC80AF4}"/>
                </a:ext>
              </a:extLst>
            </p:cNvPr>
            <p:cNvSpPr/>
            <p:nvPr/>
          </p:nvSpPr>
          <p:spPr>
            <a:xfrm>
              <a:off x="8931166" y="5194738"/>
              <a:ext cx="1387366"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993942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Web Application(2/2)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Your Service through It’s External IP :</a:t>
            </a:r>
          </a:p>
          <a:p>
            <a:pPr lvl="1">
              <a:buFont typeface="Wingdings" panose="05000000000000000000" pitchFamily="2" charset="2"/>
              <a:buChar char="§"/>
            </a:pPr>
            <a:r>
              <a:rPr lang="en-US" altLang="ko-KR" sz="1400" dirty="0"/>
              <a:t>You can now send requests to your pod through the service’s external IP and port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To access your virtual machine like </a:t>
            </a:r>
            <a:r>
              <a:rPr lang="en-US" altLang="ko-KR" sz="1400" b="1" dirty="0" err="1"/>
              <a:t>Virtualbox</a:t>
            </a:r>
            <a:r>
              <a:rPr lang="en-US" altLang="ko-KR" sz="1400" b="1" dirty="0"/>
              <a:t> running on Windows host, you need to set the network interface of the virtual machine to bridged network</a:t>
            </a:r>
            <a:r>
              <a:rPr lang="en-US" altLang="ko-KR" sz="1400" dirty="0"/>
              <a:t>. If you are using </a:t>
            </a:r>
            <a:r>
              <a:rPr lang="en-US" altLang="ko-KR" sz="1400" b="1" dirty="0"/>
              <a:t>NAT(Network Address Translation)</a:t>
            </a:r>
            <a:r>
              <a:rPr lang="en-US" altLang="ko-KR" sz="1400" dirty="0"/>
              <a:t>, you cannot access it directly.</a:t>
            </a:r>
          </a:p>
          <a:p>
            <a:pPr lvl="1">
              <a:buFont typeface="Wingdings" panose="05000000000000000000" pitchFamily="2" charset="2"/>
              <a:buChar char="§"/>
            </a:pPr>
            <a:r>
              <a:rPr lang="en-US" altLang="ko-KR" sz="1400" dirty="0"/>
              <a:t>As you can see from </a:t>
            </a:r>
            <a:r>
              <a:rPr lang="en-US" altLang="ko-KR" sz="1400" b="1" dirty="0"/>
              <a:t>the above screenshot taken from the Windows 11 host</a:t>
            </a:r>
            <a:r>
              <a:rPr lang="en-US" altLang="ko-KR" sz="1400" dirty="0"/>
              <a:t>, your app is now running somewhere(</a:t>
            </a:r>
            <a:r>
              <a:rPr lang="en-US" altLang="ko-KR" sz="1400" b="1" dirty="0"/>
              <a:t>VirtualBox</a:t>
            </a:r>
            <a:r>
              <a:rPr lang="en-US" altLang="ko-KR" sz="1400" dirty="0"/>
              <a:t>) in Kubernetes cluster (here, </a:t>
            </a:r>
            <a:r>
              <a:rPr lang="en-US" altLang="ko-KR" sz="1400" b="1" dirty="0"/>
              <a:t>we are using </a:t>
            </a:r>
            <a:r>
              <a:rPr lang="en-US" altLang="ko-KR" sz="1400" b="1" dirty="0" err="1"/>
              <a:t>Minikube</a:t>
            </a:r>
            <a:r>
              <a:rPr lang="en-US" altLang="ko-KR" sz="1400" b="1" dirty="0"/>
              <a:t> for single-node cluster running on a Oracle VirtualBox</a:t>
            </a:r>
            <a:r>
              <a:rPr lang="en-US" altLang="ko-KR" sz="1400" dirty="0"/>
              <a:t>). If you don’t count the steps required to set up the whole cluster, all it took was simple commands to get your app running and to make it accessible to users across the world.</a:t>
            </a:r>
          </a:p>
          <a:p>
            <a:pPr lvl="1">
              <a:buFont typeface="Wingdings" panose="05000000000000000000" pitchFamily="2" charset="2"/>
              <a:buChar char="§"/>
            </a:pPr>
            <a:r>
              <a:rPr lang="en-US" altLang="ko-KR" sz="1400" b="1" dirty="0"/>
              <a:t>As already mentioned, each pod behaves like </a:t>
            </a:r>
            <a:r>
              <a:rPr lang="en-US" altLang="ko-KR" sz="1400" b="1" dirty="0">
                <a:solidFill>
                  <a:srgbClr val="FF0000"/>
                </a:solidFill>
              </a:rPr>
              <a:t>a separate independent machine with its own IP address and hostname</a:t>
            </a:r>
            <a:r>
              <a:rPr lang="en-US" altLang="ko-KR" sz="1400" dirty="0"/>
              <a:t>. Even though the application is running in the worker node’s operating system, to the app </a:t>
            </a:r>
            <a:r>
              <a:rPr lang="en-US" altLang="ko-KR" sz="1400" b="1" dirty="0"/>
              <a:t>it appears as though it’s running on a separate machine dedicated to the app itself—no other processes are running alongside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0D3A20E8-545F-1F84-944C-903616C7FE08}"/>
              </a:ext>
            </a:extLst>
          </p:cNvPr>
          <p:cNvGrpSpPr/>
          <p:nvPr/>
        </p:nvGrpSpPr>
        <p:grpSpPr>
          <a:xfrm>
            <a:off x="1479331" y="1518011"/>
            <a:ext cx="9233338" cy="2094665"/>
            <a:chOff x="1479331" y="1470713"/>
            <a:chExt cx="9233338" cy="2094665"/>
          </a:xfrm>
        </p:grpSpPr>
        <p:sp>
          <p:nvSpPr>
            <p:cNvPr id="8" name="TextBox 7">
              <a:extLst>
                <a:ext uri="{FF2B5EF4-FFF2-40B4-BE49-F238E27FC236}">
                  <a16:creationId xmlns:a16="http://schemas.microsoft.com/office/drawing/2014/main" id="{17D47516-4C77-1E9D-B1A0-A72298329A7D}"/>
                </a:ext>
              </a:extLst>
            </p:cNvPr>
            <p:cNvSpPr txBox="1"/>
            <p:nvPr/>
          </p:nvSpPr>
          <p:spPr>
            <a:xfrm>
              <a:off x="3047343" y="1470713"/>
              <a:ext cx="6097314"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&lt;You virtual machine IP address&gt;:8080</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A42219F-08BC-67E8-CF2D-A05EF1364C76}"/>
                </a:ext>
              </a:extLst>
            </p:cNvPr>
            <p:cNvSpPr/>
            <p:nvPr/>
          </p:nvSpPr>
          <p:spPr>
            <a:xfrm>
              <a:off x="5923893" y="1716934"/>
              <a:ext cx="34421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16340B93-235C-80BF-5D73-F77D43F91EB7}"/>
                </a:ext>
              </a:extLst>
            </p:cNvPr>
            <p:cNvPicPr>
              <a:picLocks noChangeAspect="1"/>
            </p:cNvPicPr>
            <p:nvPr/>
          </p:nvPicPr>
          <p:blipFill>
            <a:blip r:embed="rId2"/>
            <a:stretch>
              <a:fillRect/>
            </a:stretch>
          </p:blipFill>
          <p:spPr>
            <a:xfrm>
              <a:off x="1479331" y="1970529"/>
              <a:ext cx="9233338" cy="1594849"/>
            </a:xfrm>
            <a:prstGeom prst="rect">
              <a:avLst/>
            </a:prstGeom>
          </p:spPr>
        </p:pic>
      </p:grpSp>
    </p:spTree>
    <p:extLst>
      <p:ext uri="{BB962C8B-B14F-4D97-AF65-F5344CB8AC3E}">
        <p14:creationId xmlns:p14="http://schemas.microsoft.com/office/powerpoint/2010/main" val="35354685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a:t>
            </a:r>
            <a:r>
              <a:rPr lang="en-US" altLang="ko-KR" sz="2800" b="1"/>
              <a:t>(1/4)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Pods :</a:t>
            </a:r>
          </a:p>
          <a:p>
            <a:pPr lvl="1">
              <a:buFont typeface="Wingdings" panose="05000000000000000000" pitchFamily="2" charset="2"/>
              <a:buChar char="§"/>
            </a:pPr>
            <a:r>
              <a:rPr lang="en-US" altLang="ko-KR" sz="1400" b="1" dirty="0"/>
              <a:t>To access the pods you create, you need to create </a:t>
            </a:r>
            <a:r>
              <a:rPr lang="en-US" altLang="ko-KR" sz="1400" b="1" dirty="0">
                <a:solidFill>
                  <a:srgbClr val="FF0000"/>
                </a:solidFill>
              </a:rPr>
              <a:t>deployment pods </a:t>
            </a:r>
            <a:r>
              <a:rPr lang="en-US" altLang="ko-KR" sz="1400" b="1" dirty="0"/>
              <a:t>and </a:t>
            </a:r>
            <a:r>
              <a:rPr lang="en-US" altLang="ko-KR" sz="1400" b="1" dirty="0">
                <a:solidFill>
                  <a:srgbClr val="FF0000"/>
                </a:solidFill>
              </a:rPr>
              <a:t>services</a:t>
            </a:r>
            <a:r>
              <a:rPr lang="en-US" altLang="ko-KR" sz="1400" dirty="0"/>
              <a:t>. The following </a:t>
            </a:r>
            <a:r>
              <a:rPr lang="en-US" altLang="ko-KR" sz="1400" b="1" dirty="0"/>
              <a:t>YAML file</a:t>
            </a:r>
            <a:r>
              <a:rPr lang="en-US" altLang="ko-KR" sz="1400" dirty="0"/>
              <a:t> is for the example of </a:t>
            </a:r>
            <a:r>
              <a:rPr lang="en-US" altLang="ko-KR" sz="1400" b="1" dirty="0"/>
              <a:t>Deployments</a:t>
            </a:r>
            <a:r>
              <a:rPr lang="en-US" altLang="ko-KR" sz="1400" dirty="0"/>
              <a:t> and </a:t>
            </a:r>
            <a:r>
              <a:rPr lang="en-US" altLang="ko-KR" sz="1400" b="1" dirty="0"/>
              <a:t>Services</a:t>
            </a:r>
            <a:r>
              <a:rPr lang="en-US" altLang="ko-KR" sz="1400" dirty="0"/>
              <a:t> manifest, which are will be discussed later.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Here, we defined “Deployment” pod for “nginx” and “</a:t>
            </a:r>
            <a:r>
              <a:rPr lang="en-US" altLang="ko-KR" sz="1400" b="1" dirty="0" err="1"/>
              <a:t>NodePort</a:t>
            </a:r>
            <a:r>
              <a:rPr lang="en-US" altLang="ko-KR" sz="1400" b="1" dirty="0"/>
              <a:t>” type service named “nginx-</a:t>
            </a:r>
            <a:r>
              <a:rPr lang="en-US" altLang="ko-KR" sz="1400" b="1" dirty="0" err="1"/>
              <a:t>nodeport</a:t>
            </a:r>
            <a:r>
              <a:rPr lang="en-US" altLang="ko-KR" sz="1400" b="1" dirty="0"/>
              <a:t>-svc”. The service will be exposed through the TCP connection with port mapping “30000” to “80” for the “nginx”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F4FC6557-7FC9-6D8D-5A3A-A8C00F044D0D}"/>
              </a:ext>
            </a:extLst>
          </p:cNvPr>
          <p:cNvGrpSpPr/>
          <p:nvPr/>
        </p:nvGrpSpPr>
        <p:grpSpPr>
          <a:xfrm>
            <a:off x="2263008" y="1843950"/>
            <a:ext cx="7665983" cy="3170099"/>
            <a:chOff x="1688552" y="2006668"/>
            <a:chExt cx="7665983" cy="3170099"/>
          </a:xfrm>
        </p:grpSpPr>
        <p:grpSp>
          <p:nvGrpSpPr>
            <p:cNvPr id="10" name="그룹 9">
              <a:extLst>
                <a:ext uri="{FF2B5EF4-FFF2-40B4-BE49-F238E27FC236}">
                  <a16:creationId xmlns:a16="http://schemas.microsoft.com/office/drawing/2014/main" id="{3C78DD83-7AC9-5370-7679-12C9FDCEA8D8}"/>
                </a:ext>
              </a:extLst>
            </p:cNvPr>
            <p:cNvGrpSpPr/>
            <p:nvPr/>
          </p:nvGrpSpPr>
          <p:grpSpPr>
            <a:xfrm>
              <a:off x="1688552" y="2006668"/>
              <a:ext cx="3785695" cy="3170099"/>
              <a:chOff x="1688552" y="2006668"/>
              <a:chExt cx="3785695" cy="3170099"/>
            </a:xfrm>
          </p:grpSpPr>
          <p:sp>
            <p:nvSpPr>
              <p:cNvPr id="8" name="TextBox 7">
                <a:extLst>
                  <a:ext uri="{FF2B5EF4-FFF2-40B4-BE49-F238E27FC236}">
                    <a16:creationId xmlns:a16="http://schemas.microsoft.com/office/drawing/2014/main" id="{0B7A7D3C-A579-804D-381E-E6713C45FA35}"/>
                  </a:ext>
                </a:extLst>
              </p:cNvPr>
              <p:cNvSpPr txBox="1"/>
              <p:nvPr/>
            </p:nvSpPr>
            <p:spPr>
              <a:xfrm>
                <a:off x="1688552" y="2006668"/>
                <a:ext cx="3785695" cy="317009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a:t>
                </a:r>
                <a:r>
                  <a:rPr lang="en-US" altLang="ko-KR" sz="1000" b="1" dirty="0">
                    <a:solidFill>
                      <a:srgbClr val="FF0000"/>
                    </a:solidFill>
                  </a:rPr>
                  <a:t>Deployment</a:t>
                </a:r>
              </a:p>
              <a:p>
                <a:r>
                  <a:rPr lang="en-US" altLang="ko-KR" sz="1000" b="1" dirty="0"/>
                  <a:t>metadata:</a:t>
                </a:r>
              </a:p>
              <a:p>
                <a:r>
                  <a:rPr lang="en-US" altLang="ko-KR" sz="1000" b="1" dirty="0"/>
                  <a:t>  name: </a:t>
                </a:r>
                <a:r>
                  <a:rPr lang="en-US" altLang="ko-KR" sz="1000" b="1" dirty="0">
                    <a:solidFill>
                      <a:srgbClr val="FF0000"/>
                    </a:solidFill>
                  </a:rPr>
                  <a:t>nginx-hello</a:t>
                </a:r>
              </a:p>
              <a:p>
                <a:r>
                  <a:rPr lang="en-US" altLang="ko-KR" sz="1000" b="1" dirty="0"/>
                  <a:t>  namespace: default</a:t>
                </a:r>
              </a:p>
              <a:p>
                <a:r>
                  <a:rPr lang="en-US" altLang="ko-KR" sz="1000" b="1" dirty="0"/>
                  <a:t>  labels:</a:t>
                </a:r>
              </a:p>
              <a:p>
                <a:r>
                  <a:rPr lang="en-US" altLang="ko-KR" sz="1000" b="1" dirty="0"/>
                  <a:t>    app: </a:t>
                </a:r>
                <a:r>
                  <a:rPr lang="en-US" altLang="ko-KR" sz="1000" b="1" dirty="0">
                    <a:solidFill>
                      <a:srgbClr val="FF0000"/>
                    </a:solidFill>
                  </a:rPr>
                  <a:t>nginx</a:t>
                </a:r>
              </a:p>
              <a:p>
                <a:r>
                  <a:rPr lang="en-US" altLang="ko-KR" sz="1000" b="1" dirty="0"/>
                  <a:t>spec:</a:t>
                </a:r>
              </a:p>
              <a:p>
                <a:r>
                  <a:rPr lang="en-US" altLang="ko-KR" sz="1000" b="1" dirty="0"/>
                  <a:t>  replicas: 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a:solidFill>
                      <a:srgbClr val="FF0000"/>
                    </a:solidFill>
                  </a:rPr>
                  <a:t>nginx</a:t>
                </a: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a:solidFill>
                      <a:srgbClr val="FF0000"/>
                    </a:solidFill>
                  </a:rPr>
                  <a:t>nginx</a:t>
                </a:r>
              </a:p>
              <a:p>
                <a:r>
                  <a:rPr lang="en-US" altLang="ko-KR" sz="1000" b="1" dirty="0"/>
                  <a:t>    spec:</a:t>
                </a:r>
              </a:p>
              <a:p>
                <a:r>
                  <a:rPr lang="en-US" altLang="ko-KR" sz="1000" b="1" dirty="0"/>
                  <a:t>      containers:</a:t>
                </a:r>
              </a:p>
              <a:p>
                <a:r>
                  <a:rPr lang="en-US" altLang="ko-KR" sz="1000" b="1" dirty="0"/>
                  <a:t>      - name: </a:t>
                </a:r>
                <a:r>
                  <a:rPr lang="en-US" altLang="ko-KR" sz="1000" b="1" dirty="0">
                    <a:solidFill>
                      <a:srgbClr val="FF0000"/>
                    </a:solidFill>
                  </a:rPr>
                  <a:t>nginx</a:t>
                </a:r>
              </a:p>
              <a:p>
                <a:r>
                  <a:rPr lang="en-US" altLang="ko-KR" sz="1000" b="1" dirty="0"/>
                  <a:t>        image: </a:t>
                </a:r>
                <a:r>
                  <a:rPr lang="en-US" altLang="ko-KR" sz="1000" b="1" dirty="0">
                    <a:solidFill>
                      <a:srgbClr val="FF0000"/>
                    </a:solidFill>
                  </a:rPr>
                  <a:t>nginx</a:t>
                </a:r>
                <a:endParaRPr lang="ko-KR" altLang="en-US" sz="1000" b="1" dirty="0">
                  <a:solidFill>
                    <a:srgbClr val="FF0000"/>
                  </a:solidFill>
                </a:endParaRPr>
              </a:p>
            </p:txBody>
          </p:sp>
          <p:sp>
            <p:nvSpPr>
              <p:cNvPr id="9" name="TextBox 8">
                <a:extLst>
                  <a:ext uri="{FF2B5EF4-FFF2-40B4-BE49-F238E27FC236}">
                    <a16:creationId xmlns:a16="http://schemas.microsoft.com/office/drawing/2014/main" id="{A229A2B4-E658-945F-F9C5-A796B3B1ACE8}"/>
                  </a:ext>
                </a:extLst>
              </p:cNvPr>
              <p:cNvSpPr txBox="1"/>
              <p:nvPr/>
            </p:nvSpPr>
            <p:spPr>
              <a:xfrm>
                <a:off x="4154654" y="2006668"/>
                <a:ext cx="1319593" cy="246221"/>
              </a:xfrm>
              <a:prstGeom prst="rect">
                <a:avLst/>
              </a:prstGeom>
              <a:noFill/>
            </p:spPr>
            <p:txBody>
              <a:bodyPr wrap="none" rtlCol="0">
                <a:spAutoFit/>
              </a:bodyPr>
              <a:lstStyle/>
              <a:p>
                <a:pPr algn="ctr"/>
                <a:r>
                  <a:rPr lang="en-US" altLang="ko-KR" sz="1000" b="1" dirty="0"/>
                  <a:t>nginx-</a:t>
                </a:r>
                <a:r>
                  <a:rPr lang="en-US" altLang="ko-KR" sz="1000" b="1" dirty="0" err="1"/>
                  <a:t>deploy.yaml</a:t>
                </a:r>
                <a:endParaRPr lang="ko-KR" altLang="en-US" sz="1000" b="1" dirty="0"/>
              </a:p>
            </p:txBody>
          </p:sp>
        </p:grpSp>
        <p:grpSp>
          <p:nvGrpSpPr>
            <p:cNvPr id="14" name="그룹 13">
              <a:extLst>
                <a:ext uri="{FF2B5EF4-FFF2-40B4-BE49-F238E27FC236}">
                  <a16:creationId xmlns:a16="http://schemas.microsoft.com/office/drawing/2014/main" id="{257C3590-2A74-BC87-31B7-F60FCA4B4B07}"/>
                </a:ext>
              </a:extLst>
            </p:cNvPr>
            <p:cNvGrpSpPr/>
            <p:nvPr/>
          </p:nvGrpSpPr>
          <p:grpSpPr>
            <a:xfrm>
              <a:off x="5568840" y="2006668"/>
              <a:ext cx="3785695" cy="3170099"/>
              <a:chOff x="5568840" y="2006668"/>
              <a:chExt cx="3785695" cy="3170099"/>
            </a:xfrm>
          </p:grpSpPr>
          <p:sp>
            <p:nvSpPr>
              <p:cNvPr id="12" name="TextBox 11">
                <a:extLst>
                  <a:ext uri="{FF2B5EF4-FFF2-40B4-BE49-F238E27FC236}">
                    <a16:creationId xmlns:a16="http://schemas.microsoft.com/office/drawing/2014/main" id="{33E5F7F3-1EA5-B53A-94D5-10262819219D}"/>
                  </a:ext>
                </a:extLst>
              </p:cNvPr>
              <p:cNvSpPr txBox="1"/>
              <p:nvPr/>
            </p:nvSpPr>
            <p:spPr>
              <a:xfrm>
                <a:off x="5568840" y="2006668"/>
                <a:ext cx="3785695" cy="317009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Service</a:t>
                </a:r>
              </a:p>
              <a:p>
                <a:r>
                  <a:rPr lang="en-US" altLang="ko-KR" sz="1000" b="1" dirty="0"/>
                  <a:t>metadata:</a:t>
                </a:r>
              </a:p>
              <a:p>
                <a:r>
                  <a:rPr lang="en-US" altLang="ko-KR" sz="1000" b="1" dirty="0"/>
                  <a:t>  name: </a:t>
                </a:r>
                <a:r>
                  <a:rPr lang="en-US" altLang="ko-KR" sz="1000" b="1" dirty="0">
                    <a:solidFill>
                      <a:srgbClr val="FF0000"/>
                    </a:solidFill>
                  </a:rPr>
                  <a:t>nginx-</a:t>
                </a:r>
                <a:r>
                  <a:rPr lang="en-US" altLang="ko-KR" sz="1000" b="1" dirty="0" err="1">
                    <a:solidFill>
                      <a:srgbClr val="FF0000"/>
                    </a:solidFill>
                  </a:rPr>
                  <a:t>nodeport</a:t>
                </a:r>
                <a:r>
                  <a:rPr lang="en-US" altLang="ko-KR" sz="1000" b="1" dirty="0">
                    <a:solidFill>
                      <a:srgbClr val="FF0000"/>
                    </a:solidFill>
                  </a:rPr>
                  <a:t>-svc</a:t>
                </a:r>
              </a:p>
              <a:p>
                <a:r>
                  <a:rPr lang="en-US" altLang="ko-KR" sz="1000" b="1" dirty="0"/>
                  <a:t>spec:</a:t>
                </a:r>
              </a:p>
              <a:p>
                <a:r>
                  <a:rPr lang="en-US" altLang="ko-KR" sz="1000" b="1" dirty="0"/>
                  <a:t>  type: </a:t>
                </a:r>
                <a:r>
                  <a:rPr lang="en-US" altLang="ko-KR" sz="1000" b="1" dirty="0" err="1">
                    <a:solidFill>
                      <a:srgbClr val="FF0000"/>
                    </a:solidFill>
                  </a:rPr>
                  <a:t>NodePort</a:t>
                </a:r>
                <a:endParaRPr lang="en-US" altLang="ko-KR" sz="1000" b="1" dirty="0">
                  <a:solidFill>
                    <a:srgbClr val="FF0000"/>
                  </a:solidFill>
                </a:endParaRPr>
              </a:p>
              <a:p>
                <a:r>
                  <a:rPr lang="en-US" altLang="ko-KR" sz="1000" b="1" dirty="0"/>
                  <a:t>  selector:</a:t>
                </a:r>
              </a:p>
              <a:p>
                <a:r>
                  <a:rPr lang="en-US" altLang="ko-KR" sz="1000" b="1" dirty="0"/>
                  <a:t>    app: </a:t>
                </a:r>
                <a:r>
                  <a:rPr lang="en-US" altLang="ko-KR" sz="1000" b="1" dirty="0">
                    <a:solidFill>
                      <a:srgbClr val="FF0000"/>
                    </a:solidFill>
                  </a:rPr>
                  <a:t>nginx</a:t>
                </a:r>
              </a:p>
              <a:p>
                <a:r>
                  <a:rPr lang="en-US" altLang="ko-KR" sz="1000" b="1" dirty="0"/>
                  <a:t>  ports:</a:t>
                </a:r>
              </a:p>
              <a:p>
                <a:r>
                  <a:rPr lang="en-US" altLang="ko-KR" sz="1000" b="1" dirty="0"/>
                  <a:t>  - name: http</a:t>
                </a:r>
              </a:p>
              <a:p>
                <a:r>
                  <a:rPr lang="en-US" altLang="ko-KR" sz="1000" b="1" dirty="0"/>
                  <a:t>    port: </a:t>
                </a:r>
                <a:r>
                  <a:rPr lang="en-US" altLang="ko-KR" sz="1000" b="1" dirty="0">
                    <a:solidFill>
                      <a:srgbClr val="FF0000"/>
                    </a:solidFill>
                  </a:rPr>
                  <a:t>80</a:t>
                </a:r>
              </a:p>
              <a:p>
                <a:r>
                  <a:rPr lang="en-US" altLang="ko-KR" sz="1000" b="1" dirty="0"/>
                  <a:t>    protocol: </a:t>
                </a:r>
                <a:r>
                  <a:rPr lang="en-US" altLang="ko-KR" sz="1000" b="1" dirty="0">
                    <a:solidFill>
                      <a:srgbClr val="FF0000"/>
                    </a:solidFill>
                  </a:rPr>
                  <a:t>TCP</a:t>
                </a:r>
              </a:p>
              <a:p>
                <a:r>
                  <a:rPr lang="en-US" altLang="ko-KR" sz="1000" b="1" dirty="0"/>
                  <a:t>    </a:t>
                </a:r>
                <a:r>
                  <a:rPr lang="en-US" altLang="ko-KR" sz="1000" b="1" dirty="0" err="1"/>
                  <a:t>nodePort</a:t>
                </a:r>
                <a:r>
                  <a:rPr lang="en-US" altLang="ko-KR" sz="1000" b="1" dirty="0"/>
                  <a:t>: </a:t>
                </a:r>
                <a:r>
                  <a:rPr lang="en-US" altLang="ko-KR" sz="1000" b="1" dirty="0">
                    <a:solidFill>
                      <a:srgbClr val="FF0000"/>
                    </a:solidFill>
                  </a:rPr>
                  <a:t>30000</a:t>
                </a:r>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3" name="TextBox 12">
                <a:extLst>
                  <a:ext uri="{FF2B5EF4-FFF2-40B4-BE49-F238E27FC236}">
                    <a16:creationId xmlns:a16="http://schemas.microsoft.com/office/drawing/2014/main" id="{6E4CB1FA-1997-D49E-EAAB-B1AD73EA5FA0}"/>
                  </a:ext>
                </a:extLst>
              </p:cNvPr>
              <p:cNvSpPr txBox="1"/>
              <p:nvPr/>
            </p:nvSpPr>
            <p:spPr>
              <a:xfrm>
                <a:off x="7637398" y="2006668"/>
                <a:ext cx="1717137" cy="246221"/>
              </a:xfrm>
              <a:prstGeom prst="rect">
                <a:avLst/>
              </a:prstGeom>
              <a:noFill/>
            </p:spPr>
            <p:txBody>
              <a:bodyPr wrap="none" rtlCol="0">
                <a:spAutoFit/>
              </a:bodyPr>
              <a:lstStyle/>
              <a:p>
                <a:pPr algn="ctr"/>
                <a:r>
                  <a:rPr lang="en-US" altLang="ko-KR" sz="1000" b="1" dirty="0"/>
                  <a:t>nginx-</a:t>
                </a:r>
                <a:r>
                  <a:rPr lang="en-US" altLang="ko-KR" sz="1000" b="1" dirty="0" err="1"/>
                  <a:t>nodeport</a:t>
                </a:r>
                <a:r>
                  <a:rPr lang="en-US" altLang="ko-KR" sz="1000" b="1" dirty="0"/>
                  <a:t>-</a:t>
                </a:r>
                <a:r>
                  <a:rPr lang="en-US" altLang="ko-KR" sz="1000" b="1" dirty="0" err="1"/>
                  <a:t>svc.yaml</a:t>
                </a:r>
                <a:endParaRPr lang="ko-KR" altLang="en-US" sz="1000" b="1" dirty="0"/>
              </a:p>
            </p:txBody>
          </p:sp>
        </p:grpSp>
      </p:grpSp>
    </p:spTree>
    <p:extLst>
      <p:ext uri="{BB962C8B-B14F-4D97-AF65-F5344CB8AC3E}">
        <p14:creationId xmlns:p14="http://schemas.microsoft.com/office/powerpoint/2010/main" val="35607735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Pods :</a:t>
            </a:r>
          </a:p>
          <a:p>
            <a:pPr lvl="1">
              <a:buFont typeface="Wingdings" panose="05000000000000000000" pitchFamily="2" charset="2"/>
              <a:buChar char="§"/>
            </a:pPr>
            <a:r>
              <a:rPr lang="en-US" altLang="ko-KR" sz="1400" b="1" dirty="0"/>
              <a:t>Now, it’s time to create the deployment pod and create(or apply) the “</a:t>
            </a:r>
            <a:r>
              <a:rPr lang="en-US" altLang="ko-KR" sz="1400" b="1" dirty="0" err="1"/>
              <a:t>NodePort</a:t>
            </a:r>
            <a:r>
              <a:rPr lang="en-US" altLang="ko-KR" sz="1400" b="1" dirty="0"/>
              <a:t>” type exposed service</a:t>
            </a:r>
            <a:r>
              <a:rPr lang="en-US" altLang="ko-KR" sz="1400" dirty="0"/>
              <a:t> with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D9813877-9E25-3EDE-6012-7A2138EF8002}"/>
              </a:ext>
            </a:extLst>
          </p:cNvPr>
          <p:cNvGrpSpPr/>
          <p:nvPr/>
        </p:nvGrpSpPr>
        <p:grpSpPr>
          <a:xfrm>
            <a:off x="1185370" y="1895319"/>
            <a:ext cx="9821260" cy="3552746"/>
            <a:chOff x="1185370" y="1895319"/>
            <a:chExt cx="9821260" cy="3552746"/>
          </a:xfrm>
        </p:grpSpPr>
        <p:pic>
          <p:nvPicPr>
            <p:cNvPr id="9" name="그림 8">
              <a:extLst>
                <a:ext uri="{FF2B5EF4-FFF2-40B4-BE49-F238E27FC236}">
                  <a16:creationId xmlns:a16="http://schemas.microsoft.com/office/drawing/2014/main" id="{942066B3-CC8A-D22C-93A0-38FDF963BE11}"/>
                </a:ext>
              </a:extLst>
            </p:cNvPr>
            <p:cNvPicPr>
              <a:picLocks noChangeAspect="1"/>
            </p:cNvPicPr>
            <p:nvPr/>
          </p:nvPicPr>
          <p:blipFill>
            <a:blip r:embed="rId2"/>
            <a:stretch>
              <a:fillRect/>
            </a:stretch>
          </p:blipFill>
          <p:spPr>
            <a:xfrm>
              <a:off x="1185370" y="1895319"/>
              <a:ext cx="9821260" cy="1696399"/>
            </a:xfrm>
            <a:prstGeom prst="rect">
              <a:avLst/>
            </a:prstGeom>
          </p:spPr>
        </p:pic>
        <p:pic>
          <p:nvPicPr>
            <p:cNvPr id="13" name="그림 12">
              <a:extLst>
                <a:ext uri="{FF2B5EF4-FFF2-40B4-BE49-F238E27FC236}">
                  <a16:creationId xmlns:a16="http://schemas.microsoft.com/office/drawing/2014/main" id="{8EB55931-B447-9132-0A4B-919268D72C00}"/>
                </a:ext>
              </a:extLst>
            </p:cNvPr>
            <p:cNvPicPr>
              <a:picLocks noChangeAspect="1"/>
            </p:cNvPicPr>
            <p:nvPr/>
          </p:nvPicPr>
          <p:blipFill>
            <a:blip r:embed="rId3"/>
            <a:stretch>
              <a:fillRect/>
            </a:stretch>
          </p:blipFill>
          <p:spPr>
            <a:xfrm>
              <a:off x="1185370" y="3751666"/>
              <a:ext cx="9821260" cy="1696399"/>
            </a:xfrm>
            <a:prstGeom prst="rect">
              <a:avLst/>
            </a:prstGeom>
          </p:spPr>
        </p:pic>
        <p:sp>
          <p:nvSpPr>
            <p:cNvPr id="14" name="직사각형 13">
              <a:extLst>
                <a:ext uri="{FF2B5EF4-FFF2-40B4-BE49-F238E27FC236}">
                  <a16:creationId xmlns:a16="http://schemas.microsoft.com/office/drawing/2014/main" id="{3C23E020-EBBC-78FE-6739-0E07A9D040F7}"/>
                </a:ext>
              </a:extLst>
            </p:cNvPr>
            <p:cNvSpPr/>
            <p:nvPr/>
          </p:nvSpPr>
          <p:spPr>
            <a:xfrm>
              <a:off x="5730765" y="2372711"/>
              <a:ext cx="2585545" cy="212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C9D6205A-6FC7-7BF4-03C4-452235021A83}"/>
                </a:ext>
              </a:extLst>
            </p:cNvPr>
            <p:cNvSpPr/>
            <p:nvPr/>
          </p:nvSpPr>
          <p:spPr>
            <a:xfrm>
              <a:off x="5730764" y="4536801"/>
              <a:ext cx="2963919" cy="212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743447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Pods :</a:t>
            </a:r>
          </a:p>
          <a:p>
            <a:pPr lvl="1">
              <a:buFont typeface="Wingdings" panose="05000000000000000000" pitchFamily="2" charset="2"/>
              <a:buChar char="§"/>
            </a:pPr>
            <a:r>
              <a:rPr lang="en-US" altLang="ko-KR" sz="1400" b="1" dirty="0"/>
              <a:t>To see the status of the node and service</a:t>
            </a:r>
            <a:r>
              <a:rPr lang="en-US" altLang="ko-KR" sz="1400" dirty="0"/>
              <a:t>, you can use the following commands.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In the above screenshot, you can see that the “nginx-</a:t>
            </a:r>
            <a:r>
              <a:rPr lang="en-US" altLang="ko-KR" sz="1400" b="1" dirty="0" err="1"/>
              <a:t>nodeport</a:t>
            </a:r>
            <a:r>
              <a:rPr lang="en-US" altLang="ko-KR" sz="1400" b="1" dirty="0"/>
              <a:t>-svc” service is using porting mapping “80” to “30000”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0DD46931-496A-BCBA-6773-26CB4729BE92}"/>
              </a:ext>
            </a:extLst>
          </p:cNvPr>
          <p:cNvGrpSpPr/>
          <p:nvPr/>
        </p:nvGrpSpPr>
        <p:grpSpPr>
          <a:xfrm>
            <a:off x="1251612" y="1755485"/>
            <a:ext cx="9688774" cy="3491351"/>
            <a:chOff x="1251612" y="1755485"/>
            <a:chExt cx="9688774" cy="3491351"/>
          </a:xfrm>
        </p:grpSpPr>
        <p:pic>
          <p:nvPicPr>
            <p:cNvPr id="10" name="그림 9">
              <a:extLst>
                <a:ext uri="{FF2B5EF4-FFF2-40B4-BE49-F238E27FC236}">
                  <a16:creationId xmlns:a16="http://schemas.microsoft.com/office/drawing/2014/main" id="{C6174819-BC00-5675-CEC8-99217975F48D}"/>
                </a:ext>
              </a:extLst>
            </p:cNvPr>
            <p:cNvPicPr>
              <a:picLocks noChangeAspect="1"/>
            </p:cNvPicPr>
            <p:nvPr/>
          </p:nvPicPr>
          <p:blipFill>
            <a:blip r:embed="rId2"/>
            <a:stretch>
              <a:fillRect/>
            </a:stretch>
          </p:blipFill>
          <p:spPr>
            <a:xfrm>
              <a:off x="1251612" y="3573321"/>
              <a:ext cx="9688773" cy="1673515"/>
            </a:xfrm>
            <a:prstGeom prst="rect">
              <a:avLst/>
            </a:prstGeom>
          </p:spPr>
        </p:pic>
        <p:grpSp>
          <p:nvGrpSpPr>
            <p:cNvPr id="13" name="그룹 12">
              <a:extLst>
                <a:ext uri="{FF2B5EF4-FFF2-40B4-BE49-F238E27FC236}">
                  <a16:creationId xmlns:a16="http://schemas.microsoft.com/office/drawing/2014/main" id="{817FFA08-FC0E-F6A3-C70F-11AE5B86E0CE}"/>
                </a:ext>
              </a:extLst>
            </p:cNvPr>
            <p:cNvGrpSpPr/>
            <p:nvPr/>
          </p:nvGrpSpPr>
          <p:grpSpPr>
            <a:xfrm>
              <a:off x="1251613" y="1755485"/>
              <a:ext cx="9688773" cy="1673515"/>
              <a:chOff x="1251613" y="1755485"/>
              <a:chExt cx="9688773" cy="1673515"/>
            </a:xfrm>
          </p:grpSpPr>
          <p:pic>
            <p:nvPicPr>
              <p:cNvPr id="8" name="그림 7">
                <a:extLst>
                  <a:ext uri="{FF2B5EF4-FFF2-40B4-BE49-F238E27FC236}">
                    <a16:creationId xmlns:a16="http://schemas.microsoft.com/office/drawing/2014/main" id="{BE5B3774-E14E-E63F-F161-D85D03B1DC28}"/>
                  </a:ext>
                </a:extLst>
              </p:cNvPr>
              <p:cNvPicPr>
                <a:picLocks noChangeAspect="1"/>
              </p:cNvPicPr>
              <p:nvPr/>
            </p:nvPicPr>
            <p:blipFill>
              <a:blip r:embed="rId3"/>
              <a:stretch>
                <a:fillRect/>
              </a:stretch>
            </p:blipFill>
            <p:spPr>
              <a:xfrm>
                <a:off x="1251613" y="1755485"/>
                <a:ext cx="9688773" cy="1673515"/>
              </a:xfrm>
              <a:prstGeom prst="rect">
                <a:avLst/>
              </a:prstGeom>
            </p:spPr>
          </p:pic>
          <p:sp>
            <p:nvSpPr>
              <p:cNvPr id="11" name="직사각형 10">
                <a:extLst>
                  <a:ext uri="{FF2B5EF4-FFF2-40B4-BE49-F238E27FC236}">
                    <a16:creationId xmlns:a16="http://schemas.microsoft.com/office/drawing/2014/main" id="{67441318-9172-7EED-1CCF-A5C143F53E6A}"/>
                  </a:ext>
                </a:extLst>
              </p:cNvPr>
              <p:cNvSpPr/>
              <p:nvPr/>
            </p:nvSpPr>
            <p:spPr>
              <a:xfrm>
                <a:off x="5746531" y="2254469"/>
                <a:ext cx="1860331" cy="1645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19E16E1-B499-3268-A53F-ECFDF88C0F45}"/>
                  </a:ext>
                </a:extLst>
              </p:cNvPr>
              <p:cNvSpPr/>
              <p:nvPr/>
            </p:nvSpPr>
            <p:spPr>
              <a:xfrm>
                <a:off x="5533696" y="2703787"/>
                <a:ext cx="938049" cy="1645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직사각형 13">
              <a:extLst>
                <a:ext uri="{FF2B5EF4-FFF2-40B4-BE49-F238E27FC236}">
                  <a16:creationId xmlns:a16="http://schemas.microsoft.com/office/drawing/2014/main" id="{943A528C-DF37-7591-F6ED-E41221FD2FDD}"/>
                </a:ext>
              </a:extLst>
            </p:cNvPr>
            <p:cNvSpPr/>
            <p:nvPr/>
          </p:nvSpPr>
          <p:spPr>
            <a:xfrm>
              <a:off x="1316419" y="4530631"/>
              <a:ext cx="6117021" cy="1438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11262E16-C0CD-6FA3-4DCC-8C3CFDCAB138}"/>
                </a:ext>
              </a:extLst>
            </p:cNvPr>
            <p:cNvSpPr/>
            <p:nvPr/>
          </p:nvSpPr>
          <p:spPr>
            <a:xfrm>
              <a:off x="5746531" y="4059621"/>
              <a:ext cx="1505607" cy="1891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189228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Exposing Service(4/4)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Pods :</a:t>
            </a:r>
          </a:p>
          <a:p>
            <a:pPr lvl="1">
              <a:buFont typeface="Wingdings" panose="05000000000000000000" pitchFamily="2" charset="2"/>
              <a:buChar char="§"/>
            </a:pPr>
            <a:r>
              <a:rPr lang="en-US" altLang="ko-KR" sz="1400" dirty="0"/>
              <a:t>Now, you can </a:t>
            </a:r>
            <a:r>
              <a:rPr lang="en-US" altLang="ko-KR" sz="1400" b="1" dirty="0"/>
              <a:t>check the service endpoints </a:t>
            </a:r>
            <a:r>
              <a:rPr lang="en-US" altLang="ko-KR" sz="1400" dirty="0"/>
              <a:t>from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also access the service from the outside of the cluster using </a:t>
            </a:r>
            <a:r>
              <a:rPr lang="en-US" altLang="ko-KR" sz="1400" b="1" dirty="0">
                <a:solidFill>
                  <a:srgbClr val="FF0000"/>
                </a:solidFill>
              </a:rPr>
              <a:t>IP address(the Kubernetes Service Endpoints IP)</a:t>
            </a:r>
            <a:r>
              <a:rPr lang="en-US" altLang="ko-KR" sz="1400" b="1" dirty="0"/>
              <a:t> and mapped port like “30000”</a:t>
            </a:r>
            <a:r>
              <a:rPr lang="en-US" altLang="ko-KR" sz="1400" dirty="0"/>
              <a:t>. </a:t>
            </a:r>
            <a:r>
              <a:rPr lang="en-US" altLang="ko-KR" sz="1400" b="1" dirty="0"/>
              <a:t>Note that normally the port number in “</a:t>
            </a:r>
            <a:r>
              <a:rPr lang="en-US" altLang="ko-KR" sz="1400" b="1" dirty="0" err="1">
                <a:solidFill>
                  <a:srgbClr val="FF0000"/>
                </a:solidFill>
              </a:rPr>
              <a:t>NodePort</a:t>
            </a:r>
            <a:r>
              <a:rPr lang="en-US" altLang="ko-KR" sz="1400" b="1" dirty="0"/>
              <a:t>” type, you need to use </a:t>
            </a:r>
            <a:r>
              <a:rPr lang="en-US" altLang="ko-KR" sz="1400" b="1" dirty="0">
                <a:solidFill>
                  <a:srgbClr val="FF0000"/>
                </a:solidFill>
              </a:rPr>
              <a:t>more than “30000” port number for exposing</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43994883-D53C-8D85-BAE6-DA46AAB43AE9}"/>
              </a:ext>
            </a:extLst>
          </p:cNvPr>
          <p:cNvGrpSpPr/>
          <p:nvPr/>
        </p:nvGrpSpPr>
        <p:grpSpPr>
          <a:xfrm>
            <a:off x="1285546" y="1550611"/>
            <a:ext cx="9620907" cy="1661793"/>
            <a:chOff x="1285546" y="1633857"/>
            <a:chExt cx="9620907" cy="1661793"/>
          </a:xfrm>
        </p:grpSpPr>
        <p:pic>
          <p:nvPicPr>
            <p:cNvPr id="9" name="그림 8">
              <a:extLst>
                <a:ext uri="{FF2B5EF4-FFF2-40B4-BE49-F238E27FC236}">
                  <a16:creationId xmlns:a16="http://schemas.microsoft.com/office/drawing/2014/main" id="{D42DE79D-16A6-9AC3-DC1E-02274D2D9B2B}"/>
                </a:ext>
              </a:extLst>
            </p:cNvPr>
            <p:cNvPicPr>
              <a:picLocks noChangeAspect="1"/>
            </p:cNvPicPr>
            <p:nvPr/>
          </p:nvPicPr>
          <p:blipFill>
            <a:blip r:embed="rId2"/>
            <a:stretch>
              <a:fillRect/>
            </a:stretch>
          </p:blipFill>
          <p:spPr>
            <a:xfrm>
              <a:off x="1285546" y="1633857"/>
              <a:ext cx="9620907" cy="1661793"/>
            </a:xfrm>
            <a:prstGeom prst="rect">
              <a:avLst/>
            </a:prstGeom>
          </p:spPr>
        </p:pic>
        <p:sp>
          <p:nvSpPr>
            <p:cNvPr id="13" name="직사각형 12">
              <a:extLst>
                <a:ext uri="{FF2B5EF4-FFF2-40B4-BE49-F238E27FC236}">
                  <a16:creationId xmlns:a16="http://schemas.microsoft.com/office/drawing/2014/main" id="{2993D301-6747-4A34-20D8-F0D532161C6E}"/>
                </a:ext>
              </a:extLst>
            </p:cNvPr>
            <p:cNvSpPr/>
            <p:nvPr/>
          </p:nvSpPr>
          <p:spPr>
            <a:xfrm>
              <a:off x="1371600" y="2408660"/>
              <a:ext cx="3358055" cy="3424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그룹 15">
            <a:extLst>
              <a:ext uri="{FF2B5EF4-FFF2-40B4-BE49-F238E27FC236}">
                <a16:creationId xmlns:a16="http://schemas.microsoft.com/office/drawing/2014/main" id="{5E495652-41AA-454A-0E32-63A51CE23D77}"/>
              </a:ext>
            </a:extLst>
          </p:cNvPr>
          <p:cNvGrpSpPr/>
          <p:nvPr/>
        </p:nvGrpSpPr>
        <p:grpSpPr>
          <a:xfrm>
            <a:off x="2507455" y="4243423"/>
            <a:ext cx="7177087" cy="2112927"/>
            <a:chOff x="2366304" y="4122981"/>
            <a:chExt cx="7459390" cy="2286049"/>
          </a:xfrm>
        </p:grpSpPr>
        <p:pic>
          <p:nvPicPr>
            <p:cNvPr id="12" name="그림 11">
              <a:extLst>
                <a:ext uri="{FF2B5EF4-FFF2-40B4-BE49-F238E27FC236}">
                  <a16:creationId xmlns:a16="http://schemas.microsoft.com/office/drawing/2014/main" id="{8B05BD61-D040-DAEA-7332-9214E3061D4A}"/>
                </a:ext>
              </a:extLst>
            </p:cNvPr>
            <p:cNvPicPr>
              <a:picLocks noChangeAspect="1"/>
            </p:cNvPicPr>
            <p:nvPr/>
          </p:nvPicPr>
          <p:blipFill>
            <a:blip r:embed="rId3"/>
            <a:stretch>
              <a:fillRect/>
            </a:stretch>
          </p:blipFill>
          <p:spPr>
            <a:xfrm>
              <a:off x="2366304" y="4122981"/>
              <a:ext cx="7459390" cy="2286049"/>
            </a:xfrm>
            <a:prstGeom prst="rect">
              <a:avLst/>
            </a:prstGeom>
          </p:spPr>
        </p:pic>
        <p:sp>
          <p:nvSpPr>
            <p:cNvPr id="15" name="직사각형 14">
              <a:extLst>
                <a:ext uri="{FF2B5EF4-FFF2-40B4-BE49-F238E27FC236}">
                  <a16:creationId xmlns:a16="http://schemas.microsoft.com/office/drawing/2014/main" id="{A085A087-1857-A587-3D1F-2D25DAB7C8B2}"/>
                </a:ext>
              </a:extLst>
            </p:cNvPr>
            <p:cNvSpPr/>
            <p:nvPr/>
          </p:nvSpPr>
          <p:spPr>
            <a:xfrm>
              <a:off x="4059621" y="4501055"/>
              <a:ext cx="938048" cy="1970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325521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Logical Parts of Your System(1/2)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the </a:t>
            </a:r>
            <a:r>
              <a:rPr lang="en-US" altLang="ko-KR" sz="1800" b="1" dirty="0" err="1"/>
              <a:t>ReplicationController</a:t>
            </a:r>
            <a:r>
              <a:rPr lang="en-US" altLang="ko-KR" sz="1800" b="1" dirty="0"/>
              <a:t>, the Pod, and the Service Fit Together :</a:t>
            </a:r>
          </a:p>
          <a:p>
            <a:pPr lvl="1">
              <a:buFont typeface="Wingdings" panose="05000000000000000000" pitchFamily="2" charset="2"/>
              <a:buChar char="§"/>
            </a:pPr>
            <a:r>
              <a:rPr lang="en-US" altLang="ko-KR" sz="1400" b="1" dirty="0"/>
              <a:t>The basic building block in Kubernetes is the pod</a:t>
            </a:r>
            <a:r>
              <a:rPr lang="en-US" altLang="ko-KR" sz="1400" dirty="0"/>
              <a:t>. But, you didn’t really create any pods either, at least not directly. By running the “</a:t>
            </a:r>
            <a:r>
              <a:rPr lang="en-US" altLang="ko-KR" sz="1400" b="1" dirty="0" err="1"/>
              <a:t>kubectl</a:t>
            </a:r>
            <a:r>
              <a:rPr lang="en-US" altLang="ko-KR" sz="1400" b="1" dirty="0"/>
              <a:t> run”</a:t>
            </a:r>
            <a:r>
              <a:rPr lang="en-US" altLang="ko-KR" sz="1400" dirty="0"/>
              <a:t> command you created a </a:t>
            </a:r>
            <a:r>
              <a:rPr lang="en-US" altLang="ko-KR" sz="1400" b="1" dirty="0" err="1"/>
              <a:t>ReplicationController</a:t>
            </a:r>
            <a:r>
              <a:rPr lang="en-US" altLang="ko-KR" sz="1400" dirty="0"/>
              <a:t>, and this </a:t>
            </a:r>
            <a:r>
              <a:rPr lang="en-US" altLang="ko-KR" sz="1400" b="1" dirty="0" err="1"/>
              <a:t>ReplicationController</a:t>
            </a:r>
            <a:r>
              <a:rPr lang="en-US" altLang="ko-KR" sz="1400" dirty="0"/>
              <a:t> is what created the </a:t>
            </a:r>
            <a:r>
              <a:rPr lang="en-US" altLang="ko-KR" sz="1400" b="1" dirty="0"/>
              <a:t>actual Pod object</a:t>
            </a:r>
            <a:r>
              <a:rPr lang="en-US" altLang="ko-KR" sz="1400" dirty="0"/>
              <a:t>. To make that pod accessible from outside the cluster, you told Kubernetes to </a:t>
            </a:r>
            <a:r>
              <a:rPr lang="en-US" altLang="ko-KR" sz="1400" b="1" dirty="0"/>
              <a:t>expose all the pods managed by that </a:t>
            </a:r>
            <a:r>
              <a:rPr lang="en-US" altLang="ko-KR" sz="1400" b="1" dirty="0" err="1"/>
              <a:t>ReplicationController</a:t>
            </a:r>
            <a:r>
              <a:rPr lang="en-US" altLang="ko-KR" sz="1400" b="1" dirty="0"/>
              <a:t> as a single Service</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a:buFont typeface="Wingdings" panose="05000000000000000000" pitchFamily="2" charset="2"/>
              <a:buChar char="§"/>
            </a:pPr>
            <a:endParaRPr lang="en-US" altLang="ko-KR" sz="1800" b="1" dirty="0"/>
          </a:p>
          <a:p>
            <a:pPr>
              <a:buFont typeface="Wingdings" panose="05000000000000000000" pitchFamily="2" charset="2"/>
              <a:buChar char="§"/>
            </a:pPr>
            <a:endParaRPr lang="en-US" altLang="ko-KR" sz="1800" b="1" dirty="0"/>
          </a:p>
          <a:p>
            <a:pPr>
              <a:buFont typeface="Wingdings" panose="05000000000000000000" pitchFamily="2" charset="2"/>
              <a:buChar char="§"/>
            </a:pPr>
            <a:r>
              <a:rPr lang="en-US" altLang="ko-KR" sz="1800" b="1" dirty="0"/>
              <a:t>Understanding the Pod and It’s Container :</a:t>
            </a:r>
          </a:p>
          <a:p>
            <a:pPr lvl="1">
              <a:buFont typeface="Wingdings" panose="05000000000000000000" pitchFamily="2" charset="2"/>
              <a:buChar char="§"/>
            </a:pPr>
            <a:r>
              <a:rPr lang="en-US" altLang="ko-KR" sz="1400" b="1" dirty="0"/>
              <a:t>The main and most important component in your system is the </a:t>
            </a:r>
            <a:r>
              <a:rPr lang="en-US" altLang="ko-KR" sz="1400" b="1" dirty="0">
                <a:solidFill>
                  <a:srgbClr val="FF0000"/>
                </a:solidFill>
              </a:rPr>
              <a:t>pod</a:t>
            </a:r>
            <a:r>
              <a:rPr lang="en-US" altLang="ko-KR" sz="1400" dirty="0"/>
              <a:t>. It contains only a single container, but </a:t>
            </a:r>
            <a:r>
              <a:rPr lang="en-US" altLang="ko-KR" sz="1400" b="1" dirty="0"/>
              <a:t>generally a pod can contain as many containers as you want</a:t>
            </a:r>
            <a:r>
              <a:rPr lang="en-US" altLang="ko-KR" sz="1400" dirty="0"/>
              <a:t>. Inside the container is your </a:t>
            </a:r>
            <a:r>
              <a:rPr lang="en-US" altLang="ko-KR" sz="1400" b="1" dirty="0"/>
              <a:t>Node.js process</a:t>
            </a:r>
            <a:r>
              <a:rPr lang="en-US" altLang="ko-KR" sz="1400" dirty="0"/>
              <a:t>, which is </a:t>
            </a:r>
            <a:r>
              <a:rPr lang="en-US" altLang="ko-KR" sz="1400" b="1" dirty="0"/>
              <a:t>bound to port 8080 </a:t>
            </a:r>
            <a:r>
              <a:rPr lang="en-US" altLang="ko-KR" sz="1400" dirty="0"/>
              <a:t>and is waiting for HTTP requests. </a:t>
            </a:r>
            <a:r>
              <a:rPr lang="en-US" altLang="ko-KR" sz="1400" b="1" dirty="0">
                <a:solidFill>
                  <a:srgbClr val="FF0000"/>
                </a:solidFill>
              </a:rPr>
              <a:t>The pod has its own unique private IP address and hostname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79DD761-EDA8-5151-306B-E9BA03F4C65A}"/>
              </a:ext>
            </a:extLst>
          </p:cNvPr>
          <p:cNvPicPr>
            <a:picLocks noChangeAspect="1"/>
          </p:cNvPicPr>
          <p:nvPr/>
        </p:nvPicPr>
        <p:blipFill>
          <a:blip r:embed="rId2"/>
          <a:stretch>
            <a:fillRect/>
          </a:stretch>
        </p:blipFill>
        <p:spPr>
          <a:xfrm>
            <a:off x="3371850" y="2482249"/>
            <a:ext cx="5448300" cy="1609725"/>
          </a:xfrm>
          <a:prstGeom prst="rect">
            <a:avLst/>
          </a:prstGeom>
        </p:spPr>
      </p:pic>
    </p:spTree>
    <p:extLst>
      <p:ext uri="{BB962C8B-B14F-4D97-AF65-F5344CB8AC3E}">
        <p14:creationId xmlns:p14="http://schemas.microsoft.com/office/powerpoint/2010/main" val="18127784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Logical Parts of Your System(2/2)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Role of the </a:t>
            </a:r>
            <a:r>
              <a:rPr lang="en-US" altLang="ko-KR" sz="1800" b="1" dirty="0" err="1"/>
              <a:t>ReplicationController</a:t>
            </a:r>
            <a:r>
              <a:rPr lang="en-US" altLang="ko-KR" sz="1800" b="1" dirty="0"/>
              <a:t>(Deprecated) :</a:t>
            </a:r>
          </a:p>
          <a:p>
            <a:pPr lvl="1">
              <a:buFont typeface="Wingdings" panose="05000000000000000000" pitchFamily="2" charset="2"/>
              <a:buChar char="§"/>
            </a:pPr>
            <a:r>
              <a:rPr lang="en-US" altLang="ko-KR" sz="1400" dirty="0"/>
              <a:t>The next component is the </a:t>
            </a:r>
            <a:r>
              <a:rPr lang="en-US" altLang="ko-KR" sz="1400" b="1" dirty="0" err="1"/>
              <a:t>ReplicationController</a:t>
            </a:r>
            <a:r>
              <a:rPr lang="en-US" altLang="ko-KR" sz="1400" dirty="0"/>
              <a:t>. It makes sure there’s always exactly one instance of your pod running. </a:t>
            </a:r>
            <a:r>
              <a:rPr lang="en-US" altLang="ko-KR" sz="1400" b="1" dirty="0"/>
              <a:t>Generally, </a:t>
            </a:r>
            <a:r>
              <a:rPr lang="en-US" altLang="ko-KR" sz="1400" b="1" dirty="0" err="1"/>
              <a:t>ReplicationControllers</a:t>
            </a:r>
            <a:r>
              <a:rPr lang="en-US" altLang="ko-KR" sz="1400" b="1" dirty="0"/>
              <a:t> are used to </a:t>
            </a:r>
            <a:r>
              <a:rPr lang="en-US" altLang="ko-KR" sz="1400" b="1" dirty="0">
                <a:solidFill>
                  <a:srgbClr val="FF0000"/>
                </a:solidFill>
              </a:rPr>
              <a:t>replicate pods </a:t>
            </a:r>
            <a:r>
              <a:rPr lang="en-US" altLang="ko-KR" sz="1400" b="1" dirty="0"/>
              <a:t>(that is, create multiple copies of a pod) and keep them running</a:t>
            </a:r>
            <a:r>
              <a:rPr lang="en-US" altLang="ko-KR" sz="1400" dirty="0"/>
              <a:t>. In your case, you didn’t specify how many pod replicas you want, so the </a:t>
            </a:r>
            <a:r>
              <a:rPr lang="en-US" altLang="ko-KR" sz="1400" dirty="0" err="1"/>
              <a:t>ReplicationController</a:t>
            </a:r>
            <a:r>
              <a:rPr lang="en-US" altLang="ko-KR" sz="1400" dirty="0"/>
              <a:t> created a single one. If your pod were to disappear for any reason, the </a:t>
            </a:r>
            <a:r>
              <a:rPr lang="en-US" altLang="ko-KR" sz="1400" dirty="0" err="1"/>
              <a:t>ReplicationController</a:t>
            </a:r>
            <a:r>
              <a:rPr lang="en-US" altLang="ko-KR" sz="1400" dirty="0"/>
              <a:t> would </a:t>
            </a:r>
            <a:r>
              <a:rPr lang="en-US" altLang="ko-KR" sz="1400" b="1" dirty="0"/>
              <a:t>create a new pod to replace the missing one</a:t>
            </a:r>
            <a:r>
              <a:rPr lang="en-US" altLang="ko-KR" sz="1400" dirty="0"/>
              <a:t>.</a:t>
            </a:r>
          </a:p>
          <a:p>
            <a:pPr>
              <a:buFont typeface="Wingdings" panose="05000000000000000000" pitchFamily="2" charset="2"/>
              <a:buChar char="§"/>
            </a:pPr>
            <a:r>
              <a:rPr lang="en-US" altLang="ko-KR" sz="1800" b="1" dirty="0"/>
              <a:t>Understanding Why You Need a Service :</a:t>
            </a:r>
          </a:p>
          <a:p>
            <a:pPr lvl="1">
              <a:buFont typeface="Wingdings" panose="05000000000000000000" pitchFamily="2" charset="2"/>
              <a:buChar char="§"/>
            </a:pPr>
            <a:r>
              <a:rPr lang="en-US" altLang="ko-KR" sz="1400" dirty="0"/>
              <a:t>The third component of your system is the </a:t>
            </a:r>
            <a:r>
              <a:rPr lang="en-US" altLang="ko-KR" sz="1400" b="1" dirty="0" err="1"/>
              <a:t>kubia</a:t>
            </a:r>
            <a:r>
              <a:rPr lang="en-US" altLang="ko-KR" sz="1400" b="1" dirty="0"/>
              <a:t>-http service</a:t>
            </a:r>
            <a:r>
              <a:rPr lang="en-US" altLang="ko-KR" sz="1400" dirty="0"/>
              <a:t>. To understand why you need services, you need to learn a key detail about pods. </a:t>
            </a:r>
            <a:r>
              <a:rPr lang="en-US" altLang="ko-KR" sz="1400" b="1" dirty="0"/>
              <a:t>They’re ephemeral. A pod may disappear at any time</a:t>
            </a:r>
            <a:r>
              <a:rPr lang="en-US" altLang="ko-KR" sz="1400" dirty="0"/>
              <a:t>—because the node it’s running on has failed, because someone deleted the pod, or because the pod was evicted from an otherwise healthy node. When any of those occurs, </a:t>
            </a:r>
            <a:r>
              <a:rPr lang="en-US" altLang="ko-KR" sz="1400" b="1" dirty="0"/>
              <a:t>a missing pod is replaced with a new one by the </a:t>
            </a:r>
            <a:r>
              <a:rPr lang="en-US" altLang="ko-KR" sz="1400" b="1" dirty="0" err="1"/>
              <a:t>ReplicationController</a:t>
            </a:r>
            <a:r>
              <a:rPr lang="en-US" altLang="ko-KR" sz="1400" dirty="0"/>
              <a:t>, as described previously. </a:t>
            </a:r>
            <a:r>
              <a:rPr lang="en-US" altLang="ko-KR" sz="1400" b="1" dirty="0"/>
              <a:t>This new pod gets a different IP address from the pod it’s replacing</a:t>
            </a:r>
            <a:r>
              <a:rPr lang="en-US" altLang="ko-KR" sz="1400" dirty="0"/>
              <a:t>. This is where services come in—</a:t>
            </a:r>
            <a:r>
              <a:rPr lang="en-US" altLang="ko-KR" sz="1400" b="1" dirty="0"/>
              <a:t>to solve the problem of </a:t>
            </a:r>
            <a:r>
              <a:rPr lang="en-US" altLang="ko-KR" sz="1400" b="1" dirty="0">
                <a:solidFill>
                  <a:srgbClr val="FF0000"/>
                </a:solidFill>
              </a:rPr>
              <a:t>ever-changing pod IP addresses</a:t>
            </a:r>
            <a:r>
              <a:rPr lang="en-US" altLang="ko-KR" sz="1400" dirty="0"/>
              <a:t>, as well as </a:t>
            </a:r>
            <a:r>
              <a:rPr lang="en-US" altLang="ko-KR" sz="1400" b="1" dirty="0">
                <a:solidFill>
                  <a:srgbClr val="FF0000"/>
                </a:solidFill>
              </a:rPr>
              <a:t>exposing multiple pods at a single constant IP and port pair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3F81F33-4272-DEEC-07DC-AB64246F6DD1}"/>
              </a:ext>
            </a:extLst>
          </p:cNvPr>
          <p:cNvPicPr>
            <a:picLocks noChangeAspect="1"/>
          </p:cNvPicPr>
          <p:nvPr/>
        </p:nvPicPr>
        <p:blipFill>
          <a:blip r:embed="rId2"/>
          <a:stretch>
            <a:fillRect/>
          </a:stretch>
        </p:blipFill>
        <p:spPr>
          <a:xfrm>
            <a:off x="7911000" y="3857972"/>
            <a:ext cx="3442800" cy="2551058"/>
          </a:xfrm>
          <a:prstGeom prst="rect">
            <a:avLst/>
          </a:prstGeom>
        </p:spPr>
      </p:pic>
      <p:sp>
        <p:nvSpPr>
          <p:cNvPr id="9" name="TextBox 8">
            <a:extLst>
              <a:ext uri="{FF2B5EF4-FFF2-40B4-BE49-F238E27FC236}">
                <a16:creationId xmlns:a16="http://schemas.microsoft.com/office/drawing/2014/main" id="{0BCFE270-F9A9-B545-D9D5-5FA342C7B663}"/>
              </a:ext>
            </a:extLst>
          </p:cNvPr>
          <p:cNvSpPr txBox="1"/>
          <p:nvPr/>
        </p:nvSpPr>
        <p:spPr>
          <a:xfrm>
            <a:off x="838200" y="3857972"/>
            <a:ext cx="7072800" cy="1901546"/>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When a service is created, it gets a static IP, which never changes during the lifetime of the service.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Instead of connecting to pods directly, clients should connect to the service through its constant IP address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service makes sure one of the pods receives the connection, regardless of where the pod is currently running (and what its IP address is)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Services represent a static location for a group of one or more pods that all provide the same service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Requests coming to the IP and port of the service will be forwarded to the IP and port of one of the pods belonging to the service at that moment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37807545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Horizontally Scaling the Application(1/5)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Out :</a:t>
            </a:r>
          </a:p>
          <a:p>
            <a:pPr lvl="1">
              <a:buFont typeface="Wingdings" panose="05000000000000000000" pitchFamily="2" charset="2"/>
              <a:buChar char="§"/>
            </a:pPr>
            <a:r>
              <a:rPr lang="en-US" altLang="ko-KR" sz="1400" b="1" dirty="0"/>
              <a:t>One of the main benefits of using Kubernetes is the simplicity with which you can </a:t>
            </a:r>
            <a:r>
              <a:rPr lang="en-US" altLang="ko-KR" sz="1400" b="1" dirty="0">
                <a:solidFill>
                  <a:srgbClr val="FF0000"/>
                </a:solidFill>
              </a:rPr>
              <a:t>scale</a:t>
            </a:r>
            <a:r>
              <a:rPr lang="en-US" altLang="ko-KR" sz="1400" b="1" dirty="0"/>
              <a:t> your deployments</a:t>
            </a:r>
            <a:r>
              <a:rPr lang="en-US" altLang="ko-KR" sz="1400" dirty="0"/>
              <a:t>. Let’s see how easy it is to </a:t>
            </a:r>
            <a:r>
              <a:rPr lang="en-US" altLang="ko-KR" sz="1400" b="1" dirty="0">
                <a:solidFill>
                  <a:srgbClr val="FF0000"/>
                </a:solidFill>
              </a:rPr>
              <a:t>scale up </a:t>
            </a:r>
            <a:r>
              <a:rPr lang="en-US" altLang="ko-KR" sz="1400" b="1" dirty="0"/>
              <a:t>the number of pods</a:t>
            </a:r>
            <a:r>
              <a:rPr lang="en-US" altLang="ko-KR" sz="1400" dirty="0"/>
              <a:t>. You’ll increase the number of running instances to three.</a:t>
            </a:r>
          </a:p>
          <a:p>
            <a:pPr lvl="1">
              <a:buFont typeface="Wingdings" panose="05000000000000000000" pitchFamily="2" charset="2"/>
              <a:buChar char="§"/>
            </a:pPr>
            <a:r>
              <a:rPr lang="en-US" altLang="ko-KR" sz="1400" dirty="0"/>
              <a:t>Let’s see it with the “</a:t>
            </a:r>
            <a:r>
              <a:rPr lang="en-US" altLang="ko-KR" sz="1400" b="1" dirty="0" err="1"/>
              <a:t>kubectl</a:t>
            </a:r>
            <a:r>
              <a:rPr lang="en-US" altLang="ko-KR" sz="1400" b="1" dirty="0"/>
              <a:t> get</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Here I use manifest file (“</a:t>
            </a:r>
            <a:r>
              <a:rPr lang="en-US" altLang="ko-KR" sz="1400" b="1" dirty="0" err="1"/>
              <a:t>kubia-replicationcontroller.yaml</a:t>
            </a:r>
            <a:r>
              <a:rPr lang="en-US" altLang="ko-KR" sz="1400" b="1" dirty="0"/>
              <a:t>”) to create replication controller</a:t>
            </a:r>
            <a:r>
              <a:rPr lang="en-US" altLang="ko-KR" sz="1400" dirty="0"/>
              <a:t>. </a:t>
            </a:r>
          </a:p>
          <a:p>
            <a:pPr lvl="1">
              <a:buFont typeface="Wingdings" panose="05000000000000000000" pitchFamily="2" charset="2"/>
              <a:buChar char="§"/>
            </a:pPr>
            <a:r>
              <a:rPr lang="en-US" altLang="ko-KR" sz="1400" b="1" dirty="0"/>
              <a:t>NOTE : You’ve been using the same basic “</a:t>
            </a:r>
            <a:r>
              <a:rPr lang="en-US" altLang="ko-KR" sz="1400" b="1" dirty="0" err="1"/>
              <a:t>kubectl</a:t>
            </a:r>
            <a:r>
              <a:rPr lang="en-US" altLang="ko-KR" sz="1400" b="1" dirty="0"/>
              <a:t> get” command to list things in your cluster. You’ve used this command to list Node, Pod, Service and </a:t>
            </a:r>
            <a:r>
              <a:rPr lang="en-US" altLang="ko-KR" sz="1400" b="1" dirty="0" err="1"/>
              <a:t>ReplicationController</a:t>
            </a:r>
            <a:r>
              <a:rPr lang="en-US" altLang="ko-KR" sz="1400" b="1" dirty="0"/>
              <a:t> objects</a:t>
            </a:r>
            <a:r>
              <a:rPr lang="en-US" altLang="ko-KR" sz="1400" dirty="0"/>
              <a:t>. You can get a list of all the possible object types by invoking “</a:t>
            </a:r>
            <a:r>
              <a:rPr lang="en-US" altLang="ko-KR" sz="1400" b="1" dirty="0" err="1"/>
              <a:t>kubectl</a:t>
            </a:r>
            <a:r>
              <a:rPr lang="en-US" altLang="ko-KR" sz="1400" b="1" dirty="0"/>
              <a:t> get” </a:t>
            </a:r>
            <a:r>
              <a:rPr lang="en-US" altLang="ko-KR" sz="1400" dirty="0"/>
              <a:t>without specifying the type. </a:t>
            </a:r>
            <a:r>
              <a:rPr lang="en-US" altLang="ko-KR" sz="1400" b="1" dirty="0"/>
              <a:t>You can then use those types with various </a:t>
            </a:r>
            <a:r>
              <a:rPr lang="en-US" altLang="ko-KR" sz="1400" b="1" dirty="0" err="1"/>
              <a:t>kubectl</a:t>
            </a:r>
            <a:r>
              <a:rPr lang="en-US" altLang="ko-KR" sz="1400" b="1" dirty="0"/>
              <a:t> commands such as get, describe, and so on</a:t>
            </a:r>
            <a:r>
              <a:rPr lang="en-US" altLang="ko-KR" sz="1400" dirty="0"/>
              <a:t>.</a:t>
            </a:r>
          </a:p>
          <a:p>
            <a:pPr lvl="1">
              <a:buFont typeface="Wingdings" panose="05000000000000000000" pitchFamily="2" charset="2"/>
              <a:buChar char="§"/>
            </a:pPr>
            <a:r>
              <a:rPr lang="en-US" altLang="ko-KR" sz="1400" b="1" dirty="0"/>
              <a:t>NOTE : </a:t>
            </a:r>
            <a:r>
              <a:rPr lang="en-US" altLang="ko-KR" sz="1400" dirty="0"/>
              <a:t>In the above screenshot, the list shows a single </a:t>
            </a:r>
            <a:r>
              <a:rPr lang="en-US" altLang="ko-KR" sz="1400" b="1" dirty="0" err="1"/>
              <a:t>ReplicationController</a:t>
            </a:r>
            <a:r>
              <a:rPr lang="en-US" altLang="ko-KR" sz="1400" dirty="0"/>
              <a:t> called </a:t>
            </a:r>
            <a:r>
              <a:rPr lang="en-US" altLang="ko-KR" sz="1400" b="1" dirty="0" err="1"/>
              <a:t>kubia</a:t>
            </a:r>
            <a:r>
              <a:rPr lang="en-US" altLang="ko-KR" sz="1400" dirty="0"/>
              <a:t>. </a:t>
            </a:r>
            <a:r>
              <a:rPr lang="en-US" altLang="ko-KR" sz="1400" b="1" dirty="0"/>
              <a:t>The DESIRED column shows the number of pod replicas you want the </a:t>
            </a:r>
            <a:r>
              <a:rPr lang="en-US" altLang="ko-KR" sz="1400" b="1" dirty="0" err="1"/>
              <a:t>ReplicationController</a:t>
            </a:r>
            <a:r>
              <a:rPr lang="en-US" altLang="ko-KR" sz="1400" b="1" dirty="0"/>
              <a:t> to keep, whereas the CURRENT column shows the actual number of pods currently running</a:t>
            </a:r>
            <a:r>
              <a:rPr lang="en-US" altLang="ko-KR" sz="1400" dirty="0"/>
              <a:t>. In this case, you wanted to have a single replica of the pod running, and exactly one replica is currently running.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710036A-8E61-4B36-9958-7A2A94EA860F}"/>
              </a:ext>
            </a:extLst>
          </p:cNvPr>
          <p:cNvPicPr>
            <a:picLocks noChangeAspect="1"/>
          </p:cNvPicPr>
          <p:nvPr/>
        </p:nvPicPr>
        <p:blipFill>
          <a:blip r:embed="rId2"/>
          <a:stretch>
            <a:fillRect/>
          </a:stretch>
        </p:blipFill>
        <p:spPr>
          <a:xfrm>
            <a:off x="1416269" y="2014956"/>
            <a:ext cx="9359462" cy="1809496"/>
          </a:xfrm>
          <a:prstGeom prst="rect">
            <a:avLst/>
          </a:prstGeom>
        </p:spPr>
      </p:pic>
    </p:spTree>
    <p:extLst>
      <p:ext uri="{BB962C8B-B14F-4D97-AF65-F5344CB8AC3E}">
        <p14:creationId xmlns:p14="http://schemas.microsoft.com/office/powerpoint/2010/main" val="19784962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Horizontally Scaling the Application(2/5)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Increasing the Desired Replica Count :</a:t>
            </a:r>
          </a:p>
          <a:p>
            <a:pPr lvl="1">
              <a:buFont typeface="Wingdings" panose="05000000000000000000" pitchFamily="2" charset="2"/>
              <a:buChar char="§"/>
            </a:pPr>
            <a:r>
              <a:rPr lang="en-US" altLang="ko-KR" sz="1400" b="1" dirty="0"/>
              <a:t>To scale up the number of replicas of your pod, you need to change the desired replica count on the </a:t>
            </a:r>
            <a:r>
              <a:rPr lang="en-US" altLang="ko-KR" sz="1400" b="1" dirty="0" err="1"/>
              <a:t>ReplicationController</a:t>
            </a:r>
            <a:r>
              <a:rPr lang="en-US" altLang="ko-KR" sz="1400" dirty="0"/>
              <a:t> like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You’ve now told Kubernetes to make sure three instances of your pod are always running</a:t>
            </a:r>
            <a:r>
              <a:rPr lang="en-US" altLang="ko-KR" sz="1400" dirty="0"/>
              <a:t>. </a:t>
            </a:r>
          </a:p>
          <a:p>
            <a:pPr lvl="1">
              <a:buFont typeface="Wingdings" panose="05000000000000000000" pitchFamily="2" charset="2"/>
              <a:buChar char="§"/>
            </a:pPr>
            <a:r>
              <a:rPr lang="en-US" altLang="ko-KR" sz="1400" b="1" dirty="0"/>
              <a:t>NOTICE : You didn’t instruct Kubernetes what action to take</a:t>
            </a:r>
            <a:r>
              <a:rPr lang="en-US" altLang="ko-KR" sz="1400" dirty="0"/>
              <a:t>. You didn’t tell it to add two more pods. </a:t>
            </a:r>
            <a:r>
              <a:rPr lang="en-US" altLang="ko-KR" sz="1400" b="1" dirty="0"/>
              <a:t>You only set the new desired number of instances and let Kubernetes determine what actions it needs to take to achieve the requested </a:t>
            </a:r>
            <a:r>
              <a:rPr lang="en-US" altLang="ko-KR" sz="1400" b="1" dirty="0">
                <a:solidFill>
                  <a:srgbClr val="FF0000"/>
                </a:solidFill>
              </a:rPr>
              <a:t>state</a:t>
            </a:r>
            <a:r>
              <a:rPr lang="en-US" altLang="ko-KR" sz="1400" dirty="0"/>
              <a:t>. This is one of the most fundamental Kubernetes principles. </a:t>
            </a:r>
            <a:r>
              <a:rPr lang="en-US" altLang="ko-KR" sz="1400" b="1" dirty="0"/>
              <a:t>Instead of telling Kubernetes exactly what actions it should perform, you’re only </a:t>
            </a:r>
            <a:r>
              <a:rPr lang="en-US" altLang="ko-KR" sz="1400" b="1" dirty="0">
                <a:solidFill>
                  <a:srgbClr val="FF0000"/>
                </a:solidFill>
              </a:rPr>
              <a:t>declaratively</a:t>
            </a:r>
            <a:r>
              <a:rPr lang="en-US" altLang="ko-KR" sz="1400" b="1" dirty="0"/>
              <a:t> </a:t>
            </a:r>
            <a:r>
              <a:rPr lang="en-US" altLang="ko-KR" sz="1400" b="1" dirty="0">
                <a:solidFill>
                  <a:srgbClr val="FF0000"/>
                </a:solidFill>
              </a:rPr>
              <a:t>changing the desired state of the system </a:t>
            </a:r>
            <a:r>
              <a:rPr lang="en-US" altLang="ko-KR" sz="1400" b="1" dirty="0"/>
              <a:t>and letting Kubernetes examine the current actual state and reconcile it with the desired state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4E097647-0B3C-3097-C5FB-BC9072E7D3BC}"/>
              </a:ext>
            </a:extLst>
          </p:cNvPr>
          <p:cNvGrpSpPr/>
          <p:nvPr/>
        </p:nvGrpSpPr>
        <p:grpSpPr>
          <a:xfrm>
            <a:off x="1276537" y="1888499"/>
            <a:ext cx="9638926" cy="2588908"/>
            <a:chOff x="1276537" y="1659899"/>
            <a:chExt cx="9638926" cy="2588908"/>
          </a:xfrm>
        </p:grpSpPr>
        <p:grpSp>
          <p:nvGrpSpPr>
            <p:cNvPr id="12" name="그룹 11">
              <a:extLst>
                <a:ext uri="{FF2B5EF4-FFF2-40B4-BE49-F238E27FC236}">
                  <a16:creationId xmlns:a16="http://schemas.microsoft.com/office/drawing/2014/main" id="{E750A85C-137F-958C-F0AD-8BACFE60770A}"/>
                </a:ext>
              </a:extLst>
            </p:cNvPr>
            <p:cNvGrpSpPr/>
            <p:nvPr/>
          </p:nvGrpSpPr>
          <p:grpSpPr>
            <a:xfrm>
              <a:off x="1276537" y="1659899"/>
              <a:ext cx="9638926" cy="2588908"/>
              <a:chOff x="1276537" y="1659899"/>
              <a:chExt cx="9638926" cy="2588908"/>
            </a:xfrm>
          </p:grpSpPr>
          <p:sp>
            <p:nvSpPr>
              <p:cNvPr id="8" name="TextBox 7">
                <a:extLst>
                  <a:ext uri="{FF2B5EF4-FFF2-40B4-BE49-F238E27FC236}">
                    <a16:creationId xmlns:a16="http://schemas.microsoft.com/office/drawing/2014/main" id="{C455A5FB-BC5E-2D5F-B845-4C73D836C9E6}"/>
                  </a:ext>
                </a:extLst>
              </p:cNvPr>
              <p:cNvSpPr txBox="1"/>
              <p:nvPr/>
            </p:nvSpPr>
            <p:spPr>
              <a:xfrm>
                <a:off x="3047343" y="1659899"/>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scale </a:t>
                </a:r>
                <a:r>
                  <a:rPr lang="en-US" altLang="ko-KR" sz="1000" b="1" dirty="0" err="1">
                    <a:solidFill>
                      <a:srgbClr val="FF0000"/>
                    </a:solidFill>
                  </a:rPr>
                  <a:t>rc</a:t>
                </a:r>
                <a:r>
                  <a:rPr lang="en-US" altLang="ko-KR" sz="1000" b="1" dirty="0">
                    <a:solidFill>
                      <a:srgbClr val="FF0000"/>
                    </a:solidFill>
                  </a:rPr>
                  <a:t> </a:t>
                </a:r>
                <a:r>
                  <a:rPr lang="en-US" altLang="ko-KR" sz="1000" b="1" dirty="0" err="1">
                    <a:solidFill>
                      <a:srgbClr val="FF0000"/>
                    </a:solidFill>
                  </a:rPr>
                  <a:t>kubia</a:t>
                </a:r>
                <a:r>
                  <a:rPr lang="en-US" altLang="ko-KR" sz="1000" b="1" dirty="0">
                    <a:solidFill>
                      <a:srgbClr val="FF0000"/>
                    </a:solidFill>
                  </a:rPr>
                  <a:t> --replicas=3</a:t>
                </a:r>
              </a:p>
            </p:txBody>
          </p:sp>
          <p:sp>
            <p:nvSpPr>
              <p:cNvPr id="9" name="화살표: 아래쪽 8">
                <a:extLst>
                  <a:ext uri="{FF2B5EF4-FFF2-40B4-BE49-F238E27FC236}">
                    <a16:creationId xmlns:a16="http://schemas.microsoft.com/office/drawing/2014/main" id="{FB334A21-F6EF-8ED5-D466-6E85E2B55C6F}"/>
                  </a:ext>
                </a:extLst>
              </p:cNvPr>
              <p:cNvSpPr/>
              <p:nvPr/>
            </p:nvSpPr>
            <p:spPr>
              <a:xfrm>
                <a:off x="5904186" y="1906120"/>
                <a:ext cx="386255" cy="25224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B3088C26-BF84-4E79-A1C7-1220EBB1045F}"/>
                  </a:ext>
                </a:extLst>
              </p:cNvPr>
              <p:cNvPicPr>
                <a:picLocks noChangeAspect="1"/>
              </p:cNvPicPr>
              <p:nvPr/>
            </p:nvPicPr>
            <p:blipFill>
              <a:blip r:embed="rId2"/>
              <a:stretch>
                <a:fillRect/>
              </a:stretch>
            </p:blipFill>
            <p:spPr>
              <a:xfrm>
                <a:off x="1276537" y="2152341"/>
                <a:ext cx="9638926" cy="2096466"/>
              </a:xfrm>
              <a:prstGeom prst="rect">
                <a:avLst/>
              </a:prstGeom>
            </p:spPr>
          </p:pic>
        </p:grpSp>
        <p:sp>
          <p:nvSpPr>
            <p:cNvPr id="13" name="직사각형 12">
              <a:extLst>
                <a:ext uri="{FF2B5EF4-FFF2-40B4-BE49-F238E27FC236}">
                  <a16:creationId xmlns:a16="http://schemas.microsoft.com/office/drawing/2014/main" id="{BEF77F4F-CCF5-5E6A-0C0B-CB0D680AD70F}"/>
                </a:ext>
              </a:extLst>
            </p:cNvPr>
            <p:cNvSpPr/>
            <p:nvPr/>
          </p:nvSpPr>
          <p:spPr>
            <a:xfrm>
              <a:off x="5809593" y="2561897"/>
              <a:ext cx="2372710"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C936D3D9-97FB-77E7-EC0E-D2D0AD29BD79}"/>
                </a:ext>
              </a:extLst>
            </p:cNvPr>
            <p:cNvSpPr/>
            <p:nvPr/>
          </p:nvSpPr>
          <p:spPr>
            <a:xfrm>
              <a:off x="1347952" y="3689131"/>
              <a:ext cx="2743200"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025059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Horizontally Scaling the Application(3/5)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the Result of the Scale-out :</a:t>
            </a:r>
          </a:p>
          <a:p>
            <a:pPr lvl="1">
              <a:buFont typeface="Wingdings" panose="05000000000000000000" pitchFamily="2" charset="2"/>
              <a:buChar char="§"/>
            </a:pPr>
            <a:r>
              <a:rPr lang="en-US" altLang="ko-KR" sz="1400" dirty="0"/>
              <a:t>Because the actual number of pods has already been increased to three (as evident from the </a:t>
            </a:r>
            <a:r>
              <a:rPr lang="en-US" altLang="ko-KR" sz="1400" b="1" dirty="0"/>
              <a:t>CURRENT</a:t>
            </a:r>
            <a:r>
              <a:rPr lang="en-US" altLang="ko-KR" sz="1400" dirty="0"/>
              <a:t> column), </a:t>
            </a:r>
            <a:r>
              <a:rPr lang="en-US" altLang="ko-KR" sz="1400" b="1" dirty="0"/>
              <a:t>listing all the pods should now show three pods instead of one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Scaling an application is incredibly simple. Once your app is running in production and a need to scale the app arises, you can add additional instances with a single command without having to install and run additional copies manually</a:t>
            </a:r>
            <a:r>
              <a:rPr lang="en-US" altLang="ko-KR" sz="1400" dirty="0"/>
              <a:t>.</a:t>
            </a:r>
          </a:p>
          <a:p>
            <a:pPr lvl="1">
              <a:buFont typeface="Wingdings" panose="05000000000000000000" pitchFamily="2" charset="2"/>
              <a:buChar char="§"/>
            </a:pPr>
            <a:r>
              <a:rPr lang="en-US" altLang="ko-KR" sz="1400" b="1" dirty="0"/>
              <a:t>NOTICE : Keep in mind that the app itself needs to support being scaled horizontally(scale out)</a:t>
            </a:r>
            <a:r>
              <a:rPr lang="en-US" altLang="ko-KR" sz="1400" dirty="0"/>
              <a:t>. Kubernetes doesn’t magically make your app scalable; </a:t>
            </a:r>
            <a:r>
              <a:rPr lang="en-US" altLang="ko-KR" sz="1400" b="1" dirty="0"/>
              <a:t>it only makes it trivial to scale the app up or down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01651186-A5D0-EB3A-68F9-C97D327273E7}"/>
              </a:ext>
            </a:extLst>
          </p:cNvPr>
          <p:cNvGrpSpPr/>
          <p:nvPr/>
        </p:nvGrpSpPr>
        <p:grpSpPr>
          <a:xfrm>
            <a:off x="1412327" y="1811830"/>
            <a:ext cx="9367345" cy="1483163"/>
            <a:chOff x="1412327" y="1945837"/>
            <a:chExt cx="9367345" cy="1483163"/>
          </a:xfrm>
        </p:grpSpPr>
        <p:pic>
          <p:nvPicPr>
            <p:cNvPr id="8" name="그림 7">
              <a:extLst>
                <a:ext uri="{FF2B5EF4-FFF2-40B4-BE49-F238E27FC236}">
                  <a16:creationId xmlns:a16="http://schemas.microsoft.com/office/drawing/2014/main" id="{0A9EDBF0-2C23-35CD-56A2-F501710DA6FC}"/>
                </a:ext>
              </a:extLst>
            </p:cNvPr>
            <p:cNvPicPr>
              <a:picLocks noChangeAspect="1"/>
            </p:cNvPicPr>
            <p:nvPr/>
          </p:nvPicPr>
          <p:blipFill>
            <a:blip r:embed="rId2"/>
            <a:stretch>
              <a:fillRect/>
            </a:stretch>
          </p:blipFill>
          <p:spPr>
            <a:xfrm>
              <a:off x="1412327" y="1945837"/>
              <a:ext cx="9367345" cy="1483163"/>
            </a:xfrm>
            <a:prstGeom prst="rect">
              <a:avLst/>
            </a:prstGeom>
          </p:spPr>
        </p:pic>
        <p:sp>
          <p:nvSpPr>
            <p:cNvPr id="9" name="직사각형 8">
              <a:extLst>
                <a:ext uri="{FF2B5EF4-FFF2-40B4-BE49-F238E27FC236}">
                  <a16:creationId xmlns:a16="http://schemas.microsoft.com/office/drawing/2014/main" id="{90897181-244C-C575-6700-4CAC7980FB55}"/>
                </a:ext>
              </a:extLst>
            </p:cNvPr>
            <p:cNvSpPr/>
            <p:nvPr/>
          </p:nvSpPr>
          <p:spPr>
            <a:xfrm>
              <a:off x="5817476" y="2333297"/>
              <a:ext cx="1087821"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709991A2-EC4E-3E4D-C97E-FD345A23BF0F}"/>
                </a:ext>
              </a:extLst>
            </p:cNvPr>
            <p:cNvSpPr/>
            <p:nvPr/>
          </p:nvSpPr>
          <p:spPr>
            <a:xfrm>
              <a:off x="1489841" y="2632230"/>
              <a:ext cx="3011214" cy="4578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402897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Horizontally Scaling the Application(4/5)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Load Balancing :</a:t>
            </a:r>
          </a:p>
          <a:p>
            <a:pPr lvl="1">
              <a:buFont typeface="Wingdings" panose="05000000000000000000" pitchFamily="2" charset="2"/>
              <a:buChar char="§"/>
            </a:pPr>
            <a:r>
              <a:rPr lang="en-US" altLang="ko-KR" sz="1400" b="1" dirty="0"/>
              <a:t>When there’s only one pod, services provide a static address for the single pod. Whether a service is backed by a single pod or a group of pods, those pods come and go as they’re moved around the cluster, which means their IP addresses change, but the service is always there at the same address</a:t>
            </a:r>
            <a:r>
              <a:rPr lang="en-US" altLang="ko-KR" sz="1400" dirty="0"/>
              <a:t>. This makes it easy for clients to connect to the pods, regardless of how many exist and how often they change location.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48DA29E-1D4A-4E2C-68DC-0314DB4982A0}"/>
              </a:ext>
            </a:extLst>
          </p:cNvPr>
          <p:cNvPicPr>
            <a:picLocks noChangeAspect="1"/>
          </p:cNvPicPr>
          <p:nvPr/>
        </p:nvPicPr>
        <p:blipFill>
          <a:blip r:embed="rId2"/>
          <a:stretch>
            <a:fillRect/>
          </a:stretch>
        </p:blipFill>
        <p:spPr>
          <a:xfrm>
            <a:off x="3608439" y="2270751"/>
            <a:ext cx="4975122" cy="3812843"/>
          </a:xfrm>
          <a:prstGeom prst="rect">
            <a:avLst/>
          </a:prstGeom>
        </p:spPr>
      </p:pic>
    </p:spTree>
    <p:extLst>
      <p:ext uri="{BB962C8B-B14F-4D97-AF65-F5344CB8AC3E}">
        <p14:creationId xmlns:p14="http://schemas.microsoft.com/office/powerpoint/2010/main" val="37320336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Horizontally Scaling the Application(5/5)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Visualizing the New State of Your System :</a:t>
            </a:r>
          </a:p>
          <a:p>
            <a:pPr lvl="1">
              <a:buFont typeface="Wingdings" panose="05000000000000000000" pitchFamily="2" charset="2"/>
              <a:buChar char="§"/>
            </a:pPr>
            <a:r>
              <a:rPr lang="en-US" altLang="ko-KR" sz="1400" b="1" dirty="0"/>
              <a:t>The following figure shows the new state of your system</a:t>
            </a:r>
            <a:r>
              <a:rPr lang="en-US" altLang="ko-KR" sz="1400" dirty="0"/>
              <a:t>. You still have </a:t>
            </a:r>
            <a:r>
              <a:rPr lang="en-US" altLang="ko-KR" sz="1400" b="1" dirty="0"/>
              <a:t>a single service </a:t>
            </a:r>
            <a:r>
              <a:rPr lang="en-US" altLang="ko-KR" sz="1400" dirty="0"/>
              <a:t>and </a:t>
            </a:r>
            <a:r>
              <a:rPr lang="en-US" altLang="ko-KR" sz="1400" b="1" dirty="0"/>
              <a:t>a single </a:t>
            </a:r>
            <a:r>
              <a:rPr lang="en-US" altLang="ko-KR" sz="1400" b="1" dirty="0" err="1"/>
              <a:t>ReplicationController</a:t>
            </a:r>
            <a:r>
              <a:rPr lang="en-US" altLang="ko-KR" sz="1400" dirty="0"/>
              <a:t>, but you now have </a:t>
            </a:r>
            <a:r>
              <a:rPr lang="en-US" altLang="ko-KR" sz="1400" b="1" dirty="0"/>
              <a:t>three instances of your pod</a:t>
            </a:r>
            <a:r>
              <a:rPr lang="en-US" altLang="ko-KR" sz="1400" dirty="0"/>
              <a:t>, </a:t>
            </a:r>
            <a:r>
              <a:rPr lang="en-US" altLang="ko-KR" sz="1400" b="1" dirty="0"/>
              <a:t>all managed by the </a:t>
            </a:r>
            <a:r>
              <a:rPr lang="en-US" altLang="ko-KR" sz="1400" b="1" dirty="0" err="1"/>
              <a:t>ReplicationController</a:t>
            </a:r>
            <a:r>
              <a:rPr lang="en-US" altLang="ko-KR" sz="1400" dirty="0"/>
              <a:t>. The service no longer sends all requests to a single pod, but spreads them across all three pods.</a:t>
            </a:r>
          </a:p>
          <a:p>
            <a:pPr lvl="1">
              <a:buFont typeface="Wingdings" panose="05000000000000000000" pitchFamily="2" charset="2"/>
              <a:buChar char="§"/>
            </a:pPr>
            <a:r>
              <a:rPr lang="en-US" altLang="ko-KR" sz="1400" dirty="0"/>
              <a:t>As an exercise, you can now try </a:t>
            </a:r>
            <a:r>
              <a:rPr lang="en-US" altLang="ko-KR" sz="1400" b="1" dirty="0"/>
              <a:t>spinning up additional instances by increasing the </a:t>
            </a:r>
            <a:r>
              <a:rPr lang="en-US" altLang="ko-KR" sz="1400" b="1" dirty="0" err="1"/>
              <a:t>ReplicationController’s</a:t>
            </a:r>
            <a:r>
              <a:rPr lang="en-US" altLang="ko-KR" sz="1400" b="1" dirty="0"/>
              <a:t> replica count even further and then scaling back down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075CBA8-06B4-5179-A081-DB797B08D53F}"/>
              </a:ext>
            </a:extLst>
          </p:cNvPr>
          <p:cNvPicPr>
            <a:picLocks noChangeAspect="1"/>
          </p:cNvPicPr>
          <p:nvPr/>
        </p:nvPicPr>
        <p:blipFill>
          <a:blip r:embed="rId2"/>
          <a:stretch>
            <a:fillRect/>
          </a:stretch>
        </p:blipFill>
        <p:spPr>
          <a:xfrm>
            <a:off x="3244645" y="2576729"/>
            <a:ext cx="5702710" cy="2792361"/>
          </a:xfrm>
          <a:prstGeom prst="rect">
            <a:avLst/>
          </a:prstGeom>
        </p:spPr>
      </p:pic>
    </p:spTree>
    <p:extLst>
      <p:ext uri="{BB962C8B-B14F-4D97-AF65-F5344CB8AC3E}">
        <p14:creationId xmlns:p14="http://schemas.microsoft.com/office/powerpoint/2010/main" val="22291013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Examining What Nodes Your App Is Running 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Displaying the Pod IP and the Pod’s Node When Listing Pods :</a:t>
            </a:r>
          </a:p>
          <a:p>
            <a:pPr lvl="1">
              <a:buFont typeface="Wingdings" panose="05000000000000000000" pitchFamily="2" charset="2"/>
              <a:buChar char="§"/>
            </a:pPr>
            <a:r>
              <a:rPr lang="en-US" altLang="ko-KR" sz="1400" dirty="0"/>
              <a:t>You may be wondering what nodes your pods have been scheduled to. </a:t>
            </a:r>
            <a:r>
              <a:rPr lang="en-US" altLang="ko-KR" sz="1400" b="1" dirty="0"/>
              <a:t>In the Kubernetes world, what node a pod is running on isn’t that important, as long as it gets scheduled to a node that can provide the CPU and memory the pod needs to run properly</a:t>
            </a:r>
            <a:r>
              <a:rPr lang="en-US" altLang="ko-KR" sz="1400" dirty="0"/>
              <a:t>.</a:t>
            </a:r>
          </a:p>
          <a:p>
            <a:pPr lvl="1">
              <a:buFont typeface="Wingdings" panose="05000000000000000000" pitchFamily="2" charset="2"/>
              <a:buChar char="§"/>
            </a:pPr>
            <a:r>
              <a:rPr lang="en-US" altLang="ko-KR" sz="1400" b="1" dirty="0"/>
              <a:t>Regardless of the node they’re scheduled to, all the apps running inside containers have the same type of OS environment</a:t>
            </a:r>
            <a:r>
              <a:rPr lang="en-US" altLang="ko-KR" sz="1400" dirty="0"/>
              <a:t>. </a:t>
            </a:r>
            <a:r>
              <a:rPr lang="en-US" altLang="ko-KR" sz="1400" b="1" dirty="0"/>
              <a:t>Each pod has its own IP and can talk to any other pod, regardless of whether that other pod is also running on the same node or on a different one</a:t>
            </a:r>
            <a:r>
              <a:rPr lang="en-US" altLang="ko-KR" sz="1400" dirty="0"/>
              <a:t>. Each pod is provided with </a:t>
            </a:r>
            <a:r>
              <a:rPr lang="en-US" altLang="ko-KR" sz="1400" b="1" dirty="0"/>
              <a:t>the requested amount of computational resources</a:t>
            </a:r>
            <a:r>
              <a:rPr lang="en-US" altLang="ko-KR" sz="1400" dirty="0"/>
              <a:t>, so whether those resources are provided by one node or another doesn’t make any difference.</a:t>
            </a:r>
          </a:p>
          <a:p>
            <a:pPr lvl="1">
              <a:buFont typeface="Wingdings" panose="05000000000000000000" pitchFamily="2" charset="2"/>
              <a:buChar char="§"/>
            </a:pPr>
            <a:r>
              <a:rPr lang="en-US" altLang="ko-KR" sz="1400" dirty="0"/>
              <a:t>If you’ve been paying close attention, you probably noticed that the “</a:t>
            </a:r>
            <a:r>
              <a:rPr lang="en-US" altLang="ko-KR" sz="1400" b="1" dirty="0" err="1"/>
              <a:t>kubectl</a:t>
            </a:r>
            <a:r>
              <a:rPr lang="en-US" altLang="ko-KR" sz="1400" b="1" dirty="0"/>
              <a:t> get pods</a:t>
            </a:r>
            <a:r>
              <a:rPr lang="en-US" altLang="ko-KR" sz="1400" dirty="0"/>
              <a:t>” command doesn’t even show any information about the nodes the pods are scheduled to. This is because it’s usually not an important piece of information. </a:t>
            </a:r>
            <a:r>
              <a:rPr lang="en-US" altLang="ko-KR" sz="1400" b="1" dirty="0"/>
              <a:t>But you can request additional columns to display using the “</a:t>
            </a:r>
            <a:r>
              <a:rPr lang="en-US" altLang="ko-KR" sz="1400" b="1" dirty="0">
                <a:solidFill>
                  <a:srgbClr val="FF0000"/>
                </a:solidFill>
              </a:rPr>
              <a:t>-o wide</a:t>
            </a:r>
            <a:r>
              <a:rPr lang="en-US" altLang="ko-KR" sz="1400" b="1" dirty="0"/>
              <a:t>” option. When listing pods, this option shows the pod’s IP and the node the pod is running on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B57DA59-5141-D075-5F0E-93E83E04981E}"/>
              </a:ext>
            </a:extLst>
          </p:cNvPr>
          <p:cNvGrpSpPr/>
          <p:nvPr/>
        </p:nvGrpSpPr>
        <p:grpSpPr>
          <a:xfrm>
            <a:off x="1234965" y="3876401"/>
            <a:ext cx="9722069" cy="1936312"/>
            <a:chOff x="1234965" y="3876401"/>
            <a:chExt cx="9722069" cy="1936312"/>
          </a:xfrm>
        </p:grpSpPr>
        <p:pic>
          <p:nvPicPr>
            <p:cNvPr id="8" name="그림 7">
              <a:extLst>
                <a:ext uri="{FF2B5EF4-FFF2-40B4-BE49-F238E27FC236}">
                  <a16:creationId xmlns:a16="http://schemas.microsoft.com/office/drawing/2014/main" id="{D7A42CB8-094E-2191-10C2-586199A0BC86}"/>
                </a:ext>
              </a:extLst>
            </p:cNvPr>
            <p:cNvPicPr>
              <a:picLocks noChangeAspect="1"/>
            </p:cNvPicPr>
            <p:nvPr/>
          </p:nvPicPr>
          <p:blipFill>
            <a:blip r:embed="rId2"/>
            <a:stretch>
              <a:fillRect/>
            </a:stretch>
          </p:blipFill>
          <p:spPr>
            <a:xfrm>
              <a:off x="1234965" y="3876401"/>
              <a:ext cx="9722069" cy="1936312"/>
            </a:xfrm>
            <a:prstGeom prst="rect">
              <a:avLst/>
            </a:prstGeom>
          </p:spPr>
        </p:pic>
        <p:sp>
          <p:nvSpPr>
            <p:cNvPr id="9" name="직사각형 8">
              <a:extLst>
                <a:ext uri="{FF2B5EF4-FFF2-40B4-BE49-F238E27FC236}">
                  <a16:creationId xmlns:a16="http://schemas.microsoft.com/office/drawing/2014/main" id="{99251227-3C7D-4429-C3EA-C0AD9A55D66C}"/>
                </a:ext>
              </a:extLst>
            </p:cNvPr>
            <p:cNvSpPr/>
            <p:nvPr/>
          </p:nvSpPr>
          <p:spPr>
            <a:xfrm>
              <a:off x="5825359" y="4327634"/>
              <a:ext cx="1631731" cy="1497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923011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Examining What Nodes Your App Is Running 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Inspecting Other Details of a Pod :</a:t>
            </a:r>
          </a:p>
          <a:p>
            <a:pPr lvl="1">
              <a:buFont typeface="Wingdings" panose="05000000000000000000" pitchFamily="2" charset="2"/>
              <a:buChar char="§"/>
            </a:pPr>
            <a:r>
              <a:rPr lang="en-US" altLang="ko-KR" sz="1400" dirty="0"/>
              <a:t>You can also see the node by using the “</a:t>
            </a:r>
            <a:r>
              <a:rPr lang="en-US" altLang="ko-KR" sz="1400" b="1" dirty="0" err="1"/>
              <a:t>kubectl</a:t>
            </a:r>
            <a:r>
              <a:rPr lang="en-US" altLang="ko-KR" sz="1400" b="1" dirty="0"/>
              <a:t> describe</a:t>
            </a:r>
            <a:r>
              <a:rPr lang="en-US" altLang="ko-KR" sz="1400" dirty="0"/>
              <a:t>” command, which </a:t>
            </a:r>
            <a:r>
              <a:rPr lang="en-US" altLang="ko-KR" sz="1400" b="1" dirty="0"/>
              <a:t>shows many other details of the pod</a:t>
            </a:r>
            <a:r>
              <a:rPr lang="en-US" altLang="ko-KR" sz="1400" dirty="0"/>
              <a:t>, as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215B4215-075D-25FB-E7C8-F536D4D810DE}"/>
              </a:ext>
            </a:extLst>
          </p:cNvPr>
          <p:cNvGrpSpPr/>
          <p:nvPr/>
        </p:nvGrpSpPr>
        <p:grpSpPr>
          <a:xfrm>
            <a:off x="1183728" y="1923394"/>
            <a:ext cx="9824544" cy="3872597"/>
            <a:chOff x="1183728" y="1923394"/>
            <a:chExt cx="9824544" cy="3872597"/>
          </a:xfrm>
        </p:grpSpPr>
        <p:grpSp>
          <p:nvGrpSpPr>
            <p:cNvPr id="18" name="그룹 17">
              <a:extLst>
                <a:ext uri="{FF2B5EF4-FFF2-40B4-BE49-F238E27FC236}">
                  <a16:creationId xmlns:a16="http://schemas.microsoft.com/office/drawing/2014/main" id="{6FD69AD7-4C2F-4A22-5D9F-D845D12C1EB9}"/>
                </a:ext>
              </a:extLst>
            </p:cNvPr>
            <p:cNvGrpSpPr/>
            <p:nvPr/>
          </p:nvGrpSpPr>
          <p:grpSpPr>
            <a:xfrm>
              <a:off x="1183728" y="1923394"/>
              <a:ext cx="9824544" cy="3872597"/>
              <a:chOff x="1183728" y="1742091"/>
              <a:chExt cx="9824544" cy="3872597"/>
            </a:xfrm>
          </p:grpSpPr>
          <p:sp>
            <p:nvSpPr>
              <p:cNvPr id="4" name="TextBox 3">
                <a:extLst>
                  <a:ext uri="{FF2B5EF4-FFF2-40B4-BE49-F238E27FC236}">
                    <a16:creationId xmlns:a16="http://schemas.microsoft.com/office/drawing/2014/main" id="{0E49E0BD-BDD8-F4C3-5E43-903208634159}"/>
                  </a:ext>
                </a:extLst>
              </p:cNvPr>
              <p:cNvSpPr txBox="1"/>
              <p:nvPr/>
            </p:nvSpPr>
            <p:spPr>
              <a:xfrm>
                <a:off x="3390900" y="1742091"/>
                <a:ext cx="5410200" cy="246221"/>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describe pod </a:t>
                </a:r>
                <a:r>
                  <a:rPr lang="en-US" altLang="ko-KR" sz="1000" b="1" dirty="0">
                    <a:solidFill>
                      <a:srgbClr val="FF0000"/>
                    </a:solidFill>
                  </a:rPr>
                  <a:t>&lt;Your Pod Name&gt;</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A58221F2-A59A-0C53-6453-5E6FE5C3B689}"/>
                  </a:ext>
                </a:extLst>
              </p:cNvPr>
              <p:cNvSpPr/>
              <p:nvPr/>
            </p:nvSpPr>
            <p:spPr>
              <a:xfrm>
                <a:off x="5879224" y="1988312"/>
                <a:ext cx="433552" cy="33107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7" name="그룹 16">
                <a:extLst>
                  <a:ext uri="{FF2B5EF4-FFF2-40B4-BE49-F238E27FC236}">
                    <a16:creationId xmlns:a16="http://schemas.microsoft.com/office/drawing/2014/main" id="{70A5BFD9-5A6D-B532-55AD-005161914126}"/>
                  </a:ext>
                </a:extLst>
              </p:cNvPr>
              <p:cNvGrpSpPr/>
              <p:nvPr/>
            </p:nvGrpSpPr>
            <p:grpSpPr>
              <a:xfrm>
                <a:off x="1183728" y="2319387"/>
                <a:ext cx="9824544" cy="3295301"/>
                <a:chOff x="1145627" y="2319387"/>
                <a:chExt cx="9900745" cy="3295301"/>
              </a:xfrm>
            </p:grpSpPr>
            <p:grpSp>
              <p:nvGrpSpPr>
                <p:cNvPr id="14" name="그룹 13">
                  <a:extLst>
                    <a:ext uri="{FF2B5EF4-FFF2-40B4-BE49-F238E27FC236}">
                      <a16:creationId xmlns:a16="http://schemas.microsoft.com/office/drawing/2014/main" id="{E1E8F037-6DF7-FC52-FDD8-E0FA628AFE37}"/>
                    </a:ext>
                  </a:extLst>
                </p:cNvPr>
                <p:cNvGrpSpPr/>
                <p:nvPr/>
              </p:nvGrpSpPr>
              <p:grpSpPr>
                <a:xfrm>
                  <a:off x="1145627" y="2319387"/>
                  <a:ext cx="9900745" cy="3295301"/>
                  <a:chOff x="381000" y="2366071"/>
                  <a:chExt cx="11887200" cy="4247259"/>
                </a:xfrm>
              </p:grpSpPr>
              <p:pic>
                <p:nvPicPr>
                  <p:cNvPr id="13" name="그림 12">
                    <a:extLst>
                      <a:ext uri="{FF2B5EF4-FFF2-40B4-BE49-F238E27FC236}">
                        <a16:creationId xmlns:a16="http://schemas.microsoft.com/office/drawing/2014/main" id="{F5FF0186-B006-FBA0-8C8B-E55F1EF379EA}"/>
                      </a:ext>
                    </a:extLst>
                  </p:cNvPr>
                  <p:cNvPicPr>
                    <a:picLocks noChangeAspect="1"/>
                  </p:cNvPicPr>
                  <p:nvPr/>
                </p:nvPicPr>
                <p:blipFill>
                  <a:blip r:embed="rId2"/>
                  <a:stretch>
                    <a:fillRect/>
                  </a:stretch>
                </p:blipFill>
                <p:spPr>
                  <a:xfrm>
                    <a:off x="838200" y="4051105"/>
                    <a:ext cx="11430000" cy="2562225"/>
                  </a:xfrm>
                  <a:prstGeom prst="rect">
                    <a:avLst/>
                  </a:prstGeom>
                  <a:ln>
                    <a:solidFill>
                      <a:schemeClr val="bg1">
                        <a:lumMod val="50000"/>
                      </a:schemeClr>
                    </a:solidFill>
                  </a:ln>
                </p:spPr>
              </p:pic>
              <p:pic>
                <p:nvPicPr>
                  <p:cNvPr id="11" name="그림 10">
                    <a:extLst>
                      <a:ext uri="{FF2B5EF4-FFF2-40B4-BE49-F238E27FC236}">
                        <a16:creationId xmlns:a16="http://schemas.microsoft.com/office/drawing/2014/main" id="{4F0907DE-293E-6266-D8EC-65E0BF5CD1A3}"/>
                      </a:ext>
                    </a:extLst>
                  </p:cNvPr>
                  <p:cNvPicPr>
                    <a:picLocks noChangeAspect="1"/>
                  </p:cNvPicPr>
                  <p:nvPr/>
                </p:nvPicPr>
                <p:blipFill>
                  <a:blip r:embed="rId3"/>
                  <a:stretch>
                    <a:fillRect/>
                  </a:stretch>
                </p:blipFill>
                <p:spPr>
                  <a:xfrm>
                    <a:off x="381000" y="2366071"/>
                    <a:ext cx="11430000" cy="2562225"/>
                  </a:xfrm>
                  <a:prstGeom prst="rect">
                    <a:avLst/>
                  </a:prstGeom>
                  <a:ln>
                    <a:solidFill>
                      <a:schemeClr val="bg1">
                        <a:lumMod val="50000"/>
                      </a:schemeClr>
                    </a:solidFill>
                  </a:ln>
                </p:spPr>
              </p:pic>
            </p:grpSp>
            <p:sp>
              <p:nvSpPr>
                <p:cNvPr id="15" name="직사각형 14">
                  <a:extLst>
                    <a:ext uri="{FF2B5EF4-FFF2-40B4-BE49-F238E27FC236}">
                      <a16:creationId xmlns:a16="http://schemas.microsoft.com/office/drawing/2014/main" id="{9DE84943-399E-6C17-B603-EFADF0D07AE9}"/>
                    </a:ext>
                  </a:extLst>
                </p:cNvPr>
                <p:cNvSpPr/>
                <p:nvPr/>
              </p:nvSpPr>
              <p:spPr>
                <a:xfrm>
                  <a:off x="5620406" y="3357235"/>
                  <a:ext cx="2167759" cy="1681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8F40E7A3-4B92-6837-3EE0-56E76EAFBE95}"/>
                    </a:ext>
                  </a:extLst>
                </p:cNvPr>
                <p:cNvSpPr/>
                <p:nvPr/>
              </p:nvSpPr>
              <p:spPr>
                <a:xfrm>
                  <a:off x="1229711" y="2979646"/>
                  <a:ext cx="796158" cy="1576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9" name="직사각형 18">
              <a:extLst>
                <a:ext uri="{FF2B5EF4-FFF2-40B4-BE49-F238E27FC236}">
                  <a16:creationId xmlns:a16="http://schemas.microsoft.com/office/drawing/2014/main" id="{AD57DB47-A22B-C288-825B-B365653C8170}"/>
                </a:ext>
              </a:extLst>
            </p:cNvPr>
            <p:cNvSpPr/>
            <p:nvPr/>
          </p:nvSpPr>
          <p:spPr>
            <a:xfrm>
              <a:off x="1267165" y="4169979"/>
              <a:ext cx="2571738" cy="1576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83E880FB-C95B-3459-9733-D49F551F5CBB}"/>
                </a:ext>
              </a:extLst>
            </p:cNvPr>
            <p:cNvSpPr txBox="1"/>
            <p:nvPr/>
          </p:nvSpPr>
          <p:spPr>
            <a:xfrm>
              <a:off x="3862938" y="4037788"/>
              <a:ext cx="1761129" cy="400110"/>
            </a:xfrm>
            <a:prstGeom prst="rect">
              <a:avLst/>
            </a:prstGeom>
            <a:noFill/>
          </p:spPr>
          <p:txBody>
            <a:bodyPr wrap="square">
              <a:spAutoFit/>
            </a:bodyPr>
            <a:lstStyle/>
            <a:p>
              <a:r>
                <a:rPr lang="en-US" altLang="ko-KR" sz="1000" b="1" dirty="0">
                  <a:solidFill>
                    <a:schemeClr val="bg1"/>
                  </a:solidFill>
                </a:rPr>
                <a:t>Here’s the node the pod</a:t>
              </a:r>
            </a:p>
            <a:p>
              <a:r>
                <a:rPr lang="en-US" altLang="ko-KR" sz="1000" b="1" dirty="0">
                  <a:solidFill>
                    <a:schemeClr val="bg1"/>
                  </a:solidFill>
                </a:rPr>
                <a:t>has been scheduled to.</a:t>
              </a:r>
              <a:endParaRPr lang="ko-KR" altLang="en-US" sz="1000" b="1" dirty="0">
                <a:solidFill>
                  <a:schemeClr val="bg1"/>
                </a:solidFill>
              </a:endParaRPr>
            </a:p>
          </p:txBody>
        </p:sp>
      </p:grpSp>
    </p:spTree>
    <p:extLst>
      <p:ext uri="{BB962C8B-B14F-4D97-AF65-F5344CB8AC3E}">
        <p14:creationId xmlns:p14="http://schemas.microsoft.com/office/powerpoint/2010/main" val="4727923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 Dashboard(1/2)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 Dashboard :</a:t>
            </a:r>
          </a:p>
          <a:p>
            <a:pPr lvl="1">
              <a:buFont typeface="Wingdings" panose="05000000000000000000" pitchFamily="2" charset="2"/>
              <a:buChar char="§"/>
            </a:pPr>
            <a:r>
              <a:rPr lang="en-US" altLang="ko-KR" sz="1400" b="1" dirty="0"/>
              <a:t>Up to now, you’ve only been using the </a:t>
            </a:r>
            <a:r>
              <a:rPr lang="en-US" altLang="ko-KR" sz="1400" b="1" dirty="0" err="1"/>
              <a:t>kubectl</a:t>
            </a:r>
            <a:r>
              <a:rPr lang="en-US" altLang="ko-KR" sz="1400" b="1" dirty="0"/>
              <a:t> command-line tool</a:t>
            </a:r>
            <a:r>
              <a:rPr lang="en-US" altLang="ko-KR" sz="1400" dirty="0"/>
              <a:t>. If you’re more into graphical web user interfaces, you’ll be glad to hear that </a:t>
            </a:r>
            <a:r>
              <a:rPr lang="en-US" altLang="ko-KR" sz="1400" b="1" dirty="0"/>
              <a:t>Kubernetes also comes with a nice (but still evolving) web dashboard</a:t>
            </a:r>
            <a:r>
              <a:rPr lang="en-US" altLang="ko-KR" sz="1400" dirty="0"/>
              <a:t>.</a:t>
            </a:r>
          </a:p>
          <a:p>
            <a:pPr lvl="1">
              <a:buFont typeface="Wingdings" panose="05000000000000000000" pitchFamily="2" charset="2"/>
              <a:buChar char="§"/>
            </a:pPr>
            <a:r>
              <a:rPr lang="en-US" altLang="ko-KR" sz="1400" b="1" dirty="0"/>
              <a:t>The dashboard allows you to list all the Pods, </a:t>
            </a:r>
            <a:r>
              <a:rPr lang="en-US" altLang="ko-KR" sz="1400" b="1" dirty="0" err="1"/>
              <a:t>ReplicationControllers</a:t>
            </a:r>
            <a:r>
              <a:rPr lang="en-US" altLang="ko-KR" sz="1400" b="1" dirty="0"/>
              <a:t>, Services, and other objects deployed in your cluster, as well as to create, modify, and delete them</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Please refer to </a:t>
            </a:r>
            <a:r>
              <a:rPr lang="en-US" altLang="ko-KR" sz="1400" b="1" dirty="0">
                <a:hlinkClick r:id="rId2"/>
              </a:rPr>
              <a:t>https://kubernetes.io/docs/tasks/access-application-cluster/web-ui-dashboard/</a:t>
            </a:r>
            <a:r>
              <a:rPr lang="en-US" altLang="ko-KR" sz="1400" b="1" dirty="0"/>
              <a: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83418E4-DE09-D412-02A0-73984B5D631B}"/>
              </a:ext>
            </a:extLst>
          </p:cNvPr>
          <p:cNvPicPr>
            <a:picLocks noChangeAspect="1"/>
          </p:cNvPicPr>
          <p:nvPr/>
        </p:nvPicPr>
        <p:blipFill>
          <a:blip r:embed="rId3"/>
          <a:stretch>
            <a:fillRect/>
          </a:stretch>
        </p:blipFill>
        <p:spPr>
          <a:xfrm>
            <a:off x="3269933" y="2167758"/>
            <a:ext cx="5652134" cy="3379533"/>
          </a:xfrm>
          <a:prstGeom prst="rect">
            <a:avLst/>
          </a:prstGeom>
        </p:spPr>
      </p:pic>
    </p:spTree>
    <p:extLst>
      <p:ext uri="{BB962C8B-B14F-4D97-AF65-F5344CB8AC3E}">
        <p14:creationId xmlns:p14="http://schemas.microsoft.com/office/powerpoint/2010/main" val="303296444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 Dashboard(2/2)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Dashboard :</a:t>
            </a:r>
          </a:p>
          <a:p>
            <a:pPr lvl="1">
              <a:buFont typeface="Wingdings" panose="05000000000000000000" pitchFamily="2" charset="2"/>
              <a:buChar char="§"/>
            </a:pPr>
            <a:r>
              <a:rPr lang="en-US" altLang="ko-KR" sz="1400" b="1" dirty="0"/>
              <a:t>You can find out the URL of the dashboard through the “</a:t>
            </a:r>
            <a:r>
              <a:rPr lang="en-US" altLang="ko-KR" sz="1400" b="1" dirty="0" err="1"/>
              <a:t>kubectl</a:t>
            </a:r>
            <a:r>
              <a:rPr lang="en-US" altLang="ko-KR" sz="1400" b="1" dirty="0"/>
              <a:t> cluster-info” command in Google Cloud.</a:t>
            </a:r>
          </a:p>
          <a:p>
            <a:pPr lvl="1">
              <a:buFont typeface="Wingdings" panose="05000000000000000000" pitchFamily="2" charset="2"/>
              <a:buChar char="§"/>
            </a:pPr>
            <a:r>
              <a:rPr lang="en-US" altLang="ko-KR" sz="1400" b="1" dirty="0"/>
              <a:t>To open the dashboard in your browser when using </a:t>
            </a:r>
            <a:r>
              <a:rPr lang="en-US" altLang="ko-KR" sz="1400" b="1" dirty="0" err="1"/>
              <a:t>Minikube</a:t>
            </a:r>
            <a:r>
              <a:rPr lang="en-US" altLang="ko-KR" sz="1400" b="1" dirty="0"/>
              <a:t> to run your Kubernetes cluster</a:t>
            </a:r>
            <a:r>
              <a:rPr lang="en-US" altLang="ko-KR" sz="1400" dirty="0"/>
              <a:t>, run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2CF7AC5-0D5B-F702-ED3F-87541A0E511C}"/>
              </a:ext>
            </a:extLst>
          </p:cNvPr>
          <p:cNvGrpSpPr/>
          <p:nvPr/>
        </p:nvGrpSpPr>
        <p:grpSpPr>
          <a:xfrm>
            <a:off x="1400503" y="2133850"/>
            <a:ext cx="9390993" cy="2322286"/>
            <a:chOff x="1400503" y="1896382"/>
            <a:chExt cx="9390993" cy="2322286"/>
          </a:xfrm>
        </p:grpSpPr>
        <p:sp>
          <p:nvSpPr>
            <p:cNvPr id="8" name="TextBox 7">
              <a:extLst>
                <a:ext uri="{FF2B5EF4-FFF2-40B4-BE49-F238E27FC236}">
                  <a16:creationId xmlns:a16="http://schemas.microsoft.com/office/drawing/2014/main" id="{D47E7D94-ACC4-1541-1493-0C68B6F10A69}"/>
                </a:ext>
              </a:extLst>
            </p:cNvPr>
            <p:cNvSpPr txBox="1"/>
            <p:nvPr/>
          </p:nvSpPr>
          <p:spPr>
            <a:xfrm>
              <a:off x="3047343" y="1896382"/>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minikube</a:t>
              </a:r>
              <a:r>
                <a:rPr lang="en-US" altLang="ko-KR" sz="1000" b="1" dirty="0"/>
                <a:t> dashboard</a:t>
              </a:r>
            </a:p>
          </p:txBody>
        </p:sp>
        <p:sp>
          <p:nvSpPr>
            <p:cNvPr id="9" name="화살표: 아래쪽 8">
              <a:extLst>
                <a:ext uri="{FF2B5EF4-FFF2-40B4-BE49-F238E27FC236}">
                  <a16:creationId xmlns:a16="http://schemas.microsoft.com/office/drawing/2014/main" id="{4194478B-9AD8-C4F7-F699-96C1ED564078}"/>
                </a:ext>
              </a:extLst>
            </p:cNvPr>
            <p:cNvSpPr/>
            <p:nvPr/>
          </p:nvSpPr>
          <p:spPr>
            <a:xfrm>
              <a:off x="5875283" y="2142603"/>
              <a:ext cx="441434" cy="30742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334DE1E6-1875-0AAC-A754-186873FF097A}"/>
                </a:ext>
              </a:extLst>
            </p:cNvPr>
            <p:cNvPicPr>
              <a:picLocks noChangeAspect="1"/>
            </p:cNvPicPr>
            <p:nvPr/>
          </p:nvPicPr>
          <p:blipFill>
            <a:blip r:embed="rId2"/>
            <a:stretch>
              <a:fillRect/>
            </a:stretch>
          </p:blipFill>
          <p:spPr>
            <a:xfrm>
              <a:off x="1400503" y="2450031"/>
              <a:ext cx="9390993" cy="1768637"/>
            </a:xfrm>
            <a:prstGeom prst="rect">
              <a:avLst/>
            </a:prstGeom>
          </p:spPr>
        </p:pic>
      </p:grpSp>
    </p:spTree>
    <p:extLst>
      <p:ext uri="{BB962C8B-B14F-4D97-AF65-F5344CB8AC3E}">
        <p14:creationId xmlns:p14="http://schemas.microsoft.com/office/powerpoint/2010/main" val="36125370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Minikube</a:t>
            </a:r>
            <a:r>
              <a:rPr lang="en-US" altLang="ko-KR" sz="2800" b="1" dirty="0"/>
              <a:t> Dashboard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Dashboard in </a:t>
            </a:r>
            <a:r>
              <a:rPr lang="en-US" altLang="ko-KR" sz="1800" b="1" dirty="0" err="1"/>
              <a:t>Minikube</a:t>
            </a:r>
            <a:r>
              <a:rPr lang="en-US" altLang="ko-KR" sz="1800" b="1" dirty="0"/>
              <a:t> :</a:t>
            </a:r>
          </a:p>
          <a:p>
            <a:pPr lvl="1">
              <a:buFont typeface="Wingdings" panose="05000000000000000000" pitchFamily="2" charset="2"/>
              <a:buChar char="§"/>
            </a:pPr>
            <a:r>
              <a:rPr lang="en-US" altLang="ko-KR" sz="1400" dirty="0"/>
              <a:t>When you run the previous command, “</a:t>
            </a:r>
            <a:r>
              <a:rPr lang="en-US" altLang="ko-KR" sz="1400" b="1" dirty="0"/>
              <a:t>$ </a:t>
            </a:r>
            <a:r>
              <a:rPr lang="en-US" altLang="ko-KR" sz="1400" b="1" dirty="0" err="1"/>
              <a:t>minikube</a:t>
            </a:r>
            <a:r>
              <a:rPr lang="en-US" altLang="ko-KR" sz="1400" b="1" dirty="0"/>
              <a:t> dashboard</a:t>
            </a:r>
            <a:r>
              <a:rPr lang="en-US" altLang="ko-KR" sz="1400" dirty="0"/>
              <a:t>”, the default web browser will show up and display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815CCE1-1894-D5FA-A239-1164137A5B72}"/>
              </a:ext>
            </a:extLst>
          </p:cNvPr>
          <p:cNvPicPr>
            <a:picLocks noChangeAspect="1"/>
          </p:cNvPicPr>
          <p:nvPr/>
        </p:nvPicPr>
        <p:blipFill>
          <a:blip r:embed="rId2"/>
          <a:stretch>
            <a:fillRect/>
          </a:stretch>
        </p:blipFill>
        <p:spPr>
          <a:xfrm>
            <a:off x="2639036" y="1642113"/>
            <a:ext cx="6913927" cy="4714237"/>
          </a:xfrm>
          <a:prstGeom prst="rect">
            <a:avLst/>
          </a:prstGeom>
        </p:spPr>
      </p:pic>
    </p:spTree>
    <p:extLst>
      <p:ext uri="{BB962C8B-B14F-4D97-AF65-F5344CB8AC3E}">
        <p14:creationId xmlns:p14="http://schemas.microsoft.com/office/powerpoint/2010/main" val="22233350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in Docker(KIND) :</a:t>
            </a:r>
          </a:p>
          <a:p>
            <a:pPr lvl="1">
              <a:buFont typeface="Wingdings" panose="05000000000000000000" pitchFamily="2" charset="2"/>
              <a:buChar char="§"/>
            </a:pPr>
            <a:r>
              <a:rPr lang="en-US" altLang="ko-KR" sz="1400" b="1" dirty="0"/>
              <a:t>An alternative to </a:t>
            </a:r>
            <a:r>
              <a:rPr lang="en-US" altLang="ko-KR" sz="1400" b="1" dirty="0" err="1"/>
              <a:t>Minikube</a:t>
            </a:r>
            <a:r>
              <a:rPr lang="en-US" altLang="ko-KR" sz="1400" b="1" dirty="0"/>
              <a:t>, although not as mature(</a:t>
            </a:r>
            <a:r>
              <a:rPr lang="en-US" altLang="ko-KR" sz="1400" b="1" dirty="0">
                <a:solidFill>
                  <a:srgbClr val="FF0000"/>
                </a:solidFill>
              </a:rPr>
              <a:t>2022.11 kind v0.17.0 is available</a:t>
            </a:r>
            <a:r>
              <a:rPr lang="en-US" altLang="ko-KR" sz="1400" b="1" dirty="0"/>
              <a:t>), is </a:t>
            </a:r>
            <a:r>
              <a:rPr lang="en-US" altLang="ko-KR" sz="1400" b="1" dirty="0">
                <a:solidFill>
                  <a:srgbClr val="FF0000"/>
                </a:solidFill>
              </a:rPr>
              <a:t>kind</a:t>
            </a:r>
            <a:r>
              <a:rPr lang="en-US" altLang="ko-KR" sz="1400" b="1" dirty="0"/>
              <a:t> (Kubernetes-in-Docker)</a:t>
            </a:r>
            <a:r>
              <a:rPr lang="en-US" altLang="ko-KR" sz="1400" dirty="0"/>
              <a:t>. Instead of running Kubernetes in a virtual machine or directly on the host, </a:t>
            </a:r>
            <a:r>
              <a:rPr lang="en-US" altLang="ko-KR" sz="1400" b="1" dirty="0"/>
              <a:t>kind runs each Kubernetes cluster node inside a container</a:t>
            </a:r>
            <a:r>
              <a:rPr lang="en-US" altLang="ko-KR" sz="1400" dirty="0"/>
              <a:t>. </a:t>
            </a:r>
            <a:r>
              <a:rPr lang="en-US" altLang="ko-KR" sz="1400" b="1" dirty="0"/>
              <a:t>Unlike </a:t>
            </a:r>
            <a:r>
              <a:rPr lang="en-US" altLang="ko-KR" sz="1400" b="1" dirty="0" err="1"/>
              <a:t>Minikube</a:t>
            </a:r>
            <a:r>
              <a:rPr lang="en-US" altLang="ko-KR" sz="1400" b="1" dirty="0"/>
              <a:t>, this allows it to create multi-node clusters by starting several containers</a:t>
            </a:r>
            <a:r>
              <a:rPr lang="en-US" altLang="ko-KR" sz="1400" dirty="0"/>
              <a:t>. </a:t>
            </a:r>
            <a:r>
              <a:rPr lang="en-US" altLang="ko-KR" sz="1400" b="1" dirty="0"/>
              <a:t>The actual application containers that you deploy to Kubernetes then run within these node containers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671A7F88-F825-86F2-DA2D-AC977D05B3DC}"/>
              </a:ext>
            </a:extLst>
          </p:cNvPr>
          <p:cNvGrpSpPr/>
          <p:nvPr/>
        </p:nvGrpSpPr>
        <p:grpSpPr>
          <a:xfrm>
            <a:off x="2620135" y="2375502"/>
            <a:ext cx="6951729" cy="2814998"/>
            <a:chOff x="2620135" y="2184219"/>
            <a:chExt cx="6951729" cy="2814998"/>
          </a:xfrm>
        </p:grpSpPr>
        <p:pic>
          <p:nvPicPr>
            <p:cNvPr id="9" name="그림 8">
              <a:extLst>
                <a:ext uri="{FF2B5EF4-FFF2-40B4-BE49-F238E27FC236}">
                  <a16:creationId xmlns:a16="http://schemas.microsoft.com/office/drawing/2014/main" id="{9C194265-C5BF-45FD-0157-DDB4931B04E6}"/>
                </a:ext>
              </a:extLst>
            </p:cNvPr>
            <p:cNvPicPr>
              <a:picLocks noChangeAspect="1"/>
            </p:cNvPicPr>
            <p:nvPr/>
          </p:nvPicPr>
          <p:blipFill>
            <a:blip r:embed="rId2"/>
            <a:stretch>
              <a:fillRect/>
            </a:stretch>
          </p:blipFill>
          <p:spPr>
            <a:xfrm>
              <a:off x="2620135" y="2184219"/>
              <a:ext cx="6951729" cy="2814998"/>
            </a:xfrm>
            <a:prstGeom prst="rect">
              <a:avLst/>
            </a:prstGeom>
          </p:spPr>
        </p:pic>
        <p:sp>
          <p:nvSpPr>
            <p:cNvPr id="10" name="직사각형 9">
              <a:extLst>
                <a:ext uri="{FF2B5EF4-FFF2-40B4-BE49-F238E27FC236}">
                  <a16:creationId xmlns:a16="http://schemas.microsoft.com/office/drawing/2014/main" id="{D539DE07-D009-71FA-01C1-C68A61127CD4}"/>
                </a:ext>
              </a:extLst>
            </p:cNvPr>
            <p:cNvSpPr/>
            <p:nvPr/>
          </p:nvSpPr>
          <p:spPr>
            <a:xfrm>
              <a:off x="3462867" y="2819400"/>
              <a:ext cx="778933" cy="431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0F27111D-2229-764C-4166-44BAA74266A2}"/>
                </a:ext>
              </a:extLst>
            </p:cNvPr>
            <p:cNvSpPr/>
            <p:nvPr/>
          </p:nvSpPr>
          <p:spPr>
            <a:xfrm>
              <a:off x="3462866" y="3641899"/>
              <a:ext cx="778933" cy="431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8AD46F59-AFCC-CC89-D5ED-DA55FE2122A2}"/>
                </a:ext>
              </a:extLst>
            </p:cNvPr>
            <p:cNvSpPr/>
            <p:nvPr/>
          </p:nvSpPr>
          <p:spPr>
            <a:xfrm>
              <a:off x="5763833" y="3417532"/>
              <a:ext cx="857101" cy="431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DC386AE7-311F-B4B0-7306-995E9CC92F7A}"/>
                </a:ext>
              </a:extLst>
            </p:cNvPr>
            <p:cNvSpPr/>
            <p:nvPr/>
          </p:nvSpPr>
          <p:spPr>
            <a:xfrm>
              <a:off x="6998681" y="3417532"/>
              <a:ext cx="857101" cy="431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582324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Kubernetes in Docker(KIND) :</a:t>
            </a:r>
          </a:p>
          <a:p>
            <a:pPr lvl="1">
              <a:buFont typeface="Wingdings" panose="05000000000000000000" pitchFamily="2" charset="2"/>
              <a:buChar char="§"/>
            </a:pPr>
            <a:r>
              <a:rPr lang="en-US" altLang="ko-KR" sz="1400" b="1" dirty="0"/>
              <a:t>When you run Kubernetes using kind, all Kubernetes components run in your host OS. The applications you deploy to the Kubernetes cluster also run in your host OS</a:t>
            </a:r>
            <a:r>
              <a:rPr lang="en-US" altLang="ko-KR" sz="1400" dirty="0"/>
              <a:t>. This makes </a:t>
            </a:r>
            <a:r>
              <a:rPr lang="en-US" altLang="ko-KR" sz="1400" b="1" dirty="0"/>
              <a:t>kind the perfect tool for development and testing</a:t>
            </a:r>
            <a:r>
              <a:rPr lang="en-US" altLang="ko-KR" sz="1400" dirty="0"/>
              <a:t>, as everything runs locally and you can debug running processes as easily as when you run them outside of a container.</a:t>
            </a:r>
          </a:p>
          <a:p>
            <a:pPr lvl="1">
              <a:buFont typeface="Wingdings" panose="05000000000000000000" pitchFamily="2" charset="2"/>
              <a:buChar char="§"/>
            </a:pPr>
            <a:r>
              <a:rPr lang="en-US" altLang="ko-KR" sz="1400" b="1" dirty="0"/>
              <a:t>Kind allows you to do all things like run network traffic analysis tools such as Wireshark or even your web browser inside the containers that run your applications</a:t>
            </a:r>
            <a:r>
              <a:rPr lang="en-US" altLang="ko-KR" sz="1400" dirty="0"/>
              <a:t>. You can use a tool called </a:t>
            </a:r>
            <a:r>
              <a:rPr lang="en-US" altLang="ko-KR" sz="1400" b="1" dirty="0" err="1"/>
              <a:t>nsenter</a:t>
            </a:r>
            <a:r>
              <a:rPr lang="en-US" altLang="ko-KR" sz="1400" dirty="0"/>
              <a:t> that allows you to run these tools in the network or other namespaces of the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1B62032-7A5E-990B-E3C3-E976AD9C86C9}"/>
              </a:ext>
            </a:extLst>
          </p:cNvPr>
          <p:cNvPicPr>
            <a:picLocks noChangeAspect="1"/>
          </p:cNvPicPr>
          <p:nvPr/>
        </p:nvPicPr>
        <p:blipFill>
          <a:blip r:embed="rId2"/>
          <a:stretch>
            <a:fillRect/>
          </a:stretch>
        </p:blipFill>
        <p:spPr>
          <a:xfrm>
            <a:off x="2792328" y="2692400"/>
            <a:ext cx="6607343" cy="3716630"/>
          </a:xfrm>
          <a:prstGeom prst="rect">
            <a:avLst/>
          </a:prstGeom>
        </p:spPr>
      </p:pic>
    </p:spTree>
    <p:extLst>
      <p:ext uri="{BB962C8B-B14F-4D97-AF65-F5344CB8AC3E}">
        <p14:creationId xmlns:p14="http://schemas.microsoft.com/office/powerpoint/2010/main" val="19852159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Installing KIND :</a:t>
            </a:r>
          </a:p>
          <a:p>
            <a:pPr lvl="1">
              <a:buFont typeface="Wingdings" panose="05000000000000000000" pitchFamily="2" charset="2"/>
              <a:buChar char="§"/>
            </a:pPr>
            <a:r>
              <a:rPr lang="en-US" altLang="ko-KR" sz="1400" dirty="0"/>
              <a:t>Just like </a:t>
            </a:r>
            <a:r>
              <a:rPr lang="en-US" altLang="ko-KR" sz="1400" b="1" dirty="0" err="1"/>
              <a:t>Minikube</a:t>
            </a:r>
            <a:r>
              <a:rPr lang="en-US" altLang="ko-KR" sz="1400" dirty="0"/>
              <a:t>, </a:t>
            </a:r>
            <a:r>
              <a:rPr lang="en-US" altLang="ko-KR" sz="1400" b="1" dirty="0"/>
              <a:t>kind consists of a single binary executable file</a:t>
            </a:r>
            <a:r>
              <a:rPr lang="en-US" altLang="ko-KR" sz="1400" dirty="0"/>
              <a:t>. To install it, refer to the installation instructions at </a:t>
            </a:r>
            <a:r>
              <a:rPr lang="en-US" altLang="ko-KR" sz="1400" b="1" dirty="0">
                <a:hlinkClick r:id="rId2"/>
              </a:rPr>
              <a:t>https://kind.sigs.k8s.io/docs/user/quick-start/#installation</a:t>
            </a:r>
            <a:r>
              <a:rPr lang="en-US" altLang="ko-KR" sz="1400" dirty="0"/>
              <a:t>. On </a:t>
            </a:r>
            <a:r>
              <a:rPr lang="en-US" altLang="ko-KR" sz="1400" b="1" dirty="0"/>
              <a:t>Ubuntu</a:t>
            </a:r>
            <a:r>
              <a:rPr lang="en-US" altLang="ko-KR" sz="1400" dirty="0"/>
              <a:t> </a:t>
            </a:r>
            <a:r>
              <a:rPr lang="en-US" altLang="ko-KR" sz="1400" b="1" dirty="0"/>
              <a:t>Linux</a:t>
            </a:r>
            <a:r>
              <a:rPr lang="en-US" altLang="ko-KR" sz="1400" dirty="0"/>
              <a:t>, the commands to install it are as follows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CBAE9E3-614B-D33A-628A-4BAF2B951608}"/>
              </a:ext>
            </a:extLst>
          </p:cNvPr>
          <p:cNvGrpSpPr/>
          <p:nvPr/>
        </p:nvGrpSpPr>
        <p:grpSpPr>
          <a:xfrm>
            <a:off x="1685925" y="2090698"/>
            <a:ext cx="8820150" cy="2676604"/>
            <a:chOff x="1685925" y="1787436"/>
            <a:chExt cx="8820150" cy="2676604"/>
          </a:xfrm>
        </p:grpSpPr>
        <p:sp>
          <p:nvSpPr>
            <p:cNvPr id="8" name="TextBox 7">
              <a:extLst>
                <a:ext uri="{FF2B5EF4-FFF2-40B4-BE49-F238E27FC236}">
                  <a16:creationId xmlns:a16="http://schemas.microsoft.com/office/drawing/2014/main" id="{42C23CBF-E27F-A656-859C-162A55FBA29B}"/>
                </a:ext>
              </a:extLst>
            </p:cNvPr>
            <p:cNvSpPr txBox="1"/>
            <p:nvPr/>
          </p:nvSpPr>
          <p:spPr>
            <a:xfrm>
              <a:off x="3048000" y="1787436"/>
              <a:ext cx="6096000" cy="553998"/>
            </a:xfrm>
            <a:prstGeom prst="rect">
              <a:avLst/>
            </a:prstGeom>
            <a:noFill/>
            <a:ln>
              <a:solidFill>
                <a:schemeClr val="bg1">
                  <a:lumMod val="50000"/>
                </a:schemeClr>
              </a:solidFill>
            </a:ln>
          </p:spPr>
          <p:txBody>
            <a:bodyPr wrap="square">
              <a:spAutoFit/>
            </a:bodyPr>
            <a:lstStyle/>
            <a:p>
              <a:r>
                <a:rPr lang="en-US" altLang="ko-KR" sz="1000" b="1" dirty="0"/>
                <a:t>curl -Lo ./kind https://kind.sigs.k8s.io/dl/</a:t>
              </a:r>
              <a:r>
                <a:rPr lang="en-US" altLang="ko-KR" sz="1000" b="1" dirty="0">
                  <a:solidFill>
                    <a:srgbClr val="FF0000"/>
                  </a:solidFill>
                </a:rPr>
                <a:t>v0.17.0</a:t>
              </a:r>
              <a:r>
                <a:rPr lang="en-US" altLang="ko-KR" sz="1000" b="1" dirty="0"/>
                <a:t>/kind-linux-amd64</a:t>
              </a:r>
            </a:p>
            <a:p>
              <a:r>
                <a:rPr lang="en-US" altLang="ko-KR" sz="1000" b="1" dirty="0" err="1"/>
                <a:t>chmod</a:t>
              </a:r>
              <a:r>
                <a:rPr lang="en-US" altLang="ko-KR" sz="1000" b="1" dirty="0"/>
                <a:t> +x ./kind</a:t>
              </a:r>
            </a:p>
            <a:p>
              <a:r>
                <a:rPr lang="en-US" altLang="ko-KR" sz="1000" b="1" dirty="0" err="1"/>
                <a:t>sudo</a:t>
              </a:r>
              <a:r>
                <a:rPr lang="en-US" altLang="ko-KR" sz="1000" b="1" dirty="0"/>
                <a:t> mv ./kind /</a:t>
              </a:r>
              <a:r>
                <a:rPr lang="en-US" altLang="ko-KR" sz="1000" b="1" dirty="0" err="1"/>
                <a:t>usr</a:t>
              </a:r>
              <a:r>
                <a:rPr lang="en-US" altLang="ko-KR" sz="1000" b="1" dirty="0"/>
                <a:t>/local/bin/kind</a:t>
              </a:r>
              <a:endParaRPr lang="ko-KR" altLang="en-US" sz="1000" b="1" dirty="0"/>
            </a:p>
          </p:txBody>
        </p:sp>
        <p:sp>
          <p:nvSpPr>
            <p:cNvPr id="9" name="화살표: 아래쪽 8">
              <a:extLst>
                <a:ext uri="{FF2B5EF4-FFF2-40B4-BE49-F238E27FC236}">
                  <a16:creationId xmlns:a16="http://schemas.microsoft.com/office/drawing/2014/main" id="{434D8441-4DBF-D1FD-3F68-F7DB80D3DE15}"/>
                </a:ext>
              </a:extLst>
            </p:cNvPr>
            <p:cNvSpPr/>
            <p:nvPr/>
          </p:nvSpPr>
          <p:spPr>
            <a:xfrm>
              <a:off x="5867400" y="2341024"/>
              <a:ext cx="457200" cy="3132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4EAC24B-EB05-B390-4C49-40793301B321}"/>
                </a:ext>
              </a:extLst>
            </p:cNvPr>
            <p:cNvPicPr>
              <a:picLocks noChangeAspect="1"/>
            </p:cNvPicPr>
            <p:nvPr/>
          </p:nvPicPr>
          <p:blipFill>
            <a:blip r:embed="rId3"/>
            <a:stretch>
              <a:fillRect/>
            </a:stretch>
          </p:blipFill>
          <p:spPr>
            <a:xfrm>
              <a:off x="1685925" y="2654290"/>
              <a:ext cx="8820150" cy="1809750"/>
            </a:xfrm>
            <a:prstGeom prst="rect">
              <a:avLst/>
            </a:prstGeom>
          </p:spPr>
        </p:pic>
      </p:grpSp>
    </p:spTree>
    <p:extLst>
      <p:ext uri="{BB962C8B-B14F-4D97-AF65-F5344CB8AC3E}">
        <p14:creationId xmlns:p14="http://schemas.microsoft.com/office/powerpoint/2010/main" val="53593692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Starting a Kubernetes Cluster with KIND :</a:t>
            </a:r>
          </a:p>
          <a:p>
            <a:pPr lvl="1">
              <a:buFont typeface="Wingdings" panose="05000000000000000000" pitchFamily="2" charset="2"/>
              <a:buChar char="§"/>
            </a:pPr>
            <a:r>
              <a:rPr lang="en-US" altLang="ko-KR" sz="1400" b="1" dirty="0"/>
              <a:t>Starting a new cluster </a:t>
            </a:r>
            <a:r>
              <a:rPr lang="en-US" altLang="ko-KR" sz="1400" dirty="0"/>
              <a:t>is as easy as it is with </a:t>
            </a:r>
            <a:r>
              <a:rPr lang="en-US" altLang="ko-KR" sz="1400" b="1" dirty="0" err="1"/>
              <a:t>Minikube</a:t>
            </a:r>
            <a:r>
              <a:rPr lang="en-US" altLang="ko-KR" sz="1400" dirty="0"/>
              <a:t>. Execute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marL="457200" lvl="1" indent="0">
              <a:buNone/>
            </a:pPr>
            <a:endParaRPr lang="en-US" altLang="ko-KR" sz="1400" dirty="0"/>
          </a:p>
          <a:p>
            <a:pPr marL="457200" lvl="1" indent="0">
              <a:buNone/>
            </a:pPr>
            <a:br>
              <a:rPr lang="en-US" altLang="ko-KR" sz="1400" dirty="0"/>
            </a:b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Like </a:t>
            </a:r>
            <a:r>
              <a:rPr lang="en-US" altLang="ko-KR" sz="1400" b="1" dirty="0" err="1"/>
              <a:t>Minikube</a:t>
            </a:r>
            <a:r>
              <a:rPr lang="en-US" altLang="ko-KR" sz="1400" b="1" dirty="0"/>
              <a:t>, kind configures </a:t>
            </a:r>
            <a:r>
              <a:rPr lang="en-US" altLang="ko-KR" sz="1400" b="1" dirty="0" err="1">
                <a:solidFill>
                  <a:srgbClr val="FF0000"/>
                </a:solidFill>
              </a:rPr>
              <a:t>kubectl</a:t>
            </a:r>
            <a:r>
              <a:rPr lang="en-US" altLang="ko-KR" sz="1400" b="1" dirty="0"/>
              <a:t> to use the cluster that it creates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3458D10-0F34-F364-D2D5-23195D98D010}"/>
              </a:ext>
            </a:extLst>
          </p:cNvPr>
          <p:cNvGrpSpPr/>
          <p:nvPr/>
        </p:nvGrpSpPr>
        <p:grpSpPr>
          <a:xfrm>
            <a:off x="1463675" y="1551001"/>
            <a:ext cx="9264650" cy="3126102"/>
            <a:chOff x="1463675" y="1551001"/>
            <a:chExt cx="9264650" cy="3126102"/>
          </a:xfrm>
        </p:grpSpPr>
        <p:sp>
          <p:nvSpPr>
            <p:cNvPr id="8" name="TextBox 7">
              <a:extLst>
                <a:ext uri="{FF2B5EF4-FFF2-40B4-BE49-F238E27FC236}">
                  <a16:creationId xmlns:a16="http://schemas.microsoft.com/office/drawing/2014/main" id="{7D1B5572-3434-8227-ADFC-D3B1FBF2A9D7}"/>
                </a:ext>
              </a:extLst>
            </p:cNvPr>
            <p:cNvSpPr txBox="1"/>
            <p:nvPr/>
          </p:nvSpPr>
          <p:spPr>
            <a:xfrm>
              <a:off x="3048000" y="1551001"/>
              <a:ext cx="6096000" cy="246221"/>
            </a:xfrm>
            <a:prstGeom prst="rect">
              <a:avLst/>
            </a:prstGeom>
            <a:noFill/>
            <a:ln>
              <a:solidFill>
                <a:schemeClr val="bg1">
                  <a:lumMod val="50000"/>
                </a:schemeClr>
              </a:solidFill>
            </a:ln>
          </p:spPr>
          <p:txBody>
            <a:bodyPr wrap="square">
              <a:spAutoFit/>
            </a:bodyPr>
            <a:lstStyle/>
            <a:p>
              <a:r>
                <a:rPr lang="en-US" altLang="ko-KR" sz="1000" b="1" dirty="0"/>
                <a:t>$ kind create cluster</a:t>
              </a:r>
            </a:p>
          </p:txBody>
        </p:sp>
        <p:sp>
          <p:nvSpPr>
            <p:cNvPr id="9" name="화살표: 아래쪽 8">
              <a:extLst>
                <a:ext uri="{FF2B5EF4-FFF2-40B4-BE49-F238E27FC236}">
                  <a16:creationId xmlns:a16="http://schemas.microsoft.com/office/drawing/2014/main" id="{71F38317-9EEB-5A7D-2242-2C17E4BE9707}"/>
                </a:ext>
              </a:extLst>
            </p:cNvPr>
            <p:cNvSpPr/>
            <p:nvPr/>
          </p:nvSpPr>
          <p:spPr>
            <a:xfrm>
              <a:off x="5867400" y="1800885"/>
              <a:ext cx="457200" cy="3217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19E5ED0-7F3F-A6BD-DF3B-93901BA0FC3F}"/>
                </a:ext>
              </a:extLst>
            </p:cNvPr>
            <p:cNvPicPr>
              <a:picLocks noChangeAspect="1"/>
            </p:cNvPicPr>
            <p:nvPr/>
          </p:nvPicPr>
          <p:blipFill>
            <a:blip r:embed="rId2"/>
            <a:stretch>
              <a:fillRect/>
            </a:stretch>
          </p:blipFill>
          <p:spPr>
            <a:xfrm>
              <a:off x="1463675" y="2130094"/>
              <a:ext cx="9264650" cy="2547009"/>
            </a:xfrm>
            <a:prstGeom prst="rect">
              <a:avLst/>
            </a:prstGeom>
          </p:spPr>
        </p:pic>
      </p:grpSp>
    </p:spTree>
    <p:extLst>
      <p:ext uri="{BB962C8B-B14F-4D97-AF65-F5344CB8AC3E}">
        <p14:creationId xmlns:p14="http://schemas.microsoft.com/office/powerpoint/2010/main" val="238574172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Starting a Multi-Node Cluster with KIND :</a:t>
            </a:r>
          </a:p>
          <a:p>
            <a:pPr lvl="1">
              <a:buFont typeface="Wingdings" panose="05000000000000000000" pitchFamily="2" charset="2"/>
              <a:buChar char="§"/>
            </a:pPr>
            <a:r>
              <a:rPr lang="en-US" altLang="ko-KR" sz="1400" b="1" dirty="0"/>
              <a:t>Kind runs a single-node cluster by default</a:t>
            </a:r>
            <a:r>
              <a:rPr lang="en-US" altLang="ko-KR" sz="1400" dirty="0"/>
              <a:t>. If you want to run a cluster with multiple worker nodes, you must first create </a:t>
            </a:r>
            <a:r>
              <a:rPr lang="en-US" altLang="ko-KR" sz="1400" b="1" dirty="0"/>
              <a:t>a configuration file</a:t>
            </a:r>
            <a:r>
              <a:rPr lang="en-US" altLang="ko-KR" sz="1400" dirty="0"/>
              <a:t>. The following listing shows the contents of the file.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9EE8EF7-1ABE-74A3-296C-143F2A340FC3}"/>
              </a:ext>
            </a:extLst>
          </p:cNvPr>
          <p:cNvGrpSpPr/>
          <p:nvPr/>
        </p:nvGrpSpPr>
        <p:grpSpPr>
          <a:xfrm>
            <a:off x="3048000" y="1730571"/>
            <a:ext cx="6096000" cy="1015663"/>
            <a:chOff x="3048000" y="2551837"/>
            <a:chExt cx="6096000" cy="1015663"/>
          </a:xfrm>
        </p:grpSpPr>
        <p:sp>
          <p:nvSpPr>
            <p:cNvPr id="8" name="TextBox 7">
              <a:extLst>
                <a:ext uri="{FF2B5EF4-FFF2-40B4-BE49-F238E27FC236}">
                  <a16:creationId xmlns:a16="http://schemas.microsoft.com/office/drawing/2014/main" id="{4019E24F-62A0-38A0-D6FD-F0F305D5C6F3}"/>
                </a:ext>
              </a:extLst>
            </p:cNvPr>
            <p:cNvSpPr txBox="1"/>
            <p:nvPr/>
          </p:nvSpPr>
          <p:spPr>
            <a:xfrm>
              <a:off x="3048000" y="2551837"/>
              <a:ext cx="6096000" cy="1015663"/>
            </a:xfrm>
            <a:prstGeom prst="rect">
              <a:avLst/>
            </a:prstGeom>
            <a:noFill/>
            <a:ln>
              <a:solidFill>
                <a:schemeClr val="bg1">
                  <a:lumMod val="50000"/>
                </a:schemeClr>
              </a:solidFill>
            </a:ln>
          </p:spPr>
          <p:txBody>
            <a:bodyPr wrap="square">
              <a:spAutoFit/>
            </a:bodyPr>
            <a:lstStyle/>
            <a:p>
              <a:r>
                <a:rPr lang="en-US" altLang="ko-KR" sz="1000" b="1" dirty="0"/>
                <a:t>kind: Cluster</a:t>
              </a:r>
            </a:p>
            <a:p>
              <a:r>
                <a:rPr lang="en-US" altLang="ko-KR" sz="1000" b="1" dirty="0" err="1"/>
                <a:t>apiVersion</a:t>
              </a:r>
              <a:r>
                <a:rPr lang="en-US" altLang="ko-KR" sz="1000" b="1" dirty="0"/>
                <a:t>: kind.x-k8s.io/v1alpha4</a:t>
              </a:r>
            </a:p>
            <a:p>
              <a:r>
                <a:rPr lang="en-US" altLang="ko-KR" sz="1000" b="1" dirty="0"/>
                <a:t>nodes:</a:t>
              </a:r>
            </a:p>
            <a:p>
              <a:r>
                <a:rPr lang="en-US" altLang="ko-KR" sz="1000" b="1" dirty="0"/>
                <a:t>- role: control-plane</a:t>
              </a:r>
            </a:p>
            <a:p>
              <a:r>
                <a:rPr lang="en-US" altLang="ko-KR" sz="1000" b="1" dirty="0"/>
                <a:t>- role: worker</a:t>
              </a:r>
            </a:p>
            <a:p>
              <a:r>
                <a:rPr lang="en-US" altLang="ko-KR" sz="1000" b="1" dirty="0"/>
                <a:t>- role: worker</a:t>
              </a:r>
              <a:endParaRPr lang="ko-KR" altLang="en-US" sz="1000" b="1" dirty="0"/>
            </a:p>
          </p:txBody>
        </p:sp>
        <p:sp>
          <p:nvSpPr>
            <p:cNvPr id="9" name="TextBox 8">
              <a:extLst>
                <a:ext uri="{FF2B5EF4-FFF2-40B4-BE49-F238E27FC236}">
                  <a16:creationId xmlns:a16="http://schemas.microsoft.com/office/drawing/2014/main" id="{16961A08-7A15-73F8-5CB1-F9961CB5F8DA}"/>
                </a:ext>
              </a:extLst>
            </p:cNvPr>
            <p:cNvSpPr txBox="1"/>
            <p:nvPr/>
          </p:nvSpPr>
          <p:spPr>
            <a:xfrm>
              <a:off x="7636856" y="2551837"/>
              <a:ext cx="1507144" cy="246221"/>
            </a:xfrm>
            <a:prstGeom prst="rect">
              <a:avLst/>
            </a:prstGeom>
            <a:noFill/>
          </p:spPr>
          <p:txBody>
            <a:bodyPr wrap="none" rtlCol="0">
              <a:spAutoFit/>
            </a:bodyPr>
            <a:lstStyle/>
            <a:p>
              <a:pPr algn="ctr"/>
              <a:r>
                <a:rPr lang="en-US" altLang="ko-KR" sz="1000" b="1" dirty="0"/>
                <a:t>kind-multi-</a:t>
              </a:r>
              <a:r>
                <a:rPr lang="en-US" altLang="ko-KR" sz="1000" b="1" dirty="0" err="1"/>
                <a:t>node.yaml</a:t>
              </a:r>
              <a:endParaRPr lang="ko-KR" altLang="en-US" sz="1000" b="1" dirty="0"/>
            </a:p>
          </p:txBody>
        </p:sp>
      </p:grpSp>
      <p:grpSp>
        <p:nvGrpSpPr>
          <p:cNvPr id="16" name="그룹 15">
            <a:extLst>
              <a:ext uri="{FF2B5EF4-FFF2-40B4-BE49-F238E27FC236}">
                <a16:creationId xmlns:a16="http://schemas.microsoft.com/office/drawing/2014/main" id="{D652B096-B8BF-2AED-55E5-0022A081EB11}"/>
              </a:ext>
            </a:extLst>
          </p:cNvPr>
          <p:cNvGrpSpPr/>
          <p:nvPr/>
        </p:nvGrpSpPr>
        <p:grpSpPr>
          <a:xfrm>
            <a:off x="1143000" y="3018066"/>
            <a:ext cx="9906000" cy="3112213"/>
            <a:chOff x="1143000" y="3296817"/>
            <a:chExt cx="9906000" cy="3112213"/>
          </a:xfrm>
        </p:grpSpPr>
        <p:pic>
          <p:nvPicPr>
            <p:cNvPr id="12" name="그림 11">
              <a:extLst>
                <a:ext uri="{FF2B5EF4-FFF2-40B4-BE49-F238E27FC236}">
                  <a16:creationId xmlns:a16="http://schemas.microsoft.com/office/drawing/2014/main" id="{E624D9AE-03CC-46F6-FCA0-FA633557F47D}"/>
                </a:ext>
              </a:extLst>
            </p:cNvPr>
            <p:cNvPicPr>
              <a:picLocks noChangeAspect="1"/>
            </p:cNvPicPr>
            <p:nvPr/>
          </p:nvPicPr>
          <p:blipFill>
            <a:blip r:embed="rId2"/>
            <a:stretch>
              <a:fillRect/>
            </a:stretch>
          </p:blipFill>
          <p:spPr>
            <a:xfrm>
              <a:off x="1143000" y="3855483"/>
              <a:ext cx="9906000" cy="2553547"/>
            </a:xfrm>
            <a:prstGeom prst="rect">
              <a:avLst/>
            </a:prstGeom>
          </p:spPr>
        </p:pic>
        <p:sp>
          <p:nvSpPr>
            <p:cNvPr id="14" name="TextBox 13">
              <a:extLst>
                <a:ext uri="{FF2B5EF4-FFF2-40B4-BE49-F238E27FC236}">
                  <a16:creationId xmlns:a16="http://schemas.microsoft.com/office/drawing/2014/main" id="{058DDCDD-3F79-A019-9115-E791499EC0B6}"/>
                </a:ext>
              </a:extLst>
            </p:cNvPr>
            <p:cNvSpPr txBox="1"/>
            <p:nvPr/>
          </p:nvSpPr>
          <p:spPr>
            <a:xfrm>
              <a:off x="3048000" y="3296817"/>
              <a:ext cx="6096000" cy="246221"/>
            </a:xfrm>
            <a:prstGeom prst="rect">
              <a:avLst/>
            </a:prstGeom>
            <a:noFill/>
            <a:ln>
              <a:solidFill>
                <a:schemeClr val="bg1">
                  <a:lumMod val="50000"/>
                </a:schemeClr>
              </a:solidFill>
            </a:ln>
          </p:spPr>
          <p:txBody>
            <a:bodyPr wrap="square">
              <a:spAutoFit/>
            </a:bodyPr>
            <a:lstStyle/>
            <a:p>
              <a:r>
                <a:rPr lang="en-US" altLang="ko-KR" sz="1000" b="1" dirty="0"/>
                <a:t>$ kind create cluster --config </a:t>
              </a:r>
              <a:r>
                <a:rPr lang="en-US" altLang="ko-KR" sz="1000" b="1" dirty="0">
                  <a:solidFill>
                    <a:srgbClr val="FF0000"/>
                  </a:solidFill>
                </a:rPr>
                <a:t>kind-multi-</a:t>
              </a:r>
              <a:r>
                <a:rPr lang="en-US" altLang="ko-KR" sz="1000" b="1" dirty="0" err="1">
                  <a:solidFill>
                    <a:srgbClr val="FF0000"/>
                  </a:solidFill>
                </a:rPr>
                <a:t>node.yaml</a:t>
              </a:r>
              <a:endParaRPr lang="ko-KR" altLang="en-US" sz="1000" b="1" dirty="0">
                <a:solidFill>
                  <a:srgbClr val="FF0000"/>
                </a:solidFill>
              </a:endParaRPr>
            </a:p>
          </p:txBody>
        </p:sp>
        <p:sp>
          <p:nvSpPr>
            <p:cNvPr id="15" name="화살표: 아래쪽 14">
              <a:extLst>
                <a:ext uri="{FF2B5EF4-FFF2-40B4-BE49-F238E27FC236}">
                  <a16:creationId xmlns:a16="http://schemas.microsoft.com/office/drawing/2014/main" id="{EBFD25A9-1783-4857-1053-E397AEBFD8E2}"/>
                </a:ext>
              </a:extLst>
            </p:cNvPr>
            <p:cNvSpPr/>
            <p:nvPr/>
          </p:nvSpPr>
          <p:spPr>
            <a:xfrm>
              <a:off x="5863167" y="3543038"/>
              <a:ext cx="465666"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311061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Worker Nodes :</a:t>
            </a:r>
          </a:p>
          <a:p>
            <a:pPr lvl="1">
              <a:buFont typeface="Wingdings" panose="05000000000000000000" pitchFamily="2" charset="2"/>
              <a:buChar char="§"/>
            </a:pPr>
            <a:r>
              <a:rPr lang="en-US" altLang="ko-KR" sz="1400" dirty="0"/>
              <a:t>You can </a:t>
            </a:r>
            <a:r>
              <a:rPr lang="en-US" altLang="ko-KR" sz="1400" b="1" dirty="0"/>
              <a:t>list cluster nodes </a:t>
            </a:r>
            <a:r>
              <a:rPr lang="en-US" altLang="ko-KR" sz="1400" dirty="0"/>
              <a:t>using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Since each node runs as a container, you can also see the nodes by listing the running containers using “$ docker </a:t>
            </a:r>
            <a:r>
              <a:rPr lang="en-US" altLang="ko-KR" sz="1400" b="1" dirty="0" err="1"/>
              <a:t>ps</a:t>
            </a:r>
            <a:r>
              <a:rPr lang="en-US" altLang="ko-KR" sz="1400" b="1" dirty="0"/>
              <a:t>” command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63918D7F-CE8B-1723-EE3F-CC315893269D}"/>
              </a:ext>
            </a:extLst>
          </p:cNvPr>
          <p:cNvGrpSpPr/>
          <p:nvPr/>
        </p:nvGrpSpPr>
        <p:grpSpPr>
          <a:xfrm>
            <a:off x="1062566" y="1449400"/>
            <a:ext cx="10066867" cy="2369236"/>
            <a:chOff x="1062566" y="1491733"/>
            <a:chExt cx="10066867" cy="2369236"/>
          </a:xfrm>
        </p:grpSpPr>
        <p:grpSp>
          <p:nvGrpSpPr>
            <p:cNvPr id="12" name="그룹 11">
              <a:extLst>
                <a:ext uri="{FF2B5EF4-FFF2-40B4-BE49-F238E27FC236}">
                  <a16:creationId xmlns:a16="http://schemas.microsoft.com/office/drawing/2014/main" id="{FDAB22F0-2500-79A2-4373-DECB8DF2E3C8}"/>
                </a:ext>
              </a:extLst>
            </p:cNvPr>
            <p:cNvGrpSpPr/>
            <p:nvPr/>
          </p:nvGrpSpPr>
          <p:grpSpPr>
            <a:xfrm>
              <a:off x="1062566" y="1491733"/>
              <a:ext cx="10066867" cy="2369236"/>
              <a:chOff x="1062566" y="1491733"/>
              <a:chExt cx="10066867" cy="2369236"/>
            </a:xfrm>
          </p:grpSpPr>
          <p:sp>
            <p:nvSpPr>
              <p:cNvPr id="8" name="TextBox 7">
                <a:extLst>
                  <a:ext uri="{FF2B5EF4-FFF2-40B4-BE49-F238E27FC236}">
                    <a16:creationId xmlns:a16="http://schemas.microsoft.com/office/drawing/2014/main" id="{9FCA8CF6-CD5C-E6DD-75AE-AEB9865C4248}"/>
                  </a:ext>
                </a:extLst>
              </p:cNvPr>
              <p:cNvSpPr txBox="1"/>
              <p:nvPr/>
            </p:nvSpPr>
            <p:spPr>
              <a:xfrm>
                <a:off x="3048000" y="1491733"/>
                <a:ext cx="6096000" cy="246221"/>
              </a:xfrm>
              <a:prstGeom prst="rect">
                <a:avLst/>
              </a:prstGeom>
              <a:noFill/>
              <a:ln>
                <a:solidFill>
                  <a:schemeClr val="bg1">
                    <a:lumMod val="50000"/>
                  </a:schemeClr>
                </a:solidFill>
              </a:ln>
            </p:spPr>
            <p:txBody>
              <a:bodyPr wrap="square">
                <a:spAutoFit/>
              </a:bodyPr>
              <a:lstStyle/>
              <a:p>
                <a:r>
                  <a:rPr lang="en-US" altLang="ko-KR" sz="1000" b="1" dirty="0"/>
                  <a:t>$ kind get nodes</a:t>
                </a:r>
              </a:p>
            </p:txBody>
          </p:sp>
          <p:sp>
            <p:nvSpPr>
              <p:cNvPr id="9" name="화살표: 아래쪽 8">
                <a:extLst>
                  <a:ext uri="{FF2B5EF4-FFF2-40B4-BE49-F238E27FC236}">
                    <a16:creationId xmlns:a16="http://schemas.microsoft.com/office/drawing/2014/main" id="{EEF97F67-88C8-D344-EFE6-74E625AF790D}"/>
                  </a:ext>
                </a:extLst>
              </p:cNvPr>
              <p:cNvSpPr/>
              <p:nvPr/>
            </p:nvSpPr>
            <p:spPr>
              <a:xfrm>
                <a:off x="5867400" y="1744133"/>
                <a:ext cx="457200"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271A72F-D75C-D42A-3465-B4E6675DD7C7}"/>
                  </a:ext>
                </a:extLst>
              </p:cNvPr>
              <p:cNvPicPr>
                <a:picLocks noChangeAspect="1"/>
              </p:cNvPicPr>
              <p:nvPr/>
            </p:nvPicPr>
            <p:blipFill>
              <a:blip r:embed="rId2"/>
              <a:stretch>
                <a:fillRect/>
              </a:stretch>
            </p:blipFill>
            <p:spPr>
              <a:xfrm>
                <a:off x="1062566" y="2048933"/>
                <a:ext cx="10066867" cy="1812036"/>
              </a:xfrm>
              <a:prstGeom prst="rect">
                <a:avLst/>
              </a:prstGeom>
            </p:spPr>
          </p:pic>
        </p:grpSp>
        <p:sp>
          <p:nvSpPr>
            <p:cNvPr id="13" name="직사각형 12">
              <a:extLst>
                <a:ext uri="{FF2B5EF4-FFF2-40B4-BE49-F238E27FC236}">
                  <a16:creationId xmlns:a16="http://schemas.microsoft.com/office/drawing/2014/main" id="{838E4E2F-53F7-BD63-292F-A5E184DA2CF0}"/>
                </a:ext>
              </a:extLst>
            </p:cNvPr>
            <p:cNvSpPr/>
            <p:nvPr/>
          </p:nvSpPr>
          <p:spPr>
            <a:xfrm>
              <a:off x="4851400" y="3069462"/>
              <a:ext cx="1143000" cy="2156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891CA2C3-64D8-1414-1A36-C41A93333E2A}"/>
                </a:ext>
              </a:extLst>
            </p:cNvPr>
            <p:cNvSpPr/>
            <p:nvPr/>
          </p:nvSpPr>
          <p:spPr>
            <a:xfrm>
              <a:off x="4851400" y="2434460"/>
              <a:ext cx="1143000" cy="2156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AD7266DC-46C6-A533-131E-F1CD7CC53D1F}"/>
              </a:ext>
            </a:extLst>
          </p:cNvPr>
          <p:cNvGrpSpPr/>
          <p:nvPr/>
        </p:nvGrpSpPr>
        <p:grpSpPr>
          <a:xfrm>
            <a:off x="1062566" y="4447790"/>
            <a:ext cx="10066867" cy="1416819"/>
            <a:chOff x="1062566" y="4447790"/>
            <a:chExt cx="10066867" cy="1416819"/>
          </a:xfrm>
        </p:grpSpPr>
        <p:pic>
          <p:nvPicPr>
            <p:cNvPr id="17" name="그림 16">
              <a:extLst>
                <a:ext uri="{FF2B5EF4-FFF2-40B4-BE49-F238E27FC236}">
                  <a16:creationId xmlns:a16="http://schemas.microsoft.com/office/drawing/2014/main" id="{ED46928B-337F-9344-B9FB-B7AFC2794DB6}"/>
                </a:ext>
              </a:extLst>
            </p:cNvPr>
            <p:cNvPicPr>
              <a:picLocks noChangeAspect="1"/>
            </p:cNvPicPr>
            <p:nvPr/>
          </p:nvPicPr>
          <p:blipFill>
            <a:blip r:embed="rId3"/>
            <a:stretch>
              <a:fillRect/>
            </a:stretch>
          </p:blipFill>
          <p:spPr>
            <a:xfrm>
              <a:off x="1062566" y="4447790"/>
              <a:ext cx="10066867" cy="1416819"/>
            </a:xfrm>
            <a:prstGeom prst="rect">
              <a:avLst/>
            </a:prstGeom>
          </p:spPr>
        </p:pic>
        <p:sp>
          <p:nvSpPr>
            <p:cNvPr id="18" name="직사각형 17">
              <a:extLst>
                <a:ext uri="{FF2B5EF4-FFF2-40B4-BE49-F238E27FC236}">
                  <a16:creationId xmlns:a16="http://schemas.microsoft.com/office/drawing/2014/main" id="{F6FFF93F-159F-E723-5B08-BAB910A126A5}"/>
                </a:ext>
              </a:extLst>
            </p:cNvPr>
            <p:cNvSpPr/>
            <p:nvPr/>
          </p:nvSpPr>
          <p:spPr>
            <a:xfrm>
              <a:off x="4842933" y="4868333"/>
              <a:ext cx="626533" cy="1401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6112061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Logging into Cluster Nodes Provisioned by KIND :</a:t>
            </a:r>
          </a:p>
          <a:p>
            <a:pPr lvl="1">
              <a:buFont typeface="Wingdings" panose="05000000000000000000" pitchFamily="2" charset="2"/>
              <a:buChar char="§"/>
            </a:pPr>
            <a:r>
              <a:rPr lang="en-US" altLang="ko-KR" sz="1400" b="1" dirty="0"/>
              <a:t>Unlike </a:t>
            </a:r>
            <a:r>
              <a:rPr lang="en-US" altLang="ko-KR" sz="1400" b="1" dirty="0" err="1"/>
              <a:t>Minikube</a:t>
            </a:r>
            <a:r>
              <a:rPr lang="en-US" altLang="ko-KR" sz="1400" b="1" dirty="0"/>
              <a:t>, where you use “$ </a:t>
            </a:r>
            <a:r>
              <a:rPr lang="en-US" altLang="ko-KR" sz="1400" b="1" dirty="0" err="1"/>
              <a:t>minikube</a:t>
            </a:r>
            <a:r>
              <a:rPr lang="en-US" altLang="ko-KR" sz="1400" b="1" dirty="0"/>
              <a:t> </a:t>
            </a:r>
            <a:r>
              <a:rPr lang="en-US" altLang="ko-KR" sz="1400" b="1" dirty="0" err="1"/>
              <a:t>ssh</a:t>
            </a:r>
            <a:r>
              <a:rPr lang="en-US" altLang="ko-KR" sz="1400" b="1" dirty="0"/>
              <a:t>” to log into the node </a:t>
            </a:r>
            <a:r>
              <a:rPr lang="en-US" altLang="ko-KR" sz="1400" dirty="0"/>
              <a:t>if you want to explore the processes running inside it, </a:t>
            </a:r>
            <a:r>
              <a:rPr lang="en-US" altLang="ko-KR" sz="1400" b="1" dirty="0"/>
              <a:t>with kind you use “$ docker exec” command</a:t>
            </a:r>
            <a:r>
              <a:rPr lang="en-US" altLang="ko-KR" sz="1400" dirty="0"/>
              <a:t>. For example, to enter the node called “</a:t>
            </a:r>
            <a:r>
              <a:rPr lang="en-US" altLang="ko-KR" sz="1400" b="1" dirty="0"/>
              <a:t>kind-control-plane</a:t>
            </a:r>
            <a:r>
              <a:rPr lang="en-US" altLang="ko-KR" sz="1400" dirty="0"/>
              <a:t>”, run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Instead of using Docker to run containers, nodes created by kind use the </a:t>
            </a:r>
            <a:r>
              <a:rPr lang="en-US" altLang="ko-KR" sz="1400" b="1" dirty="0">
                <a:solidFill>
                  <a:srgbClr val="FF0000"/>
                </a:solidFill>
              </a:rPr>
              <a:t>CRI-O container runtime</a:t>
            </a:r>
            <a:r>
              <a:rPr lang="en-US" altLang="ko-KR" sz="1400" b="1" dirty="0"/>
              <a:t>, a lightweight alternative to Docker, The </a:t>
            </a:r>
            <a:r>
              <a:rPr lang="en-US" altLang="ko-KR" sz="1400" b="1" dirty="0" err="1">
                <a:solidFill>
                  <a:srgbClr val="FF0000"/>
                </a:solidFill>
              </a:rPr>
              <a:t>crictl</a:t>
            </a:r>
            <a:r>
              <a:rPr lang="en-US" altLang="ko-KR" sz="1400" b="1" dirty="0">
                <a:solidFill>
                  <a:srgbClr val="FF0000"/>
                </a:solidFill>
              </a:rPr>
              <a:t> CLI</a:t>
            </a:r>
            <a:r>
              <a:rPr lang="en-US" altLang="ko-KR" sz="1400" b="1" dirty="0"/>
              <a:t> tool is used to interact with CRI-O. Its use is very similar to that of the docker tool. After logging into the node, list the containers running in it by running “</a:t>
            </a:r>
            <a:r>
              <a:rPr lang="en-US" altLang="ko-KR" sz="1400" b="1" dirty="0">
                <a:solidFill>
                  <a:srgbClr val="FF0000"/>
                </a:solidFill>
              </a:rPr>
              <a:t>$ </a:t>
            </a:r>
            <a:r>
              <a:rPr lang="en-US" altLang="ko-KR" sz="1400" b="1" dirty="0" err="1">
                <a:solidFill>
                  <a:srgbClr val="FF0000"/>
                </a:solidFill>
              </a:rPr>
              <a:t>crictl</a:t>
            </a:r>
            <a:r>
              <a:rPr lang="en-US" altLang="ko-KR" sz="1400" b="1" dirty="0">
                <a:solidFill>
                  <a:srgbClr val="FF0000"/>
                </a:solidFill>
              </a:rPr>
              <a:t> </a:t>
            </a:r>
            <a:r>
              <a:rPr lang="en-US" altLang="ko-KR" sz="1400" b="1" dirty="0" err="1">
                <a:solidFill>
                  <a:srgbClr val="FF0000"/>
                </a:solidFill>
              </a:rPr>
              <a:t>ps</a:t>
            </a:r>
            <a:r>
              <a:rPr lang="en-US" altLang="ko-KR" sz="1400" b="1" dirty="0"/>
              <a:t>” instead of docker ps.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7EE27BD-FF8B-8E6F-68E8-1C7614423280}"/>
              </a:ext>
            </a:extLst>
          </p:cNvPr>
          <p:cNvGrpSpPr/>
          <p:nvPr/>
        </p:nvGrpSpPr>
        <p:grpSpPr>
          <a:xfrm>
            <a:off x="1047618" y="2025134"/>
            <a:ext cx="10096764" cy="2211022"/>
            <a:chOff x="1047618" y="1872734"/>
            <a:chExt cx="10096764" cy="2211022"/>
          </a:xfrm>
        </p:grpSpPr>
        <p:sp>
          <p:nvSpPr>
            <p:cNvPr id="8" name="TextBox 7">
              <a:extLst>
                <a:ext uri="{FF2B5EF4-FFF2-40B4-BE49-F238E27FC236}">
                  <a16:creationId xmlns:a16="http://schemas.microsoft.com/office/drawing/2014/main" id="{427D4010-E50F-A050-88BC-9A25A00AEA68}"/>
                </a:ext>
              </a:extLst>
            </p:cNvPr>
            <p:cNvSpPr txBox="1"/>
            <p:nvPr/>
          </p:nvSpPr>
          <p:spPr>
            <a:xfrm>
              <a:off x="3048000" y="1872734"/>
              <a:ext cx="6096000" cy="246221"/>
            </a:xfrm>
            <a:prstGeom prst="rect">
              <a:avLst/>
            </a:prstGeom>
            <a:noFill/>
            <a:ln>
              <a:solidFill>
                <a:schemeClr val="bg1">
                  <a:lumMod val="50000"/>
                </a:schemeClr>
              </a:solidFill>
            </a:ln>
          </p:spPr>
          <p:txBody>
            <a:bodyPr wrap="square">
              <a:spAutoFit/>
            </a:bodyPr>
            <a:lstStyle/>
            <a:p>
              <a:r>
                <a:rPr lang="en-US" altLang="ko-KR" sz="1000" b="1" dirty="0"/>
                <a:t>$ docker exec -it </a:t>
              </a:r>
              <a:r>
                <a:rPr lang="en-US" altLang="ko-KR" sz="1000" b="1" dirty="0">
                  <a:solidFill>
                    <a:srgbClr val="FF0000"/>
                  </a:solidFill>
                </a:rPr>
                <a:t>kind-control-plane</a:t>
              </a:r>
              <a:r>
                <a:rPr lang="en-US" altLang="ko-KR" sz="1000" b="1" dirty="0"/>
                <a:t> bash</a:t>
              </a:r>
              <a:endParaRPr lang="ko-KR" altLang="en-US" sz="1000" b="1" dirty="0"/>
            </a:p>
          </p:txBody>
        </p:sp>
        <p:sp>
          <p:nvSpPr>
            <p:cNvPr id="9" name="화살표: 아래쪽 8">
              <a:extLst>
                <a:ext uri="{FF2B5EF4-FFF2-40B4-BE49-F238E27FC236}">
                  <a16:creationId xmlns:a16="http://schemas.microsoft.com/office/drawing/2014/main" id="{E0EFDDC1-0CF8-2242-D59F-C983FC168C88}"/>
                </a:ext>
              </a:extLst>
            </p:cNvPr>
            <p:cNvSpPr/>
            <p:nvPr/>
          </p:nvSpPr>
          <p:spPr>
            <a:xfrm>
              <a:off x="5863167" y="2127011"/>
              <a:ext cx="465666" cy="29633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A9CF12C1-4B93-BD75-2199-3ACBE668D763}"/>
                </a:ext>
              </a:extLst>
            </p:cNvPr>
            <p:cNvPicPr>
              <a:picLocks noChangeAspect="1"/>
            </p:cNvPicPr>
            <p:nvPr/>
          </p:nvPicPr>
          <p:blipFill>
            <a:blip r:embed="rId2"/>
            <a:stretch>
              <a:fillRect/>
            </a:stretch>
          </p:blipFill>
          <p:spPr>
            <a:xfrm>
              <a:off x="1047618" y="2431400"/>
              <a:ext cx="10096764" cy="1652356"/>
            </a:xfrm>
            <a:prstGeom prst="rect">
              <a:avLst/>
            </a:prstGeom>
          </p:spPr>
        </p:pic>
      </p:grpSp>
    </p:spTree>
    <p:extLst>
      <p:ext uri="{BB962C8B-B14F-4D97-AF65-F5344CB8AC3E}">
        <p14:creationId xmlns:p14="http://schemas.microsoft.com/office/powerpoint/2010/main" val="40420993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a Local Cluster Using KIND(8/8)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Stopping the Cluster Nodes Provisioned by KIND :</a:t>
            </a:r>
          </a:p>
          <a:p>
            <a:pPr lvl="1">
              <a:buFont typeface="Wingdings" panose="05000000000000000000" pitchFamily="2" charset="2"/>
              <a:buChar char="§"/>
            </a:pPr>
            <a:r>
              <a:rPr lang="en-US" altLang="ko-KR" sz="1400" dirty="0"/>
              <a:t>If you want to </a:t>
            </a:r>
            <a:r>
              <a:rPr lang="en-US" altLang="ko-KR" sz="1400" b="1" dirty="0"/>
              <a:t>stop the cluster</a:t>
            </a:r>
            <a:r>
              <a:rPr lang="en-US" altLang="ko-KR" sz="1400" dirty="0"/>
              <a:t>, you can use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from the above screenshot, all containers are deleted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14EBFB2-8715-24F8-D370-7DAE74EB6FEC}"/>
              </a:ext>
            </a:extLst>
          </p:cNvPr>
          <p:cNvGrpSpPr/>
          <p:nvPr/>
        </p:nvGrpSpPr>
        <p:grpSpPr>
          <a:xfrm>
            <a:off x="1107017" y="1625599"/>
            <a:ext cx="9977966" cy="2208049"/>
            <a:chOff x="1107017" y="1532466"/>
            <a:chExt cx="9977966" cy="2208049"/>
          </a:xfrm>
        </p:grpSpPr>
        <p:sp>
          <p:nvSpPr>
            <p:cNvPr id="4" name="TextBox 3">
              <a:extLst>
                <a:ext uri="{FF2B5EF4-FFF2-40B4-BE49-F238E27FC236}">
                  <a16:creationId xmlns:a16="http://schemas.microsoft.com/office/drawing/2014/main" id="{D8A12819-B8CD-9B8E-FFF7-181632837DCB}"/>
                </a:ext>
              </a:extLst>
            </p:cNvPr>
            <p:cNvSpPr txBox="1"/>
            <p:nvPr/>
          </p:nvSpPr>
          <p:spPr>
            <a:xfrm>
              <a:off x="3149480" y="1532466"/>
              <a:ext cx="5893040" cy="246221"/>
            </a:xfrm>
            <a:prstGeom prst="rect">
              <a:avLst/>
            </a:prstGeom>
            <a:noFill/>
            <a:ln>
              <a:solidFill>
                <a:schemeClr val="bg1">
                  <a:lumMod val="50000"/>
                </a:schemeClr>
              </a:solidFill>
            </a:ln>
          </p:spPr>
          <p:txBody>
            <a:bodyPr wrap="square" rtlCol="0">
              <a:spAutoFit/>
            </a:bodyPr>
            <a:lstStyle/>
            <a:p>
              <a:r>
                <a:rPr lang="en-US" altLang="ko-KR" sz="1000" b="1" dirty="0"/>
                <a:t>$ kind delete cluster</a:t>
              </a:r>
              <a:endParaRPr lang="ko-KR" altLang="en-US" sz="1000" b="1" dirty="0"/>
            </a:p>
          </p:txBody>
        </p:sp>
        <p:sp>
          <p:nvSpPr>
            <p:cNvPr id="8" name="화살표: 아래쪽 7">
              <a:extLst>
                <a:ext uri="{FF2B5EF4-FFF2-40B4-BE49-F238E27FC236}">
                  <a16:creationId xmlns:a16="http://schemas.microsoft.com/office/drawing/2014/main" id="{4BF2842F-EE88-853D-13A4-5414BAB30E1A}"/>
                </a:ext>
              </a:extLst>
            </p:cNvPr>
            <p:cNvSpPr/>
            <p:nvPr/>
          </p:nvSpPr>
          <p:spPr>
            <a:xfrm>
              <a:off x="5871633" y="1778276"/>
              <a:ext cx="448734" cy="31326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534CF56B-2502-631E-A7C6-E8F2E9924702}"/>
                </a:ext>
              </a:extLst>
            </p:cNvPr>
            <p:cNvPicPr>
              <a:picLocks noChangeAspect="1"/>
            </p:cNvPicPr>
            <p:nvPr/>
          </p:nvPicPr>
          <p:blipFill>
            <a:blip r:embed="rId2"/>
            <a:stretch>
              <a:fillRect/>
            </a:stretch>
          </p:blipFill>
          <p:spPr>
            <a:xfrm>
              <a:off x="1107017" y="2107601"/>
              <a:ext cx="9977966" cy="1632914"/>
            </a:xfrm>
            <a:prstGeom prst="rect">
              <a:avLst/>
            </a:prstGeom>
          </p:spPr>
        </p:pic>
      </p:grpSp>
    </p:spTree>
    <p:extLst>
      <p:ext uri="{BB962C8B-B14F-4D97-AF65-F5344CB8AC3E}">
        <p14:creationId xmlns:p14="http://schemas.microsoft.com/office/powerpoint/2010/main" val="372944661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3"/>
            <a:ext cx="10515600" cy="5352990"/>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3"/>
          <a:stretch>
            <a:fillRect/>
          </a:stretch>
        </p:blipFill>
        <p:spPr>
          <a:xfrm>
            <a:off x="4990542" y="2119853"/>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98407</TotalTime>
  <Words>17836</Words>
  <Application>Microsoft Office PowerPoint</Application>
  <PresentationFormat>와이드스크린</PresentationFormat>
  <Paragraphs>1303</Paragraphs>
  <Slides>115</Slides>
  <Notes>0</Notes>
  <HiddenSlides>0</HiddenSlides>
  <MMClips>0</MMClips>
  <ScaleCrop>false</ScaleCrop>
  <HeadingPairs>
    <vt:vector size="8" baseType="variant">
      <vt:variant>
        <vt:lpstr>사용한 글꼴</vt:lpstr>
      </vt:variant>
      <vt:variant>
        <vt:i4>3</vt:i4>
      </vt:variant>
      <vt:variant>
        <vt:lpstr>테마</vt:lpstr>
      </vt:variant>
      <vt:variant>
        <vt:i4>1</vt:i4>
      </vt:variant>
      <vt:variant>
        <vt:lpstr>포함된 OLE 서버</vt:lpstr>
      </vt:variant>
      <vt:variant>
        <vt:i4>1</vt:i4>
      </vt:variant>
      <vt:variant>
        <vt:lpstr>슬라이드 제목</vt:lpstr>
      </vt:variant>
      <vt:variant>
        <vt:i4>115</vt:i4>
      </vt:variant>
    </vt:vector>
  </HeadingPairs>
  <TitlesOfParts>
    <vt:vector size="120" baseType="lpstr">
      <vt:lpstr>맑은 고딕</vt:lpstr>
      <vt:lpstr>Arial</vt:lpstr>
      <vt:lpstr>Wingdings</vt:lpstr>
      <vt:lpstr>Office 테마</vt:lpstr>
      <vt:lpstr>Bitmap Image</vt:lpstr>
      <vt:lpstr>Kubernetes in Action</vt:lpstr>
      <vt:lpstr>Introduction</vt:lpstr>
      <vt:lpstr>What is Kubernetes?(1/2)</vt:lpstr>
      <vt:lpstr>What is Kubernetes?(2/2)</vt:lpstr>
      <vt:lpstr>NOTE : Meaning of Kubernetes </vt:lpstr>
      <vt:lpstr>Monolithic Apps to Microservice(1/8)</vt:lpstr>
      <vt:lpstr>Monolithic Apps to Microservice(2/8)</vt:lpstr>
      <vt:lpstr>Monolithic Apps to Microservice(3/8)</vt:lpstr>
      <vt:lpstr>Monolithic Apps to Microservice(4/8)</vt:lpstr>
      <vt:lpstr>Monolithic Apps to Microservice(5/8)</vt:lpstr>
      <vt:lpstr>Monolithic Apps to Microservice(6/8)</vt:lpstr>
      <vt:lpstr>Monolithic Apps to Microservice(7/8)</vt:lpstr>
      <vt:lpstr>Monolithic Apps to Microservice(8/8)</vt:lpstr>
      <vt:lpstr>What is Container?(1/10)</vt:lpstr>
      <vt:lpstr>What is Container?(2/10)</vt:lpstr>
      <vt:lpstr>What is Container?(3/10)</vt:lpstr>
      <vt:lpstr>What is Container?(4/10)</vt:lpstr>
      <vt:lpstr>What is Container?(5/10)</vt:lpstr>
      <vt:lpstr>What is Container?(6/10)</vt:lpstr>
      <vt:lpstr>What is Container?(7/10)</vt:lpstr>
      <vt:lpstr>What is Container?(8/10)</vt:lpstr>
      <vt:lpstr>What is Container?(9/10)</vt:lpstr>
      <vt:lpstr>What is Container?(10/10)</vt:lpstr>
      <vt:lpstr>Introducing Container Technologies(1/5)</vt:lpstr>
      <vt:lpstr>Introducing Container Technologies(2/5)</vt:lpstr>
      <vt:lpstr>Introducing Container Technologies(3/5)</vt:lpstr>
      <vt:lpstr>Introducing Container Technologies(4/5)</vt:lpstr>
      <vt:lpstr>Introducing Container Technologies(5/5)</vt:lpstr>
      <vt:lpstr>Introducing Kubernetes(1/12)</vt:lpstr>
      <vt:lpstr>Introducing Kubernetes(2/12)</vt:lpstr>
      <vt:lpstr>Introducing Kubernetes(3/12)</vt:lpstr>
      <vt:lpstr>Introducing Kubernetes(4/12)</vt:lpstr>
      <vt:lpstr>Introducing Kubernetes(5/12)</vt:lpstr>
      <vt:lpstr>Introducing Kubernetes(6/12)</vt:lpstr>
      <vt:lpstr>Introducing Kubernetes(7/12)</vt:lpstr>
      <vt:lpstr>Introducing Kubernetes(8/12)</vt:lpstr>
      <vt:lpstr>Introducing Kubernetes(9/12)</vt:lpstr>
      <vt:lpstr>Introducing Kubernetes(10/12)</vt:lpstr>
      <vt:lpstr>Introducing Kubernetes(11/12)</vt:lpstr>
      <vt:lpstr>Introducing Kubernetes(12/12)</vt:lpstr>
      <vt:lpstr>Understanding The Benefits of Using Kubernetes(1/4)</vt:lpstr>
      <vt:lpstr>Understanding The Benefits of Using Kubernetes(2/4)</vt:lpstr>
      <vt:lpstr>Understanding The Benefits of Using Kubernetes(3/4)</vt:lpstr>
      <vt:lpstr>Understanding The Benefits of Using Kubernetes(4/4)</vt:lpstr>
      <vt:lpstr>Docker &amp; Kubernetes</vt:lpstr>
      <vt:lpstr>Creating, Running and Sharing a Container Image(1/15)</vt:lpstr>
      <vt:lpstr>Creating, Running and Sharing a Container Image(2/15)</vt:lpstr>
      <vt:lpstr>Creating, Running and Sharing a Container Image(3/15)</vt:lpstr>
      <vt:lpstr>Creating, Running and Sharing a Container Image(4/15)</vt:lpstr>
      <vt:lpstr>Creating, Running and Sharing a Container Image(5/15)</vt:lpstr>
      <vt:lpstr>NOTE : Node.js Application</vt:lpstr>
      <vt:lpstr>Creating, Running and Sharing a Container Image(6/15)</vt:lpstr>
      <vt:lpstr>Creating, Running and Sharing a Container Image(7/15)</vt:lpstr>
      <vt:lpstr>NOTE : Docker Image Building Process </vt:lpstr>
      <vt:lpstr>Creating, Running and Sharing a Container Image(8/15)</vt:lpstr>
      <vt:lpstr>Creating, Running and Sharing a Container Image(9/15)</vt:lpstr>
      <vt:lpstr>Creating, Running and Sharing a Container Image(10/15)</vt:lpstr>
      <vt:lpstr>Creating, Running and Sharing a Container Image(11/15)</vt:lpstr>
      <vt:lpstr>Creating, Running and Sharing a Container Image(12/15)</vt:lpstr>
      <vt:lpstr>Creating, Running and Sharing a Container Image(13/15)</vt:lpstr>
      <vt:lpstr>Creating, Running and Sharing a Container Image(14/15)</vt:lpstr>
      <vt:lpstr>Creating, Running and Sharing a Container Image(15/15)</vt:lpstr>
      <vt:lpstr>Exploring the Inside of a Running Container(1/4)</vt:lpstr>
      <vt:lpstr>Exploring the Inside of a Running Container(2/4)</vt:lpstr>
      <vt:lpstr>Exploring the Inside of a Running Container(3/4)</vt:lpstr>
      <vt:lpstr>Exploring the Inside of a Running Container(4/4)</vt:lpstr>
      <vt:lpstr>Exploring the Inside of a Running Container</vt:lpstr>
      <vt:lpstr>Pushing the Image to an Image Registry(1/3)</vt:lpstr>
      <vt:lpstr>Pushing the Image to an Image Registry(2/3)</vt:lpstr>
      <vt:lpstr>Pushing the Image to an Image Registry(3/3)</vt:lpstr>
      <vt:lpstr>NOTE : Removing Docker Image</vt:lpstr>
      <vt:lpstr>Setting up a Kubernetes Cluster(1/8)</vt:lpstr>
      <vt:lpstr>Setting up a Kubernetes Cluster(2/8)</vt:lpstr>
      <vt:lpstr>Setting up a Kubernetes Cluster(3/8)</vt:lpstr>
      <vt:lpstr>NOTE : Swapping in Linux</vt:lpstr>
      <vt:lpstr>Setting up a Kubernetes Cluster(4/8)</vt:lpstr>
      <vt:lpstr>Setting up a Kubernetes Cluster(5/8)</vt:lpstr>
      <vt:lpstr>Setting up a Kubernetes Cluster(6/8)</vt:lpstr>
      <vt:lpstr>Setting up a Kubernetes Cluster(7/8)</vt:lpstr>
      <vt:lpstr>Setting up a Kubernetes Cluster(8/8)</vt:lpstr>
      <vt:lpstr>Setting up an Alias and Command-line Completion for Kubectl(1/2)</vt:lpstr>
      <vt:lpstr>Setting up an Alias and Command-line Completion for Kubectl(2/2)</vt:lpstr>
      <vt:lpstr>Running Your First App on Kubernetes(1/4)</vt:lpstr>
      <vt:lpstr>NOTE : The Running Containers</vt:lpstr>
      <vt:lpstr>Running Your First App on Kubernetes(2/4)</vt:lpstr>
      <vt:lpstr>Running Your First App on Kubernetes(3/4)</vt:lpstr>
      <vt:lpstr>Running Your First App on Kubernetes(4/4)</vt:lpstr>
      <vt:lpstr>Accessing Your Web Application(1/2)</vt:lpstr>
      <vt:lpstr>Accessing Your Web Application(2/2)</vt:lpstr>
      <vt:lpstr>Exposing Service(1/4)</vt:lpstr>
      <vt:lpstr>Exposing Service(2/4)</vt:lpstr>
      <vt:lpstr>Exposing Service(3/4)</vt:lpstr>
      <vt:lpstr>Exposing Service(4/4)</vt:lpstr>
      <vt:lpstr>The Logical Parts of Your System(1/2)</vt:lpstr>
      <vt:lpstr>The Logical Parts of Your System(2/2)</vt:lpstr>
      <vt:lpstr>Horizontally Scaling the Application(1/5)</vt:lpstr>
      <vt:lpstr>Horizontally Scaling the Application(2/5)</vt:lpstr>
      <vt:lpstr>Horizontally Scaling the Application(3/5)</vt:lpstr>
      <vt:lpstr>Horizontally Scaling the Application(4/5)</vt:lpstr>
      <vt:lpstr>Horizontally Scaling the Application(5/5)</vt:lpstr>
      <vt:lpstr>Examining What Nodes Your App Is Running on(1/2)</vt:lpstr>
      <vt:lpstr>Examining What Nodes Your App Is Running on(2/2)</vt:lpstr>
      <vt:lpstr>Kubernetes Dashboard(1/2)</vt:lpstr>
      <vt:lpstr>Kubernetes Dashboard(2/2)</vt:lpstr>
      <vt:lpstr>NOTE : Minikube Dashboard</vt:lpstr>
      <vt:lpstr>Running a Local Cluster Using KIND(1/8)</vt:lpstr>
      <vt:lpstr>Running a Local Cluster Using KIND(2/8)</vt:lpstr>
      <vt:lpstr>Running a Local Cluster Using KIND(3/8)</vt:lpstr>
      <vt:lpstr>Running a Local Cluster Using KIND(4/8)</vt:lpstr>
      <vt:lpstr>Running a Local Cluster Using KIND(5/8)</vt:lpstr>
      <vt:lpstr>Running a Local Cluster Using KIND(6/8)</vt:lpstr>
      <vt:lpstr>Running a Local Cluster Using KIND(7/8)</vt:lpstr>
      <vt:lpstr>Running a Local Cluster Using KIND(8/8)</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4207</cp:revision>
  <dcterms:created xsi:type="dcterms:W3CDTF">2020-11-26T08:00:10Z</dcterms:created>
  <dcterms:modified xsi:type="dcterms:W3CDTF">2026-08-18T02:37:08Z</dcterms:modified>
</cp:coreProperties>
</file>