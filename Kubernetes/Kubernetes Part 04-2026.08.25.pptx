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4"/>
  </p:notesMasterIdLst>
  <p:sldIdLst>
    <p:sldId id="256" r:id="rId2"/>
    <p:sldId id="776" r:id="rId3"/>
    <p:sldId id="1195" r:id="rId4"/>
    <p:sldId id="1196" r:id="rId5"/>
    <p:sldId id="1197" r:id="rId6"/>
    <p:sldId id="1198" r:id="rId7"/>
    <p:sldId id="1199" r:id="rId8"/>
    <p:sldId id="1200" r:id="rId9"/>
    <p:sldId id="1201" r:id="rId10"/>
    <p:sldId id="1202" r:id="rId11"/>
    <p:sldId id="1203" r:id="rId12"/>
    <p:sldId id="1204" r:id="rId13"/>
    <p:sldId id="1205" r:id="rId14"/>
    <p:sldId id="1206" r:id="rId15"/>
    <p:sldId id="1207" r:id="rId16"/>
    <p:sldId id="1208" r:id="rId17"/>
    <p:sldId id="1209" r:id="rId18"/>
    <p:sldId id="1212" r:id="rId19"/>
    <p:sldId id="1242" r:id="rId20"/>
    <p:sldId id="1213" r:id="rId21"/>
    <p:sldId id="1214" r:id="rId22"/>
    <p:sldId id="1215" r:id="rId23"/>
    <p:sldId id="1216" r:id="rId24"/>
    <p:sldId id="1217" r:id="rId25"/>
    <p:sldId id="1218" r:id="rId26"/>
    <p:sldId id="1219" r:id="rId27"/>
    <p:sldId id="1220" r:id="rId28"/>
    <p:sldId id="1221" r:id="rId29"/>
    <p:sldId id="1222" r:id="rId30"/>
    <p:sldId id="1223" r:id="rId31"/>
    <p:sldId id="1224" r:id="rId32"/>
    <p:sldId id="1225" r:id="rId33"/>
    <p:sldId id="1226" r:id="rId34"/>
    <p:sldId id="1227" r:id="rId35"/>
    <p:sldId id="1228" r:id="rId36"/>
    <p:sldId id="1229" r:id="rId37"/>
    <p:sldId id="1230" r:id="rId38"/>
    <p:sldId id="1231" r:id="rId39"/>
    <p:sldId id="1232" r:id="rId40"/>
    <p:sldId id="1233" r:id="rId41"/>
    <p:sldId id="1234" r:id="rId42"/>
    <p:sldId id="1235" r:id="rId43"/>
    <p:sldId id="1236" r:id="rId44"/>
    <p:sldId id="1237" r:id="rId45"/>
    <p:sldId id="1238" r:id="rId46"/>
    <p:sldId id="1243" r:id="rId47"/>
    <p:sldId id="1239" r:id="rId48"/>
    <p:sldId id="1244" r:id="rId49"/>
    <p:sldId id="1245" r:id="rId50"/>
    <p:sldId id="1246" r:id="rId51"/>
    <p:sldId id="1247" r:id="rId52"/>
    <p:sldId id="1248" r:id="rId53"/>
    <p:sldId id="1249" r:id="rId54"/>
    <p:sldId id="1250" r:id="rId55"/>
    <p:sldId id="1251" r:id="rId56"/>
    <p:sldId id="1252" r:id="rId57"/>
    <p:sldId id="1253" r:id="rId58"/>
    <p:sldId id="1254" r:id="rId59"/>
    <p:sldId id="1255" r:id="rId60"/>
    <p:sldId id="1256" r:id="rId61"/>
    <p:sldId id="1257" r:id="rId62"/>
    <p:sldId id="1258" r:id="rId63"/>
    <p:sldId id="1259" r:id="rId64"/>
    <p:sldId id="1260" r:id="rId65"/>
    <p:sldId id="1261" r:id="rId66"/>
    <p:sldId id="1262" r:id="rId67"/>
    <p:sldId id="1263" r:id="rId68"/>
    <p:sldId id="1264" r:id="rId69"/>
    <p:sldId id="1265" r:id="rId70"/>
    <p:sldId id="1266" r:id="rId71"/>
    <p:sldId id="1267" r:id="rId72"/>
    <p:sldId id="1268" r:id="rId73"/>
    <p:sldId id="1269" r:id="rId74"/>
    <p:sldId id="1270" r:id="rId75"/>
    <p:sldId id="1271" r:id="rId76"/>
    <p:sldId id="1298" r:id="rId77"/>
    <p:sldId id="1272" r:id="rId78"/>
    <p:sldId id="1297" r:id="rId79"/>
    <p:sldId id="1273" r:id="rId80"/>
    <p:sldId id="1274" r:id="rId81"/>
    <p:sldId id="1275" r:id="rId82"/>
    <p:sldId id="1276" r:id="rId83"/>
    <p:sldId id="1277" r:id="rId84"/>
    <p:sldId id="1278" r:id="rId85"/>
    <p:sldId id="1279" r:id="rId86"/>
    <p:sldId id="1280" r:id="rId87"/>
    <p:sldId id="1281" r:id="rId88"/>
    <p:sldId id="1282" r:id="rId89"/>
    <p:sldId id="1283" r:id="rId90"/>
    <p:sldId id="1284" r:id="rId91"/>
    <p:sldId id="1285" r:id="rId92"/>
    <p:sldId id="1286" r:id="rId93"/>
    <p:sldId id="1287" r:id="rId94"/>
    <p:sldId id="1288" r:id="rId95"/>
    <p:sldId id="1289" r:id="rId96"/>
    <p:sldId id="1290" r:id="rId97"/>
    <p:sldId id="1299" r:id="rId98"/>
    <p:sldId id="1291" r:id="rId99"/>
    <p:sldId id="1240" r:id="rId100"/>
    <p:sldId id="1241" r:id="rId101"/>
    <p:sldId id="281" r:id="rId102"/>
    <p:sldId id="259" r:id="rId10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75" autoAdjust="0"/>
    <p:restoredTop sz="94660"/>
  </p:normalViewPr>
  <p:slideViewPr>
    <p:cSldViewPr snapToGrid="0">
      <p:cViewPr varScale="1">
        <p:scale>
          <a:sx n="147" d="100"/>
          <a:sy n="147" d="100"/>
        </p:scale>
        <p:origin x="120"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2026-08-21</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7007662A-90A0-422F-86C7-28633F226238}" type="datetime1">
              <a:rPr lang="ko-KR" altLang="en-US" smtClean="0"/>
              <a:t>2026-08-21</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p:txBody>
          <a:bodyPr/>
          <a:lstStyle/>
          <a:p>
            <a:fld id="{8864E73B-4F23-434A-A6D7-88271ACC49EC}" type="datetime1">
              <a:rPr lang="ko-KR" altLang="en-US" smtClean="0"/>
              <a:t>2026-08-21</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p>
            <a:fld id="{AF92D8FD-6369-45D3-BF1E-CE092B602C81}" type="datetime1">
              <a:rPr lang="ko-KR" altLang="en-US" smtClean="0"/>
              <a:t>2026-08-21</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0E884664-AC38-4616-AC26-A81EB70F9B6D}" type="datetime1">
              <a:rPr lang="ko-KR" altLang="en-US" smtClean="0"/>
              <a:t>2026-08-21</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D5BB2583-C2D6-4752-93FB-A3B1CCF51AD7}" type="datetime1">
              <a:rPr lang="ko-KR" altLang="en-US" smtClean="0"/>
              <a:t>2026-08-21</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p>
            <a:fld id="{AE591029-0B61-42E7-89A5-1452CC1CC685}" type="datetime1">
              <a:rPr lang="ko-KR" altLang="en-US" smtClean="0"/>
              <a:t>2026-08-21</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p:txBody>
          <a:bodyPr/>
          <a:lstStyle/>
          <a:p>
            <a:fld id="{946CEB9F-05DB-43E1-892D-90A459D7CCD8}" type="datetime1">
              <a:rPr lang="ko-KR" altLang="en-US" smtClean="0"/>
              <a:t>2026-08-21</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p:txBody>
          <a:bodyPr/>
          <a:lstStyle/>
          <a:p>
            <a:fld id="{CECC215A-7973-470B-84A4-F5AF132B8AAF}" type="datetime1">
              <a:rPr lang="ko-KR" altLang="en-US" smtClean="0"/>
              <a:t>2026-08-21</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6F2C50B2-507C-4DE6-835C-CC74E109F16E}" type="datetime1">
              <a:rPr lang="ko-KR" altLang="en-US" smtClean="0"/>
              <a:t>2026-08-21</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B9D71F2C-84F6-42CA-BB66-E87B622B6B79}" type="datetime1">
              <a:rPr lang="ko-KR" altLang="en-US" smtClean="0"/>
              <a:t>2026-08-21</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8686B409-5BD5-456C-AF48-4FD374032583}" type="datetime1">
              <a:rPr lang="ko-KR" altLang="en-US" smtClean="0"/>
              <a:t>2026-08-21</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3538FB-B8FC-4171-87E6-7B07A54FA9FA}" type="datetime1">
              <a:rPr lang="ko-KR" altLang="en-US" smtClean="0"/>
              <a:t>2026-08-21</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wmf"/></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etcd.io/"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6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6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5.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hyperlink" Target="https://www.redhat.com/ko/topics/cloud-computing/what-is-multitenancy" TargetMode="Externa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7.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90.emf"/><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94.em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8" Type="http://schemas.openxmlformats.org/officeDocument/2006/relationships/hyperlink" Target="https://kubernetes.io/docs/reference/access-authn-authz/rbac/" TargetMode="External"/><Relationship Id="rId3" Type="http://schemas.openxmlformats.org/officeDocument/2006/relationships/hyperlink" Target="https://labs.play-with-k8s.com/" TargetMode="External"/><Relationship Id="rId7" Type="http://schemas.openxmlformats.org/officeDocument/2006/relationships/hyperlink" Target="https://devopscube.com/build-docker-image-kubernetes-pod/" TargetMode="External"/><Relationship Id="rId2" Type="http://schemas.openxmlformats.org/officeDocument/2006/relationships/hyperlink" Target="https://github.com/kubernetes-up-and-running/examples" TargetMode="External"/><Relationship Id="rId1" Type="http://schemas.openxmlformats.org/officeDocument/2006/relationships/slideLayout" Target="../slideLayouts/slideLayout2.xml"/><Relationship Id="rId6" Type="http://schemas.openxmlformats.org/officeDocument/2006/relationships/hyperlink" Target="https://www.redhat.com/ko/topics/containers/what-is-etcd" TargetMode="External"/><Relationship Id="rId5" Type="http://schemas.openxmlformats.org/officeDocument/2006/relationships/hyperlink" Target="https://fixes.co.za/kubernetes/kubernetes-up-and-running/" TargetMode="External"/><Relationship Id="rId4" Type="http://schemas.openxmlformats.org/officeDocument/2006/relationships/hyperlink" Target="https://github.com/kubernetes-up-and-running/kuard" TargetMode="External"/><Relationship Id="rId9" Type="http://schemas.openxmlformats.org/officeDocument/2006/relationships/image" Target="../media/image96.png"/></Relationships>
</file>

<file path=ppt/slides/_rels/slide10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800" b="1" dirty="0"/>
              <a:t>Kubernetes</a:t>
            </a:r>
            <a:endParaRPr lang="ko-KR" altLang="en-US" sz="4800"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p:txBody>
          <a:bodyPr>
            <a:normAutofit lnSpcReduction="10000"/>
          </a:bodyPr>
          <a:lstStyle/>
          <a:p>
            <a:r>
              <a:rPr lang="en-US" altLang="ko-KR" b="1" dirty="0"/>
              <a:t>Kubernetes Up &amp; Running</a:t>
            </a:r>
          </a:p>
          <a:p>
            <a:r>
              <a:rPr lang="en-US" altLang="ko-KR" b="1" dirty="0"/>
              <a:t>Part IV</a:t>
            </a:r>
          </a:p>
          <a:p>
            <a:endParaRPr lang="en-US" altLang="ko-KR" b="1" dirty="0"/>
          </a:p>
          <a:p>
            <a:r>
              <a:rPr lang="en-US" altLang="ko-KR" sz="2000" b="1" dirty="0"/>
              <a:t>2026.08.25</a:t>
            </a:r>
          </a:p>
          <a:p>
            <a:endParaRPr lang="en-US" altLang="ko-KR" sz="1600" b="1" dirty="0"/>
          </a:p>
          <a:p>
            <a:endParaRPr lang="ko-KR" altLang="en-US" sz="1600"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err="1"/>
              <a:t>DaemonSets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96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Introduction(1/2)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is </a:t>
            </a:r>
            <a:r>
              <a:rPr lang="en-US" altLang="ko-KR" sz="1800" b="1" dirty="0" err="1"/>
              <a:t>DeamonSet</a:t>
            </a:r>
            <a:r>
              <a:rPr lang="en-US" altLang="ko-KR" sz="1800" b="1" dirty="0"/>
              <a:t>? :</a:t>
            </a:r>
          </a:p>
          <a:p>
            <a:pPr lvl="1">
              <a:buFont typeface="Wingdings" panose="05000000000000000000" pitchFamily="2" charset="2"/>
              <a:buChar char="§"/>
            </a:pPr>
            <a:r>
              <a:rPr lang="en-US" altLang="ko-KR" sz="1400" b="1" dirty="0"/>
              <a:t>Deployments and </a:t>
            </a:r>
            <a:r>
              <a:rPr lang="en-US" altLang="ko-KR" sz="1400" b="1" dirty="0" err="1"/>
              <a:t>ReplicaSets</a:t>
            </a:r>
            <a:r>
              <a:rPr lang="en-US" altLang="ko-KR" sz="1400" b="1" dirty="0"/>
              <a:t> are generally about creating a service (e.g., a web server) with multiple replicas for redundancy</a:t>
            </a:r>
            <a:r>
              <a:rPr lang="en-US" altLang="ko-KR" sz="1400" dirty="0"/>
              <a:t>. But that is not the only reason you may want to replicate a set of Pods within a cluster. Another reason to replicate a set of Pods is to </a:t>
            </a:r>
            <a:r>
              <a:rPr lang="en-US" altLang="ko-KR" sz="1400" b="1" dirty="0">
                <a:solidFill>
                  <a:srgbClr val="FF0000"/>
                </a:solidFill>
              </a:rPr>
              <a:t>schedule a single Pod on every node within the cluster</a:t>
            </a:r>
            <a:r>
              <a:rPr lang="en-US" altLang="ko-KR" sz="1400" dirty="0"/>
              <a:t>. </a:t>
            </a:r>
            <a:r>
              <a:rPr lang="en-US" altLang="ko-KR" sz="1400" b="1" dirty="0"/>
              <a:t>Generally, the motivation for replicating a Pod to every node is to land some sort of agent or </a:t>
            </a:r>
            <a:r>
              <a:rPr lang="en-US" altLang="ko-KR" sz="1400" b="1" dirty="0">
                <a:solidFill>
                  <a:srgbClr val="FF0000"/>
                </a:solidFill>
              </a:rPr>
              <a:t>daemon</a:t>
            </a:r>
            <a:r>
              <a:rPr lang="en-US" altLang="ko-KR" sz="1400" b="1" dirty="0"/>
              <a:t> on each node, and the Kubernetes object for achieving this is the </a:t>
            </a:r>
            <a:r>
              <a:rPr lang="en-US" altLang="ko-KR" sz="1400" b="1" dirty="0" err="1">
                <a:solidFill>
                  <a:srgbClr val="FF0000"/>
                </a:solidFill>
              </a:rPr>
              <a:t>DaemonSet</a:t>
            </a:r>
            <a:r>
              <a:rPr lang="en-US" altLang="ko-KR" sz="1400" dirty="0"/>
              <a:t>.</a:t>
            </a:r>
          </a:p>
          <a:p>
            <a:pPr lvl="1">
              <a:buFont typeface="Wingdings" panose="05000000000000000000" pitchFamily="2" charset="2"/>
              <a:buChar char="§"/>
            </a:pPr>
            <a:r>
              <a:rPr lang="en-US" altLang="ko-KR" sz="1400" b="1" dirty="0">
                <a:solidFill>
                  <a:srgbClr val="FF0000"/>
                </a:solidFill>
              </a:rPr>
              <a:t>A </a:t>
            </a:r>
            <a:r>
              <a:rPr lang="en-US" altLang="ko-KR" sz="1400" b="1" dirty="0" err="1">
                <a:solidFill>
                  <a:srgbClr val="FF0000"/>
                </a:solidFill>
              </a:rPr>
              <a:t>DaemonSet</a:t>
            </a:r>
            <a:r>
              <a:rPr lang="en-US" altLang="ko-KR" sz="1400" b="1" dirty="0">
                <a:solidFill>
                  <a:srgbClr val="FF0000"/>
                </a:solidFill>
              </a:rPr>
              <a:t> ensures a copy of a Pod is running across a set of nodes in a Kubernetes cluster</a:t>
            </a:r>
            <a:r>
              <a:rPr lang="en-US" altLang="ko-KR" sz="1400" dirty="0"/>
              <a:t>. </a:t>
            </a:r>
            <a:r>
              <a:rPr lang="en-US" altLang="ko-KR" sz="1400" b="1" dirty="0" err="1"/>
              <a:t>DaemonSets</a:t>
            </a:r>
            <a:r>
              <a:rPr lang="en-US" altLang="ko-KR" sz="1400" b="1" dirty="0"/>
              <a:t> are used to </a:t>
            </a:r>
            <a:r>
              <a:rPr lang="en-US" altLang="ko-KR" sz="1400" b="1" dirty="0">
                <a:solidFill>
                  <a:srgbClr val="FF0000"/>
                </a:solidFill>
              </a:rPr>
              <a:t>deploy system daemons </a:t>
            </a:r>
            <a:r>
              <a:rPr lang="en-US" altLang="ko-KR" sz="1400" b="1" dirty="0"/>
              <a:t>such as “</a:t>
            </a:r>
            <a:r>
              <a:rPr lang="en-US" altLang="ko-KR" sz="1400" b="1" dirty="0">
                <a:solidFill>
                  <a:srgbClr val="FF0000"/>
                </a:solidFill>
              </a:rPr>
              <a:t>log</a:t>
            </a:r>
            <a:r>
              <a:rPr lang="en-US" altLang="ko-KR" sz="1400" b="1" dirty="0"/>
              <a:t> collectors” and “</a:t>
            </a:r>
            <a:r>
              <a:rPr lang="en-US" altLang="ko-KR" sz="1400" b="1" dirty="0">
                <a:solidFill>
                  <a:srgbClr val="FF0000"/>
                </a:solidFill>
              </a:rPr>
              <a:t>monitoring</a:t>
            </a:r>
            <a:r>
              <a:rPr lang="en-US" altLang="ko-KR" sz="1400" b="1" dirty="0"/>
              <a:t> agents”, which typically must run on every node</a:t>
            </a:r>
            <a:r>
              <a:rPr lang="en-US" altLang="ko-KR" sz="1400" dirty="0"/>
              <a:t>. </a:t>
            </a:r>
            <a:r>
              <a:rPr lang="en-US" altLang="ko-KR" sz="1400" b="1" dirty="0" err="1"/>
              <a:t>DaemonSets</a:t>
            </a:r>
            <a:r>
              <a:rPr lang="en-US" altLang="ko-KR" sz="1400" b="1" dirty="0"/>
              <a:t> share similar functionality with </a:t>
            </a:r>
            <a:r>
              <a:rPr lang="en-US" altLang="ko-KR" sz="1400" b="1" dirty="0" err="1"/>
              <a:t>ReplicaSets</a:t>
            </a:r>
            <a:r>
              <a:rPr lang="en-US" altLang="ko-KR" sz="1400" dirty="0"/>
              <a:t>; both create Pods that are expected to be </a:t>
            </a:r>
            <a:r>
              <a:rPr lang="en-US" altLang="ko-KR" sz="1400" b="1" dirty="0"/>
              <a:t>long-running services and ensure that the desired state and the observed state of the cluster match</a:t>
            </a:r>
            <a:r>
              <a:rPr lang="en-US" altLang="ko-KR" sz="1400" dirty="0"/>
              <a:t>.</a:t>
            </a:r>
          </a:p>
          <a:p>
            <a:pPr lvl="1">
              <a:buFont typeface="Wingdings" panose="05000000000000000000" pitchFamily="2" charset="2"/>
              <a:buChar char="§"/>
            </a:pPr>
            <a:r>
              <a:rPr lang="en-US" altLang="ko-KR" sz="1400" dirty="0"/>
              <a:t>Given the similarities between </a:t>
            </a:r>
            <a:r>
              <a:rPr lang="en-US" altLang="ko-KR" sz="1400" b="1" dirty="0" err="1"/>
              <a:t>DaemonSets</a:t>
            </a:r>
            <a:r>
              <a:rPr lang="en-US" altLang="ko-KR" sz="1400" dirty="0"/>
              <a:t> and </a:t>
            </a:r>
            <a:r>
              <a:rPr lang="en-US" altLang="ko-KR" sz="1400" b="1" dirty="0" err="1"/>
              <a:t>ReplicaSets</a:t>
            </a:r>
            <a:r>
              <a:rPr lang="en-US" altLang="ko-KR" sz="1400" dirty="0"/>
              <a:t>, it’s important to understand when to use one over the other. </a:t>
            </a:r>
            <a:r>
              <a:rPr lang="en-US" altLang="ko-KR" sz="1400" b="1" dirty="0" err="1">
                <a:solidFill>
                  <a:srgbClr val="FF0000"/>
                </a:solidFill>
              </a:rPr>
              <a:t>ReplicaSets</a:t>
            </a:r>
            <a:r>
              <a:rPr lang="en-US" altLang="ko-KR" sz="1400" b="1" dirty="0">
                <a:solidFill>
                  <a:srgbClr val="FF0000"/>
                </a:solidFill>
              </a:rPr>
              <a:t> should be used when your application is completely decoupled from the node </a:t>
            </a:r>
            <a:r>
              <a:rPr lang="en-US" altLang="ko-KR" sz="1400" b="1" dirty="0"/>
              <a:t>and you can run multiple copies on a given node without special consideration</a:t>
            </a:r>
            <a:r>
              <a:rPr lang="en-US" altLang="ko-KR" sz="1400" dirty="0"/>
              <a:t>. </a:t>
            </a:r>
            <a:r>
              <a:rPr lang="en-US" altLang="ko-KR" sz="1400" b="1" dirty="0" err="1">
                <a:solidFill>
                  <a:srgbClr val="FF0000"/>
                </a:solidFill>
              </a:rPr>
              <a:t>DaemonSets</a:t>
            </a:r>
            <a:r>
              <a:rPr lang="en-US" altLang="ko-KR" sz="1400" b="1" dirty="0">
                <a:solidFill>
                  <a:srgbClr val="FF0000"/>
                </a:solidFill>
              </a:rPr>
              <a:t> should be used when “a single copy” of your application must run on all or a subset of the nodes in the cluster</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41AEFF7B-B7D9-4D53-ADF4-6784E80B274A}"/>
              </a:ext>
            </a:extLst>
          </p:cNvPr>
          <p:cNvPicPr>
            <a:picLocks noChangeAspect="1"/>
          </p:cNvPicPr>
          <p:nvPr/>
        </p:nvPicPr>
        <p:blipFill>
          <a:blip r:embed="rId2"/>
          <a:stretch>
            <a:fillRect/>
          </a:stretch>
        </p:blipFill>
        <p:spPr>
          <a:xfrm>
            <a:off x="4477681" y="3824577"/>
            <a:ext cx="3236637" cy="2584453"/>
          </a:xfrm>
          <a:prstGeom prst="rect">
            <a:avLst/>
          </a:prstGeom>
        </p:spPr>
      </p:pic>
    </p:spTree>
    <p:extLst>
      <p:ext uri="{BB962C8B-B14F-4D97-AF65-F5344CB8AC3E}">
        <p14:creationId xmlns:p14="http://schemas.microsoft.com/office/powerpoint/2010/main" val="504302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Introduction(2/2)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is </a:t>
            </a:r>
            <a:r>
              <a:rPr lang="en-US" altLang="ko-KR" sz="1800" b="1" dirty="0" err="1"/>
              <a:t>DeamonSet</a:t>
            </a:r>
            <a:r>
              <a:rPr lang="en-US" altLang="ko-KR" sz="1800" b="1" dirty="0"/>
              <a:t>? :</a:t>
            </a:r>
          </a:p>
          <a:p>
            <a:pPr lvl="1">
              <a:buFont typeface="Wingdings" panose="05000000000000000000" pitchFamily="2" charset="2"/>
              <a:buChar char="§"/>
            </a:pPr>
            <a:r>
              <a:rPr lang="en-US" altLang="ko-KR" sz="1400" b="1" dirty="0"/>
              <a:t>You should generally not use scheduling restrictions or other parameters to ensure that Pods do not co-locate on the same node</a:t>
            </a:r>
            <a:r>
              <a:rPr lang="en-US" altLang="ko-KR" sz="1400" dirty="0"/>
              <a:t>. </a:t>
            </a:r>
            <a:r>
              <a:rPr lang="en-US" altLang="ko-KR" sz="1400" b="1" dirty="0"/>
              <a:t>If you find yourself wanting “</a:t>
            </a:r>
            <a:r>
              <a:rPr lang="en-US" altLang="ko-KR" sz="1400" b="1" dirty="0">
                <a:solidFill>
                  <a:srgbClr val="FF0000"/>
                </a:solidFill>
              </a:rPr>
              <a:t>a single Pod per node</a:t>
            </a:r>
            <a:r>
              <a:rPr lang="en-US" altLang="ko-KR" sz="1400" b="1" dirty="0"/>
              <a:t>”, then a </a:t>
            </a:r>
            <a:r>
              <a:rPr lang="en-US" altLang="ko-KR" sz="1400" b="1" dirty="0" err="1">
                <a:solidFill>
                  <a:srgbClr val="FF0000"/>
                </a:solidFill>
              </a:rPr>
              <a:t>DaemonSet</a:t>
            </a:r>
            <a:r>
              <a:rPr lang="en-US" altLang="ko-KR" sz="1400" b="1" dirty="0"/>
              <a:t> is the correct Kubernetes resource to use</a:t>
            </a:r>
            <a:r>
              <a:rPr lang="en-US" altLang="ko-KR" sz="1400" dirty="0"/>
              <a:t>. </a:t>
            </a:r>
            <a:r>
              <a:rPr lang="en-US" altLang="ko-KR" sz="1400" b="1" dirty="0"/>
              <a:t>Likewise, if you find yourself building a </a:t>
            </a:r>
            <a:r>
              <a:rPr lang="en-US" altLang="ko-KR" sz="1400" b="1" dirty="0">
                <a:solidFill>
                  <a:srgbClr val="FF0000"/>
                </a:solidFill>
              </a:rPr>
              <a:t>homogeneous replicated service </a:t>
            </a:r>
            <a:r>
              <a:rPr lang="en-US" altLang="ko-KR" sz="1400" b="1" dirty="0"/>
              <a:t>to serve user traffic, then a </a:t>
            </a:r>
            <a:r>
              <a:rPr lang="en-US" altLang="ko-KR" sz="1400" b="1" dirty="0" err="1">
                <a:solidFill>
                  <a:srgbClr val="FF0000"/>
                </a:solidFill>
              </a:rPr>
              <a:t>ReplicaSet</a:t>
            </a:r>
            <a:r>
              <a:rPr lang="en-US" altLang="ko-KR" sz="1400" b="1" dirty="0"/>
              <a:t> is probably the right Kubernetes resource to use</a:t>
            </a:r>
            <a:r>
              <a:rPr lang="en-US" altLang="ko-KR" sz="1400" dirty="0"/>
              <a:t>. </a:t>
            </a:r>
          </a:p>
          <a:p>
            <a:pPr lvl="1">
              <a:buFont typeface="Wingdings" panose="05000000000000000000" pitchFamily="2" charset="2"/>
              <a:buChar char="§"/>
            </a:pPr>
            <a:r>
              <a:rPr lang="en-US" altLang="ko-KR" sz="1400" b="1" dirty="0"/>
              <a:t>You can use </a:t>
            </a:r>
            <a:r>
              <a:rPr lang="en-US" altLang="ko-KR" sz="1400" b="1" dirty="0">
                <a:solidFill>
                  <a:srgbClr val="FF0000"/>
                </a:solidFill>
              </a:rPr>
              <a:t>labels</a:t>
            </a:r>
            <a:r>
              <a:rPr lang="en-US" altLang="ko-KR" sz="1400" b="1" dirty="0"/>
              <a:t> to run </a:t>
            </a:r>
            <a:r>
              <a:rPr lang="en-US" altLang="ko-KR" sz="1400" b="1" dirty="0" err="1"/>
              <a:t>DaemonSet</a:t>
            </a:r>
            <a:r>
              <a:rPr lang="en-US" altLang="ko-KR" sz="1400" b="1" dirty="0"/>
              <a:t> Pods on specific nodes</a:t>
            </a:r>
            <a:r>
              <a:rPr lang="en-US" altLang="ko-KR" sz="1400" dirty="0"/>
              <a:t>; for example, you may want to run specialized intrusion-detection software on nodes that are exposed to the edge network.</a:t>
            </a:r>
          </a:p>
          <a:p>
            <a:pPr lvl="1">
              <a:buFont typeface="Wingdings" panose="05000000000000000000" pitchFamily="2" charset="2"/>
              <a:buChar char="§"/>
            </a:pPr>
            <a:r>
              <a:rPr lang="en-US" altLang="ko-KR" sz="1400" b="1" dirty="0"/>
              <a:t>You can also use </a:t>
            </a:r>
            <a:r>
              <a:rPr lang="en-US" altLang="ko-KR" sz="1400" b="1" dirty="0" err="1"/>
              <a:t>DaemonSets</a:t>
            </a:r>
            <a:r>
              <a:rPr lang="en-US" altLang="ko-KR" sz="1400" b="1" dirty="0"/>
              <a:t> to </a:t>
            </a:r>
            <a:r>
              <a:rPr lang="en-US" altLang="ko-KR" sz="1400" b="1" dirty="0">
                <a:solidFill>
                  <a:srgbClr val="FF0000"/>
                </a:solidFill>
              </a:rPr>
              <a:t>install software on nodes in a cloud-based cluster</a:t>
            </a:r>
            <a:r>
              <a:rPr lang="en-US" altLang="ko-KR" sz="1400" dirty="0"/>
              <a:t>. For many cloud services, an upgrade or scaling of a cluster can delete and/or recreate new virtual machines. This dynamic immutable infrastructure approach can cause problems if you want (or are required by central IT) to have </a:t>
            </a:r>
            <a:r>
              <a:rPr lang="en-US" altLang="ko-KR" sz="1400" b="1" dirty="0">
                <a:solidFill>
                  <a:srgbClr val="FF0000"/>
                </a:solidFill>
              </a:rPr>
              <a:t>specific software on every node</a:t>
            </a:r>
            <a:r>
              <a:rPr lang="en-US" altLang="ko-KR" sz="1400" dirty="0"/>
              <a:t>. </a:t>
            </a:r>
            <a:r>
              <a:rPr lang="en-US" altLang="ko-KR" sz="1400" b="1" dirty="0"/>
              <a:t>To ensure that specific software is installed on every machine despite upgrades and scale events, a </a:t>
            </a:r>
            <a:r>
              <a:rPr lang="en-US" altLang="ko-KR" sz="1400" b="1" dirty="0" err="1"/>
              <a:t>DaemonSet</a:t>
            </a:r>
            <a:r>
              <a:rPr lang="en-US" altLang="ko-KR" sz="1400" b="1" dirty="0"/>
              <a:t> is the right approach</a:t>
            </a:r>
            <a:r>
              <a:rPr lang="en-US" altLang="ko-KR" sz="1400" dirty="0"/>
              <a:t>. You can even </a:t>
            </a:r>
            <a:r>
              <a:rPr lang="en-US" altLang="ko-KR" sz="1400" b="1" dirty="0"/>
              <a:t>mount the host filesystem </a:t>
            </a:r>
            <a:r>
              <a:rPr lang="en-US" altLang="ko-KR" sz="1400" dirty="0"/>
              <a:t>and </a:t>
            </a:r>
            <a:r>
              <a:rPr lang="en-US" altLang="ko-KR" sz="1400" b="1" dirty="0"/>
              <a:t>run scripts </a:t>
            </a:r>
            <a:r>
              <a:rPr lang="en-US" altLang="ko-KR" sz="1400" dirty="0"/>
              <a:t>that install RPM/DEB packages onto the host operating system. In this way, you can have a cloud-native cluster that still meets the enterprise requirements of your IT department.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B3C2B13-5F5F-4CDF-B41C-BA664F06F529}"/>
              </a:ext>
            </a:extLst>
          </p:cNvPr>
          <p:cNvPicPr>
            <a:picLocks noChangeAspect="1"/>
          </p:cNvPicPr>
          <p:nvPr/>
        </p:nvPicPr>
        <p:blipFill>
          <a:blip r:embed="rId2"/>
          <a:stretch>
            <a:fillRect/>
          </a:stretch>
        </p:blipFill>
        <p:spPr>
          <a:xfrm>
            <a:off x="4259683" y="3801219"/>
            <a:ext cx="3672633" cy="2607811"/>
          </a:xfrm>
          <a:prstGeom prst="rect">
            <a:avLst/>
          </a:prstGeom>
        </p:spPr>
      </p:pic>
    </p:spTree>
    <p:extLst>
      <p:ext uri="{BB962C8B-B14F-4D97-AF65-F5344CB8AC3E}">
        <p14:creationId xmlns:p14="http://schemas.microsoft.com/office/powerpoint/2010/main" val="2853839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DaemonSet</a:t>
            </a:r>
            <a:r>
              <a:rPr lang="en-US" altLang="ko-KR" sz="2800" b="1" dirty="0"/>
              <a:t> Scheduler(1/2)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DaemonSet</a:t>
            </a:r>
            <a:r>
              <a:rPr lang="en-US" altLang="ko-KR" sz="1800" b="1" dirty="0"/>
              <a:t> Controller :</a:t>
            </a:r>
          </a:p>
          <a:p>
            <a:pPr lvl="1">
              <a:buFont typeface="Wingdings" panose="05000000000000000000" pitchFamily="2" charset="2"/>
              <a:buChar char="§"/>
            </a:pPr>
            <a:r>
              <a:rPr lang="en-US" altLang="ko-KR" sz="1400" b="1" dirty="0"/>
              <a:t>By default a </a:t>
            </a:r>
            <a:r>
              <a:rPr lang="en-US" altLang="ko-KR" sz="1400" b="1" dirty="0" err="1"/>
              <a:t>DaemonSet</a:t>
            </a:r>
            <a:r>
              <a:rPr lang="en-US" altLang="ko-KR" sz="1400" b="1" dirty="0"/>
              <a:t> will create a copy of a Pod on every node unless a “</a:t>
            </a:r>
            <a:r>
              <a:rPr lang="en-US" altLang="ko-KR" sz="1400" b="1" dirty="0">
                <a:solidFill>
                  <a:srgbClr val="FF0000"/>
                </a:solidFill>
              </a:rPr>
              <a:t>node selector</a:t>
            </a:r>
            <a:r>
              <a:rPr lang="en-US" altLang="ko-KR" sz="1400" b="1" dirty="0"/>
              <a:t>” is used, which will </a:t>
            </a:r>
            <a:r>
              <a:rPr lang="en-US" altLang="ko-KR" sz="1400" b="1" dirty="0">
                <a:solidFill>
                  <a:srgbClr val="FF0000"/>
                </a:solidFill>
              </a:rPr>
              <a:t>limit eligible nodes to those with a matching set of labels</a:t>
            </a:r>
            <a:r>
              <a:rPr lang="en-US" altLang="ko-KR" sz="1400" dirty="0"/>
              <a:t>. </a:t>
            </a:r>
            <a:r>
              <a:rPr lang="en-US" altLang="ko-KR" sz="1400" b="1" dirty="0" err="1"/>
              <a:t>DaemonSets</a:t>
            </a:r>
            <a:r>
              <a:rPr lang="en-US" altLang="ko-KR" sz="1400" dirty="0"/>
              <a:t> determine which node a Pod will run on at Pod creation time by specifying the “</a:t>
            </a:r>
            <a:r>
              <a:rPr lang="en-US" altLang="ko-KR" sz="1400" b="1" dirty="0" err="1">
                <a:solidFill>
                  <a:srgbClr val="FF0000"/>
                </a:solidFill>
              </a:rPr>
              <a:t>nodeName</a:t>
            </a:r>
            <a:r>
              <a:rPr lang="en-US" altLang="ko-KR" sz="1400" dirty="0"/>
              <a:t>” field in the Pod spec. </a:t>
            </a:r>
            <a:r>
              <a:rPr lang="en-US" altLang="ko-KR" sz="1400" b="1" dirty="0"/>
              <a:t>As a result, </a:t>
            </a:r>
            <a:r>
              <a:rPr lang="en-US" altLang="ko-KR" sz="1400" b="1" dirty="0">
                <a:solidFill>
                  <a:srgbClr val="FF0000"/>
                </a:solidFill>
              </a:rPr>
              <a:t>Pods created by </a:t>
            </a:r>
            <a:r>
              <a:rPr lang="en-US" altLang="ko-KR" sz="1400" b="1" dirty="0" err="1">
                <a:solidFill>
                  <a:srgbClr val="FF0000"/>
                </a:solidFill>
              </a:rPr>
              <a:t>DaemonSets</a:t>
            </a:r>
            <a:r>
              <a:rPr lang="en-US" altLang="ko-KR" sz="1400" b="1" dirty="0">
                <a:solidFill>
                  <a:srgbClr val="FF0000"/>
                </a:solidFill>
              </a:rPr>
              <a:t> are ignored by the Kubernetes scheduler</a:t>
            </a:r>
            <a:r>
              <a:rPr lang="en-US" altLang="ko-KR" sz="1400" dirty="0"/>
              <a:t>.</a:t>
            </a:r>
          </a:p>
          <a:p>
            <a:pPr lvl="1">
              <a:buFont typeface="Wingdings" panose="05000000000000000000" pitchFamily="2" charset="2"/>
              <a:buChar char="§"/>
            </a:pPr>
            <a:r>
              <a:rPr lang="en-US" altLang="ko-KR" sz="1400" b="1" dirty="0"/>
              <a:t>Like </a:t>
            </a:r>
            <a:r>
              <a:rPr lang="en-US" altLang="ko-KR" sz="1400" b="1" dirty="0" err="1"/>
              <a:t>ReplicaSets</a:t>
            </a:r>
            <a:r>
              <a:rPr lang="en-US" altLang="ko-KR" sz="1400" b="1" dirty="0"/>
              <a:t>, </a:t>
            </a:r>
            <a:r>
              <a:rPr lang="en-US" altLang="ko-KR" sz="1400" b="1" dirty="0" err="1"/>
              <a:t>DaemonSets</a:t>
            </a:r>
            <a:r>
              <a:rPr lang="en-US" altLang="ko-KR" sz="1400" b="1" dirty="0"/>
              <a:t> are managed by a “reconciliation control loop” that measures the desired state (a Pod is present on all nodes) with the observed state (is the Pod present on a particular node?)</a:t>
            </a:r>
            <a:r>
              <a:rPr lang="en-US" altLang="ko-KR" sz="1400" dirty="0"/>
              <a:t>. Given this information, </a:t>
            </a:r>
            <a:r>
              <a:rPr lang="en-US" altLang="ko-KR" sz="1400" b="1" dirty="0"/>
              <a:t>the “</a:t>
            </a:r>
            <a:r>
              <a:rPr lang="en-US" altLang="ko-KR" sz="1400" b="1" dirty="0" err="1">
                <a:solidFill>
                  <a:srgbClr val="FF0000"/>
                </a:solidFill>
              </a:rPr>
              <a:t>DaemonSet</a:t>
            </a:r>
            <a:r>
              <a:rPr lang="en-US" altLang="ko-KR" sz="1400" b="1" dirty="0">
                <a:solidFill>
                  <a:srgbClr val="FF0000"/>
                </a:solidFill>
              </a:rPr>
              <a:t> controller</a:t>
            </a:r>
            <a:r>
              <a:rPr lang="en-US" altLang="ko-KR" sz="1400" b="1" dirty="0"/>
              <a:t>” </a:t>
            </a:r>
            <a:r>
              <a:rPr lang="en-US" altLang="ko-KR" sz="1400" b="1" dirty="0">
                <a:solidFill>
                  <a:srgbClr val="FF0000"/>
                </a:solidFill>
              </a:rPr>
              <a:t>creates a Pod on each node that doesn’t currently have a matching Pod</a:t>
            </a:r>
            <a:r>
              <a:rPr lang="en-US" altLang="ko-KR" sz="1400" dirty="0"/>
              <a:t>. </a:t>
            </a:r>
            <a:r>
              <a:rPr lang="en-US" altLang="ko-KR" sz="1400" b="1" dirty="0"/>
              <a:t>If a new node is added to the cluster, then the </a:t>
            </a:r>
            <a:r>
              <a:rPr lang="en-US" altLang="ko-KR" sz="1400" b="1" dirty="0" err="1"/>
              <a:t>DaemonSet</a:t>
            </a:r>
            <a:r>
              <a:rPr lang="en-US" altLang="ko-KR" sz="1400" b="1" dirty="0"/>
              <a:t> controller notices that it is missing a Pod and adds the Pod to the new node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BB198A2-51BC-4353-B02E-4EB06718CBD4}"/>
              </a:ext>
            </a:extLst>
          </p:cNvPr>
          <p:cNvPicPr>
            <a:picLocks noChangeAspect="1"/>
          </p:cNvPicPr>
          <p:nvPr/>
        </p:nvPicPr>
        <p:blipFill>
          <a:blip r:embed="rId2"/>
          <a:stretch>
            <a:fillRect/>
          </a:stretch>
        </p:blipFill>
        <p:spPr>
          <a:xfrm>
            <a:off x="4074650" y="3215302"/>
            <a:ext cx="4042699" cy="2914977"/>
          </a:xfrm>
          <a:prstGeom prst="rect">
            <a:avLst/>
          </a:prstGeom>
        </p:spPr>
      </p:pic>
    </p:spTree>
    <p:extLst>
      <p:ext uri="{BB962C8B-B14F-4D97-AF65-F5344CB8AC3E}">
        <p14:creationId xmlns:p14="http://schemas.microsoft.com/office/powerpoint/2010/main" val="2071805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DaemonSet</a:t>
            </a:r>
            <a:r>
              <a:rPr lang="en-US" altLang="ko-KR" sz="2800" b="1" dirty="0"/>
              <a:t> Scheduler(2/2)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Decoupling :</a:t>
            </a:r>
          </a:p>
          <a:p>
            <a:pPr lvl="1">
              <a:buFont typeface="Wingdings" panose="05000000000000000000" pitchFamily="2" charset="2"/>
              <a:buChar char="§"/>
            </a:pPr>
            <a:r>
              <a:rPr lang="en-US" altLang="ko-KR" sz="1400" b="1" dirty="0" err="1"/>
              <a:t>DaemonSets</a:t>
            </a:r>
            <a:r>
              <a:rPr lang="en-US" altLang="ko-KR" sz="1400" b="1" dirty="0"/>
              <a:t> and </a:t>
            </a:r>
            <a:r>
              <a:rPr lang="en-US" altLang="ko-KR" sz="1400" b="1" dirty="0" err="1"/>
              <a:t>ReplicaSets</a:t>
            </a:r>
            <a:r>
              <a:rPr lang="en-US" altLang="ko-KR" sz="1400" b="1" dirty="0"/>
              <a:t> are a great demonstration of the value of Kubernetes’s decoupled architecture</a:t>
            </a:r>
            <a:r>
              <a:rPr lang="en-US" altLang="ko-KR" sz="1400" dirty="0"/>
              <a:t>. It might seem that </a:t>
            </a:r>
            <a:r>
              <a:rPr lang="en-US" altLang="ko-KR" sz="1400" b="1" dirty="0"/>
              <a:t>the right design would be for a </a:t>
            </a:r>
            <a:r>
              <a:rPr lang="en-US" altLang="ko-KR" sz="1400" b="1" dirty="0" err="1"/>
              <a:t>ReplicaSet</a:t>
            </a:r>
            <a:r>
              <a:rPr lang="en-US" altLang="ko-KR" sz="1400" b="1" dirty="0"/>
              <a:t> to own the Pods it manages, and for Pods to be </a:t>
            </a:r>
            <a:r>
              <a:rPr lang="en-US" altLang="ko-KR" sz="1400" b="1" dirty="0" err="1"/>
              <a:t>subresources</a:t>
            </a:r>
            <a:r>
              <a:rPr lang="en-US" altLang="ko-KR" sz="1400" b="1" dirty="0"/>
              <a:t> of a </a:t>
            </a:r>
            <a:r>
              <a:rPr lang="en-US" altLang="ko-KR" sz="1400" b="1" dirty="0" err="1"/>
              <a:t>ReplicaSet</a:t>
            </a:r>
            <a:r>
              <a:rPr lang="en-US" altLang="ko-KR" sz="1400" dirty="0"/>
              <a:t>. </a:t>
            </a:r>
            <a:r>
              <a:rPr lang="en-US" altLang="ko-KR" sz="1400" b="1" dirty="0"/>
              <a:t>Likewise, </a:t>
            </a:r>
            <a:r>
              <a:rPr lang="en-US" altLang="ko-KR" sz="1400" b="1" dirty="0">
                <a:solidFill>
                  <a:srgbClr val="FF0000"/>
                </a:solidFill>
              </a:rPr>
              <a:t>the Pods managed by a </a:t>
            </a:r>
            <a:r>
              <a:rPr lang="en-US" altLang="ko-KR" sz="1400" b="1" dirty="0" err="1">
                <a:solidFill>
                  <a:srgbClr val="FF0000"/>
                </a:solidFill>
              </a:rPr>
              <a:t>DaemonSet</a:t>
            </a:r>
            <a:r>
              <a:rPr lang="en-US" altLang="ko-KR" sz="1400" b="1" dirty="0">
                <a:solidFill>
                  <a:srgbClr val="FF0000"/>
                </a:solidFill>
              </a:rPr>
              <a:t> would be </a:t>
            </a:r>
            <a:r>
              <a:rPr lang="en-US" altLang="ko-KR" sz="1400" b="1" dirty="0" err="1">
                <a:solidFill>
                  <a:srgbClr val="FF0000"/>
                </a:solidFill>
              </a:rPr>
              <a:t>subresources</a:t>
            </a:r>
            <a:r>
              <a:rPr lang="en-US" altLang="ko-KR" sz="1400" b="1" dirty="0">
                <a:solidFill>
                  <a:srgbClr val="FF0000"/>
                </a:solidFill>
              </a:rPr>
              <a:t> of that </a:t>
            </a:r>
            <a:r>
              <a:rPr lang="en-US" altLang="ko-KR" sz="1400" b="1" dirty="0" err="1">
                <a:solidFill>
                  <a:srgbClr val="FF0000"/>
                </a:solidFill>
              </a:rPr>
              <a:t>DaemonSet</a:t>
            </a:r>
            <a:r>
              <a:rPr lang="en-US" altLang="ko-KR" sz="1400" dirty="0"/>
              <a:t>. However, this kind of encapsulation would require that tools for dealing with Pods be written two different times, once for </a:t>
            </a:r>
            <a:r>
              <a:rPr lang="en-US" altLang="ko-KR" sz="1400" b="1" dirty="0" err="1"/>
              <a:t>DaemonSets</a:t>
            </a:r>
            <a:r>
              <a:rPr lang="en-US" altLang="ko-KR" sz="1400" dirty="0"/>
              <a:t> and once for </a:t>
            </a:r>
            <a:r>
              <a:rPr lang="en-US" altLang="ko-KR" sz="1400" b="1" dirty="0" err="1"/>
              <a:t>ReplicaSets</a:t>
            </a:r>
            <a:r>
              <a:rPr lang="en-US" altLang="ko-KR" sz="1400" dirty="0"/>
              <a:t>. </a:t>
            </a:r>
            <a:r>
              <a:rPr lang="en-US" altLang="ko-KR" sz="1400" b="1" dirty="0"/>
              <a:t>Instead, Kubernetes uses a decoupled approach where </a:t>
            </a:r>
            <a:r>
              <a:rPr lang="en-US" altLang="ko-KR" sz="1400" b="1" dirty="0">
                <a:solidFill>
                  <a:srgbClr val="FF0000"/>
                </a:solidFill>
              </a:rPr>
              <a:t>Pods are top-level objects</a:t>
            </a:r>
            <a:r>
              <a:rPr lang="en-US" altLang="ko-KR" sz="1400" dirty="0"/>
              <a:t>. This means that </a:t>
            </a:r>
            <a:r>
              <a:rPr lang="en-US" altLang="ko-KR" sz="1400" b="1" dirty="0"/>
              <a:t>every tool you have learned for introspecting Pods in the context of </a:t>
            </a:r>
            <a:r>
              <a:rPr lang="en-US" altLang="ko-KR" sz="1400" b="1" dirty="0" err="1"/>
              <a:t>ReplicaSets</a:t>
            </a:r>
            <a:r>
              <a:rPr lang="en-US" altLang="ko-KR" sz="1400" b="1" dirty="0"/>
              <a:t> (e.g., “</a:t>
            </a:r>
            <a:r>
              <a:rPr lang="en-US" altLang="ko-KR" sz="1400" b="1" dirty="0" err="1"/>
              <a:t>kubectl</a:t>
            </a:r>
            <a:r>
              <a:rPr lang="en-US" altLang="ko-KR" sz="1400" b="1" dirty="0"/>
              <a:t> logs &lt;pod-name&gt;”) is equally applicable to Pods created by </a:t>
            </a:r>
            <a:r>
              <a:rPr lang="en-US" altLang="ko-KR" sz="1400" b="1" dirty="0" err="1"/>
              <a:t>DaemonSets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6BBD4EC5-94D2-404C-A8D2-D3EAD2F266F1}"/>
              </a:ext>
            </a:extLst>
          </p:cNvPr>
          <p:cNvPicPr>
            <a:picLocks noChangeAspect="1"/>
          </p:cNvPicPr>
          <p:nvPr/>
        </p:nvPicPr>
        <p:blipFill>
          <a:blip r:embed="rId2"/>
          <a:stretch>
            <a:fillRect/>
          </a:stretch>
        </p:blipFill>
        <p:spPr>
          <a:xfrm>
            <a:off x="2691213" y="2877788"/>
            <a:ext cx="6809574" cy="3205806"/>
          </a:xfrm>
          <a:prstGeom prst="rect">
            <a:avLst/>
          </a:prstGeom>
        </p:spPr>
      </p:pic>
      <p:sp>
        <p:nvSpPr>
          <p:cNvPr id="4" name="직사각형 3">
            <a:extLst>
              <a:ext uri="{FF2B5EF4-FFF2-40B4-BE49-F238E27FC236}">
                <a16:creationId xmlns:a16="http://schemas.microsoft.com/office/drawing/2014/main" id="{3369081D-E19C-C612-25EF-0DBBABB6C3DF}"/>
              </a:ext>
            </a:extLst>
          </p:cNvPr>
          <p:cNvSpPr/>
          <p:nvPr/>
        </p:nvSpPr>
        <p:spPr>
          <a:xfrm>
            <a:off x="4422843" y="4072647"/>
            <a:ext cx="3793787" cy="167315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425522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a:t>
            </a:r>
            <a:r>
              <a:rPr lang="en-US" altLang="ko-KR" sz="2800" b="1" dirty="0" err="1"/>
              <a:t>DaemonSets</a:t>
            </a:r>
            <a:r>
              <a:rPr lang="en-US" altLang="ko-KR" sz="2800" b="1" dirty="0"/>
              <a:t>(1/4)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DaemonSet</a:t>
            </a:r>
            <a:r>
              <a:rPr lang="en-US" altLang="ko-KR" sz="1800" b="1" dirty="0"/>
              <a:t> Configuration :</a:t>
            </a:r>
          </a:p>
          <a:p>
            <a:pPr lvl="1">
              <a:buFont typeface="Wingdings" panose="05000000000000000000" pitchFamily="2" charset="2"/>
              <a:buChar char="§"/>
            </a:pPr>
            <a:r>
              <a:rPr lang="en-US" altLang="ko-KR" sz="1400" b="1" dirty="0" err="1"/>
              <a:t>DaemonSets</a:t>
            </a:r>
            <a:r>
              <a:rPr lang="en-US" altLang="ko-KR" sz="1400" b="1" dirty="0"/>
              <a:t> are created by submitting a “</a:t>
            </a:r>
            <a:r>
              <a:rPr lang="en-US" altLang="ko-KR" sz="1400" b="1" dirty="0" err="1">
                <a:solidFill>
                  <a:srgbClr val="FF0000"/>
                </a:solidFill>
              </a:rPr>
              <a:t>DaemonSet</a:t>
            </a:r>
            <a:r>
              <a:rPr lang="en-US" altLang="ko-KR" sz="1400" b="1" dirty="0">
                <a:solidFill>
                  <a:srgbClr val="FF0000"/>
                </a:solidFill>
              </a:rPr>
              <a:t> configuration</a:t>
            </a:r>
            <a:r>
              <a:rPr lang="en-US" altLang="ko-KR" sz="1400" b="1" dirty="0"/>
              <a:t>” to the Kubernetes API server</a:t>
            </a:r>
            <a:r>
              <a:rPr lang="en-US" altLang="ko-KR" sz="1400" dirty="0"/>
              <a:t>. The following  </a:t>
            </a:r>
            <a:r>
              <a:rPr lang="en-US" altLang="ko-KR" sz="1400" b="1" dirty="0" err="1"/>
              <a:t>DaemonSet</a:t>
            </a:r>
            <a:r>
              <a:rPr lang="en-US" altLang="ko-KR" sz="1400" dirty="0"/>
              <a:t> will create a “</a:t>
            </a:r>
            <a:r>
              <a:rPr lang="en-US" altLang="ko-KR" sz="1400" b="1" dirty="0" err="1"/>
              <a:t>fluentd</a:t>
            </a:r>
            <a:r>
              <a:rPr lang="en-US" altLang="ko-KR" sz="1400" b="1" dirty="0"/>
              <a:t> logging agent</a:t>
            </a:r>
            <a:r>
              <a:rPr lang="en-US" altLang="ko-KR" sz="1400" dirty="0"/>
              <a:t>” on every node in the target cluster.</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a:t>
            </a:r>
            <a:r>
              <a:rPr lang="ko-KR" altLang="en-US" sz="1400" b="1" dirty="0"/>
              <a:t> </a:t>
            </a:r>
            <a:r>
              <a:rPr lang="en-US" altLang="ko-KR" sz="1400" b="1" dirty="0"/>
              <a:t>:</a:t>
            </a:r>
            <a:r>
              <a:rPr lang="ko-KR" altLang="en-US" sz="1400" b="1" dirty="0"/>
              <a:t> </a:t>
            </a:r>
            <a:r>
              <a:rPr lang="en-US" altLang="ko-KR" sz="1400" b="1" dirty="0" err="1">
                <a:solidFill>
                  <a:srgbClr val="FF0000"/>
                </a:solidFill>
              </a:rPr>
              <a:t>DaemonSets</a:t>
            </a:r>
            <a:r>
              <a:rPr lang="en-US" altLang="ko-KR" sz="1400" b="1" dirty="0">
                <a:solidFill>
                  <a:srgbClr val="FF0000"/>
                </a:solidFill>
              </a:rPr>
              <a:t> require a “unique name” across all </a:t>
            </a:r>
            <a:r>
              <a:rPr lang="en-US" altLang="ko-KR" sz="1400" b="1" dirty="0" err="1">
                <a:solidFill>
                  <a:srgbClr val="FF0000"/>
                </a:solidFill>
              </a:rPr>
              <a:t>DaemonSets</a:t>
            </a:r>
            <a:r>
              <a:rPr lang="en-US" altLang="ko-KR" sz="1400" b="1" dirty="0">
                <a:solidFill>
                  <a:srgbClr val="FF0000"/>
                </a:solidFill>
              </a:rPr>
              <a:t> in a given Kubernetes namespace</a:t>
            </a:r>
            <a:r>
              <a:rPr lang="en-US" altLang="ko-KR" sz="1400" dirty="0"/>
              <a:t>. </a:t>
            </a:r>
            <a:r>
              <a:rPr lang="en-US" altLang="ko-KR" sz="1400" b="1" dirty="0"/>
              <a:t>Each </a:t>
            </a:r>
            <a:r>
              <a:rPr lang="en-US" altLang="ko-KR" sz="1400" b="1" dirty="0" err="1"/>
              <a:t>DaemonSet</a:t>
            </a:r>
            <a:r>
              <a:rPr lang="en-US" altLang="ko-KR" sz="1400" b="1" dirty="0"/>
              <a:t> must include a “</a:t>
            </a:r>
            <a:r>
              <a:rPr lang="en-US" altLang="ko-KR" sz="1400" b="1" dirty="0">
                <a:solidFill>
                  <a:srgbClr val="FF0000"/>
                </a:solidFill>
              </a:rPr>
              <a:t>Pod template spec</a:t>
            </a:r>
            <a:r>
              <a:rPr lang="en-US" altLang="ko-KR" sz="1400" b="1" dirty="0"/>
              <a:t>”</a:t>
            </a:r>
            <a:r>
              <a:rPr lang="en-US" altLang="ko-KR" sz="1400" dirty="0"/>
              <a:t>, </a:t>
            </a:r>
            <a:r>
              <a:rPr lang="en-US" altLang="ko-KR" sz="1400" b="1" dirty="0"/>
              <a:t>which will be used to create Pods as needed</a:t>
            </a:r>
            <a:r>
              <a:rPr lang="en-US" altLang="ko-KR" sz="1400" dirty="0"/>
              <a:t>. This is where the similarities between </a:t>
            </a:r>
            <a:r>
              <a:rPr lang="en-US" altLang="ko-KR" sz="1400" b="1" dirty="0" err="1"/>
              <a:t>ReplicaSets</a:t>
            </a:r>
            <a:r>
              <a:rPr lang="en-US" altLang="ko-KR" sz="1400" dirty="0"/>
              <a:t> and </a:t>
            </a:r>
            <a:r>
              <a:rPr lang="en-US" altLang="ko-KR" sz="1400" b="1" dirty="0" err="1"/>
              <a:t>DaemonSets</a:t>
            </a:r>
            <a:r>
              <a:rPr lang="en-US" altLang="ko-KR" sz="1400" dirty="0"/>
              <a:t> end. </a:t>
            </a:r>
            <a:r>
              <a:rPr lang="en-US" altLang="ko-KR" sz="1400" b="1" dirty="0"/>
              <a:t>Unlike </a:t>
            </a:r>
            <a:r>
              <a:rPr lang="en-US" altLang="ko-KR" sz="1400" b="1" dirty="0" err="1"/>
              <a:t>ReplicaSets</a:t>
            </a:r>
            <a:r>
              <a:rPr lang="en-US" altLang="ko-KR" sz="1400" b="1" dirty="0"/>
              <a:t>, </a:t>
            </a:r>
            <a:r>
              <a:rPr lang="en-US" altLang="ko-KR" sz="1400" b="1" dirty="0" err="1"/>
              <a:t>DaemonSets</a:t>
            </a:r>
            <a:r>
              <a:rPr lang="en-US" altLang="ko-KR" sz="1400" b="1" dirty="0"/>
              <a:t> will create Pods on every node in the cluster by default unless a “node selector” is used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3BD30F06-8F4A-483D-BED2-113BC86FC157}"/>
              </a:ext>
            </a:extLst>
          </p:cNvPr>
          <p:cNvGrpSpPr/>
          <p:nvPr/>
        </p:nvGrpSpPr>
        <p:grpSpPr>
          <a:xfrm>
            <a:off x="2507311" y="1843950"/>
            <a:ext cx="7373510" cy="3416320"/>
            <a:chOff x="2507311" y="1843950"/>
            <a:chExt cx="7373510" cy="3416320"/>
          </a:xfrm>
        </p:grpSpPr>
        <p:grpSp>
          <p:nvGrpSpPr>
            <p:cNvPr id="10" name="그룹 9">
              <a:extLst>
                <a:ext uri="{FF2B5EF4-FFF2-40B4-BE49-F238E27FC236}">
                  <a16:creationId xmlns:a16="http://schemas.microsoft.com/office/drawing/2014/main" id="{BA0885B4-E89F-4712-A545-630F72A2ABEC}"/>
                </a:ext>
              </a:extLst>
            </p:cNvPr>
            <p:cNvGrpSpPr/>
            <p:nvPr/>
          </p:nvGrpSpPr>
          <p:grpSpPr>
            <a:xfrm>
              <a:off x="2507311" y="1843950"/>
              <a:ext cx="7373510" cy="3170099"/>
              <a:chOff x="2507311" y="1843950"/>
              <a:chExt cx="7373510" cy="3170099"/>
            </a:xfrm>
          </p:grpSpPr>
          <p:sp>
            <p:nvSpPr>
              <p:cNvPr id="8" name="직사각형 7">
                <a:extLst>
                  <a:ext uri="{FF2B5EF4-FFF2-40B4-BE49-F238E27FC236}">
                    <a16:creationId xmlns:a16="http://schemas.microsoft.com/office/drawing/2014/main" id="{41608360-1AEA-441C-B812-1884A2D3B6D8}"/>
                  </a:ext>
                </a:extLst>
              </p:cNvPr>
              <p:cNvSpPr/>
              <p:nvPr/>
            </p:nvSpPr>
            <p:spPr>
              <a:xfrm>
                <a:off x="2507311" y="1843950"/>
                <a:ext cx="3686755" cy="3170099"/>
              </a:xfrm>
              <a:prstGeom prst="rect">
                <a:avLst/>
              </a:prstGeom>
              <a:ln>
                <a:solidFill>
                  <a:schemeClr val="bg1">
                    <a:lumMod val="50000"/>
                  </a:schemeClr>
                </a:solidFill>
              </a:ln>
            </p:spPr>
            <p:txBody>
              <a:bodyPr wrap="square">
                <a:spAutoFit/>
              </a:bodyPr>
              <a:lstStyle/>
              <a:p>
                <a:r>
                  <a:rPr lang="en-US" altLang="ko-KR" sz="1000" b="1" dirty="0" err="1"/>
                  <a:t>apiVersion</a:t>
                </a:r>
                <a:r>
                  <a:rPr lang="en-US" altLang="ko-KR" sz="1000" b="1" dirty="0"/>
                  <a:t>: apps/v1</a:t>
                </a:r>
              </a:p>
              <a:p>
                <a:r>
                  <a:rPr lang="en-US" altLang="ko-KR" sz="1000" b="1" dirty="0"/>
                  <a:t>kind: </a:t>
                </a:r>
                <a:r>
                  <a:rPr lang="en-US" altLang="ko-KR" sz="1000" b="1" dirty="0" err="1">
                    <a:solidFill>
                      <a:srgbClr val="FF0000"/>
                    </a:solidFill>
                  </a:rPr>
                  <a:t>DaemonSet</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err="1"/>
                  <a:t>fluentd</a:t>
                </a:r>
                <a:endParaRPr lang="en-US" altLang="ko-KR" sz="1000" b="1" dirty="0"/>
              </a:p>
              <a:p>
                <a:r>
                  <a:rPr lang="en-US" altLang="ko-KR" sz="1000" b="1" dirty="0">
                    <a:solidFill>
                      <a:srgbClr val="FF0000"/>
                    </a:solidFill>
                  </a:rPr>
                  <a:t>#  namespace: </a:t>
                </a:r>
                <a:r>
                  <a:rPr lang="en-US" altLang="ko-KR" sz="1000" b="1" dirty="0" err="1">
                    <a:solidFill>
                      <a:srgbClr val="FF0000"/>
                    </a:solidFill>
                  </a:rPr>
                  <a:t>kube</a:t>
                </a:r>
                <a:r>
                  <a:rPr lang="en-US" altLang="ko-KR" sz="1000" b="1" dirty="0">
                    <a:solidFill>
                      <a:srgbClr val="FF0000"/>
                    </a:solidFill>
                  </a:rPr>
                  <a:t>-system</a:t>
                </a:r>
              </a:p>
              <a:p>
                <a:r>
                  <a:rPr lang="en-US" altLang="ko-KR" sz="1000" b="1" dirty="0"/>
                  <a:t>  labels:</a:t>
                </a:r>
              </a:p>
              <a:p>
                <a:r>
                  <a:rPr lang="en-US" altLang="ko-KR" sz="1000" b="1" dirty="0"/>
                  <a:t>    k8s-app: </a:t>
                </a:r>
                <a:r>
                  <a:rPr lang="en-US" altLang="ko-KR" sz="1000" b="1" dirty="0" err="1">
                    <a:solidFill>
                      <a:srgbClr val="FF0000"/>
                    </a:solidFill>
                  </a:rPr>
                  <a:t>fluentd</a:t>
                </a:r>
                <a:r>
                  <a:rPr lang="en-US" altLang="ko-KR" sz="1000" b="1" dirty="0">
                    <a:solidFill>
                      <a:srgbClr val="FF0000"/>
                    </a:solidFill>
                  </a:rPr>
                  <a:t>-logging</a:t>
                </a:r>
              </a:p>
              <a:p>
                <a:r>
                  <a:rPr lang="en-US" altLang="ko-KR" sz="1000" b="1" dirty="0"/>
                  <a:t>spec:</a:t>
                </a:r>
              </a:p>
              <a:p>
                <a:r>
                  <a:rPr lang="en-US" altLang="ko-KR" sz="1000" b="1" dirty="0">
                    <a:solidFill>
                      <a:srgbClr val="FF0000"/>
                    </a:solidFill>
                  </a:rPr>
                  <a:t>  selector:</a:t>
                </a:r>
              </a:p>
              <a:p>
                <a:r>
                  <a:rPr lang="en-US" altLang="ko-KR" sz="1000" b="1" dirty="0">
                    <a:solidFill>
                      <a:srgbClr val="FF0000"/>
                    </a:solidFill>
                  </a:rPr>
                  <a:t>    </a:t>
                </a:r>
                <a:r>
                  <a:rPr lang="en-US" altLang="ko-KR" sz="1000" b="1" dirty="0" err="1">
                    <a:solidFill>
                      <a:srgbClr val="FF0000"/>
                    </a:solidFill>
                  </a:rPr>
                  <a:t>matchLabels</a:t>
                </a:r>
                <a:r>
                  <a:rPr lang="en-US" altLang="ko-KR" sz="1000" b="1" dirty="0">
                    <a:solidFill>
                      <a:srgbClr val="FF0000"/>
                    </a:solidFill>
                  </a:rPr>
                  <a:t>:</a:t>
                </a:r>
              </a:p>
              <a:p>
                <a:r>
                  <a:rPr lang="en-US" altLang="ko-KR" sz="1000" b="1" dirty="0">
                    <a:solidFill>
                      <a:srgbClr val="FF0000"/>
                    </a:solidFill>
                  </a:rPr>
                  <a:t>      name: </a:t>
                </a:r>
                <a:r>
                  <a:rPr lang="en-US" altLang="ko-KR" sz="1000" b="1" dirty="0" err="1">
                    <a:solidFill>
                      <a:srgbClr val="FF0000"/>
                    </a:solidFill>
                  </a:rPr>
                  <a:t>fluentd</a:t>
                </a:r>
                <a:endParaRPr lang="en-US" altLang="ko-KR" sz="1000" b="1" dirty="0">
                  <a:solidFill>
                    <a:srgbClr val="FF0000"/>
                  </a:solidFill>
                </a:endParaRPr>
              </a:p>
              <a:p>
                <a:r>
                  <a:rPr lang="en-US" altLang="ko-KR" sz="1000" b="1" dirty="0"/>
                  <a:t>  template:</a:t>
                </a:r>
              </a:p>
              <a:p>
                <a:r>
                  <a:rPr lang="en-US" altLang="ko-KR" sz="1000" b="1" dirty="0"/>
                  <a:t>    metadata:</a:t>
                </a:r>
              </a:p>
              <a:p>
                <a:r>
                  <a:rPr lang="en-US" altLang="ko-KR" sz="1000" b="1" dirty="0"/>
                  <a:t>      labels:</a:t>
                </a:r>
              </a:p>
              <a:p>
                <a:r>
                  <a:rPr lang="en-US" altLang="ko-KR" sz="1000" b="1" dirty="0"/>
                  <a:t>        name: </a:t>
                </a:r>
                <a:r>
                  <a:rPr lang="en-US" altLang="ko-KR" sz="1000" b="1" dirty="0" err="1"/>
                  <a:t>fluentd</a:t>
                </a:r>
                <a:endParaRPr lang="en-US" altLang="ko-KR" sz="1000" b="1" dirty="0"/>
              </a:p>
              <a:p>
                <a:r>
                  <a:rPr lang="en-US" altLang="ko-KR" sz="1000" b="1" dirty="0"/>
                  <a:t>    spec:</a:t>
                </a:r>
              </a:p>
              <a:p>
                <a:r>
                  <a:rPr lang="en-US" altLang="ko-KR" sz="1000" b="1" dirty="0"/>
                  <a:t>      containers:</a:t>
                </a:r>
              </a:p>
              <a:p>
                <a:r>
                  <a:rPr lang="en-US" altLang="ko-KR" sz="1000" b="1" dirty="0"/>
                  <a:t>      - name: </a:t>
                </a:r>
                <a:r>
                  <a:rPr lang="en-US" altLang="ko-KR" sz="1000" b="1" dirty="0" err="1"/>
                  <a:t>fluentd</a:t>
                </a:r>
                <a:endParaRPr lang="en-US" altLang="ko-KR" sz="1000" b="1" dirty="0"/>
              </a:p>
              <a:p>
                <a:r>
                  <a:rPr lang="en-US" altLang="ko-KR" sz="1000" b="1" dirty="0"/>
                  <a:t>        image: </a:t>
                </a:r>
                <a:r>
                  <a:rPr lang="en-US" altLang="ko-KR" sz="1000" b="1" dirty="0">
                    <a:solidFill>
                      <a:srgbClr val="FF0000"/>
                    </a:solidFill>
                  </a:rPr>
                  <a:t>fluent/</a:t>
                </a:r>
                <a:r>
                  <a:rPr lang="en-US" altLang="ko-KR" sz="1000" b="1" dirty="0" err="1">
                    <a:solidFill>
                      <a:srgbClr val="FF0000"/>
                    </a:solidFill>
                  </a:rPr>
                  <a:t>fluentd</a:t>
                </a:r>
                <a:endParaRPr lang="en-US" altLang="ko-KR" sz="1000" b="1" dirty="0">
                  <a:solidFill>
                    <a:srgbClr val="FF0000"/>
                  </a:solidFill>
                </a:endParaRPr>
              </a:p>
              <a:p>
                <a:endParaRPr lang="en-US" altLang="ko-KR" sz="1000" b="1" dirty="0"/>
              </a:p>
            </p:txBody>
          </p:sp>
          <p:sp>
            <p:nvSpPr>
              <p:cNvPr id="9" name="직사각형 8">
                <a:extLst>
                  <a:ext uri="{FF2B5EF4-FFF2-40B4-BE49-F238E27FC236}">
                    <a16:creationId xmlns:a16="http://schemas.microsoft.com/office/drawing/2014/main" id="{CF434329-2A1E-4EF9-8F4D-3FC68F938521}"/>
                  </a:ext>
                </a:extLst>
              </p:cNvPr>
              <p:cNvSpPr/>
              <p:nvPr/>
            </p:nvSpPr>
            <p:spPr>
              <a:xfrm>
                <a:off x="6194066" y="1843950"/>
                <a:ext cx="3686755" cy="3170099"/>
              </a:xfrm>
              <a:prstGeom prst="rect">
                <a:avLst/>
              </a:prstGeom>
              <a:ln>
                <a:solidFill>
                  <a:schemeClr val="bg1">
                    <a:lumMod val="50000"/>
                  </a:schemeClr>
                </a:solidFill>
              </a:ln>
            </p:spPr>
            <p:txBody>
              <a:bodyPr wrap="square">
                <a:spAutoFit/>
              </a:bodyPr>
              <a:lstStyle/>
              <a:p>
                <a:pPr lvl="0"/>
                <a:r>
                  <a:rPr lang="en-US" altLang="ko-KR" sz="1000" b="1" dirty="0">
                    <a:solidFill>
                      <a:prstClr val="black"/>
                    </a:solidFill>
                  </a:rPr>
                  <a:t>        resources:</a:t>
                </a:r>
              </a:p>
              <a:p>
                <a:pPr lvl="0"/>
                <a:r>
                  <a:rPr lang="en-US" altLang="ko-KR" sz="1000" b="1" dirty="0">
                    <a:solidFill>
                      <a:prstClr val="black"/>
                    </a:solidFill>
                  </a:rPr>
                  <a:t>          limits:</a:t>
                </a:r>
              </a:p>
              <a:p>
                <a:pPr lvl="0"/>
                <a:r>
                  <a:rPr lang="en-US" altLang="ko-KR" sz="1000" b="1" dirty="0">
                    <a:solidFill>
                      <a:prstClr val="black"/>
                    </a:solidFill>
                  </a:rPr>
                  <a:t>            memory: 200Mi</a:t>
                </a:r>
              </a:p>
              <a:p>
                <a:pPr lvl="0"/>
                <a:r>
                  <a:rPr lang="en-US" altLang="ko-KR" sz="1000" b="1" dirty="0">
                    <a:solidFill>
                      <a:prstClr val="black"/>
                    </a:solidFill>
                  </a:rPr>
                  <a:t>          requests:</a:t>
                </a:r>
              </a:p>
              <a:p>
                <a:pPr lvl="0"/>
                <a:r>
                  <a:rPr lang="en-US" altLang="ko-KR" sz="1000" b="1" dirty="0">
                    <a:solidFill>
                      <a:prstClr val="black"/>
                    </a:solidFill>
                  </a:rPr>
                  <a:t>            </a:t>
                </a:r>
                <a:r>
                  <a:rPr lang="en-US" altLang="ko-KR" sz="1000" b="1" dirty="0" err="1">
                    <a:solidFill>
                      <a:prstClr val="black"/>
                    </a:solidFill>
                  </a:rPr>
                  <a:t>cpu</a:t>
                </a:r>
                <a:r>
                  <a:rPr lang="en-US" altLang="ko-KR" sz="1000" b="1" dirty="0">
                    <a:solidFill>
                      <a:prstClr val="black"/>
                    </a:solidFill>
                  </a:rPr>
                  <a:t>: 100m</a:t>
                </a:r>
              </a:p>
              <a:p>
                <a:pPr lvl="0"/>
                <a:r>
                  <a:rPr lang="en-US" altLang="ko-KR" sz="1000" b="1" dirty="0">
                    <a:solidFill>
                      <a:prstClr val="black"/>
                    </a:solidFill>
                  </a:rPr>
                  <a:t>            memory: 200Mi</a:t>
                </a:r>
              </a:p>
              <a:p>
                <a:pPr lvl="0"/>
                <a:r>
                  <a:rPr lang="en-US" altLang="ko-KR" sz="1000" b="1" dirty="0">
                    <a:solidFill>
                      <a:prstClr val="black"/>
                    </a:solidFill>
                  </a:rPr>
                  <a:t>        </a:t>
                </a:r>
                <a:r>
                  <a:rPr lang="en-US" altLang="ko-KR" sz="1000" b="1" dirty="0" err="1">
                    <a:solidFill>
                      <a:prstClr val="black"/>
                    </a:solidFill>
                  </a:rPr>
                  <a:t>volumeMounts</a:t>
                </a:r>
                <a:r>
                  <a:rPr lang="en-US" altLang="ko-KR" sz="1000" b="1" dirty="0">
                    <a:solidFill>
                      <a:prstClr val="black"/>
                    </a:solidFill>
                  </a:rPr>
                  <a:t>:</a:t>
                </a:r>
              </a:p>
              <a:p>
                <a:pPr lvl="0"/>
                <a:r>
                  <a:rPr lang="en-US" altLang="ko-KR" sz="1000" b="1" dirty="0">
                    <a:solidFill>
                      <a:prstClr val="black"/>
                    </a:solidFill>
                  </a:rPr>
                  <a:t>        - name: </a:t>
                </a:r>
                <a:r>
                  <a:rPr lang="en-US" altLang="ko-KR" sz="1000" b="1" dirty="0" err="1">
                    <a:solidFill>
                      <a:prstClr val="black"/>
                    </a:solidFill>
                  </a:rPr>
                  <a:t>varlog</a:t>
                </a:r>
                <a:endParaRPr lang="en-US" altLang="ko-KR" sz="1000" b="1" dirty="0">
                  <a:solidFill>
                    <a:prstClr val="black"/>
                  </a:solidFill>
                </a:endParaRPr>
              </a:p>
              <a:p>
                <a:pPr lvl="0"/>
                <a:r>
                  <a:rPr lang="en-US" altLang="ko-KR" sz="1000" b="1" dirty="0">
                    <a:solidFill>
                      <a:prstClr val="black"/>
                    </a:solidFill>
                  </a:rPr>
                  <a:t>          </a:t>
                </a:r>
                <a:r>
                  <a:rPr lang="en-US" altLang="ko-KR" sz="1000" b="1" dirty="0" err="1">
                    <a:solidFill>
                      <a:prstClr val="black"/>
                    </a:solidFill>
                  </a:rPr>
                  <a:t>mountPath</a:t>
                </a:r>
                <a:r>
                  <a:rPr lang="en-US" altLang="ko-KR" sz="1000" b="1" dirty="0">
                    <a:solidFill>
                      <a:prstClr val="black"/>
                    </a:solidFill>
                  </a:rPr>
                  <a:t>: /var/log</a:t>
                </a:r>
              </a:p>
              <a:p>
                <a:pPr lvl="0"/>
                <a:r>
                  <a:rPr lang="en-US" altLang="ko-KR" sz="1000" b="1" dirty="0">
                    <a:solidFill>
                      <a:prstClr val="black"/>
                    </a:solidFill>
                  </a:rPr>
                  <a:t>        - name: </a:t>
                </a:r>
                <a:r>
                  <a:rPr lang="en-US" altLang="ko-KR" sz="1000" b="1" dirty="0" err="1">
                    <a:solidFill>
                      <a:prstClr val="black"/>
                    </a:solidFill>
                  </a:rPr>
                  <a:t>varlibdockercontainers</a:t>
                </a:r>
                <a:endParaRPr lang="en-US" altLang="ko-KR" sz="1000" b="1" dirty="0">
                  <a:solidFill>
                    <a:prstClr val="black"/>
                  </a:solidFill>
                </a:endParaRPr>
              </a:p>
              <a:p>
                <a:pPr lvl="0"/>
                <a:r>
                  <a:rPr lang="en-US" altLang="ko-KR" sz="1000" b="1" dirty="0">
                    <a:solidFill>
                      <a:prstClr val="black"/>
                    </a:solidFill>
                  </a:rPr>
                  <a:t>          </a:t>
                </a:r>
                <a:r>
                  <a:rPr lang="en-US" altLang="ko-KR" sz="1000" b="1" dirty="0" err="1">
                    <a:solidFill>
                      <a:prstClr val="black"/>
                    </a:solidFill>
                  </a:rPr>
                  <a:t>mountPath</a:t>
                </a:r>
                <a:r>
                  <a:rPr lang="en-US" altLang="ko-KR" sz="1000" b="1" dirty="0">
                    <a:solidFill>
                      <a:prstClr val="black"/>
                    </a:solidFill>
                  </a:rPr>
                  <a:t>: /var/lib/docker/containers</a:t>
                </a:r>
              </a:p>
              <a:p>
                <a:pPr lvl="0"/>
                <a:r>
                  <a:rPr lang="en-US" altLang="ko-KR" sz="1000" b="1" dirty="0">
                    <a:solidFill>
                      <a:prstClr val="black"/>
                    </a:solidFill>
                  </a:rPr>
                  <a:t>          </a:t>
                </a:r>
                <a:r>
                  <a:rPr lang="en-US" altLang="ko-KR" sz="1000" b="1" dirty="0" err="1">
                    <a:solidFill>
                      <a:prstClr val="black"/>
                    </a:solidFill>
                  </a:rPr>
                  <a:t>readOnly</a:t>
                </a:r>
                <a:r>
                  <a:rPr lang="en-US" altLang="ko-KR" sz="1000" b="1" dirty="0">
                    <a:solidFill>
                      <a:prstClr val="black"/>
                    </a:solidFill>
                  </a:rPr>
                  <a:t>: true</a:t>
                </a:r>
              </a:p>
              <a:p>
                <a:pPr lvl="0"/>
                <a:r>
                  <a:rPr lang="en-US" altLang="ko-KR" sz="1000" b="1" dirty="0">
                    <a:solidFill>
                      <a:prstClr val="black"/>
                    </a:solidFill>
                  </a:rPr>
                  <a:t>      </a:t>
                </a:r>
                <a:r>
                  <a:rPr lang="en-US" altLang="ko-KR" sz="1000" b="1" dirty="0" err="1">
                    <a:solidFill>
                      <a:prstClr val="black"/>
                    </a:solidFill>
                  </a:rPr>
                  <a:t>terminationGracePeriodSeconds</a:t>
                </a:r>
                <a:r>
                  <a:rPr lang="en-US" altLang="ko-KR" sz="1000" b="1" dirty="0">
                    <a:solidFill>
                      <a:prstClr val="black"/>
                    </a:solidFill>
                  </a:rPr>
                  <a:t>: 30</a:t>
                </a:r>
              </a:p>
              <a:p>
                <a:pPr lvl="0"/>
                <a:r>
                  <a:rPr lang="en-US" altLang="ko-KR" sz="1000" b="1" dirty="0">
                    <a:solidFill>
                      <a:prstClr val="black"/>
                    </a:solidFill>
                  </a:rPr>
                  <a:t>      volumes:</a:t>
                </a:r>
              </a:p>
              <a:p>
                <a:pPr lvl="0"/>
                <a:r>
                  <a:rPr lang="en-US" altLang="ko-KR" sz="1000" b="1" dirty="0">
                    <a:solidFill>
                      <a:prstClr val="black"/>
                    </a:solidFill>
                  </a:rPr>
                  <a:t>      - name: </a:t>
                </a:r>
                <a:r>
                  <a:rPr lang="en-US" altLang="ko-KR" sz="1000" b="1" dirty="0" err="1">
                    <a:solidFill>
                      <a:prstClr val="black"/>
                    </a:solidFill>
                  </a:rPr>
                  <a:t>varlog</a:t>
                </a:r>
                <a:endParaRPr lang="en-US" altLang="ko-KR" sz="1000" b="1" dirty="0">
                  <a:solidFill>
                    <a:prstClr val="black"/>
                  </a:solidFill>
                </a:endParaRPr>
              </a:p>
              <a:p>
                <a:pPr lvl="0"/>
                <a:r>
                  <a:rPr lang="en-US" altLang="ko-KR" sz="1000" b="1" dirty="0">
                    <a:solidFill>
                      <a:prstClr val="black"/>
                    </a:solidFill>
                  </a:rPr>
                  <a:t>        </a:t>
                </a:r>
                <a:r>
                  <a:rPr lang="en-US" altLang="ko-KR" sz="1000" b="1" dirty="0" err="1">
                    <a:solidFill>
                      <a:prstClr val="black"/>
                    </a:solidFill>
                  </a:rPr>
                  <a:t>hostPath</a:t>
                </a:r>
                <a:r>
                  <a:rPr lang="en-US" altLang="ko-KR" sz="1000" b="1" dirty="0">
                    <a:solidFill>
                      <a:prstClr val="black"/>
                    </a:solidFill>
                  </a:rPr>
                  <a:t>:</a:t>
                </a:r>
              </a:p>
              <a:p>
                <a:pPr lvl="0"/>
                <a:r>
                  <a:rPr lang="en-US" altLang="ko-KR" sz="1000" b="1" dirty="0">
                    <a:solidFill>
                      <a:prstClr val="black"/>
                    </a:solidFill>
                  </a:rPr>
                  <a:t>          path: /var/log</a:t>
                </a:r>
              </a:p>
              <a:p>
                <a:pPr lvl="0"/>
                <a:r>
                  <a:rPr lang="en-US" altLang="ko-KR" sz="1000" b="1" dirty="0">
                    <a:solidFill>
                      <a:prstClr val="black"/>
                    </a:solidFill>
                  </a:rPr>
                  <a:t>      - name: </a:t>
                </a:r>
                <a:r>
                  <a:rPr lang="en-US" altLang="ko-KR" sz="1000" b="1" dirty="0" err="1">
                    <a:solidFill>
                      <a:prstClr val="black"/>
                    </a:solidFill>
                  </a:rPr>
                  <a:t>varlibdockercontainers</a:t>
                </a:r>
                <a:endParaRPr lang="en-US" altLang="ko-KR" sz="1000" b="1" dirty="0">
                  <a:solidFill>
                    <a:prstClr val="black"/>
                  </a:solidFill>
                </a:endParaRPr>
              </a:p>
              <a:p>
                <a:pPr lvl="0"/>
                <a:r>
                  <a:rPr lang="en-US" altLang="ko-KR" sz="1000" b="1" dirty="0">
                    <a:solidFill>
                      <a:prstClr val="black"/>
                    </a:solidFill>
                  </a:rPr>
                  <a:t>        </a:t>
                </a:r>
                <a:r>
                  <a:rPr lang="en-US" altLang="ko-KR" sz="1000" b="1" dirty="0" err="1">
                    <a:solidFill>
                      <a:prstClr val="black"/>
                    </a:solidFill>
                  </a:rPr>
                  <a:t>hostPath</a:t>
                </a:r>
                <a:r>
                  <a:rPr lang="en-US" altLang="ko-KR" sz="1000" b="1" dirty="0">
                    <a:solidFill>
                      <a:prstClr val="black"/>
                    </a:solidFill>
                  </a:rPr>
                  <a:t>:</a:t>
                </a:r>
              </a:p>
              <a:p>
                <a:pPr lvl="0"/>
                <a:r>
                  <a:rPr lang="en-US" altLang="ko-KR" sz="1000" b="1" dirty="0">
                    <a:solidFill>
                      <a:prstClr val="black"/>
                    </a:solidFill>
                  </a:rPr>
                  <a:t>          path: /var/lib/docker/containers</a:t>
                </a:r>
                <a:endParaRPr lang="ko-KR" altLang="en-US" dirty="0"/>
              </a:p>
            </p:txBody>
          </p:sp>
        </p:grpSp>
        <p:sp>
          <p:nvSpPr>
            <p:cNvPr id="11" name="TextBox 10">
              <a:extLst>
                <a:ext uri="{FF2B5EF4-FFF2-40B4-BE49-F238E27FC236}">
                  <a16:creationId xmlns:a16="http://schemas.microsoft.com/office/drawing/2014/main" id="{BEF038CA-0D55-47AA-A326-AF72C16D231E}"/>
                </a:ext>
              </a:extLst>
            </p:cNvPr>
            <p:cNvSpPr txBox="1"/>
            <p:nvPr/>
          </p:nvSpPr>
          <p:spPr>
            <a:xfrm>
              <a:off x="5353932" y="5014049"/>
              <a:ext cx="1680268" cy="246221"/>
            </a:xfrm>
            <a:prstGeom prst="rect">
              <a:avLst/>
            </a:prstGeom>
            <a:noFill/>
          </p:spPr>
          <p:txBody>
            <a:bodyPr wrap="none" rtlCol="0">
              <a:spAutoFit/>
            </a:bodyPr>
            <a:lstStyle/>
            <a:p>
              <a:pPr algn="ctr"/>
              <a:r>
                <a:rPr lang="en-US" altLang="ko-KR" sz="1000" b="1" dirty="0" err="1"/>
                <a:t>fluentd-daemonset.yaml</a:t>
              </a:r>
              <a:endParaRPr lang="ko-KR" altLang="en-US" sz="1000" b="1" dirty="0"/>
            </a:p>
          </p:txBody>
        </p:sp>
      </p:grpSp>
    </p:spTree>
    <p:extLst>
      <p:ext uri="{BB962C8B-B14F-4D97-AF65-F5344CB8AC3E}">
        <p14:creationId xmlns:p14="http://schemas.microsoft.com/office/powerpoint/2010/main" val="3557157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a:t>
            </a:r>
            <a:r>
              <a:rPr lang="en-US" altLang="ko-KR" sz="2800" b="1" dirty="0" err="1"/>
              <a:t>DaemonSets</a:t>
            </a:r>
            <a:r>
              <a:rPr lang="en-US" altLang="ko-KR" sz="2800" b="1" dirty="0"/>
              <a:t>(2/4)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DaemonSet</a:t>
            </a:r>
            <a:r>
              <a:rPr lang="en-US" altLang="ko-KR" sz="1800" b="1" dirty="0"/>
              <a:t> Configuration :</a:t>
            </a:r>
          </a:p>
          <a:p>
            <a:pPr lvl="1">
              <a:buFont typeface="Wingdings" panose="05000000000000000000" pitchFamily="2" charset="2"/>
              <a:buChar char="§"/>
            </a:pPr>
            <a:r>
              <a:rPr lang="en-US" altLang="ko-KR" sz="1400" b="1" dirty="0"/>
              <a:t>Once you have a valid </a:t>
            </a:r>
            <a:r>
              <a:rPr lang="en-US" altLang="ko-KR" sz="1400" b="1" dirty="0" err="1"/>
              <a:t>DaemonSet</a:t>
            </a:r>
            <a:r>
              <a:rPr lang="en-US" altLang="ko-KR" sz="1400" b="1" dirty="0"/>
              <a:t> configuration in place, you can use the “</a:t>
            </a:r>
            <a:r>
              <a:rPr lang="en-US" altLang="ko-KR" sz="1400" b="1" dirty="0" err="1">
                <a:solidFill>
                  <a:srgbClr val="FF0000"/>
                </a:solidFill>
              </a:rPr>
              <a:t>kubectl</a:t>
            </a:r>
            <a:r>
              <a:rPr lang="en-US" altLang="ko-KR" sz="1400" b="1" dirty="0">
                <a:solidFill>
                  <a:srgbClr val="FF0000"/>
                </a:solidFill>
              </a:rPr>
              <a:t> apply</a:t>
            </a:r>
            <a:r>
              <a:rPr lang="en-US" altLang="ko-KR" sz="1400" b="1" dirty="0"/>
              <a:t>” command to submit the </a:t>
            </a:r>
            <a:r>
              <a:rPr lang="en-US" altLang="ko-KR" sz="1400" b="1" dirty="0" err="1"/>
              <a:t>DaemonSet</a:t>
            </a:r>
            <a:r>
              <a:rPr lang="en-US" altLang="ko-KR" sz="1400" b="1" dirty="0"/>
              <a:t> to the Kubernetes API</a:t>
            </a:r>
            <a:r>
              <a:rPr lang="en-US" altLang="ko-KR" sz="1400" dirty="0"/>
              <a:t>. Here we will create a </a:t>
            </a:r>
            <a:r>
              <a:rPr lang="en-US" altLang="ko-KR" sz="1400" b="1" dirty="0" err="1"/>
              <a:t>DaemonSet</a:t>
            </a:r>
            <a:r>
              <a:rPr lang="en-US" altLang="ko-KR" sz="1400" dirty="0"/>
              <a:t> to ensure the “</a:t>
            </a:r>
            <a:r>
              <a:rPr lang="en-US" altLang="ko-KR" sz="1400" b="1" dirty="0" err="1"/>
              <a:t>fluentd</a:t>
            </a:r>
            <a:r>
              <a:rPr lang="en-US" altLang="ko-KR" sz="1400" b="1" dirty="0"/>
              <a:t> HTTP server</a:t>
            </a:r>
            <a:r>
              <a:rPr lang="en-US" altLang="ko-KR" sz="1400" dirty="0"/>
              <a:t>” is running on every node in our cluster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0F5AFF7F-C276-48E2-B083-12E3634CE5AB}"/>
              </a:ext>
            </a:extLst>
          </p:cNvPr>
          <p:cNvGrpSpPr/>
          <p:nvPr/>
        </p:nvGrpSpPr>
        <p:grpSpPr>
          <a:xfrm>
            <a:off x="1333500" y="2274470"/>
            <a:ext cx="9525000" cy="2309059"/>
            <a:chOff x="1333500" y="1932369"/>
            <a:chExt cx="9525000" cy="2309059"/>
          </a:xfrm>
        </p:grpSpPr>
        <p:sp>
          <p:nvSpPr>
            <p:cNvPr id="4" name="직사각형 3">
              <a:extLst>
                <a:ext uri="{FF2B5EF4-FFF2-40B4-BE49-F238E27FC236}">
                  <a16:creationId xmlns:a16="http://schemas.microsoft.com/office/drawing/2014/main" id="{D14D0953-8B94-41F1-8EF3-814BB1EAA8A2}"/>
                </a:ext>
              </a:extLst>
            </p:cNvPr>
            <p:cNvSpPr/>
            <p:nvPr/>
          </p:nvSpPr>
          <p:spPr>
            <a:xfrm>
              <a:off x="4688403" y="1932369"/>
              <a:ext cx="2815194"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fluentd-daemonset.yaml</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B6D6E473-A7A7-45A5-9EA5-F4DC284126E2}"/>
                </a:ext>
              </a:extLst>
            </p:cNvPr>
            <p:cNvSpPr/>
            <p:nvPr/>
          </p:nvSpPr>
          <p:spPr>
            <a:xfrm>
              <a:off x="5905169" y="2178590"/>
              <a:ext cx="381662" cy="23853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BCCA6B9E-BBBE-4C5B-BC82-1877AFAE6EFD}"/>
                </a:ext>
              </a:extLst>
            </p:cNvPr>
            <p:cNvPicPr>
              <a:picLocks noChangeAspect="1"/>
            </p:cNvPicPr>
            <p:nvPr/>
          </p:nvPicPr>
          <p:blipFill>
            <a:blip r:embed="rId2"/>
            <a:stretch>
              <a:fillRect/>
            </a:stretch>
          </p:blipFill>
          <p:spPr>
            <a:xfrm>
              <a:off x="1333500" y="2431678"/>
              <a:ext cx="9525000" cy="1809750"/>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99B767CD-31DC-789B-69FE-6A869BD5B549}"/>
              </a:ext>
            </a:extLst>
          </p:cNvPr>
          <p:cNvSpPr/>
          <p:nvPr/>
        </p:nvSpPr>
        <p:spPr>
          <a:xfrm>
            <a:off x="1498060" y="3936460"/>
            <a:ext cx="3709480" cy="2269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799949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a:t>
            </a:r>
            <a:r>
              <a:rPr lang="en-US" altLang="ko-KR" sz="2800" b="1" dirty="0" err="1"/>
              <a:t>DaemonSets</a:t>
            </a:r>
            <a:r>
              <a:rPr lang="en-US" altLang="ko-KR" sz="2800" b="1" dirty="0"/>
              <a:t>(3/4)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DaemonSet</a:t>
            </a:r>
            <a:r>
              <a:rPr lang="en-US" altLang="ko-KR" sz="1800" b="1" dirty="0"/>
              <a:t> Configuration :</a:t>
            </a:r>
          </a:p>
          <a:p>
            <a:pPr lvl="1">
              <a:buFont typeface="Wingdings" panose="05000000000000000000" pitchFamily="2" charset="2"/>
              <a:buChar char="§"/>
            </a:pPr>
            <a:r>
              <a:rPr lang="en-US" altLang="ko-KR" sz="1400" dirty="0"/>
              <a:t>Once the “</a:t>
            </a:r>
            <a:r>
              <a:rPr lang="en-US" altLang="ko-KR" sz="1400" b="1" dirty="0" err="1"/>
              <a:t>fluentd</a:t>
            </a:r>
            <a:r>
              <a:rPr lang="en-US" altLang="ko-KR" sz="1400" dirty="0"/>
              <a:t>” </a:t>
            </a:r>
            <a:r>
              <a:rPr lang="en-US" altLang="ko-KR" sz="1400" b="1" dirty="0" err="1"/>
              <a:t>DaemonSet</a:t>
            </a:r>
            <a:r>
              <a:rPr lang="en-US" altLang="ko-KR" sz="1400" dirty="0"/>
              <a:t> has been successfully submitted to the Kubernetes API, </a:t>
            </a:r>
            <a:r>
              <a:rPr lang="en-US" altLang="ko-KR" sz="1400" b="1" dirty="0"/>
              <a:t>you can query its current state using the “</a:t>
            </a:r>
            <a:r>
              <a:rPr lang="en-US" altLang="ko-KR" sz="1400" b="1" dirty="0" err="1"/>
              <a:t>kubectl</a:t>
            </a:r>
            <a:r>
              <a:rPr lang="en-US" altLang="ko-KR" sz="1400" b="1" dirty="0"/>
              <a:t> describe” command </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NOTE : This output indicates a “</a:t>
            </a:r>
            <a:r>
              <a:rPr lang="en-US" altLang="ko-KR" sz="1400" b="1" dirty="0" err="1"/>
              <a:t>fluentd</a:t>
            </a:r>
            <a:r>
              <a:rPr lang="en-US" altLang="ko-KR" sz="1400" dirty="0"/>
              <a:t>” Pod was successfully deployed to all nodes in our cluster(Now we have only one node.).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9355E6E9-6988-46C5-839E-2B4E37E5A554}"/>
              </a:ext>
            </a:extLst>
          </p:cNvPr>
          <p:cNvGrpSpPr/>
          <p:nvPr/>
        </p:nvGrpSpPr>
        <p:grpSpPr>
          <a:xfrm>
            <a:off x="1381125" y="1801880"/>
            <a:ext cx="9429750" cy="3254240"/>
            <a:chOff x="1381123" y="1654073"/>
            <a:chExt cx="9429750" cy="3254240"/>
          </a:xfrm>
        </p:grpSpPr>
        <p:grpSp>
          <p:nvGrpSpPr>
            <p:cNvPr id="10" name="그룹 9">
              <a:extLst>
                <a:ext uri="{FF2B5EF4-FFF2-40B4-BE49-F238E27FC236}">
                  <a16:creationId xmlns:a16="http://schemas.microsoft.com/office/drawing/2014/main" id="{C113BC48-1273-41E5-8A81-A593C368DF77}"/>
                </a:ext>
              </a:extLst>
            </p:cNvPr>
            <p:cNvGrpSpPr/>
            <p:nvPr/>
          </p:nvGrpSpPr>
          <p:grpSpPr>
            <a:xfrm>
              <a:off x="4840688" y="1654073"/>
              <a:ext cx="2510623" cy="541591"/>
              <a:chOff x="4840688" y="1654073"/>
              <a:chExt cx="2510623" cy="541591"/>
            </a:xfrm>
          </p:grpSpPr>
          <p:sp>
            <p:nvSpPr>
              <p:cNvPr id="4" name="직사각형 3">
                <a:extLst>
                  <a:ext uri="{FF2B5EF4-FFF2-40B4-BE49-F238E27FC236}">
                    <a16:creationId xmlns:a16="http://schemas.microsoft.com/office/drawing/2014/main" id="{E9324645-2064-405F-808B-EA62072184CE}"/>
                  </a:ext>
                </a:extLst>
              </p:cNvPr>
              <p:cNvSpPr/>
              <p:nvPr/>
            </p:nvSpPr>
            <p:spPr>
              <a:xfrm>
                <a:off x="4840688" y="1654073"/>
                <a:ext cx="2510623"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describe </a:t>
                </a:r>
                <a:r>
                  <a:rPr lang="en-US" altLang="ko-KR" sz="1000" b="1" dirty="0" err="1">
                    <a:solidFill>
                      <a:srgbClr val="FF0000"/>
                    </a:solidFill>
                  </a:rPr>
                  <a:t>daemonset</a:t>
                </a:r>
                <a:r>
                  <a:rPr lang="en-US" altLang="ko-KR" sz="1000" b="1" dirty="0">
                    <a:solidFill>
                      <a:srgbClr val="FF0000"/>
                    </a:solidFill>
                  </a:rPr>
                  <a:t> </a:t>
                </a:r>
                <a:r>
                  <a:rPr lang="en-US" altLang="ko-KR" sz="1000" b="1" dirty="0" err="1">
                    <a:solidFill>
                      <a:srgbClr val="FF0000"/>
                    </a:solidFill>
                  </a:rPr>
                  <a:t>fluentd</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7EE73ABC-D3C6-40D2-A1FC-8E328D1E84E5}"/>
                  </a:ext>
                </a:extLst>
              </p:cNvPr>
              <p:cNvSpPr/>
              <p:nvPr/>
            </p:nvSpPr>
            <p:spPr>
              <a:xfrm>
                <a:off x="5909143" y="1917368"/>
                <a:ext cx="373711" cy="27829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1" name="그림 10">
              <a:extLst>
                <a:ext uri="{FF2B5EF4-FFF2-40B4-BE49-F238E27FC236}">
                  <a16:creationId xmlns:a16="http://schemas.microsoft.com/office/drawing/2014/main" id="{766C17D7-0E8E-49FC-B3D5-ADFC611117DD}"/>
                </a:ext>
              </a:extLst>
            </p:cNvPr>
            <p:cNvPicPr>
              <a:picLocks noChangeAspect="1"/>
            </p:cNvPicPr>
            <p:nvPr/>
          </p:nvPicPr>
          <p:blipFill>
            <a:blip r:embed="rId2"/>
            <a:stretch>
              <a:fillRect/>
            </a:stretch>
          </p:blipFill>
          <p:spPr>
            <a:xfrm>
              <a:off x="1381123" y="2212738"/>
              <a:ext cx="9429750" cy="2695575"/>
            </a:xfrm>
            <a:prstGeom prst="rect">
              <a:avLst/>
            </a:prstGeom>
            <a:ln>
              <a:solidFill>
                <a:schemeClr val="bg1">
                  <a:lumMod val="50000"/>
                </a:schemeClr>
              </a:solidFill>
            </a:ln>
          </p:spPr>
        </p:pic>
      </p:grpSp>
      <p:sp>
        <p:nvSpPr>
          <p:cNvPr id="9" name="직사각형 8">
            <a:extLst>
              <a:ext uri="{FF2B5EF4-FFF2-40B4-BE49-F238E27FC236}">
                <a16:creationId xmlns:a16="http://schemas.microsoft.com/office/drawing/2014/main" id="{B30C80E6-64E3-988F-38E8-29DD7D42B383}"/>
              </a:ext>
            </a:extLst>
          </p:cNvPr>
          <p:cNvSpPr/>
          <p:nvPr/>
        </p:nvSpPr>
        <p:spPr>
          <a:xfrm>
            <a:off x="1472119" y="3871609"/>
            <a:ext cx="4740613" cy="100519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809834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a:t>
            </a:r>
            <a:r>
              <a:rPr lang="en-US" altLang="ko-KR" sz="2800" b="1" dirty="0" err="1"/>
              <a:t>DaemonSets</a:t>
            </a:r>
            <a:r>
              <a:rPr lang="en-US" altLang="ko-KR" sz="2800" b="1" dirty="0"/>
              <a:t>(4/4)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DaemonSet</a:t>
            </a:r>
            <a:r>
              <a:rPr lang="en-US" altLang="ko-KR" sz="1800" b="1" dirty="0"/>
              <a:t> Configuration :</a:t>
            </a:r>
          </a:p>
          <a:p>
            <a:pPr lvl="1">
              <a:buFont typeface="Wingdings" panose="05000000000000000000" pitchFamily="2" charset="2"/>
              <a:buChar char="§"/>
            </a:pPr>
            <a:r>
              <a:rPr lang="en-US" altLang="ko-KR" sz="1400" b="1" dirty="0"/>
              <a:t>We can verify this using the “</a:t>
            </a:r>
            <a:r>
              <a:rPr lang="en-US" altLang="ko-KR" sz="1400" b="1" dirty="0" err="1"/>
              <a:t>kubectl</a:t>
            </a:r>
            <a:r>
              <a:rPr lang="en-US" altLang="ko-KR" sz="1400" b="1" dirty="0"/>
              <a:t> get pods” command with the “-o” flag to print the nodes where each “</a:t>
            </a:r>
            <a:r>
              <a:rPr lang="en-US" altLang="ko-KR" sz="1400" b="1" dirty="0" err="1"/>
              <a:t>fluentd</a:t>
            </a:r>
            <a:r>
              <a:rPr lang="en-US" altLang="ko-KR" sz="1400" b="1" dirty="0"/>
              <a:t>” Pod was assigned</a:t>
            </a:r>
            <a:r>
              <a:rPr lang="en-US" altLang="ko-KR" sz="1400" dirty="0"/>
              <a:t>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With the “</a:t>
            </a:r>
            <a:r>
              <a:rPr lang="en-US" altLang="ko-KR" sz="1400" b="1" dirty="0" err="1"/>
              <a:t>fluentd</a:t>
            </a:r>
            <a:r>
              <a:rPr lang="en-US" altLang="ko-KR" sz="1400" dirty="0"/>
              <a:t>” </a:t>
            </a:r>
            <a:r>
              <a:rPr lang="en-US" altLang="ko-KR" sz="1400" dirty="0" err="1"/>
              <a:t>DaemonSet</a:t>
            </a:r>
            <a:r>
              <a:rPr lang="en-US" altLang="ko-KR" sz="1400" dirty="0"/>
              <a:t> in place, </a:t>
            </a:r>
            <a:r>
              <a:rPr lang="en-US" altLang="ko-KR" sz="1400" b="1" dirty="0"/>
              <a:t>adding a new node to the cluster will result in a “</a:t>
            </a:r>
            <a:r>
              <a:rPr lang="en-US" altLang="ko-KR" sz="1400" b="1" dirty="0" err="1"/>
              <a:t>fluentd</a:t>
            </a:r>
            <a:r>
              <a:rPr lang="en-US" altLang="ko-KR" sz="1400" b="1" dirty="0"/>
              <a:t>” Pod being deployed to that node automatically</a:t>
            </a:r>
            <a:r>
              <a:rPr lang="en-US" altLang="ko-KR" sz="1400" dirty="0"/>
              <a:t>. This is exactly the behavior you want when managing logging daemons and other cluster-wide services. </a:t>
            </a:r>
            <a:r>
              <a:rPr lang="en-US" altLang="ko-KR" sz="1400" b="1" dirty="0"/>
              <a:t>No action was required from our end; this is how the Kubernetes </a:t>
            </a:r>
            <a:r>
              <a:rPr lang="en-US" altLang="ko-KR" sz="1400" b="1" dirty="0" err="1"/>
              <a:t>DaemonSet</a:t>
            </a:r>
            <a:r>
              <a:rPr lang="en-US" altLang="ko-KR" sz="1400" b="1" dirty="0"/>
              <a:t> controller reconciles its observed state with our desired state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3DFB48DE-03F7-4CFB-8A77-E960EA77B2B6}"/>
              </a:ext>
            </a:extLst>
          </p:cNvPr>
          <p:cNvGrpSpPr/>
          <p:nvPr/>
        </p:nvGrpSpPr>
        <p:grpSpPr>
          <a:xfrm>
            <a:off x="1381125" y="1725635"/>
            <a:ext cx="9429750" cy="2374090"/>
            <a:chOff x="1381124" y="1717684"/>
            <a:chExt cx="9429750" cy="2374090"/>
          </a:xfrm>
        </p:grpSpPr>
        <p:sp>
          <p:nvSpPr>
            <p:cNvPr id="4" name="직사각형 3">
              <a:extLst>
                <a:ext uri="{FF2B5EF4-FFF2-40B4-BE49-F238E27FC236}">
                  <a16:creationId xmlns:a16="http://schemas.microsoft.com/office/drawing/2014/main" id="{C4AFCB7E-465D-4F1B-9868-14B0F8087C00}"/>
                </a:ext>
              </a:extLst>
            </p:cNvPr>
            <p:cNvSpPr/>
            <p:nvPr/>
          </p:nvSpPr>
          <p:spPr>
            <a:xfrm>
              <a:off x="5170105" y="1717684"/>
              <a:ext cx="1851789" cy="246221"/>
            </a:xfrm>
            <a:prstGeom prst="rect">
              <a:avLst/>
            </a:prstGeom>
            <a:ln>
              <a:solidFill>
                <a:schemeClr val="bg1">
                  <a:lumMod val="50000"/>
                </a:schemeClr>
              </a:solidFill>
            </a:ln>
          </p:spPr>
          <p:txBody>
            <a:bodyPr wrap="square">
              <a:spAutoFit/>
            </a:bodyPr>
            <a:lstStyle/>
            <a:p>
              <a:pPr algn="ctr"/>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-o wide</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1077EE82-6C0C-4EF8-A4E0-0870399AD113}"/>
                </a:ext>
              </a:extLst>
            </p:cNvPr>
            <p:cNvSpPr/>
            <p:nvPr/>
          </p:nvSpPr>
          <p:spPr>
            <a:xfrm>
              <a:off x="5873362" y="1963905"/>
              <a:ext cx="445274" cy="31811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38FA5B09-4229-4447-90E0-0CDE9E660BD8}"/>
                </a:ext>
              </a:extLst>
            </p:cNvPr>
            <p:cNvPicPr>
              <a:picLocks noChangeAspect="1"/>
            </p:cNvPicPr>
            <p:nvPr/>
          </p:nvPicPr>
          <p:blipFill>
            <a:blip r:embed="rId2"/>
            <a:stretch>
              <a:fillRect/>
            </a:stretch>
          </p:blipFill>
          <p:spPr>
            <a:xfrm>
              <a:off x="1381124" y="2282024"/>
              <a:ext cx="9429750" cy="1809750"/>
            </a:xfrm>
            <a:prstGeom prst="rect">
              <a:avLst/>
            </a:prstGeom>
          </p:spPr>
        </p:pic>
      </p:grpSp>
    </p:spTree>
    <p:extLst>
      <p:ext uri="{BB962C8B-B14F-4D97-AF65-F5344CB8AC3E}">
        <p14:creationId xmlns:p14="http://schemas.microsoft.com/office/powerpoint/2010/main" val="401523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a:t>
            </a:r>
            <a:r>
              <a:rPr lang="en-US" altLang="ko-KR" sz="2800" b="1" dirty="0" err="1"/>
              <a:t>DaemonSets</a:t>
            </a:r>
            <a:r>
              <a:rPr lang="en-US" altLang="ko-KR" sz="2800" b="1" dirty="0"/>
              <a:t> to Specific Nodes(1/4)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Node Label :</a:t>
            </a:r>
          </a:p>
          <a:p>
            <a:pPr lvl="1">
              <a:buFont typeface="Wingdings" panose="05000000000000000000" pitchFamily="2" charset="2"/>
              <a:buChar char="§"/>
            </a:pPr>
            <a:r>
              <a:rPr lang="en-US" altLang="ko-KR" sz="1400" b="1" dirty="0"/>
              <a:t>The most common use case for </a:t>
            </a:r>
            <a:r>
              <a:rPr lang="en-US" altLang="ko-KR" sz="1400" b="1" dirty="0" err="1"/>
              <a:t>DaemonSets</a:t>
            </a:r>
            <a:r>
              <a:rPr lang="en-US" altLang="ko-KR" sz="1400" b="1" dirty="0"/>
              <a:t> is to </a:t>
            </a:r>
            <a:r>
              <a:rPr lang="en-US" altLang="ko-KR" sz="1400" b="1" dirty="0">
                <a:solidFill>
                  <a:srgbClr val="FF0000"/>
                </a:solidFill>
              </a:rPr>
              <a:t>run a Pod across every node </a:t>
            </a:r>
            <a:r>
              <a:rPr lang="en-US" altLang="ko-KR" sz="1400" b="1" dirty="0"/>
              <a:t>in a Kubernetes cluster</a:t>
            </a:r>
            <a:r>
              <a:rPr lang="en-US" altLang="ko-KR" sz="1400" dirty="0"/>
              <a:t>. </a:t>
            </a:r>
            <a:r>
              <a:rPr lang="en-US" altLang="ko-KR" sz="1400" b="1" dirty="0"/>
              <a:t>However, there are some cases where you want to deploy a Pod to only a subset of nodes</a:t>
            </a:r>
            <a:r>
              <a:rPr lang="en-US" altLang="ko-KR" sz="1400" dirty="0"/>
              <a:t>. For example, maybe you have a workload that requires a GPU or access to fast storage only available on a subset of nodes in your cluster. In cases like these, “</a:t>
            </a:r>
            <a:r>
              <a:rPr lang="en-US" altLang="ko-KR" sz="1400" b="1" dirty="0">
                <a:solidFill>
                  <a:srgbClr val="FF0000"/>
                </a:solidFill>
              </a:rPr>
              <a:t>node labels</a:t>
            </a:r>
            <a:r>
              <a:rPr lang="en-US" altLang="ko-KR" sz="1400" b="1" dirty="0"/>
              <a:t>” </a:t>
            </a:r>
            <a:r>
              <a:rPr lang="en-US" altLang="ko-KR" sz="1400" b="1" dirty="0">
                <a:solidFill>
                  <a:srgbClr val="FF0000"/>
                </a:solidFill>
              </a:rPr>
              <a:t>can be used to tag specific nodes that meet workload requirements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4F64D27B-8A97-48DC-BC04-3F5326749431}"/>
              </a:ext>
            </a:extLst>
          </p:cNvPr>
          <p:cNvPicPr>
            <a:picLocks noChangeAspect="1"/>
          </p:cNvPicPr>
          <p:nvPr/>
        </p:nvPicPr>
        <p:blipFill>
          <a:blip r:embed="rId2"/>
          <a:stretch>
            <a:fillRect/>
          </a:stretch>
        </p:blipFill>
        <p:spPr>
          <a:xfrm>
            <a:off x="3484540" y="2168052"/>
            <a:ext cx="5222919" cy="3330129"/>
          </a:xfrm>
          <a:prstGeom prst="rect">
            <a:avLst/>
          </a:prstGeom>
        </p:spPr>
      </p:pic>
      <p:sp>
        <p:nvSpPr>
          <p:cNvPr id="8" name="직사각형 7">
            <a:extLst>
              <a:ext uri="{FF2B5EF4-FFF2-40B4-BE49-F238E27FC236}">
                <a16:creationId xmlns:a16="http://schemas.microsoft.com/office/drawing/2014/main" id="{965ADDCF-3700-A4DC-771C-47910E43F422}"/>
              </a:ext>
            </a:extLst>
          </p:cNvPr>
          <p:cNvSpPr/>
          <p:nvPr/>
        </p:nvSpPr>
        <p:spPr>
          <a:xfrm>
            <a:off x="5051898" y="2944238"/>
            <a:ext cx="998706" cy="2723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269500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a:t>
            </a:r>
            <a:r>
              <a:rPr lang="en-US" altLang="ko-KR" sz="2800" b="1" dirty="0" err="1"/>
              <a:t>DaemonSets</a:t>
            </a:r>
            <a:r>
              <a:rPr lang="en-US" altLang="ko-KR" sz="2800" b="1" dirty="0"/>
              <a:t> to Specific Nodes(2/4)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Adding Labels to Nodes :</a:t>
            </a:r>
          </a:p>
          <a:p>
            <a:pPr lvl="1">
              <a:buFont typeface="Wingdings" panose="05000000000000000000" pitchFamily="2" charset="2"/>
              <a:buChar char="§"/>
            </a:pPr>
            <a:r>
              <a:rPr lang="en-US" altLang="ko-KR" sz="1400" b="1" dirty="0"/>
              <a:t>The first step in limiting </a:t>
            </a:r>
            <a:r>
              <a:rPr lang="en-US" altLang="ko-KR" sz="1400" b="1" dirty="0" err="1"/>
              <a:t>DaemonSets</a:t>
            </a:r>
            <a:r>
              <a:rPr lang="en-US" altLang="ko-KR" sz="1400" b="1" dirty="0"/>
              <a:t> to specific nodes is </a:t>
            </a:r>
            <a:r>
              <a:rPr lang="en-US" altLang="ko-KR" sz="1400" b="1" dirty="0">
                <a:solidFill>
                  <a:srgbClr val="FF0000"/>
                </a:solidFill>
              </a:rPr>
              <a:t>to add the desired set of labels to a subset of nodes</a:t>
            </a:r>
            <a:r>
              <a:rPr lang="en-US" altLang="ko-KR" sz="1400" b="1" dirty="0"/>
              <a:t>. This can be achieved using the “</a:t>
            </a:r>
            <a:r>
              <a:rPr lang="en-US" altLang="ko-KR" sz="1400" b="1" dirty="0" err="1">
                <a:solidFill>
                  <a:srgbClr val="FF0000"/>
                </a:solidFill>
              </a:rPr>
              <a:t>kubectl</a:t>
            </a:r>
            <a:r>
              <a:rPr lang="en-US" altLang="ko-KR" sz="1400" b="1" dirty="0">
                <a:solidFill>
                  <a:srgbClr val="FF0000"/>
                </a:solidFill>
              </a:rPr>
              <a:t> label</a:t>
            </a:r>
            <a:r>
              <a:rPr lang="en-US" altLang="ko-KR" sz="1400" b="1" dirty="0"/>
              <a:t>” command</a:t>
            </a:r>
            <a:r>
              <a:rPr lang="en-US" altLang="ko-KR" sz="1400" dirty="0"/>
              <a:t>.</a:t>
            </a:r>
          </a:p>
          <a:p>
            <a:pPr lvl="1">
              <a:buFont typeface="Wingdings" panose="05000000000000000000" pitchFamily="2" charset="2"/>
              <a:buChar char="§"/>
            </a:pPr>
            <a:r>
              <a:rPr lang="en-US" altLang="ko-KR" sz="1400" dirty="0"/>
              <a:t>The following command </a:t>
            </a:r>
            <a:r>
              <a:rPr lang="en-US" altLang="ko-KR" sz="1400" b="1" dirty="0"/>
              <a:t>adds the “</a:t>
            </a:r>
            <a:r>
              <a:rPr lang="en-US" altLang="ko-KR" sz="1400" b="1" dirty="0" err="1">
                <a:solidFill>
                  <a:srgbClr val="FF0000"/>
                </a:solidFill>
              </a:rPr>
              <a:t>ssd</a:t>
            </a:r>
            <a:r>
              <a:rPr lang="en-US" altLang="ko-KR" sz="1400" b="1" dirty="0">
                <a:solidFill>
                  <a:srgbClr val="FF0000"/>
                </a:solidFill>
              </a:rPr>
              <a:t>=true</a:t>
            </a:r>
            <a:r>
              <a:rPr lang="en-US" altLang="ko-KR" sz="1400" b="1" dirty="0"/>
              <a:t>” label to a single node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Just like with other Kubernetes resources, </a:t>
            </a:r>
            <a:r>
              <a:rPr lang="en-US" altLang="ko-KR" sz="1400" b="1" dirty="0"/>
              <a:t>listing nodes without a label selector </a:t>
            </a:r>
            <a:r>
              <a:rPr lang="en-US" altLang="ko-KR" sz="1400" dirty="0"/>
              <a:t>returns all nodes in the cluster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Using a label selector, we can filter nodes based on labels</a:t>
            </a:r>
            <a:r>
              <a:rPr lang="en-US" altLang="ko-KR" sz="1400" dirty="0"/>
              <a:t>. To list only the nodes that have the “</a:t>
            </a:r>
            <a:r>
              <a:rPr lang="en-US" altLang="ko-KR" sz="1400" b="1" dirty="0" err="1"/>
              <a:t>ssd</a:t>
            </a:r>
            <a:r>
              <a:rPr lang="en-US" altLang="ko-KR" sz="1400" dirty="0"/>
              <a:t>” label set to true, use the “</a:t>
            </a:r>
            <a:r>
              <a:rPr lang="en-US" altLang="ko-KR" sz="1400" b="1" dirty="0" err="1"/>
              <a:t>kubectl</a:t>
            </a:r>
            <a:r>
              <a:rPr lang="en-US" altLang="ko-KR" sz="1400" b="1" dirty="0"/>
              <a:t> get nodes</a:t>
            </a:r>
            <a:r>
              <a:rPr lang="en-US" altLang="ko-KR" sz="1400" dirty="0"/>
              <a:t>” command with the “</a:t>
            </a:r>
            <a:r>
              <a:rPr lang="en-US" altLang="ko-KR" sz="1400" b="1" dirty="0">
                <a:solidFill>
                  <a:srgbClr val="FF0000"/>
                </a:solidFill>
              </a:rPr>
              <a:t>--selector</a:t>
            </a:r>
            <a:r>
              <a:rPr lang="en-US" altLang="ko-KR" sz="1400" dirty="0"/>
              <a:t>” flag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4CBFB550-6571-41FA-A0BB-2BE45D5FDBD2}"/>
              </a:ext>
            </a:extLst>
          </p:cNvPr>
          <p:cNvSpPr/>
          <p:nvPr/>
        </p:nvSpPr>
        <p:spPr>
          <a:xfrm>
            <a:off x="3048000" y="1945904"/>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label nodes &lt;</a:t>
            </a:r>
            <a:r>
              <a:rPr lang="en-US" altLang="ko-KR" sz="1000" b="1" dirty="0">
                <a:solidFill>
                  <a:srgbClr val="FF0000"/>
                </a:solidFill>
              </a:rPr>
              <a:t>NODE_NAME</a:t>
            </a:r>
            <a:r>
              <a:rPr lang="en-US" altLang="ko-KR" sz="1000" b="1" dirty="0"/>
              <a:t>&gt; </a:t>
            </a:r>
            <a:r>
              <a:rPr lang="en-US" altLang="ko-KR" sz="1000" b="1" dirty="0" err="1">
                <a:solidFill>
                  <a:srgbClr val="FF0000"/>
                </a:solidFill>
              </a:rPr>
              <a:t>ssd</a:t>
            </a:r>
            <a:r>
              <a:rPr lang="en-US" altLang="ko-KR" sz="1000" b="1" dirty="0">
                <a:solidFill>
                  <a:srgbClr val="FF0000"/>
                </a:solidFill>
              </a:rPr>
              <a:t>=true</a:t>
            </a:r>
          </a:p>
        </p:txBody>
      </p:sp>
      <p:sp>
        <p:nvSpPr>
          <p:cNvPr id="9" name="직사각형 8">
            <a:extLst>
              <a:ext uri="{FF2B5EF4-FFF2-40B4-BE49-F238E27FC236}">
                <a16:creationId xmlns:a16="http://schemas.microsoft.com/office/drawing/2014/main" id="{C9D2FA77-A63B-49BE-B5F3-1EAB21E4CC1E}"/>
              </a:ext>
            </a:extLst>
          </p:cNvPr>
          <p:cNvSpPr/>
          <p:nvPr/>
        </p:nvSpPr>
        <p:spPr>
          <a:xfrm>
            <a:off x="3048000" y="2707256"/>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get nodes</a:t>
            </a:r>
          </a:p>
        </p:txBody>
      </p:sp>
      <p:grpSp>
        <p:nvGrpSpPr>
          <p:cNvPr id="17" name="그룹 16">
            <a:extLst>
              <a:ext uri="{FF2B5EF4-FFF2-40B4-BE49-F238E27FC236}">
                <a16:creationId xmlns:a16="http://schemas.microsoft.com/office/drawing/2014/main" id="{AACBAFE1-794A-45DE-8252-831387F239A7}"/>
              </a:ext>
            </a:extLst>
          </p:cNvPr>
          <p:cNvGrpSpPr/>
          <p:nvPr/>
        </p:nvGrpSpPr>
        <p:grpSpPr>
          <a:xfrm>
            <a:off x="1333965" y="3640129"/>
            <a:ext cx="9524068" cy="2622852"/>
            <a:chOff x="1333965" y="3640129"/>
            <a:chExt cx="9524068" cy="2622852"/>
          </a:xfrm>
        </p:grpSpPr>
        <p:grpSp>
          <p:nvGrpSpPr>
            <p:cNvPr id="15" name="그룹 14">
              <a:extLst>
                <a:ext uri="{FF2B5EF4-FFF2-40B4-BE49-F238E27FC236}">
                  <a16:creationId xmlns:a16="http://schemas.microsoft.com/office/drawing/2014/main" id="{3416C35E-DC87-4307-9BF4-2797E6891ACD}"/>
                </a:ext>
              </a:extLst>
            </p:cNvPr>
            <p:cNvGrpSpPr/>
            <p:nvPr/>
          </p:nvGrpSpPr>
          <p:grpSpPr>
            <a:xfrm>
              <a:off x="1333965" y="3640129"/>
              <a:ext cx="9524068" cy="2622852"/>
              <a:chOff x="1333965" y="3640129"/>
              <a:chExt cx="9524068" cy="2622852"/>
            </a:xfrm>
          </p:grpSpPr>
          <p:grpSp>
            <p:nvGrpSpPr>
              <p:cNvPr id="13" name="그룹 12">
                <a:extLst>
                  <a:ext uri="{FF2B5EF4-FFF2-40B4-BE49-F238E27FC236}">
                    <a16:creationId xmlns:a16="http://schemas.microsoft.com/office/drawing/2014/main" id="{214FBF2D-4A8B-46E3-8AB4-FA1D33C9103E}"/>
                  </a:ext>
                </a:extLst>
              </p:cNvPr>
              <p:cNvGrpSpPr/>
              <p:nvPr/>
            </p:nvGrpSpPr>
            <p:grpSpPr>
              <a:xfrm>
                <a:off x="1333965" y="3640129"/>
                <a:ext cx="9524068" cy="2622852"/>
                <a:chOff x="1333965" y="3640129"/>
                <a:chExt cx="9524068" cy="2622852"/>
              </a:xfrm>
            </p:grpSpPr>
            <p:sp>
              <p:nvSpPr>
                <p:cNvPr id="10" name="직사각형 9">
                  <a:extLst>
                    <a:ext uri="{FF2B5EF4-FFF2-40B4-BE49-F238E27FC236}">
                      <a16:creationId xmlns:a16="http://schemas.microsoft.com/office/drawing/2014/main" id="{623C79C4-6B23-4007-902C-3780BFCA4766}"/>
                    </a:ext>
                  </a:extLst>
                </p:cNvPr>
                <p:cNvSpPr/>
                <p:nvPr/>
              </p:nvSpPr>
              <p:spPr>
                <a:xfrm>
                  <a:off x="3048000" y="3640129"/>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get nodes </a:t>
                  </a:r>
                  <a:r>
                    <a:rPr lang="en-US" altLang="ko-KR" sz="1000" b="1" dirty="0">
                      <a:solidFill>
                        <a:srgbClr val="FF0000"/>
                      </a:solidFill>
                    </a:rPr>
                    <a:t>--selector </a:t>
                  </a:r>
                  <a:r>
                    <a:rPr lang="en-US" altLang="ko-KR" sz="1000" b="1" dirty="0" err="1">
                      <a:solidFill>
                        <a:srgbClr val="FF0000"/>
                      </a:solidFill>
                    </a:rPr>
                    <a:t>ssd</a:t>
                  </a:r>
                  <a:r>
                    <a:rPr lang="en-US" altLang="ko-KR" sz="1000" b="1" dirty="0">
                      <a:solidFill>
                        <a:srgbClr val="FF0000"/>
                      </a:solidFill>
                    </a:rPr>
                    <a:t>=true</a:t>
                  </a:r>
                </a:p>
              </p:txBody>
            </p:sp>
            <p:pic>
              <p:nvPicPr>
                <p:cNvPr id="11" name="그림 10">
                  <a:extLst>
                    <a:ext uri="{FF2B5EF4-FFF2-40B4-BE49-F238E27FC236}">
                      <a16:creationId xmlns:a16="http://schemas.microsoft.com/office/drawing/2014/main" id="{26C9F865-C0DD-40D9-9A15-4054EB4116C1}"/>
                    </a:ext>
                  </a:extLst>
                </p:cNvPr>
                <p:cNvPicPr>
                  <a:picLocks noChangeAspect="1"/>
                </p:cNvPicPr>
                <p:nvPr/>
              </p:nvPicPr>
              <p:blipFill>
                <a:blip r:embed="rId2"/>
                <a:stretch>
                  <a:fillRect/>
                </a:stretch>
              </p:blipFill>
              <p:spPr>
                <a:xfrm>
                  <a:off x="1333965" y="4197918"/>
                  <a:ext cx="9524068" cy="2065063"/>
                </a:xfrm>
                <a:prstGeom prst="rect">
                  <a:avLst/>
                </a:prstGeom>
              </p:spPr>
            </p:pic>
            <p:sp>
              <p:nvSpPr>
                <p:cNvPr id="12" name="화살표: 아래쪽 11">
                  <a:extLst>
                    <a:ext uri="{FF2B5EF4-FFF2-40B4-BE49-F238E27FC236}">
                      <a16:creationId xmlns:a16="http://schemas.microsoft.com/office/drawing/2014/main" id="{0501C8F4-C16F-4E70-A3F1-D8E7CBDA5631}"/>
                    </a:ext>
                  </a:extLst>
                </p:cNvPr>
                <p:cNvSpPr/>
                <p:nvPr/>
              </p:nvSpPr>
              <p:spPr>
                <a:xfrm>
                  <a:off x="5909144" y="3919462"/>
                  <a:ext cx="373711"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4" name="직사각형 13">
                <a:extLst>
                  <a:ext uri="{FF2B5EF4-FFF2-40B4-BE49-F238E27FC236}">
                    <a16:creationId xmlns:a16="http://schemas.microsoft.com/office/drawing/2014/main" id="{026BBF9E-9DAF-4184-92D3-C7FB0ADF7E44}"/>
                  </a:ext>
                </a:extLst>
              </p:cNvPr>
              <p:cNvSpPr/>
              <p:nvPr/>
            </p:nvSpPr>
            <p:spPr>
              <a:xfrm>
                <a:off x="9255318" y="5390984"/>
                <a:ext cx="604299" cy="13517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6" name="직사각형 15">
              <a:extLst>
                <a:ext uri="{FF2B5EF4-FFF2-40B4-BE49-F238E27FC236}">
                  <a16:creationId xmlns:a16="http://schemas.microsoft.com/office/drawing/2014/main" id="{A6121A0B-B12B-492E-92DD-EC4EEA441DB7}"/>
                </a:ext>
              </a:extLst>
            </p:cNvPr>
            <p:cNvSpPr/>
            <p:nvPr/>
          </p:nvSpPr>
          <p:spPr>
            <a:xfrm>
              <a:off x="1439186" y="4953663"/>
              <a:ext cx="628153" cy="15107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70162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a:t>
            </a:r>
            <a:r>
              <a:rPr lang="en-US" altLang="ko-KR" sz="2800" b="1" dirty="0" err="1"/>
              <a:t>DaemonSets</a:t>
            </a:r>
            <a:r>
              <a:rPr lang="en-US" altLang="ko-KR" sz="2800" b="1" dirty="0"/>
              <a:t> to Specific Nodes(3/4)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Node Selectors :</a:t>
            </a:r>
          </a:p>
          <a:p>
            <a:pPr lvl="1">
              <a:buFont typeface="Wingdings" panose="05000000000000000000" pitchFamily="2" charset="2"/>
              <a:buChar char="§"/>
            </a:pPr>
            <a:r>
              <a:rPr lang="en-US" altLang="ko-KR" sz="1400" b="1" dirty="0"/>
              <a:t>“</a:t>
            </a:r>
            <a:r>
              <a:rPr lang="en-US" altLang="ko-KR" sz="1400" b="1" dirty="0">
                <a:solidFill>
                  <a:srgbClr val="FF0000"/>
                </a:solidFill>
              </a:rPr>
              <a:t>Node selectors</a:t>
            </a:r>
            <a:r>
              <a:rPr lang="en-US" altLang="ko-KR" sz="1400" b="1" dirty="0"/>
              <a:t>” can be used to limit what nodes a Pod can run on in a given Kubernetes cluster</a:t>
            </a:r>
            <a:r>
              <a:rPr lang="en-US" altLang="ko-KR" sz="1400" dirty="0"/>
              <a:t>. “</a:t>
            </a:r>
            <a:r>
              <a:rPr lang="en-US" altLang="ko-KR" sz="1400" b="1" dirty="0"/>
              <a:t>Node selectors” are defined as part of the “</a:t>
            </a:r>
            <a:r>
              <a:rPr lang="en-US" altLang="ko-KR" sz="1400" b="1" dirty="0">
                <a:solidFill>
                  <a:srgbClr val="FF0000"/>
                </a:solidFill>
              </a:rPr>
              <a:t>Pod spec</a:t>
            </a:r>
            <a:r>
              <a:rPr lang="en-US" altLang="ko-KR" sz="1400" b="1" dirty="0"/>
              <a:t>” when creating a </a:t>
            </a:r>
            <a:r>
              <a:rPr lang="en-US" altLang="ko-KR" sz="1400" b="1" dirty="0" err="1"/>
              <a:t>DaemonSet</a:t>
            </a:r>
            <a:r>
              <a:rPr lang="en-US" altLang="ko-KR" sz="1400" dirty="0"/>
              <a:t>. The following “</a:t>
            </a:r>
            <a:r>
              <a:rPr lang="en-US" altLang="ko-KR" sz="1400" b="1" dirty="0" err="1"/>
              <a:t>DaemonSet</a:t>
            </a:r>
            <a:r>
              <a:rPr lang="en-US" altLang="ko-KR" sz="1400" b="1" dirty="0"/>
              <a:t> configuration</a:t>
            </a:r>
            <a:r>
              <a:rPr lang="en-US" altLang="ko-KR" sz="1400" dirty="0"/>
              <a:t>” limits </a:t>
            </a:r>
            <a:r>
              <a:rPr lang="en-US" altLang="ko-KR" sz="1400" b="1" dirty="0"/>
              <a:t>“NGINX” </a:t>
            </a:r>
            <a:r>
              <a:rPr lang="en-US" altLang="ko-KR" sz="1400" dirty="0"/>
              <a:t>to running only on nodes with the </a:t>
            </a:r>
            <a:r>
              <a:rPr lang="en-US" altLang="ko-KR" sz="1400" b="1" dirty="0"/>
              <a:t>“</a:t>
            </a:r>
            <a:r>
              <a:rPr lang="en-US" altLang="ko-KR" sz="1400" b="1" dirty="0" err="1">
                <a:solidFill>
                  <a:srgbClr val="FF0000"/>
                </a:solidFill>
              </a:rPr>
              <a:t>ssd</a:t>
            </a:r>
            <a:r>
              <a:rPr lang="en-US" altLang="ko-KR" sz="1400" b="1" dirty="0">
                <a:solidFill>
                  <a:srgbClr val="FF0000"/>
                </a:solidFill>
              </a:rPr>
              <a:t>=true</a:t>
            </a:r>
            <a:r>
              <a:rPr lang="en-US" altLang="ko-KR" sz="1400" b="1" dirty="0"/>
              <a:t>” </a:t>
            </a:r>
            <a:r>
              <a:rPr lang="en-US" altLang="ko-KR" sz="1400" dirty="0"/>
              <a:t>label set.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C1AC9054-B6AF-4495-AD96-32E91E71C17B}"/>
              </a:ext>
            </a:extLst>
          </p:cNvPr>
          <p:cNvGrpSpPr/>
          <p:nvPr/>
        </p:nvGrpSpPr>
        <p:grpSpPr>
          <a:xfrm>
            <a:off x="3048000" y="2082548"/>
            <a:ext cx="6096000" cy="3570208"/>
            <a:chOff x="3048000" y="1891717"/>
            <a:chExt cx="6096000" cy="3570208"/>
          </a:xfrm>
        </p:grpSpPr>
        <p:sp>
          <p:nvSpPr>
            <p:cNvPr id="4" name="직사각형 3">
              <a:extLst>
                <a:ext uri="{FF2B5EF4-FFF2-40B4-BE49-F238E27FC236}">
                  <a16:creationId xmlns:a16="http://schemas.microsoft.com/office/drawing/2014/main" id="{37A44BD4-F0B4-4AF8-97CF-D3663475019C}"/>
                </a:ext>
              </a:extLst>
            </p:cNvPr>
            <p:cNvSpPr/>
            <p:nvPr/>
          </p:nvSpPr>
          <p:spPr>
            <a:xfrm>
              <a:off x="3048000" y="1891717"/>
              <a:ext cx="6096000" cy="3323987"/>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apps/v1</a:t>
              </a:r>
            </a:p>
            <a:p>
              <a:r>
                <a:rPr lang="en-US" altLang="ko-KR" sz="1000" b="1" dirty="0"/>
                <a:t>kind: </a:t>
              </a:r>
              <a:r>
                <a:rPr lang="en-US" altLang="ko-KR" sz="1000" b="1" dirty="0" err="1"/>
                <a:t>DaemonSet</a:t>
              </a:r>
              <a:endParaRPr lang="en-US" altLang="ko-KR" sz="1000" b="1" dirty="0"/>
            </a:p>
            <a:p>
              <a:r>
                <a:rPr lang="en-US" altLang="ko-KR" sz="1000" b="1" dirty="0"/>
                <a:t>metadata:</a:t>
              </a:r>
            </a:p>
            <a:p>
              <a:r>
                <a:rPr lang="en-US" altLang="ko-KR" sz="1000" b="1" dirty="0"/>
                <a:t>  labels:</a:t>
              </a:r>
            </a:p>
            <a:p>
              <a:r>
                <a:rPr lang="en-US" altLang="ko-KR" sz="1000" b="1" dirty="0"/>
                <a:t>    app: </a:t>
              </a:r>
              <a:r>
                <a:rPr lang="en-US" altLang="ko-KR" sz="1000" b="1" dirty="0" err="1">
                  <a:solidFill>
                    <a:srgbClr val="FF0000"/>
                  </a:solidFill>
                </a:rPr>
                <a:t>nginx</a:t>
              </a:r>
              <a:endParaRPr lang="en-US" altLang="ko-KR" sz="1000" b="1" dirty="0">
                <a:solidFill>
                  <a:srgbClr val="FF0000"/>
                </a:solidFill>
              </a:endParaRPr>
            </a:p>
            <a:p>
              <a:r>
                <a:rPr lang="en-US" altLang="ko-KR" sz="1000" b="1" dirty="0"/>
                <a:t>    </a:t>
              </a:r>
              <a:r>
                <a:rPr lang="en-US" altLang="ko-KR" sz="1000" b="1" dirty="0" err="1"/>
                <a:t>ssd</a:t>
              </a:r>
              <a:r>
                <a:rPr lang="en-US" altLang="ko-KR" sz="1000" b="1" dirty="0"/>
                <a:t>: "true"</a:t>
              </a:r>
            </a:p>
            <a:p>
              <a:r>
                <a:rPr lang="en-US" altLang="ko-KR" sz="1000" b="1" dirty="0"/>
                <a:t>  name: </a:t>
              </a:r>
              <a:r>
                <a:rPr lang="en-US" altLang="ko-KR" sz="1000" b="1" dirty="0" err="1">
                  <a:solidFill>
                    <a:srgbClr val="FF0000"/>
                  </a:solidFill>
                </a:rPr>
                <a:t>nginx-ssd</a:t>
              </a:r>
              <a:endParaRPr lang="en-US" altLang="ko-KR" sz="1000" b="1" dirty="0">
                <a:solidFill>
                  <a:srgbClr val="FF0000"/>
                </a:solidFill>
              </a:endParaRPr>
            </a:p>
            <a:p>
              <a:r>
                <a:rPr lang="en-US" altLang="ko-KR" sz="1000" b="1" dirty="0"/>
                <a:t>spec:</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name: </a:t>
              </a:r>
              <a:r>
                <a:rPr lang="en-US" altLang="ko-KR" sz="1000" b="1" dirty="0" err="1">
                  <a:solidFill>
                    <a:srgbClr val="FF0000"/>
                  </a:solidFill>
                </a:rPr>
                <a:t>nginx</a:t>
              </a:r>
              <a:endParaRPr lang="en-US" altLang="ko-KR" sz="1000" b="1" dirty="0">
                <a:solidFill>
                  <a:srgbClr val="FF0000"/>
                </a:solidFill>
              </a:endParaRPr>
            </a:p>
            <a:p>
              <a:r>
                <a:rPr lang="en-US" altLang="ko-KR" sz="1000" b="1" dirty="0"/>
                <a:t>  template:</a:t>
              </a:r>
            </a:p>
            <a:p>
              <a:r>
                <a:rPr lang="en-US" altLang="ko-KR" sz="1000" b="1" dirty="0"/>
                <a:t>    metadata:</a:t>
              </a:r>
            </a:p>
            <a:p>
              <a:r>
                <a:rPr lang="en-US" altLang="ko-KR" sz="1000" b="1" dirty="0"/>
                <a:t>      labels:</a:t>
              </a:r>
            </a:p>
            <a:p>
              <a:r>
                <a:rPr lang="en-US" altLang="ko-KR" sz="1000" b="1" dirty="0"/>
                <a:t>        name: </a:t>
              </a:r>
              <a:r>
                <a:rPr lang="en-US" altLang="ko-KR" sz="1000" b="1" dirty="0" err="1">
                  <a:solidFill>
                    <a:srgbClr val="FF0000"/>
                  </a:solidFill>
                </a:rPr>
                <a:t>nginx</a:t>
              </a:r>
              <a:endParaRPr lang="en-US" altLang="ko-KR" sz="1000" b="1" dirty="0">
                <a:solidFill>
                  <a:srgbClr val="FF0000"/>
                </a:solidFill>
              </a:endParaRPr>
            </a:p>
            <a:p>
              <a:r>
                <a:rPr lang="en-US" altLang="ko-KR" sz="1000" b="1" dirty="0"/>
                <a:t>    spec:</a:t>
              </a:r>
            </a:p>
            <a:p>
              <a:r>
                <a:rPr lang="en-US" altLang="ko-KR" sz="1000" b="1" dirty="0"/>
                <a:t>      </a:t>
              </a:r>
              <a:r>
                <a:rPr lang="en-US" altLang="ko-KR" sz="1000" b="1" dirty="0" err="1"/>
                <a:t>nodeSelector</a:t>
              </a:r>
              <a:r>
                <a:rPr lang="en-US" altLang="ko-KR" sz="1000" b="1" dirty="0"/>
                <a:t>:</a:t>
              </a:r>
            </a:p>
            <a:p>
              <a:r>
                <a:rPr lang="en-US" altLang="ko-KR" sz="1000" b="1" dirty="0"/>
                <a:t>        </a:t>
              </a:r>
              <a:r>
                <a:rPr lang="en-US" altLang="ko-KR" sz="1000" b="1" dirty="0" err="1">
                  <a:solidFill>
                    <a:srgbClr val="FF0000"/>
                  </a:solidFill>
                </a:rPr>
                <a:t>ssd</a:t>
              </a:r>
              <a:r>
                <a:rPr lang="en-US" altLang="ko-KR" sz="1000" b="1" dirty="0">
                  <a:solidFill>
                    <a:srgbClr val="FF0000"/>
                  </a:solidFill>
                </a:rPr>
                <a:t>: "true"</a:t>
              </a:r>
            </a:p>
            <a:p>
              <a:r>
                <a:rPr lang="en-US" altLang="ko-KR" sz="1000" b="1" dirty="0"/>
                <a:t>      containers:</a:t>
              </a:r>
            </a:p>
            <a:p>
              <a:r>
                <a:rPr lang="en-US" altLang="ko-KR" sz="1000" b="1" dirty="0"/>
                <a:t>      - name: </a:t>
              </a:r>
              <a:r>
                <a:rPr lang="en-US" altLang="ko-KR" sz="1000" b="1" dirty="0" err="1"/>
                <a:t>nginx</a:t>
              </a:r>
              <a:endParaRPr lang="en-US" altLang="ko-KR" sz="1000" b="1" dirty="0"/>
            </a:p>
            <a:p>
              <a:r>
                <a:rPr lang="en-US" altLang="ko-KR" sz="1000" b="1" dirty="0"/>
                <a:t>        image: </a:t>
              </a:r>
              <a:r>
                <a:rPr lang="en-US" altLang="ko-KR" sz="1000" b="1" dirty="0" err="1"/>
                <a:t>nginx</a:t>
              </a:r>
              <a:endParaRPr lang="ko-KR" altLang="en-US" sz="1000" b="1" dirty="0"/>
            </a:p>
          </p:txBody>
        </p:sp>
        <p:sp>
          <p:nvSpPr>
            <p:cNvPr id="8" name="TextBox 7">
              <a:extLst>
                <a:ext uri="{FF2B5EF4-FFF2-40B4-BE49-F238E27FC236}">
                  <a16:creationId xmlns:a16="http://schemas.microsoft.com/office/drawing/2014/main" id="{CEAE9EEF-0B68-4B26-8827-8E23378CD013}"/>
                </a:ext>
              </a:extLst>
            </p:cNvPr>
            <p:cNvSpPr txBox="1"/>
            <p:nvPr/>
          </p:nvSpPr>
          <p:spPr>
            <a:xfrm>
              <a:off x="5179723" y="5215704"/>
              <a:ext cx="1832553" cy="246221"/>
            </a:xfrm>
            <a:prstGeom prst="rect">
              <a:avLst/>
            </a:prstGeom>
            <a:noFill/>
          </p:spPr>
          <p:txBody>
            <a:bodyPr wrap="none" rtlCol="0">
              <a:spAutoFit/>
            </a:bodyPr>
            <a:lstStyle/>
            <a:p>
              <a:pPr algn="ctr"/>
              <a:r>
                <a:rPr lang="en-US" altLang="ko-KR" sz="1000" b="1" dirty="0" err="1"/>
                <a:t>nginx-ssd-daemonset.yaml</a:t>
              </a:r>
              <a:endParaRPr lang="ko-KR" altLang="en-US" sz="1000" b="1" dirty="0"/>
            </a:p>
          </p:txBody>
        </p:sp>
      </p:grpSp>
      <p:sp>
        <p:nvSpPr>
          <p:cNvPr id="10" name="직사각형 9">
            <a:extLst>
              <a:ext uri="{FF2B5EF4-FFF2-40B4-BE49-F238E27FC236}">
                <a16:creationId xmlns:a16="http://schemas.microsoft.com/office/drawing/2014/main" id="{FE9311FB-7A04-C3F6-01A5-67D2081DAFDA}"/>
              </a:ext>
            </a:extLst>
          </p:cNvPr>
          <p:cNvSpPr/>
          <p:nvPr/>
        </p:nvSpPr>
        <p:spPr>
          <a:xfrm>
            <a:off x="3268494" y="4565515"/>
            <a:ext cx="1095983" cy="3307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701548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a:t>
            </a:r>
            <a:r>
              <a:rPr lang="en-US" altLang="ko-KR" sz="2800" b="1" dirty="0" err="1"/>
              <a:t>DaemonSets</a:t>
            </a:r>
            <a:r>
              <a:rPr lang="en-US" altLang="ko-KR" sz="2800" b="1" dirty="0"/>
              <a:t> to Specific Nodes(4/4)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Node Selectors :</a:t>
            </a:r>
          </a:p>
          <a:p>
            <a:pPr lvl="1">
              <a:buFont typeface="Wingdings" panose="05000000000000000000" pitchFamily="2" charset="2"/>
              <a:buChar char="§"/>
            </a:pPr>
            <a:r>
              <a:rPr lang="en-US" altLang="ko-KR" sz="1400" b="1" dirty="0"/>
              <a:t>Let’s submit the “</a:t>
            </a:r>
            <a:r>
              <a:rPr lang="en-US" altLang="ko-KR" sz="1400" b="1" dirty="0" err="1"/>
              <a:t>nginx-ssd</a:t>
            </a:r>
            <a:r>
              <a:rPr lang="en-US" altLang="ko-KR" sz="1400" b="1" dirty="0"/>
              <a:t>” </a:t>
            </a:r>
            <a:r>
              <a:rPr lang="en-US" altLang="ko-KR" sz="1400" b="1" dirty="0" err="1"/>
              <a:t>DaemonSet</a:t>
            </a:r>
            <a:r>
              <a:rPr lang="en-US" altLang="ko-KR" sz="1400" b="1" dirty="0"/>
              <a:t> to the Kubernetes API </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Since there is only one node(“</a:t>
            </a:r>
            <a:r>
              <a:rPr lang="en-US" altLang="ko-KR" sz="1400" b="1" dirty="0" err="1"/>
              <a:t>minikube</a:t>
            </a:r>
            <a:r>
              <a:rPr lang="en-US" altLang="ko-KR" sz="1400" b="1" dirty="0"/>
              <a:t>”</a:t>
            </a:r>
            <a:r>
              <a:rPr lang="en-US" altLang="ko-KR" sz="1400" dirty="0"/>
              <a:t>) with the “</a:t>
            </a:r>
            <a:r>
              <a:rPr lang="en-US" altLang="ko-KR" sz="1400" b="1" dirty="0" err="1">
                <a:solidFill>
                  <a:srgbClr val="FF0000"/>
                </a:solidFill>
              </a:rPr>
              <a:t>ssd</a:t>
            </a:r>
            <a:r>
              <a:rPr lang="en-US" altLang="ko-KR" sz="1400" b="1" dirty="0">
                <a:solidFill>
                  <a:srgbClr val="FF0000"/>
                </a:solidFill>
              </a:rPr>
              <a:t>=true</a:t>
            </a:r>
            <a:r>
              <a:rPr lang="en-US" altLang="ko-KR" sz="1400" dirty="0"/>
              <a:t>” label, the “</a:t>
            </a:r>
            <a:r>
              <a:rPr lang="en-US" altLang="ko-KR" sz="1400" b="1" dirty="0" err="1"/>
              <a:t>nginx-ssd</a:t>
            </a:r>
            <a:r>
              <a:rPr lang="en-US" altLang="ko-KR" sz="1400" dirty="0"/>
              <a:t>” Pod will only run on that node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solidFill>
                  <a:srgbClr val="FF0000"/>
                </a:solidFill>
              </a:rPr>
              <a:t>NOTICE!!! :</a:t>
            </a:r>
            <a:r>
              <a:rPr lang="en-US" altLang="ko-KR" sz="1400" dirty="0">
                <a:solidFill>
                  <a:srgbClr val="FF0000"/>
                </a:solidFill>
              </a:rPr>
              <a:t> </a:t>
            </a:r>
            <a:r>
              <a:rPr lang="en-US" altLang="ko-KR" sz="1400" b="1" dirty="0">
                <a:solidFill>
                  <a:srgbClr val="FF0000"/>
                </a:solidFill>
              </a:rPr>
              <a:t>Removing labels from a node that are required by a </a:t>
            </a:r>
            <a:r>
              <a:rPr lang="en-US" altLang="ko-KR" sz="1400" b="1" dirty="0" err="1">
                <a:solidFill>
                  <a:srgbClr val="FF0000"/>
                </a:solidFill>
              </a:rPr>
              <a:t>DaemonSet’s</a:t>
            </a:r>
            <a:r>
              <a:rPr lang="en-US" altLang="ko-KR" sz="1400" b="1" dirty="0">
                <a:solidFill>
                  <a:srgbClr val="FF0000"/>
                </a:solidFill>
              </a:rPr>
              <a:t> node selector will cause the Pod being managed by that </a:t>
            </a:r>
            <a:r>
              <a:rPr lang="en-US" altLang="ko-KR" sz="1400" b="1" dirty="0" err="1">
                <a:solidFill>
                  <a:srgbClr val="FF0000"/>
                </a:solidFill>
              </a:rPr>
              <a:t>DaemonSet</a:t>
            </a:r>
            <a:r>
              <a:rPr lang="en-US" altLang="ko-KR" sz="1400" b="1" dirty="0">
                <a:solidFill>
                  <a:srgbClr val="FF0000"/>
                </a:solidFill>
              </a:rPr>
              <a:t> to be removed from the node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D3201F75-E562-40AE-A7DC-E269941DFE0E}"/>
              </a:ext>
            </a:extLst>
          </p:cNvPr>
          <p:cNvSpPr/>
          <p:nvPr/>
        </p:nvSpPr>
        <p:spPr>
          <a:xfrm>
            <a:off x="4230345" y="1447339"/>
            <a:ext cx="3731310"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nginx-ssd-daemonset.yaml</a:t>
            </a:r>
            <a:endParaRPr lang="ko-KR" altLang="en-US" sz="1000" b="1" dirty="0">
              <a:solidFill>
                <a:srgbClr val="FF0000"/>
              </a:solidFill>
            </a:endParaRPr>
          </a:p>
        </p:txBody>
      </p:sp>
      <p:grpSp>
        <p:nvGrpSpPr>
          <p:cNvPr id="14" name="그룹 13">
            <a:extLst>
              <a:ext uri="{FF2B5EF4-FFF2-40B4-BE49-F238E27FC236}">
                <a16:creationId xmlns:a16="http://schemas.microsoft.com/office/drawing/2014/main" id="{844EC3B9-1533-45B6-B502-91B8690E34F9}"/>
              </a:ext>
            </a:extLst>
          </p:cNvPr>
          <p:cNvGrpSpPr/>
          <p:nvPr/>
        </p:nvGrpSpPr>
        <p:grpSpPr>
          <a:xfrm>
            <a:off x="1200383" y="2243382"/>
            <a:ext cx="9791233" cy="3047265"/>
            <a:chOff x="1200383" y="2243382"/>
            <a:chExt cx="9791233" cy="3047265"/>
          </a:xfrm>
        </p:grpSpPr>
        <p:grpSp>
          <p:nvGrpSpPr>
            <p:cNvPr id="11" name="그룹 10">
              <a:extLst>
                <a:ext uri="{FF2B5EF4-FFF2-40B4-BE49-F238E27FC236}">
                  <a16:creationId xmlns:a16="http://schemas.microsoft.com/office/drawing/2014/main" id="{A8181898-F5F8-4F0A-AA43-CE6457E69079}"/>
                </a:ext>
              </a:extLst>
            </p:cNvPr>
            <p:cNvGrpSpPr/>
            <p:nvPr/>
          </p:nvGrpSpPr>
          <p:grpSpPr>
            <a:xfrm>
              <a:off x="1200383" y="2243382"/>
              <a:ext cx="9791233" cy="3047265"/>
              <a:chOff x="1200383" y="2243382"/>
              <a:chExt cx="9791233" cy="3047265"/>
            </a:xfrm>
          </p:grpSpPr>
          <p:sp>
            <p:nvSpPr>
              <p:cNvPr id="8" name="직사각형 7">
                <a:extLst>
                  <a:ext uri="{FF2B5EF4-FFF2-40B4-BE49-F238E27FC236}">
                    <a16:creationId xmlns:a16="http://schemas.microsoft.com/office/drawing/2014/main" id="{9E1D8340-23AB-4453-B0E6-76AE9F9712A5}"/>
                  </a:ext>
                </a:extLst>
              </p:cNvPr>
              <p:cNvSpPr/>
              <p:nvPr/>
            </p:nvSpPr>
            <p:spPr>
              <a:xfrm>
                <a:off x="4230345" y="2243382"/>
                <a:ext cx="3731310"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pods -o wide</a:t>
                </a:r>
                <a:endParaRPr lang="ko-KR" altLang="en-US" sz="1000" b="1" dirty="0"/>
              </a:p>
            </p:txBody>
          </p:sp>
          <p:pic>
            <p:nvPicPr>
              <p:cNvPr id="9" name="그림 8">
                <a:extLst>
                  <a:ext uri="{FF2B5EF4-FFF2-40B4-BE49-F238E27FC236}">
                    <a16:creationId xmlns:a16="http://schemas.microsoft.com/office/drawing/2014/main" id="{471C41F7-5813-48AE-A913-B53EED354015}"/>
                  </a:ext>
                </a:extLst>
              </p:cNvPr>
              <p:cNvPicPr>
                <a:picLocks noChangeAspect="1"/>
              </p:cNvPicPr>
              <p:nvPr/>
            </p:nvPicPr>
            <p:blipFill>
              <a:blip r:embed="rId2"/>
              <a:stretch>
                <a:fillRect/>
              </a:stretch>
            </p:blipFill>
            <p:spPr>
              <a:xfrm>
                <a:off x="1200383" y="2760042"/>
                <a:ext cx="9791233" cy="2530605"/>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90294DF4-2D6C-42EE-98EF-96F3771B2FF8}"/>
                  </a:ext>
                </a:extLst>
              </p:cNvPr>
              <p:cNvSpPr/>
              <p:nvPr/>
            </p:nvSpPr>
            <p:spPr>
              <a:xfrm>
                <a:off x="5905168" y="2501712"/>
                <a:ext cx="381663"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직사각형 11">
              <a:extLst>
                <a:ext uri="{FF2B5EF4-FFF2-40B4-BE49-F238E27FC236}">
                  <a16:creationId xmlns:a16="http://schemas.microsoft.com/office/drawing/2014/main" id="{5C9590CC-2891-426E-9C7C-C86B228F8075}"/>
                </a:ext>
              </a:extLst>
            </p:cNvPr>
            <p:cNvSpPr/>
            <p:nvPr/>
          </p:nvSpPr>
          <p:spPr>
            <a:xfrm>
              <a:off x="1311965" y="3514476"/>
              <a:ext cx="2269435" cy="182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27A0B900-80AF-429F-B944-35167E0B8A09}"/>
                </a:ext>
              </a:extLst>
            </p:cNvPr>
            <p:cNvSpPr/>
            <p:nvPr/>
          </p:nvSpPr>
          <p:spPr>
            <a:xfrm>
              <a:off x="1311965" y="4826442"/>
              <a:ext cx="7768425" cy="182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024900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a </a:t>
            </a:r>
            <a:r>
              <a:rPr lang="en-US" altLang="ko-KR" sz="2800" b="1" dirty="0" err="1"/>
              <a:t>DaemonSet</a:t>
            </a:r>
            <a:r>
              <a:rPr lang="en-US" altLang="ko-KR" sz="2800" b="1" dirty="0"/>
              <a:t>(1/2)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Rolling Update of a </a:t>
            </a:r>
            <a:r>
              <a:rPr lang="en-US" altLang="ko-KR" sz="1800" b="1" dirty="0" err="1"/>
              <a:t>DaemonSet</a:t>
            </a:r>
            <a:r>
              <a:rPr lang="en-US" altLang="ko-KR" sz="1800" b="1" dirty="0"/>
              <a:t> :</a:t>
            </a:r>
          </a:p>
          <a:p>
            <a:pPr lvl="1">
              <a:buFont typeface="Wingdings" panose="05000000000000000000" pitchFamily="2" charset="2"/>
              <a:buChar char="§"/>
            </a:pPr>
            <a:r>
              <a:rPr lang="en-US" altLang="ko-KR" sz="1400" b="1" dirty="0" err="1"/>
              <a:t>DaemonSets</a:t>
            </a:r>
            <a:r>
              <a:rPr lang="en-US" altLang="ko-KR" sz="1400" b="1" dirty="0"/>
              <a:t> are great for deploying services across an entire cluster, but what about upgrades?</a:t>
            </a:r>
            <a:r>
              <a:rPr lang="en-US" altLang="ko-KR" sz="1400" dirty="0"/>
              <a:t> Prior to Kubernetes 1.6, the only way to update Pods managed by a </a:t>
            </a:r>
            <a:r>
              <a:rPr lang="en-US" altLang="ko-KR" sz="1400" dirty="0" err="1"/>
              <a:t>DaemonSet</a:t>
            </a:r>
            <a:r>
              <a:rPr lang="en-US" altLang="ko-KR" sz="1400" dirty="0"/>
              <a:t> was to </a:t>
            </a:r>
            <a:r>
              <a:rPr lang="en-US" altLang="ko-KR" sz="1400" b="1" dirty="0"/>
              <a:t>update the </a:t>
            </a:r>
            <a:r>
              <a:rPr lang="en-US" altLang="ko-KR" sz="1400" b="1" dirty="0" err="1"/>
              <a:t>DaemonSet</a:t>
            </a:r>
            <a:r>
              <a:rPr lang="en-US" altLang="ko-KR" sz="1400" b="1" dirty="0"/>
              <a:t> </a:t>
            </a:r>
            <a:r>
              <a:rPr lang="en-US" altLang="ko-KR" sz="1400" dirty="0"/>
              <a:t>and then </a:t>
            </a:r>
            <a:r>
              <a:rPr lang="en-US" altLang="ko-KR" sz="1400" b="1" dirty="0"/>
              <a:t>manually delete each Pod </a:t>
            </a:r>
            <a:r>
              <a:rPr lang="en-US" altLang="ko-KR" sz="1400" dirty="0"/>
              <a:t>that was managed by the </a:t>
            </a:r>
            <a:r>
              <a:rPr lang="en-US" altLang="ko-KR" sz="1400" dirty="0" err="1"/>
              <a:t>DaemonSet</a:t>
            </a:r>
            <a:r>
              <a:rPr lang="en-US" altLang="ko-KR" sz="1400" dirty="0"/>
              <a:t> so that it would </a:t>
            </a:r>
            <a:r>
              <a:rPr lang="en-US" altLang="ko-KR" sz="1400" b="1" dirty="0"/>
              <a:t>be re-created with the new configuration</a:t>
            </a:r>
            <a:r>
              <a:rPr lang="en-US" altLang="ko-KR" sz="1400" dirty="0"/>
              <a:t>. </a:t>
            </a:r>
            <a:r>
              <a:rPr lang="en-US" altLang="ko-KR" sz="1400" b="1" dirty="0"/>
              <a:t>With the release of Kubernetes 1.6, “</a:t>
            </a:r>
            <a:r>
              <a:rPr lang="en-US" altLang="ko-KR" sz="1400" b="1" dirty="0" err="1">
                <a:solidFill>
                  <a:srgbClr val="FF0000"/>
                </a:solidFill>
              </a:rPr>
              <a:t>DaemonSets</a:t>
            </a:r>
            <a:r>
              <a:rPr lang="en-US" altLang="ko-KR" sz="1400" b="1" dirty="0">
                <a:solidFill>
                  <a:srgbClr val="FF0000"/>
                </a:solidFill>
              </a:rPr>
              <a:t> gained an equivalent to the Deployment object that manages a </a:t>
            </a:r>
            <a:r>
              <a:rPr lang="en-US" altLang="ko-KR" sz="1400" b="1" dirty="0" err="1">
                <a:solidFill>
                  <a:srgbClr val="FF0000"/>
                </a:solidFill>
              </a:rPr>
              <a:t>DaemonSet</a:t>
            </a:r>
            <a:r>
              <a:rPr lang="en-US" altLang="ko-KR" sz="1400" b="1" dirty="0">
                <a:solidFill>
                  <a:srgbClr val="FF0000"/>
                </a:solidFill>
              </a:rPr>
              <a:t> rollout inside the cluster</a:t>
            </a:r>
            <a:r>
              <a:rPr lang="en-US" altLang="ko-KR" sz="1400" b="1" dirty="0"/>
              <a:t>”</a:t>
            </a:r>
            <a:r>
              <a:rPr lang="en-US" altLang="ko-KR" sz="1400" dirty="0"/>
              <a:t>.</a:t>
            </a:r>
          </a:p>
          <a:p>
            <a:pPr lvl="1">
              <a:buFont typeface="Wingdings" panose="05000000000000000000" pitchFamily="2" charset="2"/>
              <a:buChar char="§"/>
            </a:pPr>
            <a:r>
              <a:rPr lang="en-US" altLang="ko-KR" sz="1400" b="1" dirty="0" err="1"/>
              <a:t>DaemonSets</a:t>
            </a:r>
            <a:r>
              <a:rPr lang="en-US" altLang="ko-KR" sz="1400" b="1" dirty="0"/>
              <a:t> can be rolled out using the same “</a:t>
            </a:r>
            <a:r>
              <a:rPr lang="en-US" altLang="ko-KR" sz="1400" b="1" dirty="0" err="1">
                <a:solidFill>
                  <a:srgbClr val="FF0000"/>
                </a:solidFill>
              </a:rPr>
              <a:t>RollingUpdate</a:t>
            </a:r>
            <a:r>
              <a:rPr lang="en-US" altLang="ko-KR" sz="1400" b="1" dirty="0"/>
              <a:t>“ strategy that deployments use</a:t>
            </a:r>
            <a:r>
              <a:rPr lang="en-US" altLang="ko-KR" sz="1400" dirty="0"/>
              <a:t>. You can configure the update strategy using the “</a:t>
            </a:r>
            <a:r>
              <a:rPr lang="en-US" altLang="ko-KR" sz="1400" b="1" dirty="0" err="1">
                <a:solidFill>
                  <a:srgbClr val="FF0000"/>
                </a:solidFill>
              </a:rPr>
              <a:t>spec.updateStrategy.type</a:t>
            </a:r>
            <a:r>
              <a:rPr lang="en-US" altLang="ko-KR" sz="1400" dirty="0"/>
              <a:t>” field, which should have the value “</a:t>
            </a:r>
            <a:r>
              <a:rPr lang="en-US" altLang="ko-KR" sz="1400" b="1" dirty="0" err="1"/>
              <a:t>RollingUpdate</a:t>
            </a:r>
            <a:r>
              <a:rPr lang="en-US" altLang="ko-KR" sz="1400" dirty="0"/>
              <a:t>”. When a </a:t>
            </a:r>
            <a:r>
              <a:rPr lang="en-US" altLang="ko-KR" sz="1400" dirty="0" err="1"/>
              <a:t>DaemonSet</a:t>
            </a:r>
            <a:r>
              <a:rPr lang="en-US" altLang="ko-KR" sz="1400" dirty="0"/>
              <a:t> has an update strategy of </a:t>
            </a:r>
            <a:r>
              <a:rPr lang="en-US" altLang="ko-KR" sz="1400" b="1" dirty="0" err="1"/>
              <a:t>RollingUpdate</a:t>
            </a:r>
            <a:r>
              <a:rPr lang="en-US" altLang="ko-KR" sz="1400" dirty="0"/>
              <a:t>, </a:t>
            </a:r>
            <a:r>
              <a:rPr lang="en-US" altLang="ko-KR" sz="1400" b="1" dirty="0"/>
              <a:t>any change to the “</a:t>
            </a:r>
            <a:r>
              <a:rPr lang="en-US" altLang="ko-KR" sz="1400" b="1" dirty="0" err="1"/>
              <a:t>spec.template</a:t>
            </a:r>
            <a:r>
              <a:rPr lang="en-US" altLang="ko-KR" sz="1400" b="1" dirty="0"/>
              <a:t>” field (or subfields) in the </a:t>
            </a:r>
            <a:r>
              <a:rPr lang="en-US" altLang="ko-KR" sz="1400" b="1" dirty="0" err="1"/>
              <a:t>DaemonSet</a:t>
            </a:r>
            <a:r>
              <a:rPr lang="en-US" altLang="ko-KR" sz="1400" b="1" dirty="0"/>
              <a:t> will initiate a rolling update(Refer to “</a:t>
            </a:r>
            <a:r>
              <a:rPr lang="en-US" altLang="ko-KR" sz="1400" b="1" dirty="0" err="1"/>
              <a:t>kubectl</a:t>
            </a:r>
            <a:r>
              <a:rPr lang="en-US" altLang="ko-KR" sz="1400" b="1" dirty="0"/>
              <a:t> apply -f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C7F1350-D231-4A53-9A20-CFA1B90622CA}"/>
              </a:ext>
            </a:extLst>
          </p:cNvPr>
          <p:cNvPicPr>
            <a:picLocks noChangeAspect="1"/>
          </p:cNvPicPr>
          <p:nvPr/>
        </p:nvPicPr>
        <p:blipFill>
          <a:blip r:embed="rId2"/>
          <a:stretch>
            <a:fillRect/>
          </a:stretch>
        </p:blipFill>
        <p:spPr>
          <a:xfrm>
            <a:off x="3692733" y="3164619"/>
            <a:ext cx="4806534" cy="3244411"/>
          </a:xfrm>
          <a:prstGeom prst="rect">
            <a:avLst/>
          </a:prstGeom>
        </p:spPr>
      </p:pic>
    </p:spTree>
    <p:extLst>
      <p:ext uri="{BB962C8B-B14F-4D97-AF65-F5344CB8AC3E}">
        <p14:creationId xmlns:p14="http://schemas.microsoft.com/office/powerpoint/2010/main" val="2964560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a </a:t>
            </a:r>
            <a:r>
              <a:rPr lang="en-US" altLang="ko-KR" sz="2800" b="1" dirty="0" err="1"/>
              <a:t>DaemonSet</a:t>
            </a:r>
            <a:r>
              <a:rPr lang="en-US" altLang="ko-KR" sz="2800" b="1" dirty="0"/>
              <a:t>(2/2)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Rolling Update of a </a:t>
            </a:r>
            <a:r>
              <a:rPr lang="en-US" altLang="ko-KR" sz="1800" b="1" dirty="0" err="1"/>
              <a:t>DaemonSet</a:t>
            </a:r>
            <a:r>
              <a:rPr lang="en-US" altLang="ko-KR" sz="1800" b="1" dirty="0"/>
              <a:t> :</a:t>
            </a:r>
          </a:p>
          <a:p>
            <a:pPr lvl="1">
              <a:buFont typeface="Wingdings" panose="05000000000000000000" pitchFamily="2" charset="2"/>
              <a:buChar char="§"/>
            </a:pPr>
            <a:r>
              <a:rPr lang="en-US" altLang="ko-KR" sz="1400" b="1" dirty="0"/>
              <a:t>As with rolling updates of deployments, </a:t>
            </a:r>
            <a:r>
              <a:rPr lang="en-US" altLang="ko-KR" sz="1400" b="1" dirty="0">
                <a:solidFill>
                  <a:srgbClr val="FF0000"/>
                </a:solidFill>
              </a:rPr>
              <a:t>the </a:t>
            </a:r>
            <a:r>
              <a:rPr lang="en-US" altLang="ko-KR" sz="1400" b="1" dirty="0" err="1">
                <a:solidFill>
                  <a:srgbClr val="FF0000"/>
                </a:solidFill>
              </a:rPr>
              <a:t>RollingUpdate</a:t>
            </a:r>
            <a:r>
              <a:rPr lang="en-US" altLang="ko-KR" sz="1400" b="1" dirty="0">
                <a:solidFill>
                  <a:srgbClr val="FF0000"/>
                </a:solidFill>
              </a:rPr>
              <a:t> strategy “gradually updates” members of a </a:t>
            </a:r>
            <a:r>
              <a:rPr lang="en-US" altLang="ko-KR" sz="1400" b="1" dirty="0" err="1">
                <a:solidFill>
                  <a:srgbClr val="FF0000"/>
                </a:solidFill>
              </a:rPr>
              <a:t>DaemonSet</a:t>
            </a:r>
            <a:r>
              <a:rPr lang="en-US" altLang="ko-KR" sz="1400" b="1" dirty="0">
                <a:solidFill>
                  <a:srgbClr val="FF0000"/>
                </a:solidFill>
              </a:rPr>
              <a:t> </a:t>
            </a:r>
            <a:r>
              <a:rPr lang="en-US" altLang="ko-KR" sz="1400" b="1" dirty="0"/>
              <a:t>until all of the Pods are running the new configuration</a:t>
            </a:r>
            <a:r>
              <a:rPr lang="en-US" altLang="ko-KR" sz="1400" dirty="0"/>
              <a:t>. There are two parameters that control the rolling update of a </a:t>
            </a:r>
            <a:r>
              <a:rPr lang="en-US" altLang="ko-KR" sz="1400" dirty="0" err="1"/>
              <a:t>DaemonSet</a:t>
            </a:r>
            <a:r>
              <a:rPr lang="en-US" altLang="ko-KR" sz="1400" dirty="0"/>
              <a:t>:</a:t>
            </a:r>
          </a:p>
          <a:p>
            <a:pPr lvl="2">
              <a:buFont typeface="Wingdings" panose="05000000000000000000" pitchFamily="2" charset="2"/>
              <a:buChar char="§"/>
            </a:pPr>
            <a:r>
              <a:rPr lang="en-US" altLang="ko-KR" sz="1400" dirty="0"/>
              <a:t>“</a:t>
            </a:r>
            <a:r>
              <a:rPr lang="en-US" altLang="ko-KR" sz="1400" b="1" dirty="0" err="1">
                <a:solidFill>
                  <a:srgbClr val="FF0000"/>
                </a:solidFill>
              </a:rPr>
              <a:t>spec.minReadySeconds</a:t>
            </a:r>
            <a:r>
              <a:rPr lang="en-US" altLang="ko-KR" sz="1400" dirty="0"/>
              <a:t>”, which determines </a:t>
            </a:r>
            <a:r>
              <a:rPr lang="en-US" altLang="ko-KR" sz="1400" b="1" dirty="0"/>
              <a:t>how long a Pod must be “ready” before the rolling update proceeds to upgrade subsequent Pods</a:t>
            </a:r>
          </a:p>
          <a:p>
            <a:pPr lvl="2">
              <a:buFont typeface="Wingdings" panose="05000000000000000000" pitchFamily="2" charset="2"/>
              <a:buChar char="§"/>
            </a:pPr>
            <a:r>
              <a:rPr lang="en-US" altLang="ko-KR" sz="1400" dirty="0"/>
              <a:t>“</a:t>
            </a:r>
            <a:r>
              <a:rPr lang="en-US" altLang="ko-KR" sz="1400" b="1" dirty="0" err="1">
                <a:solidFill>
                  <a:srgbClr val="FF0000"/>
                </a:solidFill>
              </a:rPr>
              <a:t>spec.updateStrategy.rollingUpdate.maxUnavailable</a:t>
            </a:r>
            <a:r>
              <a:rPr lang="en-US" altLang="ko-KR" sz="1400" dirty="0"/>
              <a:t>”, which indicates </a:t>
            </a:r>
            <a:r>
              <a:rPr lang="en-US" altLang="ko-KR" sz="1400" b="1" dirty="0"/>
              <a:t>how many Pods may be simultaneously updated by the rolling update</a:t>
            </a:r>
          </a:p>
          <a:p>
            <a:pPr lvl="1">
              <a:buFont typeface="Wingdings" panose="05000000000000000000" pitchFamily="2" charset="2"/>
              <a:buChar char="§"/>
            </a:pPr>
            <a:r>
              <a:rPr lang="en-US" altLang="ko-KR" sz="1400" dirty="0"/>
              <a:t>You will likely want to set “</a:t>
            </a:r>
            <a:r>
              <a:rPr lang="en-US" altLang="ko-KR" sz="1400" b="1" dirty="0" err="1"/>
              <a:t>spec.minReadySeconds</a:t>
            </a:r>
            <a:r>
              <a:rPr lang="en-US" altLang="ko-KR" sz="1400" dirty="0"/>
              <a:t>” to a reasonably long value, for example 30–60 seconds, to ensure that your Pod is truly healthy before the rollout proceeds.</a:t>
            </a:r>
          </a:p>
          <a:p>
            <a:pPr lvl="1">
              <a:buFont typeface="Wingdings" panose="05000000000000000000" pitchFamily="2" charset="2"/>
              <a:buChar char="§"/>
            </a:pPr>
            <a:r>
              <a:rPr lang="en-US" altLang="ko-KR" sz="1400" dirty="0"/>
              <a:t>The setting for “</a:t>
            </a:r>
            <a:r>
              <a:rPr lang="en-US" altLang="ko-KR" sz="1400" b="1" dirty="0" err="1"/>
              <a:t>spec.updateStrategy.rollingUpdate.maxUnavailable</a:t>
            </a:r>
            <a:r>
              <a:rPr lang="en-US" altLang="ko-KR" sz="1400" dirty="0"/>
              <a:t>” is more likely to be </a:t>
            </a:r>
            <a:r>
              <a:rPr lang="en-US" altLang="ko-KR" sz="1400" b="1" dirty="0"/>
              <a:t>application-dependent</a:t>
            </a:r>
            <a:r>
              <a:rPr lang="en-US" altLang="ko-KR" sz="1400" dirty="0"/>
              <a:t>. </a:t>
            </a:r>
            <a:r>
              <a:rPr lang="en-US" altLang="ko-KR" sz="1400" b="1" dirty="0"/>
              <a:t>Setting it to 1 is a safe, general-purpose strategy</a:t>
            </a:r>
            <a:r>
              <a:rPr lang="en-US" altLang="ko-KR" sz="1400" dirty="0"/>
              <a:t>, but it also takes a while to complete the rollout (number of nodes × </a:t>
            </a:r>
            <a:r>
              <a:rPr lang="en-US" altLang="ko-KR" sz="1400" dirty="0" err="1"/>
              <a:t>minReadySeconds</a:t>
            </a:r>
            <a:r>
              <a:rPr lang="en-US" altLang="ko-KR" sz="1400" dirty="0"/>
              <a:t>). Increasing the maximum unavailability will make your rollout move faster, but increases the “</a:t>
            </a:r>
            <a:r>
              <a:rPr lang="en-US" altLang="ko-KR" sz="1400" b="1" dirty="0"/>
              <a:t>blast radius</a:t>
            </a:r>
            <a:r>
              <a:rPr lang="en-US" altLang="ko-KR" sz="1400" dirty="0"/>
              <a:t>” of a failed rollout. </a:t>
            </a:r>
            <a:r>
              <a:rPr lang="en-US" altLang="ko-KR" sz="1400" b="1" dirty="0"/>
              <a:t>The characteristics of your application and cluster environment dictate the relative values of speed versus safety</a:t>
            </a:r>
            <a:r>
              <a:rPr lang="en-US" altLang="ko-KR" sz="1400" dirty="0"/>
              <a:t>. </a:t>
            </a:r>
            <a:r>
              <a:rPr lang="en-US" altLang="ko-KR" sz="1400" b="1" dirty="0"/>
              <a:t>A good approach might be to set </a:t>
            </a:r>
            <a:r>
              <a:rPr lang="en-US" altLang="ko-KR" sz="1400" b="1" dirty="0" err="1"/>
              <a:t>maxUnavailable</a:t>
            </a:r>
            <a:r>
              <a:rPr lang="en-US" altLang="ko-KR" sz="1400" b="1" dirty="0"/>
              <a:t> to 1 and only increase it if users or administrators complain about </a:t>
            </a:r>
            <a:r>
              <a:rPr lang="en-US" altLang="ko-KR" sz="1400" b="1" dirty="0" err="1"/>
              <a:t>DaemonSet</a:t>
            </a:r>
            <a:r>
              <a:rPr lang="en-US" altLang="ko-KR" sz="1400" b="1" dirty="0"/>
              <a:t> rollout speed</a:t>
            </a:r>
            <a:r>
              <a:rPr lang="en-US" altLang="ko-KR" sz="1400" dirty="0"/>
              <a:t>.</a:t>
            </a:r>
          </a:p>
          <a:p>
            <a:pPr lvl="1">
              <a:buFont typeface="Wingdings" panose="05000000000000000000" pitchFamily="2" charset="2"/>
              <a:buChar char="§"/>
            </a:pPr>
            <a:r>
              <a:rPr lang="en-US" altLang="ko-KR" sz="1400" dirty="0"/>
              <a:t>Once a rolling update has started, you can </a:t>
            </a:r>
            <a:r>
              <a:rPr lang="en-US" altLang="ko-KR" sz="1400" b="1" dirty="0"/>
              <a:t>use the “</a:t>
            </a:r>
            <a:r>
              <a:rPr lang="en-US" altLang="ko-KR" sz="1400" b="1" dirty="0" err="1"/>
              <a:t>kubectl</a:t>
            </a:r>
            <a:r>
              <a:rPr lang="en-US" altLang="ko-KR" sz="1400" b="1" dirty="0"/>
              <a:t> rollout” commands to see the current status of a </a:t>
            </a:r>
            <a:r>
              <a:rPr lang="en-US" altLang="ko-KR" sz="1400" b="1" dirty="0" err="1"/>
              <a:t>DaemonSet</a:t>
            </a:r>
            <a:r>
              <a:rPr lang="en-US" altLang="ko-KR" sz="1400" b="1" dirty="0"/>
              <a:t> rollout</a:t>
            </a:r>
            <a:r>
              <a:rPr lang="en-US" altLang="ko-KR" sz="1400" dirty="0"/>
              <a:t>. </a:t>
            </a:r>
          </a:p>
          <a:p>
            <a:pPr lvl="1">
              <a:buFont typeface="Wingdings" panose="05000000000000000000" pitchFamily="2" charset="2"/>
              <a:buChar char="§"/>
            </a:pPr>
            <a:r>
              <a:rPr lang="en-US" altLang="ko-KR" sz="1400" dirty="0"/>
              <a:t>For example, “</a:t>
            </a:r>
            <a:r>
              <a:rPr lang="en-US" altLang="ko-KR" sz="1400" b="1" dirty="0" err="1">
                <a:solidFill>
                  <a:srgbClr val="FF0000"/>
                </a:solidFill>
              </a:rPr>
              <a:t>kubectl</a:t>
            </a:r>
            <a:r>
              <a:rPr lang="en-US" altLang="ko-KR" sz="1400" b="1" dirty="0">
                <a:solidFill>
                  <a:srgbClr val="FF0000"/>
                </a:solidFill>
              </a:rPr>
              <a:t> rollout status </a:t>
            </a:r>
            <a:r>
              <a:rPr lang="en-US" altLang="ko-KR" sz="1400" b="1" dirty="0" err="1">
                <a:solidFill>
                  <a:srgbClr val="FF0000"/>
                </a:solidFill>
              </a:rPr>
              <a:t>daemonSets</a:t>
            </a:r>
            <a:r>
              <a:rPr lang="en-US" altLang="ko-KR" sz="1400" b="1" dirty="0">
                <a:solidFill>
                  <a:srgbClr val="FF0000"/>
                </a:solidFill>
              </a:rPr>
              <a:t> &lt;YOUR DAEMON SET&gt;</a:t>
            </a:r>
            <a:r>
              <a:rPr lang="en-US" altLang="ko-KR" sz="1400" dirty="0"/>
              <a:t>” command will </a:t>
            </a:r>
            <a:r>
              <a:rPr lang="en-US" altLang="ko-KR" sz="1400" b="1" dirty="0"/>
              <a:t>show the current rollout status of a </a:t>
            </a:r>
            <a:r>
              <a:rPr lang="en-US" altLang="ko-KR" sz="1400" b="1" dirty="0" err="1"/>
              <a:t>DaemonSet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B5BA954-1A84-424A-82DB-8CE4C9628F57}"/>
              </a:ext>
            </a:extLst>
          </p:cNvPr>
          <p:cNvPicPr>
            <a:picLocks noChangeAspect="1"/>
          </p:cNvPicPr>
          <p:nvPr/>
        </p:nvPicPr>
        <p:blipFill>
          <a:blip r:embed="rId2"/>
          <a:stretch>
            <a:fillRect/>
          </a:stretch>
        </p:blipFill>
        <p:spPr>
          <a:xfrm>
            <a:off x="9915588" y="5012665"/>
            <a:ext cx="1438212" cy="1396365"/>
          </a:xfrm>
          <a:prstGeom prst="rect">
            <a:avLst/>
          </a:prstGeom>
        </p:spPr>
      </p:pic>
    </p:spTree>
    <p:extLst>
      <p:ext uri="{BB962C8B-B14F-4D97-AF65-F5344CB8AC3E}">
        <p14:creationId xmlns:p14="http://schemas.microsoft.com/office/powerpoint/2010/main" val="2217527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Deleting a </a:t>
            </a:r>
            <a:r>
              <a:rPr lang="en-US" altLang="ko-KR" sz="2800" b="1" dirty="0" err="1"/>
              <a:t>DaemonSet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DaemonSet</a:t>
            </a:r>
            <a:r>
              <a:rPr lang="en-US" altLang="ko-KR" sz="1800" b="1" dirty="0"/>
              <a:t> Configuration :</a:t>
            </a:r>
          </a:p>
          <a:p>
            <a:pPr lvl="1">
              <a:buFont typeface="Wingdings" panose="05000000000000000000" pitchFamily="2" charset="2"/>
              <a:buChar char="§"/>
            </a:pPr>
            <a:r>
              <a:rPr lang="en-US" altLang="ko-KR" sz="1400" b="1" dirty="0"/>
              <a:t>To Delete a </a:t>
            </a:r>
            <a:r>
              <a:rPr lang="en-US" altLang="ko-KR" sz="1400" b="1" dirty="0" err="1"/>
              <a:t>DaemonSet</a:t>
            </a:r>
            <a:r>
              <a:rPr lang="en-US" altLang="ko-KR" sz="1400" b="1" dirty="0"/>
              <a:t>, use the “</a:t>
            </a:r>
            <a:r>
              <a:rPr lang="en-US" altLang="ko-KR" sz="1400" b="1" dirty="0" err="1"/>
              <a:t>kubectl</a:t>
            </a:r>
            <a:r>
              <a:rPr lang="en-US" altLang="ko-KR" sz="1400" b="1" dirty="0"/>
              <a:t> delete” command</a:t>
            </a:r>
            <a:r>
              <a:rPr lang="en-US" altLang="ko-KR" sz="1400" dirty="0"/>
              <a:t>. Just be sure to supply the correct name of the </a:t>
            </a:r>
            <a:r>
              <a:rPr lang="en-US" altLang="ko-KR" sz="1400" dirty="0" err="1"/>
              <a:t>DaemonSet</a:t>
            </a:r>
            <a:r>
              <a:rPr lang="en-US" altLang="ko-KR" sz="1400" dirty="0"/>
              <a:t> you would like to delete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solidFill>
                  <a:srgbClr val="FF0000"/>
                </a:solidFill>
              </a:rPr>
              <a:t>NOTE : Deleting a </a:t>
            </a:r>
            <a:r>
              <a:rPr lang="en-US" altLang="ko-KR" sz="1400" b="1" dirty="0" err="1">
                <a:solidFill>
                  <a:srgbClr val="FF0000"/>
                </a:solidFill>
              </a:rPr>
              <a:t>DaemonSet</a:t>
            </a:r>
            <a:r>
              <a:rPr lang="en-US" altLang="ko-KR" sz="1400" b="1" dirty="0">
                <a:solidFill>
                  <a:srgbClr val="FF0000"/>
                </a:solidFill>
              </a:rPr>
              <a:t> will also delete all the Pods being managed by that </a:t>
            </a:r>
            <a:r>
              <a:rPr lang="en-US" altLang="ko-KR" sz="1400" b="1" dirty="0" err="1">
                <a:solidFill>
                  <a:srgbClr val="FF0000"/>
                </a:solidFill>
              </a:rPr>
              <a:t>DaemonSet</a:t>
            </a:r>
            <a:r>
              <a:rPr lang="en-US" altLang="ko-KR" sz="1400" b="1" dirty="0"/>
              <a:t>. Set the “</a:t>
            </a:r>
            <a:r>
              <a:rPr lang="en-US" altLang="ko-KR" sz="1400" b="1" dirty="0">
                <a:solidFill>
                  <a:srgbClr val="FF0000"/>
                </a:solidFill>
              </a:rPr>
              <a:t>--cascade</a:t>
            </a:r>
            <a:r>
              <a:rPr lang="en-US" altLang="ko-KR" sz="1400" b="1" dirty="0"/>
              <a:t>” flag to “false” to ensure only the </a:t>
            </a:r>
            <a:r>
              <a:rPr lang="en-US" altLang="ko-KR" sz="1400" b="1" dirty="0" err="1"/>
              <a:t>DaemonSet</a:t>
            </a:r>
            <a:r>
              <a:rPr lang="en-US" altLang="ko-KR" sz="1400" b="1" dirty="0"/>
              <a:t> is deleted and not the Pods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4429E4E9-BC7A-4C56-BBD5-EAA22BF4CCA9}"/>
              </a:ext>
            </a:extLst>
          </p:cNvPr>
          <p:cNvGrpSpPr/>
          <p:nvPr/>
        </p:nvGrpSpPr>
        <p:grpSpPr>
          <a:xfrm>
            <a:off x="1333500" y="1788914"/>
            <a:ext cx="9525000" cy="2491812"/>
            <a:chOff x="1333499" y="1705094"/>
            <a:chExt cx="9525000" cy="2491812"/>
          </a:xfrm>
        </p:grpSpPr>
        <p:sp>
          <p:nvSpPr>
            <p:cNvPr id="4" name="직사각형 3">
              <a:extLst>
                <a:ext uri="{FF2B5EF4-FFF2-40B4-BE49-F238E27FC236}">
                  <a16:creationId xmlns:a16="http://schemas.microsoft.com/office/drawing/2014/main" id="{C68B06F1-F6BF-40ED-B2ED-F77EE1C1A360}"/>
                </a:ext>
              </a:extLst>
            </p:cNvPr>
            <p:cNvSpPr/>
            <p:nvPr/>
          </p:nvSpPr>
          <p:spPr>
            <a:xfrm>
              <a:off x="4629893" y="1705094"/>
              <a:ext cx="2932213" cy="400110"/>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delete -f </a:t>
              </a:r>
              <a:r>
                <a:rPr lang="en-US" altLang="ko-KR" sz="1000" b="1" dirty="0" err="1">
                  <a:solidFill>
                    <a:srgbClr val="FF0000"/>
                  </a:solidFill>
                </a:rPr>
                <a:t>fluentd-daemonset.yaml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delete -f </a:t>
              </a:r>
              <a:r>
                <a:rPr lang="en-US" altLang="ko-KR" sz="1000" b="1" dirty="0" err="1">
                  <a:solidFill>
                    <a:srgbClr val="FF0000"/>
                  </a:solidFill>
                </a:rPr>
                <a:t>ngix-ssd-daemonset.yaml</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08FBF730-C12E-4FF3-8C47-ADA3439EAF79}"/>
                </a:ext>
              </a:extLst>
            </p:cNvPr>
            <p:cNvSpPr/>
            <p:nvPr/>
          </p:nvSpPr>
          <p:spPr>
            <a:xfrm>
              <a:off x="5897879" y="2135696"/>
              <a:ext cx="396240" cy="25146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18603F23-97CE-4493-A82A-7865BBB0207E}"/>
                </a:ext>
              </a:extLst>
            </p:cNvPr>
            <p:cNvPicPr>
              <a:picLocks noChangeAspect="1"/>
            </p:cNvPicPr>
            <p:nvPr/>
          </p:nvPicPr>
          <p:blipFill>
            <a:blip r:embed="rId2"/>
            <a:stretch>
              <a:fillRect/>
            </a:stretch>
          </p:blipFill>
          <p:spPr>
            <a:xfrm>
              <a:off x="1333499" y="2387156"/>
              <a:ext cx="9525000" cy="1809750"/>
            </a:xfrm>
            <a:prstGeom prst="rect">
              <a:avLst/>
            </a:prstGeom>
            <a:ln>
              <a:solidFill>
                <a:schemeClr val="bg1">
                  <a:lumMod val="50000"/>
                </a:schemeClr>
              </a:solidFill>
            </a:ln>
          </p:spPr>
        </p:pic>
      </p:grpSp>
    </p:spTree>
    <p:extLst>
      <p:ext uri="{BB962C8B-B14F-4D97-AF65-F5344CB8AC3E}">
        <p14:creationId xmlns:p14="http://schemas.microsoft.com/office/powerpoint/2010/main" val="3916767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Summary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Remember :</a:t>
            </a:r>
          </a:p>
          <a:p>
            <a:pPr lvl="1">
              <a:buFont typeface="Wingdings" panose="05000000000000000000" pitchFamily="2" charset="2"/>
              <a:buChar char="§"/>
            </a:pPr>
            <a:r>
              <a:rPr lang="en-US" altLang="ko-KR" sz="1400" b="1" dirty="0" err="1">
                <a:solidFill>
                  <a:srgbClr val="FF0000"/>
                </a:solidFill>
              </a:rPr>
              <a:t>DaemonSets</a:t>
            </a:r>
            <a:r>
              <a:rPr lang="en-US" altLang="ko-KR" sz="1400" b="1" dirty="0"/>
              <a:t> provide an easy-to-use abstraction for </a:t>
            </a:r>
            <a:r>
              <a:rPr lang="en-US" altLang="ko-KR" sz="1400" b="1" dirty="0">
                <a:solidFill>
                  <a:srgbClr val="FF0000"/>
                </a:solidFill>
              </a:rPr>
              <a:t>running a set of Pods on every node in a Kubernetes cluster</a:t>
            </a:r>
            <a:r>
              <a:rPr lang="en-US" altLang="ko-KR" sz="1400" dirty="0"/>
              <a:t>, </a:t>
            </a:r>
            <a:r>
              <a:rPr lang="en-US" altLang="ko-KR" sz="1400" b="1" dirty="0"/>
              <a:t>or, if the case requires it, on a subset of nodes based on labels</a:t>
            </a:r>
            <a:r>
              <a:rPr lang="en-US" altLang="ko-KR" sz="1400" dirty="0"/>
              <a:t>. The </a:t>
            </a:r>
            <a:r>
              <a:rPr lang="en-US" altLang="ko-KR" sz="1400" b="1" dirty="0" err="1"/>
              <a:t>DaemonSet</a:t>
            </a:r>
            <a:r>
              <a:rPr lang="en-US" altLang="ko-KR" sz="1400" dirty="0"/>
              <a:t> provides its own </a:t>
            </a:r>
            <a:r>
              <a:rPr lang="en-US" altLang="ko-KR" sz="1400" b="1" dirty="0"/>
              <a:t>controller</a:t>
            </a:r>
            <a:r>
              <a:rPr lang="en-US" altLang="ko-KR" sz="1400" dirty="0"/>
              <a:t> and </a:t>
            </a:r>
            <a:r>
              <a:rPr lang="en-US" altLang="ko-KR" sz="1400" b="1" dirty="0"/>
              <a:t>scheduler</a:t>
            </a:r>
            <a:r>
              <a:rPr lang="en-US" altLang="ko-KR" sz="1400" dirty="0"/>
              <a:t> to ensure key services like </a:t>
            </a:r>
            <a:r>
              <a:rPr lang="en-US" altLang="ko-KR" sz="1400" b="1" dirty="0"/>
              <a:t>monitoring agents </a:t>
            </a:r>
            <a:r>
              <a:rPr lang="en-US" altLang="ko-KR" sz="1400" dirty="0"/>
              <a:t>are always up and running </a:t>
            </a:r>
            <a:r>
              <a:rPr lang="en-US" altLang="ko-KR" sz="1400" b="1" dirty="0"/>
              <a:t>on the right nodes in your cluster</a:t>
            </a:r>
            <a:r>
              <a:rPr lang="en-US" altLang="ko-KR" sz="1400" dirty="0"/>
              <a:t>.</a:t>
            </a:r>
          </a:p>
          <a:p>
            <a:pPr lvl="1">
              <a:buFont typeface="Wingdings" panose="05000000000000000000" pitchFamily="2" charset="2"/>
              <a:buChar char="§"/>
            </a:pPr>
            <a:r>
              <a:rPr lang="en-US" altLang="ko-KR" sz="1400" dirty="0"/>
              <a:t>For some applications, you simply want to schedule a certain number of replicas; you don’t really care where they run as long as they have sufficient resources and distribution to operate reliably. However, there is a different class of applications, like </a:t>
            </a:r>
            <a:r>
              <a:rPr lang="en-US" altLang="ko-KR" sz="1400" b="1" dirty="0"/>
              <a:t>agents</a:t>
            </a:r>
            <a:r>
              <a:rPr lang="en-US" altLang="ko-KR" sz="1400" dirty="0"/>
              <a:t> and </a:t>
            </a:r>
            <a:r>
              <a:rPr lang="en-US" altLang="ko-KR" sz="1400" b="1" dirty="0"/>
              <a:t>monitoring</a:t>
            </a:r>
            <a:r>
              <a:rPr lang="en-US" altLang="ko-KR" sz="1400" dirty="0"/>
              <a:t> applications, that </a:t>
            </a:r>
            <a:r>
              <a:rPr lang="en-US" altLang="ko-KR" sz="1400" b="1" dirty="0"/>
              <a:t>need to be present on every machine in a cluster </a:t>
            </a:r>
            <a:r>
              <a:rPr lang="en-US" altLang="ko-KR" sz="1400" dirty="0"/>
              <a:t>to function properly. </a:t>
            </a:r>
            <a:r>
              <a:rPr lang="en-US" altLang="ko-KR" sz="1400" b="1" dirty="0"/>
              <a:t>These </a:t>
            </a:r>
            <a:r>
              <a:rPr lang="en-US" altLang="ko-KR" sz="1400" b="1" dirty="0" err="1"/>
              <a:t>DaemonSets</a:t>
            </a:r>
            <a:r>
              <a:rPr lang="en-US" altLang="ko-KR" sz="1400" b="1" dirty="0"/>
              <a:t> aren’t really traditional serving applications, but rather add additional capabilities and features to the Kubernetes cluster itself.</a:t>
            </a:r>
            <a:r>
              <a:rPr lang="en-US" altLang="ko-KR" sz="1400" dirty="0"/>
              <a:t> Because </a:t>
            </a:r>
            <a:r>
              <a:rPr lang="en-US" altLang="ko-KR" sz="1400" b="1" dirty="0"/>
              <a:t>the </a:t>
            </a:r>
            <a:r>
              <a:rPr lang="en-US" altLang="ko-KR" sz="1400" b="1" dirty="0" err="1"/>
              <a:t>DaemonSet</a:t>
            </a:r>
            <a:r>
              <a:rPr lang="en-US" altLang="ko-KR" sz="1400" b="1" dirty="0"/>
              <a:t> is an active declarative object managed by a controller</a:t>
            </a:r>
            <a:r>
              <a:rPr lang="en-US" altLang="ko-KR" sz="1400" dirty="0"/>
              <a:t>, </a:t>
            </a:r>
            <a:r>
              <a:rPr lang="en-US" altLang="ko-KR" sz="1400" b="1" dirty="0"/>
              <a:t>it makes it easy to declare your intent that an agent run on every machine without explicitly placing it on every machine</a:t>
            </a:r>
            <a:r>
              <a:rPr lang="en-US" altLang="ko-KR" sz="1400" dirty="0"/>
              <a:t>. This is especially useful in the context of an </a:t>
            </a:r>
            <a:r>
              <a:rPr lang="en-US" altLang="ko-KR" sz="1400" b="1" dirty="0" err="1"/>
              <a:t>autoscaled</a:t>
            </a:r>
            <a:r>
              <a:rPr lang="en-US" altLang="ko-KR" sz="1400" b="1" dirty="0"/>
              <a:t> Kubernetes cluster </a:t>
            </a:r>
            <a:r>
              <a:rPr lang="en-US" altLang="ko-KR" sz="1400" dirty="0"/>
              <a:t>where nodes may constantly be coming and going without user intervention. In such cases, </a:t>
            </a:r>
            <a:r>
              <a:rPr lang="en-US" altLang="ko-KR" sz="1400" b="1" dirty="0"/>
              <a:t>the </a:t>
            </a:r>
            <a:r>
              <a:rPr lang="en-US" altLang="ko-KR" sz="1400" b="1" dirty="0" err="1"/>
              <a:t>DaemonSet</a:t>
            </a:r>
            <a:r>
              <a:rPr lang="en-US" altLang="ko-KR" sz="1400" b="1" dirty="0"/>
              <a:t> automatically adds the proper agents to each node as it is added to the cluster by the </a:t>
            </a:r>
            <a:r>
              <a:rPr lang="en-US" altLang="ko-KR" sz="1400" b="1" dirty="0" err="1">
                <a:solidFill>
                  <a:srgbClr val="FF0000"/>
                </a:solidFill>
              </a:rPr>
              <a:t>autoscaler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F285EC6-F6FC-4D3C-B251-9F4F5DBE39A8}"/>
              </a:ext>
            </a:extLst>
          </p:cNvPr>
          <p:cNvPicPr>
            <a:picLocks noChangeAspect="1"/>
          </p:cNvPicPr>
          <p:nvPr/>
        </p:nvPicPr>
        <p:blipFill>
          <a:blip r:embed="rId2"/>
          <a:stretch>
            <a:fillRect/>
          </a:stretch>
        </p:blipFill>
        <p:spPr>
          <a:xfrm>
            <a:off x="3810000" y="3788043"/>
            <a:ext cx="4572000" cy="2568307"/>
          </a:xfrm>
          <a:prstGeom prst="rect">
            <a:avLst/>
          </a:prstGeom>
        </p:spPr>
      </p:pic>
    </p:spTree>
    <p:extLst>
      <p:ext uri="{BB962C8B-B14F-4D97-AF65-F5344CB8AC3E}">
        <p14:creationId xmlns:p14="http://schemas.microsoft.com/office/powerpoint/2010/main" val="10365462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Jobs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6429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Introduction</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is Job? :</a:t>
            </a:r>
          </a:p>
          <a:p>
            <a:pPr lvl="1">
              <a:buFont typeface="Wingdings" panose="05000000000000000000" pitchFamily="2" charset="2"/>
              <a:buChar char="§"/>
            </a:pPr>
            <a:r>
              <a:rPr lang="en-US" altLang="ko-KR" sz="1400" b="1" dirty="0"/>
              <a:t>So far we have focused on long-running processes such as databases and web applications. These types of workloads run until either they are upgraded or the service is no longer needed</a:t>
            </a:r>
            <a:r>
              <a:rPr lang="en-US" altLang="ko-KR" sz="1400" dirty="0"/>
              <a:t>. While long-running processes make up the large majority of workloads that run on a Kubernetes cluster, </a:t>
            </a:r>
            <a:r>
              <a:rPr lang="en-US" altLang="ko-KR" sz="1400" b="1" dirty="0"/>
              <a:t>there is often a need to run </a:t>
            </a:r>
            <a:r>
              <a:rPr lang="en-US" altLang="ko-KR" sz="1400" b="1" dirty="0">
                <a:solidFill>
                  <a:srgbClr val="FF0000"/>
                </a:solidFill>
              </a:rPr>
              <a:t>short-lived, one-off tasks</a:t>
            </a:r>
            <a:r>
              <a:rPr lang="en-US" altLang="ko-KR" sz="1400" b="1" dirty="0"/>
              <a:t>. The </a:t>
            </a:r>
            <a:r>
              <a:rPr lang="en-US" altLang="ko-KR" sz="1400" b="1" dirty="0">
                <a:solidFill>
                  <a:srgbClr val="FF0000"/>
                </a:solidFill>
              </a:rPr>
              <a:t>Job object </a:t>
            </a:r>
            <a:r>
              <a:rPr lang="en-US" altLang="ko-KR" sz="1400" b="1" dirty="0"/>
              <a:t>is made for handling these types of </a:t>
            </a:r>
            <a:r>
              <a:rPr lang="en-US" altLang="ko-KR" sz="1400" b="1" dirty="0">
                <a:solidFill>
                  <a:srgbClr val="FF0000"/>
                </a:solidFill>
              </a:rPr>
              <a:t>tasks</a:t>
            </a:r>
            <a:r>
              <a:rPr lang="en-US" altLang="ko-KR" sz="1400" dirty="0"/>
              <a:t>.</a:t>
            </a:r>
          </a:p>
          <a:p>
            <a:pPr lvl="1">
              <a:buFont typeface="Wingdings" panose="05000000000000000000" pitchFamily="2" charset="2"/>
              <a:buChar char="§"/>
            </a:pPr>
            <a:r>
              <a:rPr lang="en-US" altLang="ko-KR" sz="1400" b="1" dirty="0">
                <a:solidFill>
                  <a:srgbClr val="FF0000"/>
                </a:solidFill>
              </a:rPr>
              <a:t>A job creates Pods that run until successful termination (i.e., exit with 0)</a:t>
            </a:r>
            <a:r>
              <a:rPr lang="en-US" altLang="ko-KR" sz="1400" dirty="0"/>
              <a:t>. </a:t>
            </a:r>
            <a:r>
              <a:rPr lang="en-US" altLang="ko-KR" sz="1400" b="1" dirty="0"/>
              <a:t>In contrast, a regular Pod will continually restart regardless of its exit code</a:t>
            </a:r>
            <a:r>
              <a:rPr lang="en-US" altLang="ko-KR" sz="1400" dirty="0"/>
              <a:t>. </a:t>
            </a:r>
            <a:r>
              <a:rPr lang="en-US" altLang="ko-KR" sz="1400" b="1" dirty="0"/>
              <a:t>Jobs are useful for things you only want to do once</a:t>
            </a:r>
            <a:r>
              <a:rPr lang="en-US" altLang="ko-KR" sz="1400" dirty="0"/>
              <a:t>, such as database migrations or batch jobs. If run as a regular Pod, your database migration task would run in a loop, continually repopulating the database after every exit.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8779CF8-C72B-44E7-8681-D81E28F59CA4}"/>
              </a:ext>
            </a:extLst>
          </p:cNvPr>
          <p:cNvPicPr>
            <a:picLocks noChangeAspect="1"/>
          </p:cNvPicPr>
          <p:nvPr/>
        </p:nvPicPr>
        <p:blipFill>
          <a:blip r:embed="rId2"/>
          <a:stretch>
            <a:fillRect/>
          </a:stretch>
        </p:blipFill>
        <p:spPr>
          <a:xfrm>
            <a:off x="3762851" y="3005312"/>
            <a:ext cx="4666297" cy="3005803"/>
          </a:xfrm>
          <a:prstGeom prst="rect">
            <a:avLst/>
          </a:prstGeom>
        </p:spPr>
      </p:pic>
    </p:spTree>
    <p:extLst>
      <p:ext uri="{BB962C8B-B14F-4D97-AF65-F5344CB8AC3E}">
        <p14:creationId xmlns:p14="http://schemas.microsoft.com/office/powerpoint/2010/main" val="3560686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Job Object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Job Object and Specification :</a:t>
            </a:r>
          </a:p>
          <a:p>
            <a:pPr lvl="1">
              <a:buFont typeface="Wingdings" panose="05000000000000000000" pitchFamily="2" charset="2"/>
              <a:buChar char="§"/>
            </a:pPr>
            <a:r>
              <a:rPr lang="en-US" altLang="ko-KR" sz="1400" b="1" dirty="0"/>
              <a:t>The </a:t>
            </a:r>
            <a:r>
              <a:rPr lang="en-US" altLang="ko-KR" sz="1400" b="1" dirty="0">
                <a:solidFill>
                  <a:srgbClr val="FF0000"/>
                </a:solidFill>
              </a:rPr>
              <a:t>Job object </a:t>
            </a:r>
            <a:r>
              <a:rPr lang="en-US" altLang="ko-KR" sz="1400" b="1" dirty="0"/>
              <a:t>is responsible for creating and managing Pods defined in a template in the </a:t>
            </a:r>
            <a:r>
              <a:rPr lang="en-US" altLang="ko-KR" sz="1400" b="1" dirty="0">
                <a:solidFill>
                  <a:srgbClr val="FF0000"/>
                </a:solidFill>
              </a:rPr>
              <a:t>job specification</a:t>
            </a:r>
            <a:r>
              <a:rPr lang="en-US" altLang="ko-KR" sz="1400" dirty="0"/>
              <a:t>. </a:t>
            </a:r>
            <a:r>
              <a:rPr lang="en-US" altLang="ko-KR" sz="1400" b="1" dirty="0"/>
              <a:t>These Pods generally run until successful completion</a:t>
            </a:r>
            <a:r>
              <a:rPr lang="en-US" altLang="ko-KR" sz="1400" dirty="0"/>
              <a:t>. </a:t>
            </a:r>
            <a:r>
              <a:rPr lang="en-US" altLang="ko-KR" sz="1400" b="1" dirty="0"/>
              <a:t>The Job object coordinates running a number of Pods in parallel</a:t>
            </a:r>
            <a:r>
              <a:rPr lang="en-US" altLang="ko-KR" sz="1400" dirty="0"/>
              <a:t>.</a:t>
            </a:r>
          </a:p>
          <a:p>
            <a:pPr lvl="1">
              <a:buFont typeface="Wingdings" panose="05000000000000000000" pitchFamily="2" charset="2"/>
              <a:buChar char="§"/>
            </a:pPr>
            <a:r>
              <a:rPr lang="en-US" altLang="ko-KR" sz="1400" b="1" dirty="0">
                <a:solidFill>
                  <a:srgbClr val="FF0000"/>
                </a:solidFill>
              </a:rPr>
              <a:t>If the Pod fails before a successful termination, the job controller will create a new Pod based on the Pod template in the job specification</a:t>
            </a:r>
            <a:r>
              <a:rPr lang="en-US" altLang="ko-KR" sz="1400" dirty="0"/>
              <a:t>. </a:t>
            </a:r>
            <a:r>
              <a:rPr lang="en-US" altLang="ko-KR" sz="1400" b="1" dirty="0"/>
              <a:t>Given that Pods have to be scheduled, there is a chance that your job will not execute if the required resources are not found by the scheduler</a:t>
            </a:r>
            <a:r>
              <a:rPr lang="en-US" altLang="ko-KR" sz="1400" dirty="0"/>
              <a:t>. Also, due to the nature of distributed systems there is a small chance, during certain failure scenarios, that duplicate Pods will be created for a specific task.</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E1ED6346-F50A-464E-9888-8075A3BCDA0F}"/>
              </a:ext>
            </a:extLst>
          </p:cNvPr>
          <p:cNvGrpSpPr/>
          <p:nvPr/>
        </p:nvGrpSpPr>
        <p:grpSpPr>
          <a:xfrm>
            <a:off x="3398166" y="2891846"/>
            <a:ext cx="5395668" cy="3191748"/>
            <a:chOff x="3398166" y="2891846"/>
            <a:chExt cx="5395668" cy="3191748"/>
          </a:xfrm>
        </p:grpSpPr>
        <p:pic>
          <p:nvPicPr>
            <p:cNvPr id="4" name="그림 3">
              <a:extLst>
                <a:ext uri="{FF2B5EF4-FFF2-40B4-BE49-F238E27FC236}">
                  <a16:creationId xmlns:a16="http://schemas.microsoft.com/office/drawing/2014/main" id="{CE677D5B-AE81-416F-BB35-350740C6D9DB}"/>
                </a:ext>
              </a:extLst>
            </p:cNvPr>
            <p:cNvPicPr>
              <a:picLocks noChangeAspect="1"/>
            </p:cNvPicPr>
            <p:nvPr/>
          </p:nvPicPr>
          <p:blipFill>
            <a:blip r:embed="rId2"/>
            <a:stretch>
              <a:fillRect/>
            </a:stretch>
          </p:blipFill>
          <p:spPr>
            <a:xfrm>
              <a:off x="3398166" y="2891846"/>
              <a:ext cx="5395668" cy="3191748"/>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241A5C4D-C9FF-492E-9DD3-413B0CFD646A}"/>
                </a:ext>
              </a:extLst>
            </p:cNvPr>
            <p:cNvSpPr/>
            <p:nvPr/>
          </p:nvSpPr>
          <p:spPr>
            <a:xfrm>
              <a:off x="7056120" y="5196840"/>
              <a:ext cx="1630680" cy="7924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18089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Pattern(1/21)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Completions and Parallelism :</a:t>
            </a:r>
          </a:p>
          <a:p>
            <a:pPr lvl="1">
              <a:buFont typeface="Wingdings" panose="05000000000000000000" pitchFamily="2" charset="2"/>
              <a:buChar char="§"/>
            </a:pPr>
            <a:r>
              <a:rPr lang="en-US" altLang="ko-KR" sz="1400" b="1" dirty="0"/>
              <a:t>Jobs are designed to manage </a:t>
            </a:r>
            <a:r>
              <a:rPr lang="en-US" altLang="ko-KR" sz="1400" b="1" dirty="0">
                <a:solidFill>
                  <a:srgbClr val="FF0000"/>
                </a:solidFill>
              </a:rPr>
              <a:t>batch-like workloads </a:t>
            </a:r>
            <a:r>
              <a:rPr lang="en-US" altLang="ko-KR" sz="1400" b="1" dirty="0"/>
              <a:t>where work items are processed by one or more Pods</a:t>
            </a:r>
            <a:r>
              <a:rPr lang="en-US" altLang="ko-KR" sz="1400" dirty="0"/>
              <a:t>. By default, </a:t>
            </a:r>
            <a:r>
              <a:rPr lang="en-US" altLang="ko-KR" sz="1400" b="1" dirty="0"/>
              <a:t>each job runs a single Pod once until successful termination</a:t>
            </a:r>
            <a:r>
              <a:rPr lang="en-US" altLang="ko-KR" sz="1400" dirty="0"/>
              <a:t>. This </a:t>
            </a:r>
            <a:r>
              <a:rPr lang="en-US" altLang="ko-KR" sz="1400" b="1" dirty="0"/>
              <a:t>job pattern </a:t>
            </a:r>
            <a:r>
              <a:rPr lang="en-US" altLang="ko-KR" sz="1400" dirty="0"/>
              <a:t>is defined by two primary attributes of a job, namely </a:t>
            </a:r>
            <a:r>
              <a:rPr lang="en-US" altLang="ko-KR" sz="1400" b="1" dirty="0">
                <a:solidFill>
                  <a:srgbClr val="FF0000"/>
                </a:solidFill>
              </a:rPr>
              <a:t>the number of job completions </a:t>
            </a:r>
            <a:r>
              <a:rPr lang="en-US" altLang="ko-KR" sz="1400" b="1" dirty="0"/>
              <a:t>and </a:t>
            </a:r>
            <a:r>
              <a:rPr lang="en-US" altLang="ko-KR" sz="1400" b="1" dirty="0">
                <a:solidFill>
                  <a:srgbClr val="FF0000"/>
                </a:solidFill>
              </a:rPr>
              <a:t>the number of Pods to run in parallel</a:t>
            </a:r>
            <a:r>
              <a:rPr lang="en-US" altLang="ko-KR" sz="1400" dirty="0"/>
              <a:t>. In the case of the “</a:t>
            </a:r>
            <a:r>
              <a:rPr lang="en-US" altLang="ko-KR" sz="1400" b="1" dirty="0">
                <a:solidFill>
                  <a:srgbClr val="FF0000"/>
                </a:solidFill>
              </a:rPr>
              <a:t>run once until completion</a:t>
            </a:r>
            <a:r>
              <a:rPr lang="en-US" altLang="ko-KR" sz="1400" dirty="0"/>
              <a:t>” pattern, </a:t>
            </a:r>
            <a:r>
              <a:rPr lang="en-US" altLang="ko-KR" sz="1400" b="1" dirty="0"/>
              <a:t>the completions and parallelism parameters </a:t>
            </a:r>
            <a:r>
              <a:rPr lang="en-US" altLang="ko-KR" sz="1400" dirty="0"/>
              <a:t>are set to “1”.</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C96F51C-4090-4FEA-98BD-BC41BAEF3076}"/>
              </a:ext>
            </a:extLst>
          </p:cNvPr>
          <p:cNvPicPr>
            <a:picLocks noChangeAspect="1"/>
          </p:cNvPicPr>
          <p:nvPr/>
        </p:nvPicPr>
        <p:blipFill>
          <a:blip r:embed="rId2"/>
          <a:stretch>
            <a:fillRect/>
          </a:stretch>
        </p:blipFill>
        <p:spPr>
          <a:xfrm>
            <a:off x="2970422" y="2157649"/>
            <a:ext cx="6373075" cy="1877537"/>
          </a:xfrm>
          <a:prstGeom prst="rect">
            <a:avLst/>
          </a:prstGeom>
          <a:ln>
            <a:solidFill>
              <a:schemeClr val="bg1">
                <a:lumMod val="50000"/>
              </a:schemeClr>
            </a:solidFill>
          </a:ln>
        </p:spPr>
      </p:pic>
      <p:graphicFrame>
        <p:nvGraphicFramePr>
          <p:cNvPr id="9" name="개체 8">
            <a:extLst>
              <a:ext uri="{FF2B5EF4-FFF2-40B4-BE49-F238E27FC236}">
                <a16:creationId xmlns:a16="http://schemas.microsoft.com/office/drawing/2014/main" id="{2A096831-FA44-472C-9A95-2381EE6390DF}"/>
              </a:ext>
            </a:extLst>
          </p:cNvPr>
          <p:cNvGraphicFramePr>
            <a:graphicFrameLocks noChangeAspect="1"/>
          </p:cNvGraphicFramePr>
          <p:nvPr>
            <p:extLst>
              <p:ext uri="{D42A27DB-BD31-4B8C-83A1-F6EECF244321}">
                <p14:modId xmlns:p14="http://schemas.microsoft.com/office/powerpoint/2010/main" val="467495809"/>
              </p:ext>
            </p:extLst>
          </p:nvPr>
        </p:nvGraphicFramePr>
        <p:xfrm>
          <a:off x="3481387" y="4424656"/>
          <a:ext cx="5229225" cy="1838325"/>
        </p:xfrm>
        <a:graphic>
          <a:graphicData uri="http://schemas.openxmlformats.org/presentationml/2006/ole">
            <mc:AlternateContent xmlns:mc="http://schemas.openxmlformats.org/markup-compatibility/2006">
              <mc:Choice xmlns:v="urn:schemas-microsoft-com:vml" Requires="v">
                <p:oleObj name="비트맵 이미지" r:id="rId3" imgW="5229360" imgH="1838160" progId="Paint.Picture">
                  <p:embed/>
                </p:oleObj>
              </mc:Choice>
              <mc:Fallback>
                <p:oleObj name="비트맵 이미지" r:id="rId3" imgW="5229360" imgH="1838160" progId="Paint.Picture">
                  <p:embed/>
                  <p:pic>
                    <p:nvPicPr>
                      <p:cNvPr id="0" name=""/>
                      <p:cNvPicPr/>
                      <p:nvPr/>
                    </p:nvPicPr>
                    <p:blipFill>
                      <a:blip r:embed="rId4"/>
                      <a:stretch>
                        <a:fillRect/>
                      </a:stretch>
                    </p:blipFill>
                    <p:spPr>
                      <a:xfrm>
                        <a:off x="3481387" y="4424656"/>
                        <a:ext cx="5229225" cy="1838325"/>
                      </a:xfrm>
                      <a:prstGeom prst="rect">
                        <a:avLst/>
                      </a:prstGeom>
                    </p:spPr>
                  </p:pic>
                </p:oleObj>
              </mc:Fallback>
            </mc:AlternateContent>
          </a:graphicData>
        </a:graphic>
      </p:graphicFrame>
    </p:spTree>
    <p:extLst>
      <p:ext uri="{BB962C8B-B14F-4D97-AF65-F5344CB8AC3E}">
        <p14:creationId xmlns:p14="http://schemas.microsoft.com/office/powerpoint/2010/main" val="9274028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Pattern(2/21)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One Shot :</a:t>
            </a:r>
          </a:p>
          <a:p>
            <a:pPr lvl="1">
              <a:buFont typeface="Wingdings" panose="05000000000000000000" pitchFamily="2" charset="2"/>
              <a:buChar char="§"/>
            </a:pPr>
            <a:r>
              <a:rPr lang="en-US" altLang="ko-KR" sz="1400" b="1" dirty="0">
                <a:solidFill>
                  <a:srgbClr val="FF0000"/>
                </a:solidFill>
              </a:rPr>
              <a:t>One-shot jobs </a:t>
            </a:r>
            <a:r>
              <a:rPr lang="en-US" altLang="ko-KR" sz="1400" b="1" dirty="0"/>
              <a:t>provide a way to </a:t>
            </a:r>
            <a:r>
              <a:rPr lang="en-US" altLang="ko-KR" sz="1400" b="1" dirty="0">
                <a:solidFill>
                  <a:srgbClr val="FF0000"/>
                </a:solidFill>
              </a:rPr>
              <a:t>run a single Pod once until successful termination</a:t>
            </a:r>
            <a:r>
              <a:rPr lang="en-US" altLang="ko-KR" sz="1400" dirty="0"/>
              <a:t>. While this may sound like an easy task, there is some work involved in pulling this off. </a:t>
            </a:r>
            <a:r>
              <a:rPr lang="en-US" altLang="ko-KR" sz="1400" b="1" dirty="0"/>
              <a:t>First, a Pod must be created and submitted to the Kubernetes API</a:t>
            </a:r>
            <a:r>
              <a:rPr lang="en-US" altLang="ko-KR" sz="1400" dirty="0"/>
              <a:t>. This is done using a “</a:t>
            </a:r>
            <a:r>
              <a:rPr lang="en-US" altLang="ko-KR" sz="1400" b="1" dirty="0">
                <a:solidFill>
                  <a:srgbClr val="FF0000"/>
                </a:solidFill>
              </a:rPr>
              <a:t>Pod template</a:t>
            </a:r>
            <a:r>
              <a:rPr lang="en-US" altLang="ko-KR" sz="1400" dirty="0"/>
              <a:t>” </a:t>
            </a:r>
            <a:r>
              <a:rPr lang="en-US" altLang="ko-KR" sz="1400" b="1" dirty="0"/>
              <a:t>defined in the “</a:t>
            </a:r>
            <a:r>
              <a:rPr lang="en-US" altLang="ko-KR" sz="1400" b="1" dirty="0">
                <a:solidFill>
                  <a:srgbClr val="FF0000"/>
                </a:solidFill>
              </a:rPr>
              <a:t>job configuration</a:t>
            </a:r>
            <a:r>
              <a:rPr lang="en-US" altLang="ko-KR" sz="1400" b="1" dirty="0"/>
              <a:t>”</a:t>
            </a:r>
            <a:r>
              <a:rPr lang="en-US" altLang="ko-KR" sz="1400" dirty="0"/>
              <a:t>. Once a job is up and running, the Pod backing the job must be monitored for successful termination. </a:t>
            </a:r>
            <a:r>
              <a:rPr lang="en-US" altLang="ko-KR" sz="1400" b="1" dirty="0"/>
              <a:t>A job can fail for any number of reasons, including an application error, an uncaught exception during runtime, or a node failure before the job has a chance to complete</a:t>
            </a:r>
            <a:r>
              <a:rPr lang="en-US" altLang="ko-KR" sz="1400" dirty="0"/>
              <a:t>. In all cases, </a:t>
            </a:r>
            <a:r>
              <a:rPr lang="en-US" altLang="ko-KR" sz="1400" b="1" dirty="0">
                <a:solidFill>
                  <a:srgbClr val="FF0000"/>
                </a:solidFill>
              </a:rPr>
              <a:t>the “job controller” is responsible for recreating the Pod until a successful termination occurs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3" name="그림 12">
            <a:extLst>
              <a:ext uri="{FF2B5EF4-FFF2-40B4-BE49-F238E27FC236}">
                <a16:creationId xmlns:a16="http://schemas.microsoft.com/office/drawing/2014/main" id="{B1EC8FB1-999F-4C85-9CD8-6770B787FBEA}"/>
              </a:ext>
            </a:extLst>
          </p:cNvPr>
          <p:cNvPicPr>
            <a:picLocks noChangeAspect="1"/>
          </p:cNvPicPr>
          <p:nvPr/>
        </p:nvPicPr>
        <p:blipFill>
          <a:blip r:embed="rId2"/>
          <a:stretch>
            <a:fillRect/>
          </a:stretch>
        </p:blipFill>
        <p:spPr>
          <a:xfrm>
            <a:off x="2472690" y="2923098"/>
            <a:ext cx="7246620" cy="3120807"/>
          </a:xfrm>
          <a:prstGeom prst="rect">
            <a:avLst/>
          </a:prstGeom>
        </p:spPr>
      </p:pic>
    </p:spTree>
    <p:extLst>
      <p:ext uri="{BB962C8B-B14F-4D97-AF65-F5344CB8AC3E}">
        <p14:creationId xmlns:p14="http://schemas.microsoft.com/office/powerpoint/2010/main" val="271493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Pattern(3/21)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One Shot :</a:t>
            </a:r>
          </a:p>
          <a:p>
            <a:pPr lvl="1">
              <a:buFont typeface="Wingdings" panose="05000000000000000000" pitchFamily="2" charset="2"/>
              <a:buChar char="§"/>
            </a:pPr>
            <a:r>
              <a:rPr lang="en-US" altLang="ko-KR" sz="1400" b="1" dirty="0"/>
              <a:t>There are multiple ways to create a one-shot job in Kubernetes</a:t>
            </a:r>
            <a:r>
              <a:rPr lang="en-US" altLang="ko-KR" sz="1400" dirty="0"/>
              <a:t>. The easiest is to use the “</a:t>
            </a:r>
            <a:r>
              <a:rPr lang="en-US" altLang="ko-KR" sz="1400" b="1" dirty="0" err="1"/>
              <a:t>kubectl</a:t>
            </a:r>
            <a:r>
              <a:rPr lang="en-US" altLang="ko-KR" sz="1400" dirty="0"/>
              <a:t>” command-line tool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2">
              <a:buFont typeface="Wingdings" panose="05000000000000000000" pitchFamily="2" charset="2"/>
              <a:buChar char="§"/>
            </a:pPr>
            <a:r>
              <a:rPr lang="en-US" altLang="ko-KR" sz="1400" b="1" dirty="0"/>
              <a:t>The “</a:t>
            </a:r>
            <a:r>
              <a:rPr lang="en-US" altLang="ko-KR" sz="1400" b="1" dirty="0">
                <a:solidFill>
                  <a:srgbClr val="FF0000"/>
                </a:solidFill>
              </a:rPr>
              <a:t>-</a:t>
            </a:r>
            <a:r>
              <a:rPr lang="en-US" altLang="ko-KR" sz="1400" b="1" dirty="0" err="1">
                <a:solidFill>
                  <a:srgbClr val="FF0000"/>
                </a:solidFill>
              </a:rPr>
              <a:t>i</a:t>
            </a:r>
            <a:r>
              <a:rPr lang="en-US" altLang="ko-KR" sz="1400" b="1" dirty="0">
                <a:solidFill>
                  <a:srgbClr val="FF0000"/>
                </a:solidFill>
              </a:rPr>
              <a:t>(or it)</a:t>
            </a:r>
            <a:r>
              <a:rPr lang="en-US" altLang="ko-KR" sz="1400" b="1" dirty="0"/>
              <a:t>” option to </a:t>
            </a:r>
            <a:r>
              <a:rPr lang="en-US" altLang="ko-KR" sz="1400" b="1" dirty="0" err="1"/>
              <a:t>kubectl</a:t>
            </a:r>
            <a:r>
              <a:rPr lang="en-US" altLang="ko-KR" sz="1400" b="1" dirty="0"/>
              <a:t> indicates that this is an </a:t>
            </a:r>
            <a:r>
              <a:rPr lang="en-US" altLang="ko-KR" sz="1400" b="1" dirty="0">
                <a:solidFill>
                  <a:srgbClr val="FF0000"/>
                </a:solidFill>
              </a:rPr>
              <a:t>interactive</a:t>
            </a:r>
            <a:r>
              <a:rPr lang="en-US" altLang="ko-KR" sz="1400" b="1" dirty="0"/>
              <a:t> command</a:t>
            </a:r>
            <a:r>
              <a:rPr lang="en-US" altLang="ko-KR" sz="1400" dirty="0"/>
              <a:t>. </a:t>
            </a:r>
            <a:r>
              <a:rPr lang="en-US" altLang="ko-KR" sz="1400" b="1" dirty="0" err="1"/>
              <a:t>kubectl</a:t>
            </a:r>
            <a:r>
              <a:rPr lang="en-US" altLang="ko-KR" sz="1400" dirty="0"/>
              <a:t> will wait until the job is running and then show the log output from the first (and in this case only) Pod in the job.</a:t>
            </a:r>
          </a:p>
          <a:p>
            <a:pPr lvl="2">
              <a:buFont typeface="Wingdings" panose="05000000000000000000" pitchFamily="2" charset="2"/>
              <a:buChar char="§"/>
            </a:pPr>
            <a:r>
              <a:rPr lang="en-US" altLang="ko-KR" sz="1400" dirty="0"/>
              <a:t>“</a:t>
            </a:r>
            <a:r>
              <a:rPr lang="en-US" altLang="ko-KR" sz="1400" b="1" dirty="0">
                <a:solidFill>
                  <a:srgbClr val="FF0000"/>
                </a:solidFill>
              </a:rPr>
              <a:t>--restart=</a:t>
            </a:r>
            <a:r>
              <a:rPr lang="en-US" altLang="ko-KR" sz="1400" b="1" dirty="0" err="1">
                <a:solidFill>
                  <a:srgbClr val="FF0000"/>
                </a:solidFill>
              </a:rPr>
              <a:t>OnFailure</a:t>
            </a:r>
            <a:r>
              <a:rPr lang="en-US" altLang="ko-KR" sz="1400" dirty="0"/>
              <a:t>” is the option that tells </a:t>
            </a:r>
            <a:r>
              <a:rPr lang="en-US" altLang="ko-KR" sz="1400" b="1" dirty="0" err="1"/>
              <a:t>kubectl</a:t>
            </a:r>
            <a:r>
              <a:rPr lang="en-US" altLang="ko-KR" sz="1400" dirty="0"/>
              <a:t> to create a Job object.</a:t>
            </a:r>
          </a:p>
          <a:p>
            <a:pPr lvl="2">
              <a:buFont typeface="Wingdings" panose="05000000000000000000" pitchFamily="2" charset="2"/>
              <a:buChar char="§"/>
            </a:pPr>
            <a:r>
              <a:rPr lang="en-US" altLang="ko-KR" sz="1400" b="1" dirty="0"/>
              <a:t>All of the options after “</a:t>
            </a:r>
            <a:r>
              <a:rPr lang="en-US" altLang="ko-KR" sz="1400" b="1" dirty="0">
                <a:solidFill>
                  <a:srgbClr val="FF0000"/>
                </a:solidFill>
              </a:rPr>
              <a:t>--</a:t>
            </a:r>
            <a:r>
              <a:rPr lang="en-US" altLang="ko-KR" sz="1400" b="1" dirty="0"/>
              <a:t>” are </a:t>
            </a:r>
            <a:r>
              <a:rPr lang="en-US" altLang="ko-KR" sz="1400" b="1" dirty="0">
                <a:solidFill>
                  <a:srgbClr val="FF0000"/>
                </a:solidFill>
              </a:rPr>
              <a:t>command-line arguments to the container image</a:t>
            </a:r>
            <a:r>
              <a:rPr lang="en-US" altLang="ko-KR" sz="1400" dirty="0"/>
              <a:t>. These instruct “</a:t>
            </a:r>
            <a:r>
              <a:rPr lang="en-US" altLang="ko-KR" sz="1400" b="1" dirty="0"/>
              <a:t>/bin/</a:t>
            </a:r>
            <a:r>
              <a:rPr lang="en-US" altLang="ko-KR" sz="1400" b="1" dirty="0" err="1"/>
              <a:t>sh</a:t>
            </a:r>
            <a:r>
              <a:rPr lang="en-US" altLang="ko-KR" sz="1400" dirty="0"/>
              <a:t>” run with “</a:t>
            </a:r>
            <a:r>
              <a:rPr lang="en-US" altLang="ko-KR" sz="1400" b="1" dirty="0"/>
              <a:t>date</a:t>
            </a:r>
            <a:r>
              <a:rPr lang="en-US" altLang="ko-KR" sz="1400" dirty="0"/>
              <a:t>” and “</a:t>
            </a:r>
            <a:r>
              <a:rPr lang="en-US" altLang="ko-KR" sz="1400" b="1" dirty="0"/>
              <a:t>echo</a:t>
            </a:r>
            <a:r>
              <a:rPr lang="en-US" altLang="ko-KR" sz="1400" dirty="0"/>
              <a:t>” shell command.</a:t>
            </a:r>
          </a:p>
          <a:p>
            <a:pPr lvl="2">
              <a:buFont typeface="Wingdings" panose="05000000000000000000" pitchFamily="2" charset="2"/>
              <a:buChar char="§"/>
            </a:pPr>
            <a:r>
              <a:rPr lang="en-US" altLang="ko-KR" sz="1400" b="1" dirty="0" err="1"/>
              <a:t>kubectl</a:t>
            </a:r>
            <a:r>
              <a:rPr lang="en-US" altLang="ko-KR" sz="1400" b="1" dirty="0"/>
              <a:t> often misses the first couple of lines of output with the “-I” option(Not like in this example)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8" name="그룹 7">
            <a:extLst>
              <a:ext uri="{FF2B5EF4-FFF2-40B4-BE49-F238E27FC236}">
                <a16:creationId xmlns:a16="http://schemas.microsoft.com/office/drawing/2014/main" id="{A9792FEA-BE59-4AFD-B9FB-432721381068}"/>
              </a:ext>
            </a:extLst>
          </p:cNvPr>
          <p:cNvGrpSpPr/>
          <p:nvPr/>
        </p:nvGrpSpPr>
        <p:grpSpPr>
          <a:xfrm>
            <a:off x="1333500" y="1675537"/>
            <a:ext cx="9525000" cy="2481173"/>
            <a:chOff x="1333500" y="3062377"/>
            <a:chExt cx="9525000" cy="2481173"/>
          </a:xfrm>
        </p:grpSpPr>
        <p:sp>
          <p:nvSpPr>
            <p:cNvPr id="9" name="직사각형 8">
              <a:extLst>
                <a:ext uri="{FF2B5EF4-FFF2-40B4-BE49-F238E27FC236}">
                  <a16:creationId xmlns:a16="http://schemas.microsoft.com/office/drawing/2014/main" id="{45868942-9835-4EFD-8D7A-EE10398285AB}"/>
                </a:ext>
              </a:extLst>
            </p:cNvPr>
            <p:cNvSpPr/>
            <p:nvPr/>
          </p:nvSpPr>
          <p:spPr>
            <a:xfrm>
              <a:off x="3048000" y="3062377"/>
              <a:ext cx="6096000" cy="400110"/>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run -</a:t>
              </a:r>
              <a:r>
                <a:rPr lang="en-US" altLang="ko-KR" sz="1000" b="1" dirty="0" err="1"/>
                <a:t>i</a:t>
              </a:r>
              <a:r>
                <a:rPr lang="en-US" altLang="ko-KR" sz="1000" b="1" dirty="0"/>
                <a:t> </a:t>
              </a:r>
              <a:r>
                <a:rPr lang="en-US" altLang="ko-KR" sz="1000" b="1" dirty="0" err="1">
                  <a:solidFill>
                    <a:srgbClr val="FF0000"/>
                  </a:solidFill>
                </a:rPr>
                <a:t>oneshot</a:t>
              </a:r>
              <a:r>
                <a:rPr lang="en-US" altLang="ko-KR" sz="1000" b="1" dirty="0"/>
                <a:t> --image=</a:t>
              </a:r>
              <a:r>
                <a:rPr lang="en-US" altLang="ko-KR" sz="1000" b="1" dirty="0" err="1"/>
                <a:t>busybox</a:t>
              </a:r>
              <a:r>
                <a:rPr lang="en-US" altLang="ko-KR" sz="1000" b="1" dirty="0"/>
                <a:t> --restart=</a:t>
              </a:r>
              <a:r>
                <a:rPr lang="en-US" altLang="ko-KR" sz="1000" b="1" dirty="0" err="1">
                  <a:solidFill>
                    <a:srgbClr val="FF0000"/>
                  </a:solidFill>
                </a:rPr>
                <a:t>OnFailure</a:t>
              </a:r>
              <a:r>
                <a:rPr lang="en-US" altLang="ko-KR" sz="1000" b="1" dirty="0"/>
                <a:t> </a:t>
              </a:r>
              <a:r>
                <a:rPr lang="en-US" altLang="ko-KR" sz="1000" b="1" dirty="0">
                  <a:solidFill>
                    <a:srgbClr val="FF0000"/>
                  </a:solidFill>
                </a:rPr>
                <a:t>--</a:t>
              </a:r>
              <a:r>
                <a:rPr lang="en-US" altLang="ko-KR" sz="1000" b="1" dirty="0"/>
                <a:t> \</a:t>
              </a:r>
            </a:p>
            <a:p>
              <a:r>
                <a:rPr lang="en-US" altLang="ko-KR" sz="1000" b="1" dirty="0"/>
                <a:t>/bin/</a:t>
              </a:r>
              <a:r>
                <a:rPr lang="en-US" altLang="ko-KR" sz="1000" b="1" dirty="0" err="1"/>
                <a:t>sh</a:t>
              </a:r>
              <a:r>
                <a:rPr lang="en-US" altLang="ko-KR" sz="1000" b="1" dirty="0"/>
                <a:t> -c date; echo Hello from the Kubernetes cluster</a:t>
              </a:r>
              <a:endParaRPr lang="ko-KR" altLang="en-US" sz="1000" b="1" dirty="0"/>
            </a:p>
          </p:txBody>
        </p:sp>
        <p:pic>
          <p:nvPicPr>
            <p:cNvPr id="10" name="그림 9">
              <a:extLst>
                <a:ext uri="{FF2B5EF4-FFF2-40B4-BE49-F238E27FC236}">
                  <a16:creationId xmlns:a16="http://schemas.microsoft.com/office/drawing/2014/main" id="{BD5EA7B4-52F9-447C-9AE6-94BD4FD44138}"/>
                </a:ext>
              </a:extLst>
            </p:cNvPr>
            <p:cNvPicPr>
              <a:picLocks noChangeAspect="1"/>
            </p:cNvPicPr>
            <p:nvPr/>
          </p:nvPicPr>
          <p:blipFill>
            <a:blip r:embed="rId2"/>
            <a:stretch>
              <a:fillRect/>
            </a:stretch>
          </p:blipFill>
          <p:spPr>
            <a:xfrm>
              <a:off x="1333500" y="3733800"/>
              <a:ext cx="9525000" cy="1809750"/>
            </a:xfrm>
            <a:prstGeom prst="rect">
              <a:avLst/>
            </a:prstGeom>
          </p:spPr>
        </p:pic>
        <p:sp>
          <p:nvSpPr>
            <p:cNvPr id="11" name="화살표: 아래쪽 10">
              <a:extLst>
                <a:ext uri="{FF2B5EF4-FFF2-40B4-BE49-F238E27FC236}">
                  <a16:creationId xmlns:a16="http://schemas.microsoft.com/office/drawing/2014/main" id="{B420A023-3022-463F-B681-550E95AA6622}"/>
                </a:ext>
              </a:extLst>
            </p:cNvPr>
            <p:cNvSpPr/>
            <p:nvPr/>
          </p:nvSpPr>
          <p:spPr>
            <a:xfrm>
              <a:off x="5897880" y="3489960"/>
              <a:ext cx="396240" cy="24384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502537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Pattern(4/21)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One Shot :</a:t>
            </a:r>
          </a:p>
          <a:p>
            <a:pPr lvl="1">
              <a:buFont typeface="Wingdings" panose="05000000000000000000" pitchFamily="2" charset="2"/>
              <a:buChar char="§"/>
            </a:pPr>
            <a:r>
              <a:rPr lang="en-US" altLang="ko-KR" sz="1400" b="1" dirty="0">
                <a:solidFill>
                  <a:srgbClr val="FF0000"/>
                </a:solidFill>
              </a:rPr>
              <a:t>After the job has completed, the Job object and related Pod are still around</a:t>
            </a:r>
            <a:r>
              <a:rPr lang="en-US" altLang="ko-KR" sz="1400" dirty="0"/>
              <a:t>. </a:t>
            </a:r>
            <a:r>
              <a:rPr lang="en-US" altLang="ko-KR" sz="1400" b="1" dirty="0"/>
              <a:t>This is so that you can inspect the log output</a:t>
            </a:r>
            <a:r>
              <a:rPr lang="en-US" altLang="ko-KR" sz="1400" dirty="0"/>
              <a:t>. </a:t>
            </a:r>
          </a:p>
          <a:p>
            <a:pPr lvl="1">
              <a:buFont typeface="Wingdings" panose="05000000000000000000" pitchFamily="2" charset="2"/>
              <a:buChar char="§"/>
            </a:pPr>
            <a:r>
              <a:rPr lang="en-US" altLang="ko-KR" sz="1400" dirty="0"/>
              <a:t>To delete the job, you can use “</a:t>
            </a:r>
            <a:r>
              <a:rPr lang="en-US" altLang="ko-KR" sz="1400" b="1" dirty="0" err="1">
                <a:solidFill>
                  <a:srgbClr val="FF0000"/>
                </a:solidFill>
              </a:rPr>
              <a:t>kubectl</a:t>
            </a:r>
            <a:r>
              <a:rPr lang="en-US" altLang="ko-KR" sz="1400" b="1" dirty="0">
                <a:solidFill>
                  <a:srgbClr val="FF0000"/>
                </a:solidFill>
              </a:rPr>
              <a:t> delete jobs</a:t>
            </a:r>
            <a:r>
              <a:rPr lang="en-US" altLang="ko-KR" sz="1400" dirty="0"/>
              <a:t>” command</a:t>
            </a:r>
            <a:r>
              <a:rPr lang="en-US" altLang="ko-KR" sz="1400" b="1" dirty="0"/>
              <a:t>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2ED8ECC7-ECA1-4D61-80FC-87556546EE36}"/>
              </a:ext>
            </a:extLst>
          </p:cNvPr>
          <p:cNvGrpSpPr/>
          <p:nvPr/>
        </p:nvGrpSpPr>
        <p:grpSpPr>
          <a:xfrm>
            <a:off x="2545080" y="4149711"/>
            <a:ext cx="7101840" cy="2259319"/>
            <a:chOff x="3385561" y="3495490"/>
            <a:chExt cx="7968239" cy="2634789"/>
          </a:xfrm>
        </p:grpSpPr>
        <p:pic>
          <p:nvPicPr>
            <p:cNvPr id="10" name="그림 9">
              <a:extLst>
                <a:ext uri="{FF2B5EF4-FFF2-40B4-BE49-F238E27FC236}">
                  <a16:creationId xmlns:a16="http://schemas.microsoft.com/office/drawing/2014/main" id="{511B15F3-D9DC-432B-845A-E37813B14641}"/>
                </a:ext>
              </a:extLst>
            </p:cNvPr>
            <p:cNvPicPr>
              <a:picLocks noChangeAspect="1"/>
            </p:cNvPicPr>
            <p:nvPr/>
          </p:nvPicPr>
          <p:blipFill>
            <a:blip r:embed="rId2"/>
            <a:stretch>
              <a:fillRect/>
            </a:stretch>
          </p:blipFill>
          <p:spPr>
            <a:xfrm>
              <a:off x="3385561" y="3495490"/>
              <a:ext cx="7968239" cy="2634789"/>
            </a:xfrm>
            <a:prstGeom prst="rect">
              <a:avLst/>
            </a:prstGeom>
            <a:ln>
              <a:solidFill>
                <a:schemeClr val="bg1">
                  <a:lumMod val="50000"/>
                </a:schemeClr>
              </a:solidFill>
            </a:ln>
          </p:spPr>
        </p:pic>
        <p:sp>
          <p:nvSpPr>
            <p:cNvPr id="11" name="직사각형 10">
              <a:extLst>
                <a:ext uri="{FF2B5EF4-FFF2-40B4-BE49-F238E27FC236}">
                  <a16:creationId xmlns:a16="http://schemas.microsoft.com/office/drawing/2014/main" id="{6AC72B8A-9DFF-4356-818A-62924098912B}"/>
                </a:ext>
              </a:extLst>
            </p:cNvPr>
            <p:cNvSpPr/>
            <p:nvPr/>
          </p:nvSpPr>
          <p:spPr>
            <a:xfrm>
              <a:off x="6560820" y="5577840"/>
              <a:ext cx="1508760" cy="1600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4" name="그룹 13">
            <a:extLst>
              <a:ext uri="{FF2B5EF4-FFF2-40B4-BE49-F238E27FC236}">
                <a16:creationId xmlns:a16="http://schemas.microsoft.com/office/drawing/2014/main" id="{FBF5D8AF-2087-47E4-95BA-E2E154CC8FE2}"/>
              </a:ext>
            </a:extLst>
          </p:cNvPr>
          <p:cNvGrpSpPr/>
          <p:nvPr/>
        </p:nvGrpSpPr>
        <p:grpSpPr>
          <a:xfrm>
            <a:off x="3859530" y="1915931"/>
            <a:ext cx="4472940" cy="2092881"/>
            <a:chOff x="3859530" y="1915931"/>
            <a:chExt cx="4472940" cy="2092881"/>
          </a:xfrm>
        </p:grpSpPr>
        <p:sp>
          <p:nvSpPr>
            <p:cNvPr id="9" name="직사각형 8">
              <a:extLst>
                <a:ext uri="{FF2B5EF4-FFF2-40B4-BE49-F238E27FC236}">
                  <a16:creationId xmlns:a16="http://schemas.microsoft.com/office/drawing/2014/main" id="{C186F9DE-DAA1-42D6-B224-D04F27BC2A86}"/>
                </a:ext>
              </a:extLst>
            </p:cNvPr>
            <p:cNvSpPr/>
            <p:nvPr/>
          </p:nvSpPr>
          <p:spPr>
            <a:xfrm>
              <a:off x="3859530" y="1915931"/>
              <a:ext cx="4472940" cy="2092881"/>
            </a:xfrm>
            <a:prstGeom prst="rect">
              <a:avLst/>
            </a:prstGeom>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batch/v1</a:t>
              </a:r>
            </a:p>
            <a:p>
              <a:r>
                <a:rPr lang="en-US" altLang="ko-KR" sz="1000" b="1" dirty="0"/>
                <a:t>kind: Job</a:t>
              </a:r>
            </a:p>
            <a:p>
              <a:r>
                <a:rPr lang="en-US" altLang="ko-KR" sz="1000" b="1" dirty="0"/>
                <a:t>metadata:</a:t>
              </a:r>
            </a:p>
            <a:p>
              <a:r>
                <a:rPr lang="en-US" altLang="ko-KR" sz="1000" b="1" dirty="0"/>
                <a:t>  name: </a:t>
              </a:r>
              <a:r>
                <a:rPr lang="en-US" altLang="ko-KR" sz="1000" b="1" dirty="0">
                  <a:solidFill>
                    <a:srgbClr val="FF0000"/>
                  </a:solidFill>
                </a:rPr>
                <a:t>pi</a:t>
              </a:r>
            </a:p>
            <a:p>
              <a:r>
                <a:rPr lang="en-US" altLang="ko-KR" sz="1000" b="1" dirty="0"/>
                <a:t>spec:</a:t>
              </a:r>
            </a:p>
            <a:p>
              <a:r>
                <a:rPr lang="en-US" altLang="ko-KR" sz="1000" b="1" dirty="0"/>
                <a:t>  template:</a:t>
              </a:r>
            </a:p>
            <a:p>
              <a:r>
                <a:rPr lang="en-US" altLang="ko-KR" sz="1000" b="1" dirty="0"/>
                <a:t>    spec:</a:t>
              </a:r>
            </a:p>
            <a:p>
              <a:r>
                <a:rPr lang="en-US" altLang="ko-KR" sz="1000" b="1" dirty="0"/>
                <a:t>      containers:</a:t>
              </a:r>
            </a:p>
            <a:p>
              <a:r>
                <a:rPr lang="en-US" altLang="ko-KR" sz="1000" b="1" dirty="0"/>
                <a:t>      - name: </a:t>
              </a:r>
              <a:r>
                <a:rPr lang="en-US" altLang="ko-KR" sz="1000" b="1" dirty="0">
                  <a:solidFill>
                    <a:srgbClr val="FF0000"/>
                  </a:solidFill>
                </a:rPr>
                <a:t>pi</a:t>
              </a:r>
            </a:p>
            <a:p>
              <a:r>
                <a:rPr lang="en-US" altLang="ko-KR" sz="1000" b="1" dirty="0"/>
                <a:t>        image: </a:t>
              </a:r>
              <a:r>
                <a:rPr lang="en-US" altLang="ko-KR" sz="1000" b="1" dirty="0" err="1"/>
                <a:t>perl</a:t>
              </a:r>
              <a:endParaRPr lang="en-US" altLang="ko-KR" sz="1000" b="1" dirty="0"/>
            </a:p>
            <a:p>
              <a:r>
                <a:rPr lang="en-US" altLang="ko-KR" sz="1000" b="1" dirty="0"/>
                <a:t>        </a:t>
              </a:r>
              <a:r>
                <a:rPr lang="en-US" altLang="ko-KR" sz="1000" b="1" dirty="0">
                  <a:solidFill>
                    <a:srgbClr val="FF0000"/>
                  </a:solidFill>
                </a:rPr>
                <a:t>command: ["</a:t>
              </a:r>
              <a:r>
                <a:rPr lang="en-US" altLang="ko-KR" sz="1000" b="1" dirty="0" err="1">
                  <a:solidFill>
                    <a:srgbClr val="FF0000"/>
                  </a:solidFill>
                </a:rPr>
                <a:t>perl</a:t>
              </a:r>
              <a:r>
                <a:rPr lang="en-US" altLang="ko-KR" sz="1000" b="1" dirty="0">
                  <a:solidFill>
                    <a:srgbClr val="FF0000"/>
                  </a:solidFill>
                </a:rPr>
                <a:t>",  "-</a:t>
              </a:r>
              <a:r>
                <a:rPr lang="en-US" altLang="ko-KR" sz="1000" b="1" dirty="0" err="1">
                  <a:solidFill>
                    <a:srgbClr val="FF0000"/>
                  </a:solidFill>
                </a:rPr>
                <a:t>Mbignum</a:t>
              </a:r>
              <a:r>
                <a:rPr lang="en-US" altLang="ko-KR" sz="1000" b="1" dirty="0">
                  <a:solidFill>
                    <a:srgbClr val="FF0000"/>
                  </a:solidFill>
                </a:rPr>
                <a:t>=bpi", "-</a:t>
              </a:r>
              <a:r>
                <a:rPr lang="en-US" altLang="ko-KR" sz="1000" b="1" dirty="0" err="1">
                  <a:solidFill>
                    <a:srgbClr val="FF0000"/>
                  </a:solidFill>
                </a:rPr>
                <a:t>wle</a:t>
              </a:r>
              <a:r>
                <a:rPr lang="en-US" altLang="ko-KR" sz="1000" b="1" dirty="0">
                  <a:solidFill>
                    <a:srgbClr val="FF0000"/>
                  </a:solidFill>
                </a:rPr>
                <a:t>", "print bpi(2000)"]</a:t>
              </a:r>
            </a:p>
            <a:p>
              <a:r>
                <a:rPr lang="en-US" altLang="ko-KR" sz="1000" b="1" dirty="0"/>
                <a:t>      </a:t>
              </a:r>
              <a:r>
                <a:rPr lang="en-US" altLang="ko-KR" sz="1000" b="1" dirty="0" err="1"/>
                <a:t>restartPolicy</a:t>
              </a:r>
              <a:r>
                <a:rPr lang="en-US" altLang="ko-KR" sz="1000" b="1" dirty="0"/>
                <a:t>: </a:t>
              </a:r>
              <a:r>
                <a:rPr lang="en-US" altLang="ko-KR" sz="1000" b="1" dirty="0">
                  <a:solidFill>
                    <a:srgbClr val="FF0000"/>
                  </a:solidFill>
                </a:rPr>
                <a:t>Never</a:t>
              </a:r>
            </a:p>
            <a:p>
              <a:r>
                <a:rPr lang="en-US" altLang="ko-KR" sz="1000" b="1" dirty="0"/>
                <a:t>  </a:t>
              </a:r>
              <a:r>
                <a:rPr lang="en-US" altLang="ko-KR" sz="1000" b="1" dirty="0" err="1"/>
                <a:t>backoffLimit</a:t>
              </a:r>
              <a:r>
                <a:rPr lang="en-US" altLang="ko-KR" sz="1000" b="1" dirty="0"/>
                <a:t>: 4</a:t>
              </a:r>
              <a:endParaRPr lang="ko-KR" altLang="en-US" sz="1000" b="1" dirty="0"/>
            </a:p>
          </p:txBody>
        </p:sp>
        <p:sp>
          <p:nvSpPr>
            <p:cNvPr id="13" name="TextBox 12">
              <a:extLst>
                <a:ext uri="{FF2B5EF4-FFF2-40B4-BE49-F238E27FC236}">
                  <a16:creationId xmlns:a16="http://schemas.microsoft.com/office/drawing/2014/main" id="{9989E2A3-68ED-4100-841F-7C99DA22DD66}"/>
                </a:ext>
              </a:extLst>
            </p:cNvPr>
            <p:cNvSpPr txBox="1"/>
            <p:nvPr/>
          </p:nvSpPr>
          <p:spPr>
            <a:xfrm>
              <a:off x="7278976" y="1915931"/>
              <a:ext cx="1053494" cy="246221"/>
            </a:xfrm>
            <a:prstGeom prst="rect">
              <a:avLst/>
            </a:prstGeom>
            <a:noFill/>
          </p:spPr>
          <p:txBody>
            <a:bodyPr wrap="none" rtlCol="0">
              <a:spAutoFit/>
            </a:bodyPr>
            <a:lstStyle/>
            <a:p>
              <a:pPr algn="ctr"/>
              <a:r>
                <a:rPr lang="en-US" altLang="ko-KR" sz="1000" b="1" dirty="0" err="1"/>
                <a:t>perl-jobs.yaml</a:t>
              </a:r>
              <a:endParaRPr lang="ko-KR" altLang="en-US" sz="1000" b="1" dirty="0"/>
            </a:p>
          </p:txBody>
        </p:sp>
      </p:grpSp>
    </p:spTree>
    <p:extLst>
      <p:ext uri="{BB962C8B-B14F-4D97-AF65-F5344CB8AC3E}">
        <p14:creationId xmlns:p14="http://schemas.microsoft.com/office/powerpoint/2010/main" val="4705116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Pattern(5/21)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One Shot :</a:t>
            </a:r>
          </a:p>
          <a:p>
            <a:pPr lvl="1">
              <a:buFont typeface="Wingdings" panose="05000000000000000000" pitchFamily="2" charset="2"/>
              <a:buChar char="§"/>
            </a:pPr>
            <a:r>
              <a:rPr lang="en-US" altLang="ko-KR" sz="1400" b="1" dirty="0"/>
              <a:t>The other option for creating a one-shot job is using a </a:t>
            </a:r>
            <a:r>
              <a:rPr lang="en-US" altLang="ko-KR" sz="1400" b="1" dirty="0">
                <a:solidFill>
                  <a:srgbClr val="FF0000"/>
                </a:solidFill>
              </a:rPr>
              <a:t>configuration file</a:t>
            </a:r>
            <a:r>
              <a:rPr lang="en-US" altLang="ko-KR" sz="1400" dirty="0"/>
              <a:t>, as shown in the following file.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947D05E5-7B0D-4B2C-9008-413E8A7B2EC5}"/>
              </a:ext>
            </a:extLst>
          </p:cNvPr>
          <p:cNvGrpSpPr/>
          <p:nvPr/>
        </p:nvGrpSpPr>
        <p:grpSpPr>
          <a:xfrm>
            <a:off x="1329690" y="1471643"/>
            <a:ext cx="9525000" cy="4669321"/>
            <a:chOff x="1329690" y="1471643"/>
            <a:chExt cx="9525000" cy="4669321"/>
          </a:xfrm>
        </p:grpSpPr>
        <p:grpSp>
          <p:nvGrpSpPr>
            <p:cNvPr id="11" name="그룹 10">
              <a:extLst>
                <a:ext uri="{FF2B5EF4-FFF2-40B4-BE49-F238E27FC236}">
                  <a16:creationId xmlns:a16="http://schemas.microsoft.com/office/drawing/2014/main" id="{FA0C51FA-DF0C-4E77-9C53-883734F3934C}"/>
                </a:ext>
              </a:extLst>
            </p:cNvPr>
            <p:cNvGrpSpPr/>
            <p:nvPr/>
          </p:nvGrpSpPr>
          <p:grpSpPr>
            <a:xfrm>
              <a:off x="3048000" y="1471643"/>
              <a:ext cx="6096000" cy="2554545"/>
              <a:chOff x="3048000" y="1502123"/>
              <a:chExt cx="6096000" cy="2554545"/>
            </a:xfrm>
          </p:grpSpPr>
          <p:sp>
            <p:nvSpPr>
              <p:cNvPr id="9" name="직사각형 8">
                <a:extLst>
                  <a:ext uri="{FF2B5EF4-FFF2-40B4-BE49-F238E27FC236}">
                    <a16:creationId xmlns:a16="http://schemas.microsoft.com/office/drawing/2014/main" id="{3B686A13-8795-40D6-AF4C-DD712FEA98C4}"/>
                  </a:ext>
                </a:extLst>
              </p:cNvPr>
              <p:cNvSpPr/>
              <p:nvPr/>
            </p:nvSpPr>
            <p:spPr>
              <a:xfrm>
                <a:off x="3048000" y="1502123"/>
                <a:ext cx="6096000" cy="2554545"/>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batch/v1</a:t>
                </a:r>
              </a:p>
              <a:p>
                <a:r>
                  <a:rPr lang="en-US" altLang="ko-KR" sz="1000" b="1" dirty="0"/>
                  <a:t>kind: Job</a:t>
                </a:r>
              </a:p>
              <a:p>
                <a:r>
                  <a:rPr lang="en-US" altLang="ko-KR" sz="1000" b="1" dirty="0"/>
                  <a:t>metadata:</a:t>
                </a:r>
              </a:p>
              <a:p>
                <a:r>
                  <a:rPr lang="en-US" altLang="ko-KR" sz="1000" b="1" dirty="0"/>
                  <a:t>  name: </a:t>
                </a:r>
                <a:r>
                  <a:rPr lang="en-US" altLang="ko-KR" sz="1000" b="1" dirty="0">
                    <a:solidFill>
                      <a:srgbClr val="FF0000"/>
                    </a:solidFill>
                  </a:rPr>
                  <a:t>hello</a:t>
                </a:r>
              </a:p>
              <a:p>
                <a:r>
                  <a:rPr lang="en-US" altLang="ko-KR" sz="1000" b="1" dirty="0"/>
                  <a:t>spec:</a:t>
                </a:r>
              </a:p>
              <a:p>
                <a:r>
                  <a:rPr lang="en-US" altLang="ko-KR" sz="1000" b="1" dirty="0"/>
                  <a:t>  template:</a:t>
                </a:r>
              </a:p>
              <a:p>
                <a:r>
                  <a:rPr lang="en-US" altLang="ko-KR" sz="1000" b="1" dirty="0"/>
                  <a:t>    spec:</a:t>
                </a:r>
              </a:p>
              <a:p>
                <a:r>
                  <a:rPr lang="en-US" altLang="ko-KR" sz="1000" b="1" dirty="0"/>
                  <a:t>      containers:</a:t>
                </a:r>
              </a:p>
              <a:p>
                <a:r>
                  <a:rPr lang="en-US" altLang="ko-KR" sz="1000" b="1" dirty="0"/>
                  <a:t>      - name: </a:t>
                </a:r>
                <a:r>
                  <a:rPr lang="en-US" altLang="ko-KR" sz="1000" b="1" dirty="0">
                    <a:solidFill>
                      <a:srgbClr val="FF0000"/>
                    </a:solidFill>
                  </a:rPr>
                  <a:t>hello</a:t>
                </a:r>
              </a:p>
              <a:p>
                <a:r>
                  <a:rPr lang="en-US" altLang="ko-KR" sz="1000" b="1" dirty="0"/>
                  <a:t>        image: </a:t>
                </a:r>
                <a:r>
                  <a:rPr lang="en-US" altLang="ko-KR" sz="1000" b="1" dirty="0" err="1">
                    <a:solidFill>
                      <a:srgbClr val="FF0000"/>
                    </a:solidFill>
                  </a:rPr>
                  <a:t>busybox</a:t>
                </a:r>
                <a:endParaRPr lang="en-US" altLang="ko-KR" sz="1000" b="1" dirty="0">
                  <a:solidFill>
                    <a:srgbClr val="FF0000"/>
                  </a:solidFill>
                </a:endParaRPr>
              </a:p>
              <a:p>
                <a:r>
                  <a:rPr lang="en-US" altLang="ko-KR" sz="1000" b="1" dirty="0"/>
                  <a:t>        </a:t>
                </a:r>
                <a:r>
                  <a:rPr lang="en-US" altLang="ko-KR" sz="1000" b="1" dirty="0" err="1"/>
                  <a:t>imagePullPolicy</a:t>
                </a:r>
                <a:r>
                  <a:rPr lang="en-US" altLang="ko-KR" sz="1000" b="1" dirty="0"/>
                  <a:t>: </a:t>
                </a:r>
                <a:r>
                  <a:rPr lang="en-US" altLang="ko-KR" sz="1000" b="1" dirty="0">
                    <a:solidFill>
                      <a:srgbClr val="FF0000"/>
                    </a:solidFill>
                  </a:rPr>
                  <a:t>Always</a:t>
                </a:r>
              </a:p>
              <a:p>
                <a:r>
                  <a:rPr lang="en-US" altLang="ko-KR" sz="1000" b="1" dirty="0"/>
                  <a:t>        command:</a:t>
                </a:r>
              </a:p>
              <a:p>
                <a:r>
                  <a:rPr lang="en-US" altLang="ko-KR" sz="1000" b="1" dirty="0"/>
                  <a:t>        </a:t>
                </a:r>
                <a:r>
                  <a:rPr lang="en-US" altLang="ko-KR" sz="1000" b="1" dirty="0">
                    <a:solidFill>
                      <a:srgbClr val="FF0000"/>
                    </a:solidFill>
                  </a:rPr>
                  <a:t>- /bin/</a:t>
                </a:r>
                <a:r>
                  <a:rPr lang="en-US" altLang="ko-KR" sz="1000" b="1" dirty="0" err="1">
                    <a:solidFill>
                      <a:srgbClr val="FF0000"/>
                    </a:solidFill>
                  </a:rPr>
                  <a:t>sh</a:t>
                </a:r>
                <a:endParaRPr lang="en-US" altLang="ko-KR" sz="1000" b="1" dirty="0">
                  <a:solidFill>
                    <a:srgbClr val="FF0000"/>
                  </a:solidFill>
                </a:endParaRPr>
              </a:p>
              <a:p>
                <a:r>
                  <a:rPr lang="en-US" altLang="ko-KR" sz="1000" b="1" dirty="0">
                    <a:solidFill>
                      <a:srgbClr val="FF0000"/>
                    </a:solidFill>
                  </a:rPr>
                  <a:t>        - -c</a:t>
                </a:r>
              </a:p>
              <a:p>
                <a:r>
                  <a:rPr lang="en-US" altLang="ko-KR" sz="1000" b="1" dirty="0">
                    <a:solidFill>
                      <a:srgbClr val="FF0000"/>
                    </a:solidFill>
                  </a:rPr>
                  <a:t>        - date; echo Hello from the Kubernetes cluster</a:t>
                </a:r>
              </a:p>
              <a:p>
                <a:r>
                  <a:rPr lang="en-US" altLang="ko-KR" sz="1000" b="1" dirty="0"/>
                  <a:t>      </a:t>
                </a:r>
                <a:r>
                  <a:rPr lang="en-US" altLang="ko-KR" sz="1000" b="1" dirty="0" err="1"/>
                  <a:t>restartPolicy</a:t>
                </a:r>
                <a:r>
                  <a:rPr lang="en-US" altLang="ko-KR" sz="1000" b="1" dirty="0"/>
                  <a:t>: </a:t>
                </a:r>
                <a:r>
                  <a:rPr lang="en-US" altLang="ko-KR" sz="1000" b="1" dirty="0" err="1">
                    <a:solidFill>
                      <a:srgbClr val="FF0000"/>
                    </a:solidFill>
                  </a:rPr>
                  <a:t>OnFailure</a:t>
                </a:r>
                <a:endParaRPr lang="ko-KR" altLang="en-US" sz="1000" b="1" dirty="0">
                  <a:solidFill>
                    <a:srgbClr val="FF0000"/>
                  </a:solidFill>
                </a:endParaRPr>
              </a:p>
            </p:txBody>
          </p:sp>
          <p:sp>
            <p:nvSpPr>
              <p:cNvPr id="10" name="TextBox 9">
                <a:extLst>
                  <a:ext uri="{FF2B5EF4-FFF2-40B4-BE49-F238E27FC236}">
                    <a16:creationId xmlns:a16="http://schemas.microsoft.com/office/drawing/2014/main" id="{BE12A300-4622-482E-9A0F-0931BCDF0F0E}"/>
                  </a:ext>
                </a:extLst>
              </p:cNvPr>
              <p:cNvSpPr txBox="1"/>
              <p:nvPr/>
            </p:nvSpPr>
            <p:spPr>
              <a:xfrm>
                <a:off x="8026386" y="1508231"/>
                <a:ext cx="1117614" cy="246221"/>
              </a:xfrm>
              <a:prstGeom prst="rect">
                <a:avLst/>
              </a:prstGeom>
              <a:noFill/>
            </p:spPr>
            <p:txBody>
              <a:bodyPr wrap="none" rtlCol="0">
                <a:spAutoFit/>
              </a:bodyPr>
              <a:lstStyle/>
              <a:p>
                <a:pPr algn="ctr"/>
                <a:r>
                  <a:rPr lang="en-US" altLang="ko-KR" sz="1000" b="1" dirty="0"/>
                  <a:t>hello-</a:t>
                </a:r>
                <a:r>
                  <a:rPr lang="en-US" altLang="ko-KR" sz="1000" b="1" dirty="0" err="1"/>
                  <a:t>jobs.yaml</a:t>
                </a:r>
                <a:endParaRPr lang="ko-KR" altLang="en-US" sz="1000" b="1" dirty="0"/>
              </a:p>
            </p:txBody>
          </p:sp>
        </p:grpSp>
        <p:pic>
          <p:nvPicPr>
            <p:cNvPr id="12" name="그림 11">
              <a:extLst>
                <a:ext uri="{FF2B5EF4-FFF2-40B4-BE49-F238E27FC236}">
                  <a16:creationId xmlns:a16="http://schemas.microsoft.com/office/drawing/2014/main" id="{8AF4D44D-103D-43E3-A123-7C4CD68FB9DA}"/>
                </a:ext>
              </a:extLst>
            </p:cNvPr>
            <p:cNvPicPr>
              <a:picLocks noChangeAspect="1"/>
            </p:cNvPicPr>
            <p:nvPr/>
          </p:nvPicPr>
          <p:blipFill>
            <a:blip r:embed="rId2"/>
            <a:stretch>
              <a:fillRect/>
            </a:stretch>
          </p:blipFill>
          <p:spPr>
            <a:xfrm>
              <a:off x="1329690" y="4331214"/>
              <a:ext cx="9525000" cy="1809750"/>
            </a:xfrm>
            <a:prstGeom prst="rect">
              <a:avLst/>
            </a:prstGeom>
            <a:ln>
              <a:solidFill>
                <a:schemeClr val="bg1">
                  <a:lumMod val="50000"/>
                </a:schemeClr>
              </a:solidFill>
            </a:ln>
          </p:spPr>
        </p:pic>
        <p:sp>
          <p:nvSpPr>
            <p:cNvPr id="13" name="화살표: 아래쪽 12">
              <a:extLst>
                <a:ext uri="{FF2B5EF4-FFF2-40B4-BE49-F238E27FC236}">
                  <a16:creationId xmlns:a16="http://schemas.microsoft.com/office/drawing/2014/main" id="{437176E1-ED0D-4533-BF6A-56E5FD0E22F4}"/>
                </a:ext>
              </a:extLst>
            </p:cNvPr>
            <p:cNvSpPr/>
            <p:nvPr/>
          </p:nvSpPr>
          <p:spPr>
            <a:xfrm>
              <a:off x="5920740" y="4058677"/>
              <a:ext cx="342900" cy="24004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942509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Pattern(6/21)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One Shot :</a:t>
            </a:r>
          </a:p>
          <a:p>
            <a:pPr lvl="1">
              <a:buFont typeface="Wingdings" panose="05000000000000000000" pitchFamily="2" charset="2"/>
              <a:buChar char="§"/>
            </a:pPr>
            <a:r>
              <a:rPr lang="en-US" altLang="ko-KR" sz="1400" dirty="0"/>
              <a:t>Then describe the “</a:t>
            </a:r>
            <a:r>
              <a:rPr lang="en-US" altLang="ko-KR" sz="1400" b="1" dirty="0"/>
              <a:t>hello</a:t>
            </a:r>
            <a:r>
              <a:rPr lang="en-US" altLang="ko-KR" sz="1400" dirty="0"/>
              <a:t>” job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449746DB-E8E8-443B-868A-F08DAA8B8EE9}"/>
              </a:ext>
            </a:extLst>
          </p:cNvPr>
          <p:cNvGrpSpPr/>
          <p:nvPr/>
        </p:nvGrpSpPr>
        <p:grpSpPr>
          <a:xfrm>
            <a:off x="2585650" y="1120986"/>
            <a:ext cx="7020699" cy="5292151"/>
            <a:chOff x="2585650" y="1120986"/>
            <a:chExt cx="7020699" cy="5292151"/>
          </a:xfrm>
        </p:grpSpPr>
        <p:sp>
          <p:nvSpPr>
            <p:cNvPr id="4" name="직사각형 3">
              <a:extLst>
                <a:ext uri="{FF2B5EF4-FFF2-40B4-BE49-F238E27FC236}">
                  <a16:creationId xmlns:a16="http://schemas.microsoft.com/office/drawing/2014/main" id="{6107D1E0-AD2F-47C5-8953-4BE71BA8D877}"/>
                </a:ext>
              </a:extLst>
            </p:cNvPr>
            <p:cNvSpPr/>
            <p:nvPr/>
          </p:nvSpPr>
          <p:spPr>
            <a:xfrm>
              <a:off x="5122015" y="1120986"/>
              <a:ext cx="1947970"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describe jobs </a:t>
              </a:r>
              <a:r>
                <a:rPr lang="en-US" altLang="ko-KR" sz="1000" b="1" dirty="0">
                  <a:solidFill>
                    <a:srgbClr val="FF0000"/>
                  </a:solidFill>
                </a:rPr>
                <a:t>hello</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755A81B6-C5CC-4B45-816A-B439682013EC}"/>
                </a:ext>
              </a:extLst>
            </p:cNvPr>
            <p:cNvSpPr/>
            <p:nvPr/>
          </p:nvSpPr>
          <p:spPr>
            <a:xfrm>
              <a:off x="5890260" y="1375421"/>
              <a:ext cx="411480" cy="29718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E0D1943E-8E98-4399-A3F8-BBF2A262547B}"/>
                </a:ext>
              </a:extLst>
            </p:cNvPr>
            <p:cNvPicPr>
              <a:picLocks noChangeAspect="1"/>
            </p:cNvPicPr>
            <p:nvPr/>
          </p:nvPicPr>
          <p:blipFill>
            <a:blip r:embed="rId2"/>
            <a:stretch>
              <a:fillRect/>
            </a:stretch>
          </p:blipFill>
          <p:spPr>
            <a:xfrm>
              <a:off x="2585650" y="1695227"/>
              <a:ext cx="7020699" cy="4717910"/>
            </a:xfrm>
            <a:prstGeom prst="rect">
              <a:avLst/>
            </a:prstGeom>
            <a:ln>
              <a:solidFill>
                <a:schemeClr val="bg1">
                  <a:lumMod val="50000"/>
                </a:schemeClr>
              </a:solidFill>
            </a:ln>
          </p:spPr>
        </p:pic>
      </p:grpSp>
    </p:spTree>
    <p:extLst>
      <p:ext uri="{BB962C8B-B14F-4D97-AF65-F5344CB8AC3E}">
        <p14:creationId xmlns:p14="http://schemas.microsoft.com/office/powerpoint/2010/main" val="21383899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Pattern(7/21)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One Shot :</a:t>
            </a:r>
          </a:p>
          <a:p>
            <a:pPr lvl="1">
              <a:buFont typeface="Wingdings" panose="05000000000000000000" pitchFamily="2" charset="2"/>
              <a:buChar char="§"/>
            </a:pPr>
            <a:r>
              <a:rPr lang="en-US" altLang="ko-KR" sz="1400" b="1" dirty="0"/>
              <a:t>You can view the results of the job by looking at the logs </a:t>
            </a:r>
            <a:r>
              <a:rPr lang="en-US" altLang="ko-KR" sz="1400" dirty="0"/>
              <a:t>of the Pod that was created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You may have noticed that we didn’t specify any labels when creating the Job object</a:t>
            </a:r>
            <a:r>
              <a:rPr lang="en-US" altLang="ko-KR" sz="1400" dirty="0"/>
              <a:t>. </a:t>
            </a:r>
            <a:r>
              <a:rPr lang="en-US" altLang="ko-KR" sz="1400" b="1" dirty="0"/>
              <a:t>Like with other controllers (</a:t>
            </a:r>
            <a:r>
              <a:rPr lang="en-US" altLang="ko-KR" sz="1400" b="1" dirty="0" err="1"/>
              <a:t>DaemonSets</a:t>
            </a:r>
            <a:r>
              <a:rPr lang="en-US" altLang="ko-KR" sz="1400" b="1" dirty="0"/>
              <a:t>, </a:t>
            </a:r>
            <a:r>
              <a:rPr lang="en-US" altLang="ko-KR" sz="1400" b="1" dirty="0" err="1"/>
              <a:t>ReplicaSets</a:t>
            </a:r>
            <a:r>
              <a:rPr lang="en-US" altLang="ko-KR" sz="1400" b="1" dirty="0"/>
              <a:t>, deployments, etc.) that use labels to identify a set of Pods, unexpected behaviors can happen if a Pod is reused across objects</a:t>
            </a:r>
            <a:r>
              <a:rPr lang="en-US" altLang="ko-KR" sz="1400" dirty="0"/>
              <a:t>. </a:t>
            </a:r>
          </a:p>
          <a:p>
            <a:pPr lvl="1">
              <a:buFont typeface="Wingdings" panose="05000000000000000000" pitchFamily="2" charset="2"/>
              <a:buChar char="§"/>
            </a:pPr>
            <a:r>
              <a:rPr lang="en-US" altLang="ko-KR" sz="1400" b="1" dirty="0"/>
              <a:t>NOTE : </a:t>
            </a:r>
            <a:r>
              <a:rPr lang="en-US" altLang="ko-KR" sz="1400" b="1" dirty="0">
                <a:solidFill>
                  <a:srgbClr val="FF0000"/>
                </a:solidFill>
              </a:rPr>
              <a:t>Because jobs have a finite beginning and ending, it is common for users to create many of them</a:t>
            </a:r>
            <a:r>
              <a:rPr lang="en-US" altLang="ko-KR" sz="1400" dirty="0">
                <a:solidFill>
                  <a:srgbClr val="FF0000"/>
                </a:solidFill>
              </a:rPr>
              <a:t>. </a:t>
            </a:r>
            <a:r>
              <a:rPr lang="en-US" altLang="ko-KR" sz="1400" b="1" dirty="0">
                <a:solidFill>
                  <a:srgbClr val="FF0000"/>
                </a:solidFill>
              </a:rPr>
              <a:t>This makes picking unique labels more difficult and more critical</a:t>
            </a:r>
            <a:r>
              <a:rPr lang="en-US" altLang="ko-KR" sz="1400" dirty="0"/>
              <a:t>. For this reason, </a:t>
            </a:r>
            <a:r>
              <a:rPr lang="en-US" altLang="ko-KR" sz="1400" b="1" dirty="0"/>
              <a:t>the Job object will automatically pick a unique label and use it to identify the Pods it creates</a:t>
            </a:r>
            <a:r>
              <a:rPr lang="en-US" altLang="ko-KR" sz="1400" dirty="0"/>
              <a:t>. In advanced scenarios (such as swapping out a running job without killing the Pods it is managing), </a:t>
            </a:r>
            <a:r>
              <a:rPr lang="en-US" altLang="ko-KR" sz="1400" b="1" dirty="0"/>
              <a:t>users can choose to turn off this automatic behavior and manually specify labels and selectors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9CEBE244-C301-4A21-B643-B1362059F79D}"/>
              </a:ext>
            </a:extLst>
          </p:cNvPr>
          <p:cNvGrpSpPr/>
          <p:nvPr/>
        </p:nvGrpSpPr>
        <p:grpSpPr>
          <a:xfrm>
            <a:off x="1333499" y="1446014"/>
            <a:ext cx="9525000" cy="2440199"/>
            <a:chOff x="1333499" y="1446014"/>
            <a:chExt cx="9525000" cy="2440199"/>
          </a:xfrm>
        </p:grpSpPr>
        <p:grpSp>
          <p:nvGrpSpPr>
            <p:cNvPr id="10" name="그룹 9">
              <a:extLst>
                <a:ext uri="{FF2B5EF4-FFF2-40B4-BE49-F238E27FC236}">
                  <a16:creationId xmlns:a16="http://schemas.microsoft.com/office/drawing/2014/main" id="{89DFB127-19A8-4082-B8DD-FFDBAD223E49}"/>
                </a:ext>
              </a:extLst>
            </p:cNvPr>
            <p:cNvGrpSpPr/>
            <p:nvPr/>
          </p:nvGrpSpPr>
          <p:grpSpPr>
            <a:xfrm>
              <a:off x="1333499" y="1446014"/>
              <a:ext cx="9525000" cy="2440199"/>
              <a:chOff x="1333499" y="1446014"/>
              <a:chExt cx="9525000" cy="2440199"/>
            </a:xfrm>
          </p:grpSpPr>
          <p:sp>
            <p:nvSpPr>
              <p:cNvPr id="4" name="직사각형 3">
                <a:extLst>
                  <a:ext uri="{FF2B5EF4-FFF2-40B4-BE49-F238E27FC236}">
                    <a16:creationId xmlns:a16="http://schemas.microsoft.com/office/drawing/2014/main" id="{05EF8B12-5689-48C4-8BED-2AEC8E800C97}"/>
                  </a:ext>
                </a:extLst>
              </p:cNvPr>
              <p:cNvSpPr/>
              <p:nvPr/>
            </p:nvSpPr>
            <p:spPr>
              <a:xfrm>
                <a:off x="5103580" y="1446014"/>
                <a:ext cx="1984839"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logs &lt;POD NAME&gt;</a:t>
                </a:r>
                <a:endParaRPr lang="ko-KR" altLang="en-US" sz="1000" b="1" dirty="0"/>
              </a:p>
            </p:txBody>
          </p:sp>
          <p:sp>
            <p:nvSpPr>
              <p:cNvPr id="8" name="화살표: 아래쪽 7">
                <a:extLst>
                  <a:ext uri="{FF2B5EF4-FFF2-40B4-BE49-F238E27FC236}">
                    <a16:creationId xmlns:a16="http://schemas.microsoft.com/office/drawing/2014/main" id="{0ED6959B-7F97-4AF8-8495-9D0B6074CCF5}"/>
                  </a:ext>
                </a:extLst>
              </p:cNvPr>
              <p:cNvSpPr/>
              <p:nvPr/>
            </p:nvSpPr>
            <p:spPr>
              <a:xfrm>
                <a:off x="5894069" y="1718917"/>
                <a:ext cx="403860" cy="25908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E8582850-CCE6-44CB-AB7D-0B6B7D094896}"/>
                  </a:ext>
                </a:extLst>
              </p:cNvPr>
              <p:cNvPicPr>
                <a:picLocks noChangeAspect="1"/>
              </p:cNvPicPr>
              <p:nvPr/>
            </p:nvPicPr>
            <p:blipFill>
              <a:blip r:embed="rId2"/>
              <a:stretch>
                <a:fillRect/>
              </a:stretch>
            </p:blipFill>
            <p:spPr>
              <a:xfrm>
                <a:off x="1333499" y="2000263"/>
                <a:ext cx="9525000" cy="1885950"/>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20286DFE-A571-41D9-BFB2-1431E4421034}"/>
                </a:ext>
              </a:extLst>
            </p:cNvPr>
            <p:cNvSpPr/>
            <p:nvPr/>
          </p:nvSpPr>
          <p:spPr>
            <a:xfrm>
              <a:off x="1470660" y="2857500"/>
              <a:ext cx="937260" cy="182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9CFFECE8-AA50-45AA-8909-10829407C7BF}"/>
                </a:ext>
              </a:extLst>
            </p:cNvPr>
            <p:cNvSpPr/>
            <p:nvPr/>
          </p:nvSpPr>
          <p:spPr>
            <a:xfrm>
              <a:off x="6113059" y="3028594"/>
              <a:ext cx="937260" cy="182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0212889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Pattern(8/21)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One Shot :</a:t>
            </a:r>
          </a:p>
          <a:p>
            <a:pPr lvl="1">
              <a:buFont typeface="Wingdings" panose="05000000000000000000" pitchFamily="2" charset="2"/>
              <a:buChar char="§"/>
            </a:pPr>
            <a:r>
              <a:rPr lang="en-US" altLang="ko-KR" sz="1400" b="1" dirty="0"/>
              <a:t>Pod Failure -</a:t>
            </a:r>
          </a:p>
          <a:p>
            <a:pPr lvl="2">
              <a:buFont typeface="Wingdings" panose="05000000000000000000" pitchFamily="2" charset="2"/>
              <a:buChar char="§"/>
            </a:pPr>
            <a:r>
              <a:rPr lang="en-US" altLang="ko-KR" sz="1400" b="1" dirty="0"/>
              <a:t>Kubernetes is in “</a:t>
            </a:r>
            <a:r>
              <a:rPr lang="en-US" altLang="ko-KR" sz="1400" b="1" dirty="0" err="1">
                <a:solidFill>
                  <a:srgbClr val="FF0000"/>
                </a:solidFill>
              </a:rPr>
              <a:t>CrashLoopBackOff</a:t>
            </a:r>
            <a:r>
              <a:rPr lang="en-US" altLang="ko-KR" sz="1400" b="1" dirty="0"/>
              <a:t>” for the failed Pod</a:t>
            </a:r>
            <a:r>
              <a:rPr lang="en-US" altLang="ko-KR" sz="1400" dirty="0"/>
              <a:t>. </a:t>
            </a:r>
            <a:r>
              <a:rPr lang="en-US" altLang="ko-KR" sz="1400" b="1" dirty="0"/>
              <a:t>It is not uncommon to have a bug someplace that causes a program to crash as soon as it starts</a:t>
            </a:r>
            <a:r>
              <a:rPr lang="en-US" altLang="ko-KR" sz="1400" dirty="0"/>
              <a:t>. In that case, </a:t>
            </a:r>
            <a:r>
              <a:rPr lang="en-US" altLang="ko-KR" sz="1400" b="1" dirty="0"/>
              <a:t>Kubernetes will wait a bit before restarting the Pod to avoid a crash loop eating resources on the node</a:t>
            </a:r>
            <a:r>
              <a:rPr lang="en-US" altLang="ko-KR" sz="1400" dirty="0"/>
              <a:t>. </a:t>
            </a:r>
            <a:r>
              <a:rPr lang="en-US" altLang="ko-KR" sz="1400" b="1" dirty="0"/>
              <a:t>This is all handled local to the node by the “</a:t>
            </a:r>
            <a:r>
              <a:rPr lang="en-US" altLang="ko-KR" sz="1400" b="1" dirty="0" err="1">
                <a:solidFill>
                  <a:srgbClr val="FF0000"/>
                </a:solidFill>
              </a:rPr>
              <a:t>kubelet</a:t>
            </a:r>
            <a:r>
              <a:rPr lang="en-US" altLang="ko-KR" sz="1400" b="1" dirty="0"/>
              <a:t>” without the job being involved at all</a:t>
            </a:r>
            <a:r>
              <a:rPr lang="en-US" altLang="ko-KR" sz="1400" dirty="0"/>
              <a:t>. </a:t>
            </a:r>
          </a:p>
          <a:p>
            <a:pPr lvl="2">
              <a:buFont typeface="Wingdings" panose="05000000000000000000" pitchFamily="2" charset="2"/>
              <a:buChar char="§"/>
            </a:pPr>
            <a:r>
              <a:rPr lang="en-US" altLang="ko-KR" sz="1400" b="1" dirty="0"/>
              <a:t>Kill the job </a:t>
            </a:r>
            <a:r>
              <a:rPr lang="en-US" altLang="ko-KR" sz="1400" dirty="0"/>
              <a:t>(“</a:t>
            </a:r>
            <a:r>
              <a:rPr lang="en-US" altLang="ko-KR" sz="1400" b="1" dirty="0" err="1"/>
              <a:t>kubectl</a:t>
            </a:r>
            <a:r>
              <a:rPr lang="en-US" altLang="ko-KR" sz="1400" b="1" dirty="0"/>
              <a:t> delete jobs &lt;JOB NAME&gt;</a:t>
            </a:r>
            <a:r>
              <a:rPr lang="en-US" altLang="ko-KR" sz="1400" dirty="0"/>
              <a:t>”), </a:t>
            </a:r>
            <a:r>
              <a:rPr lang="en-US" altLang="ko-KR" sz="1400" b="1" dirty="0"/>
              <a:t>and let’s try something else. Modify the config file again and change the “</a:t>
            </a:r>
            <a:r>
              <a:rPr lang="en-US" altLang="ko-KR" sz="1400" b="1" dirty="0" err="1"/>
              <a:t>restartPolicy</a:t>
            </a:r>
            <a:r>
              <a:rPr lang="en-US" altLang="ko-KR" sz="1400" b="1" dirty="0"/>
              <a:t>” from “</a:t>
            </a:r>
            <a:r>
              <a:rPr lang="en-US" altLang="ko-KR" sz="1400" b="1" dirty="0" err="1"/>
              <a:t>OnFailure</a:t>
            </a:r>
            <a:r>
              <a:rPr lang="en-US" altLang="ko-KR" sz="1400" b="1" dirty="0"/>
              <a:t>” to “</a:t>
            </a:r>
            <a:r>
              <a:rPr lang="en-US" altLang="ko-KR" sz="1400" b="1" dirty="0">
                <a:solidFill>
                  <a:srgbClr val="FF0000"/>
                </a:solidFill>
              </a:rPr>
              <a:t>Never</a:t>
            </a:r>
            <a:r>
              <a:rPr lang="en-US" altLang="ko-KR" sz="1400" b="1" dirty="0"/>
              <a:t>”</a:t>
            </a:r>
            <a:r>
              <a:rPr lang="en-US" altLang="ko-KR" sz="1400" dirty="0"/>
              <a:t>.</a:t>
            </a:r>
          </a:p>
          <a:p>
            <a:pPr lvl="2">
              <a:buFont typeface="Wingdings" panose="05000000000000000000" pitchFamily="2" charset="2"/>
              <a:buChar char="§"/>
            </a:pPr>
            <a:r>
              <a:rPr lang="en-US" altLang="ko-KR" sz="1400" b="1" dirty="0"/>
              <a:t>By setting “</a:t>
            </a:r>
            <a:r>
              <a:rPr lang="en-US" altLang="ko-KR" sz="1400" b="1" dirty="0" err="1">
                <a:solidFill>
                  <a:srgbClr val="FF0000"/>
                </a:solidFill>
              </a:rPr>
              <a:t>restartPolicy</a:t>
            </a:r>
            <a:r>
              <a:rPr lang="en-US" altLang="ko-KR" sz="1400" b="1" dirty="0">
                <a:solidFill>
                  <a:srgbClr val="FF0000"/>
                </a:solidFill>
              </a:rPr>
              <a:t>: Never</a:t>
            </a:r>
            <a:r>
              <a:rPr lang="en-US" altLang="ko-KR" sz="1400" b="1" dirty="0"/>
              <a:t>” we are telling the </a:t>
            </a:r>
            <a:r>
              <a:rPr lang="en-US" altLang="ko-KR" sz="1400" b="1" dirty="0" err="1"/>
              <a:t>kubelet</a:t>
            </a:r>
            <a:r>
              <a:rPr lang="en-US" altLang="ko-KR" sz="1400" b="1" dirty="0"/>
              <a:t> </a:t>
            </a:r>
            <a:r>
              <a:rPr lang="en-US" altLang="ko-KR" sz="1400" b="1" dirty="0">
                <a:solidFill>
                  <a:srgbClr val="FF0000"/>
                </a:solidFill>
              </a:rPr>
              <a:t>not to restart the Pod on failure</a:t>
            </a:r>
            <a:r>
              <a:rPr lang="en-US" altLang="ko-KR" sz="1400" b="1" dirty="0"/>
              <a:t>, but rather just declare the Pod as failed</a:t>
            </a:r>
            <a:r>
              <a:rPr lang="en-US" altLang="ko-KR" sz="1400" dirty="0"/>
              <a:t>. </a:t>
            </a:r>
            <a:r>
              <a:rPr lang="en-US" altLang="ko-KR" sz="1400" b="1" dirty="0"/>
              <a:t>The Job object then notices and creates a replacement Pod</a:t>
            </a:r>
            <a:r>
              <a:rPr lang="en-US" altLang="ko-KR" sz="1400" dirty="0"/>
              <a:t>. </a:t>
            </a:r>
            <a:r>
              <a:rPr lang="en-US" altLang="ko-KR" sz="1400" b="1" dirty="0"/>
              <a:t>If you aren’t careful, this will create a lot of “</a:t>
            </a:r>
            <a:r>
              <a:rPr lang="en-US" altLang="ko-KR" sz="1400" b="1" dirty="0">
                <a:solidFill>
                  <a:srgbClr val="FF0000"/>
                </a:solidFill>
              </a:rPr>
              <a:t>junk</a:t>
            </a:r>
            <a:r>
              <a:rPr lang="en-US" altLang="ko-KR" sz="1400" b="1" dirty="0"/>
              <a:t>” in your cluster. For this reason, we suggest you use “</a:t>
            </a:r>
            <a:r>
              <a:rPr lang="en-US" altLang="ko-KR" sz="1400" b="1" dirty="0" err="1">
                <a:solidFill>
                  <a:srgbClr val="FF0000"/>
                </a:solidFill>
              </a:rPr>
              <a:t>restartPolicy</a:t>
            </a:r>
            <a:r>
              <a:rPr lang="en-US" altLang="ko-KR" sz="1400" b="1" dirty="0">
                <a:solidFill>
                  <a:srgbClr val="FF0000"/>
                </a:solidFill>
              </a:rPr>
              <a:t>: </a:t>
            </a:r>
            <a:r>
              <a:rPr lang="en-US" altLang="ko-KR" sz="1400" b="1" dirty="0" err="1">
                <a:solidFill>
                  <a:srgbClr val="FF0000"/>
                </a:solidFill>
              </a:rPr>
              <a:t>OnFailure</a:t>
            </a:r>
            <a:r>
              <a:rPr lang="en-US" altLang="ko-KR" sz="1400" b="1" dirty="0"/>
              <a:t>” </a:t>
            </a:r>
            <a:r>
              <a:rPr lang="en-US" altLang="ko-KR" sz="1400" b="1" dirty="0">
                <a:solidFill>
                  <a:srgbClr val="FF0000"/>
                </a:solidFill>
              </a:rPr>
              <a:t>so failed Pods are rerun in place</a:t>
            </a:r>
            <a:r>
              <a:rPr lang="en-US" altLang="ko-KR" sz="1400" dirty="0"/>
              <a:t>.</a:t>
            </a:r>
          </a:p>
          <a:p>
            <a:pPr lvl="2">
              <a:buFont typeface="Wingdings" panose="05000000000000000000" pitchFamily="2" charset="2"/>
              <a:buChar char="§"/>
            </a:pPr>
            <a:r>
              <a:rPr lang="en-US" altLang="ko-KR" sz="1400" dirty="0"/>
              <a:t>Clean this up with “</a:t>
            </a:r>
            <a:r>
              <a:rPr lang="en-US" altLang="ko-KR" sz="1400" dirty="0" err="1"/>
              <a:t>kubectl</a:t>
            </a:r>
            <a:r>
              <a:rPr lang="en-US" altLang="ko-KR" sz="1400" dirty="0"/>
              <a:t> delete jobs </a:t>
            </a:r>
            <a:r>
              <a:rPr lang="en-US" altLang="ko-KR" sz="1400" dirty="0" err="1"/>
              <a:t>oneshot</a:t>
            </a:r>
            <a:r>
              <a:rPr lang="en-US" altLang="ko-KR" sz="1400" dirty="0"/>
              <a:t>”. </a:t>
            </a:r>
          </a:p>
          <a:p>
            <a:pPr lvl="2">
              <a:buFont typeface="Wingdings" panose="05000000000000000000" pitchFamily="2" charset="2"/>
              <a:buChar char="§"/>
            </a:pPr>
            <a:r>
              <a:rPr lang="en-US" altLang="ko-KR" sz="1400" b="1" dirty="0"/>
              <a:t>Workers can fail in other ways. Specifically, they can get stuck and not make any forward progress</a:t>
            </a:r>
            <a:r>
              <a:rPr lang="en-US" altLang="ko-KR" sz="1400" dirty="0"/>
              <a:t>. </a:t>
            </a:r>
            <a:r>
              <a:rPr lang="en-US" altLang="ko-KR" sz="1400" b="1" dirty="0"/>
              <a:t>To help cover this case, you can use “</a:t>
            </a:r>
            <a:r>
              <a:rPr lang="en-US" altLang="ko-KR" sz="1400" b="1" dirty="0">
                <a:solidFill>
                  <a:srgbClr val="FF0000"/>
                </a:solidFill>
              </a:rPr>
              <a:t>liveness probes</a:t>
            </a:r>
            <a:r>
              <a:rPr lang="en-US" altLang="ko-KR" sz="1400" b="1" dirty="0"/>
              <a:t>” with jobs</a:t>
            </a:r>
            <a:r>
              <a:rPr lang="en-US" altLang="ko-KR" sz="1400" dirty="0"/>
              <a:t>. If the liveness probe policy determines that a Pod is dead, it’ll be restarted/replaced for you.</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189D8CF-BAC4-4642-9050-9F6C2D30F6C8}"/>
              </a:ext>
            </a:extLst>
          </p:cNvPr>
          <p:cNvPicPr>
            <a:picLocks noChangeAspect="1"/>
          </p:cNvPicPr>
          <p:nvPr/>
        </p:nvPicPr>
        <p:blipFill>
          <a:blip r:embed="rId2"/>
          <a:stretch>
            <a:fillRect/>
          </a:stretch>
        </p:blipFill>
        <p:spPr>
          <a:xfrm>
            <a:off x="6691556" y="4213859"/>
            <a:ext cx="4662244" cy="2195171"/>
          </a:xfrm>
          <a:prstGeom prst="rect">
            <a:avLst/>
          </a:prstGeom>
        </p:spPr>
      </p:pic>
    </p:spTree>
    <p:extLst>
      <p:ext uri="{BB962C8B-B14F-4D97-AF65-F5344CB8AC3E}">
        <p14:creationId xmlns:p14="http://schemas.microsoft.com/office/powerpoint/2010/main" val="23912512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Pattern(9/21)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Parallelism :</a:t>
            </a:r>
          </a:p>
          <a:p>
            <a:pPr lvl="1">
              <a:buFont typeface="Wingdings" panose="05000000000000000000" pitchFamily="2" charset="2"/>
              <a:buChar char="§"/>
            </a:pPr>
            <a:r>
              <a:rPr lang="en-US" altLang="ko-KR" sz="1400" b="1" dirty="0"/>
              <a:t>Let’s start a bunch of workers together to make key generation faster. We’re going to use a combination of the </a:t>
            </a:r>
            <a:r>
              <a:rPr lang="en-US" altLang="ko-KR" sz="1400" b="1" dirty="0">
                <a:solidFill>
                  <a:srgbClr val="FF0000"/>
                </a:solidFill>
              </a:rPr>
              <a:t>completions</a:t>
            </a:r>
            <a:r>
              <a:rPr lang="en-US" altLang="ko-KR" sz="1400" b="1" dirty="0"/>
              <a:t> and </a:t>
            </a:r>
            <a:r>
              <a:rPr lang="en-US" altLang="ko-KR" sz="1400" b="1" dirty="0">
                <a:solidFill>
                  <a:srgbClr val="FF0000"/>
                </a:solidFill>
              </a:rPr>
              <a:t>parallelism</a:t>
            </a:r>
            <a:r>
              <a:rPr lang="en-US" altLang="ko-KR" sz="1400" b="1" dirty="0"/>
              <a:t> parameters</a:t>
            </a:r>
            <a:r>
              <a:rPr lang="en-US" altLang="ko-KR" sz="1400" dirty="0"/>
              <a:t>. Our goal is to generate 100 keys by having 10 runs of “</a:t>
            </a:r>
            <a:r>
              <a:rPr lang="en-US" altLang="ko-KR" sz="1400" dirty="0" err="1"/>
              <a:t>kuard</a:t>
            </a:r>
            <a:r>
              <a:rPr lang="en-US" altLang="ko-KR" sz="1400" dirty="0"/>
              <a:t>” with each run generating 10 keys. But we don’t want to swamp our cluster, so </a:t>
            </a:r>
            <a:r>
              <a:rPr lang="en-US" altLang="ko-KR" sz="1400" b="1" dirty="0"/>
              <a:t>we’ll limit ourselves to only five Pods at a time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0287BC77-2A24-46F4-B98E-A87A372407E4}"/>
              </a:ext>
            </a:extLst>
          </p:cNvPr>
          <p:cNvSpPr/>
          <p:nvPr/>
        </p:nvSpPr>
        <p:spPr>
          <a:xfrm>
            <a:off x="3048000" y="2018526"/>
            <a:ext cx="6096000" cy="3631763"/>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batch/v1</a:t>
            </a:r>
          </a:p>
          <a:p>
            <a:r>
              <a:rPr lang="en-US" altLang="ko-KR" sz="1000" b="1" dirty="0"/>
              <a:t>kind: Job</a:t>
            </a:r>
          </a:p>
          <a:p>
            <a:r>
              <a:rPr lang="en-US" altLang="ko-KR" sz="1000" b="1" dirty="0"/>
              <a:t>metadata:</a:t>
            </a:r>
          </a:p>
          <a:p>
            <a:r>
              <a:rPr lang="en-US" altLang="ko-KR" sz="1000" b="1" dirty="0"/>
              <a:t>  name: </a:t>
            </a:r>
            <a:r>
              <a:rPr lang="en-US" altLang="ko-KR" sz="1000" b="1" dirty="0">
                <a:solidFill>
                  <a:srgbClr val="FF0000"/>
                </a:solidFill>
              </a:rPr>
              <a:t>parallel</a:t>
            </a:r>
          </a:p>
          <a:p>
            <a:r>
              <a:rPr lang="en-US" altLang="ko-KR" sz="1000" b="1" dirty="0"/>
              <a:t>  labels:</a:t>
            </a:r>
          </a:p>
          <a:p>
            <a:r>
              <a:rPr lang="en-US" altLang="ko-KR" sz="1000" b="1" dirty="0"/>
              <a:t>    apps: jobs</a:t>
            </a:r>
          </a:p>
          <a:p>
            <a:r>
              <a:rPr lang="en-US" altLang="ko-KR" sz="1000" b="1" dirty="0"/>
              <a:t>spec:</a:t>
            </a:r>
          </a:p>
          <a:p>
            <a:r>
              <a:rPr lang="en-US" altLang="ko-KR" sz="1000" b="1" dirty="0">
                <a:solidFill>
                  <a:srgbClr val="FF0000"/>
                </a:solidFill>
              </a:rPr>
              <a:t>  parallelism: 5</a:t>
            </a:r>
          </a:p>
          <a:p>
            <a:r>
              <a:rPr lang="en-US" altLang="ko-KR" sz="1000" b="1" dirty="0">
                <a:solidFill>
                  <a:srgbClr val="FF0000"/>
                </a:solidFill>
              </a:rPr>
              <a:t>  completions: 10</a:t>
            </a:r>
          </a:p>
          <a:p>
            <a:r>
              <a:rPr lang="en-US" altLang="ko-KR" sz="1000" b="1" dirty="0"/>
              <a:t>  template:</a:t>
            </a:r>
          </a:p>
          <a:p>
            <a:r>
              <a:rPr lang="en-US" altLang="ko-KR" sz="1000" b="1" dirty="0"/>
              <a:t>    metadata:</a:t>
            </a:r>
          </a:p>
          <a:p>
            <a:r>
              <a:rPr lang="en-US" altLang="ko-KR" sz="1000" b="1" dirty="0"/>
              <a:t>      labels:</a:t>
            </a:r>
          </a:p>
          <a:p>
            <a:r>
              <a:rPr lang="en-US" altLang="ko-KR" sz="1000" b="1" dirty="0"/>
              <a:t>        apps: jobs</a:t>
            </a:r>
          </a:p>
          <a:p>
            <a:r>
              <a:rPr lang="en-US" altLang="ko-KR" sz="1000" b="1" dirty="0"/>
              <a:t>    spec:</a:t>
            </a:r>
          </a:p>
          <a:p>
            <a:r>
              <a:rPr lang="en-US" altLang="ko-KR" sz="1000" b="1" dirty="0"/>
              <a:t>      containers:</a:t>
            </a:r>
          </a:p>
          <a:p>
            <a:r>
              <a:rPr lang="en-US" altLang="ko-KR" sz="1000" b="1" dirty="0"/>
              <a:t>      - name: </a:t>
            </a:r>
            <a:r>
              <a:rPr lang="en-US" altLang="ko-KR" sz="1000" b="1" dirty="0" err="1"/>
              <a:t>kuard</a:t>
            </a:r>
            <a:endParaRPr lang="en-US" altLang="ko-KR" sz="1000" b="1" dirty="0"/>
          </a:p>
          <a:p>
            <a:r>
              <a:rPr lang="en-US" altLang="ko-KR" sz="1000" b="1" dirty="0"/>
              <a:t>        image: </a:t>
            </a:r>
            <a:r>
              <a:rPr lang="en-US" altLang="ko-KR" sz="1000" b="1" dirty="0">
                <a:solidFill>
                  <a:srgbClr val="FF0000"/>
                </a:solidFill>
              </a:rPr>
              <a:t>gcr.io/</a:t>
            </a:r>
            <a:r>
              <a:rPr lang="en-US" altLang="ko-KR" sz="1000" b="1" dirty="0" err="1">
                <a:solidFill>
                  <a:srgbClr val="FF0000"/>
                </a:solidFill>
              </a:rPr>
              <a:t>kuard</a:t>
            </a:r>
            <a:r>
              <a:rPr lang="en-US" altLang="ko-KR" sz="1000" b="1" dirty="0">
                <a:solidFill>
                  <a:srgbClr val="FF0000"/>
                </a:solidFill>
              </a:rPr>
              <a:t>-demo/kuard-amd64:1</a:t>
            </a:r>
          </a:p>
          <a:p>
            <a:r>
              <a:rPr lang="en-US" altLang="ko-KR" sz="1000" b="1" dirty="0"/>
              <a:t>        </a:t>
            </a:r>
            <a:r>
              <a:rPr lang="en-US" altLang="ko-KR" sz="1000" b="1" dirty="0" err="1"/>
              <a:t>imagePullPolicy</a:t>
            </a:r>
            <a:r>
              <a:rPr lang="en-US" altLang="ko-KR" sz="1000" b="1" dirty="0"/>
              <a:t>: Always</a:t>
            </a:r>
          </a:p>
          <a:p>
            <a:r>
              <a:rPr lang="en-US" altLang="ko-KR" sz="1000" b="1" dirty="0"/>
              <a:t>        </a:t>
            </a:r>
            <a:r>
              <a:rPr lang="en-US" altLang="ko-KR" sz="1000" b="1" dirty="0" err="1"/>
              <a:t>args</a:t>
            </a:r>
            <a:r>
              <a:rPr lang="en-US" altLang="ko-KR" sz="1000" b="1" dirty="0"/>
              <a:t>:</a:t>
            </a:r>
          </a:p>
          <a:p>
            <a:r>
              <a:rPr lang="en-US" altLang="ko-KR" sz="1000" b="1" dirty="0"/>
              <a:t>        - "--keygen-enable"</a:t>
            </a:r>
          </a:p>
          <a:p>
            <a:r>
              <a:rPr lang="en-US" altLang="ko-KR" sz="1000" b="1" dirty="0"/>
              <a:t>        - "--keygen-exit-on-complete"</a:t>
            </a:r>
          </a:p>
          <a:p>
            <a:r>
              <a:rPr lang="en-US" altLang="ko-KR" sz="1000" b="1" dirty="0"/>
              <a:t>        - "--keygen-num-to-gen=10"</a:t>
            </a:r>
          </a:p>
          <a:p>
            <a:r>
              <a:rPr lang="en-US" altLang="ko-KR" sz="1000" b="1" dirty="0"/>
              <a:t>      </a:t>
            </a:r>
            <a:r>
              <a:rPr lang="en-US" altLang="ko-KR" sz="1000" b="1" dirty="0" err="1"/>
              <a:t>restartPolicy</a:t>
            </a:r>
            <a:r>
              <a:rPr lang="en-US" altLang="ko-KR" sz="1000" b="1" dirty="0"/>
              <a:t>: </a:t>
            </a:r>
            <a:r>
              <a:rPr lang="en-US" altLang="ko-KR" sz="1000" b="1" dirty="0" err="1"/>
              <a:t>OnFailure</a:t>
            </a:r>
            <a:endParaRPr lang="ko-KR" altLang="en-US" sz="1000" b="1" dirty="0"/>
          </a:p>
        </p:txBody>
      </p:sp>
      <p:sp>
        <p:nvSpPr>
          <p:cNvPr id="8" name="직사각형 7">
            <a:extLst>
              <a:ext uri="{FF2B5EF4-FFF2-40B4-BE49-F238E27FC236}">
                <a16:creationId xmlns:a16="http://schemas.microsoft.com/office/drawing/2014/main" id="{015CEECC-0176-E0D8-F89A-824AE46ACDA4}"/>
              </a:ext>
            </a:extLst>
          </p:cNvPr>
          <p:cNvSpPr/>
          <p:nvPr/>
        </p:nvSpPr>
        <p:spPr>
          <a:xfrm>
            <a:off x="3132306" y="3132306"/>
            <a:ext cx="1134894" cy="3161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4583574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Pattern(10/21)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4725299" cy="5634624"/>
          </a:xfrm>
        </p:spPr>
        <p:txBody>
          <a:bodyPr>
            <a:normAutofit/>
          </a:bodyPr>
          <a:lstStyle/>
          <a:p>
            <a:pPr>
              <a:buFont typeface="Wingdings" panose="05000000000000000000" pitchFamily="2" charset="2"/>
              <a:buChar char="§"/>
            </a:pPr>
            <a:r>
              <a:rPr lang="en-US" altLang="ko-KR" sz="1800" b="1" dirty="0"/>
              <a:t>Parallelism :</a:t>
            </a:r>
          </a:p>
          <a:p>
            <a:pPr lvl="1">
              <a:buFont typeface="Wingdings" panose="05000000000000000000" pitchFamily="2" charset="2"/>
              <a:buChar char="§"/>
            </a:pPr>
            <a:r>
              <a:rPr lang="en-US" altLang="ko-KR" sz="1400" b="1" dirty="0"/>
              <a:t>Now watch as the Pods come up, do their thing, and exit</a:t>
            </a:r>
            <a:r>
              <a:rPr lang="en-US" altLang="ko-KR" sz="1400" dirty="0"/>
              <a:t>. New Pods are created until 10 have completed altogether. </a:t>
            </a:r>
            <a:r>
              <a:rPr lang="en-US" altLang="ko-KR" sz="1400" b="1" dirty="0"/>
              <a:t>Here we use the “</a:t>
            </a:r>
            <a:r>
              <a:rPr lang="en-US" altLang="ko-KR" sz="1400" b="1" dirty="0">
                <a:solidFill>
                  <a:srgbClr val="FF0000"/>
                </a:solidFill>
              </a:rPr>
              <a:t>--watch</a:t>
            </a:r>
            <a:r>
              <a:rPr lang="en-US" altLang="ko-KR" sz="1400" b="1" dirty="0"/>
              <a:t>” flag to have “</a:t>
            </a:r>
            <a:r>
              <a:rPr lang="en-US" altLang="ko-KR" sz="1400" b="1" dirty="0" err="1"/>
              <a:t>kubectl</a:t>
            </a:r>
            <a:r>
              <a:rPr lang="en-US" altLang="ko-KR" sz="1400" b="1" dirty="0"/>
              <a:t>” stay around and list changes as they happen </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Clean up by deleting the finished Job object with “</a:t>
            </a:r>
            <a:r>
              <a:rPr lang="en-US" altLang="ko-KR" sz="1400" b="1" dirty="0" err="1"/>
              <a:t>kubectl</a:t>
            </a:r>
            <a:r>
              <a:rPr lang="en-US" altLang="ko-KR" sz="1400" b="1" dirty="0"/>
              <a:t> delete job </a:t>
            </a:r>
            <a:r>
              <a:rPr lang="en-US" altLang="ko-KR" sz="1400" b="1" dirty="0">
                <a:solidFill>
                  <a:srgbClr val="FF0000"/>
                </a:solidFill>
              </a:rPr>
              <a:t>parallel</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739CF455-75AD-4485-838F-427636F5E200}"/>
              </a:ext>
            </a:extLst>
          </p:cNvPr>
          <p:cNvSpPr/>
          <p:nvPr/>
        </p:nvSpPr>
        <p:spPr>
          <a:xfrm>
            <a:off x="1570899" y="2267188"/>
            <a:ext cx="3631864" cy="400110"/>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kuard</a:t>
            </a:r>
            <a:r>
              <a:rPr lang="en-US" altLang="ko-KR" sz="1000" b="1" dirty="0">
                <a:solidFill>
                  <a:srgbClr val="FF0000"/>
                </a:solidFill>
              </a:rPr>
              <a:t>-parallelism-</a:t>
            </a:r>
            <a:r>
              <a:rPr lang="en-US" altLang="ko-KR" sz="1000" b="1" dirty="0" err="1">
                <a:solidFill>
                  <a:srgbClr val="FF0000"/>
                </a:solidFill>
              </a:rPr>
              <a:t>jobs.yaml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-w</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C5165FA3-D2E5-416B-9ED9-2858ADBCB154}"/>
              </a:ext>
            </a:extLst>
          </p:cNvPr>
          <p:cNvPicPr>
            <a:picLocks noChangeAspect="1"/>
          </p:cNvPicPr>
          <p:nvPr/>
        </p:nvPicPr>
        <p:blipFill>
          <a:blip r:embed="rId2"/>
          <a:stretch>
            <a:fillRect/>
          </a:stretch>
        </p:blipFill>
        <p:spPr>
          <a:xfrm>
            <a:off x="5563499" y="1150619"/>
            <a:ext cx="5790301" cy="4979659"/>
          </a:xfrm>
          <a:prstGeom prst="rect">
            <a:avLst/>
          </a:prstGeom>
        </p:spPr>
      </p:pic>
      <p:sp>
        <p:nvSpPr>
          <p:cNvPr id="9" name="화살표: 오른쪽 8">
            <a:extLst>
              <a:ext uri="{FF2B5EF4-FFF2-40B4-BE49-F238E27FC236}">
                <a16:creationId xmlns:a16="http://schemas.microsoft.com/office/drawing/2014/main" id="{8130D60A-1783-4357-B253-3C6028D42A6F}"/>
              </a:ext>
            </a:extLst>
          </p:cNvPr>
          <p:cNvSpPr/>
          <p:nvPr/>
        </p:nvSpPr>
        <p:spPr>
          <a:xfrm>
            <a:off x="5202763" y="2307896"/>
            <a:ext cx="360736" cy="350520"/>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5126748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Pattern(11/21)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Work Queues :</a:t>
            </a:r>
          </a:p>
          <a:p>
            <a:pPr lvl="1">
              <a:buFont typeface="Wingdings" panose="05000000000000000000" pitchFamily="2" charset="2"/>
              <a:buChar char="§"/>
            </a:pPr>
            <a:r>
              <a:rPr lang="en-US" altLang="ko-KR" sz="1400" b="1" dirty="0"/>
              <a:t>A common use case for jobs is to </a:t>
            </a:r>
            <a:r>
              <a:rPr lang="en-US" altLang="ko-KR" sz="1400" b="1" dirty="0">
                <a:solidFill>
                  <a:srgbClr val="FF0000"/>
                </a:solidFill>
              </a:rPr>
              <a:t>process work from a </a:t>
            </a:r>
            <a:r>
              <a:rPr lang="en-US" altLang="ko-KR" sz="1400" b="1" dirty="0"/>
              <a:t>“</a:t>
            </a:r>
            <a:r>
              <a:rPr lang="en-US" altLang="ko-KR" sz="1400" b="1" dirty="0">
                <a:solidFill>
                  <a:srgbClr val="FF0000"/>
                </a:solidFill>
              </a:rPr>
              <a:t>work queue</a:t>
            </a:r>
            <a:r>
              <a:rPr lang="en-US" altLang="ko-KR" sz="1400" b="1" dirty="0"/>
              <a:t>”</a:t>
            </a:r>
            <a:r>
              <a:rPr lang="en-US" altLang="ko-KR" sz="1400" dirty="0"/>
              <a:t>. </a:t>
            </a:r>
            <a:r>
              <a:rPr lang="en-US" altLang="ko-KR" sz="1400" b="1" dirty="0"/>
              <a:t>In this scenario, some task creates a number of work items and publishes them to a work queue</a:t>
            </a:r>
            <a:r>
              <a:rPr lang="en-US" altLang="ko-KR" sz="1400" dirty="0"/>
              <a:t>. A worker job can be run to process each work item until the work queue is empty.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01A3598-20FE-48CB-A763-C65F163B5CEB}"/>
              </a:ext>
            </a:extLst>
          </p:cNvPr>
          <p:cNvPicPr>
            <a:picLocks noChangeAspect="1"/>
          </p:cNvPicPr>
          <p:nvPr/>
        </p:nvPicPr>
        <p:blipFill>
          <a:blip r:embed="rId2"/>
          <a:stretch>
            <a:fillRect/>
          </a:stretch>
        </p:blipFill>
        <p:spPr>
          <a:xfrm>
            <a:off x="3662183" y="2601404"/>
            <a:ext cx="4867633" cy="1409414"/>
          </a:xfrm>
          <a:prstGeom prst="rect">
            <a:avLst/>
          </a:prstGeom>
        </p:spPr>
      </p:pic>
    </p:spTree>
    <p:extLst>
      <p:ext uri="{BB962C8B-B14F-4D97-AF65-F5344CB8AC3E}">
        <p14:creationId xmlns:p14="http://schemas.microsoft.com/office/powerpoint/2010/main" val="21043844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Pattern(12/21)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Work Queues :</a:t>
            </a:r>
          </a:p>
          <a:p>
            <a:pPr lvl="1">
              <a:buFont typeface="Wingdings" panose="05000000000000000000" pitchFamily="2" charset="2"/>
              <a:buChar char="§"/>
            </a:pPr>
            <a:r>
              <a:rPr lang="en-US" altLang="ko-KR" sz="1400" b="1" dirty="0"/>
              <a:t>Starting a work queue -</a:t>
            </a:r>
            <a:endParaRPr lang="en-US" altLang="ko-KR" sz="1400" dirty="0"/>
          </a:p>
          <a:p>
            <a:pPr lvl="2">
              <a:buFont typeface="Wingdings" panose="05000000000000000000" pitchFamily="2" charset="2"/>
              <a:buChar char="§"/>
            </a:pPr>
            <a:r>
              <a:rPr lang="en-US" altLang="ko-KR" sz="1400" b="1" dirty="0"/>
              <a:t>We start by launching a “</a:t>
            </a:r>
            <a:r>
              <a:rPr lang="en-US" altLang="ko-KR" sz="1400" b="1" dirty="0">
                <a:solidFill>
                  <a:srgbClr val="FF0000"/>
                </a:solidFill>
              </a:rPr>
              <a:t>centralized work queue service</a:t>
            </a:r>
            <a:r>
              <a:rPr lang="en-US" altLang="ko-KR" sz="1400" b="1" dirty="0"/>
              <a:t>”</a:t>
            </a:r>
            <a:r>
              <a:rPr lang="en-US" altLang="ko-KR" sz="1400" dirty="0"/>
              <a:t>. “</a:t>
            </a:r>
            <a:r>
              <a:rPr lang="en-US" altLang="ko-KR" sz="1400" b="1" dirty="0" err="1"/>
              <a:t>kuard</a:t>
            </a:r>
            <a:r>
              <a:rPr lang="en-US" altLang="ko-KR" sz="1400" dirty="0"/>
              <a:t>” </a:t>
            </a:r>
            <a:r>
              <a:rPr lang="en-US" altLang="ko-KR" sz="1400" b="1" dirty="0"/>
              <a:t>has a simple </a:t>
            </a:r>
            <a:r>
              <a:rPr lang="en-US" altLang="ko-KR" sz="1400" dirty="0"/>
              <a:t>“</a:t>
            </a:r>
            <a:r>
              <a:rPr lang="en-US" altLang="ko-KR" sz="1400" b="1" dirty="0"/>
              <a:t>memory-based work queue system</a:t>
            </a:r>
            <a:r>
              <a:rPr lang="en-US" altLang="ko-KR" sz="1400" dirty="0"/>
              <a:t>” </a:t>
            </a:r>
            <a:r>
              <a:rPr lang="en-US" altLang="ko-KR" sz="1400" b="1" dirty="0"/>
              <a:t>built in</a:t>
            </a:r>
            <a:r>
              <a:rPr lang="en-US" altLang="ko-KR" sz="1400" dirty="0"/>
              <a:t>. </a:t>
            </a:r>
            <a:r>
              <a:rPr lang="en-US" altLang="ko-KR" sz="1400" b="1" dirty="0"/>
              <a:t>We will start an instance of “</a:t>
            </a:r>
            <a:r>
              <a:rPr lang="en-US" altLang="ko-KR" sz="1400" b="1" dirty="0" err="1"/>
              <a:t>kuard</a:t>
            </a:r>
            <a:r>
              <a:rPr lang="en-US" altLang="ko-KR" sz="1400" b="1" dirty="0"/>
              <a:t>” to act as a coordinator for all the work to be done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CCD968D9-4E41-4EC6-9167-8ED8CC05F308}"/>
              </a:ext>
            </a:extLst>
          </p:cNvPr>
          <p:cNvSpPr/>
          <p:nvPr/>
        </p:nvSpPr>
        <p:spPr>
          <a:xfrm>
            <a:off x="3048000" y="1990166"/>
            <a:ext cx="6096000" cy="4093428"/>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t>
            </a:r>
            <a:r>
              <a:rPr lang="en-US" altLang="ko-KR" sz="1000" b="1" dirty="0">
                <a:solidFill>
                  <a:srgbClr val="FF0000"/>
                </a:solidFill>
              </a:rPr>
              <a:t>apps/v1</a:t>
            </a:r>
          </a:p>
          <a:p>
            <a:r>
              <a:rPr lang="en-US" altLang="ko-KR" sz="1000" b="1" dirty="0"/>
              <a:t>kind: </a:t>
            </a:r>
            <a:r>
              <a:rPr lang="en-US" altLang="ko-KR" sz="1000" b="1" dirty="0" err="1">
                <a:solidFill>
                  <a:srgbClr val="FF0000"/>
                </a:solidFill>
              </a:rPr>
              <a:t>ReplicaSet</a:t>
            </a:r>
            <a:endParaRPr lang="en-US" altLang="ko-KR" sz="1000" b="1" dirty="0">
              <a:solidFill>
                <a:srgbClr val="FF0000"/>
              </a:solidFill>
            </a:endParaRPr>
          </a:p>
          <a:p>
            <a:r>
              <a:rPr lang="en-US" altLang="ko-KR" sz="1000" b="1" dirty="0"/>
              <a:t>metadata:</a:t>
            </a:r>
          </a:p>
          <a:p>
            <a:r>
              <a:rPr lang="en-US" altLang="ko-KR" sz="1000" b="1" dirty="0"/>
              <a:t>  labels:</a:t>
            </a:r>
          </a:p>
          <a:p>
            <a:r>
              <a:rPr lang="en-US" altLang="ko-KR" sz="1000" b="1" dirty="0"/>
              <a:t>    app: </a:t>
            </a:r>
            <a:r>
              <a:rPr lang="en-US" altLang="ko-KR" sz="1000" b="1" dirty="0">
                <a:solidFill>
                  <a:srgbClr val="FF0000"/>
                </a:solidFill>
              </a:rPr>
              <a:t>work-queue</a:t>
            </a:r>
          </a:p>
          <a:p>
            <a:r>
              <a:rPr lang="en-US" altLang="ko-KR" sz="1000" b="1" dirty="0"/>
              <a:t>    component: </a:t>
            </a:r>
            <a:r>
              <a:rPr lang="en-US" altLang="ko-KR" sz="1000" b="1" dirty="0">
                <a:solidFill>
                  <a:srgbClr val="FF0000"/>
                </a:solidFill>
              </a:rPr>
              <a:t>queue</a:t>
            </a:r>
          </a:p>
          <a:p>
            <a:r>
              <a:rPr lang="en-US" altLang="ko-KR" sz="1000" b="1" dirty="0"/>
              <a:t>    chapter: </a:t>
            </a:r>
            <a:r>
              <a:rPr lang="en-US" altLang="ko-KR" sz="1000" b="1" dirty="0">
                <a:solidFill>
                  <a:srgbClr val="FF0000"/>
                </a:solidFill>
              </a:rPr>
              <a:t>jobs</a:t>
            </a:r>
          </a:p>
          <a:p>
            <a:r>
              <a:rPr lang="en-US" altLang="ko-KR" sz="1000" b="1" dirty="0"/>
              <a:t>  name: </a:t>
            </a:r>
            <a:r>
              <a:rPr lang="en-US" altLang="ko-KR" sz="1000" b="1" dirty="0">
                <a:solidFill>
                  <a:srgbClr val="FF0000"/>
                </a:solidFill>
              </a:rPr>
              <a:t>queue</a:t>
            </a:r>
          </a:p>
          <a:p>
            <a:r>
              <a:rPr lang="en-US" altLang="ko-KR" sz="1000" b="1" dirty="0"/>
              <a:t>spec:</a:t>
            </a:r>
          </a:p>
          <a:p>
            <a:r>
              <a:rPr lang="en-US" altLang="ko-KR" sz="1000" b="1" dirty="0"/>
              <a:t>  replicas: 1</a:t>
            </a:r>
          </a:p>
          <a:p>
            <a:r>
              <a:rPr lang="en-US" altLang="ko-KR" sz="1000" b="1" dirty="0">
                <a:solidFill>
                  <a:srgbClr val="FF0000"/>
                </a:solidFill>
              </a:rPr>
              <a:t>  selector:</a:t>
            </a:r>
          </a:p>
          <a:p>
            <a:r>
              <a:rPr lang="en-US" altLang="ko-KR" sz="1000" b="1" dirty="0">
                <a:solidFill>
                  <a:srgbClr val="FF0000"/>
                </a:solidFill>
              </a:rPr>
              <a:t>    </a:t>
            </a:r>
            <a:r>
              <a:rPr lang="en-US" altLang="ko-KR" sz="1000" b="1" dirty="0" err="1">
                <a:solidFill>
                  <a:srgbClr val="FF0000"/>
                </a:solidFill>
              </a:rPr>
              <a:t>matchLabels</a:t>
            </a:r>
            <a:r>
              <a:rPr lang="en-US" altLang="ko-KR" sz="1000" b="1" dirty="0">
                <a:solidFill>
                  <a:srgbClr val="FF0000"/>
                </a:solidFill>
              </a:rPr>
              <a:t>:</a:t>
            </a:r>
          </a:p>
          <a:p>
            <a:r>
              <a:rPr lang="en-US" altLang="ko-KR" sz="1000" b="1" dirty="0">
                <a:solidFill>
                  <a:srgbClr val="FF0000"/>
                </a:solidFill>
              </a:rPr>
              <a:t>      app: work-queue</a:t>
            </a:r>
          </a:p>
          <a:p>
            <a:r>
              <a:rPr lang="en-US" altLang="ko-KR" sz="1000" b="1" dirty="0">
                <a:solidFill>
                  <a:srgbClr val="FF0000"/>
                </a:solidFill>
              </a:rPr>
              <a:t>      component: queue</a:t>
            </a:r>
          </a:p>
          <a:p>
            <a:r>
              <a:rPr lang="en-US" altLang="ko-KR" sz="1000" b="1" dirty="0">
                <a:solidFill>
                  <a:srgbClr val="FF0000"/>
                </a:solidFill>
              </a:rPr>
              <a:t>      chapter: jobs</a:t>
            </a:r>
          </a:p>
          <a:p>
            <a:r>
              <a:rPr lang="en-US" altLang="ko-KR" sz="1000" b="1" dirty="0"/>
              <a:t>  template:</a:t>
            </a:r>
          </a:p>
          <a:p>
            <a:r>
              <a:rPr lang="en-US" altLang="ko-KR" sz="1000" b="1" dirty="0"/>
              <a:t>    metadata:</a:t>
            </a:r>
          </a:p>
          <a:p>
            <a:r>
              <a:rPr lang="en-US" altLang="ko-KR" sz="1000" b="1" dirty="0"/>
              <a:t>      labels:</a:t>
            </a:r>
          </a:p>
          <a:p>
            <a:r>
              <a:rPr lang="en-US" altLang="ko-KR" sz="1000" b="1" dirty="0"/>
              <a:t>        app: work-queue</a:t>
            </a:r>
          </a:p>
          <a:p>
            <a:r>
              <a:rPr lang="en-US" altLang="ko-KR" sz="1000" b="1" dirty="0"/>
              <a:t>        component: queue</a:t>
            </a:r>
          </a:p>
          <a:p>
            <a:r>
              <a:rPr lang="en-US" altLang="ko-KR" sz="1000" b="1" dirty="0"/>
              <a:t>        chapter: jobs</a:t>
            </a:r>
          </a:p>
          <a:p>
            <a:r>
              <a:rPr lang="en-US" altLang="ko-KR" sz="1000" b="1" dirty="0"/>
              <a:t>    spec:</a:t>
            </a:r>
          </a:p>
          <a:p>
            <a:r>
              <a:rPr lang="en-US" altLang="ko-KR" sz="1000" b="1" dirty="0"/>
              <a:t>      containers:</a:t>
            </a:r>
          </a:p>
          <a:p>
            <a:r>
              <a:rPr lang="en-US" altLang="ko-KR" sz="1000" b="1" dirty="0"/>
              <a:t>      - name: queue</a:t>
            </a:r>
          </a:p>
          <a:p>
            <a:r>
              <a:rPr lang="en-US" altLang="ko-KR" sz="1000" b="1" dirty="0"/>
              <a:t>        image: "</a:t>
            </a:r>
            <a:r>
              <a:rPr lang="en-US" altLang="ko-KR" sz="1000" b="1" dirty="0">
                <a:solidFill>
                  <a:srgbClr val="FF0000"/>
                </a:solidFill>
              </a:rPr>
              <a:t>gcr.io/</a:t>
            </a:r>
            <a:r>
              <a:rPr lang="en-US" altLang="ko-KR" sz="1000" b="1" dirty="0" err="1">
                <a:solidFill>
                  <a:srgbClr val="FF0000"/>
                </a:solidFill>
              </a:rPr>
              <a:t>kuard</a:t>
            </a:r>
            <a:r>
              <a:rPr lang="en-US" altLang="ko-KR" sz="1000" b="1" dirty="0">
                <a:solidFill>
                  <a:srgbClr val="FF0000"/>
                </a:solidFill>
              </a:rPr>
              <a:t>-demo/kuard-amd64:1</a:t>
            </a:r>
            <a:r>
              <a:rPr lang="en-US" altLang="ko-KR" sz="1000" b="1" dirty="0"/>
              <a:t>“</a:t>
            </a:r>
          </a:p>
          <a:p>
            <a:r>
              <a:rPr lang="en-US" altLang="ko-KR" sz="1000" b="1" dirty="0"/>
              <a:t>        </a:t>
            </a:r>
            <a:r>
              <a:rPr lang="en-US" altLang="ko-KR" sz="1000" b="1" dirty="0" err="1"/>
              <a:t>imagePullPolicy</a:t>
            </a:r>
            <a:r>
              <a:rPr lang="en-US" altLang="ko-KR" sz="1000" b="1" dirty="0"/>
              <a:t>: Always</a:t>
            </a:r>
            <a:endParaRPr lang="ko-KR" altLang="en-US" sz="1000" b="1" dirty="0"/>
          </a:p>
        </p:txBody>
      </p:sp>
    </p:spTree>
    <p:extLst>
      <p:ext uri="{BB962C8B-B14F-4D97-AF65-F5344CB8AC3E}">
        <p14:creationId xmlns:p14="http://schemas.microsoft.com/office/powerpoint/2010/main" val="21650187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Pattern(13/21)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Work Queues :</a:t>
            </a:r>
          </a:p>
          <a:p>
            <a:pPr lvl="1">
              <a:buFont typeface="Wingdings" panose="05000000000000000000" pitchFamily="2" charset="2"/>
              <a:buChar char="§"/>
            </a:pPr>
            <a:r>
              <a:rPr lang="en-US" altLang="ko-KR" sz="1400" b="1" dirty="0"/>
              <a:t>Starting a work queue </a:t>
            </a:r>
            <a:r>
              <a:rPr lang="en-US" altLang="ko-KR" sz="1400" dirty="0"/>
              <a:t>- </a:t>
            </a:r>
          </a:p>
          <a:p>
            <a:pPr lvl="2">
              <a:buFont typeface="Wingdings" panose="05000000000000000000" pitchFamily="2" charset="2"/>
              <a:buChar char="§"/>
            </a:pPr>
            <a:r>
              <a:rPr lang="en-US" altLang="ko-KR" sz="1400" dirty="0"/>
              <a:t>Run the work queue with “</a:t>
            </a:r>
            <a:r>
              <a:rPr lang="en-US" altLang="ko-KR" sz="1400" b="1" dirty="0" err="1"/>
              <a:t>kubectl</a:t>
            </a:r>
            <a:r>
              <a:rPr lang="en-US" altLang="ko-KR" sz="1400" b="1" dirty="0"/>
              <a:t> apply -f </a:t>
            </a:r>
            <a:r>
              <a:rPr lang="en-US" altLang="ko-KR" sz="1400" b="1" dirty="0" err="1"/>
              <a:t>kuard-workqueue-job.yaml</a:t>
            </a:r>
            <a:r>
              <a:rPr lang="en-US" altLang="ko-KR" sz="1400" dirty="0"/>
              <a:t>” command. At this point the work queue daemon should be up and running. </a:t>
            </a:r>
            <a:r>
              <a:rPr lang="en-US" altLang="ko-KR" sz="1400" b="1" dirty="0"/>
              <a:t>Let’s use port forwarding to connect to it</a:t>
            </a:r>
            <a:r>
              <a:rPr lang="en-US" altLang="ko-KR" sz="1400" dirty="0"/>
              <a:t>. Leave this command running in a terminal window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2B4F3AA2-1E03-4BEA-9F3D-56A0791AA76B}"/>
              </a:ext>
            </a:extLst>
          </p:cNvPr>
          <p:cNvGrpSpPr/>
          <p:nvPr/>
        </p:nvGrpSpPr>
        <p:grpSpPr>
          <a:xfrm>
            <a:off x="1333500" y="2333536"/>
            <a:ext cx="9525000" cy="3156899"/>
            <a:chOff x="1333500" y="2181136"/>
            <a:chExt cx="9525000" cy="3156899"/>
          </a:xfrm>
        </p:grpSpPr>
        <p:sp>
          <p:nvSpPr>
            <p:cNvPr id="4" name="직사각형 3">
              <a:extLst>
                <a:ext uri="{FF2B5EF4-FFF2-40B4-BE49-F238E27FC236}">
                  <a16:creationId xmlns:a16="http://schemas.microsoft.com/office/drawing/2014/main" id="{BE20AE1D-0A01-4584-BA9A-336A0638AA96}"/>
                </a:ext>
              </a:extLst>
            </p:cNvPr>
            <p:cNvSpPr/>
            <p:nvPr/>
          </p:nvSpPr>
          <p:spPr>
            <a:xfrm>
              <a:off x="3048000" y="2181136"/>
              <a:ext cx="6096000" cy="707886"/>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kuard-workqueue-job.yaml</a:t>
              </a:r>
              <a:endParaRPr lang="en-US" altLang="ko-KR" sz="1000" b="1" dirty="0">
                <a:solidFill>
                  <a:srgbClr val="FF0000"/>
                </a:solidFill>
              </a:endParaRPr>
            </a:p>
            <a:p>
              <a:r>
                <a:rPr lang="en-US" altLang="ko-KR" sz="1000" b="1" dirty="0"/>
                <a:t>$ QUEUE_POD=$(</a:t>
              </a:r>
              <a:r>
                <a:rPr lang="en-US" altLang="ko-KR" sz="1000" b="1" dirty="0" err="1"/>
                <a:t>kubectl</a:t>
              </a:r>
              <a:r>
                <a:rPr lang="en-US" altLang="ko-KR" sz="1000" b="1" dirty="0"/>
                <a:t> get pods -l app=work-</a:t>
              </a:r>
              <a:r>
                <a:rPr lang="en-US" altLang="ko-KR" sz="1000" b="1" dirty="0" err="1"/>
                <a:t>queue,component</a:t>
              </a:r>
              <a:r>
                <a:rPr lang="en-US" altLang="ko-KR" sz="1000" b="1" dirty="0"/>
                <a:t>=queue \</a:t>
              </a:r>
            </a:p>
            <a:p>
              <a:r>
                <a:rPr lang="en-US" altLang="ko-KR" sz="1000" b="1" dirty="0"/>
                <a:t>-o </a:t>
              </a:r>
              <a:r>
                <a:rPr lang="en-US" altLang="ko-KR" sz="1000" b="1" dirty="0" err="1"/>
                <a:t>jsonpath</a:t>
              </a:r>
              <a:r>
                <a:rPr lang="en-US" altLang="ko-KR" sz="1000" b="1" dirty="0"/>
                <a:t>='{.items[0].metadata.name}')</a:t>
              </a:r>
            </a:p>
            <a:p>
              <a:r>
                <a:rPr lang="en-US" altLang="ko-KR" sz="1000" b="1" dirty="0"/>
                <a:t>$ </a:t>
              </a:r>
              <a:r>
                <a:rPr lang="en-US" altLang="ko-KR" sz="1000" b="1" dirty="0" err="1"/>
                <a:t>kubectl</a:t>
              </a:r>
              <a:r>
                <a:rPr lang="en-US" altLang="ko-KR" sz="1000" b="1" dirty="0"/>
                <a:t> port-forward </a:t>
              </a:r>
              <a:r>
                <a:rPr lang="en-US" altLang="ko-KR" sz="1000" b="1" dirty="0">
                  <a:solidFill>
                    <a:srgbClr val="FF0000"/>
                  </a:solidFill>
                </a:rPr>
                <a:t>$QUEUE_POD 8080:8080</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8A69ECD1-C0FA-4213-9707-6C905452FDE1}"/>
                </a:ext>
              </a:extLst>
            </p:cNvPr>
            <p:cNvPicPr>
              <a:picLocks noChangeAspect="1"/>
            </p:cNvPicPr>
            <p:nvPr/>
          </p:nvPicPr>
          <p:blipFill>
            <a:blip r:embed="rId2"/>
            <a:stretch>
              <a:fillRect/>
            </a:stretch>
          </p:blipFill>
          <p:spPr>
            <a:xfrm>
              <a:off x="1333500" y="3213960"/>
              <a:ext cx="9525000" cy="2124075"/>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99551834-0026-4B54-85AB-CEA0B8560AEB}"/>
                </a:ext>
              </a:extLst>
            </p:cNvPr>
            <p:cNvSpPr/>
            <p:nvPr/>
          </p:nvSpPr>
          <p:spPr>
            <a:xfrm>
              <a:off x="5901690" y="2907232"/>
              <a:ext cx="388620" cy="28851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5509320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Pattern(14/21)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Work Queues :</a:t>
            </a:r>
          </a:p>
          <a:p>
            <a:pPr lvl="1">
              <a:buFont typeface="Wingdings" panose="05000000000000000000" pitchFamily="2" charset="2"/>
              <a:buChar char="§"/>
            </a:pPr>
            <a:r>
              <a:rPr lang="en-US" altLang="ko-KR" sz="1400" b="1" dirty="0"/>
              <a:t>Starting a work queue </a:t>
            </a:r>
            <a:r>
              <a:rPr lang="en-US" altLang="ko-KR" sz="1400" dirty="0"/>
              <a:t>- </a:t>
            </a:r>
          </a:p>
          <a:p>
            <a:pPr lvl="2">
              <a:buFont typeface="Wingdings" panose="05000000000000000000" pitchFamily="2" charset="2"/>
              <a:buChar char="§"/>
            </a:pPr>
            <a:r>
              <a:rPr lang="en-US" altLang="ko-KR" sz="1400" dirty="0"/>
              <a:t>You can open your browser to “</a:t>
            </a:r>
            <a:r>
              <a:rPr lang="en-US" altLang="ko-KR" sz="1400" b="1" dirty="0"/>
              <a:t>http://localhost:8080</a:t>
            </a:r>
            <a:r>
              <a:rPr lang="en-US" altLang="ko-KR" sz="1400" dirty="0"/>
              <a:t>” and see the “</a:t>
            </a:r>
            <a:r>
              <a:rPr lang="en-US" altLang="ko-KR" sz="1400" b="1" dirty="0" err="1"/>
              <a:t>kuard</a:t>
            </a:r>
            <a:r>
              <a:rPr lang="en-US" altLang="ko-KR" sz="1400" dirty="0"/>
              <a:t>” interface. Switch to the “</a:t>
            </a:r>
            <a:r>
              <a:rPr lang="en-US" altLang="ko-KR" sz="1400" b="1" dirty="0" err="1"/>
              <a:t>MemQ</a:t>
            </a:r>
            <a:r>
              <a:rPr lang="en-US" altLang="ko-KR" sz="1400" b="1" dirty="0"/>
              <a:t> Server</a:t>
            </a:r>
            <a:r>
              <a:rPr lang="en-US" altLang="ko-KR" sz="1400" dirty="0"/>
              <a:t>” tab to keep an eye on what is going 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DA02C53E-9D2F-4F5B-B1B9-42EEDEDFA02D}"/>
              </a:ext>
            </a:extLst>
          </p:cNvPr>
          <p:cNvGrpSpPr/>
          <p:nvPr/>
        </p:nvGrpSpPr>
        <p:grpSpPr>
          <a:xfrm>
            <a:off x="2523177" y="2095500"/>
            <a:ext cx="7145646" cy="4313530"/>
            <a:chOff x="2523177" y="2095500"/>
            <a:chExt cx="7145646" cy="4313530"/>
          </a:xfrm>
        </p:grpSpPr>
        <p:pic>
          <p:nvPicPr>
            <p:cNvPr id="4" name="그림 3">
              <a:extLst>
                <a:ext uri="{FF2B5EF4-FFF2-40B4-BE49-F238E27FC236}">
                  <a16:creationId xmlns:a16="http://schemas.microsoft.com/office/drawing/2014/main" id="{A0A74E20-AC81-4603-8D02-707F1386DC1A}"/>
                </a:ext>
              </a:extLst>
            </p:cNvPr>
            <p:cNvPicPr>
              <a:picLocks noChangeAspect="1"/>
            </p:cNvPicPr>
            <p:nvPr/>
          </p:nvPicPr>
          <p:blipFill>
            <a:blip r:embed="rId2"/>
            <a:stretch>
              <a:fillRect/>
            </a:stretch>
          </p:blipFill>
          <p:spPr>
            <a:xfrm>
              <a:off x="2523177" y="2095500"/>
              <a:ext cx="7145646" cy="4313530"/>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FC86FA9B-CA4B-4379-B9CA-678B1BD95210}"/>
                </a:ext>
              </a:extLst>
            </p:cNvPr>
            <p:cNvSpPr/>
            <p:nvPr/>
          </p:nvSpPr>
          <p:spPr>
            <a:xfrm>
              <a:off x="2590800" y="5448300"/>
              <a:ext cx="769620" cy="2514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9842015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Pattern(15/21)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Work Queues :</a:t>
            </a:r>
          </a:p>
          <a:p>
            <a:pPr lvl="1">
              <a:buFont typeface="Wingdings" panose="05000000000000000000" pitchFamily="2" charset="2"/>
              <a:buChar char="§"/>
            </a:pPr>
            <a:r>
              <a:rPr lang="en-US" altLang="ko-KR" sz="1400" b="1" dirty="0"/>
              <a:t>Starting a work queue </a:t>
            </a:r>
            <a:r>
              <a:rPr lang="en-US" altLang="ko-KR" sz="1400" dirty="0"/>
              <a:t>- </a:t>
            </a:r>
          </a:p>
          <a:p>
            <a:pPr lvl="2">
              <a:buFont typeface="Wingdings" panose="05000000000000000000" pitchFamily="2" charset="2"/>
              <a:buChar char="§"/>
            </a:pPr>
            <a:r>
              <a:rPr lang="en-US" altLang="ko-KR" sz="1400" b="1" dirty="0"/>
              <a:t>With the work queue server in place, we should “</a:t>
            </a:r>
            <a:r>
              <a:rPr lang="en-US" altLang="ko-KR" sz="1400" b="1" dirty="0">
                <a:solidFill>
                  <a:srgbClr val="FF0000"/>
                </a:solidFill>
              </a:rPr>
              <a:t>expose it using a service</a:t>
            </a:r>
            <a:r>
              <a:rPr lang="en-US" altLang="ko-KR" sz="1400" b="1" dirty="0"/>
              <a:t>”</a:t>
            </a:r>
            <a:r>
              <a:rPr lang="en-US" altLang="ko-KR" sz="1400" dirty="0"/>
              <a:t>. This will </a:t>
            </a:r>
            <a:r>
              <a:rPr lang="en-US" altLang="ko-KR" sz="1400" b="1" dirty="0"/>
              <a:t>make it easy for producers and consumers to locate the work queue via DNS</a:t>
            </a:r>
            <a:r>
              <a:rPr lang="en-US" altLang="ko-KR" sz="1400" dirty="0"/>
              <a:t>.</a:t>
            </a:r>
          </a:p>
          <a:p>
            <a:pPr lvl="2">
              <a:buFont typeface="Wingdings" panose="05000000000000000000" pitchFamily="2" charset="2"/>
              <a:buChar char="§"/>
            </a:pPr>
            <a:r>
              <a:rPr lang="en-US" altLang="ko-KR" sz="1400" b="1" dirty="0"/>
              <a:t>Create the queue </a:t>
            </a:r>
            <a:r>
              <a:rPr lang="en-US" altLang="ko-KR" sz="1400" b="1" dirty="0">
                <a:solidFill>
                  <a:srgbClr val="FF0000"/>
                </a:solidFill>
              </a:rPr>
              <a:t>service</a:t>
            </a:r>
            <a:r>
              <a:rPr lang="en-US" altLang="ko-KR" sz="1400" b="1" dirty="0"/>
              <a:t> with “$</a:t>
            </a:r>
            <a:r>
              <a:rPr lang="en-US" altLang="ko-KR" sz="1400" b="1" dirty="0" err="1"/>
              <a:t>kubectl</a:t>
            </a:r>
            <a:r>
              <a:rPr lang="en-US" altLang="ko-KR" sz="1400" b="1" dirty="0"/>
              <a:t> apply -f service-queue-</a:t>
            </a:r>
            <a:r>
              <a:rPr lang="en-US" altLang="ko-KR" sz="1400" b="1" dirty="0" err="1"/>
              <a:t>job.yaml</a:t>
            </a:r>
            <a:r>
              <a:rPr lang="en-US" altLang="ko-KR" sz="1400" b="1" dirty="0"/>
              <a:t>” command in the other terminal.</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0C57D7A9-8752-4877-82CE-624F1B5F84DE}"/>
              </a:ext>
            </a:extLst>
          </p:cNvPr>
          <p:cNvGrpSpPr/>
          <p:nvPr/>
        </p:nvGrpSpPr>
        <p:grpSpPr>
          <a:xfrm>
            <a:off x="1524000" y="2321413"/>
            <a:ext cx="9144000" cy="3377797"/>
            <a:chOff x="1524000" y="2321413"/>
            <a:chExt cx="9144000" cy="3377797"/>
          </a:xfrm>
        </p:grpSpPr>
        <p:grpSp>
          <p:nvGrpSpPr>
            <p:cNvPr id="14" name="그룹 13">
              <a:extLst>
                <a:ext uri="{FF2B5EF4-FFF2-40B4-BE49-F238E27FC236}">
                  <a16:creationId xmlns:a16="http://schemas.microsoft.com/office/drawing/2014/main" id="{000F2BCC-E02D-4D43-8CBD-0994CDE85F20}"/>
                </a:ext>
              </a:extLst>
            </p:cNvPr>
            <p:cNvGrpSpPr/>
            <p:nvPr/>
          </p:nvGrpSpPr>
          <p:grpSpPr>
            <a:xfrm>
              <a:off x="1524000" y="2321413"/>
              <a:ext cx="9144000" cy="3377797"/>
              <a:chOff x="1524000" y="2321413"/>
              <a:chExt cx="9144000" cy="3377797"/>
            </a:xfrm>
          </p:grpSpPr>
          <p:grpSp>
            <p:nvGrpSpPr>
              <p:cNvPr id="11" name="그룹 10">
                <a:extLst>
                  <a:ext uri="{FF2B5EF4-FFF2-40B4-BE49-F238E27FC236}">
                    <a16:creationId xmlns:a16="http://schemas.microsoft.com/office/drawing/2014/main" id="{60FE418C-7FCC-4EE9-B2D6-A0B4DE215E01}"/>
                  </a:ext>
                </a:extLst>
              </p:cNvPr>
              <p:cNvGrpSpPr/>
              <p:nvPr/>
            </p:nvGrpSpPr>
            <p:grpSpPr>
              <a:xfrm>
                <a:off x="1524000" y="2898444"/>
                <a:ext cx="9144000" cy="2800766"/>
                <a:chOff x="3048000" y="2191335"/>
                <a:chExt cx="9144000" cy="2800766"/>
              </a:xfrm>
            </p:grpSpPr>
            <p:grpSp>
              <p:nvGrpSpPr>
                <p:cNvPr id="9" name="그룹 8">
                  <a:extLst>
                    <a:ext uri="{FF2B5EF4-FFF2-40B4-BE49-F238E27FC236}">
                      <a16:creationId xmlns:a16="http://schemas.microsoft.com/office/drawing/2014/main" id="{45028775-4FBA-44E2-8170-65B901D5CC97}"/>
                    </a:ext>
                  </a:extLst>
                </p:cNvPr>
                <p:cNvGrpSpPr/>
                <p:nvPr/>
              </p:nvGrpSpPr>
              <p:grpSpPr>
                <a:xfrm>
                  <a:off x="3048000" y="2191335"/>
                  <a:ext cx="6096000" cy="2800766"/>
                  <a:chOff x="3048000" y="2501191"/>
                  <a:chExt cx="6096000" cy="2800766"/>
                </a:xfrm>
              </p:grpSpPr>
              <p:sp>
                <p:nvSpPr>
                  <p:cNvPr id="4" name="직사각형 3">
                    <a:extLst>
                      <a:ext uri="{FF2B5EF4-FFF2-40B4-BE49-F238E27FC236}">
                        <a16:creationId xmlns:a16="http://schemas.microsoft.com/office/drawing/2014/main" id="{018BAD59-8863-4A7B-9881-75125C765265}"/>
                      </a:ext>
                    </a:extLst>
                  </p:cNvPr>
                  <p:cNvSpPr/>
                  <p:nvPr/>
                </p:nvSpPr>
                <p:spPr>
                  <a:xfrm>
                    <a:off x="3048000" y="2501191"/>
                    <a:ext cx="6096000" cy="2554545"/>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Service</a:t>
                    </a:r>
                  </a:p>
                  <a:p>
                    <a:r>
                      <a:rPr lang="en-US" altLang="ko-KR" sz="1000" b="1" dirty="0"/>
                      <a:t>metadata:</a:t>
                    </a:r>
                  </a:p>
                  <a:p>
                    <a:r>
                      <a:rPr lang="en-US" altLang="ko-KR" sz="1000" b="1" dirty="0">
                        <a:solidFill>
                          <a:srgbClr val="FF0000"/>
                        </a:solidFill>
                      </a:rPr>
                      <a:t>  labels:</a:t>
                    </a:r>
                  </a:p>
                  <a:p>
                    <a:r>
                      <a:rPr lang="en-US" altLang="ko-KR" sz="1000" b="1" dirty="0">
                        <a:solidFill>
                          <a:srgbClr val="FF0000"/>
                        </a:solidFill>
                      </a:rPr>
                      <a:t>    app: work-queue</a:t>
                    </a:r>
                  </a:p>
                  <a:p>
                    <a:r>
                      <a:rPr lang="en-US" altLang="ko-KR" sz="1000" b="1" dirty="0">
                        <a:solidFill>
                          <a:srgbClr val="FF0000"/>
                        </a:solidFill>
                      </a:rPr>
                      <a:t>    component: queue</a:t>
                    </a:r>
                  </a:p>
                  <a:p>
                    <a:r>
                      <a:rPr lang="en-US" altLang="ko-KR" sz="1000" b="1" dirty="0">
                        <a:solidFill>
                          <a:srgbClr val="FF0000"/>
                        </a:solidFill>
                      </a:rPr>
                      <a:t>    chapter: jobs</a:t>
                    </a:r>
                  </a:p>
                  <a:p>
                    <a:r>
                      <a:rPr lang="en-US" altLang="ko-KR" sz="1000" b="1" dirty="0"/>
                      <a:t>  name: queue</a:t>
                    </a:r>
                  </a:p>
                  <a:p>
                    <a:r>
                      <a:rPr lang="en-US" altLang="ko-KR" sz="1000" b="1" dirty="0"/>
                      <a:t>spec:</a:t>
                    </a:r>
                  </a:p>
                  <a:p>
                    <a:r>
                      <a:rPr lang="en-US" altLang="ko-KR" sz="1000" b="1" dirty="0"/>
                      <a:t>  ports:</a:t>
                    </a:r>
                  </a:p>
                  <a:p>
                    <a:r>
                      <a:rPr lang="en-US" altLang="ko-KR" sz="1000" b="1" dirty="0"/>
                      <a:t>  - port: 8080</a:t>
                    </a:r>
                  </a:p>
                  <a:p>
                    <a:r>
                      <a:rPr lang="en-US" altLang="ko-KR" sz="1000" b="1" dirty="0"/>
                      <a:t>    protocol: TCP</a:t>
                    </a:r>
                  </a:p>
                  <a:p>
                    <a:r>
                      <a:rPr lang="en-US" altLang="ko-KR" sz="1000" b="1" dirty="0"/>
                      <a:t>    </a:t>
                    </a:r>
                    <a:r>
                      <a:rPr lang="en-US" altLang="ko-KR" sz="1000" b="1" dirty="0" err="1"/>
                      <a:t>targetPort</a:t>
                    </a:r>
                    <a:r>
                      <a:rPr lang="en-US" altLang="ko-KR" sz="1000" b="1" dirty="0"/>
                      <a:t>: 8080</a:t>
                    </a:r>
                  </a:p>
                  <a:p>
                    <a:r>
                      <a:rPr lang="en-US" altLang="ko-KR" sz="1000" b="1" dirty="0"/>
                      <a:t>  </a:t>
                    </a:r>
                    <a:r>
                      <a:rPr lang="en-US" altLang="ko-KR" sz="1000" b="1" dirty="0">
                        <a:solidFill>
                          <a:srgbClr val="FF0000"/>
                        </a:solidFill>
                      </a:rPr>
                      <a:t>selector:</a:t>
                    </a:r>
                  </a:p>
                  <a:p>
                    <a:r>
                      <a:rPr lang="en-US" altLang="ko-KR" sz="1000" b="1" dirty="0">
                        <a:solidFill>
                          <a:srgbClr val="FF0000"/>
                        </a:solidFill>
                      </a:rPr>
                      <a:t>    app: work-queue</a:t>
                    </a:r>
                  </a:p>
                  <a:p>
                    <a:r>
                      <a:rPr lang="en-US" altLang="ko-KR" sz="1000" b="1" dirty="0">
                        <a:solidFill>
                          <a:srgbClr val="FF0000"/>
                        </a:solidFill>
                      </a:rPr>
                      <a:t>    component: queue</a:t>
                    </a:r>
                    <a:endParaRPr lang="ko-KR" altLang="en-US" sz="1000" b="1" dirty="0">
                      <a:solidFill>
                        <a:srgbClr val="FF0000"/>
                      </a:solidFill>
                    </a:endParaRPr>
                  </a:p>
                </p:txBody>
              </p:sp>
              <p:sp>
                <p:nvSpPr>
                  <p:cNvPr id="8" name="직사각형 7">
                    <a:extLst>
                      <a:ext uri="{FF2B5EF4-FFF2-40B4-BE49-F238E27FC236}">
                        <a16:creationId xmlns:a16="http://schemas.microsoft.com/office/drawing/2014/main" id="{E57715EB-842D-4EE0-9FEA-79DF1C509E7D}"/>
                      </a:ext>
                    </a:extLst>
                  </p:cNvPr>
                  <p:cNvSpPr/>
                  <p:nvPr/>
                </p:nvSpPr>
                <p:spPr>
                  <a:xfrm>
                    <a:off x="5292735" y="5055736"/>
                    <a:ext cx="1606530" cy="246221"/>
                  </a:xfrm>
                  <a:prstGeom prst="rect">
                    <a:avLst/>
                  </a:prstGeom>
                </p:spPr>
                <p:txBody>
                  <a:bodyPr wrap="none">
                    <a:spAutoFit/>
                  </a:bodyPr>
                  <a:lstStyle/>
                  <a:p>
                    <a:r>
                      <a:rPr lang="en-US" altLang="ko-KR" sz="1000" b="1" dirty="0"/>
                      <a:t>service-queue-</a:t>
                    </a:r>
                    <a:r>
                      <a:rPr lang="en-US" altLang="ko-KR" sz="1000" b="1" dirty="0" err="1"/>
                      <a:t>job.yaml</a:t>
                    </a:r>
                    <a:endParaRPr lang="ko-KR" altLang="en-US" sz="1000" b="1" dirty="0"/>
                  </a:p>
                </p:txBody>
              </p:sp>
            </p:grpSp>
            <p:pic>
              <p:nvPicPr>
                <p:cNvPr id="10" name="그림 9">
                  <a:extLst>
                    <a:ext uri="{FF2B5EF4-FFF2-40B4-BE49-F238E27FC236}">
                      <a16:creationId xmlns:a16="http://schemas.microsoft.com/office/drawing/2014/main" id="{B7AF20E1-34E3-4877-96FE-2B23E29592F8}"/>
                    </a:ext>
                  </a:extLst>
                </p:cNvPr>
                <p:cNvPicPr>
                  <a:picLocks noChangeAspect="1"/>
                </p:cNvPicPr>
                <p:nvPr/>
              </p:nvPicPr>
              <p:blipFill>
                <a:blip r:embed="rId2"/>
                <a:stretch>
                  <a:fillRect/>
                </a:stretch>
              </p:blipFill>
              <p:spPr>
                <a:xfrm>
                  <a:off x="4739640" y="2570345"/>
                  <a:ext cx="7452360" cy="1863090"/>
                </a:xfrm>
                <a:prstGeom prst="rect">
                  <a:avLst/>
                </a:prstGeom>
                <a:ln>
                  <a:solidFill>
                    <a:schemeClr val="bg1">
                      <a:lumMod val="50000"/>
                    </a:schemeClr>
                  </a:solidFill>
                </a:ln>
              </p:spPr>
            </p:pic>
          </p:grpSp>
          <p:sp>
            <p:nvSpPr>
              <p:cNvPr id="12" name="직사각형 11">
                <a:extLst>
                  <a:ext uri="{FF2B5EF4-FFF2-40B4-BE49-F238E27FC236}">
                    <a16:creationId xmlns:a16="http://schemas.microsoft.com/office/drawing/2014/main" id="{37F91F1B-6697-471C-B366-9462C87B0192}"/>
                  </a:ext>
                </a:extLst>
              </p:cNvPr>
              <p:cNvSpPr/>
              <p:nvPr/>
            </p:nvSpPr>
            <p:spPr>
              <a:xfrm>
                <a:off x="4694815" y="2321413"/>
                <a:ext cx="2802370"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apply -f service-queue-</a:t>
                </a:r>
                <a:r>
                  <a:rPr lang="en-US" altLang="ko-KR" sz="1000" b="1" dirty="0" err="1"/>
                  <a:t>job.yaml</a:t>
                </a:r>
                <a:endParaRPr lang="ko-KR" altLang="en-US" sz="1000" b="1" dirty="0"/>
              </a:p>
            </p:txBody>
          </p:sp>
          <p:sp>
            <p:nvSpPr>
              <p:cNvPr id="13" name="화살표: 아래쪽 12">
                <a:extLst>
                  <a:ext uri="{FF2B5EF4-FFF2-40B4-BE49-F238E27FC236}">
                    <a16:creationId xmlns:a16="http://schemas.microsoft.com/office/drawing/2014/main" id="{E1BA8287-4AD3-4172-8A9E-728AA939873F}"/>
                  </a:ext>
                </a:extLst>
              </p:cNvPr>
              <p:cNvSpPr/>
              <p:nvPr/>
            </p:nvSpPr>
            <p:spPr>
              <a:xfrm>
                <a:off x="5901689" y="2576732"/>
                <a:ext cx="388620" cy="31261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8F865575-AA6B-4A15-BDDB-2A96945445F4}"/>
                </a:ext>
              </a:extLst>
            </p:cNvPr>
            <p:cNvSpPr/>
            <p:nvPr/>
          </p:nvSpPr>
          <p:spPr>
            <a:xfrm>
              <a:off x="3268980" y="4709160"/>
              <a:ext cx="4343400" cy="1676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5176198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Pattern(16/21)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Work Queues :</a:t>
            </a:r>
          </a:p>
          <a:p>
            <a:pPr lvl="1">
              <a:buFont typeface="Wingdings" panose="05000000000000000000" pitchFamily="2" charset="2"/>
              <a:buChar char="§"/>
            </a:pPr>
            <a:r>
              <a:rPr lang="en-US" altLang="ko-KR" sz="1400" b="1" dirty="0"/>
              <a:t>Loading up the queue - </a:t>
            </a:r>
          </a:p>
          <a:p>
            <a:pPr lvl="2">
              <a:buFont typeface="Wingdings" panose="05000000000000000000" pitchFamily="2" charset="2"/>
              <a:buChar char="§"/>
            </a:pPr>
            <a:r>
              <a:rPr lang="en-US" altLang="ko-KR" sz="1400" dirty="0"/>
              <a:t>We are now ready to </a:t>
            </a:r>
            <a:r>
              <a:rPr lang="en-US" altLang="ko-KR" sz="1400" b="1" dirty="0"/>
              <a:t>put a bunch of work items in the queue</a:t>
            </a:r>
            <a:r>
              <a:rPr lang="en-US" altLang="ko-KR" sz="1400" dirty="0"/>
              <a:t>. For the sake of simplicity we’ll just </a:t>
            </a:r>
            <a:r>
              <a:rPr lang="en-US" altLang="ko-KR" sz="1400" b="1" dirty="0"/>
              <a:t>use “</a:t>
            </a:r>
            <a:r>
              <a:rPr lang="en-US" altLang="ko-KR" sz="1400" b="1" dirty="0">
                <a:solidFill>
                  <a:srgbClr val="FF0000"/>
                </a:solidFill>
              </a:rPr>
              <a:t>curl</a:t>
            </a:r>
            <a:r>
              <a:rPr lang="en-US" altLang="ko-KR" sz="1400" b="1" dirty="0"/>
              <a:t>” to drive the API for the work queue server and insert a bunch of work items</a:t>
            </a:r>
            <a:r>
              <a:rPr lang="en-US" altLang="ko-KR" sz="1400" dirty="0"/>
              <a:t>. </a:t>
            </a:r>
            <a:r>
              <a:rPr lang="en-US" altLang="ko-KR" sz="1400" b="1" dirty="0"/>
              <a:t>“curl” will communicate to the work queue through the “</a:t>
            </a:r>
            <a:r>
              <a:rPr lang="en-US" altLang="ko-KR" sz="1400" b="1" dirty="0" err="1">
                <a:solidFill>
                  <a:srgbClr val="FF0000"/>
                </a:solidFill>
              </a:rPr>
              <a:t>kubectl</a:t>
            </a:r>
            <a:r>
              <a:rPr lang="en-US" altLang="ko-KR" sz="1400" b="1" dirty="0">
                <a:solidFill>
                  <a:srgbClr val="FF0000"/>
                </a:solidFill>
              </a:rPr>
              <a:t> port-forward</a:t>
            </a:r>
            <a:r>
              <a:rPr lang="en-US" altLang="ko-KR" sz="1400" b="1" dirty="0"/>
              <a:t>” </a:t>
            </a:r>
            <a:r>
              <a:rPr lang="en-US" altLang="ko-KR" sz="1400" dirty="0"/>
              <a:t>we set up earlier. </a:t>
            </a:r>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r>
              <a:rPr lang="en-US" altLang="ko-KR" sz="1400" b="1" dirty="0"/>
              <a:t>Run these commands(“</a:t>
            </a:r>
            <a:r>
              <a:rPr lang="en-US" altLang="ko-KR" sz="1400" b="1" dirty="0" err="1">
                <a:solidFill>
                  <a:srgbClr val="FF0000"/>
                </a:solidFill>
              </a:rPr>
              <a:t>chmod</a:t>
            </a:r>
            <a:r>
              <a:rPr lang="en-US" altLang="ko-KR" sz="1400" b="1" dirty="0">
                <a:solidFill>
                  <a:srgbClr val="FF0000"/>
                </a:solidFill>
              </a:rPr>
              <a:t> +x load-queue.sh; ./load-queue.sh</a:t>
            </a:r>
            <a:r>
              <a:rPr lang="en-US" altLang="ko-KR" sz="1400" b="1" dirty="0"/>
              <a:t>”)</a:t>
            </a:r>
            <a:r>
              <a:rPr lang="en-US" altLang="ko-KR" sz="1400" dirty="0"/>
              <a:t>, and you should see 100 JSON objects output to your terminal with a unique message identifier for each work item.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A471E121-3DF2-4E40-9ACB-2194AA07FE44}"/>
              </a:ext>
            </a:extLst>
          </p:cNvPr>
          <p:cNvGrpSpPr/>
          <p:nvPr/>
        </p:nvGrpSpPr>
        <p:grpSpPr>
          <a:xfrm>
            <a:off x="3048000" y="2259449"/>
            <a:ext cx="6096000" cy="1415772"/>
            <a:chOff x="3048000" y="2259449"/>
            <a:chExt cx="6096000" cy="1415772"/>
          </a:xfrm>
        </p:grpSpPr>
        <p:sp>
          <p:nvSpPr>
            <p:cNvPr id="4" name="직사각형 3">
              <a:extLst>
                <a:ext uri="{FF2B5EF4-FFF2-40B4-BE49-F238E27FC236}">
                  <a16:creationId xmlns:a16="http://schemas.microsoft.com/office/drawing/2014/main" id="{DEB0F37E-06C7-4353-961A-757533CF873D}"/>
                </a:ext>
              </a:extLst>
            </p:cNvPr>
            <p:cNvSpPr/>
            <p:nvPr/>
          </p:nvSpPr>
          <p:spPr>
            <a:xfrm>
              <a:off x="3048000" y="2259449"/>
              <a:ext cx="6096000" cy="1169551"/>
            </a:xfrm>
            <a:prstGeom prst="rect">
              <a:avLst/>
            </a:prstGeom>
            <a:ln>
              <a:solidFill>
                <a:schemeClr val="bg1">
                  <a:lumMod val="50000"/>
                </a:schemeClr>
              </a:solidFill>
            </a:ln>
          </p:spPr>
          <p:txBody>
            <a:bodyPr>
              <a:spAutoFit/>
            </a:bodyPr>
            <a:lstStyle/>
            <a:p>
              <a:r>
                <a:rPr lang="en-US" altLang="ko-KR" sz="1000" b="1" dirty="0"/>
                <a:t># Create a work queue called 'keygen'</a:t>
              </a:r>
            </a:p>
            <a:p>
              <a:r>
                <a:rPr lang="en-US" altLang="ko-KR" sz="1000" b="1" dirty="0"/>
                <a:t>curl -X PUT </a:t>
              </a:r>
              <a:r>
                <a:rPr lang="en-US" altLang="ko-KR" sz="1000" b="1" dirty="0">
                  <a:solidFill>
                    <a:srgbClr val="FF0000"/>
                  </a:solidFill>
                </a:rPr>
                <a:t>localhost:8080/</a:t>
              </a:r>
              <a:r>
                <a:rPr lang="en-US" altLang="ko-KR" sz="1000" b="1" dirty="0" err="1">
                  <a:solidFill>
                    <a:srgbClr val="FF0000"/>
                  </a:solidFill>
                </a:rPr>
                <a:t>memq</a:t>
              </a:r>
              <a:r>
                <a:rPr lang="en-US" altLang="ko-KR" sz="1000" b="1" dirty="0">
                  <a:solidFill>
                    <a:srgbClr val="FF0000"/>
                  </a:solidFill>
                </a:rPr>
                <a:t>/server/queues/keygen</a:t>
              </a:r>
            </a:p>
            <a:p>
              <a:r>
                <a:rPr lang="en-US" altLang="ko-KR" sz="1000" b="1" dirty="0"/>
                <a:t># Create 100 work items and load up the queue.</a:t>
              </a:r>
            </a:p>
            <a:p>
              <a:r>
                <a:rPr lang="en-US" altLang="ko-KR" sz="1000" b="1" dirty="0"/>
                <a:t>for </a:t>
              </a:r>
              <a:r>
                <a:rPr lang="en-US" altLang="ko-KR" sz="1000" b="1" dirty="0" err="1"/>
                <a:t>i</a:t>
              </a:r>
              <a:r>
                <a:rPr lang="en-US" altLang="ko-KR" sz="1000" b="1" dirty="0"/>
                <a:t> in work-item-{0..99}; do</a:t>
              </a:r>
            </a:p>
            <a:p>
              <a:r>
                <a:rPr lang="en-US" altLang="ko-KR" sz="1000" b="1" dirty="0"/>
                <a:t>  </a:t>
              </a:r>
              <a:r>
                <a:rPr lang="en-US" altLang="ko-KR" sz="1000" b="1" dirty="0">
                  <a:solidFill>
                    <a:srgbClr val="FF0000"/>
                  </a:solidFill>
                </a:rPr>
                <a:t>curl -X POST localhost:8080/</a:t>
              </a:r>
              <a:r>
                <a:rPr lang="en-US" altLang="ko-KR" sz="1000" b="1" dirty="0" err="1">
                  <a:solidFill>
                    <a:srgbClr val="FF0000"/>
                  </a:solidFill>
                </a:rPr>
                <a:t>memq</a:t>
              </a:r>
              <a:r>
                <a:rPr lang="en-US" altLang="ko-KR" sz="1000" b="1" dirty="0">
                  <a:solidFill>
                    <a:srgbClr val="FF0000"/>
                  </a:solidFill>
                </a:rPr>
                <a:t>/server/queues/keygen/enqueue </a:t>
              </a:r>
              <a:r>
                <a:rPr lang="en-US" altLang="ko-KR" sz="1000" b="1" dirty="0"/>
                <a:t>\</a:t>
              </a:r>
            </a:p>
            <a:p>
              <a:r>
                <a:rPr lang="en-US" altLang="ko-KR" sz="1000" b="1" dirty="0"/>
                <a:t>  -d "$</a:t>
              </a:r>
              <a:r>
                <a:rPr lang="en-US" altLang="ko-KR" sz="1000" b="1" dirty="0" err="1"/>
                <a:t>i</a:t>
              </a:r>
              <a:r>
                <a:rPr lang="en-US" altLang="ko-KR" sz="1000" b="1" dirty="0"/>
                <a:t>"</a:t>
              </a:r>
            </a:p>
            <a:p>
              <a:r>
                <a:rPr lang="en-US" altLang="ko-KR" sz="1000" b="1" dirty="0"/>
                <a:t>done</a:t>
              </a:r>
              <a:endParaRPr lang="ko-KR" altLang="en-US" sz="1000" b="1" dirty="0"/>
            </a:p>
          </p:txBody>
        </p:sp>
        <p:sp>
          <p:nvSpPr>
            <p:cNvPr id="8" name="TextBox 7">
              <a:extLst>
                <a:ext uri="{FF2B5EF4-FFF2-40B4-BE49-F238E27FC236}">
                  <a16:creationId xmlns:a16="http://schemas.microsoft.com/office/drawing/2014/main" id="{F6C97386-CC2E-4E55-8A2D-D5497296401C}"/>
                </a:ext>
              </a:extLst>
            </p:cNvPr>
            <p:cNvSpPr txBox="1"/>
            <p:nvPr/>
          </p:nvSpPr>
          <p:spPr>
            <a:xfrm>
              <a:off x="5570054" y="3429000"/>
              <a:ext cx="1051891" cy="246221"/>
            </a:xfrm>
            <a:prstGeom prst="rect">
              <a:avLst/>
            </a:prstGeom>
            <a:noFill/>
          </p:spPr>
          <p:txBody>
            <a:bodyPr wrap="none" rtlCol="0">
              <a:spAutoFit/>
            </a:bodyPr>
            <a:lstStyle/>
            <a:p>
              <a:pPr algn="ctr"/>
              <a:r>
                <a:rPr lang="en-US" altLang="ko-KR" sz="1000" b="1" dirty="0"/>
                <a:t>load-queue.sh</a:t>
              </a:r>
              <a:endParaRPr lang="ko-KR" altLang="en-US" sz="1000" b="1" dirty="0"/>
            </a:p>
          </p:txBody>
        </p:sp>
      </p:grpSp>
      <p:pic>
        <p:nvPicPr>
          <p:cNvPr id="10" name="그림 9">
            <a:extLst>
              <a:ext uri="{FF2B5EF4-FFF2-40B4-BE49-F238E27FC236}">
                <a16:creationId xmlns:a16="http://schemas.microsoft.com/office/drawing/2014/main" id="{AB94405A-E6C5-474B-9CA5-72E8DEA58593}"/>
              </a:ext>
            </a:extLst>
          </p:cNvPr>
          <p:cNvPicPr>
            <a:picLocks noChangeAspect="1"/>
          </p:cNvPicPr>
          <p:nvPr/>
        </p:nvPicPr>
        <p:blipFill>
          <a:blip r:embed="rId2"/>
          <a:stretch>
            <a:fillRect/>
          </a:stretch>
        </p:blipFill>
        <p:spPr>
          <a:xfrm>
            <a:off x="1890711" y="4437221"/>
            <a:ext cx="8410575" cy="1606684"/>
          </a:xfrm>
          <a:prstGeom prst="rect">
            <a:avLst/>
          </a:prstGeom>
          <a:ln>
            <a:solidFill>
              <a:schemeClr val="bg1">
                <a:lumMod val="50000"/>
              </a:schemeClr>
            </a:solidFill>
          </a:ln>
        </p:spPr>
      </p:pic>
    </p:spTree>
    <p:extLst>
      <p:ext uri="{BB962C8B-B14F-4D97-AF65-F5344CB8AC3E}">
        <p14:creationId xmlns:p14="http://schemas.microsoft.com/office/powerpoint/2010/main" val="13015931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Pattern(17/21)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Work Queues :</a:t>
            </a:r>
          </a:p>
          <a:p>
            <a:pPr lvl="1">
              <a:buFont typeface="Wingdings" panose="05000000000000000000" pitchFamily="2" charset="2"/>
              <a:buChar char="§"/>
            </a:pPr>
            <a:r>
              <a:rPr lang="en-US" altLang="ko-KR" sz="1400" b="1" dirty="0"/>
              <a:t>Loading up the queue - </a:t>
            </a:r>
            <a:endParaRPr lang="en-US" altLang="ko-KR" sz="1400" dirty="0"/>
          </a:p>
          <a:p>
            <a:pPr lvl="2">
              <a:buFont typeface="Wingdings" panose="05000000000000000000" pitchFamily="2" charset="2"/>
              <a:buChar char="§"/>
            </a:pPr>
            <a:r>
              <a:rPr lang="en-US" altLang="ko-KR" sz="1400" b="1" dirty="0"/>
              <a:t>You can confirm the status of the queue by looking at the “</a:t>
            </a:r>
            <a:r>
              <a:rPr lang="en-US" altLang="ko-KR" sz="1400" b="1" dirty="0" err="1">
                <a:solidFill>
                  <a:srgbClr val="FF0000"/>
                </a:solidFill>
              </a:rPr>
              <a:t>MemQ</a:t>
            </a:r>
            <a:r>
              <a:rPr lang="en-US" altLang="ko-KR" sz="1400" b="1" dirty="0">
                <a:solidFill>
                  <a:srgbClr val="FF0000"/>
                </a:solidFill>
              </a:rPr>
              <a:t> Server</a:t>
            </a:r>
            <a:r>
              <a:rPr lang="en-US" altLang="ko-KR" sz="1400" b="1" dirty="0"/>
              <a:t>” tab in the UI</a:t>
            </a:r>
            <a:r>
              <a:rPr lang="en-US" altLang="ko-KR" sz="1400" dirty="0"/>
              <a:t>, or you can ask the work queue API directly: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23098637-ABBA-41D2-B52E-13E4C4CF15E6}"/>
              </a:ext>
            </a:extLst>
          </p:cNvPr>
          <p:cNvGrpSpPr/>
          <p:nvPr/>
        </p:nvGrpSpPr>
        <p:grpSpPr>
          <a:xfrm>
            <a:off x="2024062" y="1788669"/>
            <a:ext cx="8143875" cy="2320542"/>
            <a:chOff x="2024062" y="1804154"/>
            <a:chExt cx="8143875" cy="2320542"/>
          </a:xfrm>
        </p:grpSpPr>
        <p:sp>
          <p:nvSpPr>
            <p:cNvPr id="4" name="직사각형 3">
              <a:extLst>
                <a:ext uri="{FF2B5EF4-FFF2-40B4-BE49-F238E27FC236}">
                  <a16:creationId xmlns:a16="http://schemas.microsoft.com/office/drawing/2014/main" id="{E84015F0-0BF5-4C1B-82EE-6133985C8226}"/>
                </a:ext>
              </a:extLst>
            </p:cNvPr>
            <p:cNvSpPr/>
            <p:nvPr/>
          </p:nvSpPr>
          <p:spPr>
            <a:xfrm>
              <a:off x="4766950" y="1804154"/>
              <a:ext cx="2658100" cy="246221"/>
            </a:xfrm>
            <a:prstGeom prst="rect">
              <a:avLst/>
            </a:prstGeom>
            <a:ln>
              <a:solidFill>
                <a:schemeClr val="bg1">
                  <a:lumMod val="50000"/>
                </a:schemeClr>
              </a:solidFill>
            </a:ln>
          </p:spPr>
          <p:txBody>
            <a:bodyPr wrap="none">
              <a:spAutoFit/>
            </a:bodyPr>
            <a:lstStyle/>
            <a:p>
              <a:pPr algn="ctr"/>
              <a:r>
                <a:rPr lang="en-US" altLang="ko-KR" sz="1000" b="1" dirty="0"/>
                <a:t>$ curl </a:t>
              </a:r>
              <a:r>
                <a:rPr lang="en-US" altLang="ko-KR" sz="1000" b="1" dirty="0">
                  <a:solidFill>
                    <a:srgbClr val="FF0000"/>
                  </a:solidFill>
                </a:rPr>
                <a:t>127.0.0.1:8080/</a:t>
              </a:r>
              <a:r>
                <a:rPr lang="en-US" altLang="ko-KR" sz="1000" b="1" dirty="0" err="1">
                  <a:solidFill>
                    <a:srgbClr val="FF0000"/>
                  </a:solidFill>
                </a:rPr>
                <a:t>memq</a:t>
              </a:r>
              <a:r>
                <a:rPr lang="en-US" altLang="ko-KR" sz="1000" b="1" dirty="0">
                  <a:solidFill>
                    <a:srgbClr val="FF0000"/>
                  </a:solidFill>
                </a:rPr>
                <a:t>/server/stats</a:t>
              </a:r>
              <a:endParaRPr lang="ko-KR" altLang="en-US" sz="1000" b="1" dirty="0">
                <a:solidFill>
                  <a:srgbClr val="FF0000"/>
                </a:solidFill>
              </a:endParaRPr>
            </a:p>
          </p:txBody>
        </p:sp>
        <p:pic>
          <p:nvPicPr>
            <p:cNvPr id="9" name="그림 8">
              <a:extLst>
                <a:ext uri="{FF2B5EF4-FFF2-40B4-BE49-F238E27FC236}">
                  <a16:creationId xmlns:a16="http://schemas.microsoft.com/office/drawing/2014/main" id="{66C262D0-C038-42F2-B736-1CEC3402A35C}"/>
                </a:ext>
              </a:extLst>
            </p:cNvPr>
            <p:cNvPicPr>
              <a:picLocks noChangeAspect="1"/>
            </p:cNvPicPr>
            <p:nvPr/>
          </p:nvPicPr>
          <p:blipFill>
            <a:blip r:embed="rId2"/>
            <a:stretch>
              <a:fillRect/>
            </a:stretch>
          </p:blipFill>
          <p:spPr>
            <a:xfrm>
              <a:off x="2024062" y="2314946"/>
              <a:ext cx="8143875" cy="1809750"/>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A5D335F4-716B-46D4-B5B1-4512D7E6CBC0}"/>
                </a:ext>
              </a:extLst>
            </p:cNvPr>
            <p:cNvSpPr/>
            <p:nvPr/>
          </p:nvSpPr>
          <p:spPr>
            <a:xfrm>
              <a:off x="5913120" y="2068725"/>
              <a:ext cx="38100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3" name="그룹 12">
            <a:extLst>
              <a:ext uri="{FF2B5EF4-FFF2-40B4-BE49-F238E27FC236}">
                <a16:creationId xmlns:a16="http://schemas.microsoft.com/office/drawing/2014/main" id="{B5BF3EE4-CC28-4FF4-BBD9-B42D8C982E92}"/>
              </a:ext>
            </a:extLst>
          </p:cNvPr>
          <p:cNvGrpSpPr/>
          <p:nvPr/>
        </p:nvGrpSpPr>
        <p:grpSpPr>
          <a:xfrm>
            <a:off x="6659880" y="3246121"/>
            <a:ext cx="4693919" cy="3162910"/>
            <a:chOff x="7178040" y="3745073"/>
            <a:chExt cx="4175759" cy="2663957"/>
          </a:xfrm>
        </p:grpSpPr>
        <p:pic>
          <p:nvPicPr>
            <p:cNvPr id="8" name="그림 7">
              <a:extLst>
                <a:ext uri="{FF2B5EF4-FFF2-40B4-BE49-F238E27FC236}">
                  <a16:creationId xmlns:a16="http://schemas.microsoft.com/office/drawing/2014/main" id="{6CE319FC-E83A-468B-B510-D4B2DB40F5DD}"/>
                </a:ext>
              </a:extLst>
            </p:cNvPr>
            <p:cNvPicPr>
              <a:picLocks noChangeAspect="1"/>
            </p:cNvPicPr>
            <p:nvPr/>
          </p:nvPicPr>
          <p:blipFill>
            <a:blip r:embed="rId3"/>
            <a:stretch>
              <a:fillRect/>
            </a:stretch>
          </p:blipFill>
          <p:spPr>
            <a:xfrm>
              <a:off x="7178040" y="3745073"/>
              <a:ext cx="4175759" cy="2663957"/>
            </a:xfrm>
            <a:prstGeom prst="rect">
              <a:avLst/>
            </a:prstGeom>
            <a:ln>
              <a:solidFill>
                <a:schemeClr val="bg1">
                  <a:lumMod val="50000"/>
                </a:schemeClr>
              </a:solidFill>
            </a:ln>
          </p:spPr>
        </p:pic>
        <p:sp>
          <p:nvSpPr>
            <p:cNvPr id="12" name="직사각형 11">
              <a:extLst>
                <a:ext uri="{FF2B5EF4-FFF2-40B4-BE49-F238E27FC236}">
                  <a16:creationId xmlns:a16="http://schemas.microsoft.com/office/drawing/2014/main" id="{94EF3498-BE98-4C0E-A593-02A3A1ACE674}"/>
                </a:ext>
              </a:extLst>
            </p:cNvPr>
            <p:cNvSpPr/>
            <p:nvPr/>
          </p:nvSpPr>
          <p:spPr>
            <a:xfrm>
              <a:off x="7680960" y="4739640"/>
              <a:ext cx="1005840" cy="2514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DDF5A8FA-7053-4D9B-BCD2-82622AB3B99D}"/>
              </a:ext>
            </a:extLst>
          </p:cNvPr>
          <p:cNvSpPr/>
          <p:nvPr/>
        </p:nvSpPr>
        <p:spPr>
          <a:xfrm>
            <a:off x="1729740" y="4202306"/>
            <a:ext cx="4930139" cy="523220"/>
          </a:xfrm>
          <a:prstGeom prst="rect">
            <a:avLst/>
          </a:prstGeom>
        </p:spPr>
        <p:txBody>
          <a:bodyPr wrap="square">
            <a:spAutoFit/>
          </a:bodyPr>
          <a:lstStyle/>
          <a:p>
            <a:pPr marL="285750" indent="-285750">
              <a:buFont typeface="Wingdings" panose="05000000000000000000" pitchFamily="2" charset="2"/>
              <a:buChar char="§"/>
            </a:pPr>
            <a:r>
              <a:rPr lang="en-US" altLang="ko-KR" sz="1400" b="1" dirty="0"/>
              <a:t>Now we are ready to kick off a job to consume the work queue</a:t>
            </a:r>
            <a:r>
              <a:rPr lang="en-US" altLang="ko-KR" sz="1400" dirty="0"/>
              <a:t> </a:t>
            </a:r>
            <a:r>
              <a:rPr lang="en-US" altLang="ko-KR" sz="1400" b="1" dirty="0"/>
              <a:t>until it’s empty</a:t>
            </a:r>
            <a:r>
              <a:rPr lang="en-US" altLang="ko-KR" sz="1400" dirty="0"/>
              <a:t>.</a:t>
            </a:r>
            <a:endParaRPr lang="ko-KR" altLang="en-US" sz="1400" dirty="0"/>
          </a:p>
        </p:txBody>
      </p:sp>
    </p:spTree>
    <p:extLst>
      <p:ext uri="{BB962C8B-B14F-4D97-AF65-F5344CB8AC3E}">
        <p14:creationId xmlns:p14="http://schemas.microsoft.com/office/powerpoint/2010/main" val="24961339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Pattern(18/21)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Work Queues :</a:t>
            </a:r>
          </a:p>
          <a:p>
            <a:pPr lvl="1">
              <a:buFont typeface="Wingdings" panose="05000000000000000000" pitchFamily="2" charset="2"/>
              <a:buChar char="§"/>
            </a:pPr>
            <a:r>
              <a:rPr lang="en-US" altLang="ko-KR" sz="1400" b="1" dirty="0"/>
              <a:t>Creating the </a:t>
            </a:r>
            <a:r>
              <a:rPr lang="en-US" altLang="ko-KR" sz="1400" b="1" dirty="0">
                <a:solidFill>
                  <a:srgbClr val="FF0000"/>
                </a:solidFill>
              </a:rPr>
              <a:t>consumer job -</a:t>
            </a:r>
            <a:endParaRPr lang="en-US" altLang="ko-KR" sz="1400" dirty="0"/>
          </a:p>
          <a:p>
            <a:pPr lvl="2">
              <a:buFont typeface="Wingdings" panose="05000000000000000000" pitchFamily="2" charset="2"/>
              <a:buChar char="§"/>
            </a:pPr>
            <a:r>
              <a:rPr lang="en-US" altLang="ko-KR" sz="1400" b="1" dirty="0"/>
              <a:t>“</a:t>
            </a:r>
            <a:r>
              <a:rPr lang="en-US" altLang="ko-KR" sz="1400" b="1" dirty="0" err="1"/>
              <a:t>kuard</a:t>
            </a:r>
            <a:r>
              <a:rPr lang="en-US" altLang="ko-KR" sz="1400" b="1" dirty="0"/>
              <a:t>” is also able to act in consumer mode</a:t>
            </a:r>
            <a:r>
              <a:rPr lang="en-US" altLang="ko-KR" sz="1400" dirty="0"/>
              <a:t>. </a:t>
            </a:r>
            <a:r>
              <a:rPr lang="en-US" altLang="ko-KR" sz="1400" b="1" dirty="0"/>
              <a:t>We can set it up to draw work items from the work queue</a:t>
            </a:r>
            <a:r>
              <a:rPr lang="en-US" altLang="ko-KR" sz="1400" dirty="0"/>
              <a:t>, </a:t>
            </a:r>
            <a:r>
              <a:rPr lang="en-US" altLang="ko-KR" sz="1400" b="1" dirty="0"/>
              <a:t>create a key</a:t>
            </a:r>
            <a:r>
              <a:rPr lang="en-US" altLang="ko-KR" sz="1400" dirty="0"/>
              <a:t>, </a:t>
            </a:r>
            <a:r>
              <a:rPr lang="en-US" altLang="ko-KR" sz="1400" b="1" dirty="0"/>
              <a:t>and</a:t>
            </a:r>
            <a:r>
              <a:rPr lang="en-US" altLang="ko-KR" sz="1400" dirty="0"/>
              <a:t> </a:t>
            </a:r>
            <a:r>
              <a:rPr lang="en-US" altLang="ko-KR" sz="1400" b="1" dirty="0"/>
              <a:t>then exit once the queue is empty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CE1935C3-962E-4AE1-99B1-27894207732E}"/>
              </a:ext>
            </a:extLst>
          </p:cNvPr>
          <p:cNvSpPr/>
          <p:nvPr/>
        </p:nvSpPr>
        <p:spPr>
          <a:xfrm>
            <a:off x="3048000" y="1954704"/>
            <a:ext cx="6096000" cy="4247317"/>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t>
            </a:r>
            <a:r>
              <a:rPr lang="en-US" altLang="ko-KR" sz="1000" b="1" dirty="0">
                <a:solidFill>
                  <a:srgbClr val="FF0000"/>
                </a:solidFill>
              </a:rPr>
              <a:t>batch/v1</a:t>
            </a:r>
          </a:p>
          <a:p>
            <a:r>
              <a:rPr lang="en-US" altLang="ko-KR" sz="1000" b="1" dirty="0"/>
              <a:t>kind: Job</a:t>
            </a:r>
          </a:p>
          <a:p>
            <a:r>
              <a:rPr lang="en-US" altLang="ko-KR" sz="1000" b="1" dirty="0"/>
              <a:t>metadata:</a:t>
            </a:r>
          </a:p>
          <a:p>
            <a:r>
              <a:rPr lang="en-US" altLang="ko-KR" sz="1000" b="1" dirty="0">
                <a:solidFill>
                  <a:srgbClr val="FF0000"/>
                </a:solidFill>
              </a:rPr>
              <a:t>  labels:</a:t>
            </a:r>
          </a:p>
          <a:p>
            <a:r>
              <a:rPr lang="en-US" altLang="ko-KR" sz="1000" b="1" dirty="0">
                <a:solidFill>
                  <a:srgbClr val="FF0000"/>
                </a:solidFill>
              </a:rPr>
              <a:t>    app: message-queue</a:t>
            </a:r>
          </a:p>
          <a:p>
            <a:r>
              <a:rPr lang="en-US" altLang="ko-KR" sz="1000" b="1" dirty="0">
                <a:solidFill>
                  <a:srgbClr val="FF0000"/>
                </a:solidFill>
              </a:rPr>
              <a:t>    component: consumer</a:t>
            </a:r>
          </a:p>
          <a:p>
            <a:r>
              <a:rPr lang="en-US" altLang="ko-KR" sz="1000" b="1" dirty="0">
                <a:solidFill>
                  <a:srgbClr val="FF0000"/>
                </a:solidFill>
              </a:rPr>
              <a:t>    chapter: jobs</a:t>
            </a:r>
          </a:p>
          <a:p>
            <a:r>
              <a:rPr lang="en-US" altLang="ko-KR" sz="1000" b="1" dirty="0"/>
              <a:t>  name: consumers</a:t>
            </a:r>
          </a:p>
          <a:p>
            <a:r>
              <a:rPr lang="en-US" altLang="ko-KR" sz="1000" b="1" dirty="0"/>
              <a:t>spec:</a:t>
            </a:r>
          </a:p>
          <a:p>
            <a:r>
              <a:rPr lang="en-US" altLang="ko-KR" sz="1000" b="1" dirty="0"/>
              <a:t>  </a:t>
            </a:r>
            <a:r>
              <a:rPr lang="en-US" altLang="ko-KR" sz="1000" b="1" dirty="0">
                <a:solidFill>
                  <a:srgbClr val="FF0000"/>
                </a:solidFill>
              </a:rPr>
              <a:t>parallelism: 5</a:t>
            </a:r>
          </a:p>
          <a:p>
            <a:r>
              <a:rPr lang="en-US" altLang="ko-KR" sz="1000" b="1" dirty="0"/>
              <a:t>  template:</a:t>
            </a:r>
          </a:p>
          <a:p>
            <a:r>
              <a:rPr lang="en-US" altLang="ko-KR" sz="1000" b="1" dirty="0"/>
              <a:t>    metadata:</a:t>
            </a:r>
          </a:p>
          <a:p>
            <a:r>
              <a:rPr lang="en-US" altLang="ko-KR" sz="1000" b="1" dirty="0">
                <a:solidFill>
                  <a:srgbClr val="FF0000"/>
                </a:solidFill>
              </a:rPr>
              <a:t>      labels:</a:t>
            </a:r>
          </a:p>
          <a:p>
            <a:r>
              <a:rPr lang="en-US" altLang="ko-KR" sz="1000" b="1" dirty="0">
                <a:solidFill>
                  <a:srgbClr val="FF0000"/>
                </a:solidFill>
              </a:rPr>
              <a:t>        app: message-queue</a:t>
            </a:r>
          </a:p>
          <a:p>
            <a:r>
              <a:rPr lang="en-US" altLang="ko-KR" sz="1000" b="1" dirty="0">
                <a:solidFill>
                  <a:srgbClr val="FF0000"/>
                </a:solidFill>
              </a:rPr>
              <a:t>        component: consumer</a:t>
            </a:r>
          </a:p>
          <a:p>
            <a:r>
              <a:rPr lang="en-US" altLang="ko-KR" sz="1000" b="1" dirty="0">
                <a:solidFill>
                  <a:srgbClr val="FF0000"/>
                </a:solidFill>
              </a:rPr>
              <a:t>        chapter: jobs</a:t>
            </a:r>
          </a:p>
          <a:p>
            <a:r>
              <a:rPr lang="en-US" altLang="ko-KR" sz="1000" b="1" dirty="0"/>
              <a:t>    spec:</a:t>
            </a:r>
          </a:p>
          <a:p>
            <a:r>
              <a:rPr lang="en-US" altLang="ko-KR" sz="1000" b="1" dirty="0"/>
              <a:t>      containers:</a:t>
            </a:r>
          </a:p>
          <a:p>
            <a:r>
              <a:rPr lang="en-US" altLang="ko-KR" sz="1000" b="1" dirty="0"/>
              <a:t>      - name: worker</a:t>
            </a:r>
          </a:p>
          <a:p>
            <a:r>
              <a:rPr lang="en-US" altLang="ko-KR" sz="1000" b="1" dirty="0"/>
              <a:t>        image: "</a:t>
            </a:r>
            <a:r>
              <a:rPr lang="en-US" altLang="ko-KR" sz="1000" b="1" dirty="0">
                <a:solidFill>
                  <a:srgbClr val="FF0000"/>
                </a:solidFill>
              </a:rPr>
              <a:t>gcr.io/</a:t>
            </a:r>
            <a:r>
              <a:rPr lang="en-US" altLang="ko-KR" sz="1000" b="1" dirty="0" err="1">
                <a:solidFill>
                  <a:srgbClr val="FF0000"/>
                </a:solidFill>
              </a:rPr>
              <a:t>kuard</a:t>
            </a:r>
            <a:r>
              <a:rPr lang="en-US" altLang="ko-KR" sz="1000" b="1" dirty="0">
                <a:solidFill>
                  <a:srgbClr val="FF0000"/>
                </a:solidFill>
              </a:rPr>
              <a:t>-demo/kuard-amd64:1</a:t>
            </a:r>
            <a:r>
              <a:rPr lang="en-US" altLang="ko-KR" sz="1000" b="1" dirty="0"/>
              <a:t>"</a:t>
            </a:r>
          </a:p>
          <a:p>
            <a:r>
              <a:rPr lang="en-US" altLang="ko-KR" sz="1000" b="1" dirty="0"/>
              <a:t>        </a:t>
            </a:r>
            <a:r>
              <a:rPr lang="en-US" altLang="ko-KR" sz="1000" b="1" dirty="0" err="1"/>
              <a:t>imagePullPolicy</a:t>
            </a:r>
            <a:r>
              <a:rPr lang="en-US" altLang="ko-KR" sz="1000" b="1" dirty="0"/>
              <a:t>: Always</a:t>
            </a:r>
          </a:p>
          <a:p>
            <a:r>
              <a:rPr lang="en-US" altLang="ko-KR" sz="1000" b="1" dirty="0"/>
              <a:t>        </a:t>
            </a:r>
            <a:r>
              <a:rPr lang="en-US" altLang="ko-KR" sz="1000" b="1" dirty="0" err="1"/>
              <a:t>args</a:t>
            </a:r>
            <a:r>
              <a:rPr lang="en-US" altLang="ko-KR" sz="1000" b="1" dirty="0"/>
              <a:t>:</a:t>
            </a:r>
          </a:p>
          <a:p>
            <a:r>
              <a:rPr lang="en-US" altLang="ko-KR" sz="1000" b="1" dirty="0"/>
              <a:t>        - "--keygen-enable"</a:t>
            </a:r>
          </a:p>
          <a:p>
            <a:r>
              <a:rPr lang="en-US" altLang="ko-KR" sz="1000" b="1" dirty="0"/>
              <a:t>        - "--keygen-exit-on-complete"</a:t>
            </a:r>
          </a:p>
          <a:p>
            <a:r>
              <a:rPr lang="en-US" altLang="ko-KR" sz="1000" b="1" dirty="0"/>
              <a:t>        - "</a:t>
            </a:r>
            <a:r>
              <a:rPr lang="en-US" altLang="ko-KR" sz="1000" b="1" dirty="0">
                <a:solidFill>
                  <a:srgbClr val="FF0000"/>
                </a:solidFill>
              </a:rPr>
              <a:t>--keygen-</a:t>
            </a:r>
            <a:r>
              <a:rPr lang="en-US" altLang="ko-KR" sz="1000" b="1" dirty="0" err="1">
                <a:solidFill>
                  <a:srgbClr val="FF0000"/>
                </a:solidFill>
              </a:rPr>
              <a:t>memq</a:t>
            </a:r>
            <a:r>
              <a:rPr lang="en-US" altLang="ko-KR" sz="1000" b="1" dirty="0">
                <a:solidFill>
                  <a:srgbClr val="FF0000"/>
                </a:solidFill>
              </a:rPr>
              <a:t>-server=http://127.0.0.1:8080/memq/server</a:t>
            </a:r>
            <a:r>
              <a:rPr lang="en-US" altLang="ko-KR" sz="1000" b="1" dirty="0"/>
              <a:t>"</a:t>
            </a:r>
          </a:p>
          <a:p>
            <a:r>
              <a:rPr lang="en-US" altLang="ko-KR" sz="1000" b="1" dirty="0"/>
              <a:t>        - "</a:t>
            </a:r>
            <a:r>
              <a:rPr lang="en-US" altLang="ko-KR" sz="1000" b="1" dirty="0">
                <a:solidFill>
                  <a:srgbClr val="FF0000"/>
                </a:solidFill>
              </a:rPr>
              <a:t>--keygen-</a:t>
            </a:r>
            <a:r>
              <a:rPr lang="en-US" altLang="ko-KR" sz="1000" b="1" dirty="0" err="1">
                <a:solidFill>
                  <a:srgbClr val="FF0000"/>
                </a:solidFill>
              </a:rPr>
              <a:t>memq</a:t>
            </a:r>
            <a:r>
              <a:rPr lang="en-US" altLang="ko-KR" sz="1000" b="1" dirty="0">
                <a:solidFill>
                  <a:srgbClr val="FF0000"/>
                </a:solidFill>
              </a:rPr>
              <a:t>-queue=keygen</a:t>
            </a:r>
            <a:r>
              <a:rPr lang="en-US" altLang="ko-KR" sz="1000" b="1" dirty="0"/>
              <a:t>"</a:t>
            </a:r>
          </a:p>
          <a:p>
            <a:r>
              <a:rPr lang="en-US" altLang="ko-KR" sz="1000" b="1" dirty="0"/>
              <a:t>      </a:t>
            </a:r>
            <a:r>
              <a:rPr lang="en-US" altLang="ko-KR" sz="1000" b="1" dirty="0" err="1"/>
              <a:t>restartPolicy</a:t>
            </a:r>
            <a:r>
              <a:rPr lang="en-US" altLang="ko-KR" sz="1000" b="1" dirty="0"/>
              <a:t>: </a:t>
            </a:r>
            <a:r>
              <a:rPr lang="en-US" altLang="ko-KR" sz="1000" b="1" dirty="0" err="1"/>
              <a:t>OnFailure</a:t>
            </a:r>
            <a:endParaRPr lang="ko-KR" altLang="en-US" sz="1000" b="1" dirty="0"/>
          </a:p>
        </p:txBody>
      </p:sp>
    </p:spTree>
    <p:extLst>
      <p:ext uri="{BB962C8B-B14F-4D97-AF65-F5344CB8AC3E}">
        <p14:creationId xmlns:p14="http://schemas.microsoft.com/office/powerpoint/2010/main" val="22370795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Pattern(19/21)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Work Queues :</a:t>
            </a:r>
          </a:p>
          <a:p>
            <a:pPr lvl="1">
              <a:buFont typeface="Wingdings" panose="05000000000000000000" pitchFamily="2" charset="2"/>
              <a:buChar char="§"/>
            </a:pPr>
            <a:r>
              <a:rPr lang="en-US" altLang="ko-KR" sz="1400" b="1" dirty="0"/>
              <a:t>Creating the consumer job </a:t>
            </a:r>
            <a:r>
              <a:rPr lang="en-US" altLang="ko-KR" sz="1400" dirty="0"/>
              <a:t>- </a:t>
            </a:r>
          </a:p>
          <a:p>
            <a:pPr lvl="2">
              <a:buFont typeface="Wingdings" panose="05000000000000000000" pitchFamily="2" charset="2"/>
              <a:buChar char="§"/>
            </a:pPr>
            <a:r>
              <a:rPr lang="en-US" altLang="ko-KR" sz="1400" b="1" dirty="0"/>
              <a:t>In YAML file, we are telling the job to start up five Pods in parallel</a:t>
            </a:r>
            <a:r>
              <a:rPr lang="en-US" altLang="ko-KR" sz="1400" dirty="0"/>
              <a:t>. </a:t>
            </a:r>
            <a:r>
              <a:rPr lang="en-US" altLang="ko-KR" sz="1400" b="1" dirty="0"/>
              <a:t>As the “</a:t>
            </a:r>
            <a:r>
              <a:rPr lang="en-US" altLang="ko-KR" sz="1400" b="1" dirty="0">
                <a:solidFill>
                  <a:srgbClr val="FF0000"/>
                </a:solidFill>
              </a:rPr>
              <a:t>completions</a:t>
            </a:r>
            <a:r>
              <a:rPr lang="en-US" altLang="ko-KR" sz="1400" b="1" dirty="0"/>
              <a:t>” parameter is unset, we put the job into a worker pool mode</a:t>
            </a:r>
            <a:r>
              <a:rPr lang="en-US" altLang="ko-KR" sz="1400" dirty="0"/>
              <a:t>. </a:t>
            </a:r>
            <a:r>
              <a:rPr lang="en-US" altLang="ko-KR" sz="1400" b="1" dirty="0"/>
              <a:t>Once the first Pod exits with a zero exit code, the job will start winding down and will not start any new Pods</a:t>
            </a:r>
            <a:r>
              <a:rPr lang="en-US" altLang="ko-KR" sz="1400" dirty="0"/>
              <a:t>. This means that none of the workers should exit until the work is done and they are all in the process of finishing up.</a:t>
            </a:r>
          </a:p>
          <a:p>
            <a:pPr lvl="2">
              <a:buFont typeface="Wingdings" panose="05000000000000000000" pitchFamily="2" charset="2"/>
              <a:buChar char="§"/>
            </a:pPr>
            <a:r>
              <a:rPr lang="en-US" altLang="ko-KR" sz="1400" dirty="0"/>
              <a:t>Now, </a:t>
            </a:r>
            <a:r>
              <a:rPr lang="en-US" altLang="ko-KR" sz="1400" b="1" dirty="0"/>
              <a:t>create the consumers job</a:t>
            </a:r>
            <a:r>
              <a:rPr lang="en-US" altLang="ko-KR" sz="1400" dirty="0"/>
              <a:t>. </a:t>
            </a:r>
            <a:r>
              <a:rPr lang="en-US" altLang="ko-KR" sz="1400" b="1" dirty="0"/>
              <a:t>Once the job has been created, you can view the Pods backing the job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61C26332-24AB-446A-B134-021C8E4F8033}"/>
              </a:ext>
            </a:extLst>
          </p:cNvPr>
          <p:cNvGrpSpPr/>
          <p:nvPr/>
        </p:nvGrpSpPr>
        <p:grpSpPr>
          <a:xfrm>
            <a:off x="2334578" y="2675067"/>
            <a:ext cx="7522844" cy="3587914"/>
            <a:chOff x="2334577" y="2627114"/>
            <a:chExt cx="7522844" cy="3587914"/>
          </a:xfrm>
        </p:grpSpPr>
        <p:sp>
          <p:nvSpPr>
            <p:cNvPr id="4" name="직사각형 3">
              <a:extLst>
                <a:ext uri="{FF2B5EF4-FFF2-40B4-BE49-F238E27FC236}">
                  <a16:creationId xmlns:a16="http://schemas.microsoft.com/office/drawing/2014/main" id="{B469C827-135D-4A6A-B5BE-CCC98107140C}"/>
                </a:ext>
              </a:extLst>
            </p:cNvPr>
            <p:cNvSpPr/>
            <p:nvPr/>
          </p:nvSpPr>
          <p:spPr>
            <a:xfrm>
              <a:off x="3573476" y="2627114"/>
              <a:ext cx="5045047" cy="400110"/>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apply -f </a:t>
              </a:r>
              <a:r>
                <a:rPr lang="en-US" altLang="ko-KR" sz="1000" b="1" dirty="0">
                  <a:solidFill>
                    <a:srgbClr val="FF0000"/>
                  </a:solidFill>
                </a:rPr>
                <a:t>consume-queue-</a:t>
              </a:r>
              <a:r>
                <a:rPr lang="en-US" altLang="ko-KR" sz="1000" b="1" dirty="0" err="1">
                  <a:solidFill>
                    <a:srgbClr val="FF0000"/>
                  </a:solidFill>
                </a:rPr>
                <a:t>jobs.yaml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get pods</a:t>
              </a:r>
              <a:endParaRPr lang="ko-KR" altLang="en-US" sz="1000" b="1" dirty="0"/>
            </a:p>
          </p:txBody>
        </p:sp>
        <p:pic>
          <p:nvPicPr>
            <p:cNvPr id="8" name="그림 7">
              <a:extLst>
                <a:ext uri="{FF2B5EF4-FFF2-40B4-BE49-F238E27FC236}">
                  <a16:creationId xmlns:a16="http://schemas.microsoft.com/office/drawing/2014/main" id="{9D662509-7007-4501-91FF-EC33F431C4C6}"/>
                </a:ext>
              </a:extLst>
            </p:cNvPr>
            <p:cNvPicPr>
              <a:picLocks noChangeAspect="1"/>
            </p:cNvPicPr>
            <p:nvPr/>
          </p:nvPicPr>
          <p:blipFill>
            <a:blip r:embed="rId2"/>
            <a:stretch>
              <a:fillRect/>
            </a:stretch>
          </p:blipFill>
          <p:spPr>
            <a:xfrm>
              <a:off x="2334577" y="3332022"/>
              <a:ext cx="7522844" cy="2883006"/>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B3E3110D-A2E5-4513-A035-876B4D1FBA5C}"/>
                </a:ext>
              </a:extLst>
            </p:cNvPr>
            <p:cNvSpPr/>
            <p:nvPr/>
          </p:nvSpPr>
          <p:spPr>
            <a:xfrm>
              <a:off x="5894069" y="3053690"/>
              <a:ext cx="403860" cy="27127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0124987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Pattern(20/21)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Work Queues :</a:t>
            </a:r>
          </a:p>
          <a:p>
            <a:pPr lvl="1">
              <a:buFont typeface="Wingdings" panose="05000000000000000000" pitchFamily="2" charset="2"/>
              <a:buChar char="§"/>
            </a:pPr>
            <a:r>
              <a:rPr lang="en-US" altLang="ko-KR" sz="1400" b="1" dirty="0"/>
              <a:t>Creating the consumer job </a:t>
            </a:r>
            <a:r>
              <a:rPr lang="en-US" altLang="ko-KR" sz="1400" dirty="0"/>
              <a:t>- </a:t>
            </a:r>
          </a:p>
          <a:p>
            <a:pPr lvl="2">
              <a:buFont typeface="Wingdings" panose="05000000000000000000" pitchFamily="2" charset="2"/>
              <a:buChar char="§"/>
            </a:pPr>
            <a:r>
              <a:rPr lang="en-US" altLang="ko-KR" sz="1400" b="1" dirty="0"/>
              <a:t>Note there are five Pods running in parallel</a:t>
            </a:r>
            <a:r>
              <a:rPr lang="en-US" altLang="ko-KR" sz="1400" dirty="0"/>
              <a:t>. </a:t>
            </a:r>
            <a:r>
              <a:rPr lang="en-US" altLang="ko-KR" sz="1400" b="1" dirty="0"/>
              <a:t>These Pods will continue to run until the work queue is empty</a:t>
            </a:r>
            <a:r>
              <a:rPr lang="en-US" altLang="ko-KR" sz="1400" dirty="0"/>
              <a:t>. You can watch as it happens in the UI on the work queue server. </a:t>
            </a:r>
            <a:r>
              <a:rPr lang="en-US" altLang="ko-KR" sz="1400" b="1" dirty="0"/>
              <a:t>As the queue empties, the consumer Pods will exit cleanly and the consumers job will be considered complete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748C9081-FE8E-4B65-A6CE-46775915E08A}"/>
              </a:ext>
            </a:extLst>
          </p:cNvPr>
          <p:cNvGrpSpPr/>
          <p:nvPr/>
        </p:nvGrpSpPr>
        <p:grpSpPr>
          <a:xfrm>
            <a:off x="2707476" y="2085563"/>
            <a:ext cx="6777047" cy="4323467"/>
            <a:chOff x="2707476" y="2085563"/>
            <a:chExt cx="6777047" cy="4323467"/>
          </a:xfrm>
        </p:grpSpPr>
        <p:pic>
          <p:nvPicPr>
            <p:cNvPr id="4" name="그림 3">
              <a:extLst>
                <a:ext uri="{FF2B5EF4-FFF2-40B4-BE49-F238E27FC236}">
                  <a16:creationId xmlns:a16="http://schemas.microsoft.com/office/drawing/2014/main" id="{EA2E8932-C10F-4003-88EB-5B8F35F062F2}"/>
                </a:ext>
              </a:extLst>
            </p:cNvPr>
            <p:cNvPicPr>
              <a:picLocks noChangeAspect="1"/>
            </p:cNvPicPr>
            <p:nvPr/>
          </p:nvPicPr>
          <p:blipFill>
            <a:blip r:embed="rId2"/>
            <a:stretch>
              <a:fillRect/>
            </a:stretch>
          </p:blipFill>
          <p:spPr>
            <a:xfrm>
              <a:off x="2707476" y="2085563"/>
              <a:ext cx="6777047" cy="4323467"/>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F86A5F1B-4878-4798-826A-01B252C8E8EC}"/>
                </a:ext>
              </a:extLst>
            </p:cNvPr>
            <p:cNvSpPr/>
            <p:nvPr/>
          </p:nvSpPr>
          <p:spPr>
            <a:xfrm>
              <a:off x="3566160" y="3695700"/>
              <a:ext cx="1501140" cy="3651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503541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Job Pattern(21/21)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Work Queues :</a:t>
            </a:r>
          </a:p>
          <a:p>
            <a:pPr lvl="1">
              <a:buFont typeface="Wingdings" panose="05000000000000000000" pitchFamily="2" charset="2"/>
              <a:buChar char="§"/>
            </a:pPr>
            <a:r>
              <a:rPr lang="en-US" altLang="ko-KR" sz="1400" b="1" dirty="0"/>
              <a:t>Clean up - </a:t>
            </a:r>
          </a:p>
          <a:p>
            <a:pPr lvl="2">
              <a:buFont typeface="Wingdings" panose="05000000000000000000" pitchFamily="2" charset="2"/>
              <a:buChar char="§"/>
            </a:pPr>
            <a:r>
              <a:rPr lang="en-US" altLang="ko-KR" sz="1400" b="1" dirty="0"/>
              <a:t>Using labels, we can clean up all of the stuff we created </a:t>
            </a:r>
            <a:r>
              <a:rPr lang="en-US" altLang="ko-KR" sz="1400" dirty="0"/>
              <a:t>: </a:t>
            </a:r>
          </a:p>
          <a:p>
            <a:pPr lvl="2">
              <a:buFont typeface="Wingdings" panose="05000000000000000000" pitchFamily="2" charset="2"/>
              <a:buChar char="§"/>
            </a:pPr>
            <a:r>
              <a:rPr lang="en-US" altLang="ko-KR" sz="1400" b="1" dirty="0"/>
              <a:t>NOTE : “</a:t>
            </a:r>
            <a:r>
              <a:rPr lang="en-US" altLang="ko-KR" sz="1400" b="1" dirty="0" err="1">
                <a:solidFill>
                  <a:srgbClr val="FF0000"/>
                </a:solidFill>
              </a:rPr>
              <a:t>rs</a:t>
            </a:r>
            <a:r>
              <a:rPr lang="en-US" altLang="ko-KR" sz="1400" b="1" dirty="0"/>
              <a:t>” means “</a:t>
            </a:r>
            <a:r>
              <a:rPr lang="en-US" altLang="ko-KR" sz="1400" b="1" dirty="0" err="1"/>
              <a:t>replicaset</a:t>
            </a:r>
            <a:r>
              <a:rPr lang="en-US" altLang="ko-KR" sz="1400" b="1" dirty="0"/>
              <a:t>”. “</a:t>
            </a:r>
            <a:r>
              <a:rPr lang="en-US" altLang="ko-KR" sz="1400" b="1" dirty="0">
                <a:solidFill>
                  <a:srgbClr val="FF0000"/>
                </a:solidFill>
              </a:rPr>
              <a:t>svc</a:t>
            </a:r>
            <a:r>
              <a:rPr lang="en-US" altLang="ko-KR" sz="1400" b="1" dirty="0"/>
              <a:t>” means “service”. “</a:t>
            </a:r>
            <a:r>
              <a:rPr lang="en-US" altLang="ko-KR" sz="1400" b="1" dirty="0">
                <a:solidFill>
                  <a:srgbClr val="FF0000"/>
                </a:solidFill>
              </a:rPr>
              <a:t>job</a:t>
            </a:r>
            <a:r>
              <a:rPr lang="en-US" altLang="ko-KR" sz="1400" b="1" dirty="0"/>
              <a:t>” means “job”. “</a:t>
            </a:r>
            <a:r>
              <a:rPr lang="en-US" altLang="ko-KR" sz="1400" b="1" dirty="0">
                <a:solidFill>
                  <a:srgbClr val="FF0000"/>
                </a:solidFill>
              </a:rPr>
              <a:t>-l</a:t>
            </a:r>
            <a:r>
              <a:rPr lang="en-US" altLang="ko-KR" sz="1400" b="1" dirty="0"/>
              <a:t>” means “label”.</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89D12B40-FC09-4C69-96D5-BAE921445583}"/>
              </a:ext>
            </a:extLst>
          </p:cNvPr>
          <p:cNvGrpSpPr/>
          <p:nvPr/>
        </p:nvGrpSpPr>
        <p:grpSpPr>
          <a:xfrm>
            <a:off x="1333500" y="2108954"/>
            <a:ext cx="9525000" cy="3718228"/>
            <a:chOff x="1333498" y="1933694"/>
            <a:chExt cx="9525000" cy="3718228"/>
          </a:xfrm>
        </p:grpSpPr>
        <p:sp>
          <p:nvSpPr>
            <p:cNvPr id="4" name="직사각형 3">
              <a:extLst>
                <a:ext uri="{FF2B5EF4-FFF2-40B4-BE49-F238E27FC236}">
                  <a16:creationId xmlns:a16="http://schemas.microsoft.com/office/drawing/2014/main" id="{ABD13051-86CF-4EAA-8055-64982D071135}"/>
                </a:ext>
              </a:extLst>
            </p:cNvPr>
            <p:cNvSpPr/>
            <p:nvPr/>
          </p:nvSpPr>
          <p:spPr>
            <a:xfrm>
              <a:off x="4713249" y="1933694"/>
              <a:ext cx="2765501"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delete </a:t>
              </a:r>
              <a:r>
                <a:rPr lang="en-US" altLang="ko-KR" sz="1000" b="1" dirty="0" err="1"/>
                <a:t>rs,svc,job</a:t>
              </a:r>
              <a:r>
                <a:rPr lang="en-US" altLang="ko-KR" sz="1000" b="1" dirty="0"/>
                <a:t> -l </a:t>
              </a:r>
              <a:r>
                <a:rPr lang="en-US" altLang="ko-KR" sz="1000" b="1" dirty="0">
                  <a:solidFill>
                    <a:srgbClr val="FF0000"/>
                  </a:solidFill>
                </a:rPr>
                <a:t>chapter=jobs</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5B978329-992C-48A9-9A4F-47FDBE14DA21}"/>
                </a:ext>
              </a:extLst>
            </p:cNvPr>
            <p:cNvSpPr/>
            <p:nvPr/>
          </p:nvSpPr>
          <p:spPr>
            <a:xfrm>
              <a:off x="5890258" y="2173921"/>
              <a:ext cx="411481" cy="32443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1DEDE4CB-8B2C-49E3-997C-319AFA2686C9}"/>
                </a:ext>
              </a:extLst>
            </p:cNvPr>
            <p:cNvPicPr>
              <a:picLocks noChangeAspect="1"/>
            </p:cNvPicPr>
            <p:nvPr/>
          </p:nvPicPr>
          <p:blipFill>
            <a:blip r:embed="rId2"/>
            <a:stretch>
              <a:fillRect/>
            </a:stretch>
          </p:blipFill>
          <p:spPr>
            <a:xfrm>
              <a:off x="1333498" y="2508672"/>
              <a:ext cx="9525000" cy="3143250"/>
            </a:xfrm>
            <a:prstGeom prst="rect">
              <a:avLst/>
            </a:prstGeom>
            <a:ln>
              <a:solidFill>
                <a:schemeClr val="bg1">
                  <a:lumMod val="50000"/>
                </a:schemeClr>
              </a:solidFill>
            </a:ln>
          </p:spPr>
        </p:pic>
      </p:grpSp>
    </p:spTree>
    <p:extLst>
      <p:ext uri="{BB962C8B-B14F-4D97-AF65-F5344CB8AC3E}">
        <p14:creationId xmlns:p14="http://schemas.microsoft.com/office/powerpoint/2010/main" val="14382167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CronJobs</a:t>
            </a:r>
            <a:r>
              <a:rPr lang="en-US" altLang="ko-KR" sz="2800" b="1" dirty="0"/>
              <a:t>(1/2)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Interval Job :</a:t>
            </a:r>
          </a:p>
          <a:p>
            <a:pPr lvl="1">
              <a:buFont typeface="Wingdings" panose="05000000000000000000" pitchFamily="2" charset="2"/>
              <a:buChar char="§"/>
            </a:pPr>
            <a:r>
              <a:rPr lang="en-US" altLang="ko-KR" sz="1400" b="1" dirty="0"/>
              <a:t>Sometimes you want to schedule a job to be run at a certain “</a:t>
            </a:r>
            <a:r>
              <a:rPr lang="en-US" altLang="ko-KR" sz="1400" b="1" dirty="0">
                <a:solidFill>
                  <a:srgbClr val="FF0000"/>
                </a:solidFill>
              </a:rPr>
              <a:t>interval</a:t>
            </a:r>
            <a:r>
              <a:rPr lang="en-US" altLang="ko-KR" sz="1400" b="1" dirty="0"/>
              <a:t>”</a:t>
            </a:r>
            <a:r>
              <a:rPr lang="en-US" altLang="ko-KR" sz="1400" dirty="0"/>
              <a:t>. To achieve this you can declare a “</a:t>
            </a:r>
            <a:r>
              <a:rPr lang="en-US" altLang="ko-KR" sz="1400" b="1" dirty="0" err="1">
                <a:solidFill>
                  <a:srgbClr val="FF0000"/>
                </a:solidFill>
              </a:rPr>
              <a:t>CronJob</a:t>
            </a:r>
            <a:r>
              <a:rPr lang="en-US" altLang="ko-KR" sz="1400" dirty="0"/>
              <a:t>” in Kubernetes, </a:t>
            </a:r>
            <a:r>
              <a:rPr lang="en-US" altLang="ko-KR" sz="1400" b="1" dirty="0"/>
              <a:t>which is responsible for </a:t>
            </a:r>
            <a:r>
              <a:rPr lang="en-US" altLang="ko-KR" sz="1400" b="1" dirty="0">
                <a:solidFill>
                  <a:srgbClr val="FF0000"/>
                </a:solidFill>
              </a:rPr>
              <a:t>creating a new Job object at a particular interval</a:t>
            </a:r>
            <a:r>
              <a:rPr lang="en-US" altLang="ko-KR" sz="1400" dirty="0"/>
              <a:t>. The declaration of a </a:t>
            </a:r>
            <a:r>
              <a:rPr lang="en-US" altLang="ko-KR" sz="1400" b="1" dirty="0" err="1"/>
              <a:t>CronJob</a:t>
            </a:r>
            <a:r>
              <a:rPr lang="en-US" altLang="ko-KR" sz="1400" dirty="0"/>
              <a:t> looks like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a:t>
            </a:r>
            <a:r>
              <a:rPr lang="en-US" altLang="ko-KR" sz="1400" b="1" dirty="0" err="1">
                <a:solidFill>
                  <a:srgbClr val="FF0000"/>
                </a:solidFill>
              </a:rPr>
              <a:t>spec.schedule</a:t>
            </a:r>
            <a:r>
              <a:rPr lang="en-US" altLang="ko-KR" sz="1400" b="1" dirty="0"/>
              <a:t>” field, which contains the interval for the </a:t>
            </a:r>
            <a:r>
              <a:rPr lang="en-US" altLang="ko-KR" sz="1400" b="1" dirty="0" err="1"/>
              <a:t>CronJob</a:t>
            </a:r>
            <a:r>
              <a:rPr lang="en-US" altLang="ko-KR" sz="1400" b="1" dirty="0"/>
              <a:t> in standard “</a:t>
            </a:r>
            <a:r>
              <a:rPr lang="en-US" altLang="ko-KR" sz="1400" b="1" dirty="0" err="1">
                <a:solidFill>
                  <a:srgbClr val="FF0000"/>
                </a:solidFill>
              </a:rPr>
              <a:t>cron</a:t>
            </a:r>
            <a:r>
              <a:rPr lang="en-US" altLang="ko-KR" sz="1400" b="1" dirty="0"/>
              <a:t>” format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CD042FBD-B82A-4F59-9C1A-C5E3A8AB6F0A}"/>
              </a:ext>
            </a:extLst>
          </p:cNvPr>
          <p:cNvGrpSpPr/>
          <p:nvPr/>
        </p:nvGrpSpPr>
        <p:grpSpPr>
          <a:xfrm>
            <a:off x="3048000" y="2037148"/>
            <a:ext cx="6096000" cy="3416320"/>
            <a:chOff x="3048000" y="2006668"/>
            <a:chExt cx="6096000" cy="3416320"/>
          </a:xfrm>
        </p:grpSpPr>
        <p:sp>
          <p:nvSpPr>
            <p:cNvPr id="4" name="직사각형 3">
              <a:extLst>
                <a:ext uri="{FF2B5EF4-FFF2-40B4-BE49-F238E27FC236}">
                  <a16:creationId xmlns:a16="http://schemas.microsoft.com/office/drawing/2014/main" id="{3A36BEF8-484C-4C82-A8A9-3578806BEB28}"/>
                </a:ext>
              </a:extLst>
            </p:cNvPr>
            <p:cNvSpPr/>
            <p:nvPr/>
          </p:nvSpPr>
          <p:spPr>
            <a:xfrm>
              <a:off x="3048000" y="2006668"/>
              <a:ext cx="6096000" cy="3170099"/>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batch/v1</a:t>
              </a:r>
            </a:p>
            <a:p>
              <a:r>
                <a:rPr lang="en-US" altLang="ko-KR" sz="1000" b="1" dirty="0"/>
                <a:t>kind: </a:t>
              </a:r>
              <a:r>
                <a:rPr lang="en-US" altLang="ko-KR" sz="1000" b="1" dirty="0" err="1">
                  <a:solidFill>
                    <a:srgbClr val="FF0000"/>
                  </a:solidFill>
                </a:rPr>
                <a:t>CronJob</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a:solidFill>
                    <a:srgbClr val="FF0000"/>
                  </a:solidFill>
                </a:rPr>
                <a:t>hello</a:t>
              </a:r>
            </a:p>
            <a:p>
              <a:r>
                <a:rPr lang="en-US" altLang="ko-KR" sz="1000" b="1" dirty="0"/>
                <a:t>spec:</a:t>
              </a:r>
            </a:p>
            <a:p>
              <a:r>
                <a:rPr lang="en-US" altLang="ko-KR" sz="1000" b="1" dirty="0"/>
                <a:t>  # Run every fifth hour</a:t>
              </a:r>
            </a:p>
            <a:p>
              <a:r>
                <a:rPr lang="en-US" altLang="ko-KR" sz="1000" b="1" dirty="0"/>
                <a:t>  </a:t>
              </a:r>
              <a:r>
                <a:rPr lang="en-US" altLang="ko-KR" sz="1000" b="1" dirty="0">
                  <a:solidFill>
                    <a:srgbClr val="FF0000"/>
                  </a:solidFill>
                </a:rPr>
                <a:t>schedule: "0 */5 * * *"</a:t>
              </a:r>
            </a:p>
            <a:p>
              <a:r>
                <a:rPr lang="en-US" altLang="ko-KR" sz="1000" b="1" dirty="0"/>
                <a:t>  </a:t>
              </a:r>
              <a:r>
                <a:rPr lang="en-US" altLang="ko-KR" sz="1000" b="1" dirty="0" err="1">
                  <a:solidFill>
                    <a:srgbClr val="FF0000"/>
                  </a:solidFill>
                </a:rPr>
                <a:t>jobTemplate</a:t>
              </a:r>
              <a:r>
                <a:rPr lang="en-US" altLang="ko-KR" sz="1000" b="1" dirty="0">
                  <a:solidFill>
                    <a:srgbClr val="FF0000"/>
                  </a:solidFill>
                </a:rPr>
                <a:t>:</a:t>
              </a:r>
            </a:p>
            <a:p>
              <a:r>
                <a:rPr lang="en-US" altLang="ko-KR" sz="1000" b="1" dirty="0"/>
                <a:t>    spec:</a:t>
              </a:r>
            </a:p>
            <a:p>
              <a:r>
                <a:rPr lang="en-US" altLang="ko-KR" sz="1000" b="1" dirty="0"/>
                <a:t>      template:</a:t>
              </a:r>
            </a:p>
            <a:p>
              <a:r>
                <a:rPr lang="en-US" altLang="ko-KR" sz="1000" b="1" dirty="0"/>
                <a:t>        spec:</a:t>
              </a:r>
            </a:p>
            <a:p>
              <a:r>
                <a:rPr lang="en-US" altLang="ko-KR" sz="1000" b="1" dirty="0"/>
                <a:t>          containers:</a:t>
              </a:r>
            </a:p>
            <a:p>
              <a:r>
                <a:rPr lang="en-US" altLang="ko-KR" sz="1000" b="1" dirty="0"/>
                <a:t>          - name: </a:t>
              </a:r>
              <a:r>
                <a:rPr lang="en-US" altLang="ko-KR" sz="1000" b="1" dirty="0">
                  <a:solidFill>
                    <a:srgbClr val="FF0000"/>
                  </a:solidFill>
                </a:rPr>
                <a:t>hello</a:t>
              </a:r>
            </a:p>
            <a:p>
              <a:r>
                <a:rPr lang="en-US" altLang="ko-KR" sz="1000" b="1" dirty="0"/>
                <a:t>            image: </a:t>
              </a:r>
              <a:r>
                <a:rPr lang="en-US" altLang="ko-KR" sz="1000" b="1" dirty="0" err="1"/>
                <a:t>busybox</a:t>
              </a:r>
              <a:endParaRPr lang="en-US" altLang="ko-KR" sz="1000" b="1" dirty="0"/>
            </a:p>
            <a:p>
              <a:r>
                <a:rPr lang="en-US" altLang="ko-KR" sz="1000" b="1" dirty="0"/>
                <a:t>            </a:t>
              </a:r>
              <a:r>
                <a:rPr lang="en-US" altLang="ko-KR" sz="1000" b="1" dirty="0" err="1"/>
                <a:t>imagePullPolicy</a:t>
              </a:r>
              <a:r>
                <a:rPr lang="en-US" altLang="ko-KR" sz="1000" b="1" dirty="0"/>
                <a:t>: Always</a:t>
              </a:r>
            </a:p>
            <a:p>
              <a:r>
                <a:rPr lang="en-US" altLang="ko-KR" sz="1000" b="1" dirty="0"/>
                <a:t>            command:</a:t>
              </a:r>
            </a:p>
            <a:p>
              <a:r>
                <a:rPr lang="en-US" altLang="ko-KR" sz="1000" b="1" dirty="0"/>
                <a:t>            - /bin/</a:t>
              </a:r>
              <a:r>
                <a:rPr lang="en-US" altLang="ko-KR" sz="1000" b="1" dirty="0" err="1"/>
                <a:t>sh</a:t>
              </a:r>
              <a:endParaRPr lang="en-US" altLang="ko-KR" sz="1000" b="1" dirty="0"/>
            </a:p>
            <a:p>
              <a:r>
                <a:rPr lang="en-US" altLang="ko-KR" sz="1000" b="1" dirty="0"/>
                <a:t>            - -c</a:t>
              </a:r>
            </a:p>
            <a:p>
              <a:r>
                <a:rPr lang="en-US" altLang="ko-KR" sz="1000" b="1" dirty="0"/>
                <a:t>            - date; echo Hello from the Kubernetes cluster</a:t>
              </a:r>
            </a:p>
            <a:p>
              <a:r>
                <a:rPr lang="en-US" altLang="ko-KR" sz="1000" b="1" dirty="0"/>
                <a:t>          </a:t>
              </a:r>
              <a:r>
                <a:rPr lang="en-US" altLang="ko-KR" sz="1000" b="1" dirty="0" err="1"/>
                <a:t>restartPolicy</a:t>
              </a:r>
              <a:r>
                <a:rPr lang="en-US" altLang="ko-KR" sz="1000" b="1" dirty="0"/>
                <a:t>: </a:t>
              </a:r>
              <a:r>
                <a:rPr lang="en-US" altLang="ko-KR" sz="1000" b="1" dirty="0" err="1"/>
                <a:t>OnFailure</a:t>
              </a:r>
              <a:endParaRPr lang="ko-KR" altLang="en-US" sz="1000" b="1" dirty="0"/>
            </a:p>
          </p:txBody>
        </p:sp>
        <p:sp>
          <p:nvSpPr>
            <p:cNvPr id="8" name="TextBox 7">
              <a:extLst>
                <a:ext uri="{FF2B5EF4-FFF2-40B4-BE49-F238E27FC236}">
                  <a16:creationId xmlns:a16="http://schemas.microsoft.com/office/drawing/2014/main" id="{8419A616-6274-4C34-B298-3214705DF91E}"/>
                </a:ext>
              </a:extLst>
            </p:cNvPr>
            <p:cNvSpPr txBox="1"/>
            <p:nvPr/>
          </p:nvSpPr>
          <p:spPr>
            <a:xfrm>
              <a:off x="5551620" y="5176767"/>
              <a:ext cx="1088760" cy="246221"/>
            </a:xfrm>
            <a:prstGeom prst="rect">
              <a:avLst/>
            </a:prstGeom>
            <a:noFill/>
          </p:spPr>
          <p:txBody>
            <a:bodyPr wrap="none" rtlCol="0">
              <a:spAutoFit/>
            </a:bodyPr>
            <a:lstStyle/>
            <a:p>
              <a:pPr algn="ctr"/>
              <a:r>
                <a:rPr lang="en-US" altLang="ko-KR" sz="1000" b="1" dirty="0" err="1"/>
                <a:t>cron-jobs.yaml</a:t>
              </a:r>
              <a:endParaRPr lang="ko-KR" altLang="en-US" sz="1000" b="1" dirty="0"/>
            </a:p>
          </p:txBody>
        </p:sp>
      </p:grpSp>
    </p:spTree>
    <p:extLst>
      <p:ext uri="{BB962C8B-B14F-4D97-AF65-F5344CB8AC3E}">
        <p14:creationId xmlns:p14="http://schemas.microsoft.com/office/powerpoint/2010/main" val="33840037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CronJobs</a:t>
            </a:r>
            <a:r>
              <a:rPr lang="en-US" altLang="ko-KR" sz="2800" b="1" dirty="0"/>
              <a:t>(2/2)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Interval Job :</a:t>
            </a:r>
          </a:p>
          <a:p>
            <a:pPr lvl="1">
              <a:buFont typeface="Wingdings" panose="05000000000000000000" pitchFamily="2" charset="2"/>
              <a:buChar char="§"/>
            </a:pPr>
            <a:r>
              <a:rPr lang="en-US" altLang="ko-KR" sz="1400" dirty="0"/>
              <a:t>You can save this file as “</a:t>
            </a:r>
            <a:r>
              <a:rPr lang="en-US" altLang="ko-KR" sz="1400" b="1" dirty="0" err="1"/>
              <a:t>cron-jobs.yaml</a:t>
            </a:r>
            <a:r>
              <a:rPr lang="en-US" altLang="ko-KR" sz="1400" dirty="0"/>
              <a:t>”, and </a:t>
            </a:r>
            <a:r>
              <a:rPr lang="en-US" altLang="ko-KR" sz="1400" b="1" dirty="0"/>
              <a:t>create the </a:t>
            </a:r>
            <a:r>
              <a:rPr lang="en-US" altLang="ko-KR" sz="1400" b="1" dirty="0" err="1"/>
              <a:t>CronJob</a:t>
            </a:r>
            <a:r>
              <a:rPr lang="en-US" altLang="ko-KR" sz="1400" b="1" dirty="0"/>
              <a:t> with </a:t>
            </a:r>
            <a:r>
              <a:rPr lang="en-US" altLang="ko-KR" sz="1400" dirty="0"/>
              <a:t>“</a:t>
            </a:r>
            <a:r>
              <a:rPr lang="en-US" altLang="ko-KR" sz="1400" b="1" dirty="0" err="1"/>
              <a:t>kubectl</a:t>
            </a:r>
            <a:r>
              <a:rPr lang="en-US" altLang="ko-KR" sz="1400" b="1" dirty="0"/>
              <a:t> create -f </a:t>
            </a:r>
            <a:r>
              <a:rPr lang="en-US" altLang="ko-KR" sz="1400" b="1" dirty="0" err="1"/>
              <a:t>cron-jobs.yaml</a:t>
            </a:r>
            <a:r>
              <a:rPr lang="en-US" altLang="ko-KR" sz="1400" dirty="0"/>
              <a:t>” </a:t>
            </a:r>
            <a:r>
              <a:rPr lang="en-US" altLang="ko-KR" sz="1400" b="1" dirty="0"/>
              <a:t>command</a:t>
            </a:r>
            <a:r>
              <a:rPr lang="en-US" altLang="ko-KR" sz="1400" dirty="0"/>
              <a:t>. If you are interested in </a:t>
            </a:r>
            <a:r>
              <a:rPr lang="en-US" altLang="ko-KR" sz="1400" b="1" dirty="0"/>
              <a:t>the current state of a </a:t>
            </a:r>
            <a:r>
              <a:rPr lang="en-US" altLang="ko-KR" sz="1400" b="1" dirty="0" err="1"/>
              <a:t>CronJob</a:t>
            </a:r>
            <a:r>
              <a:rPr lang="en-US" altLang="ko-KR" sz="1400" dirty="0"/>
              <a:t>, you can use “</a:t>
            </a:r>
            <a:r>
              <a:rPr lang="en-US" altLang="ko-KR" sz="1400" b="1" dirty="0" err="1"/>
              <a:t>kubectl</a:t>
            </a:r>
            <a:r>
              <a:rPr lang="en-US" altLang="ko-KR" sz="1400" b="1" dirty="0"/>
              <a:t> describe cronjob &lt;</a:t>
            </a:r>
            <a:r>
              <a:rPr lang="en-US" altLang="ko-KR" sz="1400" b="1" dirty="0" err="1"/>
              <a:t>cron</a:t>
            </a:r>
            <a:r>
              <a:rPr lang="en-US" altLang="ko-KR" sz="1400" b="1" dirty="0"/>
              <a:t>-job&gt;</a:t>
            </a:r>
            <a:r>
              <a:rPr lang="en-US" altLang="ko-KR" sz="1400" dirty="0"/>
              <a:t>” to get the details.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CF3BEE43-DC5D-4E2A-BB67-30159D706523}"/>
              </a:ext>
            </a:extLst>
          </p:cNvPr>
          <p:cNvGrpSpPr/>
          <p:nvPr/>
        </p:nvGrpSpPr>
        <p:grpSpPr>
          <a:xfrm>
            <a:off x="1386840" y="1671813"/>
            <a:ext cx="9418320" cy="4737217"/>
            <a:chOff x="1386840" y="1671813"/>
            <a:chExt cx="9418320" cy="4737217"/>
          </a:xfrm>
        </p:grpSpPr>
        <p:grpSp>
          <p:nvGrpSpPr>
            <p:cNvPr id="10" name="그룹 9">
              <a:extLst>
                <a:ext uri="{FF2B5EF4-FFF2-40B4-BE49-F238E27FC236}">
                  <a16:creationId xmlns:a16="http://schemas.microsoft.com/office/drawing/2014/main" id="{3A4CF877-E427-4E2E-A300-AA201FBBB69C}"/>
                </a:ext>
              </a:extLst>
            </p:cNvPr>
            <p:cNvGrpSpPr/>
            <p:nvPr/>
          </p:nvGrpSpPr>
          <p:grpSpPr>
            <a:xfrm>
              <a:off x="1386840" y="2545080"/>
              <a:ext cx="9418320" cy="3863950"/>
              <a:chOff x="1333500" y="2148805"/>
              <a:chExt cx="10020300" cy="4260225"/>
            </a:xfrm>
          </p:grpSpPr>
          <p:pic>
            <p:nvPicPr>
              <p:cNvPr id="4" name="그림 3">
                <a:extLst>
                  <a:ext uri="{FF2B5EF4-FFF2-40B4-BE49-F238E27FC236}">
                    <a16:creationId xmlns:a16="http://schemas.microsoft.com/office/drawing/2014/main" id="{53272863-AB27-4353-A969-616055F5E486}"/>
                  </a:ext>
                </a:extLst>
              </p:cNvPr>
              <p:cNvPicPr>
                <a:picLocks noChangeAspect="1"/>
              </p:cNvPicPr>
              <p:nvPr/>
            </p:nvPicPr>
            <p:blipFill>
              <a:blip r:embed="rId2"/>
              <a:stretch>
                <a:fillRect/>
              </a:stretch>
            </p:blipFill>
            <p:spPr>
              <a:xfrm>
                <a:off x="1333500" y="2148805"/>
                <a:ext cx="9525000" cy="1809750"/>
              </a:xfrm>
              <a:prstGeom prst="rect">
                <a:avLst/>
              </a:prstGeom>
            </p:spPr>
          </p:pic>
          <p:pic>
            <p:nvPicPr>
              <p:cNvPr id="8" name="그림 7">
                <a:extLst>
                  <a:ext uri="{FF2B5EF4-FFF2-40B4-BE49-F238E27FC236}">
                    <a16:creationId xmlns:a16="http://schemas.microsoft.com/office/drawing/2014/main" id="{BCAB6215-FE37-43A1-A8CF-87A59BF4AD28}"/>
                  </a:ext>
                </a:extLst>
              </p:cNvPr>
              <p:cNvPicPr>
                <a:picLocks noChangeAspect="1"/>
              </p:cNvPicPr>
              <p:nvPr/>
            </p:nvPicPr>
            <p:blipFill>
              <a:blip r:embed="rId3"/>
              <a:stretch>
                <a:fillRect/>
              </a:stretch>
            </p:blipFill>
            <p:spPr>
              <a:xfrm>
                <a:off x="6149512" y="3192780"/>
                <a:ext cx="5204288" cy="3216250"/>
              </a:xfrm>
              <a:prstGeom prst="rect">
                <a:avLst/>
              </a:prstGeom>
              <a:ln>
                <a:solidFill>
                  <a:schemeClr val="bg1">
                    <a:lumMod val="50000"/>
                  </a:schemeClr>
                </a:solidFill>
              </a:ln>
            </p:spPr>
          </p:pic>
        </p:grpSp>
        <p:sp>
          <p:nvSpPr>
            <p:cNvPr id="9" name="TextBox 8">
              <a:extLst>
                <a:ext uri="{FF2B5EF4-FFF2-40B4-BE49-F238E27FC236}">
                  <a16:creationId xmlns:a16="http://schemas.microsoft.com/office/drawing/2014/main" id="{184D31E1-CC9D-4653-A859-27AC10DF5053}"/>
                </a:ext>
              </a:extLst>
            </p:cNvPr>
            <p:cNvSpPr txBox="1"/>
            <p:nvPr/>
          </p:nvSpPr>
          <p:spPr>
            <a:xfrm>
              <a:off x="4387955" y="1671813"/>
              <a:ext cx="3416089" cy="553998"/>
            </a:xfrm>
            <a:prstGeom prst="rect">
              <a:avLst/>
            </a:prstGeom>
            <a:noFill/>
            <a:ln>
              <a:solidFill>
                <a:schemeClr val="bg1">
                  <a:lumMod val="50000"/>
                </a:schemeClr>
              </a:solidFill>
            </a:ln>
          </p:spPr>
          <p:txBody>
            <a:bodyPr wrap="square" rtlCol="0">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cron-jobs.yaml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get </a:t>
              </a:r>
              <a:r>
                <a:rPr lang="en-US" altLang="ko-KR" sz="1000" b="1" dirty="0">
                  <a:solidFill>
                    <a:srgbClr val="FF0000"/>
                  </a:solidFill>
                </a:rPr>
                <a:t>cronjobs</a:t>
              </a:r>
            </a:p>
            <a:p>
              <a:r>
                <a:rPr lang="en-US" altLang="ko-KR" sz="1000" b="1" dirty="0"/>
                <a:t>$ </a:t>
              </a:r>
              <a:r>
                <a:rPr lang="en-US" altLang="ko-KR" sz="1000" b="1" dirty="0" err="1"/>
                <a:t>kubectl</a:t>
              </a:r>
              <a:r>
                <a:rPr lang="en-US" altLang="ko-KR" sz="1000" b="1" dirty="0"/>
                <a:t> describe </a:t>
              </a:r>
              <a:r>
                <a:rPr lang="en-US" altLang="ko-KR" sz="1000" b="1" dirty="0">
                  <a:solidFill>
                    <a:srgbClr val="FF0000"/>
                  </a:solidFill>
                </a:rPr>
                <a:t>cronjob hello</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BC885FBA-8953-4126-9DA9-75E0C0E17160}"/>
                </a:ext>
              </a:extLst>
            </p:cNvPr>
            <p:cNvSpPr/>
            <p:nvPr/>
          </p:nvSpPr>
          <p:spPr>
            <a:xfrm>
              <a:off x="5901891" y="2239818"/>
              <a:ext cx="388215" cy="30034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5958032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Summary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Remember :</a:t>
            </a:r>
          </a:p>
          <a:p>
            <a:pPr lvl="1">
              <a:buFont typeface="Wingdings" panose="05000000000000000000" pitchFamily="2" charset="2"/>
              <a:buChar char="§"/>
            </a:pPr>
            <a:r>
              <a:rPr lang="en-US" altLang="ko-KR" sz="1400" b="1" dirty="0"/>
              <a:t>On a single cluster, Kubernetes can handle both </a:t>
            </a:r>
            <a:r>
              <a:rPr lang="en-US" altLang="ko-KR" sz="1400" b="1" dirty="0">
                <a:solidFill>
                  <a:srgbClr val="FF0000"/>
                </a:solidFill>
              </a:rPr>
              <a:t>long-running workloads</a:t>
            </a:r>
            <a:r>
              <a:rPr lang="en-US" altLang="ko-KR" sz="1400" b="1" dirty="0"/>
              <a:t> such as web applications and </a:t>
            </a:r>
            <a:r>
              <a:rPr lang="en-US" altLang="ko-KR" sz="1400" b="1" dirty="0">
                <a:solidFill>
                  <a:srgbClr val="FF0000"/>
                </a:solidFill>
              </a:rPr>
              <a:t>short-lived workloads</a:t>
            </a:r>
            <a:r>
              <a:rPr lang="en-US" altLang="ko-KR" sz="1400" b="1" dirty="0"/>
              <a:t> such as </a:t>
            </a:r>
            <a:r>
              <a:rPr lang="en-US" altLang="ko-KR" sz="1400" b="1" dirty="0">
                <a:solidFill>
                  <a:srgbClr val="FF0000"/>
                </a:solidFill>
              </a:rPr>
              <a:t>batch jobs</a:t>
            </a:r>
            <a:r>
              <a:rPr lang="en-US" altLang="ko-KR" sz="1400" dirty="0"/>
              <a:t>. </a:t>
            </a:r>
            <a:r>
              <a:rPr lang="en-US" altLang="ko-KR" sz="1400" b="1" dirty="0"/>
              <a:t>The job abstraction allows you to model batch job patterns </a:t>
            </a:r>
            <a:r>
              <a:rPr lang="en-US" altLang="ko-KR" sz="1400" dirty="0"/>
              <a:t>ranging from simple </a:t>
            </a:r>
            <a:r>
              <a:rPr lang="en-US" altLang="ko-KR" sz="1400" b="1" dirty="0"/>
              <a:t>one-time tasks </a:t>
            </a:r>
            <a:r>
              <a:rPr lang="en-US" altLang="ko-KR" sz="1400" dirty="0"/>
              <a:t>to </a:t>
            </a:r>
            <a:r>
              <a:rPr lang="en-US" altLang="ko-KR" sz="1400" b="1" dirty="0"/>
              <a:t>parallel jobs </a:t>
            </a:r>
            <a:r>
              <a:rPr lang="en-US" altLang="ko-KR" sz="1400" dirty="0"/>
              <a:t>that process many items until work has been exhausted.</a:t>
            </a:r>
          </a:p>
          <a:p>
            <a:pPr lvl="1">
              <a:buFont typeface="Wingdings" panose="05000000000000000000" pitchFamily="2" charset="2"/>
              <a:buChar char="§"/>
            </a:pPr>
            <a:r>
              <a:rPr lang="en-US" altLang="ko-KR" sz="1400" b="1" dirty="0"/>
              <a:t>Jobs are a low-level primitive and can be used directly for simple workloads</a:t>
            </a:r>
            <a:r>
              <a:rPr lang="en-US" altLang="ko-KR" sz="1400" dirty="0"/>
              <a:t>. However, Kubernetes is built from the ground up to be extensible by higher-level objects. </a:t>
            </a:r>
            <a:r>
              <a:rPr lang="en-US" altLang="ko-KR" sz="1400" b="1" dirty="0"/>
              <a:t>Jobs</a:t>
            </a:r>
            <a:r>
              <a:rPr lang="en-US" altLang="ko-KR" sz="1400" dirty="0"/>
              <a:t> are no exception; they can easily be used by higher-level orchestration systems to take on more complex tasks.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8C7A916-FEB4-40A6-B477-28F6A452C3C3}"/>
              </a:ext>
            </a:extLst>
          </p:cNvPr>
          <p:cNvPicPr>
            <a:picLocks noChangeAspect="1"/>
          </p:cNvPicPr>
          <p:nvPr/>
        </p:nvPicPr>
        <p:blipFill>
          <a:blip r:embed="rId2"/>
          <a:stretch>
            <a:fillRect/>
          </a:stretch>
        </p:blipFill>
        <p:spPr>
          <a:xfrm>
            <a:off x="3581400" y="2543468"/>
            <a:ext cx="5024241" cy="3500437"/>
          </a:xfrm>
          <a:prstGeom prst="rect">
            <a:avLst/>
          </a:prstGeom>
        </p:spPr>
      </p:pic>
    </p:spTree>
    <p:extLst>
      <p:ext uri="{BB962C8B-B14F-4D97-AF65-F5344CB8AC3E}">
        <p14:creationId xmlns:p14="http://schemas.microsoft.com/office/powerpoint/2010/main" val="362528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err="1"/>
              <a:t>ConfigMaps</a:t>
            </a:r>
            <a:r>
              <a:rPr lang="en-US" altLang="ko-KR" sz="4400" b="1" dirty="0"/>
              <a:t> and Secrets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92885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Introduction</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is </a:t>
            </a:r>
            <a:r>
              <a:rPr lang="en-US" altLang="ko-KR" sz="1800" b="1" dirty="0" err="1"/>
              <a:t>ConfigMaps</a:t>
            </a:r>
            <a:r>
              <a:rPr lang="en-US" altLang="ko-KR" sz="1800" b="1" dirty="0"/>
              <a:t> and Secrets ? :</a:t>
            </a:r>
          </a:p>
          <a:p>
            <a:pPr lvl="1">
              <a:buFont typeface="Wingdings" panose="05000000000000000000" pitchFamily="2" charset="2"/>
              <a:buChar char="§"/>
            </a:pPr>
            <a:r>
              <a:rPr lang="en-US" altLang="ko-KR" sz="1400" b="1" dirty="0"/>
              <a:t>It is a good practice to make container images as reusable as possible</a:t>
            </a:r>
            <a:r>
              <a:rPr lang="en-US" altLang="ko-KR" sz="1400" dirty="0"/>
              <a:t>. The same image should be able to be used for development, staging, and production. It is even better if the same image is general-purpose enough to be used across applications and services. Testing and versioning get riskier and more complicated if images need to be recreated for each new environment. But then how do we </a:t>
            </a:r>
            <a:r>
              <a:rPr lang="en-US" altLang="ko-KR" sz="1400" b="1" dirty="0"/>
              <a:t>specialize the use of that image at runtime</a:t>
            </a:r>
            <a:r>
              <a:rPr lang="en-US" altLang="ko-KR" sz="1400" dirty="0"/>
              <a:t>?</a:t>
            </a:r>
          </a:p>
          <a:p>
            <a:pPr lvl="1">
              <a:buFont typeface="Wingdings" panose="05000000000000000000" pitchFamily="2" charset="2"/>
              <a:buChar char="§"/>
            </a:pPr>
            <a:r>
              <a:rPr lang="en-US" altLang="ko-KR" sz="1400" b="1" dirty="0"/>
              <a:t>This is where </a:t>
            </a:r>
            <a:r>
              <a:rPr lang="en-US" altLang="ko-KR" sz="1400" b="1" dirty="0" err="1">
                <a:solidFill>
                  <a:srgbClr val="FF0000"/>
                </a:solidFill>
              </a:rPr>
              <a:t>ConfigMaps</a:t>
            </a:r>
            <a:r>
              <a:rPr lang="en-US" altLang="ko-KR" sz="1400" b="1" dirty="0"/>
              <a:t> and </a:t>
            </a:r>
            <a:r>
              <a:rPr lang="en-US" altLang="ko-KR" sz="1400" b="1" dirty="0">
                <a:solidFill>
                  <a:srgbClr val="FF0000"/>
                </a:solidFill>
              </a:rPr>
              <a:t>secrets</a:t>
            </a:r>
            <a:r>
              <a:rPr lang="en-US" altLang="ko-KR" sz="1400" b="1" dirty="0"/>
              <a:t> come into play</a:t>
            </a:r>
            <a:r>
              <a:rPr lang="en-US" altLang="ko-KR" sz="1400" dirty="0"/>
              <a:t>. </a:t>
            </a:r>
            <a:r>
              <a:rPr lang="en-US" altLang="ko-KR" sz="1400" b="1" dirty="0" err="1"/>
              <a:t>ConfigMaps</a:t>
            </a:r>
            <a:r>
              <a:rPr lang="en-US" altLang="ko-KR" sz="1400" b="1" dirty="0"/>
              <a:t> are used to provide configuration information for workloads</a:t>
            </a:r>
            <a:r>
              <a:rPr lang="en-US" altLang="ko-KR" sz="1400" dirty="0"/>
              <a:t>. This can either be fine-grained information (a short string) or a composite value in the form of a file. </a:t>
            </a:r>
            <a:r>
              <a:rPr lang="en-US" altLang="ko-KR" sz="1400" b="1" dirty="0">
                <a:solidFill>
                  <a:srgbClr val="FF0000"/>
                </a:solidFill>
              </a:rPr>
              <a:t>Secrets</a:t>
            </a:r>
            <a:r>
              <a:rPr lang="en-US" altLang="ko-KR" sz="1400" b="1" dirty="0"/>
              <a:t> are similar to </a:t>
            </a:r>
            <a:r>
              <a:rPr lang="en-US" altLang="ko-KR" sz="1400" b="1" dirty="0" err="1"/>
              <a:t>ConfigMaps</a:t>
            </a:r>
            <a:r>
              <a:rPr lang="en-US" altLang="ko-KR" sz="1400" b="1" dirty="0"/>
              <a:t> but focused on making sensitive information available to the workload</a:t>
            </a:r>
            <a:r>
              <a:rPr lang="en-US" altLang="ko-KR" sz="1400" dirty="0"/>
              <a:t>. They can be used for things like </a:t>
            </a:r>
            <a:r>
              <a:rPr lang="en-US" altLang="ko-KR" sz="1400" b="1" dirty="0"/>
              <a:t>credentials</a:t>
            </a:r>
            <a:r>
              <a:rPr lang="en-US" altLang="ko-KR" sz="1400" dirty="0"/>
              <a:t> or </a:t>
            </a:r>
            <a:r>
              <a:rPr lang="en-US" altLang="ko-KR" sz="1400" b="1" dirty="0"/>
              <a:t>TLS certificates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76D649D-CFF1-458D-AB7F-DC298696A1FB}"/>
              </a:ext>
            </a:extLst>
          </p:cNvPr>
          <p:cNvPicPr>
            <a:picLocks noChangeAspect="1"/>
          </p:cNvPicPr>
          <p:nvPr/>
        </p:nvPicPr>
        <p:blipFill>
          <a:blip r:embed="rId2"/>
          <a:stretch>
            <a:fillRect/>
          </a:stretch>
        </p:blipFill>
        <p:spPr>
          <a:xfrm>
            <a:off x="3048000" y="3117532"/>
            <a:ext cx="6096000" cy="2695575"/>
          </a:xfrm>
          <a:prstGeom prst="rect">
            <a:avLst/>
          </a:prstGeom>
        </p:spPr>
      </p:pic>
    </p:spTree>
    <p:extLst>
      <p:ext uri="{BB962C8B-B14F-4D97-AF65-F5344CB8AC3E}">
        <p14:creationId xmlns:p14="http://schemas.microsoft.com/office/powerpoint/2010/main" val="10750807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ConfigMaps</a:t>
            </a:r>
            <a:r>
              <a:rPr lang="en-US" altLang="ko-KR" sz="2800" b="1" dirty="0"/>
              <a:t>(1/9)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Combining :</a:t>
            </a:r>
          </a:p>
          <a:p>
            <a:pPr lvl="1">
              <a:buFont typeface="Wingdings" panose="05000000000000000000" pitchFamily="2" charset="2"/>
              <a:buChar char="§"/>
            </a:pPr>
            <a:r>
              <a:rPr lang="en-US" altLang="ko-KR" sz="1400" b="1" dirty="0"/>
              <a:t>One way to think of a </a:t>
            </a:r>
            <a:r>
              <a:rPr lang="en-US" altLang="ko-KR" sz="1400" b="1" dirty="0" err="1"/>
              <a:t>ConfigMap</a:t>
            </a:r>
            <a:r>
              <a:rPr lang="en-US" altLang="ko-KR" sz="1400" b="1" dirty="0"/>
              <a:t> is as a Kubernetes object that defines a “small filesystem”</a:t>
            </a:r>
            <a:r>
              <a:rPr lang="en-US" altLang="ko-KR" sz="1400" dirty="0"/>
              <a:t>. </a:t>
            </a:r>
            <a:r>
              <a:rPr lang="en-US" altLang="ko-KR" sz="1400" b="1" dirty="0"/>
              <a:t>Another way is as “a set of variables” that can be used when defining the environment or command line for your containers</a:t>
            </a:r>
            <a:r>
              <a:rPr lang="en-US" altLang="ko-KR" sz="1400" dirty="0"/>
              <a:t>. The key thing is that </a:t>
            </a:r>
            <a:r>
              <a:rPr lang="en-US" altLang="ko-KR" sz="1400" b="1" dirty="0">
                <a:solidFill>
                  <a:srgbClr val="FF0000"/>
                </a:solidFill>
              </a:rPr>
              <a:t>the </a:t>
            </a:r>
            <a:r>
              <a:rPr lang="en-US" altLang="ko-KR" sz="1400" b="1" dirty="0" err="1">
                <a:solidFill>
                  <a:srgbClr val="FF0000"/>
                </a:solidFill>
              </a:rPr>
              <a:t>ConfigMap</a:t>
            </a:r>
            <a:r>
              <a:rPr lang="en-US" altLang="ko-KR" sz="1400" b="1" dirty="0">
                <a:solidFill>
                  <a:srgbClr val="FF0000"/>
                </a:solidFill>
              </a:rPr>
              <a:t> is combined with the Pod right before it is run</a:t>
            </a:r>
            <a:r>
              <a:rPr lang="en-US" altLang="ko-KR" sz="1400" dirty="0"/>
              <a:t>. This means that </a:t>
            </a:r>
            <a:r>
              <a:rPr lang="en-US" altLang="ko-KR" sz="1400" b="1" dirty="0"/>
              <a:t>the container image and the Pod definition itself can be reused across many apps by just changing the </a:t>
            </a:r>
            <a:r>
              <a:rPr lang="en-US" altLang="ko-KR" sz="1400" b="1" dirty="0" err="1"/>
              <a:t>ConfigMap</a:t>
            </a:r>
            <a:r>
              <a:rPr lang="en-US" altLang="ko-KR" sz="1400" b="1" dirty="0"/>
              <a:t> that is used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BF8072F-E898-4C1C-AD3C-AE9D6B51397B}"/>
              </a:ext>
            </a:extLst>
          </p:cNvPr>
          <p:cNvPicPr>
            <a:picLocks noChangeAspect="1"/>
          </p:cNvPicPr>
          <p:nvPr/>
        </p:nvPicPr>
        <p:blipFill>
          <a:blip r:embed="rId2"/>
          <a:stretch>
            <a:fillRect/>
          </a:stretch>
        </p:blipFill>
        <p:spPr>
          <a:xfrm>
            <a:off x="4840541" y="2442199"/>
            <a:ext cx="2510918" cy="3688080"/>
          </a:xfrm>
          <a:prstGeom prst="rect">
            <a:avLst/>
          </a:prstGeom>
        </p:spPr>
      </p:pic>
    </p:spTree>
    <p:extLst>
      <p:ext uri="{BB962C8B-B14F-4D97-AF65-F5344CB8AC3E}">
        <p14:creationId xmlns:p14="http://schemas.microsoft.com/office/powerpoint/2010/main" val="28356565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ConfigMaps</a:t>
            </a:r>
            <a:r>
              <a:rPr lang="en-US" altLang="ko-KR" sz="2800" b="1" dirty="0"/>
              <a:t>(2/9)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t>
            </a:r>
            <a:r>
              <a:rPr lang="en-US" altLang="ko-KR" sz="1800" b="1" dirty="0" err="1"/>
              <a:t>ConfigMaps</a:t>
            </a:r>
            <a:r>
              <a:rPr lang="en-US" altLang="ko-KR" sz="1800" b="1" dirty="0"/>
              <a:t> :</a:t>
            </a:r>
          </a:p>
          <a:p>
            <a:pPr lvl="1">
              <a:buFont typeface="Wingdings" panose="05000000000000000000" pitchFamily="2" charset="2"/>
              <a:buChar char="§"/>
            </a:pPr>
            <a:r>
              <a:rPr lang="en-US" altLang="ko-KR" sz="1400" b="1" dirty="0"/>
              <a:t>Like many objects in Kubernetes, you can create these in an immediate, imperative way, or you can create them from a manifest on disk</a:t>
            </a:r>
            <a:r>
              <a:rPr lang="en-US" altLang="ko-KR" sz="1400" dirty="0"/>
              <a:t>. We’ll start with the </a:t>
            </a:r>
            <a:r>
              <a:rPr lang="en-US" altLang="ko-KR" sz="1400" b="1" dirty="0"/>
              <a:t>imperative method. </a:t>
            </a:r>
            <a:r>
              <a:rPr lang="en-US" altLang="ko-KR" sz="1400" dirty="0"/>
              <a:t>First, suppose we have </a:t>
            </a:r>
            <a:r>
              <a:rPr lang="en-US" altLang="ko-KR" sz="1400" b="1" dirty="0"/>
              <a:t>a file on disk (called “my-config.txt”)</a:t>
            </a:r>
            <a:r>
              <a:rPr lang="en-US" altLang="ko-KR" sz="1400" dirty="0"/>
              <a:t> </a:t>
            </a:r>
            <a:r>
              <a:rPr lang="en-US" altLang="ko-KR" sz="1400" b="1" dirty="0"/>
              <a:t>that we want to make available to the Pod </a:t>
            </a:r>
            <a:r>
              <a:rPr lang="en-US" altLang="ko-KR" sz="1400" dirty="0"/>
              <a:t>in question.</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Next, let’s create a </a:t>
            </a:r>
            <a:r>
              <a:rPr lang="en-US" altLang="ko-KR" sz="1400" b="1" dirty="0" err="1"/>
              <a:t>ConfigMap</a:t>
            </a:r>
            <a:r>
              <a:rPr lang="en-US" altLang="ko-KR" sz="1400" b="1" dirty="0"/>
              <a:t> with that file</a:t>
            </a:r>
            <a:r>
              <a:rPr lang="en-US" altLang="ko-KR" sz="1400" dirty="0"/>
              <a:t>. We’ll also add a couple of simple key/value pairs here. These are referred to as </a:t>
            </a:r>
            <a:r>
              <a:rPr lang="en-US" altLang="ko-KR" sz="1400" b="1" dirty="0"/>
              <a:t>literal values </a:t>
            </a:r>
            <a:r>
              <a:rPr lang="en-US" altLang="ko-KR" sz="1400" dirty="0"/>
              <a:t>on the command line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12EE2452-0199-4479-8940-4D2748766A0D}"/>
              </a:ext>
            </a:extLst>
          </p:cNvPr>
          <p:cNvSpPr/>
          <p:nvPr/>
        </p:nvSpPr>
        <p:spPr>
          <a:xfrm>
            <a:off x="3048000" y="1838236"/>
            <a:ext cx="6096000" cy="553998"/>
          </a:xfrm>
          <a:prstGeom prst="rect">
            <a:avLst/>
          </a:prstGeom>
          <a:ln>
            <a:solidFill>
              <a:schemeClr val="bg1">
                <a:lumMod val="50000"/>
              </a:schemeClr>
            </a:solidFill>
          </a:ln>
        </p:spPr>
        <p:txBody>
          <a:bodyPr>
            <a:spAutoFit/>
          </a:bodyPr>
          <a:lstStyle/>
          <a:p>
            <a:r>
              <a:rPr lang="en-US" altLang="ko-KR" sz="1000" b="1" dirty="0"/>
              <a:t># This is a sample config file that I might use to configure an application</a:t>
            </a:r>
          </a:p>
          <a:p>
            <a:r>
              <a:rPr lang="en-US" altLang="ko-KR" sz="1000" b="1" dirty="0">
                <a:solidFill>
                  <a:srgbClr val="FF0000"/>
                </a:solidFill>
              </a:rPr>
              <a:t>parameter1 = value1</a:t>
            </a:r>
          </a:p>
          <a:p>
            <a:r>
              <a:rPr lang="en-US" altLang="ko-KR" sz="1000" b="1" dirty="0">
                <a:solidFill>
                  <a:srgbClr val="FF0000"/>
                </a:solidFill>
              </a:rPr>
              <a:t>parameter2 = value2</a:t>
            </a:r>
            <a:endParaRPr lang="ko-KR" altLang="en-US" sz="1000" b="1" dirty="0">
              <a:solidFill>
                <a:srgbClr val="FF0000"/>
              </a:solidFill>
            </a:endParaRPr>
          </a:p>
        </p:txBody>
      </p:sp>
      <p:grpSp>
        <p:nvGrpSpPr>
          <p:cNvPr id="11" name="그룹 10">
            <a:extLst>
              <a:ext uri="{FF2B5EF4-FFF2-40B4-BE49-F238E27FC236}">
                <a16:creationId xmlns:a16="http://schemas.microsoft.com/office/drawing/2014/main" id="{61221DA6-1FCC-4F1B-8061-AF68C8FEF8B8}"/>
              </a:ext>
            </a:extLst>
          </p:cNvPr>
          <p:cNvGrpSpPr/>
          <p:nvPr/>
        </p:nvGrpSpPr>
        <p:grpSpPr>
          <a:xfrm>
            <a:off x="1333500" y="3049816"/>
            <a:ext cx="9525000" cy="3342285"/>
            <a:chOff x="1333500" y="3049816"/>
            <a:chExt cx="9525000" cy="3342285"/>
          </a:xfrm>
        </p:grpSpPr>
        <p:sp>
          <p:nvSpPr>
            <p:cNvPr id="8" name="직사각형 7">
              <a:extLst>
                <a:ext uri="{FF2B5EF4-FFF2-40B4-BE49-F238E27FC236}">
                  <a16:creationId xmlns:a16="http://schemas.microsoft.com/office/drawing/2014/main" id="{CE88159D-C039-4049-9E18-4D4897D18579}"/>
                </a:ext>
              </a:extLst>
            </p:cNvPr>
            <p:cNvSpPr/>
            <p:nvPr/>
          </p:nvSpPr>
          <p:spPr>
            <a:xfrm>
              <a:off x="3048000" y="3049816"/>
              <a:ext cx="6096000" cy="707886"/>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create </a:t>
              </a:r>
              <a:r>
                <a:rPr lang="en-US" altLang="ko-KR" sz="1000" b="1" dirty="0" err="1"/>
                <a:t>configmap</a:t>
              </a:r>
              <a:r>
                <a:rPr lang="en-US" altLang="ko-KR" sz="1000" b="1" dirty="0"/>
                <a:t> </a:t>
              </a:r>
              <a:r>
                <a:rPr lang="en-US" altLang="ko-KR" sz="1000" b="1" dirty="0">
                  <a:solidFill>
                    <a:srgbClr val="FF0000"/>
                  </a:solidFill>
                </a:rPr>
                <a:t>my-config</a:t>
              </a:r>
              <a:r>
                <a:rPr lang="en-US" altLang="ko-KR" sz="1000" b="1" dirty="0"/>
                <a:t> \</a:t>
              </a:r>
            </a:p>
            <a:p>
              <a:r>
                <a:rPr lang="en-US" altLang="ko-KR" sz="1000" b="1" dirty="0">
                  <a:solidFill>
                    <a:srgbClr val="FF0000"/>
                  </a:solidFill>
                </a:rPr>
                <a:t>--from-file=my-config.txt </a:t>
              </a:r>
              <a:r>
                <a:rPr lang="en-US" altLang="ko-KR" sz="1000" b="1" dirty="0"/>
                <a:t>\</a:t>
              </a:r>
            </a:p>
            <a:p>
              <a:r>
                <a:rPr lang="en-US" altLang="ko-KR" sz="1000" b="1" dirty="0">
                  <a:solidFill>
                    <a:srgbClr val="FF0000"/>
                  </a:solidFill>
                </a:rPr>
                <a:t>--from-literal=extra-param=extra-value</a:t>
              </a:r>
              <a:r>
                <a:rPr lang="en-US" altLang="ko-KR" sz="1000" b="1" dirty="0"/>
                <a:t> \</a:t>
              </a:r>
            </a:p>
            <a:p>
              <a:r>
                <a:rPr lang="en-US" altLang="ko-KR" sz="1000" b="1" dirty="0">
                  <a:solidFill>
                    <a:srgbClr val="FF0000"/>
                  </a:solidFill>
                </a:rPr>
                <a:t>--from-literal=another-param=another-value</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214B185D-5E15-4D2E-86FB-EBA639173837}"/>
                </a:ext>
              </a:extLst>
            </p:cNvPr>
            <p:cNvSpPr/>
            <p:nvPr/>
          </p:nvSpPr>
          <p:spPr>
            <a:xfrm>
              <a:off x="5890260" y="3757702"/>
              <a:ext cx="403860" cy="23622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896FE05C-6793-497E-AF7D-E903E2355499}"/>
                </a:ext>
              </a:extLst>
            </p:cNvPr>
            <p:cNvPicPr>
              <a:picLocks noChangeAspect="1"/>
            </p:cNvPicPr>
            <p:nvPr/>
          </p:nvPicPr>
          <p:blipFill>
            <a:blip r:embed="rId2"/>
            <a:stretch>
              <a:fillRect/>
            </a:stretch>
          </p:blipFill>
          <p:spPr>
            <a:xfrm>
              <a:off x="1333500" y="4010851"/>
              <a:ext cx="9525000" cy="2381250"/>
            </a:xfrm>
            <a:prstGeom prst="rect">
              <a:avLst/>
            </a:prstGeom>
            <a:ln>
              <a:solidFill>
                <a:schemeClr val="bg1">
                  <a:lumMod val="50000"/>
                </a:schemeClr>
              </a:solidFill>
            </a:ln>
          </p:spPr>
        </p:pic>
      </p:grpSp>
    </p:spTree>
    <p:extLst>
      <p:ext uri="{BB962C8B-B14F-4D97-AF65-F5344CB8AC3E}">
        <p14:creationId xmlns:p14="http://schemas.microsoft.com/office/powerpoint/2010/main" val="18088240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ConfigMaps</a:t>
            </a:r>
            <a:r>
              <a:rPr lang="en-US" altLang="ko-KR" sz="2800" b="1" dirty="0"/>
              <a:t>(3/9)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t>
            </a:r>
            <a:r>
              <a:rPr lang="en-US" altLang="ko-KR" sz="1800" b="1" dirty="0" err="1"/>
              <a:t>ConfigMaps</a:t>
            </a:r>
            <a:r>
              <a:rPr lang="en-US" altLang="ko-KR" sz="1800" b="1" dirty="0"/>
              <a:t> :</a:t>
            </a:r>
          </a:p>
          <a:p>
            <a:pPr lvl="1">
              <a:buFont typeface="Wingdings" panose="05000000000000000000" pitchFamily="2" charset="2"/>
              <a:buChar char="§"/>
            </a:pPr>
            <a:r>
              <a:rPr lang="en-US" altLang="ko-KR" sz="1400" b="1" dirty="0"/>
              <a:t>The equivalent YAML for the </a:t>
            </a:r>
            <a:r>
              <a:rPr lang="en-US" altLang="ko-KR" sz="1400" b="1" dirty="0" err="1"/>
              <a:t>ConfigMap</a:t>
            </a:r>
            <a:r>
              <a:rPr lang="en-US" altLang="ko-KR" sz="1400" b="1" dirty="0"/>
              <a:t> object </a:t>
            </a:r>
            <a:r>
              <a:rPr lang="en-US" altLang="ko-KR" sz="1400" dirty="0"/>
              <a:t>we just created is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a:t>
            </a:r>
            <a:r>
              <a:rPr lang="en-US" altLang="ko-KR" sz="1400" b="1" dirty="0" err="1"/>
              <a:t>ConfigMap</a:t>
            </a:r>
            <a:r>
              <a:rPr lang="en-US" altLang="ko-KR" sz="1400" b="1" dirty="0"/>
              <a:t> is really just some “</a:t>
            </a:r>
            <a:r>
              <a:rPr lang="en-US" altLang="ko-KR" sz="1400" b="1" dirty="0">
                <a:solidFill>
                  <a:srgbClr val="FF0000"/>
                </a:solidFill>
              </a:rPr>
              <a:t>key/value pairs</a:t>
            </a:r>
            <a:r>
              <a:rPr lang="en-US" altLang="ko-KR" sz="1400" b="1" dirty="0"/>
              <a:t>” stored in an object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FFA0AF2A-45FF-42CC-8F4E-EF26F565A381}"/>
              </a:ext>
            </a:extLst>
          </p:cNvPr>
          <p:cNvGrpSpPr/>
          <p:nvPr/>
        </p:nvGrpSpPr>
        <p:grpSpPr>
          <a:xfrm>
            <a:off x="1333500" y="1571698"/>
            <a:ext cx="9525000" cy="4040040"/>
            <a:chOff x="1333500" y="1476494"/>
            <a:chExt cx="9525000" cy="4040040"/>
          </a:xfrm>
        </p:grpSpPr>
        <p:sp>
          <p:nvSpPr>
            <p:cNvPr id="4" name="직사각형 3">
              <a:extLst>
                <a:ext uri="{FF2B5EF4-FFF2-40B4-BE49-F238E27FC236}">
                  <a16:creationId xmlns:a16="http://schemas.microsoft.com/office/drawing/2014/main" id="{D3033782-42A6-44F9-A23C-051047C4DE65}"/>
                </a:ext>
              </a:extLst>
            </p:cNvPr>
            <p:cNvSpPr/>
            <p:nvPr/>
          </p:nvSpPr>
          <p:spPr>
            <a:xfrm>
              <a:off x="4627489" y="1476494"/>
              <a:ext cx="2937022"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get </a:t>
              </a:r>
              <a:r>
                <a:rPr lang="en-US" altLang="ko-KR" sz="1000" b="1" dirty="0" err="1"/>
                <a:t>configmaps</a:t>
              </a:r>
              <a:r>
                <a:rPr lang="en-US" altLang="ko-KR" sz="1000" b="1" dirty="0"/>
                <a:t> </a:t>
              </a:r>
              <a:r>
                <a:rPr lang="en-US" altLang="ko-KR" sz="1000" b="1" dirty="0">
                  <a:solidFill>
                    <a:srgbClr val="FF0000"/>
                  </a:solidFill>
                </a:rPr>
                <a:t>my-config</a:t>
              </a:r>
              <a:r>
                <a:rPr lang="en-US" altLang="ko-KR" sz="1000" b="1" dirty="0"/>
                <a:t> </a:t>
              </a:r>
              <a:r>
                <a:rPr lang="en-US" altLang="ko-KR" sz="1000" b="1" dirty="0">
                  <a:solidFill>
                    <a:srgbClr val="FF0000"/>
                  </a:solidFill>
                </a:rPr>
                <a:t>-o </a:t>
              </a:r>
              <a:r>
                <a:rPr lang="en-US" altLang="ko-KR" sz="1000" b="1" dirty="0" err="1">
                  <a:solidFill>
                    <a:srgbClr val="FF0000"/>
                  </a:solidFill>
                </a:rPr>
                <a:t>yaml</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CB411EB5-1AFA-4F4F-94C1-619B0EBA180A}"/>
                </a:ext>
              </a:extLst>
            </p:cNvPr>
            <p:cNvSpPr/>
            <p:nvPr/>
          </p:nvSpPr>
          <p:spPr>
            <a:xfrm>
              <a:off x="5886450" y="1746057"/>
              <a:ext cx="419100" cy="25146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54F749DD-F924-4D16-96E5-879F163C541A}"/>
                </a:ext>
              </a:extLst>
            </p:cNvPr>
            <p:cNvPicPr>
              <a:picLocks noChangeAspect="1"/>
            </p:cNvPicPr>
            <p:nvPr/>
          </p:nvPicPr>
          <p:blipFill>
            <a:blip r:embed="rId2"/>
            <a:stretch>
              <a:fillRect/>
            </a:stretch>
          </p:blipFill>
          <p:spPr>
            <a:xfrm>
              <a:off x="1333500" y="2020859"/>
              <a:ext cx="9525000" cy="3495675"/>
            </a:xfrm>
            <a:prstGeom prst="rect">
              <a:avLst/>
            </a:prstGeom>
            <a:ln>
              <a:solidFill>
                <a:schemeClr val="bg1">
                  <a:lumMod val="50000"/>
                </a:schemeClr>
              </a:solidFill>
            </a:ln>
          </p:spPr>
        </p:pic>
        <p:sp>
          <p:nvSpPr>
            <p:cNvPr id="10" name="직사각형 9">
              <a:extLst>
                <a:ext uri="{FF2B5EF4-FFF2-40B4-BE49-F238E27FC236}">
                  <a16:creationId xmlns:a16="http://schemas.microsoft.com/office/drawing/2014/main" id="{D00B874D-175E-4890-8B9B-336BCECA6DAA}"/>
                </a:ext>
              </a:extLst>
            </p:cNvPr>
            <p:cNvSpPr/>
            <p:nvPr/>
          </p:nvSpPr>
          <p:spPr>
            <a:xfrm>
              <a:off x="1744979" y="3520440"/>
              <a:ext cx="5819531" cy="54038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0428304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ConfigMaps</a:t>
            </a:r>
            <a:r>
              <a:rPr lang="en-US" altLang="ko-KR" sz="2800" b="1" dirty="0"/>
              <a:t>(4/9)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 </a:t>
            </a:r>
            <a:r>
              <a:rPr lang="en-US" altLang="ko-KR" sz="1800" b="1" dirty="0" err="1"/>
              <a:t>ConfigMap</a:t>
            </a:r>
            <a:r>
              <a:rPr lang="en-US" altLang="ko-KR" sz="1800" b="1" dirty="0"/>
              <a:t> :</a:t>
            </a:r>
          </a:p>
          <a:p>
            <a:pPr lvl="1">
              <a:buFont typeface="Wingdings" panose="05000000000000000000" pitchFamily="2" charset="2"/>
              <a:buChar char="§"/>
            </a:pPr>
            <a:r>
              <a:rPr lang="en-US" altLang="ko-KR" sz="1400" dirty="0"/>
              <a:t>There are three main ways to use a </a:t>
            </a:r>
            <a:r>
              <a:rPr lang="en-US" altLang="ko-KR" sz="1400" b="1" dirty="0" err="1"/>
              <a:t>ConfigMap</a:t>
            </a:r>
            <a:r>
              <a:rPr lang="en-US" altLang="ko-KR" sz="1400" dirty="0"/>
              <a:t> :</a:t>
            </a:r>
          </a:p>
          <a:p>
            <a:pPr lvl="2">
              <a:buFont typeface="Wingdings" panose="05000000000000000000" pitchFamily="2" charset="2"/>
              <a:buChar char="§"/>
            </a:pPr>
            <a:r>
              <a:rPr lang="en-US" altLang="ko-KR" sz="1400" b="1" dirty="0">
                <a:solidFill>
                  <a:srgbClr val="FF0000"/>
                </a:solidFill>
              </a:rPr>
              <a:t>Filesystem</a:t>
            </a:r>
            <a:r>
              <a:rPr lang="en-US" altLang="ko-KR" sz="1400" dirty="0"/>
              <a:t> - You can </a:t>
            </a:r>
            <a:r>
              <a:rPr lang="en-US" altLang="ko-KR" sz="1400" b="1" dirty="0"/>
              <a:t>mount a </a:t>
            </a:r>
            <a:r>
              <a:rPr lang="en-US" altLang="ko-KR" sz="1400" b="1" dirty="0" err="1"/>
              <a:t>ConfigMap</a:t>
            </a:r>
            <a:r>
              <a:rPr lang="en-US" altLang="ko-KR" sz="1400" b="1" dirty="0"/>
              <a:t> into a Pod</a:t>
            </a:r>
            <a:r>
              <a:rPr lang="en-US" altLang="ko-KR" sz="1400" dirty="0"/>
              <a:t>. </a:t>
            </a:r>
            <a:r>
              <a:rPr lang="en-US" altLang="ko-KR" sz="1400" b="1" dirty="0"/>
              <a:t>A file is created for each entry based on the key name</a:t>
            </a:r>
            <a:r>
              <a:rPr lang="en-US" altLang="ko-KR" sz="1400" dirty="0"/>
              <a:t>. </a:t>
            </a:r>
            <a:r>
              <a:rPr lang="en-US" altLang="ko-KR" sz="1400" b="1" dirty="0"/>
              <a:t>The contents of that file are set to the value</a:t>
            </a:r>
            <a:r>
              <a:rPr lang="en-US" altLang="ko-KR" sz="1400" dirty="0"/>
              <a:t>.</a:t>
            </a:r>
          </a:p>
          <a:p>
            <a:pPr lvl="2">
              <a:buFont typeface="Wingdings" panose="05000000000000000000" pitchFamily="2" charset="2"/>
              <a:buChar char="§"/>
            </a:pPr>
            <a:r>
              <a:rPr lang="en-US" altLang="ko-KR" sz="1400" b="1" dirty="0">
                <a:solidFill>
                  <a:srgbClr val="FF0000"/>
                </a:solidFill>
              </a:rPr>
              <a:t>Environment variable </a:t>
            </a:r>
            <a:r>
              <a:rPr lang="en-US" altLang="ko-KR" sz="1400" dirty="0"/>
              <a:t>- A </a:t>
            </a:r>
            <a:r>
              <a:rPr lang="en-US" altLang="ko-KR" sz="1400" b="1" dirty="0" err="1"/>
              <a:t>ConfigMap</a:t>
            </a:r>
            <a:r>
              <a:rPr lang="en-US" altLang="ko-KR" sz="1400" dirty="0"/>
              <a:t> can be used to </a:t>
            </a:r>
            <a:r>
              <a:rPr lang="en-US" altLang="ko-KR" sz="1400" b="1" dirty="0"/>
              <a:t>dynamically set the value of an environment variable</a:t>
            </a:r>
            <a:r>
              <a:rPr lang="en-US" altLang="ko-KR" sz="1400" dirty="0"/>
              <a:t>.</a:t>
            </a:r>
          </a:p>
          <a:p>
            <a:pPr lvl="2">
              <a:buFont typeface="Wingdings" panose="05000000000000000000" pitchFamily="2" charset="2"/>
              <a:buChar char="§"/>
            </a:pPr>
            <a:r>
              <a:rPr lang="en-US" altLang="ko-KR" sz="1400" b="1" dirty="0">
                <a:solidFill>
                  <a:srgbClr val="FF0000"/>
                </a:solidFill>
              </a:rPr>
              <a:t>Command-line argument </a:t>
            </a:r>
            <a:r>
              <a:rPr lang="en-US" altLang="ko-KR" sz="1400" dirty="0"/>
              <a:t>- Kubernetes supports </a:t>
            </a:r>
            <a:r>
              <a:rPr lang="en-US" altLang="ko-KR" sz="1400" b="1" dirty="0"/>
              <a:t>dynamically creating the command line for a container based on </a:t>
            </a:r>
            <a:r>
              <a:rPr lang="en-US" altLang="ko-KR" sz="1400" b="1" dirty="0" err="1"/>
              <a:t>ConfigMap</a:t>
            </a:r>
            <a:r>
              <a:rPr lang="en-US" altLang="ko-KR" sz="1400" b="1" dirty="0"/>
              <a:t> values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724746A1-4DFC-4C86-8987-668A47734866}"/>
              </a:ext>
            </a:extLst>
          </p:cNvPr>
          <p:cNvPicPr>
            <a:picLocks noChangeAspect="1"/>
          </p:cNvPicPr>
          <p:nvPr/>
        </p:nvPicPr>
        <p:blipFill>
          <a:blip r:embed="rId2"/>
          <a:stretch>
            <a:fillRect/>
          </a:stretch>
        </p:blipFill>
        <p:spPr>
          <a:xfrm>
            <a:off x="4132400" y="2598712"/>
            <a:ext cx="3927199" cy="3810318"/>
          </a:xfrm>
          <a:prstGeom prst="rect">
            <a:avLst/>
          </a:prstGeom>
        </p:spPr>
      </p:pic>
    </p:spTree>
    <p:extLst>
      <p:ext uri="{BB962C8B-B14F-4D97-AF65-F5344CB8AC3E}">
        <p14:creationId xmlns:p14="http://schemas.microsoft.com/office/powerpoint/2010/main" val="38444112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ConfigMaps</a:t>
            </a:r>
            <a:r>
              <a:rPr lang="en-US" altLang="ko-KR" sz="2800" b="1" dirty="0"/>
              <a:t>(5/9)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 </a:t>
            </a:r>
            <a:r>
              <a:rPr lang="en-US" altLang="ko-KR" sz="1800" b="1" dirty="0" err="1"/>
              <a:t>ConfigMap</a:t>
            </a:r>
            <a:r>
              <a:rPr lang="en-US" altLang="ko-KR" sz="1800" b="1" dirty="0"/>
              <a:t> :</a:t>
            </a:r>
          </a:p>
          <a:p>
            <a:pPr lvl="1">
              <a:buFont typeface="Wingdings" panose="05000000000000000000" pitchFamily="2" charset="2"/>
              <a:buChar char="§"/>
            </a:pPr>
            <a:r>
              <a:rPr lang="en-US" altLang="ko-KR" sz="1400" dirty="0"/>
              <a:t>Let’s create a manifest for “</a:t>
            </a:r>
            <a:r>
              <a:rPr lang="en-US" altLang="ko-KR" sz="1400" b="1" dirty="0" err="1"/>
              <a:t>kuard</a:t>
            </a:r>
            <a:r>
              <a:rPr lang="en-US" altLang="ko-KR" sz="1400" dirty="0"/>
              <a:t>” that pulls all of these </a:t>
            </a:r>
            <a:r>
              <a:rPr lang="en-US" altLang="ko-KR" sz="1400" b="1" dirty="0"/>
              <a:t>together</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ED77FBC2-D3D4-4646-8541-E62303F3F316}"/>
              </a:ext>
            </a:extLst>
          </p:cNvPr>
          <p:cNvGrpSpPr/>
          <p:nvPr/>
        </p:nvGrpSpPr>
        <p:grpSpPr>
          <a:xfrm>
            <a:off x="3048000" y="1397224"/>
            <a:ext cx="6096000" cy="5109091"/>
            <a:chOff x="3048000" y="1400111"/>
            <a:chExt cx="6096000" cy="5109091"/>
          </a:xfrm>
        </p:grpSpPr>
        <p:sp>
          <p:nvSpPr>
            <p:cNvPr id="4" name="직사각형 3">
              <a:extLst>
                <a:ext uri="{FF2B5EF4-FFF2-40B4-BE49-F238E27FC236}">
                  <a16:creationId xmlns:a16="http://schemas.microsoft.com/office/drawing/2014/main" id="{31E5491C-D8EA-440A-93ED-009AF589D0F6}"/>
                </a:ext>
              </a:extLst>
            </p:cNvPr>
            <p:cNvSpPr/>
            <p:nvPr/>
          </p:nvSpPr>
          <p:spPr>
            <a:xfrm>
              <a:off x="3048000" y="1400111"/>
              <a:ext cx="6096000" cy="4862870"/>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t>
              </a:r>
              <a:r>
                <a:rPr lang="en-US" altLang="ko-KR" sz="1000" b="1" dirty="0">
                  <a:solidFill>
                    <a:srgbClr val="FF0000"/>
                  </a:solidFill>
                </a:rPr>
                <a:t>v1</a:t>
              </a:r>
            </a:p>
            <a:p>
              <a:r>
                <a:rPr lang="en-US" altLang="ko-KR" sz="1000" b="1" dirty="0"/>
                <a:t>kind: Pod</a:t>
              </a:r>
            </a:p>
            <a:p>
              <a:r>
                <a:rPr lang="en-US" altLang="ko-KR" sz="1000" b="1" dirty="0"/>
                <a:t>metadata:</a:t>
              </a:r>
            </a:p>
            <a:p>
              <a:r>
                <a:rPr lang="en-US" altLang="ko-KR" sz="1000" b="1" dirty="0"/>
                <a:t>  name: </a:t>
              </a:r>
              <a:r>
                <a:rPr lang="en-US" altLang="ko-KR" sz="1000" b="1" dirty="0" err="1">
                  <a:solidFill>
                    <a:srgbClr val="FF0000"/>
                  </a:solidFill>
                </a:rPr>
                <a:t>kuard</a:t>
              </a:r>
              <a:r>
                <a:rPr lang="en-US" altLang="ko-KR" sz="1000" b="1" dirty="0">
                  <a:solidFill>
                    <a:srgbClr val="FF0000"/>
                  </a:solidFill>
                </a:rPr>
                <a:t>-config</a:t>
              </a:r>
            </a:p>
            <a:p>
              <a:r>
                <a:rPr lang="en-US" altLang="ko-KR" sz="1000" b="1" dirty="0"/>
                <a:t>spec:</a:t>
              </a:r>
            </a:p>
            <a:p>
              <a:r>
                <a:rPr lang="en-US" altLang="ko-KR" sz="1000" b="1" dirty="0"/>
                <a:t>  containers:</a:t>
              </a:r>
            </a:p>
            <a:p>
              <a:r>
                <a:rPr lang="en-US" altLang="ko-KR" sz="1000" b="1" dirty="0"/>
                <a:t>    - name: test-container</a:t>
              </a:r>
            </a:p>
            <a:p>
              <a:r>
                <a:rPr lang="en-US" altLang="ko-KR" sz="1000" b="1" dirty="0"/>
                <a:t>      image: </a:t>
              </a:r>
              <a:r>
                <a:rPr lang="en-US" altLang="ko-KR" sz="1000" b="1" dirty="0">
                  <a:solidFill>
                    <a:srgbClr val="FF0000"/>
                  </a:solidFill>
                </a:rPr>
                <a:t>gcr.io/</a:t>
              </a:r>
              <a:r>
                <a:rPr lang="en-US" altLang="ko-KR" sz="1000" b="1" dirty="0" err="1">
                  <a:solidFill>
                    <a:srgbClr val="FF0000"/>
                  </a:solidFill>
                </a:rPr>
                <a:t>kuar</a:t>
              </a:r>
              <a:r>
                <a:rPr lang="en-US" altLang="ko-KR" sz="1000" b="1" dirty="0">
                  <a:solidFill>
                    <a:srgbClr val="FF0000"/>
                  </a:solidFill>
                </a:rPr>
                <a:t>-demo/kuard-amd64:1</a:t>
              </a:r>
            </a:p>
            <a:p>
              <a:r>
                <a:rPr lang="en-US" altLang="ko-KR" sz="1000" b="1" dirty="0"/>
                <a:t>      </a:t>
              </a:r>
              <a:r>
                <a:rPr lang="en-US" altLang="ko-KR" sz="1000" b="1" dirty="0" err="1"/>
                <a:t>imagePullPolicy</a:t>
              </a:r>
              <a:r>
                <a:rPr lang="en-US" altLang="ko-KR" sz="1000" b="1" dirty="0"/>
                <a:t>: Always</a:t>
              </a:r>
            </a:p>
            <a:p>
              <a:r>
                <a:rPr lang="en-US" altLang="ko-KR" sz="1000" b="1" dirty="0"/>
                <a:t>      command:</a:t>
              </a:r>
            </a:p>
            <a:p>
              <a:r>
                <a:rPr lang="en-US" altLang="ko-KR" sz="1000" b="1" dirty="0"/>
                <a:t>        - "</a:t>
              </a:r>
              <a:r>
                <a:rPr lang="en-US" altLang="ko-KR" sz="1000" b="1" dirty="0">
                  <a:solidFill>
                    <a:srgbClr val="FF0000"/>
                  </a:solidFill>
                </a:rPr>
                <a:t>/</a:t>
              </a:r>
              <a:r>
                <a:rPr lang="en-US" altLang="ko-KR" sz="1000" b="1" dirty="0" err="1">
                  <a:solidFill>
                    <a:srgbClr val="FF0000"/>
                  </a:solidFill>
                </a:rPr>
                <a:t>kuard</a:t>
              </a:r>
              <a:r>
                <a:rPr lang="en-US" altLang="ko-KR" sz="1000" b="1" dirty="0"/>
                <a:t>"</a:t>
              </a:r>
            </a:p>
            <a:p>
              <a:r>
                <a:rPr lang="en-US" altLang="ko-KR" sz="1000" b="1" dirty="0"/>
                <a:t>        - "</a:t>
              </a:r>
              <a:r>
                <a:rPr lang="en-US" altLang="ko-KR" sz="1000" b="1" dirty="0">
                  <a:solidFill>
                    <a:srgbClr val="FF0000"/>
                  </a:solidFill>
                </a:rPr>
                <a:t>$(EXTRA_PARAM)</a:t>
              </a:r>
              <a:r>
                <a:rPr lang="en-US" altLang="ko-KR" sz="1000" b="1" dirty="0"/>
                <a:t>"</a:t>
              </a:r>
            </a:p>
            <a:p>
              <a:r>
                <a:rPr lang="en-US" altLang="ko-KR" sz="1000" b="1" dirty="0"/>
                <a:t>      env:</a:t>
              </a:r>
            </a:p>
            <a:p>
              <a:r>
                <a:rPr lang="en-US" altLang="ko-KR" sz="1000" b="1" dirty="0"/>
                <a:t>        - name: </a:t>
              </a:r>
              <a:r>
                <a:rPr lang="en-US" altLang="ko-KR" sz="1000" b="1" dirty="0">
                  <a:solidFill>
                    <a:srgbClr val="FF0000"/>
                  </a:solidFill>
                </a:rPr>
                <a:t>ANOTHER_PARAM</a:t>
              </a:r>
            </a:p>
            <a:p>
              <a:r>
                <a:rPr lang="en-US" altLang="ko-KR" sz="1000" b="1" dirty="0"/>
                <a:t>          </a:t>
              </a:r>
              <a:r>
                <a:rPr lang="en-US" altLang="ko-KR" sz="1000" b="1" dirty="0" err="1"/>
                <a:t>valueFrom</a:t>
              </a:r>
              <a:r>
                <a:rPr lang="en-US" altLang="ko-KR" sz="1000" b="1" dirty="0"/>
                <a:t>:</a:t>
              </a:r>
            </a:p>
            <a:p>
              <a:r>
                <a:rPr lang="en-US" altLang="ko-KR" sz="1000" b="1" dirty="0">
                  <a:solidFill>
                    <a:srgbClr val="FF0000"/>
                  </a:solidFill>
                </a:rPr>
                <a:t>            </a:t>
              </a:r>
              <a:r>
                <a:rPr lang="en-US" altLang="ko-KR" sz="1000" b="1" dirty="0" err="1">
                  <a:solidFill>
                    <a:srgbClr val="FF0000"/>
                  </a:solidFill>
                </a:rPr>
                <a:t>configMapKeyRef</a:t>
              </a:r>
              <a:r>
                <a:rPr lang="en-US" altLang="ko-KR" sz="1000" b="1" dirty="0">
                  <a:solidFill>
                    <a:srgbClr val="FF0000"/>
                  </a:solidFill>
                </a:rPr>
                <a:t>:</a:t>
              </a:r>
            </a:p>
            <a:p>
              <a:r>
                <a:rPr lang="en-US" altLang="ko-KR" sz="1000" b="1" dirty="0">
                  <a:solidFill>
                    <a:srgbClr val="FF0000"/>
                  </a:solidFill>
                </a:rPr>
                <a:t>              name: my-config</a:t>
              </a:r>
            </a:p>
            <a:p>
              <a:r>
                <a:rPr lang="en-US" altLang="ko-KR" sz="1000" b="1" dirty="0">
                  <a:solidFill>
                    <a:srgbClr val="FF0000"/>
                  </a:solidFill>
                </a:rPr>
                <a:t>              key: another-param</a:t>
              </a:r>
            </a:p>
            <a:p>
              <a:r>
                <a:rPr lang="en-US" altLang="ko-KR" sz="1000" b="1" dirty="0"/>
                <a:t>        - name: </a:t>
              </a:r>
              <a:r>
                <a:rPr lang="en-US" altLang="ko-KR" sz="1000" b="1" dirty="0">
                  <a:solidFill>
                    <a:srgbClr val="FF0000"/>
                  </a:solidFill>
                </a:rPr>
                <a:t>EXTRA_PARAM</a:t>
              </a:r>
            </a:p>
            <a:p>
              <a:r>
                <a:rPr lang="en-US" altLang="ko-KR" sz="1000" b="1" dirty="0"/>
                <a:t>          </a:t>
              </a:r>
              <a:r>
                <a:rPr lang="en-US" altLang="ko-KR" sz="1000" b="1" dirty="0" err="1"/>
                <a:t>valueFrom</a:t>
              </a:r>
              <a:r>
                <a:rPr lang="en-US" altLang="ko-KR" sz="1000" b="1" dirty="0"/>
                <a:t>:</a:t>
              </a:r>
            </a:p>
            <a:p>
              <a:r>
                <a:rPr lang="en-US" altLang="ko-KR" sz="1000" b="1" dirty="0">
                  <a:solidFill>
                    <a:srgbClr val="FF0000"/>
                  </a:solidFill>
                </a:rPr>
                <a:t>            </a:t>
              </a:r>
              <a:r>
                <a:rPr lang="en-US" altLang="ko-KR" sz="1000" b="1" dirty="0" err="1">
                  <a:solidFill>
                    <a:srgbClr val="FF0000"/>
                  </a:solidFill>
                </a:rPr>
                <a:t>configMapKeyRef</a:t>
              </a:r>
              <a:r>
                <a:rPr lang="en-US" altLang="ko-KR" sz="1000" b="1" dirty="0">
                  <a:solidFill>
                    <a:srgbClr val="FF0000"/>
                  </a:solidFill>
                </a:rPr>
                <a:t>:</a:t>
              </a:r>
            </a:p>
            <a:p>
              <a:r>
                <a:rPr lang="en-US" altLang="ko-KR" sz="1000" b="1" dirty="0">
                  <a:solidFill>
                    <a:srgbClr val="FF0000"/>
                  </a:solidFill>
                </a:rPr>
                <a:t>              name: my-config</a:t>
              </a:r>
            </a:p>
            <a:p>
              <a:r>
                <a:rPr lang="en-US" altLang="ko-KR" sz="1000" b="1" dirty="0">
                  <a:solidFill>
                    <a:srgbClr val="FF0000"/>
                  </a:solidFill>
                </a:rPr>
                <a:t>              key: extra-param</a:t>
              </a:r>
            </a:p>
            <a:p>
              <a:r>
                <a:rPr lang="en-US" altLang="ko-KR" sz="1000" b="1" dirty="0"/>
                <a:t>      </a:t>
              </a:r>
              <a:r>
                <a:rPr lang="en-US" altLang="ko-KR" sz="1000" b="1" dirty="0" err="1"/>
                <a:t>volumeMounts</a:t>
              </a:r>
              <a:r>
                <a:rPr lang="en-US" altLang="ko-KR" sz="1000" b="1" dirty="0"/>
                <a:t>:</a:t>
              </a:r>
            </a:p>
            <a:p>
              <a:r>
                <a:rPr lang="en-US" altLang="ko-KR" sz="1000" b="1" dirty="0">
                  <a:solidFill>
                    <a:srgbClr val="FF0000"/>
                  </a:solidFill>
                </a:rPr>
                <a:t>        - name: config-volume</a:t>
              </a:r>
            </a:p>
            <a:p>
              <a:r>
                <a:rPr lang="en-US" altLang="ko-KR" sz="1000" b="1" dirty="0">
                  <a:solidFill>
                    <a:srgbClr val="FF0000"/>
                  </a:solidFill>
                </a:rPr>
                <a:t>          </a:t>
              </a:r>
              <a:r>
                <a:rPr lang="en-US" altLang="ko-KR" sz="1000" b="1" dirty="0" err="1">
                  <a:solidFill>
                    <a:srgbClr val="FF0000"/>
                  </a:solidFill>
                </a:rPr>
                <a:t>mountPath</a:t>
              </a:r>
              <a:r>
                <a:rPr lang="en-US" altLang="ko-KR" sz="1000" b="1" dirty="0">
                  <a:solidFill>
                    <a:srgbClr val="FF0000"/>
                  </a:solidFill>
                </a:rPr>
                <a:t>: /config</a:t>
              </a:r>
            </a:p>
            <a:p>
              <a:r>
                <a:rPr lang="en-US" altLang="ko-KR" sz="1000" b="1" dirty="0"/>
                <a:t>  volumes:</a:t>
              </a:r>
            </a:p>
            <a:p>
              <a:r>
                <a:rPr lang="en-US" altLang="ko-KR" sz="1000" b="1" dirty="0"/>
                <a:t>    - name: config-volume</a:t>
              </a:r>
            </a:p>
            <a:p>
              <a:r>
                <a:rPr lang="en-US" altLang="ko-KR" sz="1000" b="1" dirty="0"/>
                <a:t>      </a:t>
              </a:r>
              <a:r>
                <a:rPr lang="en-US" altLang="ko-KR" sz="1000" b="1" dirty="0" err="1"/>
                <a:t>configMap</a:t>
              </a:r>
              <a:r>
                <a:rPr lang="en-US" altLang="ko-KR" sz="1000" b="1" dirty="0"/>
                <a:t>:</a:t>
              </a:r>
            </a:p>
            <a:p>
              <a:r>
                <a:rPr lang="en-US" altLang="ko-KR" sz="1000" b="1" dirty="0">
                  <a:solidFill>
                    <a:srgbClr val="FF0000"/>
                  </a:solidFill>
                </a:rPr>
                <a:t>        name: my-config</a:t>
              </a:r>
            </a:p>
            <a:p>
              <a:r>
                <a:rPr lang="en-US" altLang="ko-KR" sz="1000" b="1" dirty="0"/>
                <a:t>  </a:t>
              </a:r>
              <a:r>
                <a:rPr lang="en-US" altLang="ko-KR" sz="1000" b="1" dirty="0" err="1"/>
                <a:t>restartPolicy</a:t>
              </a:r>
              <a:r>
                <a:rPr lang="en-US" altLang="ko-KR" sz="1000" b="1" dirty="0"/>
                <a:t>: Never</a:t>
              </a:r>
              <a:endParaRPr lang="ko-KR" altLang="en-US" sz="1000" b="1" dirty="0"/>
            </a:p>
          </p:txBody>
        </p:sp>
        <p:sp>
          <p:nvSpPr>
            <p:cNvPr id="8" name="TextBox 7">
              <a:extLst>
                <a:ext uri="{FF2B5EF4-FFF2-40B4-BE49-F238E27FC236}">
                  <a16:creationId xmlns:a16="http://schemas.microsoft.com/office/drawing/2014/main" id="{B3E16100-F777-4CEE-AEE7-5FD665991FB8}"/>
                </a:ext>
              </a:extLst>
            </p:cNvPr>
            <p:cNvSpPr txBox="1"/>
            <p:nvPr/>
          </p:nvSpPr>
          <p:spPr>
            <a:xfrm>
              <a:off x="5448226" y="6262981"/>
              <a:ext cx="1295547" cy="246221"/>
            </a:xfrm>
            <a:prstGeom prst="rect">
              <a:avLst/>
            </a:prstGeom>
            <a:noFill/>
          </p:spPr>
          <p:txBody>
            <a:bodyPr wrap="none" rtlCol="0">
              <a:spAutoFit/>
            </a:bodyPr>
            <a:lstStyle/>
            <a:p>
              <a:pPr algn="ctr"/>
              <a:r>
                <a:rPr lang="en-US" altLang="ko-KR" sz="1000" b="1" dirty="0" err="1"/>
                <a:t>kuard-config.yaml</a:t>
              </a:r>
              <a:endParaRPr lang="ko-KR" altLang="en-US" sz="1000" b="1" dirty="0"/>
            </a:p>
          </p:txBody>
        </p:sp>
      </p:grpSp>
    </p:spTree>
    <p:extLst>
      <p:ext uri="{BB962C8B-B14F-4D97-AF65-F5344CB8AC3E}">
        <p14:creationId xmlns:p14="http://schemas.microsoft.com/office/powerpoint/2010/main" val="77554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ConfigMaps</a:t>
            </a:r>
            <a:r>
              <a:rPr lang="en-US" altLang="ko-KR" sz="2800" b="1" dirty="0"/>
              <a:t>(6/9)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 </a:t>
            </a:r>
            <a:r>
              <a:rPr lang="en-US" altLang="ko-KR" sz="1800" b="1" dirty="0" err="1"/>
              <a:t>ConfigMap</a:t>
            </a:r>
            <a:r>
              <a:rPr lang="en-US" altLang="ko-KR" sz="1800" b="1" dirty="0"/>
              <a:t> :</a:t>
            </a:r>
          </a:p>
          <a:p>
            <a:pPr lvl="1">
              <a:buFont typeface="Wingdings" panose="05000000000000000000" pitchFamily="2" charset="2"/>
              <a:buChar char="§"/>
            </a:pPr>
            <a:r>
              <a:rPr lang="en-US" altLang="ko-KR" sz="1400" b="1" dirty="0"/>
              <a:t>For the filesystem method, we create a new volume inside the Pod </a:t>
            </a:r>
            <a:r>
              <a:rPr lang="en-US" altLang="ko-KR" sz="1400" dirty="0"/>
              <a:t>and give it the name “</a:t>
            </a:r>
            <a:r>
              <a:rPr lang="en-US" altLang="ko-KR" sz="1400" b="1" dirty="0"/>
              <a:t>config-volume</a:t>
            </a:r>
            <a:r>
              <a:rPr lang="en-US" altLang="ko-KR" sz="1400" dirty="0"/>
              <a:t>”. We then define this volume to be a “</a:t>
            </a:r>
            <a:r>
              <a:rPr lang="en-US" altLang="ko-KR" sz="1400" b="1" dirty="0" err="1"/>
              <a:t>ConfigMap</a:t>
            </a:r>
            <a:r>
              <a:rPr lang="en-US" altLang="ko-KR" sz="1400" b="1" dirty="0"/>
              <a:t> volume</a:t>
            </a:r>
            <a:r>
              <a:rPr lang="en-US" altLang="ko-KR" sz="1400" dirty="0"/>
              <a:t>” and </a:t>
            </a:r>
            <a:r>
              <a:rPr lang="en-US" altLang="ko-KR" sz="1400" b="1" dirty="0"/>
              <a:t>point at the </a:t>
            </a:r>
            <a:r>
              <a:rPr lang="en-US" altLang="ko-KR" sz="1400" b="1" dirty="0" err="1"/>
              <a:t>ConfigMap</a:t>
            </a:r>
            <a:r>
              <a:rPr lang="en-US" altLang="ko-KR" sz="1400" b="1" dirty="0"/>
              <a:t> to mount</a:t>
            </a:r>
            <a:r>
              <a:rPr lang="en-US" altLang="ko-KR" sz="1400" dirty="0"/>
              <a:t>. We have to </a:t>
            </a:r>
            <a:r>
              <a:rPr lang="en-US" altLang="ko-KR" sz="1400" b="1" dirty="0"/>
              <a:t>specify where this gets mounted into the “</a:t>
            </a:r>
            <a:r>
              <a:rPr lang="en-US" altLang="ko-KR" sz="1400" b="1" dirty="0" err="1"/>
              <a:t>kuard</a:t>
            </a:r>
            <a:r>
              <a:rPr lang="en-US" altLang="ko-KR" sz="1400" b="1" dirty="0"/>
              <a:t>” container with a “</a:t>
            </a:r>
            <a:r>
              <a:rPr lang="en-US" altLang="ko-KR" sz="1400" b="1" dirty="0" err="1">
                <a:solidFill>
                  <a:srgbClr val="FF0000"/>
                </a:solidFill>
              </a:rPr>
              <a:t>volumeMount</a:t>
            </a:r>
            <a:r>
              <a:rPr lang="en-US" altLang="ko-KR" sz="1400" b="1" dirty="0"/>
              <a:t>”</a:t>
            </a:r>
            <a:r>
              <a:rPr lang="en-US" altLang="ko-KR" sz="1400" dirty="0"/>
              <a:t>. In this case we are mounting it at “</a:t>
            </a:r>
            <a:r>
              <a:rPr lang="en-US" altLang="ko-KR" sz="1400" b="1" dirty="0"/>
              <a:t>/config</a:t>
            </a:r>
            <a:r>
              <a:rPr lang="en-US" altLang="ko-KR" sz="1400" dirty="0"/>
              <a:t>”.</a:t>
            </a:r>
          </a:p>
          <a:p>
            <a:pPr lvl="1">
              <a:buFont typeface="Wingdings" panose="05000000000000000000" pitchFamily="2" charset="2"/>
              <a:buChar char="§"/>
            </a:pPr>
            <a:r>
              <a:rPr lang="en-US" altLang="ko-KR" sz="1400" b="1" dirty="0"/>
              <a:t>Environment variables are specified with a special “</a:t>
            </a:r>
            <a:r>
              <a:rPr lang="en-US" altLang="ko-KR" sz="1400" b="1" dirty="0" err="1">
                <a:solidFill>
                  <a:srgbClr val="FF0000"/>
                </a:solidFill>
              </a:rPr>
              <a:t>valueFrom</a:t>
            </a:r>
            <a:r>
              <a:rPr lang="en-US" altLang="ko-KR" sz="1400" b="1" dirty="0"/>
              <a:t>” member</a:t>
            </a:r>
            <a:r>
              <a:rPr lang="en-US" altLang="ko-KR" sz="1400" dirty="0"/>
              <a:t>. This references the </a:t>
            </a:r>
            <a:r>
              <a:rPr lang="en-US" altLang="ko-KR" sz="1400" b="1" dirty="0" err="1"/>
              <a:t>ConfigMap</a:t>
            </a:r>
            <a:r>
              <a:rPr lang="en-US" altLang="ko-KR" sz="1400" dirty="0"/>
              <a:t> and </a:t>
            </a:r>
            <a:r>
              <a:rPr lang="en-US" altLang="ko-KR" sz="1400" b="1" dirty="0"/>
              <a:t>the data key to use within that </a:t>
            </a:r>
            <a:r>
              <a:rPr lang="en-US" altLang="ko-KR" sz="1400" b="1" dirty="0" err="1"/>
              <a:t>ConfigMap</a:t>
            </a:r>
            <a:r>
              <a:rPr lang="en-US" altLang="ko-KR" sz="1400" dirty="0"/>
              <a:t>. </a:t>
            </a:r>
          </a:p>
          <a:p>
            <a:pPr lvl="1">
              <a:buFont typeface="Wingdings" panose="05000000000000000000" pitchFamily="2" charset="2"/>
              <a:buChar char="§"/>
            </a:pPr>
            <a:r>
              <a:rPr lang="en-US" altLang="ko-KR" sz="1400" b="1" dirty="0"/>
              <a:t>Command-line arguments build on environment variables</a:t>
            </a:r>
            <a:r>
              <a:rPr lang="en-US" altLang="ko-KR" sz="1400" dirty="0"/>
              <a:t>. Kubernetes will perform the correct substitution with a special </a:t>
            </a:r>
            <a:r>
              <a:rPr lang="en-US" altLang="ko-KR" sz="1400" b="1" dirty="0"/>
              <a:t>$(&lt;env-var-name&gt;) </a:t>
            </a:r>
            <a:r>
              <a:rPr lang="en-US" altLang="ko-KR" sz="1400" dirty="0"/>
              <a:t>syntax.</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269FE65D-BADD-4ADF-A9D1-43C4FC7FE9F4}"/>
              </a:ext>
            </a:extLst>
          </p:cNvPr>
          <p:cNvPicPr>
            <a:picLocks noChangeAspect="1"/>
          </p:cNvPicPr>
          <p:nvPr/>
        </p:nvPicPr>
        <p:blipFill>
          <a:blip r:embed="rId2"/>
          <a:stretch>
            <a:fillRect/>
          </a:stretch>
        </p:blipFill>
        <p:spPr>
          <a:xfrm>
            <a:off x="3753802" y="3184668"/>
            <a:ext cx="4684395" cy="2945611"/>
          </a:xfrm>
          <a:prstGeom prst="rect">
            <a:avLst/>
          </a:prstGeom>
        </p:spPr>
      </p:pic>
    </p:spTree>
    <p:extLst>
      <p:ext uri="{BB962C8B-B14F-4D97-AF65-F5344CB8AC3E}">
        <p14:creationId xmlns:p14="http://schemas.microsoft.com/office/powerpoint/2010/main" val="11108138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ConfigMaps</a:t>
            </a:r>
            <a:r>
              <a:rPr lang="en-US" altLang="ko-KR" sz="2800" b="1" dirty="0"/>
              <a:t>(7/9)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 </a:t>
            </a:r>
            <a:r>
              <a:rPr lang="en-US" altLang="ko-KR" sz="1800" b="1" dirty="0" err="1"/>
              <a:t>ConfigMap</a:t>
            </a:r>
            <a:r>
              <a:rPr lang="en-US" altLang="ko-KR" sz="1800" b="1" dirty="0"/>
              <a:t> :</a:t>
            </a:r>
          </a:p>
          <a:p>
            <a:pPr lvl="1">
              <a:buFont typeface="Wingdings" panose="05000000000000000000" pitchFamily="2" charset="2"/>
              <a:buChar char="§"/>
            </a:pPr>
            <a:r>
              <a:rPr lang="en-US" altLang="ko-KR" sz="1400" dirty="0"/>
              <a:t>Run the previous Pod, and let’s </a:t>
            </a:r>
            <a:r>
              <a:rPr lang="en-US" altLang="ko-KR" sz="1400" b="1" dirty="0"/>
              <a:t>port forward to examine how the app sees the world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57D9040A-E744-4CB5-AF7E-D282D507D461}"/>
              </a:ext>
            </a:extLst>
          </p:cNvPr>
          <p:cNvGrpSpPr/>
          <p:nvPr/>
        </p:nvGrpSpPr>
        <p:grpSpPr>
          <a:xfrm>
            <a:off x="1333500" y="1832512"/>
            <a:ext cx="9525000" cy="3055705"/>
            <a:chOff x="1333500" y="1512472"/>
            <a:chExt cx="9525000" cy="3055705"/>
          </a:xfrm>
        </p:grpSpPr>
        <p:grpSp>
          <p:nvGrpSpPr>
            <p:cNvPr id="9" name="그룹 8">
              <a:extLst>
                <a:ext uri="{FF2B5EF4-FFF2-40B4-BE49-F238E27FC236}">
                  <a16:creationId xmlns:a16="http://schemas.microsoft.com/office/drawing/2014/main" id="{0DA934C7-02EB-472C-A390-AFF123FEAFBF}"/>
                </a:ext>
              </a:extLst>
            </p:cNvPr>
            <p:cNvGrpSpPr/>
            <p:nvPr/>
          </p:nvGrpSpPr>
          <p:grpSpPr>
            <a:xfrm>
              <a:off x="3048000" y="1512472"/>
              <a:ext cx="6096000" cy="689683"/>
              <a:chOff x="3048000" y="1512472"/>
              <a:chExt cx="6096000" cy="689683"/>
            </a:xfrm>
          </p:grpSpPr>
          <p:sp>
            <p:nvSpPr>
              <p:cNvPr id="8" name="직사각형 7">
                <a:extLst>
                  <a:ext uri="{FF2B5EF4-FFF2-40B4-BE49-F238E27FC236}">
                    <a16:creationId xmlns:a16="http://schemas.microsoft.com/office/drawing/2014/main" id="{F20BD0FD-58AC-4D6D-BD57-5C7CE43612E7}"/>
                  </a:ext>
                </a:extLst>
              </p:cNvPr>
              <p:cNvSpPr/>
              <p:nvPr/>
            </p:nvSpPr>
            <p:spPr>
              <a:xfrm>
                <a:off x="3048000" y="1512472"/>
                <a:ext cx="6096000" cy="400110"/>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kuard-config.yaml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port-forward </a:t>
                </a:r>
                <a:r>
                  <a:rPr lang="en-US" altLang="ko-KR" sz="1000" b="1" dirty="0" err="1">
                    <a:solidFill>
                      <a:srgbClr val="FF0000"/>
                    </a:solidFill>
                  </a:rPr>
                  <a:t>kuard</a:t>
                </a:r>
                <a:r>
                  <a:rPr lang="en-US" altLang="ko-KR" sz="1000" b="1" dirty="0">
                    <a:solidFill>
                      <a:srgbClr val="FF0000"/>
                    </a:solidFill>
                  </a:rPr>
                  <a:t>-config 8080</a:t>
                </a:r>
                <a:endParaRPr lang="ko-KR" altLang="en-US" sz="1000" b="1" dirty="0">
                  <a:solidFill>
                    <a:srgbClr val="FF0000"/>
                  </a:solidFill>
                </a:endParaRPr>
              </a:p>
            </p:txBody>
          </p:sp>
          <p:sp>
            <p:nvSpPr>
              <p:cNvPr id="4" name="화살표: 아래쪽 3">
                <a:extLst>
                  <a:ext uri="{FF2B5EF4-FFF2-40B4-BE49-F238E27FC236}">
                    <a16:creationId xmlns:a16="http://schemas.microsoft.com/office/drawing/2014/main" id="{B24EEC8F-F09A-437C-861E-5351707D0C3B}"/>
                  </a:ext>
                </a:extLst>
              </p:cNvPr>
              <p:cNvSpPr/>
              <p:nvPr/>
            </p:nvSpPr>
            <p:spPr>
              <a:xfrm>
                <a:off x="5897880" y="1935455"/>
                <a:ext cx="396240" cy="26670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0" name="그림 9">
              <a:extLst>
                <a:ext uri="{FF2B5EF4-FFF2-40B4-BE49-F238E27FC236}">
                  <a16:creationId xmlns:a16="http://schemas.microsoft.com/office/drawing/2014/main" id="{DE162563-B902-4836-85E3-BB446904F41F}"/>
                </a:ext>
              </a:extLst>
            </p:cNvPr>
            <p:cNvPicPr>
              <a:picLocks noChangeAspect="1"/>
            </p:cNvPicPr>
            <p:nvPr/>
          </p:nvPicPr>
          <p:blipFill>
            <a:blip r:embed="rId2"/>
            <a:stretch>
              <a:fillRect/>
            </a:stretch>
          </p:blipFill>
          <p:spPr>
            <a:xfrm>
              <a:off x="1333500" y="2225027"/>
              <a:ext cx="9525000" cy="2343150"/>
            </a:xfrm>
            <a:prstGeom prst="rect">
              <a:avLst/>
            </a:prstGeom>
            <a:ln>
              <a:solidFill>
                <a:schemeClr val="bg1">
                  <a:lumMod val="50000"/>
                </a:schemeClr>
              </a:solidFill>
            </a:ln>
          </p:spPr>
        </p:pic>
      </p:grpSp>
    </p:spTree>
    <p:extLst>
      <p:ext uri="{BB962C8B-B14F-4D97-AF65-F5344CB8AC3E}">
        <p14:creationId xmlns:p14="http://schemas.microsoft.com/office/powerpoint/2010/main" val="22287695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ConfigMaps</a:t>
            </a:r>
            <a:r>
              <a:rPr lang="en-US" altLang="ko-KR" sz="2800" b="1" dirty="0"/>
              <a:t>(8/9)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 </a:t>
            </a:r>
            <a:r>
              <a:rPr lang="en-US" altLang="ko-KR" sz="1800" b="1" dirty="0" err="1"/>
              <a:t>ConfigMap</a:t>
            </a:r>
            <a:r>
              <a:rPr lang="en-US" altLang="ko-KR" sz="1800" b="1" dirty="0"/>
              <a:t> :</a:t>
            </a:r>
          </a:p>
          <a:p>
            <a:pPr lvl="1">
              <a:buFont typeface="Wingdings" panose="05000000000000000000" pitchFamily="2" charset="2"/>
              <a:buChar char="§"/>
            </a:pPr>
            <a:r>
              <a:rPr lang="en-US" altLang="ko-KR" sz="1400" b="1" dirty="0"/>
              <a:t>Now point your browser at “</a:t>
            </a:r>
            <a:r>
              <a:rPr lang="en-US" altLang="ko-KR" sz="1400" b="1" dirty="0">
                <a:solidFill>
                  <a:srgbClr val="FF0000"/>
                </a:solidFill>
              </a:rPr>
              <a:t>http://127.0.0.1:8080</a:t>
            </a:r>
            <a:r>
              <a:rPr lang="en-US" altLang="ko-KR" sz="1400" b="1" dirty="0"/>
              <a:t>“ in Chrome browser</a:t>
            </a:r>
            <a:r>
              <a:rPr lang="en-US" altLang="ko-KR" sz="1400" dirty="0"/>
              <a:t>. We can look at how we’ve injected configuration values into the program in all three ways. </a:t>
            </a:r>
            <a:r>
              <a:rPr lang="en-US" altLang="ko-KR" sz="1400" b="1" dirty="0"/>
              <a:t>Click the “Server Env” tab on the left</a:t>
            </a:r>
            <a:r>
              <a:rPr lang="en-US" altLang="ko-KR" sz="1400" dirty="0"/>
              <a:t>. This will show the command line that the app was launched with along with its environment.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5D735C12-DA62-40F0-B2C7-DF3DE3673975}"/>
              </a:ext>
            </a:extLst>
          </p:cNvPr>
          <p:cNvGrpSpPr/>
          <p:nvPr/>
        </p:nvGrpSpPr>
        <p:grpSpPr>
          <a:xfrm>
            <a:off x="2461260" y="1865605"/>
            <a:ext cx="7269480" cy="4543425"/>
            <a:chOff x="2461260" y="1865605"/>
            <a:chExt cx="7269480" cy="4543425"/>
          </a:xfrm>
        </p:grpSpPr>
        <p:pic>
          <p:nvPicPr>
            <p:cNvPr id="4" name="그림 3">
              <a:extLst>
                <a:ext uri="{FF2B5EF4-FFF2-40B4-BE49-F238E27FC236}">
                  <a16:creationId xmlns:a16="http://schemas.microsoft.com/office/drawing/2014/main" id="{25493B1E-F58E-45D3-82B3-9746E3D0981C}"/>
                </a:ext>
              </a:extLst>
            </p:cNvPr>
            <p:cNvPicPr>
              <a:picLocks noChangeAspect="1"/>
            </p:cNvPicPr>
            <p:nvPr/>
          </p:nvPicPr>
          <p:blipFill>
            <a:blip r:embed="rId2"/>
            <a:stretch>
              <a:fillRect/>
            </a:stretch>
          </p:blipFill>
          <p:spPr>
            <a:xfrm>
              <a:off x="2461260" y="1865605"/>
              <a:ext cx="7269480" cy="4543425"/>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4CFD28F6-D8F6-49C0-86EF-87C7C8D78152}"/>
                </a:ext>
              </a:extLst>
            </p:cNvPr>
            <p:cNvSpPr/>
            <p:nvPr/>
          </p:nvSpPr>
          <p:spPr>
            <a:xfrm>
              <a:off x="3406140" y="3718560"/>
              <a:ext cx="1051560" cy="3651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59BC6CAD-1612-4A85-A574-2BB9313B1A3D}"/>
                </a:ext>
              </a:extLst>
            </p:cNvPr>
            <p:cNvSpPr/>
            <p:nvPr/>
          </p:nvSpPr>
          <p:spPr>
            <a:xfrm>
              <a:off x="3406140" y="4206240"/>
              <a:ext cx="4465320" cy="10896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041843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ConfigMaps</a:t>
            </a:r>
            <a:r>
              <a:rPr lang="en-US" altLang="ko-KR" sz="2800" b="1" dirty="0"/>
              <a:t>(9/9)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 </a:t>
            </a:r>
            <a:r>
              <a:rPr lang="en-US" altLang="ko-KR" sz="1800" b="1" dirty="0" err="1"/>
              <a:t>ConfigMap</a:t>
            </a:r>
            <a:r>
              <a:rPr lang="en-US" altLang="ko-KR" sz="1800" b="1" dirty="0"/>
              <a:t> :</a:t>
            </a:r>
          </a:p>
          <a:p>
            <a:pPr lvl="1">
              <a:buFont typeface="Wingdings" panose="05000000000000000000" pitchFamily="2" charset="2"/>
              <a:buChar char="§"/>
            </a:pPr>
            <a:r>
              <a:rPr lang="en-US" altLang="ko-KR" sz="1400" dirty="0"/>
              <a:t>Here we can see that we’ve added two environment variables (</a:t>
            </a:r>
            <a:r>
              <a:rPr lang="en-US" altLang="ko-KR" sz="1400" b="1" dirty="0"/>
              <a:t>ANOTHER_PARAM </a:t>
            </a:r>
            <a:r>
              <a:rPr lang="en-US" altLang="ko-KR" sz="1400" dirty="0"/>
              <a:t>and </a:t>
            </a:r>
            <a:r>
              <a:rPr lang="en-US" altLang="ko-KR" sz="1400" b="1" dirty="0"/>
              <a:t>EXTRA_PARAM</a:t>
            </a:r>
            <a:r>
              <a:rPr lang="en-US" altLang="ko-KR" sz="1400" dirty="0"/>
              <a:t>) </a:t>
            </a:r>
            <a:r>
              <a:rPr lang="en-US" altLang="ko-KR" sz="1400" b="1" dirty="0"/>
              <a:t>whose values are set via the </a:t>
            </a:r>
            <a:r>
              <a:rPr lang="en-US" altLang="ko-KR" sz="1400" b="1" dirty="0" err="1"/>
              <a:t>ConfigMap</a:t>
            </a:r>
            <a:r>
              <a:rPr lang="en-US" altLang="ko-KR" sz="1400" dirty="0"/>
              <a:t>. Furthermore, we’ve </a:t>
            </a:r>
            <a:r>
              <a:rPr lang="en-US" altLang="ko-KR" sz="1400" b="1" dirty="0"/>
              <a:t>added an argument to the command line of “</a:t>
            </a:r>
            <a:r>
              <a:rPr lang="en-US" altLang="ko-KR" sz="1400" b="1" dirty="0" err="1"/>
              <a:t>kuard</a:t>
            </a:r>
            <a:r>
              <a:rPr lang="en-US" altLang="ko-KR" sz="1400" b="1" dirty="0"/>
              <a:t>” based on the EXTRA_PARAM value</a:t>
            </a:r>
            <a:r>
              <a:rPr lang="en-US" altLang="ko-KR" sz="1400" dirty="0"/>
              <a:t>.</a:t>
            </a:r>
          </a:p>
          <a:p>
            <a:pPr lvl="1">
              <a:buFont typeface="Wingdings" panose="05000000000000000000" pitchFamily="2" charset="2"/>
              <a:buChar char="§"/>
            </a:pPr>
            <a:r>
              <a:rPr lang="en-US" altLang="ko-KR" sz="1400" dirty="0"/>
              <a:t>Next, click the “</a:t>
            </a:r>
            <a:r>
              <a:rPr lang="en-US" altLang="ko-KR" sz="1400" b="1" dirty="0"/>
              <a:t>File system browser</a:t>
            </a:r>
            <a:r>
              <a:rPr lang="en-US" altLang="ko-KR" sz="1400" dirty="0"/>
              <a:t>” tab. This lets you explore </a:t>
            </a:r>
            <a:r>
              <a:rPr lang="en-US" altLang="ko-KR" sz="1400" b="1" dirty="0"/>
              <a:t>the filesystem as the application sees it</a:t>
            </a:r>
            <a:r>
              <a:rPr lang="en-US" altLang="ko-KR" sz="1400" dirty="0"/>
              <a:t>. You should see an entry called “</a:t>
            </a:r>
            <a:r>
              <a:rPr lang="en-US" altLang="ko-KR" sz="1400" b="1" dirty="0"/>
              <a:t>/config</a:t>
            </a:r>
            <a:r>
              <a:rPr lang="en-US" altLang="ko-KR" sz="1400" dirty="0"/>
              <a:t>”. </a:t>
            </a:r>
            <a:r>
              <a:rPr lang="en-US" altLang="ko-KR" sz="1400" b="1" dirty="0"/>
              <a:t>This is a volume created based on our </a:t>
            </a:r>
            <a:r>
              <a:rPr lang="en-US" altLang="ko-KR" sz="1400" b="1" dirty="0" err="1"/>
              <a:t>ConfigMap</a:t>
            </a:r>
            <a:r>
              <a:rPr lang="en-US" altLang="ko-KR" sz="1400" dirty="0"/>
              <a:t>. If you navigate into that, you’ll see that a file has been created for each entry of the </a:t>
            </a:r>
            <a:r>
              <a:rPr lang="en-US" altLang="ko-KR" sz="1400" b="1" dirty="0" err="1"/>
              <a:t>ConfigMap</a:t>
            </a:r>
            <a:r>
              <a:rPr lang="en-US" altLang="ko-KR" sz="1400" dirty="0"/>
              <a:t>. You’ll also see some “</a:t>
            </a:r>
            <a:r>
              <a:rPr lang="en-US" altLang="ko-KR" sz="1400" b="1" dirty="0"/>
              <a:t>hidden files (prepended with ..)</a:t>
            </a:r>
            <a:r>
              <a:rPr lang="en-US" altLang="ko-KR" sz="1400" dirty="0"/>
              <a:t>” </a:t>
            </a:r>
            <a:r>
              <a:rPr lang="en-US" altLang="ko-KR" sz="1400" b="1" dirty="0"/>
              <a:t>that are used to do a clean swap of new values when the </a:t>
            </a:r>
            <a:r>
              <a:rPr lang="en-US" altLang="ko-KR" sz="1400" b="1" dirty="0" err="1"/>
              <a:t>ConfigMap</a:t>
            </a:r>
            <a:r>
              <a:rPr lang="en-US" altLang="ko-KR" sz="1400" b="1" dirty="0"/>
              <a:t> is updated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EE73F5D1-8C8B-461C-A772-88A8DE548414}"/>
              </a:ext>
            </a:extLst>
          </p:cNvPr>
          <p:cNvGrpSpPr/>
          <p:nvPr/>
        </p:nvGrpSpPr>
        <p:grpSpPr>
          <a:xfrm>
            <a:off x="1840230" y="2724969"/>
            <a:ext cx="8511540" cy="3539431"/>
            <a:chOff x="1840230" y="2724969"/>
            <a:chExt cx="8511540" cy="3539431"/>
          </a:xfrm>
        </p:grpSpPr>
        <p:grpSp>
          <p:nvGrpSpPr>
            <p:cNvPr id="11" name="그룹 10">
              <a:extLst>
                <a:ext uri="{FF2B5EF4-FFF2-40B4-BE49-F238E27FC236}">
                  <a16:creationId xmlns:a16="http://schemas.microsoft.com/office/drawing/2014/main" id="{176E4C91-3CD5-4228-9E85-912035F51F0B}"/>
                </a:ext>
              </a:extLst>
            </p:cNvPr>
            <p:cNvGrpSpPr/>
            <p:nvPr/>
          </p:nvGrpSpPr>
          <p:grpSpPr>
            <a:xfrm>
              <a:off x="1840230" y="2724969"/>
              <a:ext cx="8511540" cy="3539431"/>
              <a:chOff x="1478280" y="2560574"/>
              <a:chExt cx="9624060" cy="4034477"/>
            </a:xfrm>
          </p:grpSpPr>
          <p:pic>
            <p:nvPicPr>
              <p:cNvPr id="9" name="그림 8">
                <a:extLst>
                  <a:ext uri="{FF2B5EF4-FFF2-40B4-BE49-F238E27FC236}">
                    <a16:creationId xmlns:a16="http://schemas.microsoft.com/office/drawing/2014/main" id="{EF218339-1711-4EED-812A-67F8C82DD256}"/>
                  </a:ext>
                </a:extLst>
              </p:cNvPr>
              <p:cNvPicPr>
                <a:picLocks noChangeAspect="1"/>
              </p:cNvPicPr>
              <p:nvPr/>
            </p:nvPicPr>
            <p:blipFill>
              <a:blip r:embed="rId2"/>
              <a:stretch>
                <a:fillRect/>
              </a:stretch>
            </p:blipFill>
            <p:spPr>
              <a:xfrm>
                <a:off x="1478280" y="2560574"/>
                <a:ext cx="6134100" cy="2598759"/>
              </a:xfrm>
              <a:prstGeom prst="rect">
                <a:avLst/>
              </a:prstGeom>
              <a:ln>
                <a:solidFill>
                  <a:schemeClr val="bg1">
                    <a:lumMod val="50000"/>
                  </a:schemeClr>
                </a:solidFill>
              </a:ln>
            </p:spPr>
          </p:pic>
          <p:pic>
            <p:nvPicPr>
              <p:cNvPr id="4" name="그림 3">
                <a:extLst>
                  <a:ext uri="{FF2B5EF4-FFF2-40B4-BE49-F238E27FC236}">
                    <a16:creationId xmlns:a16="http://schemas.microsoft.com/office/drawing/2014/main" id="{E76AC7E7-952B-4263-8F7A-EF8AA6DB4F26}"/>
                  </a:ext>
                </a:extLst>
              </p:cNvPr>
              <p:cNvPicPr>
                <a:picLocks noChangeAspect="1"/>
              </p:cNvPicPr>
              <p:nvPr/>
            </p:nvPicPr>
            <p:blipFill>
              <a:blip r:embed="rId3"/>
              <a:stretch>
                <a:fillRect/>
              </a:stretch>
            </p:blipFill>
            <p:spPr>
              <a:xfrm>
                <a:off x="3223260" y="3278433"/>
                <a:ext cx="6134100" cy="2598759"/>
              </a:xfrm>
              <a:prstGeom prst="rect">
                <a:avLst/>
              </a:prstGeom>
              <a:ln>
                <a:solidFill>
                  <a:schemeClr val="bg1">
                    <a:lumMod val="50000"/>
                  </a:schemeClr>
                </a:solidFill>
              </a:ln>
            </p:spPr>
          </p:pic>
          <p:pic>
            <p:nvPicPr>
              <p:cNvPr id="8" name="그림 7">
                <a:extLst>
                  <a:ext uri="{FF2B5EF4-FFF2-40B4-BE49-F238E27FC236}">
                    <a16:creationId xmlns:a16="http://schemas.microsoft.com/office/drawing/2014/main" id="{3F780E41-BA59-4F4E-9573-016FA6907607}"/>
                  </a:ext>
                </a:extLst>
              </p:cNvPr>
              <p:cNvPicPr>
                <a:picLocks noChangeAspect="1"/>
              </p:cNvPicPr>
              <p:nvPr/>
            </p:nvPicPr>
            <p:blipFill>
              <a:blip r:embed="rId4"/>
              <a:stretch>
                <a:fillRect/>
              </a:stretch>
            </p:blipFill>
            <p:spPr>
              <a:xfrm>
                <a:off x="4968240" y="3996292"/>
                <a:ext cx="6134100" cy="2598759"/>
              </a:xfrm>
              <a:prstGeom prst="rect">
                <a:avLst/>
              </a:prstGeom>
              <a:ln>
                <a:solidFill>
                  <a:schemeClr val="bg1">
                    <a:lumMod val="50000"/>
                  </a:schemeClr>
                </a:solidFill>
              </a:ln>
            </p:spPr>
          </p:pic>
          <p:sp>
            <p:nvSpPr>
              <p:cNvPr id="10" name="직사각형 9">
                <a:extLst>
                  <a:ext uri="{FF2B5EF4-FFF2-40B4-BE49-F238E27FC236}">
                    <a16:creationId xmlns:a16="http://schemas.microsoft.com/office/drawing/2014/main" id="{9E42A067-44B9-4AA7-95ED-49331E3FC75A}"/>
                  </a:ext>
                </a:extLst>
              </p:cNvPr>
              <p:cNvSpPr/>
              <p:nvPr/>
            </p:nvSpPr>
            <p:spPr>
              <a:xfrm>
                <a:off x="1569720" y="4754880"/>
                <a:ext cx="678180" cy="2209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직사각형 11">
              <a:extLst>
                <a:ext uri="{FF2B5EF4-FFF2-40B4-BE49-F238E27FC236}">
                  <a16:creationId xmlns:a16="http://schemas.microsoft.com/office/drawing/2014/main" id="{128D487A-F812-4AD4-9B3E-ABC082166D79}"/>
                </a:ext>
              </a:extLst>
            </p:cNvPr>
            <p:cNvSpPr/>
            <p:nvPr/>
          </p:nvSpPr>
          <p:spPr>
            <a:xfrm>
              <a:off x="3391114" y="3969279"/>
              <a:ext cx="388406" cy="107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2F209B05-3A05-472F-8741-4819C1631064}"/>
                </a:ext>
              </a:extLst>
            </p:cNvPr>
            <p:cNvSpPr/>
            <p:nvPr/>
          </p:nvSpPr>
          <p:spPr>
            <a:xfrm>
              <a:off x="5006340" y="4404360"/>
              <a:ext cx="1082040" cy="5029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569527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Secrets(1/9)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is Secrets? :</a:t>
            </a:r>
          </a:p>
          <a:p>
            <a:pPr lvl="1">
              <a:buFont typeface="Wingdings" panose="05000000000000000000" pitchFamily="2" charset="2"/>
              <a:buChar char="§"/>
            </a:pPr>
            <a:r>
              <a:rPr lang="en-US" altLang="ko-KR" sz="1400" b="1" dirty="0"/>
              <a:t>While </a:t>
            </a:r>
            <a:r>
              <a:rPr lang="en-US" altLang="ko-KR" sz="1400" b="1" dirty="0" err="1"/>
              <a:t>ConfigMaps</a:t>
            </a:r>
            <a:r>
              <a:rPr lang="en-US" altLang="ko-KR" sz="1400" b="1" dirty="0"/>
              <a:t> are great for most configuration data, there is certain data that is </a:t>
            </a:r>
            <a:r>
              <a:rPr lang="en-US" altLang="ko-KR" sz="1400" b="1" dirty="0">
                <a:solidFill>
                  <a:srgbClr val="FF0000"/>
                </a:solidFill>
              </a:rPr>
              <a:t>extra-sensitive</a:t>
            </a:r>
            <a:r>
              <a:rPr lang="en-US" altLang="ko-KR" sz="1400" dirty="0"/>
              <a:t>. This can include </a:t>
            </a:r>
            <a:r>
              <a:rPr lang="en-US" altLang="ko-KR" sz="1400" b="1" dirty="0"/>
              <a:t>passwords</a:t>
            </a:r>
            <a:r>
              <a:rPr lang="en-US" altLang="ko-KR" sz="1400" dirty="0"/>
              <a:t>, </a:t>
            </a:r>
            <a:r>
              <a:rPr lang="en-US" altLang="ko-KR" sz="1400" b="1" dirty="0"/>
              <a:t>security tokens</a:t>
            </a:r>
            <a:r>
              <a:rPr lang="en-US" altLang="ko-KR" sz="1400" dirty="0"/>
              <a:t>, or </a:t>
            </a:r>
            <a:r>
              <a:rPr lang="en-US" altLang="ko-KR" sz="1400" b="1" dirty="0"/>
              <a:t>other types of private keys</a:t>
            </a:r>
            <a:r>
              <a:rPr lang="en-US" altLang="ko-KR" sz="1400" dirty="0"/>
              <a:t>. Collectively, we call this type of data “</a:t>
            </a:r>
            <a:r>
              <a:rPr lang="en-US" altLang="ko-KR" sz="1400" b="1" dirty="0">
                <a:solidFill>
                  <a:srgbClr val="FF0000"/>
                </a:solidFill>
              </a:rPr>
              <a:t>secrets</a:t>
            </a:r>
            <a:r>
              <a:rPr lang="en-US" altLang="ko-KR" sz="1400" dirty="0"/>
              <a:t>.” Kubernetes has native support for storing and handling this data with care.</a:t>
            </a:r>
          </a:p>
          <a:p>
            <a:pPr lvl="1">
              <a:buFont typeface="Wingdings" panose="05000000000000000000" pitchFamily="2" charset="2"/>
              <a:buChar char="§"/>
            </a:pPr>
            <a:r>
              <a:rPr lang="en-US" altLang="ko-KR" sz="1400" b="1" dirty="0"/>
              <a:t>Secrets enable container images to be created without bundling sensitive data</a:t>
            </a:r>
            <a:r>
              <a:rPr lang="en-US" altLang="ko-KR" sz="1400" dirty="0"/>
              <a:t>. </a:t>
            </a:r>
            <a:r>
              <a:rPr lang="en-US" altLang="ko-KR" sz="1400" b="1" dirty="0"/>
              <a:t>This allows containers to remain </a:t>
            </a:r>
            <a:r>
              <a:rPr lang="en-US" altLang="ko-KR" sz="1400" b="1" dirty="0">
                <a:solidFill>
                  <a:srgbClr val="FF0000"/>
                </a:solidFill>
              </a:rPr>
              <a:t>portable</a:t>
            </a:r>
            <a:r>
              <a:rPr lang="en-US" altLang="ko-KR" sz="1400" b="1" dirty="0"/>
              <a:t> across environments. Secrets are exposed to Pods via </a:t>
            </a:r>
            <a:r>
              <a:rPr lang="en-US" altLang="ko-KR" sz="1400" b="1" dirty="0">
                <a:solidFill>
                  <a:srgbClr val="FF0000"/>
                </a:solidFill>
              </a:rPr>
              <a:t>explicit declaration in Pod manifests </a:t>
            </a:r>
            <a:r>
              <a:rPr lang="en-US" altLang="ko-KR" sz="1400" b="1" dirty="0"/>
              <a:t>and the Kubernetes API</a:t>
            </a:r>
            <a:r>
              <a:rPr lang="en-US" altLang="ko-KR" sz="1400" dirty="0"/>
              <a:t>. In this way, the Kubernetes secrets API provides an </a:t>
            </a:r>
            <a:r>
              <a:rPr lang="en-US" altLang="ko-KR" sz="1400" b="1" dirty="0"/>
              <a:t>application-centric mechanism for exposing sensitive configuration information</a:t>
            </a:r>
            <a:r>
              <a:rPr lang="en-US" altLang="ko-KR" sz="1400" dirty="0"/>
              <a:t> to applications in a way that’s easy to audit and </a:t>
            </a:r>
            <a:r>
              <a:rPr lang="en-US" altLang="ko-KR" sz="1400" b="1" dirty="0"/>
              <a:t>leverages native OS isolation primitives</a:t>
            </a:r>
            <a:r>
              <a:rPr lang="en-US" altLang="ko-KR" sz="1400" dirty="0"/>
              <a:t>.</a:t>
            </a:r>
          </a:p>
          <a:p>
            <a:pPr lvl="1">
              <a:buFont typeface="Wingdings" panose="05000000000000000000" pitchFamily="2" charset="2"/>
              <a:buChar char="§"/>
            </a:pPr>
            <a:r>
              <a:rPr lang="en-US" altLang="ko-KR" sz="1400" b="1" dirty="0"/>
              <a:t>NOTE : By default, Kubernetes secrets are stored in plain text in the “</a:t>
            </a:r>
            <a:r>
              <a:rPr lang="en-US" altLang="ko-KR" sz="1400" b="1" dirty="0" err="1">
                <a:solidFill>
                  <a:srgbClr val="FF0000"/>
                </a:solidFill>
                <a:hlinkClick r:id="rId2"/>
              </a:rPr>
              <a:t>etcd</a:t>
            </a:r>
            <a:r>
              <a:rPr lang="en-US" altLang="ko-KR" sz="1400" b="1" dirty="0"/>
              <a:t>”(</a:t>
            </a:r>
            <a:r>
              <a:rPr lang="en-US" altLang="ko-KR" sz="1400" b="1" dirty="0" err="1"/>
              <a:t>Etc</a:t>
            </a:r>
            <a:r>
              <a:rPr lang="en-US" altLang="ko-KR" sz="1400" b="1" dirty="0"/>
              <a:t> Distributed : Replicated State Machine) storage for the cluster</a:t>
            </a:r>
            <a:r>
              <a:rPr lang="en-US" altLang="ko-KR" sz="1400" dirty="0"/>
              <a:t>. Depending on your requirements, this may not be sufficient security for you. </a:t>
            </a:r>
            <a:r>
              <a:rPr lang="en-US" altLang="ko-KR" sz="1400" b="1" dirty="0"/>
              <a:t>In particular, anyone who has cluster administration rights in your cluster will be able to read all of the secrets in the cluster</a:t>
            </a:r>
            <a:r>
              <a:rPr lang="en-US" altLang="ko-KR" sz="1400" dirty="0"/>
              <a:t>. </a:t>
            </a:r>
            <a:r>
              <a:rPr lang="en-US" altLang="ko-KR" sz="1400" b="1" dirty="0"/>
              <a:t>In recent versions of Kubernetes, support has been added for encrypting the secrets with a user-supplied key, generally integrated into a cloud key store</a:t>
            </a:r>
            <a:r>
              <a:rPr lang="en-US" altLang="ko-KR" sz="1400" dirty="0"/>
              <a:t>. Additionally, most cloud key stores have integration with Kubernetes flexible volumes, enabling you to skip Kubernetes secrets entirely and rely exclusively on the cloud provider’s key store. All of these options should provide you with sufficient tools to craft a security profile that suits your needs.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1465D7B-2FF5-4818-A06F-679C96C411CB}"/>
              </a:ext>
            </a:extLst>
          </p:cNvPr>
          <p:cNvPicPr>
            <a:picLocks noChangeAspect="1"/>
          </p:cNvPicPr>
          <p:nvPr/>
        </p:nvPicPr>
        <p:blipFill>
          <a:blip r:embed="rId3"/>
          <a:stretch>
            <a:fillRect/>
          </a:stretch>
        </p:blipFill>
        <p:spPr>
          <a:xfrm>
            <a:off x="4354830" y="4316537"/>
            <a:ext cx="3482340" cy="2092493"/>
          </a:xfrm>
          <a:prstGeom prst="rect">
            <a:avLst/>
          </a:prstGeom>
        </p:spPr>
      </p:pic>
    </p:spTree>
    <p:extLst>
      <p:ext uri="{BB962C8B-B14F-4D97-AF65-F5344CB8AC3E}">
        <p14:creationId xmlns:p14="http://schemas.microsoft.com/office/powerpoint/2010/main" val="15023264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Secrets(2/9)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Secrets :</a:t>
            </a:r>
          </a:p>
          <a:p>
            <a:pPr lvl="1">
              <a:buFont typeface="Wingdings" panose="05000000000000000000" pitchFamily="2" charset="2"/>
              <a:buChar char="§"/>
            </a:pPr>
            <a:r>
              <a:rPr lang="en-US" altLang="ko-KR" sz="1400" b="1" dirty="0"/>
              <a:t>Secrets are created using the Kubernetes API or the </a:t>
            </a:r>
            <a:r>
              <a:rPr lang="en-US" altLang="ko-KR" sz="1400" b="1" dirty="0" err="1"/>
              <a:t>kubectl</a:t>
            </a:r>
            <a:r>
              <a:rPr lang="en-US" altLang="ko-KR" sz="1400" b="1" dirty="0"/>
              <a:t> command-line tool</a:t>
            </a:r>
            <a:r>
              <a:rPr lang="en-US" altLang="ko-KR" sz="1400" dirty="0"/>
              <a:t>. </a:t>
            </a:r>
            <a:r>
              <a:rPr lang="en-US" altLang="ko-KR" sz="1400" b="1" dirty="0"/>
              <a:t>Secrets hold one or more data elements as “a collection of key/value pairs”</a:t>
            </a:r>
            <a:r>
              <a:rPr lang="en-US" altLang="ko-KR" sz="1400" dirty="0"/>
              <a:t>. Here we will create a secret to store a </a:t>
            </a:r>
            <a:r>
              <a:rPr lang="en-US" altLang="ko-KR" sz="1400" b="1" dirty="0"/>
              <a:t>TLS key </a:t>
            </a:r>
            <a:r>
              <a:rPr lang="en-US" altLang="ko-KR" sz="1400" dirty="0"/>
              <a:t>and </a:t>
            </a:r>
            <a:r>
              <a:rPr lang="en-US" altLang="ko-KR" sz="1400" b="1" dirty="0"/>
              <a:t>certificate</a:t>
            </a:r>
            <a:r>
              <a:rPr lang="en-US" altLang="ko-KR" sz="1400" dirty="0"/>
              <a:t> for the “</a:t>
            </a:r>
            <a:r>
              <a:rPr lang="en-US" altLang="ko-KR" sz="1400" b="1" dirty="0" err="1"/>
              <a:t>kuard</a:t>
            </a:r>
            <a:r>
              <a:rPr lang="en-US" altLang="ko-KR" sz="1400" dirty="0"/>
              <a:t>” application that meets the storage requirements listed previously.</a:t>
            </a:r>
          </a:p>
          <a:p>
            <a:pPr lvl="1">
              <a:buFont typeface="Wingdings" panose="05000000000000000000" pitchFamily="2" charset="2"/>
              <a:buChar char="§"/>
            </a:pPr>
            <a:r>
              <a:rPr lang="en-US" altLang="ko-KR" sz="1400" b="1" dirty="0"/>
              <a:t>The “</a:t>
            </a:r>
            <a:r>
              <a:rPr lang="en-US" altLang="ko-KR" sz="1400" b="1" dirty="0" err="1"/>
              <a:t>kuard</a:t>
            </a:r>
            <a:r>
              <a:rPr lang="en-US" altLang="ko-KR" sz="1400" b="1" dirty="0"/>
              <a:t>” container image does not bundle a TLS certificate or key</a:t>
            </a:r>
            <a:r>
              <a:rPr lang="en-US" altLang="ko-KR" sz="1400" dirty="0"/>
              <a:t>. This allows the “</a:t>
            </a:r>
            <a:r>
              <a:rPr lang="en-US" altLang="ko-KR" sz="1400" b="1" dirty="0" err="1"/>
              <a:t>kuard</a:t>
            </a:r>
            <a:r>
              <a:rPr lang="en-US" altLang="ko-KR" sz="1400" dirty="0"/>
              <a:t>” container to remain </a:t>
            </a:r>
            <a:r>
              <a:rPr lang="en-US" altLang="ko-KR" sz="1400" b="1" dirty="0"/>
              <a:t>portable</a:t>
            </a:r>
            <a:r>
              <a:rPr lang="en-US" altLang="ko-KR" sz="1400" dirty="0"/>
              <a:t> across environments and </a:t>
            </a:r>
            <a:r>
              <a:rPr lang="en-US" altLang="ko-KR" sz="1400" b="1" dirty="0"/>
              <a:t>distributable</a:t>
            </a:r>
            <a:r>
              <a:rPr lang="en-US" altLang="ko-KR" sz="1400" dirty="0"/>
              <a:t> through public Docker repositories.</a:t>
            </a:r>
          </a:p>
          <a:p>
            <a:pPr lvl="1">
              <a:buFont typeface="Wingdings" panose="05000000000000000000" pitchFamily="2" charset="2"/>
              <a:buChar char="§"/>
            </a:pPr>
            <a:r>
              <a:rPr lang="en-US" altLang="ko-KR" sz="1400" b="1" dirty="0"/>
              <a:t>The first step in creating a secret is to obtain the raw data we want to store</a:t>
            </a:r>
            <a:r>
              <a:rPr lang="en-US" altLang="ko-KR" sz="1400" dirty="0"/>
              <a:t>. The </a:t>
            </a:r>
            <a:r>
              <a:rPr lang="en-US" altLang="ko-KR" sz="1400" b="1" dirty="0"/>
              <a:t>TLS key </a:t>
            </a:r>
            <a:r>
              <a:rPr lang="en-US" altLang="ko-KR" sz="1400" dirty="0"/>
              <a:t>and </a:t>
            </a:r>
            <a:r>
              <a:rPr lang="en-US" altLang="ko-KR" sz="1400" b="1" dirty="0"/>
              <a:t>certificate</a:t>
            </a:r>
            <a:r>
              <a:rPr lang="en-US" altLang="ko-KR" sz="1400" dirty="0"/>
              <a:t> for the “</a:t>
            </a:r>
            <a:r>
              <a:rPr lang="en-US" altLang="ko-KR" sz="1400" b="1" dirty="0" err="1"/>
              <a:t>kuard</a:t>
            </a:r>
            <a:r>
              <a:rPr lang="en-US" altLang="ko-KR" sz="1400" dirty="0"/>
              <a:t>” application can be downloaded by running the following commands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E6922BD5-3750-4F11-B157-5D1299A53F9F}"/>
              </a:ext>
            </a:extLst>
          </p:cNvPr>
          <p:cNvGrpSpPr/>
          <p:nvPr/>
        </p:nvGrpSpPr>
        <p:grpSpPr>
          <a:xfrm>
            <a:off x="1314450" y="2896152"/>
            <a:ext cx="9563100" cy="3040495"/>
            <a:chOff x="1314450" y="2804712"/>
            <a:chExt cx="9563100" cy="3040495"/>
          </a:xfrm>
        </p:grpSpPr>
        <p:sp>
          <p:nvSpPr>
            <p:cNvPr id="4" name="직사각형 3">
              <a:extLst>
                <a:ext uri="{FF2B5EF4-FFF2-40B4-BE49-F238E27FC236}">
                  <a16:creationId xmlns:a16="http://schemas.microsoft.com/office/drawing/2014/main" id="{8A429012-0985-4EAA-933B-541C48DC6F3A}"/>
                </a:ext>
              </a:extLst>
            </p:cNvPr>
            <p:cNvSpPr/>
            <p:nvPr/>
          </p:nvSpPr>
          <p:spPr>
            <a:xfrm>
              <a:off x="3048000" y="2804712"/>
              <a:ext cx="6096000" cy="400110"/>
            </a:xfrm>
            <a:prstGeom prst="rect">
              <a:avLst/>
            </a:prstGeom>
            <a:ln>
              <a:solidFill>
                <a:schemeClr val="bg1">
                  <a:lumMod val="50000"/>
                </a:schemeClr>
              </a:solidFill>
            </a:ln>
          </p:spPr>
          <p:txBody>
            <a:bodyPr>
              <a:spAutoFit/>
            </a:bodyPr>
            <a:lstStyle/>
            <a:p>
              <a:r>
                <a:rPr lang="en-US" altLang="ko-KR" sz="1000" b="1" dirty="0"/>
                <a:t>$ curl -o kuard.crt https://storage.googleapis.com/kuar-demo/kuard.crt</a:t>
              </a:r>
            </a:p>
            <a:p>
              <a:r>
                <a:rPr lang="en-US" altLang="ko-KR" sz="1000" b="1" dirty="0"/>
                <a:t>$ curl -o </a:t>
              </a:r>
              <a:r>
                <a:rPr lang="en-US" altLang="ko-KR" sz="1000" b="1" dirty="0" err="1"/>
                <a:t>kuard.key</a:t>
              </a:r>
              <a:r>
                <a:rPr lang="en-US" altLang="ko-KR" sz="1000" b="1" dirty="0"/>
                <a:t> https://storage.googleapis.com/kuar-demo/kuard.key</a:t>
              </a:r>
              <a:endParaRPr lang="ko-KR" altLang="en-US" sz="1000" b="1" dirty="0"/>
            </a:p>
          </p:txBody>
        </p:sp>
        <p:pic>
          <p:nvPicPr>
            <p:cNvPr id="8" name="그림 7">
              <a:extLst>
                <a:ext uri="{FF2B5EF4-FFF2-40B4-BE49-F238E27FC236}">
                  <a16:creationId xmlns:a16="http://schemas.microsoft.com/office/drawing/2014/main" id="{FD40AC79-AC18-474B-A310-E651B9162E4A}"/>
                </a:ext>
              </a:extLst>
            </p:cNvPr>
            <p:cNvPicPr>
              <a:picLocks noChangeAspect="1"/>
            </p:cNvPicPr>
            <p:nvPr/>
          </p:nvPicPr>
          <p:blipFill>
            <a:blip r:embed="rId2"/>
            <a:stretch>
              <a:fillRect/>
            </a:stretch>
          </p:blipFill>
          <p:spPr>
            <a:xfrm>
              <a:off x="1314450" y="3522364"/>
              <a:ext cx="9563100" cy="2322843"/>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952A4AF9-2864-4E2E-9F43-251EFEF664D1}"/>
                </a:ext>
              </a:extLst>
            </p:cNvPr>
            <p:cNvSpPr/>
            <p:nvPr/>
          </p:nvSpPr>
          <p:spPr>
            <a:xfrm>
              <a:off x="5905500" y="3222138"/>
              <a:ext cx="381000" cy="28291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9949849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Secrets(3/9)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Secrets :</a:t>
            </a:r>
          </a:p>
          <a:p>
            <a:pPr lvl="1">
              <a:buFont typeface="Wingdings" panose="05000000000000000000" pitchFamily="2" charset="2"/>
              <a:buChar char="§"/>
            </a:pPr>
            <a:r>
              <a:rPr lang="en-US" altLang="ko-KR" sz="1400" dirty="0"/>
              <a:t>With the kuard.crt and </a:t>
            </a:r>
            <a:r>
              <a:rPr lang="en-US" altLang="ko-KR" sz="1400" dirty="0" err="1"/>
              <a:t>kuard.key</a:t>
            </a:r>
            <a:r>
              <a:rPr lang="en-US" altLang="ko-KR" sz="1400" dirty="0"/>
              <a:t> files stored locally, we are ready to create a secret. Create a secret named </a:t>
            </a:r>
            <a:r>
              <a:rPr lang="en-US" altLang="ko-KR" sz="1400" dirty="0" err="1"/>
              <a:t>kuard-tls</a:t>
            </a:r>
            <a:r>
              <a:rPr lang="en-US" altLang="ko-KR" sz="1400" dirty="0"/>
              <a:t> using the create secret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 </a:t>
            </a:r>
            <a:r>
              <a:rPr lang="en-US" altLang="ko-KR" sz="1400" b="1" dirty="0"/>
              <a:t>“</a:t>
            </a:r>
            <a:r>
              <a:rPr lang="en-US" altLang="ko-KR" sz="1400" b="1" dirty="0" err="1"/>
              <a:t>kuard-tls</a:t>
            </a:r>
            <a:r>
              <a:rPr lang="en-US" altLang="ko-KR" sz="1400" b="1" dirty="0"/>
              <a:t>” secret </a:t>
            </a:r>
            <a:r>
              <a:rPr lang="en-US" altLang="ko-KR" sz="1400" dirty="0"/>
              <a:t>has been created with two data elements. Run the following command to get details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C2E582B2-8C2E-4473-8CCC-6A0B2429F587}"/>
              </a:ext>
            </a:extLst>
          </p:cNvPr>
          <p:cNvSpPr/>
          <p:nvPr/>
        </p:nvSpPr>
        <p:spPr>
          <a:xfrm>
            <a:off x="3048000" y="1633835"/>
            <a:ext cx="6096000" cy="553998"/>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create </a:t>
            </a:r>
            <a:r>
              <a:rPr lang="en-US" altLang="ko-KR" sz="1000" b="1" dirty="0">
                <a:solidFill>
                  <a:srgbClr val="FF0000"/>
                </a:solidFill>
              </a:rPr>
              <a:t>secret generic </a:t>
            </a:r>
            <a:r>
              <a:rPr lang="en-US" altLang="ko-KR" sz="1000" b="1" dirty="0" err="1">
                <a:solidFill>
                  <a:srgbClr val="FF0000"/>
                </a:solidFill>
              </a:rPr>
              <a:t>kuard-tls</a:t>
            </a:r>
            <a:r>
              <a:rPr lang="en-US" altLang="ko-KR" sz="1000" b="1" dirty="0">
                <a:solidFill>
                  <a:srgbClr val="FF0000"/>
                </a:solidFill>
              </a:rPr>
              <a:t> \</a:t>
            </a:r>
          </a:p>
          <a:p>
            <a:r>
              <a:rPr lang="en-US" altLang="ko-KR" sz="1000" b="1" dirty="0">
                <a:solidFill>
                  <a:srgbClr val="FF0000"/>
                </a:solidFill>
              </a:rPr>
              <a:t>--from-file=kuard.crt \</a:t>
            </a:r>
          </a:p>
          <a:p>
            <a:r>
              <a:rPr lang="en-US" altLang="ko-KR" sz="1000" b="1" dirty="0">
                <a:solidFill>
                  <a:srgbClr val="FF0000"/>
                </a:solidFill>
              </a:rPr>
              <a:t>--from-file=</a:t>
            </a:r>
            <a:r>
              <a:rPr lang="en-US" altLang="ko-KR" sz="1000" b="1" dirty="0" err="1">
                <a:solidFill>
                  <a:srgbClr val="FF0000"/>
                </a:solidFill>
              </a:rPr>
              <a:t>kuard.key</a:t>
            </a:r>
            <a:endParaRPr lang="en-US" altLang="ko-KR" sz="1000" b="1" dirty="0">
              <a:solidFill>
                <a:srgbClr val="FF0000"/>
              </a:solidFill>
            </a:endParaRPr>
          </a:p>
        </p:txBody>
      </p:sp>
      <p:grpSp>
        <p:nvGrpSpPr>
          <p:cNvPr id="13" name="그룹 12">
            <a:extLst>
              <a:ext uri="{FF2B5EF4-FFF2-40B4-BE49-F238E27FC236}">
                <a16:creationId xmlns:a16="http://schemas.microsoft.com/office/drawing/2014/main" id="{A07724A9-646E-44A7-A272-C1085CDBD33D}"/>
              </a:ext>
            </a:extLst>
          </p:cNvPr>
          <p:cNvGrpSpPr/>
          <p:nvPr/>
        </p:nvGrpSpPr>
        <p:grpSpPr>
          <a:xfrm>
            <a:off x="1440588" y="2715210"/>
            <a:ext cx="9310823" cy="3693820"/>
            <a:chOff x="1440588" y="2715210"/>
            <a:chExt cx="9310823" cy="3693820"/>
          </a:xfrm>
        </p:grpSpPr>
        <p:grpSp>
          <p:nvGrpSpPr>
            <p:cNvPr id="11" name="그룹 10">
              <a:extLst>
                <a:ext uri="{FF2B5EF4-FFF2-40B4-BE49-F238E27FC236}">
                  <a16:creationId xmlns:a16="http://schemas.microsoft.com/office/drawing/2014/main" id="{CA16DABE-E405-4BFA-965C-BCB94893287D}"/>
                </a:ext>
              </a:extLst>
            </p:cNvPr>
            <p:cNvGrpSpPr/>
            <p:nvPr/>
          </p:nvGrpSpPr>
          <p:grpSpPr>
            <a:xfrm>
              <a:off x="1440588" y="2715210"/>
              <a:ext cx="9310823" cy="3693820"/>
              <a:chOff x="1440588" y="2715210"/>
              <a:chExt cx="9310823" cy="3693820"/>
            </a:xfrm>
          </p:grpSpPr>
          <p:sp>
            <p:nvSpPr>
              <p:cNvPr id="8" name="직사각형 7">
                <a:extLst>
                  <a:ext uri="{FF2B5EF4-FFF2-40B4-BE49-F238E27FC236}">
                    <a16:creationId xmlns:a16="http://schemas.microsoft.com/office/drawing/2014/main" id="{BE6677EE-D30F-4CAA-BA13-818B8BF1568C}"/>
                  </a:ext>
                </a:extLst>
              </p:cNvPr>
              <p:cNvSpPr/>
              <p:nvPr/>
            </p:nvSpPr>
            <p:spPr>
              <a:xfrm>
                <a:off x="3048000" y="2715210"/>
                <a:ext cx="6096000"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describe secrets </a:t>
                </a:r>
                <a:r>
                  <a:rPr lang="en-US" altLang="ko-KR" sz="1000" b="1" dirty="0" err="1">
                    <a:solidFill>
                      <a:srgbClr val="FF0000"/>
                    </a:solidFill>
                  </a:rPr>
                  <a:t>kuard-tls</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D403FB02-B328-4F4A-8E57-E2BB114481BC}"/>
                  </a:ext>
                </a:extLst>
              </p:cNvPr>
              <p:cNvSpPr/>
              <p:nvPr/>
            </p:nvSpPr>
            <p:spPr>
              <a:xfrm>
                <a:off x="5890260" y="2983934"/>
                <a:ext cx="411480" cy="26743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17080FA1-D86C-4A50-8531-DA80C93E0561}"/>
                  </a:ext>
                </a:extLst>
              </p:cNvPr>
              <p:cNvPicPr>
                <a:picLocks noChangeAspect="1"/>
              </p:cNvPicPr>
              <p:nvPr/>
            </p:nvPicPr>
            <p:blipFill>
              <a:blip r:embed="rId2"/>
              <a:stretch>
                <a:fillRect/>
              </a:stretch>
            </p:blipFill>
            <p:spPr>
              <a:xfrm>
                <a:off x="1440588" y="3251372"/>
                <a:ext cx="9310823" cy="3157658"/>
              </a:xfrm>
              <a:prstGeom prst="rect">
                <a:avLst/>
              </a:prstGeom>
              <a:ln>
                <a:solidFill>
                  <a:schemeClr val="bg1">
                    <a:lumMod val="50000"/>
                  </a:schemeClr>
                </a:solidFill>
              </a:ln>
            </p:spPr>
          </p:pic>
        </p:grpSp>
        <p:sp>
          <p:nvSpPr>
            <p:cNvPr id="12" name="직사각형 11">
              <a:extLst>
                <a:ext uri="{FF2B5EF4-FFF2-40B4-BE49-F238E27FC236}">
                  <a16:creationId xmlns:a16="http://schemas.microsoft.com/office/drawing/2014/main" id="{9F93C18C-8C03-4132-90EE-7F36FA006F2A}"/>
                </a:ext>
              </a:extLst>
            </p:cNvPr>
            <p:cNvSpPr/>
            <p:nvPr/>
          </p:nvSpPr>
          <p:spPr>
            <a:xfrm>
              <a:off x="2506980" y="4450080"/>
              <a:ext cx="723900" cy="1676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736535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Secrets in Kubernetes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Getting Secrets :</a:t>
            </a:r>
          </a:p>
          <a:p>
            <a:pPr lvl="1">
              <a:buFont typeface="Wingdings" panose="05000000000000000000" pitchFamily="2" charset="2"/>
              <a:buChar char="§"/>
            </a:pPr>
            <a:r>
              <a:rPr lang="en-US" altLang="ko-KR" sz="1400" dirty="0"/>
              <a:t>You can use “</a:t>
            </a:r>
            <a:r>
              <a:rPr lang="en-US" altLang="ko-KR" sz="1400" b="1" dirty="0" err="1"/>
              <a:t>kubectl</a:t>
            </a:r>
            <a:r>
              <a:rPr lang="en-US" altLang="ko-KR" sz="1400" b="1" dirty="0"/>
              <a:t> get secrets</a:t>
            </a:r>
            <a:r>
              <a:rPr lang="en-US" altLang="ko-KR" sz="1400" dirty="0"/>
              <a:t>” command to see the secrets in the Kubernetes.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E48C610D-6896-44ED-8ECA-31052B4B079E}"/>
              </a:ext>
            </a:extLst>
          </p:cNvPr>
          <p:cNvGrpSpPr/>
          <p:nvPr/>
        </p:nvGrpSpPr>
        <p:grpSpPr>
          <a:xfrm>
            <a:off x="1662112" y="1716609"/>
            <a:ext cx="8867775" cy="2743869"/>
            <a:chOff x="1662110" y="1533729"/>
            <a:chExt cx="8867775" cy="2743869"/>
          </a:xfrm>
        </p:grpSpPr>
        <p:pic>
          <p:nvPicPr>
            <p:cNvPr id="8" name="그림 7">
              <a:extLst>
                <a:ext uri="{FF2B5EF4-FFF2-40B4-BE49-F238E27FC236}">
                  <a16:creationId xmlns:a16="http://schemas.microsoft.com/office/drawing/2014/main" id="{78377CCD-DB2F-435D-8BCF-0FC9A3AB3021}"/>
                </a:ext>
              </a:extLst>
            </p:cNvPr>
            <p:cNvPicPr>
              <a:picLocks noChangeAspect="1"/>
            </p:cNvPicPr>
            <p:nvPr/>
          </p:nvPicPr>
          <p:blipFill>
            <a:blip r:embed="rId2"/>
            <a:stretch>
              <a:fillRect/>
            </a:stretch>
          </p:blipFill>
          <p:spPr>
            <a:xfrm>
              <a:off x="1662110" y="2239248"/>
              <a:ext cx="8867775" cy="2038350"/>
            </a:xfrm>
            <a:prstGeom prst="rect">
              <a:avLst/>
            </a:prstGeom>
            <a:ln>
              <a:solidFill>
                <a:schemeClr val="bg1">
                  <a:lumMod val="50000"/>
                </a:schemeClr>
              </a:solidFill>
            </a:ln>
          </p:spPr>
        </p:pic>
        <p:sp>
          <p:nvSpPr>
            <p:cNvPr id="9" name="직사각형 8">
              <a:extLst>
                <a:ext uri="{FF2B5EF4-FFF2-40B4-BE49-F238E27FC236}">
                  <a16:creationId xmlns:a16="http://schemas.microsoft.com/office/drawing/2014/main" id="{3DD46DC5-6047-49CD-8AF3-CCB2AFCF30C6}"/>
                </a:ext>
              </a:extLst>
            </p:cNvPr>
            <p:cNvSpPr/>
            <p:nvPr/>
          </p:nvSpPr>
          <p:spPr>
            <a:xfrm>
              <a:off x="3928852" y="1533729"/>
              <a:ext cx="4334293" cy="400110"/>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secrets</a:t>
              </a:r>
            </a:p>
            <a:p>
              <a:r>
                <a:rPr lang="en-US" altLang="ko-KR" sz="1000" b="1" dirty="0"/>
                <a:t>$ </a:t>
              </a:r>
              <a:r>
                <a:rPr lang="en-US" altLang="ko-KR" sz="1000" b="1" dirty="0" err="1"/>
                <a:t>kubectl</a:t>
              </a:r>
              <a:r>
                <a:rPr lang="en-US" altLang="ko-KR" sz="1000" b="1" dirty="0"/>
                <a:t> get secrets &lt;SECRET NAME&gt;</a:t>
              </a:r>
              <a:endParaRPr lang="ko-KR" altLang="en-US" sz="1000" b="1" dirty="0"/>
            </a:p>
          </p:txBody>
        </p:sp>
        <p:sp>
          <p:nvSpPr>
            <p:cNvPr id="10" name="화살표: 아래쪽 9">
              <a:extLst>
                <a:ext uri="{FF2B5EF4-FFF2-40B4-BE49-F238E27FC236}">
                  <a16:creationId xmlns:a16="http://schemas.microsoft.com/office/drawing/2014/main" id="{83AB10B9-26EA-4428-BE44-E557821BE796}"/>
                </a:ext>
              </a:extLst>
            </p:cNvPr>
            <p:cNvSpPr/>
            <p:nvPr/>
          </p:nvSpPr>
          <p:spPr>
            <a:xfrm>
              <a:off x="5890258" y="1955220"/>
              <a:ext cx="411480" cy="28402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137590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Secrets(4/9)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Consuming Secrets :</a:t>
            </a:r>
          </a:p>
          <a:p>
            <a:pPr lvl="1">
              <a:buFont typeface="Wingdings" panose="05000000000000000000" pitchFamily="2" charset="2"/>
              <a:buChar char="§"/>
            </a:pPr>
            <a:r>
              <a:rPr lang="en-US" altLang="ko-KR" sz="1400" b="1" dirty="0"/>
              <a:t>Secrets can be consumed using the Kubernetes REST API by applications</a:t>
            </a:r>
            <a:r>
              <a:rPr lang="en-US" altLang="ko-KR" sz="1400" dirty="0"/>
              <a:t> </a:t>
            </a:r>
            <a:r>
              <a:rPr lang="en-US" altLang="ko-KR" sz="1400" b="1" dirty="0"/>
              <a:t>that know how to call that API directly</a:t>
            </a:r>
            <a:r>
              <a:rPr lang="en-US" altLang="ko-KR" sz="1400" dirty="0"/>
              <a:t>. However, our goal is to </a:t>
            </a:r>
            <a:r>
              <a:rPr lang="en-US" altLang="ko-KR" sz="1400" b="1" dirty="0"/>
              <a:t>keep applications portable</a:t>
            </a:r>
            <a:r>
              <a:rPr lang="en-US" altLang="ko-KR" sz="1400" dirty="0"/>
              <a:t>. Not only should they run well in Kubernetes, but </a:t>
            </a:r>
            <a:r>
              <a:rPr lang="en-US" altLang="ko-KR" sz="1400" b="1" dirty="0"/>
              <a:t>they should run, unmodified, on other platforms</a:t>
            </a:r>
            <a:r>
              <a:rPr lang="en-US" altLang="ko-KR" sz="1400" dirty="0"/>
              <a:t>. Instead of accessing secrets through the API server, we can use </a:t>
            </a:r>
            <a:r>
              <a:rPr lang="en-US" altLang="ko-KR" sz="1400" b="1" dirty="0">
                <a:solidFill>
                  <a:srgbClr val="FF0000"/>
                </a:solidFill>
              </a:rPr>
              <a:t>a secrets volume</a:t>
            </a:r>
            <a:r>
              <a:rPr lang="en-US" altLang="ko-KR" sz="1400" dirty="0"/>
              <a:t>. </a:t>
            </a:r>
          </a:p>
          <a:p>
            <a:pPr lvl="1">
              <a:buFont typeface="Wingdings" panose="05000000000000000000" pitchFamily="2" charset="2"/>
              <a:buChar char="§"/>
            </a:pPr>
            <a:r>
              <a:rPr lang="en-US" altLang="ko-KR" sz="1400" b="1" dirty="0"/>
              <a:t>Secret volumes </a:t>
            </a:r>
            <a:r>
              <a:rPr lang="en-US" altLang="ko-KR" sz="1400" dirty="0"/>
              <a:t>- </a:t>
            </a:r>
          </a:p>
          <a:p>
            <a:pPr lvl="2">
              <a:buFont typeface="Wingdings" panose="05000000000000000000" pitchFamily="2" charset="2"/>
              <a:buChar char="§"/>
            </a:pPr>
            <a:r>
              <a:rPr lang="en-US" altLang="ko-KR" sz="1400" b="1" dirty="0"/>
              <a:t>Secret data can be exposed to Pods using the “</a:t>
            </a:r>
            <a:r>
              <a:rPr lang="en-US" altLang="ko-KR" sz="1400" b="1" dirty="0">
                <a:solidFill>
                  <a:srgbClr val="FF0000"/>
                </a:solidFill>
              </a:rPr>
              <a:t>secrets volume type</a:t>
            </a:r>
            <a:r>
              <a:rPr lang="en-US" altLang="ko-KR" sz="1400" b="1" dirty="0"/>
              <a:t>”</a:t>
            </a:r>
            <a:r>
              <a:rPr lang="en-US" altLang="ko-KR" sz="1400" dirty="0"/>
              <a:t>. </a:t>
            </a:r>
            <a:r>
              <a:rPr lang="en-US" altLang="ko-KR" sz="1400" b="1" dirty="0"/>
              <a:t>Secrets volumes are managed by the </a:t>
            </a:r>
            <a:r>
              <a:rPr lang="en-US" altLang="ko-KR" sz="1400" b="1" dirty="0" err="1"/>
              <a:t>kubelet</a:t>
            </a:r>
            <a:r>
              <a:rPr lang="en-US" altLang="ko-KR" sz="1400" b="1" dirty="0"/>
              <a:t> and are created at Pod creation time. Secrets are stored on “</a:t>
            </a:r>
            <a:r>
              <a:rPr lang="en-US" altLang="ko-KR" sz="1400" b="1" dirty="0" err="1">
                <a:solidFill>
                  <a:srgbClr val="FF0000"/>
                </a:solidFill>
              </a:rPr>
              <a:t>tmpfs</a:t>
            </a:r>
            <a:r>
              <a:rPr lang="en-US" altLang="ko-KR" sz="1400" b="1" dirty="0"/>
              <a:t>(Temporary File System)” volumes (aka RAM disks), and as such are not written to disk on nodes</a:t>
            </a:r>
            <a:r>
              <a:rPr lang="en-US" altLang="ko-KR" sz="1400" dirty="0"/>
              <a:t>. </a:t>
            </a:r>
            <a:r>
              <a:rPr lang="en-US" altLang="ko-KR" sz="1400" b="1" dirty="0"/>
              <a:t>Each data element of a secret is stored in a separate file under “the target mount point specified in the volume mount”</a:t>
            </a:r>
            <a:r>
              <a:rPr lang="en-US" altLang="ko-KR" sz="1400" dirty="0"/>
              <a:t>. </a:t>
            </a:r>
          </a:p>
          <a:p>
            <a:pPr lvl="2">
              <a:buFont typeface="Wingdings" panose="05000000000000000000" pitchFamily="2" charset="2"/>
              <a:buChar char="§"/>
            </a:pPr>
            <a:r>
              <a:rPr lang="en-US" altLang="ko-KR" sz="1400" dirty="0"/>
              <a:t>The “</a:t>
            </a:r>
            <a:r>
              <a:rPr lang="en-US" altLang="ko-KR" sz="1400" b="1" dirty="0" err="1"/>
              <a:t>kuard-tls</a:t>
            </a:r>
            <a:r>
              <a:rPr lang="en-US" altLang="ko-KR" sz="1400" dirty="0"/>
              <a:t>” secret contains two </a:t>
            </a:r>
            <a:r>
              <a:rPr lang="en-US" altLang="ko-KR" sz="1400" b="1" dirty="0"/>
              <a:t>data elements </a:t>
            </a:r>
            <a:r>
              <a:rPr lang="en-US" altLang="ko-KR" sz="1400" dirty="0"/>
              <a:t>: “</a:t>
            </a:r>
            <a:r>
              <a:rPr lang="en-US" altLang="ko-KR" sz="1400" b="1" dirty="0"/>
              <a:t>kuard.crt</a:t>
            </a:r>
            <a:r>
              <a:rPr lang="en-US" altLang="ko-KR" sz="1400" dirty="0"/>
              <a:t>” and “</a:t>
            </a:r>
            <a:r>
              <a:rPr lang="en-US" altLang="ko-KR" sz="1400" b="1" dirty="0" err="1"/>
              <a:t>kuard.key</a:t>
            </a:r>
            <a:r>
              <a:rPr lang="en-US" altLang="ko-KR" sz="1400" dirty="0"/>
              <a:t>”. </a:t>
            </a:r>
            <a:r>
              <a:rPr lang="en-US" altLang="ko-KR" sz="1400" b="1" dirty="0"/>
              <a:t>Mounting the “</a:t>
            </a:r>
            <a:r>
              <a:rPr lang="en-US" altLang="ko-KR" sz="1400" b="1" dirty="0" err="1"/>
              <a:t>kuard-tls</a:t>
            </a:r>
            <a:r>
              <a:rPr lang="en-US" altLang="ko-KR" sz="1400" b="1" dirty="0"/>
              <a:t>” secrets volume to “/</a:t>
            </a:r>
            <a:r>
              <a:rPr lang="en-US" altLang="ko-KR" sz="1400" b="1" dirty="0" err="1"/>
              <a:t>tls</a:t>
            </a:r>
            <a:r>
              <a:rPr lang="en-US" altLang="ko-KR" sz="1400" b="1" dirty="0"/>
              <a:t>”</a:t>
            </a:r>
            <a:r>
              <a:rPr lang="en-US" altLang="ko-KR" sz="1400" dirty="0"/>
              <a:t> results in the following files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92BADDA2-293C-4896-B13F-7FA85F8330AE}"/>
              </a:ext>
            </a:extLst>
          </p:cNvPr>
          <p:cNvSpPr/>
          <p:nvPr/>
        </p:nvSpPr>
        <p:spPr>
          <a:xfrm>
            <a:off x="3048000" y="3591718"/>
            <a:ext cx="6096000" cy="400110"/>
          </a:xfrm>
          <a:prstGeom prst="rect">
            <a:avLst/>
          </a:prstGeom>
          <a:ln>
            <a:solidFill>
              <a:schemeClr val="bg1">
                <a:lumMod val="50000"/>
              </a:schemeClr>
            </a:solidFill>
          </a:ln>
        </p:spPr>
        <p:txBody>
          <a:bodyPr>
            <a:spAutoFit/>
          </a:bodyPr>
          <a:lstStyle/>
          <a:p>
            <a:r>
              <a:rPr lang="en-US" altLang="ko-KR" sz="1000" b="1" dirty="0"/>
              <a:t>/</a:t>
            </a:r>
            <a:r>
              <a:rPr lang="en-US" altLang="ko-KR" sz="1000" b="1" dirty="0" err="1"/>
              <a:t>tls</a:t>
            </a:r>
            <a:r>
              <a:rPr lang="en-US" altLang="ko-KR" sz="1000" b="1" dirty="0"/>
              <a:t>/kuard.crt</a:t>
            </a:r>
          </a:p>
          <a:p>
            <a:r>
              <a:rPr lang="en-US" altLang="ko-KR" sz="1000" b="1" dirty="0"/>
              <a:t>/</a:t>
            </a:r>
            <a:r>
              <a:rPr lang="en-US" altLang="ko-KR" sz="1000" b="1" dirty="0" err="1"/>
              <a:t>tls</a:t>
            </a:r>
            <a:r>
              <a:rPr lang="en-US" altLang="ko-KR" sz="1000" b="1" dirty="0"/>
              <a:t>/</a:t>
            </a:r>
            <a:r>
              <a:rPr lang="en-US" altLang="ko-KR" sz="1000" b="1" dirty="0" err="1"/>
              <a:t>kuard.key</a:t>
            </a:r>
            <a:endParaRPr lang="ko-KR" altLang="en-US" sz="1000" b="1" dirty="0"/>
          </a:p>
        </p:txBody>
      </p:sp>
      <p:grpSp>
        <p:nvGrpSpPr>
          <p:cNvPr id="10" name="그룹 9">
            <a:extLst>
              <a:ext uri="{FF2B5EF4-FFF2-40B4-BE49-F238E27FC236}">
                <a16:creationId xmlns:a16="http://schemas.microsoft.com/office/drawing/2014/main" id="{060349DA-94D8-4803-9E02-C6CA1B6BE234}"/>
              </a:ext>
            </a:extLst>
          </p:cNvPr>
          <p:cNvGrpSpPr/>
          <p:nvPr/>
        </p:nvGrpSpPr>
        <p:grpSpPr>
          <a:xfrm>
            <a:off x="3920014" y="4085977"/>
            <a:ext cx="4351972" cy="2323053"/>
            <a:chOff x="3920014" y="4085977"/>
            <a:chExt cx="4351972" cy="2323053"/>
          </a:xfrm>
        </p:grpSpPr>
        <p:pic>
          <p:nvPicPr>
            <p:cNvPr id="8" name="그림 7">
              <a:extLst>
                <a:ext uri="{FF2B5EF4-FFF2-40B4-BE49-F238E27FC236}">
                  <a16:creationId xmlns:a16="http://schemas.microsoft.com/office/drawing/2014/main" id="{A5EA59CE-5E34-4E57-8FC9-13AC6ED63D1A}"/>
                </a:ext>
              </a:extLst>
            </p:cNvPr>
            <p:cNvPicPr>
              <a:picLocks noChangeAspect="1"/>
            </p:cNvPicPr>
            <p:nvPr/>
          </p:nvPicPr>
          <p:blipFill>
            <a:blip r:embed="rId2"/>
            <a:stretch>
              <a:fillRect/>
            </a:stretch>
          </p:blipFill>
          <p:spPr>
            <a:xfrm>
              <a:off x="3920014" y="4085977"/>
              <a:ext cx="4351972" cy="2323053"/>
            </a:xfrm>
            <a:prstGeom prst="rect">
              <a:avLst/>
            </a:prstGeom>
          </p:spPr>
        </p:pic>
        <p:sp>
          <p:nvSpPr>
            <p:cNvPr id="9" name="사각형: 둥근 모서리 8">
              <a:extLst>
                <a:ext uri="{FF2B5EF4-FFF2-40B4-BE49-F238E27FC236}">
                  <a16:creationId xmlns:a16="http://schemas.microsoft.com/office/drawing/2014/main" id="{F0E4B846-2E7B-496E-B0A9-55F65D1AF6AC}"/>
                </a:ext>
              </a:extLst>
            </p:cNvPr>
            <p:cNvSpPr/>
            <p:nvPr/>
          </p:nvSpPr>
          <p:spPr>
            <a:xfrm>
              <a:off x="6416040" y="4366260"/>
              <a:ext cx="1325880" cy="22098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007612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Secrets(5/9)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Consuming Secrets :</a:t>
            </a:r>
          </a:p>
          <a:p>
            <a:pPr lvl="1">
              <a:buFont typeface="Wingdings" panose="05000000000000000000" pitchFamily="2" charset="2"/>
              <a:buChar char="§"/>
            </a:pPr>
            <a:r>
              <a:rPr lang="en-US" altLang="ko-KR" sz="1400" b="1" dirty="0"/>
              <a:t>Secret volumes </a:t>
            </a:r>
            <a:r>
              <a:rPr lang="en-US" altLang="ko-KR" sz="1400" dirty="0"/>
              <a:t>- </a:t>
            </a:r>
          </a:p>
          <a:p>
            <a:pPr lvl="2">
              <a:buFont typeface="Wingdings" panose="05000000000000000000" pitchFamily="2" charset="2"/>
              <a:buChar char="§"/>
            </a:pPr>
            <a:r>
              <a:rPr lang="en-US" altLang="ko-KR" sz="1400" b="1" dirty="0"/>
              <a:t>The following Pod manifest demonstrates </a:t>
            </a:r>
            <a:r>
              <a:rPr lang="en-US" altLang="ko-KR" sz="1400" dirty="0"/>
              <a:t>how to declare a secrets volume, which </a:t>
            </a:r>
            <a:r>
              <a:rPr lang="en-US" altLang="ko-KR" sz="1400" b="1" dirty="0"/>
              <a:t>exposes the “</a:t>
            </a:r>
            <a:r>
              <a:rPr lang="en-US" altLang="ko-KR" sz="1400" b="1" dirty="0" err="1"/>
              <a:t>kuard-tls</a:t>
            </a:r>
            <a:r>
              <a:rPr lang="en-US" altLang="ko-KR" sz="1400" b="1" dirty="0"/>
              <a:t>” secret to the “</a:t>
            </a:r>
            <a:r>
              <a:rPr lang="en-US" altLang="ko-KR" sz="1400" b="1" dirty="0" err="1"/>
              <a:t>kuard</a:t>
            </a:r>
            <a:r>
              <a:rPr lang="en-US" altLang="ko-KR" sz="1400" b="1" dirty="0"/>
              <a:t>” container under “/</a:t>
            </a:r>
            <a:r>
              <a:rPr lang="en-US" altLang="ko-KR" sz="1400" b="1" dirty="0" err="1"/>
              <a:t>tls</a:t>
            </a:r>
            <a:r>
              <a:rPr lang="en-US" altLang="ko-KR" sz="1400" b="1" dirty="0"/>
              <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6E1BC9D5-9036-4D18-BAA8-054C3345461D}"/>
              </a:ext>
            </a:extLst>
          </p:cNvPr>
          <p:cNvGrpSpPr/>
          <p:nvPr/>
        </p:nvGrpSpPr>
        <p:grpSpPr>
          <a:xfrm>
            <a:off x="3048000" y="2074783"/>
            <a:ext cx="6096000" cy="2954655"/>
            <a:chOff x="3048000" y="2074783"/>
            <a:chExt cx="6096000" cy="2954655"/>
          </a:xfrm>
        </p:grpSpPr>
        <p:sp>
          <p:nvSpPr>
            <p:cNvPr id="4" name="직사각형 3">
              <a:extLst>
                <a:ext uri="{FF2B5EF4-FFF2-40B4-BE49-F238E27FC236}">
                  <a16:creationId xmlns:a16="http://schemas.microsoft.com/office/drawing/2014/main" id="{C39032E7-1D56-42B7-9D03-C1D5E1FF79E5}"/>
                </a:ext>
              </a:extLst>
            </p:cNvPr>
            <p:cNvSpPr/>
            <p:nvPr/>
          </p:nvSpPr>
          <p:spPr>
            <a:xfrm>
              <a:off x="3048000" y="2074783"/>
              <a:ext cx="6096000" cy="2708434"/>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solidFill>
                    <a:srgbClr val="FF0000"/>
                  </a:solidFill>
                </a:rPr>
                <a:t>kuard-tls</a:t>
              </a:r>
              <a:endParaRPr lang="en-US" altLang="ko-KR" sz="1000" b="1" dirty="0">
                <a:solidFill>
                  <a:srgbClr val="FF0000"/>
                </a:solidFill>
              </a:endParaRPr>
            </a:p>
            <a:p>
              <a:r>
                <a:rPr lang="en-US" altLang="ko-KR" sz="1000" b="1" dirty="0"/>
                <a:t>spec:</a:t>
              </a:r>
            </a:p>
            <a:p>
              <a:r>
                <a:rPr lang="en-US" altLang="ko-KR" sz="1000" b="1" dirty="0"/>
                <a:t>  containers:</a:t>
              </a:r>
            </a:p>
            <a:p>
              <a:r>
                <a:rPr lang="en-US" altLang="ko-KR" sz="1000" b="1" dirty="0"/>
                <a:t>    - name: </a:t>
              </a:r>
              <a:r>
                <a:rPr lang="en-US" altLang="ko-KR" sz="1000" b="1" dirty="0" err="1">
                  <a:solidFill>
                    <a:srgbClr val="FF0000"/>
                  </a:solidFill>
                </a:rPr>
                <a:t>kuard-tls</a:t>
              </a:r>
              <a:endParaRPr lang="en-US" altLang="ko-KR" sz="1000" b="1" dirty="0">
                <a:solidFill>
                  <a:srgbClr val="FF0000"/>
                </a:solidFill>
              </a:endParaRPr>
            </a:p>
            <a:p>
              <a:r>
                <a:rPr lang="en-US" altLang="ko-KR" sz="1000" b="1" dirty="0"/>
                <a:t>      image: </a:t>
              </a:r>
              <a:r>
                <a:rPr lang="en-US" altLang="ko-KR" sz="1000" b="1" dirty="0">
                  <a:solidFill>
                    <a:srgbClr val="FF0000"/>
                  </a:solidFill>
                </a:rPr>
                <a:t>gcr.io/</a:t>
              </a:r>
              <a:r>
                <a:rPr lang="en-US" altLang="ko-KR" sz="1000" b="1" dirty="0" err="1">
                  <a:solidFill>
                    <a:srgbClr val="FF0000"/>
                  </a:solidFill>
                </a:rPr>
                <a:t>kuar</a:t>
              </a:r>
              <a:r>
                <a:rPr lang="en-US" altLang="ko-KR" sz="1000" b="1" dirty="0">
                  <a:solidFill>
                    <a:srgbClr val="FF0000"/>
                  </a:solidFill>
                </a:rPr>
                <a:t>-demo/kuard-amd64:1</a:t>
              </a:r>
            </a:p>
            <a:p>
              <a:r>
                <a:rPr lang="en-US" altLang="ko-KR" sz="1000" b="1" dirty="0"/>
                <a:t>      </a:t>
              </a:r>
              <a:r>
                <a:rPr lang="en-US" altLang="ko-KR" sz="1000" b="1" dirty="0" err="1"/>
                <a:t>imagePullPolicy</a:t>
              </a:r>
              <a:r>
                <a:rPr lang="en-US" altLang="ko-KR" sz="1000" b="1" dirty="0"/>
                <a:t>: Always</a:t>
              </a:r>
            </a:p>
            <a:p>
              <a:r>
                <a:rPr lang="en-US" altLang="ko-KR" sz="1000" b="1" dirty="0"/>
                <a:t>      </a:t>
              </a:r>
              <a:r>
                <a:rPr lang="en-US" altLang="ko-KR" sz="1000" b="1" dirty="0" err="1"/>
                <a:t>volumeMounts</a:t>
              </a:r>
              <a:r>
                <a:rPr lang="en-US" altLang="ko-KR" sz="1000" b="1" dirty="0"/>
                <a:t>:</a:t>
              </a:r>
            </a:p>
            <a:p>
              <a:r>
                <a:rPr lang="en-US" altLang="ko-KR" sz="1000" b="1" dirty="0"/>
                <a:t>      - name: </a:t>
              </a:r>
              <a:r>
                <a:rPr lang="en-US" altLang="ko-KR" sz="1000" b="1" dirty="0" err="1">
                  <a:solidFill>
                    <a:srgbClr val="FF0000"/>
                  </a:solidFill>
                </a:rPr>
                <a:t>tls</a:t>
              </a:r>
              <a:r>
                <a:rPr lang="en-US" altLang="ko-KR" sz="1000" b="1" dirty="0">
                  <a:solidFill>
                    <a:srgbClr val="FF0000"/>
                  </a:solidFill>
                </a:rPr>
                <a:t>-certs</a:t>
              </a:r>
            </a:p>
            <a:p>
              <a:r>
                <a:rPr lang="en-US" altLang="ko-KR" sz="1000" b="1" dirty="0"/>
                <a:t>        </a:t>
              </a:r>
              <a:r>
                <a:rPr lang="en-US" altLang="ko-KR" sz="1000" b="1" dirty="0" err="1"/>
                <a:t>mountPath</a:t>
              </a:r>
              <a:r>
                <a:rPr lang="en-US" altLang="ko-KR" sz="1000" b="1" dirty="0"/>
                <a:t>: </a:t>
              </a:r>
              <a:r>
                <a:rPr lang="en-US" altLang="ko-KR" sz="1000" b="1" dirty="0">
                  <a:solidFill>
                    <a:srgbClr val="FF0000"/>
                  </a:solidFill>
                </a:rPr>
                <a:t>"/</a:t>
              </a:r>
              <a:r>
                <a:rPr lang="en-US" altLang="ko-KR" sz="1000" b="1" dirty="0" err="1">
                  <a:solidFill>
                    <a:srgbClr val="FF0000"/>
                  </a:solidFill>
                </a:rPr>
                <a:t>tls</a:t>
              </a:r>
              <a:r>
                <a:rPr lang="en-US" altLang="ko-KR" sz="1000" b="1" dirty="0">
                  <a:solidFill>
                    <a:srgbClr val="FF0000"/>
                  </a:solidFill>
                </a:rPr>
                <a:t>"</a:t>
              </a:r>
            </a:p>
            <a:p>
              <a:r>
                <a:rPr lang="en-US" altLang="ko-KR" sz="1000" b="1" dirty="0"/>
                <a:t>        </a:t>
              </a:r>
              <a:r>
                <a:rPr lang="en-US" altLang="ko-KR" sz="1000" b="1" dirty="0" err="1">
                  <a:solidFill>
                    <a:srgbClr val="FF0000"/>
                  </a:solidFill>
                </a:rPr>
                <a:t>readOnly</a:t>
              </a:r>
              <a:r>
                <a:rPr lang="en-US" altLang="ko-KR" sz="1000" b="1" dirty="0">
                  <a:solidFill>
                    <a:srgbClr val="FF0000"/>
                  </a:solidFill>
                </a:rPr>
                <a:t>: true</a:t>
              </a:r>
            </a:p>
            <a:p>
              <a:r>
                <a:rPr lang="en-US" altLang="ko-KR" sz="1000" b="1" dirty="0"/>
                <a:t>  volumes:</a:t>
              </a:r>
            </a:p>
            <a:p>
              <a:r>
                <a:rPr lang="en-US" altLang="ko-KR" sz="1000" b="1" dirty="0"/>
                <a:t>    - name: </a:t>
              </a:r>
              <a:r>
                <a:rPr lang="en-US" altLang="ko-KR" sz="1000" b="1" dirty="0" err="1">
                  <a:solidFill>
                    <a:srgbClr val="FF0000"/>
                  </a:solidFill>
                </a:rPr>
                <a:t>tls</a:t>
              </a:r>
              <a:r>
                <a:rPr lang="en-US" altLang="ko-KR" sz="1000" b="1" dirty="0">
                  <a:solidFill>
                    <a:srgbClr val="FF0000"/>
                  </a:solidFill>
                </a:rPr>
                <a:t>-certs</a:t>
              </a:r>
            </a:p>
            <a:p>
              <a:r>
                <a:rPr lang="en-US" altLang="ko-KR" sz="1000" b="1" dirty="0"/>
                <a:t>      secret:</a:t>
              </a:r>
            </a:p>
            <a:p>
              <a:r>
                <a:rPr lang="en-US" altLang="ko-KR" sz="1000" b="1" dirty="0"/>
                <a:t>        </a:t>
              </a:r>
              <a:r>
                <a:rPr lang="en-US" altLang="ko-KR" sz="1000" b="1" dirty="0" err="1">
                  <a:solidFill>
                    <a:srgbClr val="FF0000"/>
                  </a:solidFill>
                </a:rPr>
                <a:t>secretName</a:t>
              </a:r>
              <a:r>
                <a:rPr lang="en-US" altLang="ko-KR" sz="1000" b="1" dirty="0">
                  <a:solidFill>
                    <a:srgbClr val="FF0000"/>
                  </a:solidFill>
                </a:rPr>
                <a:t>: </a:t>
              </a:r>
              <a:r>
                <a:rPr lang="en-US" altLang="ko-KR" sz="1000" b="1" dirty="0" err="1">
                  <a:solidFill>
                    <a:srgbClr val="FF0000"/>
                  </a:solidFill>
                </a:rPr>
                <a:t>kuard-tls</a:t>
              </a:r>
              <a:endParaRPr lang="ko-KR" altLang="en-US" sz="1000" b="1" dirty="0">
                <a:solidFill>
                  <a:srgbClr val="FF0000"/>
                </a:solidFill>
              </a:endParaRPr>
            </a:p>
          </p:txBody>
        </p:sp>
        <p:sp>
          <p:nvSpPr>
            <p:cNvPr id="8" name="TextBox 7">
              <a:extLst>
                <a:ext uri="{FF2B5EF4-FFF2-40B4-BE49-F238E27FC236}">
                  <a16:creationId xmlns:a16="http://schemas.microsoft.com/office/drawing/2014/main" id="{FF00CAC3-E12A-4F75-8F09-7EDADBB306C9}"/>
                </a:ext>
              </a:extLst>
            </p:cNvPr>
            <p:cNvSpPr txBox="1"/>
            <p:nvPr/>
          </p:nvSpPr>
          <p:spPr>
            <a:xfrm>
              <a:off x="5429791" y="4783217"/>
              <a:ext cx="1332417" cy="246221"/>
            </a:xfrm>
            <a:prstGeom prst="rect">
              <a:avLst/>
            </a:prstGeom>
            <a:noFill/>
          </p:spPr>
          <p:txBody>
            <a:bodyPr wrap="none" rtlCol="0">
              <a:spAutoFit/>
            </a:bodyPr>
            <a:lstStyle/>
            <a:p>
              <a:pPr algn="ctr"/>
              <a:r>
                <a:rPr lang="en-US" altLang="ko-KR" sz="1000" b="1" dirty="0" err="1"/>
                <a:t>kuard-secrets.yaml</a:t>
              </a:r>
              <a:endParaRPr lang="ko-KR" altLang="en-US" sz="1000" b="1" dirty="0"/>
            </a:p>
          </p:txBody>
        </p:sp>
      </p:grpSp>
    </p:spTree>
    <p:extLst>
      <p:ext uri="{BB962C8B-B14F-4D97-AF65-F5344CB8AC3E}">
        <p14:creationId xmlns:p14="http://schemas.microsoft.com/office/powerpoint/2010/main" val="20893070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Secrets(6/9)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Consuming Secrets :</a:t>
            </a:r>
          </a:p>
          <a:p>
            <a:pPr lvl="1">
              <a:buFont typeface="Wingdings" panose="05000000000000000000" pitchFamily="2" charset="2"/>
              <a:buChar char="§"/>
            </a:pPr>
            <a:r>
              <a:rPr lang="en-US" altLang="ko-KR" sz="1400" b="1" dirty="0"/>
              <a:t>Secret volumes </a:t>
            </a:r>
            <a:r>
              <a:rPr lang="en-US" altLang="ko-KR" sz="1400" dirty="0"/>
              <a:t>- </a:t>
            </a:r>
          </a:p>
          <a:p>
            <a:pPr lvl="2">
              <a:buFont typeface="Wingdings" panose="05000000000000000000" pitchFamily="2" charset="2"/>
              <a:buChar char="§"/>
            </a:pPr>
            <a:r>
              <a:rPr lang="en-US" altLang="ko-KR" sz="1400" b="1" dirty="0"/>
              <a:t>Create the “</a:t>
            </a:r>
            <a:r>
              <a:rPr lang="en-US" altLang="ko-KR" sz="1400" b="1" dirty="0" err="1"/>
              <a:t>kuard-tls</a:t>
            </a:r>
            <a:r>
              <a:rPr lang="en-US" altLang="ko-KR" sz="1400" b="1" dirty="0"/>
              <a:t>” Pod using </a:t>
            </a:r>
            <a:r>
              <a:rPr lang="en-US" altLang="ko-KR" sz="1400" b="1" dirty="0" err="1"/>
              <a:t>kubectl</a:t>
            </a:r>
            <a:r>
              <a:rPr lang="en-US" altLang="ko-KR" sz="1400" dirty="0"/>
              <a:t> and observe the log output from the running Pod :</a:t>
            </a:r>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r>
              <a:rPr lang="en-US" altLang="ko-KR" sz="1400" b="1" dirty="0"/>
              <a:t>Connect to the Pod </a:t>
            </a:r>
            <a:r>
              <a:rPr lang="en-US" altLang="ko-KR" sz="1400" dirty="0"/>
              <a:t>by running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D77CC04F-D285-41D0-B31E-3FAE609BC13D}"/>
              </a:ext>
            </a:extLst>
          </p:cNvPr>
          <p:cNvSpPr/>
          <p:nvPr/>
        </p:nvSpPr>
        <p:spPr>
          <a:xfrm>
            <a:off x="4112692" y="1727954"/>
            <a:ext cx="3966616"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kuard-secrets.yaml</a:t>
            </a:r>
            <a:endParaRPr lang="en-US" altLang="ko-KR" sz="1000" b="1" dirty="0">
              <a:solidFill>
                <a:srgbClr val="FF0000"/>
              </a:solidFill>
            </a:endParaRPr>
          </a:p>
        </p:txBody>
      </p:sp>
      <p:grpSp>
        <p:nvGrpSpPr>
          <p:cNvPr id="11" name="그룹 10">
            <a:extLst>
              <a:ext uri="{FF2B5EF4-FFF2-40B4-BE49-F238E27FC236}">
                <a16:creationId xmlns:a16="http://schemas.microsoft.com/office/drawing/2014/main" id="{FFEF20A1-F387-48B7-9E0C-04F49A0FC381}"/>
              </a:ext>
            </a:extLst>
          </p:cNvPr>
          <p:cNvGrpSpPr/>
          <p:nvPr/>
        </p:nvGrpSpPr>
        <p:grpSpPr>
          <a:xfrm>
            <a:off x="1333500" y="2529132"/>
            <a:ext cx="9525000" cy="2354694"/>
            <a:chOff x="1333500" y="2529132"/>
            <a:chExt cx="9525000" cy="2354694"/>
          </a:xfrm>
        </p:grpSpPr>
        <p:sp>
          <p:nvSpPr>
            <p:cNvPr id="8" name="직사각형 7">
              <a:extLst>
                <a:ext uri="{FF2B5EF4-FFF2-40B4-BE49-F238E27FC236}">
                  <a16:creationId xmlns:a16="http://schemas.microsoft.com/office/drawing/2014/main" id="{28117C22-A0DC-4ECB-A73E-4F26E01C1BCF}"/>
                </a:ext>
              </a:extLst>
            </p:cNvPr>
            <p:cNvSpPr/>
            <p:nvPr/>
          </p:nvSpPr>
          <p:spPr>
            <a:xfrm>
              <a:off x="4112692" y="2529132"/>
              <a:ext cx="3966616"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port-forward </a:t>
              </a:r>
              <a:r>
                <a:rPr lang="en-US" altLang="ko-KR" sz="1000" b="1" dirty="0" err="1">
                  <a:solidFill>
                    <a:srgbClr val="FF0000"/>
                  </a:solidFill>
                </a:rPr>
                <a:t>kuard-tls</a:t>
              </a:r>
              <a:r>
                <a:rPr lang="en-US" altLang="ko-KR" sz="1000" b="1" dirty="0">
                  <a:solidFill>
                    <a:srgbClr val="FF0000"/>
                  </a:solidFill>
                </a:rPr>
                <a:t> 8443:8443</a:t>
              </a:r>
            </a:p>
          </p:txBody>
        </p:sp>
        <p:pic>
          <p:nvPicPr>
            <p:cNvPr id="9" name="그림 8">
              <a:extLst>
                <a:ext uri="{FF2B5EF4-FFF2-40B4-BE49-F238E27FC236}">
                  <a16:creationId xmlns:a16="http://schemas.microsoft.com/office/drawing/2014/main" id="{10021ED6-3DB6-406E-96B0-DCE1245827D9}"/>
                </a:ext>
              </a:extLst>
            </p:cNvPr>
            <p:cNvPicPr>
              <a:picLocks noChangeAspect="1"/>
            </p:cNvPicPr>
            <p:nvPr/>
          </p:nvPicPr>
          <p:blipFill>
            <a:blip r:embed="rId2"/>
            <a:stretch>
              <a:fillRect/>
            </a:stretch>
          </p:blipFill>
          <p:spPr>
            <a:xfrm>
              <a:off x="1333500" y="3074076"/>
              <a:ext cx="9525000" cy="1809750"/>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17DF1452-6737-4A41-8808-682AA1B84C64}"/>
                </a:ext>
              </a:extLst>
            </p:cNvPr>
            <p:cNvSpPr/>
            <p:nvPr/>
          </p:nvSpPr>
          <p:spPr>
            <a:xfrm>
              <a:off x="5890260" y="2801604"/>
              <a:ext cx="41148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869135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Secrets(7/9)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Consuming Secrets :</a:t>
            </a:r>
          </a:p>
          <a:p>
            <a:pPr lvl="1">
              <a:buFont typeface="Wingdings" panose="05000000000000000000" pitchFamily="2" charset="2"/>
              <a:buChar char="§"/>
            </a:pPr>
            <a:r>
              <a:rPr lang="en-US" altLang="ko-KR" sz="1400" b="1" dirty="0"/>
              <a:t>Secret volumes </a:t>
            </a:r>
            <a:r>
              <a:rPr lang="en-US" altLang="ko-KR" sz="1400" dirty="0"/>
              <a:t>- </a:t>
            </a:r>
          </a:p>
          <a:p>
            <a:pPr lvl="2">
              <a:buFont typeface="Wingdings" panose="05000000000000000000" pitchFamily="2" charset="2"/>
              <a:buChar char="§"/>
            </a:pPr>
            <a:r>
              <a:rPr lang="en-US" altLang="ko-KR" sz="1400" b="1" dirty="0"/>
              <a:t>Navigate your browser to “</a:t>
            </a:r>
            <a:r>
              <a:rPr lang="en-US" altLang="ko-KR" sz="1400" b="1" dirty="0">
                <a:solidFill>
                  <a:srgbClr val="FF0000"/>
                </a:solidFill>
              </a:rPr>
              <a:t>https://localhost:8443</a:t>
            </a:r>
            <a:r>
              <a:rPr lang="en-US" altLang="ko-KR" sz="1400" b="1" dirty="0"/>
              <a:t>”.</a:t>
            </a:r>
            <a:r>
              <a:rPr lang="en-US" altLang="ko-KR" sz="1400" dirty="0"/>
              <a:t> </a:t>
            </a:r>
            <a:r>
              <a:rPr lang="en-US" altLang="ko-KR" sz="1400" b="1" dirty="0"/>
              <a:t>You should see some invalid certificate warnings </a:t>
            </a:r>
            <a:r>
              <a:rPr lang="en-US" altLang="ko-KR" sz="1400" dirty="0"/>
              <a:t>as this is “</a:t>
            </a:r>
            <a:r>
              <a:rPr lang="en-US" altLang="ko-KR" sz="1400" b="1" dirty="0"/>
              <a:t>a self-signed certificate for kuard.example.com</a:t>
            </a:r>
            <a:r>
              <a:rPr lang="en-US" altLang="ko-KR" sz="1400" dirty="0"/>
              <a:t>”. If you navigate past this warning, you should see the </a:t>
            </a:r>
            <a:r>
              <a:rPr lang="en-US" altLang="ko-KR" sz="1400" b="1" dirty="0"/>
              <a:t>“</a:t>
            </a:r>
            <a:r>
              <a:rPr lang="en-US" altLang="ko-KR" sz="1400" b="1" dirty="0" err="1"/>
              <a:t>kuard</a:t>
            </a:r>
            <a:r>
              <a:rPr lang="en-US" altLang="ko-KR" sz="1400" b="1" dirty="0"/>
              <a:t>” server hosted via </a:t>
            </a:r>
            <a:r>
              <a:rPr lang="en-US" altLang="ko-KR" sz="1400" b="1" dirty="0">
                <a:solidFill>
                  <a:srgbClr val="FF0000"/>
                </a:solidFill>
              </a:rPr>
              <a:t>HTTPS</a:t>
            </a:r>
            <a:r>
              <a:rPr lang="en-US" altLang="ko-KR" sz="1400" dirty="0"/>
              <a:t>. Use the “</a:t>
            </a:r>
            <a:r>
              <a:rPr lang="en-US" altLang="ko-KR" sz="1400" b="1" dirty="0"/>
              <a:t>File system browser</a:t>
            </a:r>
            <a:r>
              <a:rPr lang="en-US" altLang="ko-KR" sz="1400" dirty="0"/>
              <a:t>” </a:t>
            </a:r>
            <a:r>
              <a:rPr lang="en-US" altLang="ko-KR" sz="1400" b="1" dirty="0"/>
              <a:t>tab to find the certificates on disk</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945CA661-08A7-4208-B533-A5D31926F7AB}"/>
              </a:ext>
            </a:extLst>
          </p:cNvPr>
          <p:cNvGrpSpPr/>
          <p:nvPr/>
        </p:nvGrpSpPr>
        <p:grpSpPr>
          <a:xfrm>
            <a:off x="1360170" y="2333626"/>
            <a:ext cx="9471659" cy="3710279"/>
            <a:chOff x="1676400" y="2225036"/>
            <a:chExt cx="11841479" cy="4230678"/>
          </a:xfrm>
        </p:grpSpPr>
        <p:grpSp>
          <p:nvGrpSpPr>
            <p:cNvPr id="10" name="그룹 9">
              <a:extLst>
                <a:ext uri="{FF2B5EF4-FFF2-40B4-BE49-F238E27FC236}">
                  <a16:creationId xmlns:a16="http://schemas.microsoft.com/office/drawing/2014/main" id="{885FAD2F-0C2E-48B4-BC83-296091FCD37A}"/>
                </a:ext>
              </a:extLst>
            </p:cNvPr>
            <p:cNvGrpSpPr/>
            <p:nvPr/>
          </p:nvGrpSpPr>
          <p:grpSpPr>
            <a:xfrm>
              <a:off x="1676400" y="2225036"/>
              <a:ext cx="6789420" cy="2893478"/>
              <a:chOff x="1676400" y="2225036"/>
              <a:chExt cx="6789420" cy="2893478"/>
            </a:xfrm>
          </p:grpSpPr>
          <p:pic>
            <p:nvPicPr>
              <p:cNvPr id="4" name="그림 3">
                <a:extLst>
                  <a:ext uri="{FF2B5EF4-FFF2-40B4-BE49-F238E27FC236}">
                    <a16:creationId xmlns:a16="http://schemas.microsoft.com/office/drawing/2014/main" id="{FDE053BF-E41E-4F77-8C15-01D93DAF4E36}"/>
                  </a:ext>
                </a:extLst>
              </p:cNvPr>
              <p:cNvPicPr>
                <a:picLocks noChangeAspect="1"/>
              </p:cNvPicPr>
              <p:nvPr/>
            </p:nvPicPr>
            <p:blipFill>
              <a:blip r:embed="rId2"/>
              <a:stretch>
                <a:fillRect/>
              </a:stretch>
            </p:blipFill>
            <p:spPr>
              <a:xfrm>
                <a:off x="1676400" y="2225036"/>
                <a:ext cx="6789420" cy="2893478"/>
              </a:xfrm>
              <a:prstGeom prst="rect">
                <a:avLst/>
              </a:prstGeom>
              <a:ln>
                <a:solidFill>
                  <a:schemeClr val="bg1">
                    <a:lumMod val="50000"/>
                  </a:schemeClr>
                </a:solidFill>
              </a:ln>
            </p:spPr>
          </p:pic>
          <p:sp>
            <p:nvSpPr>
              <p:cNvPr id="9" name="직사각형 8">
                <a:extLst>
                  <a:ext uri="{FF2B5EF4-FFF2-40B4-BE49-F238E27FC236}">
                    <a16:creationId xmlns:a16="http://schemas.microsoft.com/office/drawing/2014/main" id="{CDA7E5BF-85C3-4FDB-9CE3-847A8E8BD7A2}"/>
                  </a:ext>
                </a:extLst>
              </p:cNvPr>
              <p:cNvSpPr/>
              <p:nvPr/>
            </p:nvSpPr>
            <p:spPr>
              <a:xfrm>
                <a:off x="3101340" y="4587240"/>
                <a:ext cx="350520" cy="2514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2" name="그룹 11">
              <a:extLst>
                <a:ext uri="{FF2B5EF4-FFF2-40B4-BE49-F238E27FC236}">
                  <a16:creationId xmlns:a16="http://schemas.microsoft.com/office/drawing/2014/main" id="{BC35A74C-DE56-4F0D-8FC4-398E160303F4}"/>
                </a:ext>
              </a:extLst>
            </p:cNvPr>
            <p:cNvGrpSpPr/>
            <p:nvPr/>
          </p:nvGrpSpPr>
          <p:grpSpPr>
            <a:xfrm>
              <a:off x="3840479" y="2880360"/>
              <a:ext cx="6789421" cy="2893478"/>
              <a:chOff x="3840479" y="2880360"/>
              <a:chExt cx="6789421" cy="2893478"/>
            </a:xfrm>
          </p:grpSpPr>
          <p:pic>
            <p:nvPicPr>
              <p:cNvPr id="8" name="그림 7">
                <a:extLst>
                  <a:ext uri="{FF2B5EF4-FFF2-40B4-BE49-F238E27FC236}">
                    <a16:creationId xmlns:a16="http://schemas.microsoft.com/office/drawing/2014/main" id="{8A8390EA-B924-4A67-B2FF-5FA103136B5A}"/>
                  </a:ext>
                </a:extLst>
              </p:cNvPr>
              <p:cNvPicPr>
                <a:picLocks noChangeAspect="1"/>
              </p:cNvPicPr>
              <p:nvPr/>
            </p:nvPicPr>
            <p:blipFill>
              <a:blip r:embed="rId3"/>
              <a:stretch>
                <a:fillRect/>
              </a:stretch>
            </p:blipFill>
            <p:spPr>
              <a:xfrm>
                <a:off x="3840479" y="2880360"/>
                <a:ext cx="6789421" cy="2893478"/>
              </a:xfrm>
              <a:prstGeom prst="rect">
                <a:avLst/>
              </a:prstGeom>
              <a:ln>
                <a:solidFill>
                  <a:schemeClr val="bg1">
                    <a:lumMod val="50000"/>
                  </a:schemeClr>
                </a:solidFill>
              </a:ln>
            </p:spPr>
          </p:pic>
          <p:sp>
            <p:nvSpPr>
              <p:cNvPr id="11" name="직사각형 10">
                <a:extLst>
                  <a:ext uri="{FF2B5EF4-FFF2-40B4-BE49-F238E27FC236}">
                    <a16:creationId xmlns:a16="http://schemas.microsoft.com/office/drawing/2014/main" id="{B7A3E6EE-C9B9-4B85-95CE-A2FDF6D587E3}"/>
                  </a:ext>
                </a:extLst>
              </p:cNvPr>
              <p:cNvSpPr/>
              <p:nvPr/>
            </p:nvSpPr>
            <p:spPr>
              <a:xfrm>
                <a:off x="5212080" y="4076700"/>
                <a:ext cx="1249680" cy="1524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3" name="그림 12">
              <a:extLst>
                <a:ext uri="{FF2B5EF4-FFF2-40B4-BE49-F238E27FC236}">
                  <a16:creationId xmlns:a16="http://schemas.microsoft.com/office/drawing/2014/main" id="{87099F1F-6CFD-4BA5-ACC5-CC4B32814064}"/>
                </a:ext>
              </a:extLst>
            </p:cNvPr>
            <p:cNvPicPr>
              <a:picLocks noChangeAspect="1"/>
            </p:cNvPicPr>
            <p:nvPr/>
          </p:nvPicPr>
          <p:blipFill>
            <a:blip r:embed="rId4"/>
            <a:stretch>
              <a:fillRect/>
            </a:stretch>
          </p:blipFill>
          <p:spPr>
            <a:xfrm>
              <a:off x="6728457" y="3562235"/>
              <a:ext cx="6789422" cy="2893479"/>
            </a:xfrm>
            <a:prstGeom prst="rect">
              <a:avLst/>
            </a:prstGeom>
            <a:ln>
              <a:solidFill>
                <a:schemeClr val="bg1">
                  <a:lumMod val="50000"/>
                </a:schemeClr>
              </a:solidFill>
            </a:ln>
          </p:spPr>
        </p:pic>
      </p:grpSp>
    </p:spTree>
    <p:extLst>
      <p:ext uri="{BB962C8B-B14F-4D97-AF65-F5344CB8AC3E}">
        <p14:creationId xmlns:p14="http://schemas.microsoft.com/office/powerpoint/2010/main" val="1796876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Browsing File System in </a:t>
            </a:r>
            <a:r>
              <a:rPr lang="en-US" altLang="ko-KR" sz="2800" b="1" dirty="0" err="1"/>
              <a:t>Kuard</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Navigating File System :</a:t>
            </a:r>
          </a:p>
          <a:p>
            <a:pPr lvl="1">
              <a:buFont typeface="Wingdings" panose="05000000000000000000" pitchFamily="2" charset="2"/>
              <a:buChar char="§"/>
            </a:pPr>
            <a:r>
              <a:rPr lang="en-US" altLang="ko-KR" sz="1400" dirty="0"/>
              <a:t>When you click “</a:t>
            </a:r>
            <a:r>
              <a:rPr lang="en-US" altLang="ko-KR" sz="1400" b="1" dirty="0"/>
              <a:t>File system browser</a:t>
            </a:r>
            <a:r>
              <a:rPr lang="en-US" altLang="ko-KR" sz="1400" dirty="0"/>
              <a:t>” tab, you can find file system hosted by “</a:t>
            </a:r>
            <a:r>
              <a:rPr lang="en-US" altLang="ko-KR" sz="1400" b="1" dirty="0" err="1"/>
              <a:t>kuard</a:t>
            </a:r>
            <a:r>
              <a:rPr lang="en-US" altLang="ko-KR" sz="1400" dirty="0"/>
              <a:t>” service. In “</a:t>
            </a:r>
            <a:r>
              <a:rPr lang="en-US" altLang="ko-KR" sz="1400" b="1" dirty="0"/>
              <a:t>/</a:t>
            </a:r>
            <a:r>
              <a:rPr lang="en-US" altLang="ko-KR" sz="1400" b="1" dirty="0" err="1"/>
              <a:t>tls</a:t>
            </a:r>
            <a:r>
              <a:rPr lang="en-US" altLang="ko-KR" sz="1400" dirty="0"/>
              <a:t>” directory, you can find the “</a:t>
            </a:r>
            <a:r>
              <a:rPr lang="en-US" altLang="ko-KR" sz="1400" b="1" dirty="0"/>
              <a:t>kuard.crt</a:t>
            </a:r>
            <a:r>
              <a:rPr lang="en-US" altLang="ko-KR" sz="1400" dirty="0"/>
              <a:t>” and “</a:t>
            </a:r>
            <a:r>
              <a:rPr lang="en-US" altLang="ko-KR" sz="1400" b="1" dirty="0" err="1"/>
              <a:t>kuard.key</a:t>
            </a:r>
            <a:r>
              <a:rPr lang="en-US" altLang="ko-KR" sz="1400" dirty="0"/>
              <a:t>” files.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E23CD78C-091B-4609-B4A1-2806F9E29C05}"/>
              </a:ext>
            </a:extLst>
          </p:cNvPr>
          <p:cNvGrpSpPr/>
          <p:nvPr/>
        </p:nvGrpSpPr>
        <p:grpSpPr>
          <a:xfrm>
            <a:off x="1076325" y="1774497"/>
            <a:ext cx="10039350" cy="4535169"/>
            <a:chOff x="1021080" y="1566804"/>
            <a:chExt cx="10763250" cy="4797166"/>
          </a:xfrm>
        </p:grpSpPr>
        <p:grpSp>
          <p:nvGrpSpPr>
            <p:cNvPr id="9" name="그룹 8">
              <a:extLst>
                <a:ext uri="{FF2B5EF4-FFF2-40B4-BE49-F238E27FC236}">
                  <a16:creationId xmlns:a16="http://schemas.microsoft.com/office/drawing/2014/main" id="{218F3546-6018-471C-965C-F373443971EF}"/>
                </a:ext>
              </a:extLst>
            </p:cNvPr>
            <p:cNvGrpSpPr/>
            <p:nvPr/>
          </p:nvGrpSpPr>
          <p:grpSpPr>
            <a:xfrm>
              <a:off x="1021080" y="1566804"/>
              <a:ext cx="7185660" cy="3062345"/>
              <a:chOff x="1021080" y="1566804"/>
              <a:chExt cx="7185660" cy="3062345"/>
            </a:xfrm>
          </p:grpSpPr>
          <p:pic>
            <p:nvPicPr>
              <p:cNvPr id="4" name="그림 3">
                <a:extLst>
                  <a:ext uri="{FF2B5EF4-FFF2-40B4-BE49-F238E27FC236}">
                    <a16:creationId xmlns:a16="http://schemas.microsoft.com/office/drawing/2014/main" id="{5C35CB99-48A5-4470-B53A-88BD0F7437D7}"/>
                  </a:ext>
                </a:extLst>
              </p:cNvPr>
              <p:cNvPicPr>
                <a:picLocks noChangeAspect="1"/>
              </p:cNvPicPr>
              <p:nvPr/>
            </p:nvPicPr>
            <p:blipFill>
              <a:blip r:embed="rId2"/>
              <a:stretch>
                <a:fillRect/>
              </a:stretch>
            </p:blipFill>
            <p:spPr>
              <a:xfrm>
                <a:off x="1021080" y="1566804"/>
                <a:ext cx="7185660" cy="3062345"/>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D1F4AD73-5A85-4E13-83B2-753BC83A6012}"/>
                  </a:ext>
                </a:extLst>
              </p:cNvPr>
              <p:cNvSpPr/>
              <p:nvPr/>
            </p:nvSpPr>
            <p:spPr>
              <a:xfrm>
                <a:off x="1112520" y="4091940"/>
                <a:ext cx="822960" cy="2743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2" name="그룹 11">
              <a:extLst>
                <a:ext uri="{FF2B5EF4-FFF2-40B4-BE49-F238E27FC236}">
                  <a16:creationId xmlns:a16="http://schemas.microsoft.com/office/drawing/2014/main" id="{6E1F84B0-6146-49C0-BDE5-20CAC164E94A}"/>
                </a:ext>
              </a:extLst>
            </p:cNvPr>
            <p:cNvGrpSpPr/>
            <p:nvPr/>
          </p:nvGrpSpPr>
          <p:grpSpPr>
            <a:xfrm>
              <a:off x="2796540" y="2432063"/>
              <a:ext cx="7185660" cy="3062345"/>
              <a:chOff x="2796540" y="2432063"/>
              <a:chExt cx="7185660" cy="3062345"/>
            </a:xfrm>
          </p:grpSpPr>
          <p:pic>
            <p:nvPicPr>
              <p:cNvPr id="10" name="그림 9">
                <a:extLst>
                  <a:ext uri="{FF2B5EF4-FFF2-40B4-BE49-F238E27FC236}">
                    <a16:creationId xmlns:a16="http://schemas.microsoft.com/office/drawing/2014/main" id="{3BBEABB0-40F1-4C06-90C2-DE55E6FB417D}"/>
                  </a:ext>
                </a:extLst>
              </p:cNvPr>
              <p:cNvPicPr>
                <a:picLocks noChangeAspect="1"/>
              </p:cNvPicPr>
              <p:nvPr/>
            </p:nvPicPr>
            <p:blipFill>
              <a:blip r:embed="rId3"/>
              <a:stretch>
                <a:fillRect/>
              </a:stretch>
            </p:blipFill>
            <p:spPr>
              <a:xfrm>
                <a:off x="2796540" y="2432063"/>
                <a:ext cx="7185660" cy="3062345"/>
              </a:xfrm>
              <a:prstGeom prst="rect">
                <a:avLst/>
              </a:prstGeom>
              <a:ln>
                <a:solidFill>
                  <a:schemeClr val="bg1">
                    <a:lumMod val="50000"/>
                  </a:schemeClr>
                </a:solidFill>
              </a:ln>
            </p:spPr>
          </p:pic>
          <p:sp>
            <p:nvSpPr>
              <p:cNvPr id="11" name="직사각형 10">
                <a:extLst>
                  <a:ext uri="{FF2B5EF4-FFF2-40B4-BE49-F238E27FC236}">
                    <a16:creationId xmlns:a16="http://schemas.microsoft.com/office/drawing/2014/main" id="{AF31E60F-E0E3-4BFF-9475-BE3AF18A583E}"/>
                  </a:ext>
                </a:extLst>
              </p:cNvPr>
              <p:cNvSpPr/>
              <p:nvPr/>
            </p:nvSpPr>
            <p:spPr>
              <a:xfrm>
                <a:off x="2857500" y="4736507"/>
                <a:ext cx="304800" cy="14791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5" name="그룹 14">
              <a:extLst>
                <a:ext uri="{FF2B5EF4-FFF2-40B4-BE49-F238E27FC236}">
                  <a16:creationId xmlns:a16="http://schemas.microsoft.com/office/drawing/2014/main" id="{9C74E7CA-BDBE-4611-84B7-429581A3D8D7}"/>
                </a:ext>
              </a:extLst>
            </p:cNvPr>
            <p:cNvGrpSpPr/>
            <p:nvPr/>
          </p:nvGrpSpPr>
          <p:grpSpPr>
            <a:xfrm>
              <a:off x="4598670" y="3301625"/>
              <a:ext cx="7185660" cy="3062345"/>
              <a:chOff x="4598670" y="3301625"/>
              <a:chExt cx="7185660" cy="3062345"/>
            </a:xfrm>
          </p:grpSpPr>
          <p:pic>
            <p:nvPicPr>
              <p:cNvPr id="13" name="그림 12">
                <a:extLst>
                  <a:ext uri="{FF2B5EF4-FFF2-40B4-BE49-F238E27FC236}">
                    <a16:creationId xmlns:a16="http://schemas.microsoft.com/office/drawing/2014/main" id="{0D2DDFFE-D0A9-4033-9E46-13BF0D54A09B}"/>
                  </a:ext>
                </a:extLst>
              </p:cNvPr>
              <p:cNvPicPr>
                <a:picLocks noChangeAspect="1"/>
              </p:cNvPicPr>
              <p:nvPr/>
            </p:nvPicPr>
            <p:blipFill>
              <a:blip r:embed="rId4"/>
              <a:stretch>
                <a:fillRect/>
              </a:stretch>
            </p:blipFill>
            <p:spPr>
              <a:xfrm>
                <a:off x="4598670" y="3301625"/>
                <a:ext cx="7185660" cy="3062345"/>
              </a:xfrm>
              <a:prstGeom prst="rect">
                <a:avLst/>
              </a:prstGeom>
              <a:ln>
                <a:solidFill>
                  <a:schemeClr val="bg1">
                    <a:lumMod val="50000"/>
                  </a:schemeClr>
                </a:solidFill>
              </a:ln>
            </p:spPr>
          </p:pic>
          <p:sp>
            <p:nvSpPr>
              <p:cNvPr id="14" name="직사각형 13">
                <a:extLst>
                  <a:ext uri="{FF2B5EF4-FFF2-40B4-BE49-F238E27FC236}">
                    <a16:creationId xmlns:a16="http://schemas.microsoft.com/office/drawing/2014/main" id="{3DC6DC9D-7C42-4603-802F-7CE74F2AEEC6}"/>
                  </a:ext>
                </a:extLst>
              </p:cNvPr>
              <p:cNvSpPr/>
              <p:nvPr/>
            </p:nvSpPr>
            <p:spPr>
              <a:xfrm>
                <a:off x="4701540" y="4119458"/>
                <a:ext cx="472440" cy="2468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42524765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Secrets(8/9)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Private Docker Registries :</a:t>
            </a:r>
          </a:p>
          <a:p>
            <a:pPr lvl="1">
              <a:buFont typeface="Wingdings" panose="05000000000000000000" pitchFamily="2" charset="2"/>
              <a:buChar char="§"/>
            </a:pPr>
            <a:r>
              <a:rPr lang="en-US" altLang="ko-KR" sz="1400" b="1" dirty="0">
                <a:solidFill>
                  <a:schemeClr val="tx1">
                    <a:lumMod val="95000"/>
                    <a:lumOff val="5000"/>
                  </a:schemeClr>
                </a:solidFill>
              </a:rPr>
              <a:t>A special use case for secrets is to store access credentials for “</a:t>
            </a:r>
            <a:r>
              <a:rPr lang="en-US" altLang="ko-KR" sz="1400" b="1" dirty="0">
                <a:solidFill>
                  <a:srgbClr val="FF0000"/>
                </a:solidFill>
              </a:rPr>
              <a:t>private Docker registries</a:t>
            </a:r>
            <a:r>
              <a:rPr lang="en-US" altLang="ko-KR" sz="1400" b="1" dirty="0">
                <a:solidFill>
                  <a:schemeClr val="tx1">
                    <a:lumMod val="95000"/>
                    <a:lumOff val="5000"/>
                  </a:schemeClr>
                </a:solidFill>
              </a:rPr>
              <a:t>”</a:t>
            </a:r>
            <a:r>
              <a:rPr lang="en-US" altLang="ko-KR" sz="1400" dirty="0"/>
              <a:t>. </a:t>
            </a:r>
            <a:r>
              <a:rPr lang="en-US" altLang="ko-KR" sz="1400" b="1" dirty="0"/>
              <a:t>Kubernetes supports using images stored on private registries</a:t>
            </a:r>
            <a:r>
              <a:rPr lang="en-US" altLang="ko-KR" sz="1400" dirty="0"/>
              <a:t>, but access to those images </a:t>
            </a:r>
            <a:r>
              <a:rPr lang="en-US" altLang="ko-KR" sz="1400" b="1" dirty="0"/>
              <a:t>requires credentials</a:t>
            </a:r>
            <a:r>
              <a:rPr lang="en-US" altLang="ko-KR" sz="1400" dirty="0"/>
              <a:t>. </a:t>
            </a:r>
            <a:r>
              <a:rPr lang="en-US" altLang="ko-KR" sz="1400" b="1" dirty="0"/>
              <a:t>Private images can be stored across one or more private registries</a:t>
            </a:r>
            <a:r>
              <a:rPr lang="en-US" altLang="ko-KR" sz="1400" dirty="0"/>
              <a:t>. This presents </a:t>
            </a:r>
            <a:r>
              <a:rPr lang="en-US" altLang="ko-KR" sz="1400" b="1" dirty="0"/>
              <a:t>a challenge for managing credentials for each private registry on every possible node in the cluster</a:t>
            </a:r>
            <a:r>
              <a:rPr lang="en-US" altLang="ko-KR" sz="1400" dirty="0"/>
              <a:t>. </a:t>
            </a:r>
          </a:p>
          <a:p>
            <a:pPr lvl="1">
              <a:buFont typeface="Wingdings" panose="05000000000000000000" pitchFamily="2" charset="2"/>
              <a:buChar char="§"/>
            </a:pPr>
            <a:r>
              <a:rPr lang="en-US" altLang="ko-KR" sz="1400" b="1" dirty="0"/>
              <a:t>“Image pull secrets” leverage the secrets API to automate the distribution of private registry credentials</a:t>
            </a:r>
            <a:r>
              <a:rPr lang="en-US" altLang="ko-KR" sz="1400" dirty="0"/>
              <a:t>. “</a:t>
            </a:r>
            <a:r>
              <a:rPr lang="en-US" altLang="ko-KR" sz="1400" b="1" dirty="0"/>
              <a:t>Image pull secrets” are stored just like normal secrets but are consumed through the “</a:t>
            </a:r>
            <a:r>
              <a:rPr lang="en-US" altLang="ko-KR" sz="1400" b="1" dirty="0" err="1">
                <a:solidFill>
                  <a:srgbClr val="FF0000"/>
                </a:solidFill>
              </a:rPr>
              <a:t>spec.imagePullSecrets</a:t>
            </a:r>
            <a:r>
              <a:rPr lang="en-US" altLang="ko-KR" sz="1400" b="1" dirty="0"/>
              <a:t>” Pod specification field</a:t>
            </a:r>
            <a:r>
              <a:rPr lang="en-US" altLang="ko-KR" sz="1400" dirty="0"/>
              <a:t>. </a:t>
            </a:r>
          </a:p>
          <a:p>
            <a:pPr lvl="1">
              <a:buFont typeface="Wingdings" panose="05000000000000000000" pitchFamily="2" charset="2"/>
              <a:buChar char="§"/>
            </a:pPr>
            <a:r>
              <a:rPr lang="en-US" altLang="ko-KR" sz="1400" b="1" dirty="0"/>
              <a:t>Use the “</a:t>
            </a:r>
            <a:r>
              <a:rPr lang="en-US" altLang="ko-KR" sz="1400" b="1" dirty="0">
                <a:solidFill>
                  <a:srgbClr val="FF0000"/>
                </a:solidFill>
              </a:rPr>
              <a:t>create secret docker-registry</a:t>
            </a:r>
            <a:r>
              <a:rPr lang="en-US" altLang="ko-KR" sz="1400" b="1" dirty="0"/>
              <a:t>” to create this special kind of secret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CB1A158F-DB05-4E68-864A-3AC84BEDCF59}"/>
              </a:ext>
            </a:extLst>
          </p:cNvPr>
          <p:cNvSpPr/>
          <p:nvPr/>
        </p:nvSpPr>
        <p:spPr>
          <a:xfrm>
            <a:off x="3048000" y="2950507"/>
            <a:ext cx="6096000" cy="707886"/>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create secret docker-registry my-image-pull-secret</a:t>
            </a:r>
            <a:r>
              <a:rPr lang="en-US" altLang="ko-KR" sz="1000" b="1" dirty="0"/>
              <a:t> \</a:t>
            </a:r>
          </a:p>
          <a:p>
            <a:r>
              <a:rPr lang="en-US" altLang="ko-KR" sz="1000" b="1" dirty="0"/>
              <a:t>--docker-username=&lt;username&gt; \</a:t>
            </a:r>
          </a:p>
          <a:p>
            <a:r>
              <a:rPr lang="en-US" altLang="ko-KR" sz="1000" b="1" dirty="0"/>
              <a:t>--docker-password=&lt;password&gt; \</a:t>
            </a:r>
          </a:p>
          <a:p>
            <a:r>
              <a:rPr lang="en-US" altLang="ko-KR" sz="1000" b="1" dirty="0"/>
              <a:t>--docker-email=&lt;email-address&gt;</a:t>
            </a:r>
            <a:endParaRPr lang="ko-KR" altLang="en-US" sz="1000" b="1" dirty="0"/>
          </a:p>
        </p:txBody>
      </p:sp>
      <p:pic>
        <p:nvPicPr>
          <p:cNvPr id="8" name="그림 7">
            <a:extLst>
              <a:ext uri="{FF2B5EF4-FFF2-40B4-BE49-F238E27FC236}">
                <a16:creationId xmlns:a16="http://schemas.microsoft.com/office/drawing/2014/main" id="{64943C20-D81C-4565-AF36-B439845E805C}"/>
              </a:ext>
            </a:extLst>
          </p:cNvPr>
          <p:cNvPicPr>
            <a:picLocks noChangeAspect="1"/>
          </p:cNvPicPr>
          <p:nvPr/>
        </p:nvPicPr>
        <p:blipFill>
          <a:blip r:embed="rId2"/>
          <a:stretch>
            <a:fillRect/>
          </a:stretch>
        </p:blipFill>
        <p:spPr>
          <a:xfrm>
            <a:off x="3836670" y="3714765"/>
            <a:ext cx="4518660" cy="2651841"/>
          </a:xfrm>
          <a:prstGeom prst="rect">
            <a:avLst/>
          </a:prstGeom>
        </p:spPr>
      </p:pic>
    </p:spTree>
    <p:extLst>
      <p:ext uri="{BB962C8B-B14F-4D97-AF65-F5344CB8AC3E}">
        <p14:creationId xmlns:p14="http://schemas.microsoft.com/office/powerpoint/2010/main" val="31568697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Secrets(9/9)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Private Docker Registries :</a:t>
            </a:r>
          </a:p>
          <a:p>
            <a:pPr lvl="1">
              <a:buFont typeface="Wingdings" panose="05000000000000000000" pitchFamily="2" charset="2"/>
              <a:buChar char="§"/>
            </a:pPr>
            <a:r>
              <a:rPr lang="en-US" altLang="ko-KR" sz="1400" b="1" dirty="0"/>
              <a:t>Enable access to the private repository </a:t>
            </a:r>
            <a:r>
              <a:rPr lang="en-US" altLang="ko-KR" sz="1400" dirty="0"/>
              <a:t>by referencing the </a:t>
            </a:r>
            <a:r>
              <a:rPr lang="en-US" altLang="ko-KR" sz="1400" b="1" dirty="0"/>
              <a:t>“image pull secret” in the Pod manifest file </a:t>
            </a:r>
            <a:r>
              <a:rPr lang="en-US" altLang="ko-KR" sz="1400" dirty="0"/>
              <a:t>like the following.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If you are repeatedly pulling from the same registry, you can add the secrets to the default service account associated with each Pod </a:t>
            </a:r>
            <a:r>
              <a:rPr lang="en-US" altLang="ko-KR" sz="1400" dirty="0"/>
              <a:t>to avoid having to specify the secrets in every Pod you create.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EC881287-180A-424E-8022-DE9A2BD46BA6}"/>
              </a:ext>
            </a:extLst>
          </p:cNvPr>
          <p:cNvSpPr/>
          <p:nvPr/>
        </p:nvSpPr>
        <p:spPr>
          <a:xfrm>
            <a:off x="3048000" y="1790417"/>
            <a:ext cx="6096000" cy="3016210"/>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t>kuard-tls</a:t>
            </a:r>
            <a:endParaRPr lang="en-US" altLang="ko-KR" sz="1000" b="1" dirty="0"/>
          </a:p>
          <a:p>
            <a:r>
              <a:rPr lang="en-US" altLang="ko-KR" sz="1000" b="1" dirty="0"/>
              <a:t>spec:</a:t>
            </a:r>
          </a:p>
          <a:p>
            <a:r>
              <a:rPr lang="en-US" altLang="ko-KR" sz="1000" b="1" dirty="0"/>
              <a:t>  containers:</a:t>
            </a:r>
          </a:p>
          <a:p>
            <a:r>
              <a:rPr lang="en-US" altLang="ko-KR" sz="1000" b="1" dirty="0"/>
              <a:t>    - name: </a:t>
            </a:r>
            <a:r>
              <a:rPr lang="en-US" altLang="ko-KR" sz="1000" b="1" dirty="0" err="1"/>
              <a:t>kuard-tls</a:t>
            </a:r>
            <a:endParaRPr lang="en-US" altLang="ko-KR" sz="1000" b="1" dirty="0"/>
          </a:p>
          <a:p>
            <a:r>
              <a:rPr lang="en-US" altLang="ko-KR" sz="1000" b="1" dirty="0"/>
              <a:t>      image: gcr.io/</a:t>
            </a:r>
            <a:r>
              <a:rPr lang="en-US" altLang="ko-KR" sz="1000" b="1" dirty="0" err="1"/>
              <a:t>kuar</a:t>
            </a:r>
            <a:r>
              <a:rPr lang="en-US" altLang="ko-KR" sz="1000" b="1" dirty="0"/>
              <a:t>-demo/kuard-amd64:1</a:t>
            </a:r>
          </a:p>
          <a:p>
            <a:r>
              <a:rPr lang="en-US" altLang="ko-KR" sz="1000" b="1" dirty="0"/>
              <a:t>      </a:t>
            </a:r>
            <a:r>
              <a:rPr lang="en-US" altLang="ko-KR" sz="1000" b="1" dirty="0" err="1"/>
              <a:t>imagePullPolicy</a:t>
            </a:r>
            <a:r>
              <a:rPr lang="en-US" altLang="ko-KR" sz="1000" b="1" dirty="0"/>
              <a:t>: Always</a:t>
            </a:r>
          </a:p>
          <a:p>
            <a:r>
              <a:rPr lang="en-US" altLang="ko-KR" sz="1000" b="1" dirty="0"/>
              <a:t>      </a:t>
            </a:r>
            <a:r>
              <a:rPr lang="en-US" altLang="ko-KR" sz="1000" b="1" dirty="0" err="1"/>
              <a:t>volumeMounts</a:t>
            </a:r>
            <a:r>
              <a:rPr lang="en-US" altLang="ko-KR" sz="1000" b="1" dirty="0"/>
              <a:t>:</a:t>
            </a:r>
          </a:p>
          <a:p>
            <a:r>
              <a:rPr lang="en-US" altLang="ko-KR" sz="1000" b="1" dirty="0"/>
              <a:t>      - name: </a:t>
            </a:r>
            <a:r>
              <a:rPr lang="en-US" altLang="ko-KR" sz="1000" b="1" dirty="0" err="1"/>
              <a:t>tls</a:t>
            </a:r>
            <a:r>
              <a:rPr lang="en-US" altLang="ko-KR" sz="1000" b="1" dirty="0"/>
              <a:t>-certs</a:t>
            </a:r>
          </a:p>
          <a:p>
            <a:r>
              <a:rPr lang="en-US" altLang="ko-KR" sz="1000" b="1" dirty="0"/>
              <a:t>        </a:t>
            </a:r>
            <a:r>
              <a:rPr lang="en-US" altLang="ko-KR" sz="1000" b="1" dirty="0" err="1"/>
              <a:t>mountPath</a:t>
            </a:r>
            <a:r>
              <a:rPr lang="en-US" altLang="ko-KR" sz="1000" b="1" dirty="0"/>
              <a:t>: "/</a:t>
            </a:r>
            <a:r>
              <a:rPr lang="en-US" altLang="ko-KR" sz="1000" b="1" dirty="0" err="1"/>
              <a:t>tls</a:t>
            </a:r>
            <a:r>
              <a:rPr lang="en-US" altLang="ko-KR" sz="1000" b="1" dirty="0"/>
              <a:t>"</a:t>
            </a:r>
          </a:p>
          <a:p>
            <a:r>
              <a:rPr lang="en-US" altLang="ko-KR" sz="1000" b="1" dirty="0"/>
              <a:t>        </a:t>
            </a:r>
            <a:r>
              <a:rPr lang="en-US" altLang="ko-KR" sz="1000" b="1" dirty="0" err="1"/>
              <a:t>readOnly</a:t>
            </a:r>
            <a:r>
              <a:rPr lang="en-US" altLang="ko-KR" sz="1000" b="1" dirty="0"/>
              <a:t>: true</a:t>
            </a:r>
          </a:p>
          <a:p>
            <a:r>
              <a:rPr lang="en-US" altLang="ko-KR" sz="1000" b="1" dirty="0"/>
              <a:t>  </a:t>
            </a:r>
            <a:r>
              <a:rPr lang="en-US" altLang="ko-KR" sz="1000" b="1" dirty="0" err="1">
                <a:solidFill>
                  <a:srgbClr val="FF0000"/>
                </a:solidFill>
              </a:rPr>
              <a:t>imagePullSecrets</a:t>
            </a:r>
            <a:r>
              <a:rPr lang="en-US" altLang="ko-KR" sz="1000" b="1" dirty="0"/>
              <a:t>:</a:t>
            </a:r>
          </a:p>
          <a:p>
            <a:r>
              <a:rPr lang="en-US" altLang="ko-KR" sz="1000" b="1" dirty="0"/>
              <a:t>  - name:  </a:t>
            </a:r>
            <a:r>
              <a:rPr lang="en-US" altLang="ko-KR" sz="1000" b="1" dirty="0">
                <a:solidFill>
                  <a:srgbClr val="FF0000"/>
                </a:solidFill>
              </a:rPr>
              <a:t>my-image-pull-secret</a:t>
            </a:r>
          </a:p>
          <a:p>
            <a:r>
              <a:rPr lang="en-US" altLang="ko-KR" sz="1000" b="1" dirty="0"/>
              <a:t>  volumes:</a:t>
            </a:r>
          </a:p>
          <a:p>
            <a:r>
              <a:rPr lang="en-US" altLang="ko-KR" sz="1000" b="1" dirty="0"/>
              <a:t>    - name: </a:t>
            </a:r>
            <a:r>
              <a:rPr lang="en-US" altLang="ko-KR" sz="1000" b="1" dirty="0" err="1"/>
              <a:t>tls</a:t>
            </a:r>
            <a:r>
              <a:rPr lang="en-US" altLang="ko-KR" sz="1000" b="1" dirty="0"/>
              <a:t>-certs</a:t>
            </a:r>
          </a:p>
          <a:p>
            <a:r>
              <a:rPr lang="en-US" altLang="ko-KR" sz="1000" b="1" dirty="0"/>
              <a:t>      secret:</a:t>
            </a:r>
          </a:p>
          <a:p>
            <a:r>
              <a:rPr lang="en-US" altLang="ko-KR" sz="1000" b="1" dirty="0"/>
              <a:t>        </a:t>
            </a:r>
            <a:r>
              <a:rPr lang="en-US" altLang="ko-KR" sz="1000" b="1" dirty="0" err="1">
                <a:solidFill>
                  <a:srgbClr val="FF0000"/>
                </a:solidFill>
              </a:rPr>
              <a:t>secretName</a:t>
            </a:r>
            <a:r>
              <a:rPr lang="en-US" altLang="ko-KR" sz="1000" b="1" dirty="0">
                <a:solidFill>
                  <a:srgbClr val="FF0000"/>
                </a:solidFill>
              </a:rPr>
              <a:t>: </a:t>
            </a:r>
            <a:r>
              <a:rPr lang="en-US" altLang="ko-KR" sz="1000" b="1" dirty="0" err="1">
                <a:solidFill>
                  <a:srgbClr val="FF0000"/>
                </a:solidFill>
              </a:rPr>
              <a:t>kuard-tls</a:t>
            </a:r>
            <a:endParaRPr lang="ko-KR" altLang="en-US" sz="1000" b="1" dirty="0">
              <a:solidFill>
                <a:srgbClr val="FF0000"/>
              </a:solidFill>
            </a:endParaRPr>
          </a:p>
        </p:txBody>
      </p:sp>
    </p:spTree>
    <p:extLst>
      <p:ext uri="{BB962C8B-B14F-4D97-AF65-F5344CB8AC3E}">
        <p14:creationId xmlns:p14="http://schemas.microsoft.com/office/powerpoint/2010/main" val="746983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Running “Image Pull Secrets”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Image Pull Secrets Example :</a:t>
            </a:r>
          </a:p>
          <a:p>
            <a:pPr lvl="1">
              <a:buFont typeface="Wingdings" panose="05000000000000000000" pitchFamily="2" charset="2"/>
              <a:buChar char="§"/>
            </a:pPr>
            <a:r>
              <a:rPr lang="en-US" altLang="ko-KR" sz="1400" dirty="0"/>
              <a:t>You can use “</a:t>
            </a:r>
            <a:r>
              <a:rPr lang="en-US" altLang="ko-KR" sz="1400" b="1" dirty="0"/>
              <a:t>Image Pull Secrets</a:t>
            </a:r>
            <a:r>
              <a:rPr lang="en-US" altLang="ko-KR" sz="1400" dirty="0"/>
              <a:t>” with “</a:t>
            </a:r>
            <a:r>
              <a:rPr lang="en-US" altLang="ko-KR" sz="1400" b="1" dirty="0" err="1"/>
              <a:t>kubectl</a:t>
            </a:r>
            <a:r>
              <a:rPr lang="en-US" altLang="ko-KR" sz="1400" b="1" dirty="0"/>
              <a:t> apply -f</a:t>
            </a:r>
            <a:r>
              <a:rPr lang="en-US" altLang="ko-KR" sz="1400" dirty="0"/>
              <a:t>” command. Before you run this command, </a:t>
            </a:r>
            <a:r>
              <a:rPr lang="en-US" altLang="ko-KR" sz="1400" b="1" dirty="0"/>
              <a:t>delete existing “</a:t>
            </a:r>
            <a:r>
              <a:rPr lang="en-US" altLang="ko-KR" sz="1400" b="1" dirty="0" err="1"/>
              <a:t>kuard-tls</a:t>
            </a:r>
            <a:r>
              <a:rPr lang="en-US" altLang="ko-KR" sz="1400" b="1" dirty="0"/>
              <a:t>” Pod first</a:t>
            </a:r>
            <a:r>
              <a:rPr lang="en-US" altLang="ko-KR" sz="1400" dirty="0"/>
              <a:t>. Then open “</a:t>
            </a:r>
            <a:r>
              <a:rPr lang="en-US" altLang="ko-KR" sz="1400" b="1" dirty="0"/>
              <a:t>https://localhost:8443/</a:t>
            </a:r>
            <a:r>
              <a:rPr lang="en-US" altLang="ko-KR" sz="1400" dirty="0"/>
              <a:t>” with your browser.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2C9F10C-33C9-48D3-BAA1-4940511E64C4}"/>
              </a:ext>
            </a:extLst>
          </p:cNvPr>
          <p:cNvGrpSpPr/>
          <p:nvPr/>
        </p:nvGrpSpPr>
        <p:grpSpPr>
          <a:xfrm>
            <a:off x="1333500" y="1653540"/>
            <a:ext cx="9525000" cy="2959588"/>
            <a:chOff x="1333500" y="1653540"/>
            <a:chExt cx="9525000" cy="2959588"/>
          </a:xfrm>
        </p:grpSpPr>
        <p:sp>
          <p:nvSpPr>
            <p:cNvPr id="4" name="TextBox 3">
              <a:extLst>
                <a:ext uri="{FF2B5EF4-FFF2-40B4-BE49-F238E27FC236}">
                  <a16:creationId xmlns:a16="http://schemas.microsoft.com/office/drawing/2014/main" id="{0ACB40E2-8746-4315-B739-DE7F298C01DC}"/>
                </a:ext>
              </a:extLst>
            </p:cNvPr>
            <p:cNvSpPr txBox="1"/>
            <p:nvPr/>
          </p:nvSpPr>
          <p:spPr>
            <a:xfrm>
              <a:off x="3710057" y="1653540"/>
              <a:ext cx="4771886" cy="553998"/>
            </a:xfrm>
            <a:prstGeom prst="rect">
              <a:avLst/>
            </a:prstGeom>
            <a:noFill/>
            <a:ln>
              <a:solidFill>
                <a:schemeClr val="bg1">
                  <a:lumMod val="50000"/>
                </a:schemeClr>
              </a:solidFill>
            </a:ln>
          </p:spPr>
          <p:txBody>
            <a:bodyPr wrap="square" rtlCol="0">
              <a:spAutoFit/>
            </a:bodyPr>
            <a:lstStyle/>
            <a:p>
              <a:r>
                <a:rPr lang="en-US" altLang="ko-KR" sz="1000" b="1" dirty="0"/>
                <a:t>$ </a:t>
              </a:r>
              <a:r>
                <a:rPr lang="en-US" altLang="ko-KR" sz="1000" b="1" dirty="0" err="1"/>
                <a:t>kubectl</a:t>
              </a:r>
              <a:r>
                <a:rPr lang="en-US" altLang="ko-KR" sz="1000" b="1" dirty="0"/>
                <a:t> delete pods </a:t>
              </a:r>
              <a:r>
                <a:rPr lang="en-US" altLang="ko-KR" sz="1000" b="1" dirty="0" err="1">
                  <a:solidFill>
                    <a:srgbClr val="FF0000"/>
                  </a:solidFill>
                </a:rPr>
                <a:t>kuard-tls</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kuard</a:t>
              </a:r>
              <a:r>
                <a:rPr lang="en-US" altLang="ko-KR" sz="1000" b="1" dirty="0">
                  <a:solidFill>
                    <a:srgbClr val="FF0000"/>
                  </a:solidFill>
                </a:rPr>
                <a:t>-image-pull-</a:t>
              </a:r>
              <a:r>
                <a:rPr lang="en-US" altLang="ko-KR" sz="1000" b="1" dirty="0" err="1">
                  <a:solidFill>
                    <a:srgbClr val="FF0000"/>
                  </a:solidFill>
                </a:rPr>
                <a:t>secrets.yaml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port-forward </a:t>
              </a:r>
              <a:r>
                <a:rPr lang="en-US" altLang="ko-KR" sz="1000" b="1" dirty="0" err="1">
                  <a:solidFill>
                    <a:srgbClr val="FF0000"/>
                  </a:solidFill>
                </a:rPr>
                <a:t>kuard-tls</a:t>
              </a:r>
              <a:r>
                <a:rPr lang="en-US" altLang="ko-KR" sz="1000" b="1" dirty="0">
                  <a:solidFill>
                    <a:srgbClr val="FF0000"/>
                  </a:solidFill>
                </a:rPr>
                <a:t> 8443:8443 </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449B2177-10D4-4CD7-8B48-71027D0F716D}"/>
                </a:ext>
              </a:extLst>
            </p:cNvPr>
            <p:cNvPicPr>
              <a:picLocks noChangeAspect="1"/>
            </p:cNvPicPr>
            <p:nvPr/>
          </p:nvPicPr>
          <p:blipFill>
            <a:blip r:embed="rId2"/>
            <a:stretch>
              <a:fillRect/>
            </a:stretch>
          </p:blipFill>
          <p:spPr>
            <a:xfrm>
              <a:off x="1333500" y="2517628"/>
              <a:ext cx="9525000" cy="209550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7CDF3BFD-BA1E-4EB3-B3AC-C77F60AE3413}"/>
                </a:ext>
              </a:extLst>
            </p:cNvPr>
            <p:cNvSpPr/>
            <p:nvPr/>
          </p:nvSpPr>
          <p:spPr>
            <a:xfrm>
              <a:off x="5882640" y="2217704"/>
              <a:ext cx="426720" cy="27658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1" name="그림 10">
            <a:extLst>
              <a:ext uri="{FF2B5EF4-FFF2-40B4-BE49-F238E27FC236}">
                <a16:creationId xmlns:a16="http://schemas.microsoft.com/office/drawing/2014/main" id="{503C6C9C-A817-4211-BFB2-D8C340CD2897}"/>
              </a:ext>
            </a:extLst>
          </p:cNvPr>
          <p:cNvPicPr>
            <a:picLocks noChangeAspect="1"/>
          </p:cNvPicPr>
          <p:nvPr/>
        </p:nvPicPr>
        <p:blipFill>
          <a:blip r:embed="rId3"/>
          <a:stretch>
            <a:fillRect/>
          </a:stretch>
        </p:blipFill>
        <p:spPr>
          <a:xfrm>
            <a:off x="5130129" y="3756661"/>
            <a:ext cx="6223671" cy="2652370"/>
          </a:xfrm>
          <a:prstGeom prst="rect">
            <a:avLst/>
          </a:prstGeom>
          <a:ln>
            <a:solidFill>
              <a:schemeClr val="bg1">
                <a:lumMod val="50000"/>
              </a:schemeClr>
            </a:solidFill>
          </a:ln>
        </p:spPr>
      </p:pic>
    </p:spTree>
    <p:extLst>
      <p:ext uri="{BB962C8B-B14F-4D97-AF65-F5344CB8AC3E}">
        <p14:creationId xmlns:p14="http://schemas.microsoft.com/office/powerpoint/2010/main" val="28440871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Naming Constraints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Key Names :</a:t>
            </a:r>
          </a:p>
          <a:p>
            <a:pPr lvl="1">
              <a:buFont typeface="Wingdings" panose="05000000000000000000" pitchFamily="2" charset="2"/>
              <a:buChar char="§"/>
            </a:pPr>
            <a:r>
              <a:rPr lang="en-US" altLang="ko-KR" sz="1400" b="1" dirty="0"/>
              <a:t>The key names for data items inside of a secret or </a:t>
            </a:r>
            <a:r>
              <a:rPr lang="en-US" altLang="ko-KR" sz="1400" b="1" dirty="0" err="1"/>
              <a:t>ConfigMap</a:t>
            </a:r>
            <a:r>
              <a:rPr lang="en-US" altLang="ko-KR" sz="1400" b="1" dirty="0"/>
              <a:t> are defined to map to “valid environment variable names”</a:t>
            </a:r>
            <a:r>
              <a:rPr lang="en-US" altLang="ko-KR" sz="1400" dirty="0"/>
              <a:t>. They may begin with a dot followed by a letter or number. Following characters include dots, dashes, and underscores. Dots cannot be repeated and dots and underscores or dashes cannot be adjacent to each other. </a:t>
            </a:r>
            <a:r>
              <a:rPr lang="en-US" altLang="ko-KR" sz="1400" b="1" dirty="0"/>
              <a:t>More formally, this means that they must conform to the “</a:t>
            </a:r>
            <a:r>
              <a:rPr lang="en-US" altLang="ko-KR" sz="1400" b="1" dirty="0">
                <a:solidFill>
                  <a:srgbClr val="FF0000"/>
                </a:solidFill>
              </a:rPr>
              <a:t>regular expression ^[.[?[a-zAZ0-9[([.[?[a-zA-Z0-9[+[-_a-zA-Z0-9[?)*$</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When selecting a key name, consider that these keys can be exposed to Pods via a volume mount</a:t>
            </a:r>
            <a:r>
              <a:rPr lang="en-US" altLang="ko-KR" sz="1400" dirty="0"/>
              <a:t>. Pick a name that is going to make sense when specified on a command line or in a config file. Storing a </a:t>
            </a:r>
            <a:r>
              <a:rPr lang="en-US" altLang="ko-KR" sz="1400" b="1" dirty="0"/>
              <a:t>TLS key </a:t>
            </a:r>
            <a:r>
              <a:rPr lang="en-US" altLang="ko-KR" sz="1400" dirty="0"/>
              <a:t>as </a:t>
            </a:r>
            <a:r>
              <a:rPr lang="en-US" altLang="ko-KR" sz="1400" b="1" dirty="0" err="1"/>
              <a:t>key.pem</a:t>
            </a:r>
            <a:r>
              <a:rPr lang="en-US" altLang="ko-KR" sz="1400" b="1" dirty="0"/>
              <a:t> </a:t>
            </a:r>
            <a:r>
              <a:rPr lang="en-US" altLang="ko-KR" sz="1400" dirty="0"/>
              <a:t>is more clear than </a:t>
            </a:r>
            <a:r>
              <a:rPr lang="en-US" altLang="ko-KR" sz="1400" b="1" dirty="0" err="1"/>
              <a:t>tls</a:t>
            </a:r>
            <a:r>
              <a:rPr lang="en-US" altLang="ko-KR" sz="1400" b="1" dirty="0"/>
              <a:t>-key</a:t>
            </a:r>
            <a:r>
              <a:rPr lang="en-US" altLang="ko-KR" sz="1400" dirty="0"/>
              <a:t> when configuring applications to access secrets.</a:t>
            </a:r>
          </a:p>
          <a:p>
            <a:pPr lvl="1">
              <a:buFont typeface="Wingdings" panose="05000000000000000000" pitchFamily="2" charset="2"/>
              <a:buChar char="§"/>
            </a:pPr>
            <a:r>
              <a:rPr lang="en-US" altLang="ko-KR" sz="1400" b="1" dirty="0" err="1"/>
              <a:t>ConfigMap</a:t>
            </a:r>
            <a:r>
              <a:rPr lang="en-US" altLang="ko-KR" sz="1400" b="1" dirty="0"/>
              <a:t> data values are simple UTF-8 text specified directly in the manifest</a:t>
            </a:r>
            <a:r>
              <a:rPr lang="en-US" altLang="ko-KR" sz="1400" dirty="0"/>
              <a:t>. </a:t>
            </a:r>
          </a:p>
          <a:p>
            <a:pPr lvl="1">
              <a:buFont typeface="Wingdings" panose="05000000000000000000" pitchFamily="2" charset="2"/>
              <a:buChar char="§"/>
            </a:pPr>
            <a:r>
              <a:rPr lang="en-US" altLang="ko-KR" sz="1400" b="1" dirty="0"/>
              <a:t>Secret data values hold arbitrary data encoded using base64</a:t>
            </a:r>
            <a:r>
              <a:rPr lang="en-US" altLang="ko-KR" sz="1400" dirty="0"/>
              <a:t>. </a:t>
            </a:r>
            <a:r>
              <a:rPr lang="en-US" altLang="ko-KR" sz="1400" b="1" dirty="0"/>
              <a:t>The use of base64 encoding makes it possible to store binary data</a:t>
            </a:r>
            <a:r>
              <a:rPr lang="en-US" altLang="ko-KR" sz="1400" dirty="0"/>
              <a:t>. This does, however, make it more difficult to manage secrets that are stored in YAML files as the base64-encoded value must be put in the YAML. </a:t>
            </a:r>
          </a:p>
          <a:p>
            <a:pPr lvl="1">
              <a:buFont typeface="Wingdings" panose="05000000000000000000" pitchFamily="2" charset="2"/>
              <a:buChar char="§"/>
            </a:pPr>
            <a:r>
              <a:rPr lang="en-US" altLang="ko-KR" sz="1400" b="1" dirty="0"/>
              <a:t>Note : The maximum size for a </a:t>
            </a:r>
            <a:r>
              <a:rPr lang="en-US" altLang="ko-KR" sz="1400" b="1" dirty="0" err="1"/>
              <a:t>ConfigMap</a:t>
            </a:r>
            <a:r>
              <a:rPr lang="en-US" altLang="ko-KR" sz="1400" b="1" dirty="0"/>
              <a:t> or secret is 1 MB</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DC0164E2-FC5E-47E4-B002-3A997E9608EE}"/>
              </a:ext>
            </a:extLst>
          </p:cNvPr>
          <p:cNvGrpSpPr/>
          <p:nvPr/>
        </p:nvGrpSpPr>
        <p:grpSpPr>
          <a:xfrm>
            <a:off x="3750083" y="2223611"/>
            <a:ext cx="4691834" cy="1205389"/>
            <a:chOff x="3750083" y="2195512"/>
            <a:chExt cx="4691834" cy="1205389"/>
          </a:xfrm>
        </p:grpSpPr>
        <p:pic>
          <p:nvPicPr>
            <p:cNvPr id="4" name="그림 3">
              <a:extLst>
                <a:ext uri="{FF2B5EF4-FFF2-40B4-BE49-F238E27FC236}">
                  <a16:creationId xmlns:a16="http://schemas.microsoft.com/office/drawing/2014/main" id="{628548DA-27FD-41C8-BE78-7A7C08EBE124}"/>
                </a:ext>
              </a:extLst>
            </p:cNvPr>
            <p:cNvPicPr>
              <a:picLocks noChangeAspect="1"/>
            </p:cNvPicPr>
            <p:nvPr/>
          </p:nvPicPr>
          <p:blipFill>
            <a:blip r:embed="rId2"/>
            <a:stretch>
              <a:fillRect/>
            </a:stretch>
          </p:blipFill>
          <p:spPr>
            <a:xfrm>
              <a:off x="3750083" y="2195512"/>
              <a:ext cx="4691834" cy="959168"/>
            </a:xfrm>
            <a:prstGeom prst="rect">
              <a:avLst/>
            </a:prstGeom>
            <a:ln>
              <a:solidFill>
                <a:schemeClr val="bg1">
                  <a:lumMod val="50000"/>
                </a:schemeClr>
              </a:solidFill>
            </a:ln>
          </p:spPr>
        </p:pic>
        <p:sp>
          <p:nvSpPr>
            <p:cNvPr id="8" name="TextBox 7">
              <a:extLst>
                <a:ext uri="{FF2B5EF4-FFF2-40B4-BE49-F238E27FC236}">
                  <a16:creationId xmlns:a16="http://schemas.microsoft.com/office/drawing/2014/main" id="{1384E5B1-2D92-4ED4-84F1-1DDE783561BC}"/>
                </a:ext>
              </a:extLst>
            </p:cNvPr>
            <p:cNvSpPr txBox="1"/>
            <p:nvPr/>
          </p:nvSpPr>
          <p:spPr>
            <a:xfrm>
              <a:off x="4860725" y="3154680"/>
              <a:ext cx="2470549" cy="246221"/>
            </a:xfrm>
            <a:prstGeom prst="rect">
              <a:avLst/>
            </a:prstGeom>
            <a:noFill/>
          </p:spPr>
          <p:txBody>
            <a:bodyPr wrap="none" rtlCol="0">
              <a:spAutoFit/>
            </a:bodyPr>
            <a:lstStyle/>
            <a:p>
              <a:pPr algn="ctr"/>
              <a:r>
                <a:rPr lang="en-US" altLang="ko-KR" sz="1000" b="1" dirty="0" err="1"/>
                <a:t>ConfigMap</a:t>
              </a:r>
              <a:r>
                <a:rPr lang="en-US" altLang="ko-KR" sz="1000" b="1" dirty="0"/>
                <a:t> and Secret Key Examples</a:t>
              </a:r>
              <a:endParaRPr lang="ko-KR" altLang="en-US" sz="1000" b="1" dirty="0"/>
            </a:p>
          </p:txBody>
        </p:sp>
      </p:grpSp>
    </p:spTree>
    <p:extLst>
      <p:ext uri="{BB962C8B-B14F-4D97-AF65-F5344CB8AC3E}">
        <p14:creationId xmlns:p14="http://schemas.microsoft.com/office/powerpoint/2010/main" val="15229967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Managing </a:t>
            </a:r>
            <a:r>
              <a:rPr lang="en-US" altLang="ko-KR" sz="2800" b="1" dirty="0" err="1"/>
              <a:t>ConfigMaps</a:t>
            </a:r>
            <a:r>
              <a:rPr lang="en-US" altLang="ko-KR" sz="2800" b="1" dirty="0"/>
              <a:t> and Secrets(1/7)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a:t>
            </a:r>
          </a:p>
          <a:p>
            <a:pPr lvl="1">
              <a:buFont typeface="Wingdings" panose="05000000000000000000" pitchFamily="2" charset="2"/>
              <a:buChar char="§"/>
            </a:pPr>
            <a:r>
              <a:rPr lang="en-US" altLang="ko-KR" sz="1400" dirty="0"/>
              <a:t>You can use the “</a:t>
            </a:r>
            <a:r>
              <a:rPr lang="en-US" altLang="ko-KR" sz="1400" b="1" dirty="0" err="1"/>
              <a:t>kubectl</a:t>
            </a:r>
            <a:r>
              <a:rPr lang="en-US" altLang="ko-KR" sz="1400" b="1" dirty="0"/>
              <a:t> get secrets</a:t>
            </a:r>
            <a:r>
              <a:rPr lang="en-US" altLang="ko-KR" sz="1400" dirty="0"/>
              <a:t>” and “</a:t>
            </a:r>
            <a:r>
              <a:rPr lang="en-US" altLang="ko-KR" sz="1400" b="1" dirty="0" err="1"/>
              <a:t>kubectl</a:t>
            </a:r>
            <a:r>
              <a:rPr lang="en-US" altLang="ko-KR" sz="1400" b="1" dirty="0"/>
              <a:t> get </a:t>
            </a:r>
            <a:r>
              <a:rPr lang="en-US" altLang="ko-KR" sz="1400" b="1" dirty="0" err="1"/>
              <a:t>configmaps</a:t>
            </a:r>
            <a:r>
              <a:rPr lang="en-US" altLang="ko-KR" sz="1400" dirty="0"/>
              <a:t>” command to </a:t>
            </a:r>
            <a:r>
              <a:rPr lang="en-US" altLang="ko-KR" sz="1400" b="1" dirty="0"/>
              <a:t>list all secrets and </a:t>
            </a:r>
            <a:r>
              <a:rPr lang="en-US" altLang="ko-KR" sz="1400" b="1" dirty="0" err="1"/>
              <a:t>ConfigMaps</a:t>
            </a:r>
            <a:r>
              <a:rPr lang="en-US" altLang="ko-KR" sz="1400" b="1" dirty="0"/>
              <a:t> </a:t>
            </a:r>
            <a:r>
              <a:rPr lang="en-US" altLang="ko-KR" sz="1400" dirty="0"/>
              <a:t>in the current namespace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1C6D33CF-E92D-489F-A996-C605AFD3501B}"/>
              </a:ext>
            </a:extLst>
          </p:cNvPr>
          <p:cNvGrpSpPr/>
          <p:nvPr/>
        </p:nvGrpSpPr>
        <p:grpSpPr>
          <a:xfrm>
            <a:off x="1333500" y="1963060"/>
            <a:ext cx="9525000" cy="2931879"/>
            <a:chOff x="1333500" y="1659374"/>
            <a:chExt cx="9525000" cy="2931879"/>
          </a:xfrm>
        </p:grpSpPr>
        <p:sp>
          <p:nvSpPr>
            <p:cNvPr id="4" name="직사각형 3">
              <a:extLst>
                <a:ext uri="{FF2B5EF4-FFF2-40B4-BE49-F238E27FC236}">
                  <a16:creationId xmlns:a16="http://schemas.microsoft.com/office/drawing/2014/main" id="{C3DF616C-9E7D-4665-BE31-8C3295CAFCE9}"/>
                </a:ext>
              </a:extLst>
            </p:cNvPr>
            <p:cNvSpPr/>
            <p:nvPr/>
          </p:nvSpPr>
          <p:spPr>
            <a:xfrm>
              <a:off x="4284426" y="1659374"/>
              <a:ext cx="3623148" cy="400110"/>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secrets</a:t>
              </a:r>
            </a:p>
            <a:p>
              <a:r>
                <a:rPr lang="en-US" altLang="ko-KR" sz="1000" b="1" dirty="0"/>
                <a:t>$ </a:t>
              </a:r>
              <a:r>
                <a:rPr lang="en-US" altLang="ko-KR" sz="1000" b="1" dirty="0" err="1"/>
                <a:t>kubectl</a:t>
              </a:r>
              <a:r>
                <a:rPr lang="en-US" altLang="ko-KR" sz="1000" b="1" dirty="0"/>
                <a:t> get </a:t>
              </a:r>
              <a:r>
                <a:rPr lang="en-US" altLang="ko-KR" sz="1000" b="1" dirty="0" err="1"/>
                <a:t>configmaps</a:t>
              </a:r>
              <a:endParaRPr lang="ko-KR" altLang="en-US" sz="1000" b="1" dirty="0"/>
            </a:p>
          </p:txBody>
        </p:sp>
        <p:sp>
          <p:nvSpPr>
            <p:cNvPr id="8" name="화살표: 아래쪽 7">
              <a:extLst>
                <a:ext uri="{FF2B5EF4-FFF2-40B4-BE49-F238E27FC236}">
                  <a16:creationId xmlns:a16="http://schemas.microsoft.com/office/drawing/2014/main" id="{C2FF323E-7EE5-433B-9927-D7E7874EB576}"/>
                </a:ext>
              </a:extLst>
            </p:cNvPr>
            <p:cNvSpPr/>
            <p:nvPr/>
          </p:nvSpPr>
          <p:spPr>
            <a:xfrm>
              <a:off x="5886450" y="2074736"/>
              <a:ext cx="419100" cy="28194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70B50BDD-B7C0-469A-8824-621BD3C9E665}"/>
                </a:ext>
              </a:extLst>
            </p:cNvPr>
            <p:cNvPicPr>
              <a:picLocks noChangeAspect="1"/>
            </p:cNvPicPr>
            <p:nvPr/>
          </p:nvPicPr>
          <p:blipFill>
            <a:blip r:embed="rId2"/>
            <a:stretch>
              <a:fillRect/>
            </a:stretch>
          </p:blipFill>
          <p:spPr>
            <a:xfrm>
              <a:off x="1333500" y="2371928"/>
              <a:ext cx="9525000" cy="2219325"/>
            </a:xfrm>
            <a:prstGeom prst="rect">
              <a:avLst/>
            </a:prstGeom>
            <a:ln>
              <a:solidFill>
                <a:schemeClr val="bg1">
                  <a:lumMod val="50000"/>
                </a:schemeClr>
              </a:solidFill>
            </a:ln>
          </p:spPr>
        </p:pic>
      </p:grpSp>
    </p:spTree>
    <p:extLst>
      <p:ext uri="{BB962C8B-B14F-4D97-AF65-F5344CB8AC3E}">
        <p14:creationId xmlns:p14="http://schemas.microsoft.com/office/powerpoint/2010/main" val="11186374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Managing </a:t>
            </a:r>
            <a:r>
              <a:rPr lang="en-US" altLang="ko-KR" sz="2800" b="1" dirty="0" err="1"/>
              <a:t>ConfigMaps</a:t>
            </a:r>
            <a:r>
              <a:rPr lang="en-US" altLang="ko-KR" sz="2800" b="1" dirty="0"/>
              <a:t> and Secrets(2/7)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a:t>
            </a:r>
          </a:p>
          <a:p>
            <a:pPr lvl="1">
              <a:buFont typeface="Wingdings" panose="05000000000000000000" pitchFamily="2" charset="2"/>
              <a:buChar char="§"/>
            </a:pPr>
            <a:r>
              <a:rPr lang="en-US" altLang="ko-KR" sz="1400" b="1" dirty="0"/>
              <a:t>“</a:t>
            </a:r>
            <a:r>
              <a:rPr lang="en-US" altLang="ko-KR" sz="1400" b="1" dirty="0" err="1"/>
              <a:t>kubectl</a:t>
            </a:r>
            <a:r>
              <a:rPr lang="en-US" altLang="ko-KR" sz="1400" b="1" dirty="0"/>
              <a:t> describe” command can be used to get more details on a single object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8F0985CB-469F-4505-8614-354355A387BD}"/>
              </a:ext>
            </a:extLst>
          </p:cNvPr>
          <p:cNvGrpSpPr/>
          <p:nvPr/>
        </p:nvGrpSpPr>
        <p:grpSpPr>
          <a:xfrm>
            <a:off x="1497329" y="1514594"/>
            <a:ext cx="9197340" cy="4725527"/>
            <a:chOff x="1497329" y="1514594"/>
            <a:chExt cx="9197340" cy="4725527"/>
          </a:xfrm>
        </p:grpSpPr>
        <p:sp>
          <p:nvSpPr>
            <p:cNvPr id="4" name="직사각형 3">
              <a:extLst>
                <a:ext uri="{FF2B5EF4-FFF2-40B4-BE49-F238E27FC236}">
                  <a16:creationId xmlns:a16="http://schemas.microsoft.com/office/drawing/2014/main" id="{E13D2F4F-B528-477A-B549-594CF4BEB148}"/>
                </a:ext>
              </a:extLst>
            </p:cNvPr>
            <p:cNvSpPr/>
            <p:nvPr/>
          </p:nvSpPr>
          <p:spPr>
            <a:xfrm>
              <a:off x="3062591" y="1514594"/>
              <a:ext cx="6066817" cy="553998"/>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describe </a:t>
              </a:r>
              <a:r>
                <a:rPr lang="en-US" altLang="ko-KR" sz="1000" b="1" dirty="0" err="1"/>
                <a:t>configmap</a:t>
              </a:r>
              <a:r>
                <a:rPr lang="en-US" altLang="ko-KR" sz="1000" b="1" dirty="0"/>
                <a:t> </a:t>
              </a:r>
              <a:r>
                <a:rPr lang="en-US" altLang="ko-KR" sz="1000" b="1" dirty="0">
                  <a:solidFill>
                    <a:srgbClr val="FF0000"/>
                  </a:solidFill>
                </a:rPr>
                <a:t>my-config</a:t>
              </a:r>
            </a:p>
            <a:p>
              <a:r>
                <a:rPr lang="en-US" altLang="ko-KR" sz="1000" b="1" dirty="0"/>
                <a:t>$ </a:t>
              </a:r>
              <a:r>
                <a:rPr lang="en-US" altLang="ko-KR" sz="1000" b="1" dirty="0" err="1"/>
                <a:t>kubectl</a:t>
              </a:r>
              <a:r>
                <a:rPr lang="en-US" altLang="ko-KR" sz="1000" b="1" dirty="0"/>
                <a:t> get </a:t>
              </a:r>
              <a:r>
                <a:rPr lang="en-US" altLang="ko-KR" sz="1000" b="1" dirty="0" err="1"/>
                <a:t>configmap</a:t>
              </a:r>
              <a:r>
                <a:rPr lang="en-US" altLang="ko-KR" sz="1000" b="1" dirty="0"/>
                <a:t> </a:t>
              </a:r>
              <a:r>
                <a:rPr lang="en-US" altLang="ko-KR" sz="1000" b="1" dirty="0">
                  <a:solidFill>
                    <a:srgbClr val="FF0000"/>
                  </a:solidFill>
                </a:rPr>
                <a:t>my-config</a:t>
              </a:r>
              <a:r>
                <a:rPr lang="en-US" altLang="ko-KR" sz="1000" b="1" dirty="0"/>
                <a:t> -o </a:t>
              </a:r>
              <a:r>
                <a:rPr lang="en-US" altLang="ko-KR" sz="1000" b="1" dirty="0" err="1"/>
                <a:t>yaml</a:t>
              </a:r>
              <a:endParaRPr lang="en-US" altLang="ko-KR" sz="1000" b="1" dirty="0"/>
            </a:p>
            <a:p>
              <a:r>
                <a:rPr lang="en-US" altLang="ko-KR" sz="1000" b="1" dirty="0"/>
                <a:t>$ </a:t>
              </a:r>
              <a:r>
                <a:rPr lang="en-US" altLang="ko-KR" sz="1000" b="1" dirty="0" err="1"/>
                <a:t>kubectl</a:t>
              </a:r>
              <a:r>
                <a:rPr lang="en-US" altLang="ko-KR" sz="1000" b="1" dirty="0"/>
                <a:t> get secret </a:t>
              </a:r>
              <a:r>
                <a:rPr lang="en-US" altLang="ko-KR" sz="1000" b="1" dirty="0" err="1">
                  <a:solidFill>
                    <a:srgbClr val="FF0000"/>
                  </a:solidFill>
                </a:rPr>
                <a:t>kuard-tls</a:t>
              </a:r>
              <a:r>
                <a:rPr lang="en-US" altLang="ko-KR" sz="1000" b="1" dirty="0"/>
                <a:t> -o </a:t>
              </a:r>
              <a:r>
                <a:rPr lang="en-US" altLang="ko-KR" sz="1000" b="1" dirty="0" err="1"/>
                <a:t>yaml</a:t>
              </a:r>
              <a:endParaRPr lang="ko-KR" altLang="en-US" sz="1000" b="1" dirty="0"/>
            </a:p>
          </p:txBody>
        </p:sp>
        <p:grpSp>
          <p:nvGrpSpPr>
            <p:cNvPr id="11" name="그룹 10">
              <a:extLst>
                <a:ext uri="{FF2B5EF4-FFF2-40B4-BE49-F238E27FC236}">
                  <a16:creationId xmlns:a16="http://schemas.microsoft.com/office/drawing/2014/main" id="{E62CCD0F-6CB9-4AA3-831C-8EBF1D52A844}"/>
                </a:ext>
              </a:extLst>
            </p:cNvPr>
            <p:cNvGrpSpPr/>
            <p:nvPr/>
          </p:nvGrpSpPr>
          <p:grpSpPr>
            <a:xfrm>
              <a:off x="1497329" y="2399031"/>
              <a:ext cx="9197340" cy="3841090"/>
              <a:chOff x="1463040" y="2252436"/>
              <a:chExt cx="9890760" cy="4156594"/>
            </a:xfrm>
          </p:grpSpPr>
          <p:pic>
            <p:nvPicPr>
              <p:cNvPr id="9" name="그림 8">
                <a:extLst>
                  <a:ext uri="{FF2B5EF4-FFF2-40B4-BE49-F238E27FC236}">
                    <a16:creationId xmlns:a16="http://schemas.microsoft.com/office/drawing/2014/main" id="{C0E478CD-7531-4B4C-8E8C-EFBF3E8EF70A}"/>
                  </a:ext>
                </a:extLst>
              </p:cNvPr>
              <p:cNvPicPr>
                <a:picLocks noChangeAspect="1"/>
              </p:cNvPicPr>
              <p:nvPr/>
            </p:nvPicPr>
            <p:blipFill>
              <a:blip r:embed="rId2"/>
              <a:stretch>
                <a:fillRect/>
              </a:stretch>
            </p:blipFill>
            <p:spPr>
              <a:xfrm>
                <a:off x="1463040" y="2252436"/>
                <a:ext cx="6957060" cy="3541144"/>
              </a:xfrm>
              <a:prstGeom prst="rect">
                <a:avLst/>
              </a:prstGeom>
              <a:ln>
                <a:solidFill>
                  <a:schemeClr val="bg1">
                    <a:lumMod val="50000"/>
                  </a:schemeClr>
                </a:solidFill>
              </a:ln>
            </p:spPr>
          </p:pic>
          <p:pic>
            <p:nvPicPr>
              <p:cNvPr id="10" name="그림 9">
                <a:extLst>
                  <a:ext uri="{FF2B5EF4-FFF2-40B4-BE49-F238E27FC236}">
                    <a16:creationId xmlns:a16="http://schemas.microsoft.com/office/drawing/2014/main" id="{55983E1C-05A1-4798-B24A-051D77745A72}"/>
                  </a:ext>
                </a:extLst>
              </p:cNvPr>
              <p:cNvPicPr>
                <a:picLocks noChangeAspect="1"/>
              </p:cNvPicPr>
              <p:nvPr/>
            </p:nvPicPr>
            <p:blipFill>
              <a:blip r:embed="rId3"/>
              <a:stretch>
                <a:fillRect/>
              </a:stretch>
            </p:blipFill>
            <p:spPr>
              <a:xfrm>
                <a:off x="4396740" y="2993114"/>
                <a:ext cx="6957060" cy="3415916"/>
              </a:xfrm>
              <a:prstGeom prst="rect">
                <a:avLst/>
              </a:prstGeom>
              <a:ln>
                <a:solidFill>
                  <a:schemeClr val="bg1">
                    <a:lumMod val="50000"/>
                  </a:schemeClr>
                </a:solidFill>
              </a:ln>
            </p:spPr>
          </p:pic>
        </p:grpSp>
        <p:sp>
          <p:nvSpPr>
            <p:cNvPr id="12" name="화살표: 아래쪽 11">
              <a:extLst>
                <a:ext uri="{FF2B5EF4-FFF2-40B4-BE49-F238E27FC236}">
                  <a16:creationId xmlns:a16="http://schemas.microsoft.com/office/drawing/2014/main" id="{7DFE12D2-F318-4749-97C9-0CE842657C5C}"/>
                </a:ext>
              </a:extLst>
            </p:cNvPr>
            <p:cNvSpPr/>
            <p:nvPr/>
          </p:nvSpPr>
          <p:spPr>
            <a:xfrm>
              <a:off x="5909309" y="2106057"/>
              <a:ext cx="373380" cy="25550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411703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Managing </a:t>
            </a:r>
            <a:r>
              <a:rPr lang="en-US" altLang="ko-KR" sz="2800" b="1" dirty="0" err="1"/>
              <a:t>ConfigMaps</a:t>
            </a:r>
            <a:r>
              <a:rPr lang="en-US" altLang="ko-KR" sz="2800" b="1" dirty="0"/>
              <a:t> and Secrets(3/7)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t>
            </a:r>
          </a:p>
          <a:p>
            <a:pPr lvl="1">
              <a:buFont typeface="Wingdings" panose="05000000000000000000" pitchFamily="2" charset="2"/>
              <a:buChar char="§"/>
            </a:pPr>
            <a:r>
              <a:rPr lang="en-US" altLang="ko-KR" sz="1400" b="1" dirty="0"/>
              <a:t>The easiest way to create a secret or a </a:t>
            </a:r>
            <a:r>
              <a:rPr lang="en-US" altLang="ko-KR" sz="1400" b="1" dirty="0" err="1"/>
              <a:t>ConfigMap</a:t>
            </a:r>
            <a:r>
              <a:rPr lang="en-US" altLang="ko-KR" sz="1400" b="1" dirty="0"/>
              <a:t> is via “</a:t>
            </a:r>
            <a:r>
              <a:rPr lang="en-US" altLang="ko-KR" sz="1400" b="1" dirty="0" err="1">
                <a:solidFill>
                  <a:srgbClr val="FF0000"/>
                </a:solidFill>
              </a:rPr>
              <a:t>kubectl</a:t>
            </a:r>
            <a:r>
              <a:rPr lang="en-US" altLang="ko-KR" sz="1400" b="1" dirty="0">
                <a:solidFill>
                  <a:srgbClr val="FF0000"/>
                </a:solidFill>
              </a:rPr>
              <a:t> create secret generic</a:t>
            </a:r>
            <a:r>
              <a:rPr lang="en-US" altLang="ko-KR" sz="1400" b="1" dirty="0"/>
              <a:t>” or “</a:t>
            </a:r>
            <a:r>
              <a:rPr lang="en-US" altLang="ko-KR" sz="1400" b="1" dirty="0" err="1">
                <a:solidFill>
                  <a:srgbClr val="FF0000"/>
                </a:solidFill>
              </a:rPr>
              <a:t>kubectl</a:t>
            </a:r>
            <a:r>
              <a:rPr lang="en-US" altLang="ko-KR" sz="1400" b="1" dirty="0">
                <a:solidFill>
                  <a:srgbClr val="FF0000"/>
                </a:solidFill>
              </a:rPr>
              <a:t> create </a:t>
            </a:r>
            <a:r>
              <a:rPr lang="en-US" altLang="ko-KR" sz="1400" b="1" dirty="0" err="1">
                <a:solidFill>
                  <a:srgbClr val="FF0000"/>
                </a:solidFill>
              </a:rPr>
              <a:t>configmap</a:t>
            </a:r>
            <a:r>
              <a:rPr lang="en-US" altLang="ko-KR" sz="1400" b="1" dirty="0"/>
              <a:t>”</a:t>
            </a:r>
            <a:r>
              <a:rPr lang="en-US" altLang="ko-KR" sz="1400" dirty="0"/>
              <a:t>. There are a variety of ways to </a:t>
            </a:r>
            <a:r>
              <a:rPr lang="en-US" altLang="ko-KR" sz="1400" b="1" dirty="0"/>
              <a:t>specify the data items that go into the secret or </a:t>
            </a:r>
            <a:r>
              <a:rPr lang="en-US" altLang="ko-KR" sz="1400" b="1" dirty="0" err="1"/>
              <a:t>ConfigMap</a:t>
            </a:r>
            <a:r>
              <a:rPr lang="en-US" altLang="ko-KR" sz="1400" dirty="0"/>
              <a:t>. These can be combined in a single command :</a:t>
            </a:r>
          </a:p>
          <a:p>
            <a:pPr lvl="1">
              <a:buFont typeface="Wingdings" panose="05000000000000000000" pitchFamily="2" charset="2"/>
              <a:buChar char="§"/>
            </a:pPr>
            <a:r>
              <a:rPr lang="en-US" altLang="ko-KR" sz="1400" b="1" dirty="0"/>
              <a:t>“--from-file=&lt;filename&gt;” - </a:t>
            </a:r>
            <a:r>
              <a:rPr lang="en-US" altLang="ko-KR" sz="1400" dirty="0"/>
              <a:t>Load from the file with the secret data key the same as the filename.</a:t>
            </a:r>
          </a:p>
          <a:p>
            <a:pPr lvl="1">
              <a:buFont typeface="Wingdings" panose="05000000000000000000" pitchFamily="2" charset="2"/>
              <a:buChar char="§"/>
            </a:pPr>
            <a:r>
              <a:rPr lang="en-US" altLang="ko-KR" sz="1400" dirty="0"/>
              <a:t>“</a:t>
            </a:r>
            <a:r>
              <a:rPr lang="en-US" altLang="ko-KR" sz="1400" b="1" dirty="0"/>
              <a:t>--from-file=&lt;key&gt;=&lt;filename&gt;</a:t>
            </a:r>
            <a:r>
              <a:rPr lang="en-US" altLang="ko-KR" sz="1400" dirty="0"/>
              <a:t>” - Load from the file with the secret data key explicitly specified.</a:t>
            </a:r>
          </a:p>
          <a:p>
            <a:pPr lvl="1">
              <a:buFont typeface="Wingdings" panose="05000000000000000000" pitchFamily="2" charset="2"/>
              <a:buChar char="§"/>
            </a:pPr>
            <a:r>
              <a:rPr lang="en-US" altLang="ko-KR" sz="1400" dirty="0"/>
              <a:t>“</a:t>
            </a:r>
            <a:r>
              <a:rPr lang="en-US" altLang="ko-KR" sz="1400" b="1" dirty="0"/>
              <a:t>--from-file=&lt;directory&gt;</a:t>
            </a:r>
            <a:r>
              <a:rPr lang="en-US" altLang="ko-KR" sz="1400" dirty="0"/>
              <a:t>” - Load all the files in the specified directory where the filename is an acceptable key name.</a:t>
            </a:r>
          </a:p>
          <a:p>
            <a:pPr lvl="1">
              <a:buFont typeface="Wingdings" panose="05000000000000000000" pitchFamily="2" charset="2"/>
              <a:buChar char="§"/>
            </a:pPr>
            <a:r>
              <a:rPr lang="en-US" altLang="ko-KR" sz="1400" dirty="0"/>
              <a:t>“</a:t>
            </a:r>
            <a:r>
              <a:rPr lang="en-US" altLang="ko-KR" sz="1400" b="1" dirty="0"/>
              <a:t>--from-literal=&lt;key&gt;=&lt;value&gt;</a:t>
            </a:r>
            <a:r>
              <a:rPr lang="en-US" altLang="ko-KR" sz="1400" dirty="0"/>
              <a:t>” - Use the specified key/value pair directly.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345C9D18-636B-4A65-9F3B-4C7CB7972F00}"/>
              </a:ext>
            </a:extLst>
          </p:cNvPr>
          <p:cNvGrpSpPr/>
          <p:nvPr/>
        </p:nvGrpSpPr>
        <p:grpSpPr>
          <a:xfrm>
            <a:off x="3549343" y="3055278"/>
            <a:ext cx="5093314" cy="3353752"/>
            <a:chOff x="3549343" y="3055278"/>
            <a:chExt cx="5093314" cy="3353752"/>
          </a:xfrm>
        </p:grpSpPr>
        <p:pic>
          <p:nvPicPr>
            <p:cNvPr id="4" name="그림 3">
              <a:extLst>
                <a:ext uri="{FF2B5EF4-FFF2-40B4-BE49-F238E27FC236}">
                  <a16:creationId xmlns:a16="http://schemas.microsoft.com/office/drawing/2014/main" id="{A35DD377-D02C-4FC3-86CC-ADCBEB57B4F6}"/>
                </a:ext>
              </a:extLst>
            </p:cNvPr>
            <p:cNvPicPr>
              <a:picLocks noChangeAspect="1"/>
            </p:cNvPicPr>
            <p:nvPr/>
          </p:nvPicPr>
          <p:blipFill>
            <a:blip r:embed="rId2"/>
            <a:stretch>
              <a:fillRect/>
            </a:stretch>
          </p:blipFill>
          <p:spPr>
            <a:xfrm>
              <a:off x="3549343" y="3055278"/>
              <a:ext cx="5093314" cy="3353752"/>
            </a:xfrm>
            <a:prstGeom prst="rect">
              <a:avLst/>
            </a:prstGeom>
          </p:spPr>
        </p:pic>
        <p:sp>
          <p:nvSpPr>
            <p:cNvPr id="8" name="사각형: 둥근 모서리 7">
              <a:extLst>
                <a:ext uri="{FF2B5EF4-FFF2-40B4-BE49-F238E27FC236}">
                  <a16:creationId xmlns:a16="http://schemas.microsoft.com/office/drawing/2014/main" id="{342AD5CB-08E7-48C5-A0DB-1C1AF3713C76}"/>
                </a:ext>
              </a:extLst>
            </p:cNvPr>
            <p:cNvSpPr/>
            <p:nvPr/>
          </p:nvSpPr>
          <p:spPr>
            <a:xfrm>
              <a:off x="6591300" y="3855720"/>
              <a:ext cx="1737360" cy="78486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6102797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Managing </a:t>
            </a:r>
            <a:r>
              <a:rPr lang="en-US" altLang="ko-KR" sz="2800" b="1" dirty="0" err="1"/>
              <a:t>ConfigMaps</a:t>
            </a:r>
            <a:r>
              <a:rPr lang="en-US" altLang="ko-KR" sz="2800" b="1" dirty="0"/>
              <a:t> and Secrets(4/7)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t>
            </a:r>
          </a:p>
          <a:p>
            <a:pPr lvl="1">
              <a:buFont typeface="Wingdings" panose="05000000000000000000" pitchFamily="2" charset="2"/>
              <a:buChar char="§"/>
            </a:pPr>
            <a:r>
              <a:rPr lang="en-US" altLang="ko-KR" sz="1400" b="1" dirty="0"/>
              <a:t>You can update a </a:t>
            </a:r>
            <a:r>
              <a:rPr lang="en-US" altLang="ko-KR" sz="1400" b="1" dirty="0" err="1"/>
              <a:t>ConfigMap</a:t>
            </a:r>
            <a:r>
              <a:rPr lang="en-US" altLang="ko-KR" sz="1400" b="1" dirty="0"/>
              <a:t> or secret and have it reflected in running programs</a:t>
            </a:r>
            <a:r>
              <a:rPr lang="en-US" altLang="ko-KR" sz="1400" dirty="0"/>
              <a:t>. </a:t>
            </a:r>
            <a:r>
              <a:rPr lang="en-US" altLang="ko-KR" sz="1400" b="1" dirty="0"/>
              <a:t>There is no need to restart if the application is configured to reread configuration values</a:t>
            </a:r>
            <a:r>
              <a:rPr lang="en-US" altLang="ko-KR" sz="1400" dirty="0"/>
              <a:t>. This is a rare feature but might be something you put in your own applications. </a:t>
            </a:r>
          </a:p>
          <a:p>
            <a:pPr lvl="1">
              <a:buFont typeface="Wingdings" panose="05000000000000000000" pitchFamily="2" charset="2"/>
              <a:buChar char="§"/>
            </a:pPr>
            <a:r>
              <a:rPr lang="en-US" altLang="ko-KR" sz="1400" b="1" dirty="0"/>
              <a:t>Update from file </a:t>
            </a:r>
            <a:r>
              <a:rPr lang="en-US" altLang="ko-KR" sz="1400" dirty="0"/>
              <a:t>-</a:t>
            </a:r>
          </a:p>
          <a:p>
            <a:pPr lvl="2">
              <a:buFont typeface="Wingdings" panose="05000000000000000000" pitchFamily="2" charset="2"/>
              <a:buChar char="§"/>
            </a:pPr>
            <a:r>
              <a:rPr lang="en-US" altLang="ko-KR" sz="1400" b="1" dirty="0"/>
              <a:t>If you have a manifest for your </a:t>
            </a:r>
            <a:r>
              <a:rPr lang="en-US" altLang="ko-KR" sz="1400" b="1" dirty="0" err="1"/>
              <a:t>ConfigMap</a:t>
            </a:r>
            <a:r>
              <a:rPr lang="en-US" altLang="ko-KR" sz="1400" b="1" dirty="0"/>
              <a:t> or secret, you can just edit it directly and push a new version with “</a:t>
            </a:r>
            <a:r>
              <a:rPr lang="en-US" altLang="ko-KR" sz="1400" b="1" dirty="0" err="1">
                <a:solidFill>
                  <a:srgbClr val="FF0000"/>
                </a:solidFill>
              </a:rPr>
              <a:t>kubectl</a:t>
            </a:r>
            <a:r>
              <a:rPr lang="en-US" altLang="ko-KR" sz="1400" b="1" dirty="0">
                <a:solidFill>
                  <a:srgbClr val="FF0000"/>
                </a:solidFill>
              </a:rPr>
              <a:t> replace -f &lt;filename&gt;</a:t>
            </a:r>
            <a:r>
              <a:rPr lang="en-US" altLang="ko-KR" sz="1400" b="1" dirty="0"/>
              <a:t>”. </a:t>
            </a:r>
            <a:r>
              <a:rPr lang="en-US" altLang="ko-KR" sz="1400" dirty="0"/>
              <a:t>You can also </a:t>
            </a:r>
            <a:r>
              <a:rPr lang="en-US" altLang="ko-KR" sz="1400" b="1" dirty="0"/>
              <a:t>use “</a:t>
            </a:r>
            <a:r>
              <a:rPr lang="en-US" altLang="ko-KR" sz="1400" b="1" dirty="0" err="1">
                <a:solidFill>
                  <a:srgbClr val="FF0000"/>
                </a:solidFill>
              </a:rPr>
              <a:t>kubectl</a:t>
            </a:r>
            <a:r>
              <a:rPr lang="en-US" altLang="ko-KR" sz="1400" b="1" dirty="0">
                <a:solidFill>
                  <a:srgbClr val="FF0000"/>
                </a:solidFill>
              </a:rPr>
              <a:t> apply -f &lt;filename&gt;</a:t>
            </a:r>
            <a:r>
              <a:rPr lang="en-US" altLang="ko-KR" sz="1400" b="1" dirty="0"/>
              <a:t>” if you previously created the resource with “</a:t>
            </a:r>
            <a:r>
              <a:rPr lang="en-US" altLang="ko-KR" sz="1400" b="1" dirty="0" err="1"/>
              <a:t>kubectl</a:t>
            </a:r>
            <a:r>
              <a:rPr lang="en-US" altLang="ko-KR" sz="1400" b="1" dirty="0"/>
              <a:t> apply”</a:t>
            </a:r>
            <a:r>
              <a:rPr lang="en-US" altLang="ko-KR" sz="1400" dirty="0"/>
              <a:t>.</a:t>
            </a:r>
          </a:p>
          <a:p>
            <a:pPr lvl="2">
              <a:buFont typeface="Wingdings" panose="05000000000000000000" pitchFamily="2" charset="2"/>
              <a:buChar char="§"/>
            </a:pPr>
            <a:r>
              <a:rPr lang="en-US" altLang="ko-KR" sz="1400" b="1" dirty="0"/>
              <a:t>Due to the way that datafiles are encoded into these objects, updating a configuration can be a bit cumbersome as there is no provision in </a:t>
            </a:r>
            <a:r>
              <a:rPr lang="en-US" altLang="ko-KR" sz="1400" b="1" dirty="0" err="1"/>
              <a:t>kubectl</a:t>
            </a:r>
            <a:r>
              <a:rPr lang="en-US" altLang="ko-KR" sz="1400" b="1" dirty="0"/>
              <a:t> to load data from an external file</a:t>
            </a:r>
            <a:r>
              <a:rPr lang="en-US" altLang="ko-KR" sz="1400" dirty="0"/>
              <a:t>. </a:t>
            </a:r>
            <a:r>
              <a:rPr lang="en-US" altLang="ko-KR" sz="1400" b="1" dirty="0"/>
              <a:t>The data must be stored directly in the YAML manifest</a:t>
            </a:r>
            <a:r>
              <a:rPr lang="en-US" altLang="ko-KR" sz="1400" dirty="0"/>
              <a:t>.</a:t>
            </a:r>
          </a:p>
          <a:p>
            <a:pPr lvl="2">
              <a:buFont typeface="Wingdings" panose="05000000000000000000" pitchFamily="2" charset="2"/>
              <a:buChar char="§"/>
            </a:pPr>
            <a:r>
              <a:rPr lang="en-US" altLang="ko-KR" sz="1400" b="1" dirty="0"/>
              <a:t>The most common use case is when the </a:t>
            </a:r>
            <a:r>
              <a:rPr lang="en-US" altLang="ko-KR" sz="1400" b="1" dirty="0" err="1"/>
              <a:t>ConfigMap</a:t>
            </a:r>
            <a:r>
              <a:rPr lang="en-US" altLang="ko-KR" sz="1400" b="1" dirty="0"/>
              <a:t> is defined as part of a directory or list of resources and everything is created and updated together</a:t>
            </a:r>
            <a:r>
              <a:rPr lang="en-US" altLang="ko-KR" sz="1400" dirty="0"/>
              <a:t>. Oftentimes these manifests will be checked into source control.</a:t>
            </a:r>
          </a:p>
          <a:p>
            <a:pPr lvl="1">
              <a:buFont typeface="Wingdings" panose="05000000000000000000" pitchFamily="2" charset="2"/>
              <a:buChar char="§"/>
            </a:pPr>
            <a:r>
              <a:rPr lang="en-US" altLang="ko-KR" sz="1400" b="1" dirty="0"/>
              <a:t>NOTICE : It is generally a bad idea to check secret YAML files into source control</a:t>
            </a:r>
            <a:r>
              <a:rPr lang="en-US" altLang="ko-KR" sz="1400" dirty="0"/>
              <a:t>. It is too easy to push these files someplace public and leak your secrets.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5F6CD58-FDB5-44F0-ACCC-787BA1312165}"/>
              </a:ext>
            </a:extLst>
          </p:cNvPr>
          <p:cNvPicPr>
            <a:picLocks noChangeAspect="1"/>
          </p:cNvPicPr>
          <p:nvPr/>
        </p:nvPicPr>
        <p:blipFill>
          <a:blip r:embed="rId2"/>
          <a:stretch>
            <a:fillRect/>
          </a:stretch>
        </p:blipFill>
        <p:spPr>
          <a:xfrm>
            <a:off x="7565394" y="4130415"/>
            <a:ext cx="3788406" cy="2278615"/>
          </a:xfrm>
          <a:prstGeom prst="rect">
            <a:avLst/>
          </a:prstGeom>
        </p:spPr>
      </p:pic>
    </p:spTree>
    <p:extLst>
      <p:ext uri="{BB962C8B-B14F-4D97-AF65-F5344CB8AC3E}">
        <p14:creationId xmlns:p14="http://schemas.microsoft.com/office/powerpoint/2010/main" val="9668213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Managing </a:t>
            </a:r>
            <a:r>
              <a:rPr lang="en-US" altLang="ko-KR" sz="2800" b="1" dirty="0" err="1"/>
              <a:t>ConfigMaps</a:t>
            </a:r>
            <a:r>
              <a:rPr lang="en-US" altLang="ko-KR" sz="2800" b="1" dirty="0"/>
              <a:t> and Secrets(5/7)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t>
            </a:r>
          </a:p>
          <a:p>
            <a:pPr lvl="1">
              <a:buFont typeface="Wingdings" panose="05000000000000000000" pitchFamily="2" charset="2"/>
              <a:buChar char="§"/>
            </a:pPr>
            <a:r>
              <a:rPr lang="en-US" altLang="ko-KR" sz="1400" b="1" dirty="0"/>
              <a:t>Recreate and update </a:t>
            </a:r>
            <a:r>
              <a:rPr lang="en-US" altLang="ko-KR" sz="1400" dirty="0"/>
              <a:t>- </a:t>
            </a:r>
          </a:p>
          <a:p>
            <a:pPr lvl="2">
              <a:buFont typeface="Wingdings" panose="05000000000000000000" pitchFamily="2" charset="2"/>
              <a:buChar char="§"/>
            </a:pPr>
            <a:r>
              <a:rPr lang="en-US" altLang="ko-KR" sz="1400" b="1" dirty="0"/>
              <a:t>If you store the inputs into your </a:t>
            </a:r>
            <a:r>
              <a:rPr lang="en-US" altLang="ko-KR" sz="1400" b="1" dirty="0" err="1"/>
              <a:t>ConfigMaps</a:t>
            </a:r>
            <a:r>
              <a:rPr lang="en-US" altLang="ko-KR" sz="1400" b="1" dirty="0"/>
              <a:t> or secrets as separate files on disk </a:t>
            </a:r>
            <a:r>
              <a:rPr lang="en-US" altLang="ko-KR" sz="1400" dirty="0"/>
              <a:t>(as opposed to embedded into YAML directly), you can </a:t>
            </a:r>
            <a:r>
              <a:rPr lang="en-US" altLang="ko-KR" sz="1400" b="1" dirty="0"/>
              <a:t>use “</a:t>
            </a:r>
            <a:r>
              <a:rPr lang="en-US" altLang="ko-KR" sz="1400" b="1" dirty="0" err="1"/>
              <a:t>kubectl</a:t>
            </a:r>
            <a:r>
              <a:rPr lang="en-US" altLang="ko-KR" sz="1400" b="1" dirty="0"/>
              <a:t>” to recreate the manifest and then use it to update the object</a:t>
            </a:r>
            <a:r>
              <a:rPr lang="en-US" altLang="ko-KR" sz="1400" dirty="0"/>
              <a:t>. </a:t>
            </a:r>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r>
              <a:rPr lang="en-US" altLang="ko-KR" sz="1400" dirty="0"/>
              <a:t>This command line </a:t>
            </a:r>
            <a:r>
              <a:rPr lang="en-US" altLang="ko-KR" sz="1400" b="1" dirty="0"/>
              <a:t>first creates a new secret with the same name as our existing secret</a:t>
            </a:r>
            <a:r>
              <a:rPr lang="en-US" altLang="ko-KR" sz="1400" dirty="0"/>
              <a:t>. If we just stopped there, the Kubernetes API server would return an error complaining that we are trying to create a secret that already exists. Instead, </a:t>
            </a:r>
            <a:r>
              <a:rPr lang="en-US" altLang="ko-KR" sz="1400" b="1" dirty="0"/>
              <a:t>we tell “</a:t>
            </a:r>
            <a:r>
              <a:rPr lang="en-US" altLang="ko-KR" sz="1400" b="1" dirty="0" err="1"/>
              <a:t>kubectl</a:t>
            </a:r>
            <a:r>
              <a:rPr lang="en-US" altLang="ko-KR" sz="1400" b="1" dirty="0"/>
              <a:t>” not to actually send the data to the server but instead to dump the YAML(“</a:t>
            </a:r>
            <a:r>
              <a:rPr lang="en-US" altLang="ko-KR" sz="1400" b="1" dirty="0">
                <a:solidFill>
                  <a:srgbClr val="FF0000"/>
                </a:solidFill>
              </a:rPr>
              <a:t>--dry-run=client</a:t>
            </a:r>
            <a:r>
              <a:rPr lang="en-US" altLang="ko-KR" sz="1400" b="1" dirty="0"/>
              <a:t>”) </a:t>
            </a:r>
            <a:r>
              <a:rPr lang="en-US" altLang="ko-KR" sz="1400" dirty="0"/>
              <a:t>that it would have sent to the API server </a:t>
            </a:r>
            <a:r>
              <a:rPr lang="en-US" altLang="ko-KR" sz="1400" b="1" dirty="0"/>
              <a:t>to </a:t>
            </a:r>
            <a:r>
              <a:rPr lang="en-US" altLang="ko-KR" sz="1400" b="1" dirty="0" err="1"/>
              <a:t>stdout</a:t>
            </a:r>
            <a:r>
              <a:rPr lang="en-US" altLang="ko-KR" sz="1400" dirty="0"/>
              <a:t>. We then </a:t>
            </a:r>
            <a:r>
              <a:rPr lang="en-US" altLang="ko-KR" sz="1400" b="1" dirty="0"/>
              <a:t>pipe that to “</a:t>
            </a:r>
            <a:r>
              <a:rPr lang="en-US" altLang="ko-KR" sz="1400" b="1" dirty="0" err="1">
                <a:solidFill>
                  <a:srgbClr val="FF0000"/>
                </a:solidFill>
              </a:rPr>
              <a:t>kubectl</a:t>
            </a:r>
            <a:r>
              <a:rPr lang="en-US" altLang="ko-KR" sz="1400" b="1" dirty="0">
                <a:solidFill>
                  <a:srgbClr val="FF0000"/>
                </a:solidFill>
              </a:rPr>
              <a:t> replace -f -</a:t>
            </a:r>
            <a:r>
              <a:rPr lang="en-US" altLang="ko-KR" sz="1400" b="1" dirty="0"/>
              <a:t>” to tell it to read from stdin</a:t>
            </a:r>
            <a:r>
              <a:rPr lang="en-US" altLang="ko-KR" sz="1400" dirty="0"/>
              <a:t>. In this way, </a:t>
            </a:r>
            <a:r>
              <a:rPr lang="en-US" altLang="ko-KR" sz="1400" b="1" dirty="0"/>
              <a:t>we can update a secret from files on disk without having to manually base64-encode data</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604526AD-2199-4D18-978D-FCF935FC2E62}"/>
              </a:ext>
            </a:extLst>
          </p:cNvPr>
          <p:cNvGrpSpPr/>
          <p:nvPr/>
        </p:nvGrpSpPr>
        <p:grpSpPr>
          <a:xfrm>
            <a:off x="1333500" y="1967195"/>
            <a:ext cx="9525000" cy="2910542"/>
            <a:chOff x="1333500" y="1931015"/>
            <a:chExt cx="9525000" cy="2910542"/>
          </a:xfrm>
        </p:grpSpPr>
        <p:sp>
          <p:nvSpPr>
            <p:cNvPr id="4" name="직사각형 3">
              <a:extLst>
                <a:ext uri="{FF2B5EF4-FFF2-40B4-BE49-F238E27FC236}">
                  <a16:creationId xmlns:a16="http://schemas.microsoft.com/office/drawing/2014/main" id="{296243D8-0300-4DE4-A3F8-D8B87BB534E3}"/>
                </a:ext>
              </a:extLst>
            </p:cNvPr>
            <p:cNvSpPr/>
            <p:nvPr/>
          </p:nvSpPr>
          <p:spPr>
            <a:xfrm>
              <a:off x="3048000" y="1931015"/>
              <a:ext cx="6096000" cy="553998"/>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create secret generic </a:t>
              </a:r>
              <a:r>
                <a:rPr lang="en-US" altLang="ko-KR" sz="1000" b="1" dirty="0" err="1">
                  <a:solidFill>
                    <a:srgbClr val="FF0000"/>
                  </a:solidFill>
                </a:rPr>
                <a:t>kuard-tls</a:t>
              </a:r>
              <a:r>
                <a:rPr lang="en-US" altLang="ko-KR" sz="1000" b="1" dirty="0"/>
                <a:t> \</a:t>
              </a:r>
            </a:p>
            <a:p>
              <a:r>
                <a:rPr lang="en-US" altLang="ko-KR" sz="1000" b="1" dirty="0"/>
                <a:t>--from-file=</a:t>
              </a:r>
              <a:r>
                <a:rPr lang="en-US" altLang="ko-KR" sz="1000" b="1" dirty="0">
                  <a:solidFill>
                    <a:srgbClr val="FF0000"/>
                  </a:solidFill>
                </a:rPr>
                <a:t>kuard.crt </a:t>
              </a:r>
              <a:r>
                <a:rPr lang="en-US" altLang="ko-KR" sz="1000" b="1" dirty="0"/>
                <a:t>--from-file=</a:t>
              </a:r>
              <a:r>
                <a:rPr lang="en-US" altLang="ko-KR" sz="1000" b="1" dirty="0" err="1">
                  <a:solidFill>
                    <a:srgbClr val="FF0000"/>
                  </a:solidFill>
                </a:rPr>
                <a:t>kuard.key</a:t>
              </a:r>
              <a:r>
                <a:rPr lang="en-US" altLang="ko-KR" sz="1000" b="1" dirty="0">
                  <a:solidFill>
                    <a:srgbClr val="FF0000"/>
                  </a:solidFill>
                </a:rPr>
                <a:t> </a:t>
              </a:r>
              <a:r>
                <a:rPr lang="en-US" altLang="ko-KR" sz="1000" b="1" dirty="0"/>
                <a:t>\</a:t>
              </a:r>
            </a:p>
            <a:p>
              <a:r>
                <a:rPr lang="en-US" altLang="ko-KR" sz="1000" b="1" dirty="0">
                  <a:solidFill>
                    <a:srgbClr val="FF0000"/>
                  </a:solidFill>
                </a:rPr>
                <a:t>--dry-run=client </a:t>
              </a:r>
              <a:r>
                <a:rPr lang="en-US" altLang="ko-KR" sz="1000" b="1" dirty="0"/>
                <a:t>-o </a:t>
              </a:r>
              <a:r>
                <a:rPr lang="en-US" altLang="ko-KR" sz="1000" b="1" dirty="0" err="1"/>
                <a:t>yaml</a:t>
              </a:r>
              <a:r>
                <a:rPr lang="en-US" altLang="ko-KR" sz="1000" b="1" dirty="0"/>
                <a:t> | </a:t>
              </a:r>
              <a:r>
                <a:rPr lang="en-US" altLang="ko-KR" sz="1000" b="1" dirty="0" err="1"/>
                <a:t>kubectl</a:t>
              </a:r>
              <a:r>
                <a:rPr lang="en-US" altLang="ko-KR" sz="1000" b="1" dirty="0"/>
                <a:t> replace -f </a:t>
              </a:r>
              <a:r>
                <a:rPr lang="en-US" altLang="ko-KR" sz="1000" b="1" dirty="0">
                  <a:solidFill>
                    <a:srgbClr val="FF0000"/>
                  </a:solidFill>
                </a:rPr>
                <a:t>-</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E6C6BAED-C936-4654-8038-A79F6B3AB9F3}"/>
                </a:ext>
              </a:extLst>
            </p:cNvPr>
            <p:cNvPicPr>
              <a:picLocks noChangeAspect="1"/>
            </p:cNvPicPr>
            <p:nvPr/>
          </p:nvPicPr>
          <p:blipFill>
            <a:blip r:embed="rId2"/>
            <a:stretch>
              <a:fillRect/>
            </a:stretch>
          </p:blipFill>
          <p:spPr>
            <a:xfrm>
              <a:off x="1333500" y="2793682"/>
              <a:ext cx="9525000" cy="2047875"/>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309CF815-79ED-4CA9-A1B7-6BF1438C77B1}"/>
                </a:ext>
              </a:extLst>
            </p:cNvPr>
            <p:cNvSpPr/>
            <p:nvPr/>
          </p:nvSpPr>
          <p:spPr>
            <a:xfrm>
              <a:off x="5894070" y="2492655"/>
              <a:ext cx="403860" cy="30102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5536634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Managing </a:t>
            </a:r>
            <a:r>
              <a:rPr lang="en-US" altLang="ko-KR" sz="2800" b="1" dirty="0" err="1"/>
              <a:t>ConfigMaps</a:t>
            </a:r>
            <a:r>
              <a:rPr lang="en-US" altLang="ko-KR" sz="2800" b="1" dirty="0"/>
              <a:t> and Secrets(6/7)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t>
            </a:r>
          </a:p>
          <a:p>
            <a:pPr lvl="1">
              <a:buFont typeface="Wingdings" panose="05000000000000000000" pitchFamily="2" charset="2"/>
              <a:buChar char="§"/>
            </a:pPr>
            <a:r>
              <a:rPr lang="en-US" altLang="ko-KR" sz="1400" b="1" dirty="0"/>
              <a:t>Edit current version </a:t>
            </a:r>
            <a:r>
              <a:rPr lang="en-US" altLang="ko-KR" sz="1400" dirty="0"/>
              <a:t>- </a:t>
            </a:r>
          </a:p>
          <a:p>
            <a:pPr lvl="2">
              <a:buFont typeface="Wingdings" panose="05000000000000000000" pitchFamily="2" charset="2"/>
              <a:buChar char="§"/>
            </a:pPr>
            <a:r>
              <a:rPr lang="en-US" altLang="ko-KR" sz="1400" b="1" dirty="0"/>
              <a:t>The final way to update a </a:t>
            </a:r>
            <a:r>
              <a:rPr lang="en-US" altLang="ko-KR" sz="1400" b="1" dirty="0" err="1"/>
              <a:t>ConfigMap</a:t>
            </a:r>
            <a:r>
              <a:rPr lang="en-US" altLang="ko-KR" sz="1400" b="1" dirty="0"/>
              <a:t> is to use </a:t>
            </a:r>
            <a:r>
              <a:rPr lang="en-US" altLang="ko-KR" sz="1400" b="1" dirty="0" err="1"/>
              <a:t>kubectl</a:t>
            </a:r>
            <a:r>
              <a:rPr lang="en-US" altLang="ko-KR" sz="1400" b="1" dirty="0"/>
              <a:t> edit to bring up a version of the </a:t>
            </a:r>
            <a:r>
              <a:rPr lang="en-US" altLang="ko-KR" sz="1400" b="1" dirty="0" err="1"/>
              <a:t>ConfigMap</a:t>
            </a:r>
            <a:r>
              <a:rPr lang="en-US" altLang="ko-KR" sz="1400" b="1" dirty="0"/>
              <a:t> in your editor so you can tweak it </a:t>
            </a:r>
            <a:r>
              <a:rPr lang="en-US" altLang="ko-KR" sz="1400" dirty="0"/>
              <a:t>(you could also do this with a secret, but you’d be stuck managing the base64 encoding of values on your own) : </a:t>
            </a:r>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r>
              <a:rPr lang="en-US" altLang="ko-KR" sz="1400" dirty="0"/>
              <a:t>You should </a:t>
            </a:r>
            <a:r>
              <a:rPr lang="en-US" altLang="ko-KR" sz="1400" b="1" dirty="0"/>
              <a:t>see the </a:t>
            </a:r>
            <a:r>
              <a:rPr lang="en-US" altLang="ko-KR" sz="1400" b="1" dirty="0" err="1"/>
              <a:t>ConfigMap</a:t>
            </a:r>
            <a:r>
              <a:rPr lang="en-US" altLang="ko-KR" sz="1400" b="1" dirty="0"/>
              <a:t> definition in your editor</a:t>
            </a:r>
            <a:r>
              <a:rPr lang="en-US" altLang="ko-KR" sz="1400" dirty="0"/>
              <a:t>. Make your desired changes and then </a:t>
            </a:r>
            <a:r>
              <a:rPr lang="en-US" altLang="ko-KR" sz="1400" b="1" dirty="0"/>
              <a:t>save(in vi, </a:t>
            </a:r>
            <a:r>
              <a:rPr lang="en-US" altLang="ko-KR" sz="1400" b="1" dirty="0" err="1"/>
              <a:t>ESC</a:t>
            </a:r>
            <a:r>
              <a:rPr lang="en-US" altLang="ko-KR" sz="1400" b="1" dirty="0" err="1">
                <a:sym typeface="Wingdings" panose="05000000000000000000" pitchFamily="2" charset="2"/>
              </a:rPr>
              <a:t>wq</a:t>
            </a:r>
            <a:r>
              <a:rPr lang="en-US" altLang="ko-KR" sz="1400" b="1" dirty="0">
                <a:sym typeface="Wingdings" panose="05000000000000000000" pitchFamily="2" charset="2"/>
              </a:rPr>
              <a:t>)</a:t>
            </a:r>
            <a:r>
              <a:rPr lang="en-US" altLang="ko-KR" sz="1400" dirty="0"/>
              <a:t> and close your editor. </a:t>
            </a:r>
            <a:r>
              <a:rPr lang="en-US" altLang="ko-KR" sz="1400" b="1" dirty="0"/>
              <a:t>The new version of the object will be pushed to the Kubernetes API server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E63543DE-7F97-4A1E-86C5-C97E9B8DCC08}"/>
              </a:ext>
            </a:extLst>
          </p:cNvPr>
          <p:cNvGrpSpPr/>
          <p:nvPr/>
        </p:nvGrpSpPr>
        <p:grpSpPr>
          <a:xfrm>
            <a:off x="2354579" y="2086094"/>
            <a:ext cx="7482840" cy="3641029"/>
            <a:chOff x="2354579" y="2086094"/>
            <a:chExt cx="7482840" cy="3641029"/>
          </a:xfrm>
        </p:grpSpPr>
        <p:sp>
          <p:nvSpPr>
            <p:cNvPr id="4" name="직사각형 3">
              <a:extLst>
                <a:ext uri="{FF2B5EF4-FFF2-40B4-BE49-F238E27FC236}">
                  <a16:creationId xmlns:a16="http://schemas.microsoft.com/office/drawing/2014/main" id="{182613AC-5093-4ACB-96C2-B25D7E376BCE}"/>
                </a:ext>
              </a:extLst>
            </p:cNvPr>
            <p:cNvSpPr/>
            <p:nvPr/>
          </p:nvSpPr>
          <p:spPr>
            <a:xfrm>
              <a:off x="4896793" y="2086094"/>
              <a:ext cx="2398413"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edit </a:t>
              </a:r>
              <a:r>
                <a:rPr lang="en-US" altLang="ko-KR" sz="1000" b="1" dirty="0" err="1"/>
                <a:t>configmap</a:t>
              </a:r>
              <a:r>
                <a:rPr lang="en-US" altLang="ko-KR" sz="1000" b="1" dirty="0"/>
                <a:t> </a:t>
              </a:r>
              <a:r>
                <a:rPr lang="en-US" altLang="ko-KR" sz="1000" b="1" dirty="0">
                  <a:solidFill>
                    <a:srgbClr val="FF0000"/>
                  </a:solidFill>
                </a:rPr>
                <a:t>my-config</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878E4164-1CD5-441A-84D1-71FFCF2BA09D}"/>
                </a:ext>
              </a:extLst>
            </p:cNvPr>
            <p:cNvPicPr>
              <a:picLocks noChangeAspect="1"/>
            </p:cNvPicPr>
            <p:nvPr/>
          </p:nvPicPr>
          <p:blipFill>
            <a:blip r:embed="rId2"/>
            <a:stretch>
              <a:fillRect/>
            </a:stretch>
          </p:blipFill>
          <p:spPr>
            <a:xfrm>
              <a:off x="2354579" y="2599296"/>
              <a:ext cx="7482840" cy="3127827"/>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04A404FD-0A05-4DA7-84D9-0D21F30D8341}"/>
                </a:ext>
              </a:extLst>
            </p:cNvPr>
            <p:cNvSpPr/>
            <p:nvPr/>
          </p:nvSpPr>
          <p:spPr>
            <a:xfrm>
              <a:off x="5890259" y="2342695"/>
              <a:ext cx="41148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056909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Managing </a:t>
            </a:r>
            <a:r>
              <a:rPr lang="en-US" altLang="ko-KR" sz="2800" b="1" dirty="0" err="1"/>
              <a:t>ConfigMaps</a:t>
            </a:r>
            <a:r>
              <a:rPr lang="en-US" altLang="ko-KR" sz="2800" b="1" dirty="0"/>
              <a:t> and Secrets(7/7)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t>
            </a:r>
          </a:p>
          <a:p>
            <a:pPr lvl="1">
              <a:buFont typeface="Wingdings" panose="05000000000000000000" pitchFamily="2" charset="2"/>
              <a:buChar char="§"/>
            </a:pPr>
            <a:r>
              <a:rPr lang="en-US" altLang="ko-KR" sz="1400" b="1" dirty="0"/>
              <a:t>Live Updates </a:t>
            </a:r>
            <a:r>
              <a:rPr lang="en-US" altLang="ko-KR" sz="1400" dirty="0"/>
              <a:t>- </a:t>
            </a:r>
          </a:p>
          <a:p>
            <a:pPr lvl="2">
              <a:buFont typeface="Wingdings" panose="05000000000000000000" pitchFamily="2" charset="2"/>
              <a:buChar char="§"/>
            </a:pPr>
            <a:r>
              <a:rPr lang="en-US" altLang="ko-KR" sz="1400" b="1" dirty="0"/>
              <a:t>Once a </a:t>
            </a:r>
            <a:r>
              <a:rPr lang="en-US" altLang="ko-KR" sz="1400" b="1" dirty="0" err="1"/>
              <a:t>ConfigMap</a:t>
            </a:r>
            <a:r>
              <a:rPr lang="en-US" altLang="ko-KR" sz="1400" b="1" dirty="0"/>
              <a:t> or secret is updated using the API, it’ll be automatically pushed to all volumes that use that </a:t>
            </a:r>
            <a:r>
              <a:rPr lang="en-US" altLang="ko-KR" sz="1400" b="1" dirty="0" err="1"/>
              <a:t>ConfigMap</a:t>
            </a:r>
            <a:r>
              <a:rPr lang="en-US" altLang="ko-KR" sz="1400" b="1" dirty="0"/>
              <a:t> or secret</a:t>
            </a:r>
            <a:r>
              <a:rPr lang="en-US" altLang="ko-KR" sz="1400" dirty="0"/>
              <a:t>. It may take a few seconds, but the file listing and contents of the files, as seen by “</a:t>
            </a:r>
            <a:r>
              <a:rPr lang="en-US" altLang="ko-KR" sz="1400" dirty="0" err="1"/>
              <a:t>kuard</a:t>
            </a:r>
            <a:r>
              <a:rPr lang="en-US" altLang="ko-KR" sz="1400" dirty="0"/>
              <a:t>”, will be updated with these new values. </a:t>
            </a:r>
            <a:r>
              <a:rPr lang="en-US" altLang="ko-KR" sz="1400" b="1" dirty="0"/>
              <a:t>Using this </a:t>
            </a:r>
            <a:r>
              <a:rPr lang="en-US" altLang="ko-KR" sz="1400" b="1" dirty="0">
                <a:solidFill>
                  <a:srgbClr val="FF0000"/>
                </a:solidFill>
              </a:rPr>
              <a:t>live update </a:t>
            </a:r>
            <a:r>
              <a:rPr lang="en-US" altLang="ko-KR" sz="1400" b="1" dirty="0"/>
              <a:t>feature you can update the configuration of applications without restarting them</a:t>
            </a:r>
            <a:r>
              <a:rPr lang="en-US" altLang="ko-KR" sz="1400" dirty="0"/>
              <a:t>.</a:t>
            </a:r>
          </a:p>
          <a:p>
            <a:pPr lvl="2">
              <a:buFont typeface="Wingdings" panose="05000000000000000000" pitchFamily="2" charset="2"/>
              <a:buChar char="§"/>
            </a:pPr>
            <a:r>
              <a:rPr lang="en-US" altLang="ko-KR" sz="1400" b="1" dirty="0"/>
              <a:t>Currently there is no built-in way to signal an application when a new version of a </a:t>
            </a:r>
            <a:r>
              <a:rPr lang="en-US" altLang="ko-KR" sz="1400" b="1" dirty="0" err="1"/>
              <a:t>ConfigMap</a:t>
            </a:r>
            <a:r>
              <a:rPr lang="en-US" altLang="ko-KR" sz="1400" b="1" dirty="0"/>
              <a:t> is deployed</a:t>
            </a:r>
            <a:r>
              <a:rPr lang="en-US" altLang="ko-KR" sz="1400" dirty="0"/>
              <a:t>. It is up to the application (or some helper script) to look for the config files to change and reload them.</a:t>
            </a:r>
          </a:p>
          <a:p>
            <a:pPr lvl="2">
              <a:buFont typeface="Wingdings" panose="05000000000000000000" pitchFamily="2" charset="2"/>
              <a:buChar char="§"/>
            </a:pPr>
            <a:r>
              <a:rPr lang="en-US" altLang="ko-KR" sz="1400" b="1" dirty="0"/>
              <a:t>Using the </a:t>
            </a:r>
            <a:r>
              <a:rPr lang="en-US" altLang="ko-KR" sz="1400" b="1" dirty="0">
                <a:solidFill>
                  <a:srgbClr val="FF0000"/>
                </a:solidFill>
              </a:rPr>
              <a:t>file browser </a:t>
            </a:r>
            <a:r>
              <a:rPr lang="en-US" altLang="ko-KR" sz="1400" b="1" dirty="0"/>
              <a:t>in “</a:t>
            </a:r>
            <a:r>
              <a:rPr lang="en-US" altLang="ko-KR" sz="1400" b="1" dirty="0" err="1"/>
              <a:t>kuard</a:t>
            </a:r>
            <a:r>
              <a:rPr lang="en-US" altLang="ko-KR" sz="1400" b="1" dirty="0"/>
              <a:t>” (accessed through “</a:t>
            </a:r>
            <a:r>
              <a:rPr lang="en-US" altLang="ko-KR" sz="1400" b="1" dirty="0" err="1"/>
              <a:t>kubectl</a:t>
            </a:r>
            <a:r>
              <a:rPr lang="en-US" altLang="ko-KR" sz="1400" b="1" dirty="0"/>
              <a:t> port-forward”) is a great way to interactively play with dynamically updating secrets and </a:t>
            </a:r>
            <a:r>
              <a:rPr lang="en-US" altLang="ko-KR" sz="1400" b="1" dirty="0" err="1"/>
              <a:t>ConfigMaps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3B690D2-F62D-4BB5-8FA5-B69DA436CB97}"/>
              </a:ext>
            </a:extLst>
          </p:cNvPr>
          <p:cNvPicPr>
            <a:picLocks noChangeAspect="1"/>
          </p:cNvPicPr>
          <p:nvPr/>
        </p:nvPicPr>
        <p:blipFill>
          <a:blip r:embed="rId2"/>
          <a:stretch>
            <a:fillRect/>
          </a:stretch>
        </p:blipFill>
        <p:spPr>
          <a:xfrm>
            <a:off x="3613309" y="3482340"/>
            <a:ext cx="4965382" cy="2362459"/>
          </a:xfrm>
          <a:prstGeom prst="rect">
            <a:avLst/>
          </a:prstGeom>
        </p:spPr>
      </p:pic>
    </p:spTree>
    <p:extLst>
      <p:ext uri="{BB962C8B-B14F-4D97-AF65-F5344CB8AC3E}">
        <p14:creationId xmlns:p14="http://schemas.microsoft.com/office/powerpoint/2010/main" val="296330066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Summary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Remember :</a:t>
            </a:r>
          </a:p>
          <a:p>
            <a:pPr lvl="1">
              <a:buFont typeface="Wingdings" panose="05000000000000000000" pitchFamily="2" charset="2"/>
              <a:buChar char="§"/>
            </a:pPr>
            <a:r>
              <a:rPr lang="en-US" altLang="ko-KR" sz="1400" b="1" dirty="0" err="1"/>
              <a:t>ConfigMaps</a:t>
            </a:r>
            <a:r>
              <a:rPr lang="en-US" altLang="ko-KR" sz="1400" b="1" dirty="0"/>
              <a:t> and secrets are a great way to </a:t>
            </a:r>
            <a:r>
              <a:rPr lang="en-US" altLang="ko-KR" sz="1400" b="1" dirty="0">
                <a:solidFill>
                  <a:srgbClr val="FF0000"/>
                </a:solidFill>
              </a:rPr>
              <a:t>provide dynamic configuration </a:t>
            </a:r>
            <a:r>
              <a:rPr lang="en-US" altLang="ko-KR" sz="1400" b="1" dirty="0"/>
              <a:t>in your application</a:t>
            </a:r>
            <a:r>
              <a:rPr lang="en-US" altLang="ko-KR" sz="1400" dirty="0"/>
              <a:t>. They allow you to create a container image (and Pod definition) once and reuse it in different contexts. This can include using the exact same image as you move from dev to staging to production. It can also include using a single image across multiple teams and services. </a:t>
            </a:r>
          </a:p>
          <a:p>
            <a:pPr lvl="1">
              <a:buFont typeface="Wingdings" panose="05000000000000000000" pitchFamily="2" charset="2"/>
              <a:buChar char="§"/>
            </a:pPr>
            <a:r>
              <a:rPr lang="en-US" altLang="ko-KR" sz="1400" b="1" dirty="0"/>
              <a:t>Separating configuration from application code will make your applications more reliable and reusable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B7404127-1BBA-4E38-B53A-B647A49580FB}"/>
              </a:ext>
            </a:extLst>
          </p:cNvPr>
          <p:cNvPicPr>
            <a:picLocks noChangeAspect="1"/>
          </p:cNvPicPr>
          <p:nvPr/>
        </p:nvPicPr>
        <p:blipFill>
          <a:blip r:embed="rId2"/>
          <a:stretch>
            <a:fillRect/>
          </a:stretch>
        </p:blipFill>
        <p:spPr>
          <a:xfrm>
            <a:off x="2678587" y="2565446"/>
            <a:ext cx="6834825" cy="3843584"/>
          </a:xfrm>
          <a:prstGeom prst="rect">
            <a:avLst/>
          </a:prstGeom>
        </p:spPr>
      </p:pic>
    </p:spTree>
    <p:extLst>
      <p:ext uri="{BB962C8B-B14F-4D97-AF65-F5344CB8AC3E}">
        <p14:creationId xmlns:p14="http://schemas.microsoft.com/office/powerpoint/2010/main" val="23942276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Role-Based Access Control(RBAC) for Kubernetes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49520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Introduction(1/2)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Role-Based Access Control :</a:t>
            </a:r>
          </a:p>
          <a:p>
            <a:pPr lvl="1">
              <a:buFont typeface="Wingdings" panose="05000000000000000000" pitchFamily="2" charset="2"/>
              <a:buChar char="§"/>
            </a:pPr>
            <a:r>
              <a:rPr lang="en-US" altLang="ko-KR" sz="1400" b="1" dirty="0">
                <a:solidFill>
                  <a:srgbClr val="FF0000"/>
                </a:solidFill>
              </a:rPr>
              <a:t>RBAC</a:t>
            </a:r>
            <a:r>
              <a:rPr lang="en-US" altLang="ko-KR" sz="1400" b="1" dirty="0"/>
              <a:t> was introduced into Kubernetes with version 1.5 and became generally available in Kubernetes 1.8</a:t>
            </a:r>
            <a:r>
              <a:rPr lang="en-US" altLang="ko-KR" sz="1400" dirty="0"/>
              <a:t>. </a:t>
            </a:r>
            <a:r>
              <a:rPr lang="en-US" altLang="ko-KR" sz="1400" b="1" dirty="0"/>
              <a:t>Role-based access control provides a mechanism for restricting both access to and actions on Kubernetes APIs to ensure that only appropriate users have access to APIs in the cluster</a:t>
            </a:r>
            <a:r>
              <a:rPr lang="en-US" altLang="ko-KR" sz="1400" dirty="0"/>
              <a:t>. </a:t>
            </a:r>
          </a:p>
          <a:p>
            <a:pPr lvl="1">
              <a:buFont typeface="Wingdings" panose="05000000000000000000" pitchFamily="2" charset="2"/>
              <a:buChar char="§"/>
            </a:pPr>
            <a:r>
              <a:rPr lang="en-US" altLang="ko-KR" sz="1400" b="1" dirty="0"/>
              <a:t>RBAC is a critical component to both harden access to the Kubernetes cluster where you are deploying your application and (possibly more importantly) prevent unexpected accidents</a:t>
            </a:r>
            <a:r>
              <a:rPr lang="en-US" altLang="ko-KR" sz="1400" dirty="0"/>
              <a:t> where one person in the wrong namespace mistakenly takes down production when they think they are destroying their test cluster.</a:t>
            </a:r>
          </a:p>
          <a:p>
            <a:pPr lvl="1">
              <a:buFont typeface="Wingdings" panose="05000000000000000000" pitchFamily="2" charset="2"/>
              <a:buChar char="§"/>
            </a:pPr>
            <a:r>
              <a:rPr lang="en-US" altLang="ko-KR" sz="1400" b="1" dirty="0"/>
              <a:t>NOTE : </a:t>
            </a:r>
            <a:r>
              <a:rPr lang="en-US" altLang="ko-KR" sz="1400" b="1" dirty="0">
                <a:hlinkClick r:id="rId2"/>
              </a:rPr>
              <a:t>Multitenant</a:t>
            </a:r>
            <a:r>
              <a:rPr lang="en-US" altLang="ko-KR" sz="1400" dirty="0"/>
              <a:t> security in Kubernetes is a complex, multifaceted topic worthy of its own volume. </a:t>
            </a:r>
            <a:r>
              <a:rPr lang="en-US" altLang="ko-KR" sz="1400" b="1" dirty="0"/>
              <a:t>While RBAC can be quite useful in limiting access to the Kubernetes API, it’s important to remember that anyone who can run arbitrary code inside the Kubernetes cluster can effectively obtain root privileges on the entire cluster</a:t>
            </a:r>
            <a:r>
              <a:rPr lang="en-US" altLang="ko-KR" sz="1400" dirty="0"/>
              <a:t>. There are approaches that you can take to make such attacks harder and more expensive, and </a:t>
            </a:r>
            <a:r>
              <a:rPr lang="en-US" altLang="ko-KR" sz="1400" b="1" dirty="0"/>
              <a:t>a correct RBAC setup is part of this defense</a:t>
            </a:r>
            <a:r>
              <a:rPr lang="en-US" altLang="ko-KR" sz="1400" dirty="0"/>
              <a:t>. </a:t>
            </a:r>
            <a:r>
              <a:rPr lang="en-US" altLang="ko-KR" sz="1400" b="1" dirty="0"/>
              <a:t>But if you are focused on hostile multitenant security, do not believe that RBAC by itself is sufficient to protect you</a:t>
            </a:r>
            <a:r>
              <a:rPr lang="en-US" altLang="ko-KR" sz="1400" dirty="0"/>
              <a:t>. </a:t>
            </a:r>
            <a:r>
              <a:rPr lang="en-US" altLang="ko-KR" sz="1400" b="1" dirty="0"/>
              <a:t>You must </a:t>
            </a:r>
            <a:r>
              <a:rPr lang="en-US" altLang="ko-KR" sz="1400" b="1" dirty="0">
                <a:solidFill>
                  <a:srgbClr val="FF0000"/>
                </a:solidFill>
              </a:rPr>
              <a:t>isolate the Pods running in your cluster </a:t>
            </a:r>
            <a:r>
              <a:rPr lang="en-US" altLang="ko-KR" sz="1400" b="1" dirty="0"/>
              <a:t>to provide effective multitenant security</a:t>
            </a:r>
            <a:r>
              <a:rPr lang="en-US" altLang="ko-KR" sz="1400" dirty="0"/>
              <a:t>. Generally this is done with a </a:t>
            </a:r>
            <a:r>
              <a:rPr lang="en-US" altLang="ko-KR" sz="1400" b="1" dirty="0"/>
              <a:t>hypervisor isolated container</a:t>
            </a:r>
            <a:r>
              <a:rPr lang="en-US" altLang="ko-KR" sz="1400" dirty="0"/>
              <a:t>, or </a:t>
            </a:r>
            <a:r>
              <a:rPr lang="en-US" altLang="ko-KR" sz="1400" b="1" dirty="0"/>
              <a:t>some sort of container sandbox</a:t>
            </a:r>
            <a:r>
              <a:rPr lang="en-US" altLang="ko-KR" sz="1400" dirty="0"/>
              <a:t>, or both.</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F0E780BD-56EA-4C39-9E7E-7370B57F0AA9}"/>
              </a:ext>
            </a:extLst>
          </p:cNvPr>
          <p:cNvPicPr>
            <a:picLocks noChangeAspect="1"/>
          </p:cNvPicPr>
          <p:nvPr/>
        </p:nvPicPr>
        <p:blipFill>
          <a:blip r:embed="rId3"/>
          <a:stretch>
            <a:fillRect/>
          </a:stretch>
        </p:blipFill>
        <p:spPr>
          <a:xfrm>
            <a:off x="3124200" y="3846805"/>
            <a:ext cx="5943600" cy="2562225"/>
          </a:xfrm>
          <a:prstGeom prst="rect">
            <a:avLst/>
          </a:prstGeom>
        </p:spPr>
      </p:pic>
    </p:spTree>
    <p:extLst>
      <p:ext uri="{BB962C8B-B14F-4D97-AF65-F5344CB8AC3E}">
        <p14:creationId xmlns:p14="http://schemas.microsoft.com/office/powerpoint/2010/main" val="13757016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Introduction(2/2)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Authentication &amp; Authorization : </a:t>
            </a:r>
          </a:p>
          <a:p>
            <a:pPr lvl="1">
              <a:buFont typeface="Wingdings" panose="05000000000000000000" pitchFamily="2" charset="2"/>
              <a:buChar char="§"/>
            </a:pPr>
            <a:r>
              <a:rPr lang="en-US" altLang="ko-KR" sz="1400" b="1" dirty="0"/>
              <a:t>Every request to Kubernetes is first authenticated. </a:t>
            </a:r>
            <a:r>
              <a:rPr lang="en-US" altLang="ko-KR" sz="1400" b="1" dirty="0">
                <a:solidFill>
                  <a:srgbClr val="FF0000"/>
                </a:solidFill>
              </a:rPr>
              <a:t>Authentication</a:t>
            </a:r>
            <a:r>
              <a:rPr lang="en-US" altLang="ko-KR" sz="1400" b="1" dirty="0"/>
              <a:t> provides the identity of the caller issuing the request</a:t>
            </a:r>
            <a:r>
              <a:rPr lang="en-US" altLang="ko-KR" sz="1400" dirty="0"/>
              <a:t>. It could be as simple as saying that the request is unauthenticated, or it could integrate deeply with a pluggable authentication provider (e.g., Azure Active Directory) to establish an identity within that third-party system. </a:t>
            </a:r>
            <a:r>
              <a:rPr lang="en-US" altLang="ko-KR" sz="1400" b="1" dirty="0"/>
              <a:t>Interestingly enough, Kubernetes does not have a built-in identity store, focusing instead on integrating other identity sources within itself</a:t>
            </a:r>
            <a:r>
              <a:rPr lang="en-US" altLang="ko-KR" sz="1400" dirty="0"/>
              <a:t>.</a:t>
            </a:r>
          </a:p>
          <a:p>
            <a:pPr lvl="1">
              <a:buFont typeface="Wingdings" panose="05000000000000000000" pitchFamily="2" charset="2"/>
              <a:buChar char="§"/>
            </a:pPr>
            <a:r>
              <a:rPr lang="en-US" altLang="ko-KR" sz="1400" b="1" dirty="0"/>
              <a:t>Once users have been properly </a:t>
            </a:r>
            <a:r>
              <a:rPr lang="en-US" altLang="ko-KR" sz="1400" b="1" dirty="0">
                <a:solidFill>
                  <a:srgbClr val="FF0000"/>
                </a:solidFill>
              </a:rPr>
              <a:t>identified</a:t>
            </a:r>
            <a:r>
              <a:rPr lang="en-US" altLang="ko-KR" sz="1400" b="1" dirty="0"/>
              <a:t>, the authorization phase determines whether they are </a:t>
            </a:r>
            <a:r>
              <a:rPr lang="en-US" altLang="ko-KR" sz="1400" b="1" dirty="0">
                <a:solidFill>
                  <a:srgbClr val="FF0000"/>
                </a:solidFill>
              </a:rPr>
              <a:t>authorized</a:t>
            </a:r>
            <a:r>
              <a:rPr lang="en-US" altLang="ko-KR" sz="1400" b="1" dirty="0"/>
              <a:t> to perform the request</a:t>
            </a:r>
            <a:r>
              <a:rPr lang="en-US" altLang="ko-KR" sz="1400" dirty="0"/>
              <a:t>. </a:t>
            </a:r>
            <a:r>
              <a:rPr lang="en-US" altLang="ko-KR" sz="1400" b="1" dirty="0">
                <a:solidFill>
                  <a:srgbClr val="FF0000"/>
                </a:solidFill>
              </a:rPr>
              <a:t>Authorization</a:t>
            </a:r>
            <a:r>
              <a:rPr lang="en-US" altLang="ko-KR" sz="1400" b="1" dirty="0"/>
              <a:t> is a combination of the identity of the user, the resource (effectively the HTTP path), and the verb or action the user is attempting to perform</a:t>
            </a:r>
            <a:r>
              <a:rPr lang="en-US" altLang="ko-KR" sz="1400" dirty="0"/>
              <a:t>. If the particular user is authorized for performing that action on that resource, then the request is allowed to proceed. Otherwise, an </a:t>
            </a:r>
            <a:r>
              <a:rPr lang="en-US" altLang="ko-KR" sz="1400" b="1" dirty="0"/>
              <a:t>HTTP 403 error </a:t>
            </a:r>
            <a:r>
              <a:rPr lang="en-US" altLang="ko-KR" sz="1400" dirty="0"/>
              <a:t>is returned.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5AA59F39-ABCA-4F7F-ACB3-A19E1A84D114}"/>
              </a:ext>
            </a:extLst>
          </p:cNvPr>
          <p:cNvPicPr>
            <a:picLocks noChangeAspect="1"/>
          </p:cNvPicPr>
          <p:nvPr/>
        </p:nvPicPr>
        <p:blipFill>
          <a:blip r:embed="rId2"/>
          <a:stretch>
            <a:fillRect/>
          </a:stretch>
        </p:blipFill>
        <p:spPr>
          <a:xfrm>
            <a:off x="2648093" y="3067689"/>
            <a:ext cx="6895814" cy="3341341"/>
          </a:xfrm>
          <a:prstGeom prst="rect">
            <a:avLst/>
          </a:prstGeom>
        </p:spPr>
      </p:pic>
    </p:spTree>
    <p:extLst>
      <p:ext uri="{BB962C8B-B14F-4D97-AF65-F5344CB8AC3E}">
        <p14:creationId xmlns:p14="http://schemas.microsoft.com/office/powerpoint/2010/main" val="4694846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Role-Based Access Control(1/10)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Identity, Role, Role Bindings :</a:t>
            </a:r>
          </a:p>
          <a:p>
            <a:pPr lvl="1">
              <a:buFont typeface="Wingdings" panose="05000000000000000000" pitchFamily="2" charset="2"/>
              <a:buChar char="§"/>
            </a:pPr>
            <a:r>
              <a:rPr lang="en-US" altLang="ko-KR" sz="1400" b="1" dirty="0"/>
              <a:t>To properly manage access in Kubernetes, it’s critical to understand how identity, roles, and role bindings interact to </a:t>
            </a:r>
            <a:r>
              <a:rPr lang="en-US" altLang="ko-KR" sz="1400" b="1" dirty="0">
                <a:solidFill>
                  <a:srgbClr val="FF0000"/>
                </a:solidFill>
              </a:rPr>
              <a:t>control</a:t>
            </a:r>
            <a:r>
              <a:rPr lang="en-US" altLang="ko-KR" sz="1400" b="1" dirty="0"/>
              <a:t> </a:t>
            </a:r>
            <a:r>
              <a:rPr lang="en-US" altLang="ko-KR" sz="1400" b="1" dirty="0">
                <a:solidFill>
                  <a:srgbClr val="FF0000"/>
                </a:solidFill>
              </a:rPr>
              <a:t>who can do what with what resources</a:t>
            </a:r>
            <a:r>
              <a:rPr lang="en-US" altLang="ko-KR" sz="1400" dirty="0"/>
              <a:t>. At first, RBAC can seem like a challenge to understand, with a series of interconnected, abstract concepts; but once understood, managing cluster access is straightforward and safe.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6AC99906-25B1-4165-BD47-F8C4027C325C}"/>
              </a:ext>
            </a:extLst>
          </p:cNvPr>
          <p:cNvPicPr>
            <a:picLocks noChangeAspect="1"/>
          </p:cNvPicPr>
          <p:nvPr/>
        </p:nvPicPr>
        <p:blipFill>
          <a:blip r:embed="rId2"/>
          <a:stretch>
            <a:fillRect/>
          </a:stretch>
        </p:blipFill>
        <p:spPr>
          <a:xfrm>
            <a:off x="2950845" y="2416977"/>
            <a:ext cx="6290310" cy="2847489"/>
          </a:xfrm>
          <a:prstGeom prst="rect">
            <a:avLst/>
          </a:prstGeom>
        </p:spPr>
      </p:pic>
    </p:spTree>
    <p:extLst>
      <p:ext uri="{BB962C8B-B14F-4D97-AF65-F5344CB8AC3E}">
        <p14:creationId xmlns:p14="http://schemas.microsoft.com/office/powerpoint/2010/main" val="4137290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Role-Based Access Control(2/10)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Identity in Kubernetes :</a:t>
            </a:r>
          </a:p>
          <a:p>
            <a:pPr lvl="1">
              <a:buFont typeface="Wingdings" panose="05000000000000000000" pitchFamily="2" charset="2"/>
              <a:buChar char="§"/>
            </a:pPr>
            <a:r>
              <a:rPr lang="en-US" altLang="ko-KR" sz="1400" b="1" dirty="0"/>
              <a:t>Every request that comes to Kubernetes is associated with some </a:t>
            </a:r>
            <a:r>
              <a:rPr lang="en-US" altLang="ko-KR" sz="1400" b="1" dirty="0">
                <a:solidFill>
                  <a:srgbClr val="FF0000"/>
                </a:solidFill>
              </a:rPr>
              <a:t>identity</a:t>
            </a:r>
            <a:r>
              <a:rPr lang="en-US" altLang="ko-KR" sz="1400" dirty="0"/>
              <a:t>. Even a request with no identity is associated with the “</a:t>
            </a:r>
            <a:r>
              <a:rPr lang="en-US" altLang="ko-KR" sz="1400" b="1" dirty="0" err="1"/>
              <a:t>system:unauthenticated</a:t>
            </a:r>
            <a:r>
              <a:rPr lang="en-US" altLang="ko-KR" sz="1400" b="1" dirty="0"/>
              <a:t>” group</a:t>
            </a:r>
            <a:r>
              <a:rPr lang="en-US" altLang="ko-KR" sz="1400" dirty="0"/>
              <a:t>. </a:t>
            </a:r>
            <a:r>
              <a:rPr lang="en-US" altLang="ko-KR" sz="1400" b="1" dirty="0"/>
              <a:t>Kubernetes makes a distinction between </a:t>
            </a:r>
            <a:r>
              <a:rPr lang="en-US" altLang="ko-KR" sz="1400" b="1" dirty="0">
                <a:solidFill>
                  <a:srgbClr val="FF0000"/>
                </a:solidFill>
              </a:rPr>
              <a:t>user identities </a:t>
            </a:r>
            <a:r>
              <a:rPr lang="en-US" altLang="ko-KR" sz="1400" b="1" dirty="0"/>
              <a:t>and </a:t>
            </a:r>
            <a:r>
              <a:rPr lang="en-US" altLang="ko-KR" sz="1400" b="1" dirty="0">
                <a:solidFill>
                  <a:srgbClr val="FF0000"/>
                </a:solidFill>
              </a:rPr>
              <a:t>service account identities</a:t>
            </a:r>
            <a:r>
              <a:rPr lang="en-US" altLang="ko-KR" sz="1400" dirty="0"/>
              <a:t>. </a:t>
            </a:r>
          </a:p>
          <a:p>
            <a:pPr lvl="2">
              <a:buFont typeface="Wingdings" panose="05000000000000000000" pitchFamily="2" charset="2"/>
              <a:buChar char="§"/>
            </a:pPr>
            <a:r>
              <a:rPr lang="en-US" altLang="ko-KR" sz="1400" b="1" dirty="0"/>
              <a:t>Service accounts </a:t>
            </a:r>
            <a:r>
              <a:rPr lang="en-US" altLang="ko-KR" sz="1400" dirty="0"/>
              <a:t>are created and managed by Kubernetes itself and are generally associated with components running inside the cluster. </a:t>
            </a:r>
          </a:p>
          <a:p>
            <a:pPr lvl="2">
              <a:buFont typeface="Wingdings" panose="05000000000000000000" pitchFamily="2" charset="2"/>
              <a:buChar char="§"/>
            </a:pPr>
            <a:r>
              <a:rPr lang="en-US" altLang="ko-KR" sz="1400" b="1" dirty="0"/>
              <a:t>User accounts </a:t>
            </a:r>
            <a:r>
              <a:rPr lang="en-US" altLang="ko-KR" sz="1400" dirty="0"/>
              <a:t>are all other accounts associated with actual users of the cluster, and often include automation like continuous delivery as a service that runs outside of the cluster</a:t>
            </a:r>
            <a:r>
              <a:rPr lang="en-US" altLang="ko-KR" sz="1000" dirty="0"/>
              <a:t>.</a:t>
            </a:r>
          </a:p>
          <a:p>
            <a:pPr lvl="1">
              <a:buFont typeface="Wingdings" panose="05000000000000000000" pitchFamily="2" charset="2"/>
              <a:buChar char="§"/>
            </a:pPr>
            <a:r>
              <a:rPr lang="en-US" altLang="ko-KR" sz="1400" b="1" dirty="0"/>
              <a:t>Kubernetes uses a generic interface for authentication providers</a:t>
            </a:r>
            <a:r>
              <a:rPr lang="en-US" altLang="ko-KR" sz="1400" dirty="0"/>
              <a:t>. Each of the providers </a:t>
            </a:r>
            <a:r>
              <a:rPr lang="en-US" altLang="ko-KR" sz="1400" b="1" dirty="0"/>
              <a:t>supplies a </a:t>
            </a:r>
            <a:r>
              <a:rPr lang="en-US" altLang="ko-KR" sz="1400" b="1" dirty="0">
                <a:solidFill>
                  <a:srgbClr val="FF0000"/>
                </a:solidFill>
              </a:rPr>
              <a:t>username</a:t>
            </a:r>
            <a:r>
              <a:rPr lang="en-US" altLang="ko-KR" sz="1400" b="1" dirty="0"/>
              <a:t> and optionally </a:t>
            </a:r>
            <a:r>
              <a:rPr lang="en-US" altLang="ko-KR" sz="1400" b="1" dirty="0">
                <a:solidFill>
                  <a:srgbClr val="FF0000"/>
                </a:solidFill>
              </a:rPr>
              <a:t>the set of groups </a:t>
            </a:r>
            <a:r>
              <a:rPr lang="en-US" altLang="ko-KR" sz="1400" b="1" dirty="0"/>
              <a:t>to which the user belongs</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61EF4A54-F903-4153-9407-E900A8648F2F}"/>
              </a:ext>
            </a:extLst>
          </p:cNvPr>
          <p:cNvPicPr>
            <a:picLocks noChangeAspect="1"/>
          </p:cNvPicPr>
          <p:nvPr/>
        </p:nvPicPr>
        <p:blipFill>
          <a:blip r:embed="rId2"/>
          <a:stretch>
            <a:fillRect/>
          </a:stretch>
        </p:blipFill>
        <p:spPr>
          <a:xfrm>
            <a:off x="2823210" y="3299879"/>
            <a:ext cx="6545580" cy="3109151"/>
          </a:xfrm>
          <a:prstGeom prst="rect">
            <a:avLst/>
          </a:prstGeom>
        </p:spPr>
      </p:pic>
    </p:spTree>
    <p:extLst>
      <p:ext uri="{BB962C8B-B14F-4D97-AF65-F5344CB8AC3E}">
        <p14:creationId xmlns:p14="http://schemas.microsoft.com/office/powerpoint/2010/main" val="27332919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Role-Based Access Control(3/10)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Identity in Kubernetes :</a:t>
            </a:r>
          </a:p>
          <a:p>
            <a:pPr lvl="1">
              <a:buFont typeface="Wingdings" panose="05000000000000000000" pitchFamily="2" charset="2"/>
              <a:buChar char="§"/>
            </a:pPr>
            <a:r>
              <a:rPr lang="en-US" altLang="ko-KR" sz="1400" dirty="0"/>
              <a:t>Kubernetes supports a number of different </a:t>
            </a:r>
            <a:r>
              <a:rPr lang="en-US" altLang="ko-KR" sz="1400" b="1" dirty="0">
                <a:solidFill>
                  <a:srgbClr val="FF0000"/>
                </a:solidFill>
              </a:rPr>
              <a:t>authentication providers</a:t>
            </a:r>
            <a:r>
              <a:rPr lang="en-US" altLang="ko-KR" sz="1400" dirty="0"/>
              <a:t>, including:</a:t>
            </a:r>
          </a:p>
          <a:p>
            <a:pPr lvl="2">
              <a:buFont typeface="Wingdings" panose="05000000000000000000" pitchFamily="2" charset="2"/>
              <a:buChar char="§"/>
            </a:pPr>
            <a:r>
              <a:rPr lang="en-US" altLang="ko-KR" sz="1400" b="1" dirty="0"/>
              <a:t>HTTP Basic Authentication (largely deprecated)</a:t>
            </a:r>
          </a:p>
          <a:p>
            <a:pPr lvl="2">
              <a:buFont typeface="Wingdings" panose="05000000000000000000" pitchFamily="2" charset="2"/>
              <a:buChar char="§"/>
            </a:pPr>
            <a:r>
              <a:rPr lang="en-US" altLang="ko-KR" sz="1400" b="1" dirty="0"/>
              <a:t>x509 client certificates</a:t>
            </a:r>
            <a:endParaRPr lang="en-US" altLang="ko-KR" sz="1400" dirty="0"/>
          </a:p>
          <a:p>
            <a:pPr lvl="2">
              <a:buFont typeface="Wingdings" panose="05000000000000000000" pitchFamily="2" charset="2"/>
              <a:buChar char="§"/>
            </a:pPr>
            <a:r>
              <a:rPr lang="en-US" altLang="ko-KR" sz="1400" b="1" dirty="0"/>
              <a:t>Static token files </a:t>
            </a:r>
            <a:r>
              <a:rPr lang="en-US" altLang="ko-KR" sz="1400" dirty="0"/>
              <a:t>on the host</a:t>
            </a:r>
          </a:p>
          <a:p>
            <a:pPr lvl="2">
              <a:buFont typeface="Wingdings" panose="05000000000000000000" pitchFamily="2" charset="2"/>
              <a:buChar char="§"/>
            </a:pPr>
            <a:r>
              <a:rPr lang="en-US" altLang="ko-KR" sz="1400" b="1" dirty="0"/>
              <a:t>Cloud authentication providers </a:t>
            </a:r>
            <a:r>
              <a:rPr lang="en-US" altLang="ko-KR" sz="1400" dirty="0"/>
              <a:t>like Azure Active Directory and AWS </a:t>
            </a:r>
            <a:r>
              <a:rPr lang="en-US" altLang="ko-KR" sz="1400" b="1" dirty="0"/>
              <a:t>Identity and Access Management (IAM)</a:t>
            </a:r>
          </a:p>
          <a:p>
            <a:pPr lvl="2">
              <a:buFont typeface="Wingdings" panose="05000000000000000000" pitchFamily="2" charset="2"/>
              <a:buChar char="§"/>
            </a:pPr>
            <a:r>
              <a:rPr lang="en-US" altLang="ko-KR" sz="1400" b="1" dirty="0"/>
              <a:t>Authentication webhooks</a:t>
            </a:r>
            <a:r>
              <a:rPr lang="en-US" altLang="ko-KR" sz="1400" dirty="0"/>
              <a:t> </a:t>
            </a:r>
          </a:p>
          <a:p>
            <a:pPr lvl="1">
              <a:buFont typeface="Wingdings" panose="05000000000000000000" pitchFamily="2" charset="2"/>
              <a:buChar char="§"/>
            </a:pPr>
            <a:r>
              <a:rPr lang="en-US" altLang="ko-KR" sz="1400" dirty="0"/>
              <a:t>While most managed Kubernetes installations configure authentication for you, </a:t>
            </a:r>
            <a:r>
              <a:rPr lang="en-US" altLang="ko-KR" sz="1400" b="1" dirty="0"/>
              <a:t>if you are deploying your own authentication you will need to configure flags on the Kubernetes API server appropriately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15DBDCD-9D0B-434F-A19B-1D576BC938BE}"/>
              </a:ext>
            </a:extLst>
          </p:cNvPr>
          <p:cNvPicPr>
            <a:picLocks noChangeAspect="1"/>
          </p:cNvPicPr>
          <p:nvPr/>
        </p:nvPicPr>
        <p:blipFill>
          <a:blip r:embed="rId2"/>
          <a:stretch>
            <a:fillRect/>
          </a:stretch>
        </p:blipFill>
        <p:spPr>
          <a:xfrm>
            <a:off x="2978880" y="3429000"/>
            <a:ext cx="6234239" cy="2833981"/>
          </a:xfrm>
          <a:prstGeom prst="rect">
            <a:avLst/>
          </a:prstGeom>
        </p:spPr>
      </p:pic>
    </p:spTree>
    <p:extLst>
      <p:ext uri="{BB962C8B-B14F-4D97-AF65-F5344CB8AC3E}">
        <p14:creationId xmlns:p14="http://schemas.microsoft.com/office/powerpoint/2010/main" val="38553142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Role-Based Access Control(4/10)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Roles and Role Bindings :</a:t>
            </a:r>
          </a:p>
          <a:p>
            <a:pPr lvl="1">
              <a:buFont typeface="Wingdings" panose="05000000000000000000" pitchFamily="2" charset="2"/>
              <a:buChar char="§"/>
            </a:pPr>
            <a:r>
              <a:rPr lang="en-US" altLang="ko-KR" sz="1400" b="1" dirty="0">
                <a:solidFill>
                  <a:srgbClr val="FF0000"/>
                </a:solidFill>
              </a:rPr>
              <a:t>Identity</a:t>
            </a:r>
            <a:r>
              <a:rPr lang="en-US" altLang="ko-KR" sz="1400" b="1" dirty="0"/>
              <a:t> is just the beginning of authorization in Kubernetes</a:t>
            </a:r>
            <a:r>
              <a:rPr lang="en-US" altLang="ko-KR" sz="1400" dirty="0"/>
              <a:t>. Once the system knows the identity of the request, it needs to determine if the request is </a:t>
            </a:r>
            <a:r>
              <a:rPr lang="en-US" altLang="ko-KR" sz="1400" b="1" dirty="0"/>
              <a:t>authorized</a:t>
            </a:r>
            <a:r>
              <a:rPr lang="en-US" altLang="ko-KR" sz="1400" dirty="0"/>
              <a:t> for that user. To achieve this, it uses the general concept of </a:t>
            </a:r>
            <a:r>
              <a:rPr lang="en-US" altLang="ko-KR" sz="1400" b="1" dirty="0"/>
              <a:t>roles</a:t>
            </a:r>
            <a:r>
              <a:rPr lang="en-US" altLang="ko-KR" sz="1400" dirty="0"/>
              <a:t> and role </a:t>
            </a:r>
            <a:r>
              <a:rPr lang="en-US" altLang="ko-KR" sz="1400" b="1" dirty="0"/>
              <a:t>bindings</a:t>
            </a:r>
            <a:r>
              <a:rPr lang="en-US" altLang="ko-KR" sz="1400" dirty="0"/>
              <a:t>.</a:t>
            </a:r>
          </a:p>
          <a:p>
            <a:pPr lvl="1">
              <a:buFont typeface="Wingdings" panose="05000000000000000000" pitchFamily="2" charset="2"/>
              <a:buChar char="§"/>
            </a:pPr>
            <a:r>
              <a:rPr lang="en-US" altLang="ko-KR" sz="1400" b="1" dirty="0"/>
              <a:t>A </a:t>
            </a:r>
            <a:r>
              <a:rPr lang="en-US" altLang="ko-KR" sz="1400" b="1" dirty="0">
                <a:solidFill>
                  <a:srgbClr val="FF0000"/>
                </a:solidFill>
              </a:rPr>
              <a:t>role</a:t>
            </a:r>
            <a:r>
              <a:rPr lang="en-US" altLang="ko-KR" sz="1400" b="1" dirty="0"/>
              <a:t> is a set of abstract capabilities</a:t>
            </a:r>
            <a:r>
              <a:rPr lang="en-US" altLang="ko-KR" sz="1400" dirty="0"/>
              <a:t>. For example, the “</a:t>
            </a:r>
            <a:r>
              <a:rPr lang="en-US" altLang="ko-KR" sz="1400" b="1" dirty="0" err="1"/>
              <a:t>appdev</a:t>
            </a:r>
            <a:r>
              <a:rPr lang="en-US" altLang="ko-KR" sz="1400" dirty="0"/>
              <a:t>” role might represent the ability to create Pods and services. </a:t>
            </a:r>
            <a:r>
              <a:rPr lang="en-US" altLang="ko-KR" sz="1400" b="1" dirty="0"/>
              <a:t>A </a:t>
            </a:r>
            <a:r>
              <a:rPr lang="en-US" altLang="ko-KR" sz="1400" b="1" dirty="0">
                <a:solidFill>
                  <a:srgbClr val="FF0000"/>
                </a:solidFill>
              </a:rPr>
              <a:t>role binding </a:t>
            </a:r>
            <a:r>
              <a:rPr lang="en-US" altLang="ko-KR" sz="1400" b="1" dirty="0"/>
              <a:t>is an assignment of a role to one or more identities</a:t>
            </a:r>
            <a:r>
              <a:rPr lang="en-US" altLang="ko-KR" sz="1400" dirty="0"/>
              <a:t>. Thus, binding the “</a:t>
            </a:r>
            <a:r>
              <a:rPr lang="en-US" altLang="ko-KR" sz="1400" b="1" dirty="0" err="1"/>
              <a:t>appdev</a:t>
            </a:r>
            <a:r>
              <a:rPr lang="en-US" altLang="ko-KR" sz="1400" dirty="0"/>
              <a:t>” role to </a:t>
            </a:r>
            <a:r>
              <a:rPr lang="en-US" altLang="ko-KR" sz="1400" b="1" dirty="0"/>
              <a:t>the user identity “</a:t>
            </a:r>
            <a:r>
              <a:rPr lang="en-US" altLang="ko-KR" sz="1400" b="1" dirty="0" err="1"/>
              <a:t>alice</a:t>
            </a:r>
            <a:r>
              <a:rPr lang="en-US" altLang="ko-KR" sz="1400" dirty="0"/>
              <a:t>” </a:t>
            </a:r>
            <a:r>
              <a:rPr lang="en-US" altLang="ko-KR" sz="1400" b="1" dirty="0"/>
              <a:t>indicates that Alice has the ability to create Pods and services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949DC8C-E288-4A70-BFD2-7FC772A19496}"/>
              </a:ext>
            </a:extLst>
          </p:cNvPr>
          <p:cNvPicPr>
            <a:picLocks noChangeAspect="1"/>
          </p:cNvPicPr>
          <p:nvPr/>
        </p:nvPicPr>
        <p:blipFill>
          <a:blip r:embed="rId2"/>
          <a:stretch>
            <a:fillRect/>
          </a:stretch>
        </p:blipFill>
        <p:spPr>
          <a:xfrm>
            <a:off x="3125506" y="2811780"/>
            <a:ext cx="5940988" cy="3074659"/>
          </a:xfrm>
          <a:prstGeom prst="rect">
            <a:avLst/>
          </a:prstGeom>
        </p:spPr>
      </p:pic>
    </p:spTree>
    <p:extLst>
      <p:ext uri="{BB962C8B-B14F-4D97-AF65-F5344CB8AC3E}">
        <p14:creationId xmlns:p14="http://schemas.microsoft.com/office/powerpoint/2010/main" val="152269561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Role-Based Access Control(5/10)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Roles and Role Bindings in Kubernetes :</a:t>
            </a:r>
          </a:p>
          <a:p>
            <a:pPr lvl="1">
              <a:buFont typeface="Wingdings" panose="05000000000000000000" pitchFamily="2" charset="2"/>
              <a:buChar char="§"/>
            </a:pPr>
            <a:r>
              <a:rPr lang="en-US" altLang="ko-KR" sz="1400" b="1" dirty="0"/>
              <a:t>In Kubernetes there are two pairs of related resources that represent roles and role bindings</a:t>
            </a:r>
            <a:r>
              <a:rPr lang="en-US" altLang="ko-KR" sz="1400" dirty="0"/>
              <a:t>. </a:t>
            </a:r>
            <a:r>
              <a:rPr lang="en-US" altLang="ko-KR" sz="1400" b="1" dirty="0"/>
              <a:t>One pair applies to just a namespace (</a:t>
            </a:r>
            <a:r>
              <a:rPr lang="en-US" altLang="ko-KR" sz="1400" b="1" dirty="0">
                <a:solidFill>
                  <a:srgbClr val="FF0000"/>
                </a:solidFill>
              </a:rPr>
              <a:t>Role</a:t>
            </a:r>
            <a:r>
              <a:rPr lang="en-US" altLang="ko-KR" sz="1400" b="1" dirty="0"/>
              <a:t> and </a:t>
            </a:r>
            <a:r>
              <a:rPr lang="en-US" altLang="ko-KR" sz="1400" b="1" dirty="0" err="1">
                <a:solidFill>
                  <a:srgbClr val="FF0000"/>
                </a:solidFill>
              </a:rPr>
              <a:t>RoleBinding</a:t>
            </a:r>
            <a:r>
              <a:rPr lang="en-US" altLang="ko-KR" sz="1400" b="1" dirty="0"/>
              <a:t>) while the other pair applies across the cluster (</a:t>
            </a:r>
            <a:r>
              <a:rPr lang="en-US" altLang="ko-KR" sz="1400" b="1" dirty="0" err="1">
                <a:solidFill>
                  <a:srgbClr val="FF0000"/>
                </a:solidFill>
              </a:rPr>
              <a:t>ClusterRole</a:t>
            </a:r>
            <a:r>
              <a:rPr lang="en-US" altLang="ko-KR" sz="1400" b="1" dirty="0"/>
              <a:t> and </a:t>
            </a:r>
            <a:r>
              <a:rPr lang="en-US" altLang="ko-KR" sz="1400" b="1" dirty="0" err="1">
                <a:solidFill>
                  <a:srgbClr val="FF0000"/>
                </a:solidFill>
              </a:rPr>
              <a:t>ClusterRoleBinding</a:t>
            </a:r>
            <a:r>
              <a:rPr lang="en-US" altLang="ko-KR" sz="1400" b="1" dirty="0"/>
              <a:t>).</a:t>
            </a:r>
          </a:p>
          <a:p>
            <a:pPr lvl="1">
              <a:buFont typeface="Wingdings" panose="05000000000000000000" pitchFamily="2" charset="2"/>
              <a:buChar char="§"/>
            </a:pPr>
            <a:r>
              <a:rPr lang="en-US" altLang="ko-KR" sz="1400" b="1" dirty="0">
                <a:solidFill>
                  <a:srgbClr val="FF0000"/>
                </a:solidFill>
              </a:rPr>
              <a:t>Role</a:t>
            </a:r>
            <a:r>
              <a:rPr lang="en-US" altLang="ko-KR" sz="1400" b="1" dirty="0"/>
              <a:t> resources are “</a:t>
            </a:r>
            <a:r>
              <a:rPr lang="en-US" altLang="ko-KR" sz="1400" b="1" dirty="0" err="1">
                <a:solidFill>
                  <a:srgbClr val="FF0000"/>
                </a:solidFill>
              </a:rPr>
              <a:t>namespaced</a:t>
            </a:r>
            <a:r>
              <a:rPr lang="en-US" altLang="ko-KR" sz="1400" b="1" dirty="0"/>
              <a:t>”, and represent capabilities within that single namespace</a:t>
            </a:r>
            <a:r>
              <a:rPr lang="en-US" altLang="ko-KR" sz="1400" dirty="0"/>
              <a:t>. </a:t>
            </a:r>
            <a:r>
              <a:rPr lang="en-US" altLang="ko-KR" sz="1400" b="1" dirty="0"/>
              <a:t>You cannot use “</a:t>
            </a:r>
            <a:r>
              <a:rPr lang="en-US" altLang="ko-KR" sz="1400" b="1" dirty="0" err="1"/>
              <a:t>namespaced</a:t>
            </a:r>
            <a:r>
              <a:rPr lang="en-US" altLang="ko-KR" sz="1400" b="1" dirty="0"/>
              <a:t>” roles for “non-</a:t>
            </a:r>
            <a:r>
              <a:rPr lang="en-US" altLang="ko-KR" sz="1400" b="1" dirty="0" err="1"/>
              <a:t>namespaced</a:t>
            </a:r>
            <a:r>
              <a:rPr lang="en-US" altLang="ko-KR" sz="1400" b="1" dirty="0"/>
              <a:t>” resources</a:t>
            </a:r>
            <a:r>
              <a:rPr lang="en-US" altLang="ko-KR" sz="1400" dirty="0"/>
              <a:t> (e.g., </a:t>
            </a:r>
            <a:r>
              <a:rPr lang="en-US" altLang="ko-KR" sz="1400" b="1" dirty="0" err="1"/>
              <a:t>CustomResourceDefinitions</a:t>
            </a:r>
            <a:r>
              <a:rPr lang="en-US" altLang="ko-KR" sz="1400" dirty="0"/>
              <a:t>), and </a:t>
            </a:r>
            <a:r>
              <a:rPr lang="en-US" altLang="ko-KR" sz="1400" b="1" dirty="0"/>
              <a:t>binding a Role Binding to a role only provides authorization within the Kubernetes namespace that contains both the Role and the </a:t>
            </a:r>
            <a:r>
              <a:rPr lang="en-US" altLang="ko-KR" sz="1400" b="1" dirty="0" err="1">
                <a:solidFill>
                  <a:srgbClr val="FF0000"/>
                </a:solidFill>
              </a:rPr>
              <a:t>RoleDefinition</a:t>
            </a:r>
            <a:r>
              <a:rPr lang="en-US" altLang="ko-KR" sz="1400" dirty="0"/>
              <a:t>.</a:t>
            </a:r>
          </a:p>
          <a:p>
            <a:pPr lvl="1">
              <a:buFont typeface="Wingdings" panose="05000000000000000000" pitchFamily="2" charset="2"/>
              <a:buChar char="§"/>
            </a:pPr>
            <a:r>
              <a:rPr lang="en-US" altLang="ko-KR" sz="1400" dirty="0"/>
              <a:t>As a concrete example, here is a </a:t>
            </a:r>
            <a:r>
              <a:rPr lang="en-US" altLang="ko-KR" sz="1400" b="1" dirty="0"/>
              <a:t>simple role that gives an identity the ability to create and modify Pods and services </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6CCA994D-E5D2-4565-86C0-ECC70511F164}"/>
              </a:ext>
            </a:extLst>
          </p:cNvPr>
          <p:cNvSpPr/>
          <p:nvPr/>
        </p:nvSpPr>
        <p:spPr>
          <a:xfrm>
            <a:off x="3048000" y="3303503"/>
            <a:ext cx="6096000" cy="1477328"/>
          </a:xfrm>
          <a:prstGeom prst="rect">
            <a:avLst/>
          </a:prstGeom>
          <a:ln>
            <a:solidFill>
              <a:schemeClr val="bg1">
                <a:lumMod val="50000"/>
              </a:schemeClr>
            </a:solidFill>
          </a:ln>
        </p:spPr>
        <p:txBody>
          <a:bodyPr>
            <a:spAutoFit/>
          </a:bodyPr>
          <a:lstStyle/>
          <a:p>
            <a:r>
              <a:rPr lang="en-US" altLang="ko-KR" sz="1000" b="1" dirty="0"/>
              <a:t>kind: </a:t>
            </a:r>
            <a:r>
              <a:rPr lang="en-US" altLang="ko-KR" sz="1000" b="1" dirty="0">
                <a:solidFill>
                  <a:srgbClr val="FF0000"/>
                </a:solidFill>
              </a:rPr>
              <a:t>Role</a:t>
            </a:r>
          </a:p>
          <a:p>
            <a:r>
              <a:rPr lang="en-US" altLang="ko-KR" sz="1000" b="1" dirty="0" err="1"/>
              <a:t>apiVersion</a:t>
            </a:r>
            <a:r>
              <a:rPr lang="en-US" altLang="ko-KR" sz="1000" b="1" dirty="0"/>
              <a:t>: rbac.authorization.k8s.io/v1</a:t>
            </a:r>
          </a:p>
          <a:p>
            <a:r>
              <a:rPr lang="en-US" altLang="ko-KR" sz="1000" b="1" dirty="0"/>
              <a:t>metadata:</a:t>
            </a:r>
          </a:p>
          <a:p>
            <a:r>
              <a:rPr lang="en-US" altLang="ko-KR" sz="1000" b="1" dirty="0"/>
              <a:t>  namespace: </a:t>
            </a:r>
            <a:r>
              <a:rPr lang="en-US" altLang="ko-KR" sz="1000" b="1" dirty="0">
                <a:solidFill>
                  <a:srgbClr val="FF0000"/>
                </a:solidFill>
              </a:rPr>
              <a:t>default</a:t>
            </a:r>
          </a:p>
          <a:p>
            <a:r>
              <a:rPr lang="en-US" altLang="ko-KR" sz="1000" b="1" dirty="0"/>
              <a:t>  name: </a:t>
            </a:r>
            <a:r>
              <a:rPr lang="en-US" altLang="ko-KR" sz="1000" b="1" dirty="0">
                <a:solidFill>
                  <a:srgbClr val="FF0000"/>
                </a:solidFill>
              </a:rPr>
              <a:t>pod-and-services</a:t>
            </a:r>
          </a:p>
          <a:p>
            <a:r>
              <a:rPr lang="en-US" altLang="ko-KR" sz="1000" b="1" dirty="0"/>
              <a:t>rules:</a:t>
            </a:r>
          </a:p>
          <a:p>
            <a:r>
              <a:rPr lang="en-US" altLang="ko-KR" sz="1000" b="1" dirty="0"/>
              <a:t>  - </a:t>
            </a:r>
            <a:r>
              <a:rPr lang="en-US" altLang="ko-KR" sz="1000" b="1" dirty="0" err="1">
                <a:solidFill>
                  <a:srgbClr val="FF0000"/>
                </a:solidFill>
              </a:rPr>
              <a:t>apiGroups</a:t>
            </a:r>
            <a:r>
              <a:rPr lang="en-US" altLang="ko-KR" sz="1000" b="1" dirty="0"/>
              <a:t>: [""]</a:t>
            </a:r>
          </a:p>
          <a:p>
            <a:r>
              <a:rPr lang="en-US" altLang="ko-KR" sz="1000" b="1" dirty="0"/>
              <a:t>    resources: ["</a:t>
            </a:r>
            <a:r>
              <a:rPr lang="en-US" altLang="ko-KR" sz="1000" b="1" dirty="0">
                <a:solidFill>
                  <a:srgbClr val="FF0000"/>
                </a:solidFill>
              </a:rPr>
              <a:t>pods</a:t>
            </a:r>
            <a:r>
              <a:rPr lang="en-US" altLang="ko-KR" sz="1000" b="1" dirty="0"/>
              <a:t>", "</a:t>
            </a:r>
            <a:r>
              <a:rPr lang="en-US" altLang="ko-KR" sz="1000" b="1" dirty="0">
                <a:solidFill>
                  <a:srgbClr val="FF0000"/>
                </a:solidFill>
              </a:rPr>
              <a:t>services</a:t>
            </a:r>
            <a:r>
              <a:rPr lang="en-US" altLang="ko-KR" sz="1000" b="1" dirty="0"/>
              <a:t>"]</a:t>
            </a:r>
          </a:p>
          <a:p>
            <a:r>
              <a:rPr lang="en-US" altLang="ko-KR" sz="1000" b="1" dirty="0"/>
              <a:t>    verbs: ["</a:t>
            </a:r>
            <a:r>
              <a:rPr lang="en-US" altLang="ko-KR" sz="1000" b="1" dirty="0">
                <a:solidFill>
                  <a:srgbClr val="FF0000"/>
                </a:solidFill>
              </a:rPr>
              <a:t>create</a:t>
            </a:r>
            <a:r>
              <a:rPr lang="en-US" altLang="ko-KR" sz="1000" b="1" dirty="0"/>
              <a:t>", "</a:t>
            </a:r>
            <a:r>
              <a:rPr lang="en-US" altLang="ko-KR" sz="1000" b="1" dirty="0">
                <a:solidFill>
                  <a:srgbClr val="FF0000"/>
                </a:solidFill>
              </a:rPr>
              <a:t>delete</a:t>
            </a:r>
            <a:r>
              <a:rPr lang="en-US" altLang="ko-KR" sz="1000" b="1" dirty="0"/>
              <a:t>", "</a:t>
            </a:r>
            <a:r>
              <a:rPr lang="en-US" altLang="ko-KR" sz="1000" b="1" dirty="0">
                <a:solidFill>
                  <a:srgbClr val="FF0000"/>
                </a:solidFill>
              </a:rPr>
              <a:t>get</a:t>
            </a:r>
            <a:r>
              <a:rPr lang="en-US" altLang="ko-KR" sz="1000" b="1" dirty="0"/>
              <a:t>", "</a:t>
            </a:r>
            <a:r>
              <a:rPr lang="en-US" altLang="ko-KR" sz="1000" b="1" dirty="0">
                <a:solidFill>
                  <a:srgbClr val="FF0000"/>
                </a:solidFill>
              </a:rPr>
              <a:t>list</a:t>
            </a:r>
            <a:r>
              <a:rPr lang="en-US" altLang="ko-KR" sz="1000" b="1" dirty="0"/>
              <a:t>", "</a:t>
            </a:r>
            <a:r>
              <a:rPr lang="en-US" altLang="ko-KR" sz="1000" b="1" dirty="0">
                <a:solidFill>
                  <a:srgbClr val="FF0000"/>
                </a:solidFill>
              </a:rPr>
              <a:t>patch</a:t>
            </a:r>
            <a:r>
              <a:rPr lang="en-US" altLang="ko-KR" sz="1000" b="1" dirty="0"/>
              <a:t>", "</a:t>
            </a:r>
            <a:r>
              <a:rPr lang="en-US" altLang="ko-KR" sz="1000" b="1" dirty="0">
                <a:solidFill>
                  <a:srgbClr val="FF0000"/>
                </a:solidFill>
              </a:rPr>
              <a:t>update</a:t>
            </a:r>
            <a:r>
              <a:rPr lang="en-US" altLang="ko-KR" sz="1000" b="1" dirty="0"/>
              <a:t>", "</a:t>
            </a:r>
            <a:r>
              <a:rPr lang="en-US" altLang="ko-KR" sz="1000" b="1" dirty="0">
                <a:solidFill>
                  <a:srgbClr val="FF0000"/>
                </a:solidFill>
              </a:rPr>
              <a:t>watch</a:t>
            </a:r>
            <a:r>
              <a:rPr lang="en-US" altLang="ko-KR" sz="1000" b="1" dirty="0"/>
              <a:t>"]</a:t>
            </a:r>
            <a:endParaRPr lang="ko-KR" altLang="en-US" sz="1000" b="1" dirty="0"/>
          </a:p>
        </p:txBody>
      </p:sp>
    </p:spTree>
    <p:extLst>
      <p:ext uri="{BB962C8B-B14F-4D97-AF65-F5344CB8AC3E}">
        <p14:creationId xmlns:p14="http://schemas.microsoft.com/office/powerpoint/2010/main" val="1132284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Role-Based Access Control(6/10)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Roles and Role Bindings in Kubernetes :</a:t>
            </a:r>
          </a:p>
          <a:p>
            <a:pPr lvl="1">
              <a:buFont typeface="Wingdings" panose="05000000000000000000" pitchFamily="2" charset="2"/>
              <a:buChar char="§"/>
            </a:pPr>
            <a:r>
              <a:rPr lang="en-US" altLang="ko-KR" sz="1400" b="1" dirty="0"/>
              <a:t>To </a:t>
            </a:r>
            <a:r>
              <a:rPr lang="en-US" altLang="ko-KR" sz="1400" b="1" dirty="0">
                <a:solidFill>
                  <a:srgbClr val="FF0000"/>
                </a:solidFill>
              </a:rPr>
              <a:t>bind</a:t>
            </a:r>
            <a:r>
              <a:rPr lang="en-US" altLang="ko-KR" sz="1400" b="1" dirty="0"/>
              <a:t> this Role to the user “</a:t>
            </a:r>
            <a:r>
              <a:rPr lang="en-US" altLang="ko-KR" sz="1400" b="1" dirty="0" err="1"/>
              <a:t>alice</a:t>
            </a:r>
            <a:r>
              <a:rPr lang="en-US" altLang="ko-KR" sz="1400" b="1" dirty="0"/>
              <a:t>”</a:t>
            </a:r>
            <a:r>
              <a:rPr lang="en-US" altLang="ko-KR" sz="1400" dirty="0"/>
              <a:t>, </a:t>
            </a:r>
            <a:r>
              <a:rPr lang="en-US" altLang="ko-KR" sz="1400" b="1" dirty="0"/>
              <a:t>we need to create a </a:t>
            </a:r>
            <a:r>
              <a:rPr lang="en-US" altLang="ko-KR" sz="1400" b="1" dirty="0" err="1">
                <a:solidFill>
                  <a:srgbClr val="FF0000"/>
                </a:solidFill>
              </a:rPr>
              <a:t>RoleBinding</a:t>
            </a:r>
            <a:r>
              <a:rPr lang="en-US" altLang="ko-KR" sz="1400" dirty="0"/>
              <a:t> that looks as follows. </a:t>
            </a:r>
            <a:r>
              <a:rPr lang="en-US" altLang="ko-KR" sz="1400" b="1" dirty="0"/>
              <a:t>This role binding also binds the group “</a:t>
            </a:r>
            <a:r>
              <a:rPr lang="en-US" altLang="ko-KR" sz="1400" b="1" dirty="0" err="1"/>
              <a:t>mydevs</a:t>
            </a:r>
            <a:r>
              <a:rPr lang="en-US" altLang="ko-KR" sz="1400" b="1" dirty="0"/>
              <a:t>” to the same role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직사각형 8">
            <a:extLst>
              <a:ext uri="{FF2B5EF4-FFF2-40B4-BE49-F238E27FC236}">
                <a16:creationId xmlns:a16="http://schemas.microsoft.com/office/drawing/2014/main" id="{DA146DBF-D8B2-480E-916F-CF61AF1F769E}"/>
              </a:ext>
            </a:extLst>
          </p:cNvPr>
          <p:cNvSpPr/>
          <p:nvPr/>
        </p:nvSpPr>
        <p:spPr>
          <a:xfrm>
            <a:off x="3048000" y="2043143"/>
            <a:ext cx="6096000" cy="2554545"/>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t>
            </a:r>
            <a:r>
              <a:rPr lang="en-US" altLang="ko-KR" sz="1000" b="1" dirty="0">
                <a:solidFill>
                  <a:srgbClr val="FF0000"/>
                </a:solidFill>
              </a:rPr>
              <a:t>rbac.authorization.k8s.io/v1</a:t>
            </a:r>
          </a:p>
          <a:p>
            <a:r>
              <a:rPr lang="en-US" altLang="ko-KR" sz="1000" b="1" dirty="0"/>
              <a:t>kind: </a:t>
            </a:r>
            <a:r>
              <a:rPr lang="en-US" altLang="ko-KR" sz="1000" b="1" dirty="0" err="1">
                <a:solidFill>
                  <a:srgbClr val="FF0000"/>
                </a:solidFill>
              </a:rPr>
              <a:t>RoleBinding</a:t>
            </a:r>
            <a:endParaRPr lang="en-US" altLang="ko-KR" sz="1000" b="1" dirty="0">
              <a:solidFill>
                <a:srgbClr val="FF0000"/>
              </a:solidFill>
            </a:endParaRPr>
          </a:p>
          <a:p>
            <a:r>
              <a:rPr lang="en-US" altLang="ko-KR" sz="1000" b="1" dirty="0"/>
              <a:t>metadata:</a:t>
            </a:r>
          </a:p>
          <a:p>
            <a:r>
              <a:rPr lang="en-US" altLang="ko-KR" sz="1000" b="1" dirty="0"/>
              <a:t>  namespace: default</a:t>
            </a:r>
          </a:p>
          <a:p>
            <a:r>
              <a:rPr lang="en-US" altLang="ko-KR" sz="1000" b="1" dirty="0"/>
              <a:t>  name: pods-and-services</a:t>
            </a:r>
          </a:p>
          <a:p>
            <a:r>
              <a:rPr lang="en-US" altLang="ko-KR" sz="1000" b="1" dirty="0"/>
              <a:t>subjects:</a:t>
            </a:r>
          </a:p>
          <a:p>
            <a:r>
              <a:rPr lang="en-US" altLang="ko-KR" sz="1000" b="1" dirty="0"/>
              <a:t>- </a:t>
            </a:r>
            <a:r>
              <a:rPr lang="en-US" altLang="ko-KR" sz="1000" b="1" dirty="0" err="1"/>
              <a:t>apiGroup</a:t>
            </a:r>
            <a:r>
              <a:rPr lang="en-US" altLang="ko-KR" sz="1000" b="1" dirty="0"/>
              <a:t>: </a:t>
            </a:r>
            <a:r>
              <a:rPr lang="en-US" altLang="ko-KR" sz="1000" b="1" dirty="0">
                <a:solidFill>
                  <a:srgbClr val="FF0000"/>
                </a:solidFill>
              </a:rPr>
              <a:t>rbac.authorization.k8s.io</a:t>
            </a:r>
          </a:p>
          <a:p>
            <a:r>
              <a:rPr lang="en-US" altLang="ko-KR" sz="1000" b="1" dirty="0"/>
              <a:t>  kind: </a:t>
            </a:r>
            <a:r>
              <a:rPr lang="en-US" altLang="ko-KR" sz="1000" b="1" dirty="0">
                <a:solidFill>
                  <a:srgbClr val="FF0000"/>
                </a:solidFill>
              </a:rPr>
              <a:t>User</a:t>
            </a:r>
          </a:p>
          <a:p>
            <a:r>
              <a:rPr lang="en-US" altLang="ko-KR" sz="1000" b="1" dirty="0"/>
              <a:t>  name: </a:t>
            </a:r>
            <a:r>
              <a:rPr lang="en-US" altLang="ko-KR" sz="1000" b="1" dirty="0" err="1">
                <a:solidFill>
                  <a:srgbClr val="FF0000"/>
                </a:solidFill>
              </a:rPr>
              <a:t>alice</a:t>
            </a:r>
            <a:endParaRPr lang="en-US" altLang="ko-KR" sz="1000" b="1" dirty="0">
              <a:solidFill>
                <a:srgbClr val="FF0000"/>
              </a:solidFill>
            </a:endParaRPr>
          </a:p>
          <a:p>
            <a:r>
              <a:rPr lang="en-US" altLang="ko-KR" sz="1000" b="1" dirty="0"/>
              <a:t>- </a:t>
            </a:r>
            <a:r>
              <a:rPr lang="en-US" altLang="ko-KR" sz="1000" b="1" dirty="0" err="1"/>
              <a:t>apiGroup</a:t>
            </a:r>
            <a:r>
              <a:rPr lang="en-US" altLang="ko-KR" sz="1000" b="1" dirty="0"/>
              <a:t>: </a:t>
            </a:r>
            <a:r>
              <a:rPr lang="en-US" altLang="ko-KR" sz="1000" b="1" dirty="0">
                <a:solidFill>
                  <a:srgbClr val="FF0000"/>
                </a:solidFill>
              </a:rPr>
              <a:t>rbac.authorization.k8s.io</a:t>
            </a:r>
          </a:p>
          <a:p>
            <a:r>
              <a:rPr lang="en-US" altLang="ko-KR" sz="1000" b="1" dirty="0"/>
              <a:t>  kind: </a:t>
            </a:r>
            <a:r>
              <a:rPr lang="en-US" altLang="ko-KR" sz="1000" b="1" dirty="0">
                <a:solidFill>
                  <a:srgbClr val="FF0000"/>
                </a:solidFill>
              </a:rPr>
              <a:t>Group</a:t>
            </a:r>
          </a:p>
          <a:p>
            <a:r>
              <a:rPr lang="en-US" altLang="ko-KR" sz="1000" b="1" dirty="0"/>
              <a:t>  name: </a:t>
            </a:r>
            <a:r>
              <a:rPr lang="en-US" altLang="ko-KR" sz="1000" b="1" dirty="0" err="1">
                <a:solidFill>
                  <a:srgbClr val="FF0000"/>
                </a:solidFill>
              </a:rPr>
              <a:t>mydevs</a:t>
            </a:r>
            <a:endParaRPr lang="en-US" altLang="ko-KR" sz="1000" b="1" dirty="0">
              <a:solidFill>
                <a:srgbClr val="FF0000"/>
              </a:solidFill>
            </a:endParaRPr>
          </a:p>
          <a:p>
            <a:r>
              <a:rPr lang="en-US" altLang="ko-KR" sz="1000" b="1" dirty="0" err="1"/>
              <a:t>roleRef</a:t>
            </a:r>
            <a:r>
              <a:rPr lang="en-US" altLang="ko-KR" sz="1000" b="1" dirty="0"/>
              <a:t>:</a:t>
            </a:r>
          </a:p>
          <a:p>
            <a:r>
              <a:rPr lang="en-US" altLang="ko-KR" sz="1000" b="1" dirty="0"/>
              <a:t>  </a:t>
            </a:r>
            <a:r>
              <a:rPr lang="en-US" altLang="ko-KR" sz="1000" b="1" dirty="0" err="1"/>
              <a:t>apiGroup</a:t>
            </a:r>
            <a:r>
              <a:rPr lang="en-US" altLang="ko-KR" sz="1000" b="1" dirty="0"/>
              <a:t>: </a:t>
            </a:r>
            <a:r>
              <a:rPr lang="en-US" altLang="ko-KR" sz="1000" b="1" dirty="0">
                <a:solidFill>
                  <a:srgbClr val="FF0000"/>
                </a:solidFill>
              </a:rPr>
              <a:t>rbac.authorization.k8s.io</a:t>
            </a:r>
          </a:p>
          <a:p>
            <a:r>
              <a:rPr lang="en-US" altLang="ko-KR" sz="1000" b="1" dirty="0"/>
              <a:t>  kind: </a:t>
            </a:r>
            <a:r>
              <a:rPr lang="en-US" altLang="ko-KR" sz="1000" b="1" dirty="0">
                <a:solidFill>
                  <a:srgbClr val="FF0000"/>
                </a:solidFill>
              </a:rPr>
              <a:t>Role</a:t>
            </a:r>
          </a:p>
          <a:p>
            <a:r>
              <a:rPr lang="en-US" altLang="ko-KR" sz="1000" b="1" dirty="0"/>
              <a:t>  name: </a:t>
            </a:r>
            <a:r>
              <a:rPr lang="en-US" altLang="ko-KR" sz="1000" b="1" dirty="0">
                <a:solidFill>
                  <a:srgbClr val="FF0000"/>
                </a:solidFill>
              </a:rPr>
              <a:t>pod-and-services</a:t>
            </a:r>
            <a:endParaRPr lang="ko-KR" altLang="en-US" sz="1000" b="1" dirty="0">
              <a:solidFill>
                <a:srgbClr val="FF0000"/>
              </a:solidFill>
            </a:endParaRPr>
          </a:p>
        </p:txBody>
      </p:sp>
    </p:spTree>
    <p:extLst>
      <p:ext uri="{BB962C8B-B14F-4D97-AF65-F5344CB8AC3E}">
        <p14:creationId xmlns:p14="http://schemas.microsoft.com/office/powerpoint/2010/main" val="229451948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Role-Based Access Control(7/10)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Roles and Role Bindings in Kubernetes :</a:t>
            </a:r>
          </a:p>
          <a:p>
            <a:pPr lvl="1">
              <a:buFont typeface="Wingdings" panose="05000000000000000000" pitchFamily="2" charset="2"/>
              <a:buChar char="§"/>
            </a:pPr>
            <a:r>
              <a:rPr lang="en-US" altLang="ko-KR" sz="1400" b="1" dirty="0"/>
              <a:t>Verbs for Kubernetes roles </a:t>
            </a:r>
            <a:r>
              <a:rPr lang="en-US" altLang="ko-KR" sz="1400" dirty="0"/>
              <a:t>- </a:t>
            </a:r>
          </a:p>
          <a:p>
            <a:pPr lvl="2">
              <a:buFont typeface="Wingdings" panose="05000000000000000000" pitchFamily="2" charset="2"/>
              <a:buChar char="§"/>
            </a:pPr>
            <a:r>
              <a:rPr lang="en-US" altLang="ko-KR" sz="1400" b="1" dirty="0"/>
              <a:t>Roles are defined in terms of both a resource (e.g., “Pods”) </a:t>
            </a:r>
            <a:r>
              <a:rPr lang="en-US" altLang="ko-KR" sz="1400" dirty="0"/>
              <a:t>and </a:t>
            </a:r>
            <a:r>
              <a:rPr lang="en-US" altLang="ko-KR" sz="1400" b="1" dirty="0"/>
              <a:t>a </a:t>
            </a:r>
            <a:r>
              <a:rPr lang="en-US" altLang="ko-KR" sz="1400" b="1" dirty="0">
                <a:solidFill>
                  <a:srgbClr val="FF0000"/>
                </a:solidFill>
              </a:rPr>
              <a:t>verb</a:t>
            </a:r>
            <a:r>
              <a:rPr lang="en-US" altLang="ko-KR" sz="1400" b="1" dirty="0"/>
              <a:t> that describes an action that can be performed on that resource</a:t>
            </a:r>
            <a:r>
              <a:rPr lang="en-US" altLang="ko-KR" sz="1400" dirty="0"/>
              <a:t>. </a:t>
            </a:r>
            <a:r>
              <a:rPr lang="en-US" altLang="ko-KR" sz="1400" b="1" dirty="0"/>
              <a:t>The verbs correspond roughly to HTTP methods</a:t>
            </a:r>
            <a:r>
              <a:rPr lang="en-US" altLang="ko-KR" sz="1400" dirty="0"/>
              <a:t>. The commonly used verbs in Kubernetes RBAC are listed in the following table.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E2A518CD-0E2B-4486-930E-6C34BC8436E9}"/>
              </a:ext>
            </a:extLst>
          </p:cNvPr>
          <p:cNvPicPr>
            <a:picLocks noChangeAspect="1"/>
          </p:cNvPicPr>
          <p:nvPr/>
        </p:nvPicPr>
        <p:blipFill>
          <a:blip r:embed="rId2"/>
          <a:stretch>
            <a:fillRect/>
          </a:stretch>
        </p:blipFill>
        <p:spPr>
          <a:xfrm>
            <a:off x="3568172" y="2274551"/>
            <a:ext cx="5055656" cy="2634334"/>
          </a:xfrm>
          <a:prstGeom prst="rect">
            <a:avLst/>
          </a:prstGeom>
          <a:ln>
            <a:solidFill>
              <a:schemeClr val="bg1">
                <a:lumMod val="50000"/>
              </a:schemeClr>
            </a:solidFill>
          </a:ln>
        </p:spPr>
      </p:pic>
    </p:spTree>
    <p:extLst>
      <p:ext uri="{BB962C8B-B14F-4D97-AF65-F5344CB8AC3E}">
        <p14:creationId xmlns:p14="http://schemas.microsoft.com/office/powerpoint/2010/main" val="99234982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Role-Based Access Control(8/10)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Roles and Role Bindings in Kubernetes :</a:t>
            </a:r>
          </a:p>
          <a:p>
            <a:pPr lvl="1">
              <a:buFont typeface="Wingdings" panose="05000000000000000000" pitchFamily="2" charset="2"/>
              <a:buChar char="§"/>
            </a:pPr>
            <a:r>
              <a:rPr lang="en-US" altLang="ko-KR" sz="1400" b="1" dirty="0"/>
              <a:t>Using built-in roles </a:t>
            </a:r>
            <a:r>
              <a:rPr lang="en-US" altLang="ko-KR" sz="1400" dirty="0"/>
              <a:t>- </a:t>
            </a:r>
          </a:p>
          <a:p>
            <a:pPr lvl="2">
              <a:buFont typeface="Wingdings" panose="05000000000000000000" pitchFamily="2" charset="2"/>
              <a:buChar char="§"/>
            </a:pPr>
            <a:r>
              <a:rPr lang="en-US" altLang="ko-KR" sz="1400" b="1" dirty="0"/>
              <a:t>Kubernetes has a large number of well-known system identities (e.g., a scheduler) that require a known set of capabilities</a:t>
            </a:r>
            <a:r>
              <a:rPr lang="en-US" altLang="ko-KR" sz="1400" dirty="0"/>
              <a:t>. Consequently, Kubernetes has a large number of “</a:t>
            </a:r>
            <a:r>
              <a:rPr lang="en-US" altLang="ko-KR" sz="1400" b="1" dirty="0">
                <a:solidFill>
                  <a:srgbClr val="FF0000"/>
                </a:solidFill>
              </a:rPr>
              <a:t>built-in cluster roles</a:t>
            </a:r>
            <a:r>
              <a:rPr lang="en-US" altLang="ko-KR" sz="1400" dirty="0"/>
              <a:t>”. You can view these by running :</a:t>
            </a:r>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r>
              <a:rPr lang="en-US" altLang="ko-KR" sz="1400" dirty="0"/>
              <a:t>While </a:t>
            </a:r>
            <a:r>
              <a:rPr lang="en-US" altLang="ko-KR" sz="1400" b="1" dirty="0"/>
              <a:t>most of these built-in roles are for system utilities</a:t>
            </a:r>
            <a:r>
              <a:rPr lang="en-US" altLang="ko-KR" sz="1400" dirty="0"/>
              <a:t>, </a:t>
            </a:r>
            <a:r>
              <a:rPr lang="en-US" altLang="ko-KR" sz="1400" b="1" dirty="0"/>
              <a:t>four are designed for generic end users </a:t>
            </a:r>
            <a:r>
              <a:rPr lang="en-US" altLang="ko-KR" sz="1400" dirty="0"/>
              <a:t>:</a:t>
            </a:r>
          </a:p>
          <a:p>
            <a:pPr lvl="3">
              <a:buFont typeface="Wingdings" panose="05000000000000000000" pitchFamily="2" charset="2"/>
              <a:buChar char="§"/>
            </a:pPr>
            <a:r>
              <a:rPr lang="en-US" altLang="ko-KR" sz="1400" b="1" dirty="0"/>
              <a:t>The cluster-admin role </a:t>
            </a:r>
            <a:r>
              <a:rPr lang="en-US" altLang="ko-KR" sz="1400" dirty="0"/>
              <a:t>provides complete access to the entire cluster.</a:t>
            </a:r>
          </a:p>
          <a:p>
            <a:pPr lvl="3">
              <a:buFont typeface="Wingdings" panose="05000000000000000000" pitchFamily="2" charset="2"/>
              <a:buChar char="§"/>
            </a:pPr>
            <a:r>
              <a:rPr lang="en-US" altLang="ko-KR" sz="1400" b="1" dirty="0"/>
              <a:t>The admin role </a:t>
            </a:r>
            <a:r>
              <a:rPr lang="en-US" altLang="ko-KR" sz="1400" dirty="0"/>
              <a:t>provides complete access to a complete namespace.</a:t>
            </a:r>
          </a:p>
          <a:p>
            <a:pPr lvl="3">
              <a:buFont typeface="Wingdings" panose="05000000000000000000" pitchFamily="2" charset="2"/>
              <a:buChar char="§"/>
            </a:pPr>
            <a:r>
              <a:rPr lang="en-US" altLang="ko-KR" sz="1400" b="1" dirty="0"/>
              <a:t>The edit role </a:t>
            </a:r>
            <a:r>
              <a:rPr lang="en-US" altLang="ko-KR" sz="1400" dirty="0"/>
              <a:t>allows an end user to modify things in a namespace.</a:t>
            </a:r>
          </a:p>
          <a:p>
            <a:pPr lvl="3">
              <a:buFont typeface="Wingdings" panose="05000000000000000000" pitchFamily="2" charset="2"/>
              <a:buChar char="§"/>
            </a:pPr>
            <a:r>
              <a:rPr lang="en-US" altLang="ko-KR" sz="1400" b="1" dirty="0"/>
              <a:t>The view role </a:t>
            </a:r>
            <a:r>
              <a:rPr lang="en-US" altLang="ko-KR" sz="1400" dirty="0"/>
              <a:t>allows for read-only access to a namespace.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1AF7691-2BAC-46FC-AB3E-FB4B9E9C92F4}"/>
              </a:ext>
            </a:extLst>
          </p:cNvPr>
          <p:cNvGrpSpPr/>
          <p:nvPr/>
        </p:nvGrpSpPr>
        <p:grpSpPr>
          <a:xfrm>
            <a:off x="2247900" y="2264502"/>
            <a:ext cx="7696200" cy="2328995"/>
            <a:chOff x="2247900" y="1948934"/>
            <a:chExt cx="7696200" cy="2328995"/>
          </a:xfrm>
        </p:grpSpPr>
        <p:sp>
          <p:nvSpPr>
            <p:cNvPr id="4" name="직사각형 3">
              <a:extLst>
                <a:ext uri="{FF2B5EF4-FFF2-40B4-BE49-F238E27FC236}">
                  <a16:creationId xmlns:a16="http://schemas.microsoft.com/office/drawing/2014/main" id="{2BDB13D1-5269-453E-A245-D4F79138E624}"/>
                </a:ext>
              </a:extLst>
            </p:cNvPr>
            <p:cNvSpPr/>
            <p:nvPr/>
          </p:nvSpPr>
          <p:spPr>
            <a:xfrm>
              <a:off x="5225407" y="1948934"/>
              <a:ext cx="1741182"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clusterroles</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3F3FC1F5-B7DC-4898-BB8E-C276711B5B13}"/>
                </a:ext>
              </a:extLst>
            </p:cNvPr>
            <p:cNvSpPr/>
            <p:nvPr/>
          </p:nvSpPr>
          <p:spPr>
            <a:xfrm>
              <a:off x="5890258" y="2195155"/>
              <a:ext cx="411480" cy="28956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AA2C658D-B999-4BB0-980F-39A8647DB603}"/>
                </a:ext>
              </a:extLst>
            </p:cNvPr>
            <p:cNvPicPr>
              <a:picLocks noChangeAspect="1"/>
            </p:cNvPicPr>
            <p:nvPr/>
          </p:nvPicPr>
          <p:blipFill>
            <a:blip r:embed="rId2"/>
            <a:stretch>
              <a:fillRect/>
            </a:stretch>
          </p:blipFill>
          <p:spPr>
            <a:xfrm>
              <a:off x="2247900" y="2484715"/>
              <a:ext cx="7696200" cy="1793214"/>
            </a:xfrm>
            <a:prstGeom prst="rect">
              <a:avLst/>
            </a:prstGeom>
          </p:spPr>
        </p:pic>
      </p:grpSp>
    </p:spTree>
    <p:extLst>
      <p:ext uri="{BB962C8B-B14F-4D97-AF65-F5344CB8AC3E}">
        <p14:creationId xmlns:p14="http://schemas.microsoft.com/office/powerpoint/2010/main" val="74322455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Role-Based Access Control(9/10)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Roles and Role Bindings in Kubernetes :</a:t>
            </a:r>
          </a:p>
          <a:p>
            <a:pPr lvl="1">
              <a:buFont typeface="Wingdings" panose="05000000000000000000" pitchFamily="2" charset="2"/>
              <a:buChar char="§"/>
            </a:pPr>
            <a:r>
              <a:rPr lang="en-US" altLang="ko-KR" sz="1400" b="1" dirty="0"/>
              <a:t>Using built-in roles </a:t>
            </a:r>
            <a:r>
              <a:rPr lang="en-US" altLang="ko-KR" sz="1400" dirty="0"/>
              <a:t>- </a:t>
            </a:r>
          </a:p>
          <a:p>
            <a:pPr lvl="2">
              <a:buFont typeface="Wingdings" panose="05000000000000000000" pitchFamily="2" charset="2"/>
              <a:buChar char="§"/>
            </a:pPr>
            <a:r>
              <a:rPr lang="en-US" altLang="ko-KR" sz="1400" b="1" dirty="0"/>
              <a:t>Most clusters already have numerous </a:t>
            </a:r>
            <a:r>
              <a:rPr lang="en-US" altLang="ko-KR" sz="1400" b="1" dirty="0" err="1"/>
              <a:t>ClusterRole</a:t>
            </a:r>
            <a:r>
              <a:rPr lang="en-US" altLang="ko-KR" sz="1400" b="1" dirty="0"/>
              <a:t> bindings set up, and you can view these bindings with “</a:t>
            </a:r>
            <a:r>
              <a:rPr lang="en-US" altLang="ko-KR" sz="1400" b="1" dirty="0" err="1">
                <a:solidFill>
                  <a:srgbClr val="FF0000"/>
                </a:solidFill>
              </a:rPr>
              <a:t>kubectl</a:t>
            </a:r>
            <a:r>
              <a:rPr lang="en-US" altLang="ko-KR" sz="1400" b="1" dirty="0">
                <a:solidFill>
                  <a:srgbClr val="FF0000"/>
                </a:solidFill>
              </a:rPr>
              <a:t> get </a:t>
            </a:r>
            <a:r>
              <a:rPr lang="en-US" altLang="ko-KR" sz="1400" b="1" dirty="0" err="1">
                <a:solidFill>
                  <a:srgbClr val="FF0000"/>
                </a:solidFill>
              </a:rPr>
              <a:t>clusterrolebindings</a:t>
            </a:r>
            <a:r>
              <a:rPr lang="en-US" altLang="ko-KR" sz="1400" b="1" dirty="0"/>
              <a:t>”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B1D12B87-06C7-48A5-9784-8E8AC2415A8E}"/>
              </a:ext>
            </a:extLst>
          </p:cNvPr>
          <p:cNvGrpSpPr/>
          <p:nvPr/>
        </p:nvGrpSpPr>
        <p:grpSpPr>
          <a:xfrm>
            <a:off x="1201103" y="2202411"/>
            <a:ext cx="9789794" cy="2453178"/>
            <a:chOff x="1201103" y="2034540"/>
            <a:chExt cx="9789794" cy="2453178"/>
          </a:xfrm>
        </p:grpSpPr>
        <p:sp>
          <p:nvSpPr>
            <p:cNvPr id="4" name="TextBox 3">
              <a:extLst>
                <a:ext uri="{FF2B5EF4-FFF2-40B4-BE49-F238E27FC236}">
                  <a16:creationId xmlns:a16="http://schemas.microsoft.com/office/drawing/2014/main" id="{5E5FD048-610C-4185-8803-0D22F9E3C7DF}"/>
                </a:ext>
              </a:extLst>
            </p:cNvPr>
            <p:cNvSpPr txBox="1"/>
            <p:nvPr/>
          </p:nvSpPr>
          <p:spPr>
            <a:xfrm>
              <a:off x="5050681" y="2034540"/>
              <a:ext cx="2090637" cy="246221"/>
            </a:xfrm>
            <a:prstGeom prst="rect">
              <a:avLst/>
            </a:prstGeom>
            <a:noFill/>
            <a:ln>
              <a:solidFill>
                <a:schemeClr val="bg1">
                  <a:lumMod val="50000"/>
                </a:schemeClr>
              </a:solidFill>
            </a:ln>
          </p:spPr>
          <p:txBody>
            <a:bodyPr wrap="none" rtlCol="0">
              <a:spAutoFit/>
            </a:bodyPr>
            <a:lstStyle/>
            <a:p>
              <a:pPr algn="ctr"/>
              <a:r>
                <a:rPr lang="en-US" altLang="ko-KR" sz="1000" b="1" dirty="0" err="1"/>
                <a:t>kubectl</a:t>
              </a:r>
              <a:r>
                <a:rPr lang="en-US" altLang="ko-KR" sz="1000" b="1" dirty="0"/>
                <a:t> get </a:t>
              </a:r>
              <a:r>
                <a:rPr lang="en-US" altLang="ko-KR" sz="1000" b="1" dirty="0" err="1">
                  <a:solidFill>
                    <a:srgbClr val="FF0000"/>
                  </a:solidFill>
                </a:rPr>
                <a:t>clusterrolebindings</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BE312DE2-FB6F-4BB9-BF39-2E360BE61F6A}"/>
                </a:ext>
              </a:extLst>
            </p:cNvPr>
            <p:cNvSpPr/>
            <p:nvPr/>
          </p:nvSpPr>
          <p:spPr>
            <a:xfrm>
              <a:off x="5871210" y="2288381"/>
              <a:ext cx="449580" cy="30480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1A5EE0B3-25E7-4F63-AE23-B9BDD2ADBFA7}"/>
                </a:ext>
              </a:extLst>
            </p:cNvPr>
            <p:cNvPicPr>
              <a:picLocks noChangeAspect="1"/>
            </p:cNvPicPr>
            <p:nvPr/>
          </p:nvPicPr>
          <p:blipFill>
            <a:blip r:embed="rId2"/>
            <a:stretch>
              <a:fillRect/>
            </a:stretch>
          </p:blipFill>
          <p:spPr>
            <a:xfrm>
              <a:off x="1201103" y="2593181"/>
              <a:ext cx="9789794" cy="1894537"/>
            </a:xfrm>
            <a:prstGeom prst="rect">
              <a:avLst/>
            </a:prstGeom>
            <a:ln>
              <a:solidFill>
                <a:schemeClr val="bg1">
                  <a:lumMod val="50000"/>
                </a:schemeClr>
              </a:solidFill>
            </a:ln>
          </p:spPr>
        </p:pic>
      </p:grpSp>
    </p:spTree>
    <p:extLst>
      <p:ext uri="{BB962C8B-B14F-4D97-AF65-F5344CB8AC3E}">
        <p14:creationId xmlns:p14="http://schemas.microsoft.com/office/powerpoint/2010/main" val="136277829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Role-Based Access Control(10/10)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Roles and Role Bindings in Kubernetes :</a:t>
            </a:r>
          </a:p>
          <a:p>
            <a:pPr lvl="1">
              <a:buFont typeface="Wingdings" panose="05000000000000000000" pitchFamily="2" charset="2"/>
              <a:buChar char="§"/>
            </a:pPr>
            <a:r>
              <a:rPr lang="en-US" altLang="ko-KR" sz="1400" b="1" dirty="0"/>
              <a:t>Auto-reconciliation of built-in roles </a:t>
            </a:r>
            <a:r>
              <a:rPr lang="en-US" altLang="ko-KR" sz="1400" dirty="0"/>
              <a:t>- </a:t>
            </a:r>
          </a:p>
          <a:p>
            <a:pPr lvl="2">
              <a:buFont typeface="Wingdings" panose="05000000000000000000" pitchFamily="2" charset="2"/>
              <a:buChar char="§"/>
            </a:pPr>
            <a:r>
              <a:rPr lang="en-US" altLang="ko-KR" sz="1400" b="1" dirty="0"/>
              <a:t>When the Kubernetes API server starts up, it automatically installs a number of default </a:t>
            </a:r>
            <a:r>
              <a:rPr lang="en-US" altLang="ko-KR" sz="1400" b="1" dirty="0" err="1"/>
              <a:t>ClusterRoles</a:t>
            </a:r>
            <a:r>
              <a:rPr lang="en-US" altLang="ko-KR" sz="1400" b="1" dirty="0"/>
              <a:t> that are defined in the code of the API server itself</a:t>
            </a:r>
            <a:r>
              <a:rPr lang="en-US" altLang="ko-KR" sz="1400" dirty="0"/>
              <a:t>. This means that if you modify any built-in cluster role, those modifications are transient. </a:t>
            </a:r>
            <a:r>
              <a:rPr lang="en-US" altLang="ko-KR" sz="1400" b="1" dirty="0"/>
              <a:t>Whenever the API server is restarted (e.g., for an upgrade) your changes will be overwritten</a:t>
            </a:r>
            <a:r>
              <a:rPr lang="en-US" altLang="ko-KR" sz="1400" dirty="0"/>
              <a:t>.</a:t>
            </a:r>
          </a:p>
          <a:p>
            <a:pPr lvl="2">
              <a:buFont typeface="Wingdings" panose="05000000000000000000" pitchFamily="2" charset="2"/>
              <a:buChar char="§"/>
            </a:pPr>
            <a:r>
              <a:rPr lang="en-US" altLang="ko-KR" sz="1400" dirty="0"/>
              <a:t>To prevent this from happening, before you make any other modifications you need to </a:t>
            </a:r>
            <a:r>
              <a:rPr lang="en-US" altLang="ko-KR" sz="1400" b="1" dirty="0"/>
              <a:t>add the </a:t>
            </a:r>
            <a:r>
              <a:rPr lang="en-US" altLang="ko-KR" sz="1400" dirty="0"/>
              <a:t>“</a:t>
            </a:r>
            <a:r>
              <a:rPr lang="en-US" altLang="ko-KR" sz="1400" b="1" dirty="0">
                <a:solidFill>
                  <a:srgbClr val="FF0000"/>
                </a:solidFill>
              </a:rPr>
              <a:t>rbac.authorization.kubernetes.io/</a:t>
            </a:r>
            <a:r>
              <a:rPr lang="en-US" altLang="ko-KR" sz="1400" b="1" dirty="0" err="1">
                <a:solidFill>
                  <a:srgbClr val="FF0000"/>
                </a:solidFill>
              </a:rPr>
              <a:t>autoupdate</a:t>
            </a:r>
            <a:r>
              <a:rPr lang="en-US" altLang="ko-KR" sz="1400" dirty="0"/>
              <a:t>” </a:t>
            </a:r>
            <a:r>
              <a:rPr lang="en-US" altLang="ko-KR" sz="1400" b="1" dirty="0"/>
              <a:t>annotation with a value of “</a:t>
            </a:r>
            <a:r>
              <a:rPr lang="en-US" altLang="ko-KR" sz="1400" b="1" dirty="0">
                <a:solidFill>
                  <a:srgbClr val="FF0000"/>
                </a:solidFill>
              </a:rPr>
              <a:t>false</a:t>
            </a:r>
            <a:r>
              <a:rPr lang="en-US" altLang="ko-KR" sz="1400" b="1" dirty="0"/>
              <a:t>“ to the built-in </a:t>
            </a:r>
            <a:r>
              <a:rPr lang="en-US" altLang="ko-KR" sz="1400" b="1" dirty="0" err="1"/>
              <a:t>ClusterRole</a:t>
            </a:r>
            <a:r>
              <a:rPr lang="en-US" altLang="ko-KR" sz="1400" b="1" dirty="0"/>
              <a:t> resource</a:t>
            </a:r>
            <a:r>
              <a:rPr lang="en-US" altLang="ko-KR" sz="1400" dirty="0"/>
              <a:t>. </a:t>
            </a:r>
            <a:r>
              <a:rPr lang="en-US" altLang="ko-KR" sz="1400" b="1" dirty="0"/>
              <a:t>If this annotation is set to false, the API server will not overwrite the modified </a:t>
            </a:r>
            <a:r>
              <a:rPr lang="en-US" altLang="ko-KR" sz="1400" b="1" dirty="0" err="1"/>
              <a:t>ClusterRole</a:t>
            </a:r>
            <a:r>
              <a:rPr lang="en-US" altLang="ko-KR" sz="1400" b="1" dirty="0"/>
              <a:t> resource</a:t>
            </a:r>
            <a:r>
              <a:rPr lang="en-US" altLang="ko-KR" sz="1400" dirty="0"/>
              <a:t>.</a:t>
            </a:r>
          </a:p>
          <a:p>
            <a:pPr lvl="2">
              <a:buFont typeface="Wingdings" panose="05000000000000000000" pitchFamily="2" charset="2"/>
              <a:buChar char="§"/>
            </a:pPr>
            <a:r>
              <a:rPr lang="en-US" altLang="ko-KR" sz="1400" b="1" dirty="0"/>
              <a:t>NOTE : By default, the Kubernetes API server installs a cluster role that allows “</a:t>
            </a:r>
            <a:r>
              <a:rPr lang="en-US" altLang="ko-KR" sz="1400" b="1" dirty="0" err="1"/>
              <a:t>system:unauthenticated</a:t>
            </a:r>
            <a:r>
              <a:rPr lang="en-US" altLang="ko-KR" sz="1400" b="1" dirty="0"/>
              <a:t>” users access to the API server’s API discovery endpoint</a:t>
            </a:r>
            <a:r>
              <a:rPr lang="en-US" altLang="ko-KR" sz="1400" dirty="0"/>
              <a:t>. For any cluster exposed to a hostile environment (e.g., the public internet) this is a bad idea, and there has been at least one serious security vulnerability via this exposure. </a:t>
            </a:r>
            <a:r>
              <a:rPr lang="en-US" altLang="ko-KR" sz="1400" b="1" dirty="0"/>
              <a:t>Consequently, if you are running a Kubernetes service on the public internet or an other hostile environment, you should ensure that the “</a:t>
            </a:r>
            <a:r>
              <a:rPr lang="en-US" altLang="ko-KR" sz="1400" b="1" dirty="0">
                <a:solidFill>
                  <a:srgbClr val="FF0000"/>
                </a:solidFill>
              </a:rPr>
              <a:t>--anonymous-auth=false</a:t>
            </a:r>
            <a:r>
              <a:rPr lang="en-US" altLang="ko-KR" sz="1400" b="1" dirty="0"/>
              <a:t>” flag is set on your API server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79E628F7-9460-4C12-99D9-3C9FB5C175B1}"/>
              </a:ext>
            </a:extLst>
          </p:cNvPr>
          <p:cNvPicPr>
            <a:picLocks noChangeAspect="1"/>
          </p:cNvPicPr>
          <p:nvPr/>
        </p:nvPicPr>
        <p:blipFill>
          <a:blip r:embed="rId2"/>
          <a:stretch>
            <a:fillRect/>
          </a:stretch>
        </p:blipFill>
        <p:spPr>
          <a:xfrm>
            <a:off x="8200263" y="4172571"/>
            <a:ext cx="3153537" cy="2236459"/>
          </a:xfrm>
          <a:prstGeom prst="rect">
            <a:avLst/>
          </a:prstGeom>
        </p:spPr>
      </p:pic>
    </p:spTree>
    <p:extLst>
      <p:ext uri="{BB962C8B-B14F-4D97-AF65-F5344CB8AC3E}">
        <p14:creationId xmlns:p14="http://schemas.microsoft.com/office/powerpoint/2010/main" val="161277840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Techniques for Managing RBAC(1/2)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Testing Authorization with </a:t>
            </a:r>
            <a:r>
              <a:rPr lang="en-US" altLang="ko-KR" sz="1800" dirty="0"/>
              <a:t>“</a:t>
            </a:r>
            <a:r>
              <a:rPr lang="en-US" altLang="ko-KR" sz="1800" b="1" dirty="0"/>
              <a:t>can-</a:t>
            </a:r>
            <a:r>
              <a:rPr lang="en-US" altLang="ko-KR" sz="1800" b="1" dirty="0" err="1"/>
              <a:t>i</a:t>
            </a:r>
            <a:r>
              <a:rPr lang="en-US" altLang="ko-KR" sz="1800" dirty="0"/>
              <a:t>” </a:t>
            </a:r>
            <a:r>
              <a:rPr lang="en-US" altLang="ko-KR" sz="1800" b="1" dirty="0"/>
              <a:t>: </a:t>
            </a:r>
          </a:p>
          <a:p>
            <a:pPr lvl="1">
              <a:buFont typeface="Wingdings" panose="05000000000000000000" pitchFamily="2" charset="2"/>
              <a:buChar char="§"/>
            </a:pPr>
            <a:r>
              <a:rPr lang="en-US" altLang="ko-KR" sz="1400" b="1" dirty="0"/>
              <a:t>Managing RBAC for a cluster can be complicated and frustrating</a:t>
            </a:r>
            <a:r>
              <a:rPr lang="en-US" altLang="ko-KR" sz="1400" dirty="0"/>
              <a:t>. Possibly more concerning is that misconfigured RBAC can lead to “</a:t>
            </a:r>
            <a:r>
              <a:rPr lang="en-US" altLang="ko-KR" sz="1400" b="1" dirty="0"/>
              <a:t>security issues</a:t>
            </a:r>
            <a:r>
              <a:rPr lang="en-US" altLang="ko-KR" sz="1400" dirty="0"/>
              <a:t>”. Fortunately</a:t>
            </a:r>
            <a:r>
              <a:rPr lang="en-US" altLang="ko-KR" sz="1400" b="1" dirty="0"/>
              <a:t>, there are several tools and techniques that make managing RBAC easier</a:t>
            </a:r>
            <a:r>
              <a:rPr lang="en-US" altLang="ko-KR" sz="1400" dirty="0"/>
              <a:t>.</a:t>
            </a:r>
          </a:p>
          <a:p>
            <a:pPr lvl="1">
              <a:buFont typeface="Wingdings" panose="05000000000000000000" pitchFamily="2" charset="2"/>
              <a:buChar char="§"/>
            </a:pPr>
            <a:r>
              <a:rPr lang="en-US" altLang="ko-KR" sz="1400" dirty="0"/>
              <a:t>The first useful tool is the “</a:t>
            </a:r>
            <a:r>
              <a:rPr lang="en-US" altLang="ko-KR" sz="1400" b="1" dirty="0"/>
              <a:t>auth can-</a:t>
            </a:r>
            <a:r>
              <a:rPr lang="en-US" altLang="ko-KR" sz="1400" b="1" dirty="0" err="1"/>
              <a:t>i</a:t>
            </a:r>
            <a:r>
              <a:rPr lang="en-US" altLang="ko-KR" sz="1400" dirty="0"/>
              <a:t>” command for </a:t>
            </a:r>
            <a:r>
              <a:rPr lang="en-US" altLang="ko-KR" sz="1400" b="1" dirty="0" err="1"/>
              <a:t>kubectl</a:t>
            </a:r>
            <a:r>
              <a:rPr lang="en-US" altLang="ko-KR" sz="1400" dirty="0"/>
              <a:t>. This tool is very useful for testing if a particular user can do a particular action. You can use “</a:t>
            </a:r>
            <a:r>
              <a:rPr lang="en-US" altLang="ko-KR" sz="1400" b="1" dirty="0"/>
              <a:t>can-</a:t>
            </a:r>
            <a:r>
              <a:rPr lang="en-US" altLang="ko-KR" sz="1400" b="1" dirty="0" err="1"/>
              <a:t>i</a:t>
            </a:r>
            <a:r>
              <a:rPr lang="en-US" altLang="ko-KR" sz="1400" dirty="0"/>
              <a:t>” </a:t>
            </a:r>
            <a:r>
              <a:rPr lang="en-US" altLang="ko-KR" sz="1400" b="1" dirty="0"/>
              <a:t>to validate configuration settings</a:t>
            </a:r>
            <a:r>
              <a:rPr lang="en-US" altLang="ko-KR" sz="1400" dirty="0"/>
              <a:t> as you configure your cluster, or you can </a:t>
            </a:r>
            <a:r>
              <a:rPr lang="en-US" altLang="ko-KR" sz="1400" b="1" dirty="0"/>
              <a:t>ask users to use the tool to validate their access </a:t>
            </a:r>
            <a:r>
              <a:rPr lang="en-US" altLang="ko-KR" sz="1400" dirty="0"/>
              <a:t>when filing errors or bug reports.</a:t>
            </a:r>
          </a:p>
          <a:p>
            <a:pPr lvl="1">
              <a:buFont typeface="Wingdings" panose="05000000000000000000" pitchFamily="2" charset="2"/>
              <a:buChar char="§"/>
            </a:pPr>
            <a:r>
              <a:rPr lang="en-US" altLang="ko-KR" sz="1400" dirty="0"/>
              <a:t>In its simplest usage, </a:t>
            </a:r>
            <a:r>
              <a:rPr lang="en-US" altLang="ko-KR" sz="1400" b="1" dirty="0"/>
              <a:t>the “can-</a:t>
            </a:r>
            <a:r>
              <a:rPr lang="en-US" altLang="ko-KR" sz="1400" b="1" dirty="0" err="1"/>
              <a:t>i</a:t>
            </a:r>
            <a:r>
              <a:rPr lang="en-US" altLang="ko-KR" sz="1400" b="1" dirty="0"/>
              <a:t>” command takes a verb and a resource</a:t>
            </a:r>
            <a:r>
              <a:rPr lang="en-US" altLang="ko-KR" sz="1400" dirty="0"/>
              <a:t>. For example, this command will </a:t>
            </a:r>
            <a:r>
              <a:rPr lang="en-US" altLang="ko-KR" sz="1400" b="1" dirty="0"/>
              <a:t>indicate if the current </a:t>
            </a:r>
            <a:r>
              <a:rPr lang="en-US" altLang="ko-KR" sz="1400" b="1" dirty="0" err="1"/>
              <a:t>kubectl</a:t>
            </a:r>
            <a:r>
              <a:rPr lang="en-US" altLang="ko-KR" sz="1400" b="1" dirty="0"/>
              <a:t> user is authorized to create Pods</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can also </a:t>
            </a:r>
            <a:r>
              <a:rPr lang="en-US" altLang="ko-KR" sz="1400" b="1" dirty="0"/>
              <a:t>test </a:t>
            </a:r>
            <a:r>
              <a:rPr lang="en-US" altLang="ko-KR" sz="1400" b="1" dirty="0" err="1"/>
              <a:t>subresources</a:t>
            </a:r>
            <a:r>
              <a:rPr lang="en-US" altLang="ko-KR" sz="1400" b="1" dirty="0"/>
              <a:t> like “logs” or “port forwarding”</a:t>
            </a:r>
            <a:r>
              <a:rPr lang="en-US" altLang="ko-KR" sz="1400" dirty="0"/>
              <a:t> with the </a:t>
            </a:r>
            <a:r>
              <a:rPr lang="en-US" altLang="ko-KR" sz="1400" b="1" dirty="0"/>
              <a:t>“--</a:t>
            </a:r>
            <a:r>
              <a:rPr lang="en-US" altLang="ko-KR" sz="1400" b="1" dirty="0" err="1"/>
              <a:t>subresource</a:t>
            </a:r>
            <a:r>
              <a:rPr lang="en-US" altLang="ko-KR" sz="1400" dirty="0"/>
              <a:t>” command-line flag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92EA9AB8-E6D7-4D69-9E94-85D49C8B97AC}"/>
              </a:ext>
            </a:extLst>
          </p:cNvPr>
          <p:cNvSpPr/>
          <p:nvPr/>
        </p:nvSpPr>
        <p:spPr>
          <a:xfrm>
            <a:off x="4475202" y="2954179"/>
            <a:ext cx="3241593"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auth can-</a:t>
            </a:r>
            <a:r>
              <a:rPr lang="en-US" altLang="ko-KR" sz="1000" b="1" dirty="0" err="1">
                <a:solidFill>
                  <a:srgbClr val="FF0000"/>
                </a:solidFill>
              </a:rPr>
              <a:t>i</a:t>
            </a:r>
            <a:r>
              <a:rPr lang="en-US" altLang="ko-KR" sz="1000" b="1" dirty="0">
                <a:solidFill>
                  <a:srgbClr val="FF0000"/>
                </a:solidFill>
              </a:rPr>
              <a:t> create pods</a:t>
            </a:r>
          </a:p>
        </p:txBody>
      </p:sp>
      <p:grpSp>
        <p:nvGrpSpPr>
          <p:cNvPr id="12" name="그룹 11">
            <a:extLst>
              <a:ext uri="{FF2B5EF4-FFF2-40B4-BE49-F238E27FC236}">
                <a16:creationId xmlns:a16="http://schemas.microsoft.com/office/drawing/2014/main" id="{A8F73ABF-4DED-4857-BCB4-1E85145BFC6C}"/>
              </a:ext>
            </a:extLst>
          </p:cNvPr>
          <p:cNvGrpSpPr/>
          <p:nvPr/>
        </p:nvGrpSpPr>
        <p:grpSpPr>
          <a:xfrm>
            <a:off x="1587636" y="3777710"/>
            <a:ext cx="9016723" cy="2266195"/>
            <a:chOff x="1587639" y="4036814"/>
            <a:chExt cx="9016723" cy="2266195"/>
          </a:xfrm>
        </p:grpSpPr>
        <p:pic>
          <p:nvPicPr>
            <p:cNvPr id="9" name="그림 8">
              <a:extLst>
                <a:ext uri="{FF2B5EF4-FFF2-40B4-BE49-F238E27FC236}">
                  <a16:creationId xmlns:a16="http://schemas.microsoft.com/office/drawing/2014/main" id="{024017DD-1AEB-4844-A335-4BA9F9493822}"/>
                </a:ext>
              </a:extLst>
            </p:cNvPr>
            <p:cNvPicPr>
              <a:picLocks noChangeAspect="1"/>
            </p:cNvPicPr>
            <p:nvPr/>
          </p:nvPicPr>
          <p:blipFill>
            <a:blip r:embed="rId2"/>
            <a:stretch>
              <a:fillRect/>
            </a:stretch>
          </p:blipFill>
          <p:spPr>
            <a:xfrm>
              <a:off x="1587639" y="4589832"/>
              <a:ext cx="9016723" cy="1713177"/>
            </a:xfrm>
            <a:prstGeom prst="rect">
              <a:avLst/>
            </a:prstGeom>
            <a:ln>
              <a:solidFill>
                <a:schemeClr val="bg1">
                  <a:lumMod val="50000"/>
                </a:schemeClr>
              </a:solidFill>
            </a:ln>
          </p:spPr>
        </p:pic>
        <p:grpSp>
          <p:nvGrpSpPr>
            <p:cNvPr id="11" name="그룹 10">
              <a:extLst>
                <a:ext uri="{FF2B5EF4-FFF2-40B4-BE49-F238E27FC236}">
                  <a16:creationId xmlns:a16="http://schemas.microsoft.com/office/drawing/2014/main" id="{6621E9B6-0595-4484-A312-E6D90442D3BD}"/>
                </a:ext>
              </a:extLst>
            </p:cNvPr>
            <p:cNvGrpSpPr/>
            <p:nvPr/>
          </p:nvGrpSpPr>
          <p:grpSpPr>
            <a:xfrm>
              <a:off x="4475203" y="4036814"/>
              <a:ext cx="3241593" cy="522730"/>
              <a:chOff x="4475203" y="4036814"/>
              <a:chExt cx="3241593" cy="522730"/>
            </a:xfrm>
          </p:grpSpPr>
          <p:sp>
            <p:nvSpPr>
              <p:cNvPr id="8" name="직사각형 7">
                <a:extLst>
                  <a:ext uri="{FF2B5EF4-FFF2-40B4-BE49-F238E27FC236}">
                    <a16:creationId xmlns:a16="http://schemas.microsoft.com/office/drawing/2014/main" id="{CFF4D7AB-E35C-46F0-9F55-6611D03F51D8}"/>
                  </a:ext>
                </a:extLst>
              </p:cNvPr>
              <p:cNvSpPr/>
              <p:nvPr/>
            </p:nvSpPr>
            <p:spPr>
              <a:xfrm>
                <a:off x="4475203" y="4036814"/>
                <a:ext cx="3241593"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auth can-</a:t>
                </a:r>
                <a:r>
                  <a:rPr lang="en-US" altLang="ko-KR" sz="1000" b="1" dirty="0" err="1">
                    <a:solidFill>
                      <a:srgbClr val="FF0000"/>
                    </a:solidFill>
                  </a:rPr>
                  <a:t>i</a:t>
                </a:r>
                <a:r>
                  <a:rPr lang="en-US" altLang="ko-KR" sz="1000" b="1" dirty="0">
                    <a:solidFill>
                      <a:srgbClr val="FF0000"/>
                    </a:solidFill>
                  </a:rPr>
                  <a:t> get pods --</a:t>
                </a:r>
                <a:r>
                  <a:rPr lang="en-US" altLang="ko-KR" sz="1000" b="1" dirty="0" err="1">
                    <a:solidFill>
                      <a:srgbClr val="FF0000"/>
                    </a:solidFill>
                  </a:rPr>
                  <a:t>subresource</a:t>
                </a:r>
                <a:r>
                  <a:rPr lang="en-US" altLang="ko-KR" sz="1000" b="1" dirty="0">
                    <a:solidFill>
                      <a:srgbClr val="FF0000"/>
                    </a:solidFill>
                  </a:rPr>
                  <a:t>=logs</a:t>
                </a:r>
              </a:p>
            </p:txBody>
          </p:sp>
          <p:sp>
            <p:nvSpPr>
              <p:cNvPr id="10" name="화살표: 아래쪽 9">
                <a:extLst>
                  <a:ext uri="{FF2B5EF4-FFF2-40B4-BE49-F238E27FC236}">
                    <a16:creationId xmlns:a16="http://schemas.microsoft.com/office/drawing/2014/main" id="{FE694C8F-18AA-4149-B27D-13462B1B2345}"/>
                  </a:ext>
                </a:extLst>
              </p:cNvPr>
              <p:cNvSpPr/>
              <p:nvPr/>
            </p:nvSpPr>
            <p:spPr>
              <a:xfrm>
                <a:off x="5905499" y="4313323"/>
                <a:ext cx="38100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230738447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Techniques for Managing RBAC(2/2)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Managing RBAC in Source Control :</a:t>
            </a:r>
          </a:p>
          <a:p>
            <a:pPr lvl="1">
              <a:buFont typeface="Wingdings" panose="05000000000000000000" pitchFamily="2" charset="2"/>
              <a:buChar char="§"/>
            </a:pPr>
            <a:r>
              <a:rPr lang="en-US" altLang="ko-KR" sz="1400" b="1" dirty="0"/>
              <a:t>Like all resources in Kubernetes, RBAC resources are modeled using JSON or YAML. Given this text-based representation it makes sense to store these resources in version control</a:t>
            </a:r>
            <a:r>
              <a:rPr lang="en-US" altLang="ko-KR" sz="1400" dirty="0"/>
              <a:t>. Indeed, the strong need for audit, accountability, and rollback for changes to </a:t>
            </a:r>
            <a:r>
              <a:rPr lang="en-US" altLang="ko-KR" sz="1400" b="1" dirty="0"/>
              <a:t>RBAC policy </a:t>
            </a:r>
            <a:r>
              <a:rPr lang="en-US" altLang="ko-KR" sz="1400" dirty="0"/>
              <a:t>means that </a:t>
            </a:r>
            <a:r>
              <a:rPr lang="en-US" altLang="ko-KR" sz="1400" b="1" dirty="0"/>
              <a:t>version control for RBAC resources is essential</a:t>
            </a:r>
            <a:r>
              <a:rPr lang="en-US" altLang="ko-KR" sz="1400" dirty="0"/>
              <a:t>.</a:t>
            </a:r>
          </a:p>
          <a:p>
            <a:pPr lvl="1">
              <a:buFont typeface="Wingdings" panose="05000000000000000000" pitchFamily="2" charset="2"/>
              <a:buChar char="§"/>
            </a:pPr>
            <a:r>
              <a:rPr lang="en-US" altLang="ko-KR" sz="1400" b="1" dirty="0"/>
              <a:t>Fortunately, the “</a:t>
            </a:r>
            <a:r>
              <a:rPr lang="en-US" altLang="ko-KR" sz="1400" b="1" dirty="0" err="1"/>
              <a:t>kubectl</a:t>
            </a:r>
            <a:r>
              <a:rPr lang="en-US" altLang="ko-KR" sz="1400" b="1" dirty="0"/>
              <a:t>” command-line tool comes with a reconcile command that operates somewhat like </a:t>
            </a:r>
            <a:r>
              <a:rPr lang="en-US" altLang="ko-KR" sz="1400" b="1" dirty="0" err="1"/>
              <a:t>kubectl</a:t>
            </a:r>
            <a:r>
              <a:rPr lang="en-US" altLang="ko-KR" sz="1400" b="1" dirty="0"/>
              <a:t> apply and will reconcile a text-based set of roles and role bindings with the current state of the cluster</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and the data in the file will be reconciled with the cluster</a:t>
            </a:r>
            <a:r>
              <a:rPr lang="en-US" altLang="ko-KR" sz="1400" dirty="0"/>
              <a:t>. If you want to see changes before they are made, you can add the “</a:t>
            </a:r>
            <a:r>
              <a:rPr lang="en-US" altLang="ko-KR" sz="1400" b="1" dirty="0"/>
              <a:t>--dry-run=client</a:t>
            </a:r>
            <a:r>
              <a:rPr lang="en-US" altLang="ko-KR" sz="1400" dirty="0"/>
              <a:t>” </a:t>
            </a:r>
            <a:r>
              <a:rPr lang="en-US" altLang="ko-KR" sz="1400" b="1" dirty="0"/>
              <a:t>flag to the command to print but not submit the changes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BCC85116-AEB2-4469-AE1F-2764402F2AE8}"/>
              </a:ext>
            </a:extLst>
          </p:cNvPr>
          <p:cNvSpPr/>
          <p:nvPr/>
        </p:nvSpPr>
        <p:spPr>
          <a:xfrm>
            <a:off x="4467188" y="2329934"/>
            <a:ext cx="3257623"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auth reconcile -f </a:t>
            </a:r>
            <a:r>
              <a:rPr lang="en-US" altLang="ko-KR" sz="1000" b="1" dirty="0">
                <a:solidFill>
                  <a:srgbClr val="FF0000"/>
                </a:solidFill>
              </a:rPr>
              <a:t>some-</a:t>
            </a:r>
            <a:r>
              <a:rPr lang="en-US" altLang="ko-KR" sz="1000" b="1" dirty="0" err="1">
                <a:solidFill>
                  <a:srgbClr val="FF0000"/>
                </a:solidFill>
              </a:rPr>
              <a:t>rbac</a:t>
            </a:r>
            <a:r>
              <a:rPr lang="en-US" altLang="ko-KR" sz="1000" b="1" dirty="0">
                <a:solidFill>
                  <a:srgbClr val="FF0000"/>
                </a:solidFill>
              </a:rPr>
              <a:t>-</a:t>
            </a:r>
            <a:r>
              <a:rPr lang="en-US" altLang="ko-KR" sz="1000" b="1" dirty="0" err="1">
                <a:solidFill>
                  <a:srgbClr val="FF0000"/>
                </a:solidFill>
              </a:rPr>
              <a:t>config.yaml</a:t>
            </a:r>
            <a:endParaRPr lang="en-US" altLang="ko-KR" sz="1000" b="1" dirty="0">
              <a:solidFill>
                <a:srgbClr val="FF0000"/>
              </a:solidFill>
            </a:endParaRPr>
          </a:p>
        </p:txBody>
      </p:sp>
      <p:pic>
        <p:nvPicPr>
          <p:cNvPr id="9" name="그림 8">
            <a:extLst>
              <a:ext uri="{FF2B5EF4-FFF2-40B4-BE49-F238E27FC236}">
                <a16:creationId xmlns:a16="http://schemas.microsoft.com/office/drawing/2014/main" id="{272FF6FF-5DB4-4E49-A88E-66B2CA981C87}"/>
              </a:ext>
            </a:extLst>
          </p:cNvPr>
          <p:cNvPicPr>
            <a:picLocks noChangeAspect="1"/>
          </p:cNvPicPr>
          <p:nvPr/>
        </p:nvPicPr>
        <p:blipFill>
          <a:blip r:embed="rId2"/>
          <a:stretch>
            <a:fillRect/>
          </a:stretch>
        </p:blipFill>
        <p:spPr>
          <a:xfrm>
            <a:off x="3890009" y="3429000"/>
            <a:ext cx="4411980" cy="2753179"/>
          </a:xfrm>
          <a:prstGeom prst="rect">
            <a:avLst/>
          </a:prstGeom>
        </p:spPr>
      </p:pic>
    </p:spTree>
    <p:extLst>
      <p:ext uri="{BB962C8B-B14F-4D97-AF65-F5344CB8AC3E}">
        <p14:creationId xmlns:p14="http://schemas.microsoft.com/office/powerpoint/2010/main" val="186886821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Topics(1/5)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Aggregated </a:t>
            </a:r>
            <a:r>
              <a:rPr lang="en-US" altLang="ko-KR" sz="1800" b="1" dirty="0" err="1"/>
              <a:t>ClusterRoles</a:t>
            </a:r>
            <a:r>
              <a:rPr lang="en-US" altLang="ko-KR" sz="1800" b="1" dirty="0"/>
              <a:t> :</a:t>
            </a:r>
          </a:p>
          <a:p>
            <a:pPr lvl="1">
              <a:buFont typeface="Wingdings" panose="05000000000000000000" pitchFamily="2" charset="2"/>
              <a:buChar char="§"/>
            </a:pPr>
            <a:r>
              <a:rPr lang="en-US" altLang="ko-KR" sz="1400" b="1" dirty="0"/>
              <a:t>Sometimes you want to be able to define roles that are combinations of other roles</a:t>
            </a:r>
            <a:r>
              <a:rPr lang="en-US" altLang="ko-KR" sz="1400" dirty="0"/>
              <a:t>. One option would be to </a:t>
            </a:r>
            <a:r>
              <a:rPr lang="en-US" altLang="ko-KR" sz="1400" b="1" dirty="0"/>
              <a:t>simply clone(copy) all of the rules from one </a:t>
            </a:r>
            <a:r>
              <a:rPr lang="en-US" altLang="ko-KR" sz="1400" b="1" dirty="0" err="1"/>
              <a:t>ClusterRole</a:t>
            </a:r>
            <a:r>
              <a:rPr lang="en-US" altLang="ko-KR" sz="1400" b="1" dirty="0"/>
              <a:t> into another </a:t>
            </a:r>
            <a:r>
              <a:rPr lang="en-US" altLang="ko-KR" sz="1400" b="1" dirty="0" err="1"/>
              <a:t>ClusterRole</a:t>
            </a:r>
            <a:r>
              <a:rPr lang="en-US" altLang="ko-KR" sz="1400" dirty="0"/>
              <a:t>, but this is complicated and error-prone, since </a:t>
            </a:r>
            <a:r>
              <a:rPr lang="en-US" altLang="ko-KR" sz="1400" b="1" dirty="0"/>
              <a:t>changes to one </a:t>
            </a:r>
            <a:r>
              <a:rPr lang="en-US" altLang="ko-KR" sz="1400" b="1" dirty="0" err="1"/>
              <a:t>ClusterRole</a:t>
            </a:r>
            <a:r>
              <a:rPr lang="en-US" altLang="ko-KR" sz="1400" b="1" dirty="0"/>
              <a:t> aren’t automatically reflected in the other</a:t>
            </a:r>
            <a:r>
              <a:rPr lang="en-US" altLang="ko-KR" sz="1400" dirty="0"/>
              <a:t>. Instead, </a:t>
            </a:r>
            <a:r>
              <a:rPr lang="en-US" altLang="ko-KR" sz="1400" b="1" dirty="0"/>
              <a:t>Kubernetes RBAC supports the usage of an “</a:t>
            </a:r>
            <a:r>
              <a:rPr lang="en-US" altLang="ko-KR" sz="1400" b="1" dirty="0">
                <a:solidFill>
                  <a:srgbClr val="FF0000"/>
                </a:solidFill>
              </a:rPr>
              <a:t>aggregation rule</a:t>
            </a:r>
            <a:r>
              <a:rPr lang="en-US" altLang="ko-KR" sz="1400" b="1" dirty="0"/>
              <a:t>” to combine multiple roles together in a new role</a:t>
            </a:r>
            <a:r>
              <a:rPr lang="en-US" altLang="ko-KR" sz="1400" dirty="0"/>
              <a:t>. This new role combines all of the capabilities of all of the aggregate roles together, and </a:t>
            </a:r>
            <a:r>
              <a:rPr lang="en-US" altLang="ko-KR" sz="1400" b="1" dirty="0"/>
              <a:t>any changes to any of the constituent </a:t>
            </a:r>
            <a:r>
              <a:rPr lang="en-US" altLang="ko-KR" sz="1400" b="1" dirty="0" err="1"/>
              <a:t>subroles</a:t>
            </a:r>
            <a:r>
              <a:rPr lang="en-US" altLang="ko-KR" sz="1400" b="1" dirty="0"/>
              <a:t> will automatically be </a:t>
            </a:r>
            <a:r>
              <a:rPr lang="en-US" altLang="ko-KR" sz="1400" b="1" dirty="0" err="1"/>
              <a:t>propogated</a:t>
            </a:r>
            <a:r>
              <a:rPr lang="en-US" altLang="ko-KR" sz="1400" b="1" dirty="0"/>
              <a:t> back into the aggregate role</a:t>
            </a:r>
            <a:r>
              <a:rPr lang="en-US" altLang="ko-KR" sz="1400" dirty="0"/>
              <a:t>.</a:t>
            </a:r>
          </a:p>
          <a:p>
            <a:pPr lvl="1">
              <a:buFont typeface="Wingdings" panose="05000000000000000000" pitchFamily="2" charset="2"/>
              <a:buChar char="§"/>
            </a:pPr>
            <a:r>
              <a:rPr lang="en-US" altLang="ko-KR" sz="1400" dirty="0"/>
              <a:t>Like with all other aggregations or groupings in Kubernetes, </a:t>
            </a:r>
            <a:r>
              <a:rPr lang="en-US" altLang="ko-KR" sz="1400" b="1" dirty="0"/>
              <a:t>the </a:t>
            </a:r>
            <a:r>
              <a:rPr lang="en-US" altLang="ko-KR" sz="1400" b="1" dirty="0" err="1">
                <a:solidFill>
                  <a:srgbClr val="FF0000"/>
                </a:solidFill>
              </a:rPr>
              <a:t>ClusterRoles</a:t>
            </a:r>
            <a:r>
              <a:rPr lang="en-US" altLang="ko-KR" sz="1400" b="1" dirty="0"/>
              <a:t> to be aggregated are specified using label selectors</a:t>
            </a:r>
            <a:r>
              <a:rPr lang="en-US" altLang="ko-KR" sz="1400" dirty="0"/>
              <a:t>. In this particular case, </a:t>
            </a:r>
            <a:r>
              <a:rPr lang="en-US" altLang="ko-KR" sz="1400" b="1" dirty="0"/>
              <a:t>the aggregation Rule field in the </a:t>
            </a:r>
            <a:r>
              <a:rPr lang="en-US" altLang="ko-KR" sz="1400" b="1" dirty="0" err="1"/>
              <a:t>ClusterRole</a:t>
            </a:r>
            <a:r>
              <a:rPr lang="en-US" altLang="ko-KR" sz="1400" b="1" dirty="0"/>
              <a:t> resource contains a  “</a:t>
            </a:r>
            <a:r>
              <a:rPr lang="en-US" altLang="ko-KR" sz="1400" b="1" dirty="0" err="1">
                <a:solidFill>
                  <a:srgbClr val="FF0000"/>
                </a:solidFill>
              </a:rPr>
              <a:t>clusterRoleSelector</a:t>
            </a:r>
            <a:r>
              <a:rPr lang="en-US" altLang="ko-KR" sz="1400" b="1" dirty="0"/>
              <a:t>” field</a:t>
            </a:r>
            <a:r>
              <a:rPr lang="en-US" altLang="ko-KR" sz="1400" dirty="0"/>
              <a:t>, </a:t>
            </a:r>
            <a:r>
              <a:rPr lang="en-US" altLang="ko-KR" sz="1400" b="1" dirty="0"/>
              <a:t>which in turn is a label selector</a:t>
            </a:r>
            <a:r>
              <a:rPr lang="en-US" altLang="ko-KR" sz="1400" dirty="0"/>
              <a:t>. </a:t>
            </a:r>
            <a:r>
              <a:rPr lang="en-US" altLang="ko-KR" sz="1400" b="1" dirty="0"/>
              <a:t>All </a:t>
            </a:r>
            <a:r>
              <a:rPr lang="en-US" altLang="ko-KR" sz="1400" b="1" dirty="0" err="1"/>
              <a:t>ClusterRole</a:t>
            </a:r>
            <a:r>
              <a:rPr lang="en-US" altLang="ko-KR" sz="1400" b="1" dirty="0"/>
              <a:t> resources that match this selector are dynamically aggregated into the rules array in the aggregate </a:t>
            </a:r>
            <a:r>
              <a:rPr lang="en-US" altLang="ko-KR" sz="1400" b="1" dirty="0" err="1"/>
              <a:t>ClusterRole</a:t>
            </a:r>
            <a:r>
              <a:rPr lang="en-US" altLang="ko-KR" sz="1400" b="1" dirty="0"/>
              <a:t> resource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6D744DFA-7118-4F70-83DF-4AF454EDCA92}"/>
              </a:ext>
            </a:extLst>
          </p:cNvPr>
          <p:cNvPicPr>
            <a:picLocks noChangeAspect="1"/>
          </p:cNvPicPr>
          <p:nvPr/>
        </p:nvPicPr>
        <p:blipFill>
          <a:blip r:embed="rId2"/>
          <a:stretch>
            <a:fillRect/>
          </a:stretch>
        </p:blipFill>
        <p:spPr>
          <a:xfrm>
            <a:off x="4341106" y="3604920"/>
            <a:ext cx="3509788" cy="2751430"/>
          </a:xfrm>
          <a:prstGeom prst="rect">
            <a:avLst/>
          </a:prstGeom>
        </p:spPr>
      </p:pic>
    </p:spTree>
    <p:extLst>
      <p:ext uri="{BB962C8B-B14F-4D97-AF65-F5344CB8AC3E}">
        <p14:creationId xmlns:p14="http://schemas.microsoft.com/office/powerpoint/2010/main" val="7131783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Topics(2/5)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Aggregated </a:t>
            </a:r>
            <a:r>
              <a:rPr lang="en-US" altLang="ko-KR" sz="1800" b="1" dirty="0" err="1"/>
              <a:t>ClusterRoles</a:t>
            </a:r>
            <a:r>
              <a:rPr lang="en-US" altLang="ko-KR" sz="1800" b="1" dirty="0"/>
              <a:t> :</a:t>
            </a:r>
          </a:p>
          <a:p>
            <a:pPr lvl="1">
              <a:buFont typeface="Wingdings" panose="05000000000000000000" pitchFamily="2" charset="2"/>
              <a:buChar char="§"/>
            </a:pPr>
            <a:r>
              <a:rPr lang="en-US" altLang="ko-KR" sz="1400" b="1" dirty="0"/>
              <a:t>A best practice for managing </a:t>
            </a:r>
            <a:r>
              <a:rPr lang="en-US" altLang="ko-KR" sz="1400" b="1" dirty="0" err="1"/>
              <a:t>ClusterRole</a:t>
            </a:r>
            <a:r>
              <a:rPr lang="en-US" altLang="ko-KR" sz="1400" b="1" dirty="0"/>
              <a:t> resources is to create a number of fine-grained cluster roles and then aggregate them together to form higher-level or broadly defined cluster roles</a:t>
            </a:r>
            <a:r>
              <a:rPr lang="en-US" altLang="ko-KR" sz="1400" dirty="0"/>
              <a:t>. This is how the </a:t>
            </a:r>
            <a:r>
              <a:rPr lang="en-US" altLang="ko-KR" sz="1400" b="1" dirty="0"/>
              <a:t>built-in cluster roles</a:t>
            </a:r>
            <a:r>
              <a:rPr lang="en-US" altLang="ko-KR" sz="1400" dirty="0"/>
              <a:t> are defined. For example, you can see that the “</a:t>
            </a:r>
            <a:r>
              <a:rPr lang="en-US" altLang="ko-KR" sz="1400" b="1" dirty="0"/>
              <a:t>built-in edit role”</a:t>
            </a:r>
            <a:r>
              <a:rPr lang="en-US" altLang="ko-KR" sz="1400" dirty="0"/>
              <a:t> looks like this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means that </a:t>
            </a:r>
            <a:r>
              <a:rPr lang="en-US" altLang="ko-KR" sz="1400" b="1" dirty="0"/>
              <a:t>the “edit role”(“name: edit”) is defined to be the aggregate of all </a:t>
            </a:r>
            <a:r>
              <a:rPr lang="en-US" altLang="ko-KR" sz="1400" b="1" dirty="0" err="1"/>
              <a:t>ClusterRole</a:t>
            </a:r>
            <a:r>
              <a:rPr lang="en-US" altLang="ko-KR" sz="1400" b="1" dirty="0"/>
              <a:t> objects that have a label of “rbac.authorization.k8s.io/aggregate-to-edit” set to “true”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DC7291B0-345B-4E2D-8001-480256852B4D}"/>
              </a:ext>
            </a:extLst>
          </p:cNvPr>
          <p:cNvSpPr/>
          <p:nvPr/>
        </p:nvSpPr>
        <p:spPr>
          <a:xfrm>
            <a:off x="3048000" y="1960502"/>
            <a:ext cx="6096000" cy="1631216"/>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rbac.authorization.k8s.io/v1</a:t>
            </a:r>
          </a:p>
          <a:p>
            <a:r>
              <a:rPr lang="en-US" altLang="ko-KR" sz="1000" b="1" dirty="0"/>
              <a:t>kind: </a:t>
            </a:r>
            <a:r>
              <a:rPr lang="en-US" altLang="ko-KR" sz="1000" b="1" dirty="0" err="1">
                <a:solidFill>
                  <a:srgbClr val="FF0000"/>
                </a:solidFill>
              </a:rPr>
              <a:t>ClusterRole</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a:solidFill>
                  <a:srgbClr val="FF0000"/>
                </a:solidFill>
              </a:rPr>
              <a:t>edit</a:t>
            </a:r>
          </a:p>
          <a:p>
            <a:r>
              <a:rPr lang="en-US" altLang="ko-KR" sz="1000" b="1" dirty="0"/>
              <a:t>  ...</a:t>
            </a:r>
          </a:p>
          <a:p>
            <a:r>
              <a:rPr lang="en-US" altLang="ko-KR" sz="1000" b="1" dirty="0" err="1">
                <a:solidFill>
                  <a:srgbClr val="FF0000"/>
                </a:solidFill>
              </a:rPr>
              <a:t>aggregationRule</a:t>
            </a:r>
            <a:r>
              <a:rPr lang="en-US" altLang="ko-KR" sz="1000" b="1" dirty="0"/>
              <a:t>:</a:t>
            </a:r>
          </a:p>
          <a:p>
            <a:r>
              <a:rPr lang="en-US" altLang="ko-KR" sz="1000" b="1" dirty="0"/>
              <a:t>  </a:t>
            </a:r>
            <a:r>
              <a:rPr lang="en-US" altLang="ko-KR" sz="1000" b="1" dirty="0" err="1">
                <a:solidFill>
                  <a:srgbClr val="FF0000"/>
                </a:solidFill>
              </a:rPr>
              <a:t>clusterRoleSelectors</a:t>
            </a:r>
            <a:r>
              <a:rPr lang="en-US" altLang="ko-KR" sz="1000" b="1" dirty="0"/>
              <a:t>:</a:t>
            </a:r>
          </a:p>
          <a:p>
            <a:r>
              <a:rPr lang="en-US" altLang="ko-KR" sz="1000" b="1" dirty="0"/>
              <a:t>  - </a:t>
            </a:r>
            <a:r>
              <a:rPr lang="en-US" altLang="ko-KR" sz="1000" b="1" dirty="0" err="1">
                <a:solidFill>
                  <a:srgbClr val="FF0000"/>
                </a:solidFill>
              </a:rPr>
              <a:t>matchLabels</a:t>
            </a:r>
            <a:r>
              <a:rPr lang="en-US" altLang="ko-KR" sz="1000" b="1" dirty="0"/>
              <a:t>:</a:t>
            </a:r>
          </a:p>
          <a:p>
            <a:r>
              <a:rPr lang="en-US" altLang="ko-KR" sz="1000" b="1" dirty="0"/>
              <a:t>      </a:t>
            </a:r>
            <a:r>
              <a:rPr lang="en-US" altLang="ko-KR" sz="1000" b="1" dirty="0">
                <a:solidFill>
                  <a:srgbClr val="FF0000"/>
                </a:solidFill>
              </a:rPr>
              <a:t>rbac.authorization.k8s.io/aggregate-to-edit: "true"</a:t>
            </a:r>
          </a:p>
          <a:p>
            <a:r>
              <a:rPr lang="en-US" altLang="ko-KR" sz="1000" b="1" dirty="0"/>
              <a:t>...</a:t>
            </a:r>
            <a:endParaRPr lang="ko-KR" altLang="en-US" sz="1000" b="1" dirty="0"/>
          </a:p>
        </p:txBody>
      </p:sp>
      <p:pic>
        <p:nvPicPr>
          <p:cNvPr id="9" name="그림 8">
            <a:extLst>
              <a:ext uri="{FF2B5EF4-FFF2-40B4-BE49-F238E27FC236}">
                <a16:creationId xmlns:a16="http://schemas.microsoft.com/office/drawing/2014/main" id="{EF102E8B-32FD-4EF1-B4C7-3977CD35E4BF}"/>
              </a:ext>
            </a:extLst>
          </p:cNvPr>
          <p:cNvPicPr>
            <a:picLocks noChangeAspect="1"/>
          </p:cNvPicPr>
          <p:nvPr/>
        </p:nvPicPr>
        <p:blipFill>
          <a:blip r:embed="rId2"/>
          <a:stretch>
            <a:fillRect/>
          </a:stretch>
        </p:blipFill>
        <p:spPr>
          <a:xfrm>
            <a:off x="8186885" y="4160520"/>
            <a:ext cx="3166915" cy="2248510"/>
          </a:xfrm>
          <a:prstGeom prst="rect">
            <a:avLst/>
          </a:prstGeom>
        </p:spPr>
      </p:pic>
    </p:spTree>
    <p:extLst>
      <p:ext uri="{BB962C8B-B14F-4D97-AF65-F5344CB8AC3E}">
        <p14:creationId xmlns:p14="http://schemas.microsoft.com/office/powerpoint/2010/main" val="303594161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Topics(3/5)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Groups for Bindings :</a:t>
            </a:r>
          </a:p>
          <a:p>
            <a:pPr lvl="1">
              <a:buFont typeface="Wingdings" panose="05000000000000000000" pitchFamily="2" charset="2"/>
              <a:buChar char="§"/>
            </a:pPr>
            <a:r>
              <a:rPr lang="en-US" altLang="ko-KR" sz="1400" b="1" dirty="0"/>
              <a:t>When managing a large number of people in different organizations with similar access to the cluster, it’s generally a best practice to use “groups” to manage the roles that define access to the cluster</a:t>
            </a:r>
            <a:r>
              <a:rPr lang="en-US" altLang="ko-KR" sz="1400" dirty="0"/>
              <a:t>, rather than individually adding bindings to specific identities. </a:t>
            </a:r>
            <a:r>
              <a:rPr lang="en-US" altLang="ko-KR" sz="1400" b="1" dirty="0"/>
              <a:t>When you “</a:t>
            </a:r>
            <a:r>
              <a:rPr lang="en-US" altLang="ko-KR" sz="1400" b="1" dirty="0">
                <a:solidFill>
                  <a:srgbClr val="FF0000"/>
                </a:solidFill>
              </a:rPr>
              <a:t>bind a group to a </a:t>
            </a:r>
            <a:r>
              <a:rPr lang="en-US" altLang="ko-KR" sz="1400" b="1" dirty="0" err="1">
                <a:solidFill>
                  <a:srgbClr val="FF0000"/>
                </a:solidFill>
              </a:rPr>
              <a:t>ClusterRole</a:t>
            </a:r>
            <a:r>
              <a:rPr lang="en-US" altLang="ko-KR" sz="1400" b="1" dirty="0">
                <a:solidFill>
                  <a:srgbClr val="FF0000"/>
                </a:solidFill>
              </a:rPr>
              <a:t> or a namespace Role</a:t>
            </a:r>
            <a:r>
              <a:rPr lang="en-US" altLang="ko-KR" sz="1400" b="1" dirty="0"/>
              <a:t>”, anyone who is a member of that group gains access to the resources and verbs defined by that role</a:t>
            </a:r>
            <a:r>
              <a:rPr lang="en-US" altLang="ko-KR" sz="1400" dirty="0"/>
              <a:t>. Thus, to enable any individual to gain access to the group’s role, that </a:t>
            </a:r>
            <a:r>
              <a:rPr lang="en-US" altLang="ko-KR" sz="1400" b="1" dirty="0"/>
              <a:t>individual needs to be added to the group</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A6E1BE9-28CD-4DD9-926E-4970A8BF69B2}"/>
              </a:ext>
            </a:extLst>
          </p:cNvPr>
          <p:cNvPicPr>
            <a:picLocks noChangeAspect="1"/>
          </p:cNvPicPr>
          <p:nvPr/>
        </p:nvPicPr>
        <p:blipFill>
          <a:blip r:embed="rId2"/>
          <a:stretch>
            <a:fillRect/>
          </a:stretch>
        </p:blipFill>
        <p:spPr>
          <a:xfrm>
            <a:off x="3437422" y="2491865"/>
            <a:ext cx="5317156" cy="3725396"/>
          </a:xfrm>
          <a:prstGeom prst="rect">
            <a:avLst/>
          </a:prstGeom>
        </p:spPr>
      </p:pic>
    </p:spTree>
    <p:extLst>
      <p:ext uri="{BB962C8B-B14F-4D97-AF65-F5344CB8AC3E}">
        <p14:creationId xmlns:p14="http://schemas.microsoft.com/office/powerpoint/2010/main" val="48725693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Topics(4/5)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Groups for Bindings :</a:t>
            </a:r>
          </a:p>
          <a:p>
            <a:pPr lvl="1">
              <a:buFont typeface="Wingdings" panose="05000000000000000000" pitchFamily="2" charset="2"/>
              <a:buChar char="§"/>
            </a:pPr>
            <a:r>
              <a:rPr lang="en-US" altLang="ko-KR" sz="1400" b="1" dirty="0"/>
              <a:t>In any large organization, access to the cluster is defined in terms of the team that someone is part of, rather than their specific identity</a:t>
            </a:r>
            <a:r>
              <a:rPr lang="en-US" altLang="ko-KR" sz="1400" dirty="0"/>
              <a:t>. For example, someone who is part of the frontend operations team will need access to both view and edit the resources associated with the frontends, while they may only need view/read access to resources associated with the backend. </a:t>
            </a:r>
            <a:r>
              <a:rPr lang="en-US" altLang="ko-KR" sz="1400" b="1" dirty="0"/>
              <a:t>Granting privileges to a group makes the association between the specific team and its capabilities clear. </a:t>
            </a:r>
            <a:r>
              <a:rPr lang="en-US" altLang="ko-KR" sz="1400" dirty="0"/>
              <a:t>When granting roles to individuals, it’s much harder to clearly understand the appropriate (i.e., minimal) privileges required for each team, especially when an individual may be part of multiple different teams.</a:t>
            </a:r>
          </a:p>
          <a:p>
            <a:pPr lvl="1">
              <a:buFont typeface="Wingdings" panose="05000000000000000000" pitchFamily="2" charset="2"/>
              <a:buChar char="§"/>
            </a:pPr>
            <a:r>
              <a:rPr lang="en-US" altLang="ko-KR" sz="1400" b="1" dirty="0"/>
              <a:t>Additional benefits of binding roles to groups instead of individuals are simplicity and consistency</a:t>
            </a:r>
            <a:r>
              <a:rPr lang="en-US" altLang="ko-KR" sz="1400" dirty="0"/>
              <a:t>. When someone joins or leaves a team, it is straightforward to simply add or remove them to or from a group in a single operation. If you instead have to remove a number of different role bindings for their identity, you may either remove too few or too many bindings, resulting in unnecessary access or preventing them from being able to do necessary actions. </a:t>
            </a:r>
            <a:r>
              <a:rPr lang="en-US" altLang="ko-KR" sz="1400" b="1" dirty="0"/>
              <a:t>Additionally, because there is only a single set of group role bindings to maintain, you don’t have to do lots of work to ensure that all team members have the same, consistent set of permissions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38E48AF-E5EA-4E4B-9E20-D2FB8A5C58BD}"/>
              </a:ext>
            </a:extLst>
          </p:cNvPr>
          <p:cNvPicPr>
            <a:picLocks noChangeAspect="1"/>
          </p:cNvPicPr>
          <p:nvPr/>
        </p:nvPicPr>
        <p:blipFill>
          <a:blip r:embed="rId2"/>
          <a:stretch>
            <a:fillRect/>
          </a:stretch>
        </p:blipFill>
        <p:spPr>
          <a:xfrm>
            <a:off x="4480948" y="3709510"/>
            <a:ext cx="3230103" cy="2699520"/>
          </a:xfrm>
          <a:prstGeom prst="rect">
            <a:avLst/>
          </a:prstGeom>
        </p:spPr>
      </p:pic>
    </p:spTree>
    <p:extLst>
      <p:ext uri="{BB962C8B-B14F-4D97-AF65-F5344CB8AC3E}">
        <p14:creationId xmlns:p14="http://schemas.microsoft.com/office/powerpoint/2010/main" val="373285355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Topics(5/5)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Groups for Bindings :</a:t>
            </a:r>
          </a:p>
          <a:p>
            <a:pPr lvl="1">
              <a:buFont typeface="Wingdings" panose="05000000000000000000" pitchFamily="2" charset="2"/>
              <a:buChar char="§"/>
            </a:pPr>
            <a:r>
              <a:rPr lang="en-US" altLang="ko-KR" sz="1400" b="1" dirty="0"/>
              <a:t>Many group systems enable “just in time” (JIT) access such that people are only temporarily added to a group in response to an event </a:t>
            </a:r>
            <a:r>
              <a:rPr lang="en-US" altLang="ko-KR" sz="1400" dirty="0"/>
              <a:t>(say, a page in the middle of the night) </a:t>
            </a:r>
            <a:r>
              <a:rPr lang="en-US" altLang="ko-KR" sz="1400" b="1" dirty="0"/>
              <a:t>rather than having standing access</a:t>
            </a:r>
            <a:r>
              <a:rPr lang="en-US" altLang="ko-KR" sz="1400" dirty="0"/>
              <a:t>. This means that you can both </a:t>
            </a:r>
            <a:r>
              <a:rPr lang="en-US" altLang="ko-KR" sz="1400" b="1" dirty="0"/>
              <a:t>audit who had access at any particular time and ensure that, in general, even a compromised identity can’t have access to your production infrastructure</a:t>
            </a:r>
            <a:r>
              <a:rPr lang="en-US" altLang="ko-KR" sz="1400" dirty="0"/>
              <a:t>. </a:t>
            </a:r>
          </a:p>
          <a:p>
            <a:pPr lvl="1">
              <a:buFont typeface="Wingdings" panose="05000000000000000000" pitchFamily="2" charset="2"/>
              <a:buChar char="§"/>
            </a:pPr>
            <a:r>
              <a:rPr lang="en-US" altLang="ko-KR" sz="1400" b="1" dirty="0"/>
              <a:t>In many cases these same groups are used to manage access to other resources, from facilities to documents and machine logins</a:t>
            </a:r>
            <a:r>
              <a:rPr lang="en-US" altLang="ko-KR" sz="1400" dirty="0"/>
              <a:t>. </a:t>
            </a:r>
            <a:r>
              <a:rPr lang="en-US" altLang="ko-KR" sz="1400" b="1" dirty="0"/>
              <a:t>Thus, </a:t>
            </a:r>
            <a:r>
              <a:rPr lang="en-US" altLang="ko-KR" sz="1400" b="1" dirty="0">
                <a:solidFill>
                  <a:srgbClr val="FF0000"/>
                </a:solidFill>
              </a:rPr>
              <a:t>using the same groups for access control to Kubernetes dramatically simplifies management</a:t>
            </a:r>
            <a:r>
              <a:rPr lang="en-US" altLang="ko-KR" sz="1400" dirty="0"/>
              <a:t>. </a:t>
            </a:r>
          </a:p>
          <a:p>
            <a:pPr lvl="1">
              <a:buFont typeface="Wingdings" panose="05000000000000000000" pitchFamily="2" charset="2"/>
              <a:buChar char="§"/>
            </a:pPr>
            <a:r>
              <a:rPr lang="en-US" altLang="ko-KR" sz="1400" b="1" dirty="0"/>
              <a:t>To bind a group to a “</a:t>
            </a:r>
            <a:r>
              <a:rPr lang="en-US" altLang="ko-KR" sz="1400" b="1" dirty="0" err="1"/>
              <a:t>ClusterRole</a:t>
            </a:r>
            <a:r>
              <a:rPr lang="en-US" altLang="ko-KR" sz="1400" b="1" dirty="0"/>
              <a:t>” you use a “Group” kind for the subject in the binding </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In Kubernetes, </a:t>
            </a:r>
            <a:r>
              <a:rPr lang="en-US" altLang="ko-KR" sz="1400" b="1" dirty="0"/>
              <a:t>groups are supplied by authentication providers</a:t>
            </a:r>
            <a:r>
              <a:rPr lang="en-US" altLang="ko-KR" sz="1400" dirty="0"/>
              <a:t>. There is no strong notion of a group within Kubernetes, only that </a:t>
            </a:r>
            <a:r>
              <a:rPr lang="en-US" altLang="ko-KR" sz="1400" b="1" dirty="0"/>
              <a:t>an identity can be part of one or more groups</a:t>
            </a:r>
            <a:r>
              <a:rPr lang="en-US" altLang="ko-KR" sz="1400" dirty="0"/>
              <a:t>, and </a:t>
            </a:r>
            <a:r>
              <a:rPr lang="en-US" altLang="ko-KR" sz="1400" b="1" dirty="0"/>
              <a:t>those groups can be associated with a “Role” or “</a:t>
            </a:r>
            <a:r>
              <a:rPr lang="en-US" altLang="ko-KR" sz="1400" b="1" dirty="0" err="1"/>
              <a:t>ClusterRole</a:t>
            </a:r>
            <a:r>
              <a:rPr lang="en-US" altLang="ko-KR" sz="1400" b="1" dirty="0"/>
              <a:t>” via a binding</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6E157B80-F5CF-49DD-A612-C1FE44D16B28}"/>
              </a:ext>
            </a:extLst>
          </p:cNvPr>
          <p:cNvSpPr/>
          <p:nvPr/>
        </p:nvSpPr>
        <p:spPr>
          <a:xfrm>
            <a:off x="3048000" y="3049064"/>
            <a:ext cx="6096000" cy="1015663"/>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subjects:</a:t>
            </a:r>
          </a:p>
          <a:p>
            <a:r>
              <a:rPr lang="en-US" altLang="ko-KR" sz="1000" b="1" dirty="0"/>
              <a:t>- </a:t>
            </a:r>
            <a:r>
              <a:rPr lang="en-US" altLang="ko-KR" sz="1000" b="1" dirty="0" err="1"/>
              <a:t>apiGroup</a:t>
            </a:r>
            <a:r>
              <a:rPr lang="en-US" altLang="ko-KR" sz="1000" b="1" dirty="0"/>
              <a:t>: rbac.authorization.k8s.io</a:t>
            </a:r>
          </a:p>
          <a:p>
            <a:r>
              <a:rPr lang="en-US" altLang="ko-KR" sz="1000" b="1" dirty="0"/>
              <a:t>  kind: </a:t>
            </a:r>
            <a:r>
              <a:rPr lang="en-US" altLang="ko-KR" sz="1000" b="1" dirty="0">
                <a:solidFill>
                  <a:srgbClr val="FF0000"/>
                </a:solidFill>
              </a:rPr>
              <a:t>Group</a:t>
            </a:r>
          </a:p>
          <a:p>
            <a:r>
              <a:rPr lang="en-US" altLang="ko-KR" sz="1000" b="1" dirty="0"/>
              <a:t>  name: </a:t>
            </a:r>
            <a:r>
              <a:rPr lang="en-US" altLang="ko-KR" sz="1000" b="1" dirty="0">
                <a:solidFill>
                  <a:srgbClr val="FF0000"/>
                </a:solidFill>
              </a:rPr>
              <a:t>my-great-groups-name</a:t>
            </a:r>
          </a:p>
          <a:p>
            <a:r>
              <a:rPr lang="en-US" altLang="ko-KR" sz="1000" b="1" dirty="0"/>
              <a:t>...</a:t>
            </a:r>
            <a:endParaRPr lang="ko-KR" altLang="en-US" sz="1000" b="1" dirty="0"/>
          </a:p>
        </p:txBody>
      </p:sp>
      <p:pic>
        <p:nvPicPr>
          <p:cNvPr id="8" name="그림 7">
            <a:extLst>
              <a:ext uri="{FF2B5EF4-FFF2-40B4-BE49-F238E27FC236}">
                <a16:creationId xmlns:a16="http://schemas.microsoft.com/office/drawing/2014/main" id="{526071CF-6E2A-4DF9-B46D-ED36727649AD}"/>
              </a:ext>
            </a:extLst>
          </p:cNvPr>
          <p:cNvPicPr>
            <a:picLocks noChangeAspect="1"/>
          </p:cNvPicPr>
          <p:nvPr/>
        </p:nvPicPr>
        <p:blipFill>
          <a:blip r:embed="rId2"/>
          <a:stretch>
            <a:fillRect/>
          </a:stretch>
        </p:blipFill>
        <p:spPr>
          <a:xfrm>
            <a:off x="8023860" y="4838661"/>
            <a:ext cx="3329940" cy="1570369"/>
          </a:xfrm>
          <a:prstGeom prst="rect">
            <a:avLst/>
          </a:prstGeom>
          <a:ln>
            <a:solidFill>
              <a:schemeClr val="bg1">
                <a:lumMod val="50000"/>
              </a:schemeClr>
            </a:solidFill>
          </a:ln>
        </p:spPr>
      </p:pic>
    </p:spTree>
    <p:extLst>
      <p:ext uri="{BB962C8B-B14F-4D97-AF65-F5344CB8AC3E}">
        <p14:creationId xmlns:p14="http://schemas.microsoft.com/office/powerpoint/2010/main" val="335154400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Summary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Remember :</a:t>
            </a:r>
          </a:p>
          <a:p>
            <a:pPr lvl="1">
              <a:buFont typeface="Wingdings" panose="05000000000000000000" pitchFamily="2" charset="2"/>
              <a:buChar char="§"/>
            </a:pPr>
            <a:r>
              <a:rPr lang="en-US" altLang="ko-KR" sz="1400" dirty="0"/>
              <a:t>When you begin with a small cluster and a small team, it is sufficient to have every member of the team have equivalent access to the cluster. </a:t>
            </a:r>
            <a:r>
              <a:rPr lang="en-US" altLang="ko-KR" sz="1400" b="1" dirty="0"/>
              <a:t>But as teams grow and products become more mission critical, limiting access to parts of the cluster is crucial</a:t>
            </a:r>
            <a:r>
              <a:rPr lang="en-US" altLang="ko-KR" sz="1400" dirty="0"/>
              <a:t>. </a:t>
            </a:r>
          </a:p>
          <a:p>
            <a:pPr lvl="1">
              <a:buFont typeface="Wingdings" panose="05000000000000000000" pitchFamily="2" charset="2"/>
              <a:buChar char="§"/>
            </a:pPr>
            <a:r>
              <a:rPr lang="en-US" altLang="ko-KR" sz="1400" b="1" dirty="0"/>
              <a:t>In a well-designed cluster, access is limited to the minimal set of people and capabilities needed to efficiently manage the applications in the cluster</a:t>
            </a:r>
            <a:r>
              <a:rPr lang="en-US" altLang="ko-KR" sz="1400" dirty="0"/>
              <a:t>. Understanding how Kubernetes implements </a:t>
            </a:r>
            <a:r>
              <a:rPr lang="en-US" altLang="ko-KR" sz="1400" b="1" dirty="0"/>
              <a:t>RBAC</a:t>
            </a:r>
            <a:r>
              <a:rPr lang="en-US" altLang="ko-KR" sz="1400" dirty="0"/>
              <a:t> and how those capabilities can be used to control access to your cluster is important for both developers and cluster administrators.</a:t>
            </a:r>
          </a:p>
          <a:p>
            <a:pPr lvl="1">
              <a:buFont typeface="Wingdings" panose="05000000000000000000" pitchFamily="2" charset="2"/>
              <a:buChar char="§"/>
            </a:pPr>
            <a:r>
              <a:rPr lang="en-US" altLang="ko-KR" sz="1400" b="1" dirty="0"/>
              <a:t>As with building out testing infrastructure, best practice is to set up proper RBAC earlier rather than later</a:t>
            </a:r>
            <a:r>
              <a:rPr lang="en-US" altLang="ko-KR" sz="1400" dirty="0"/>
              <a:t>. It’s far easier to start with the right foundation than to try to retrofit it later 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30AA93B6-1604-4C3E-835C-01DB554A78DA}"/>
              </a:ext>
            </a:extLst>
          </p:cNvPr>
          <p:cNvGrpSpPr/>
          <p:nvPr/>
        </p:nvGrpSpPr>
        <p:grpSpPr>
          <a:xfrm>
            <a:off x="2097880" y="3078522"/>
            <a:ext cx="7996237" cy="3098441"/>
            <a:chOff x="2097880" y="3078522"/>
            <a:chExt cx="7996237" cy="3098441"/>
          </a:xfrm>
        </p:grpSpPr>
        <p:pic>
          <p:nvPicPr>
            <p:cNvPr id="4" name="그림 3">
              <a:extLst>
                <a:ext uri="{FF2B5EF4-FFF2-40B4-BE49-F238E27FC236}">
                  <a16:creationId xmlns:a16="http://schemas.microsoft.com/office/drawing/2014/main" id="{2720C111-7D40-4195-B745-17614A3D0BD4}"/>
                </a:ext>
              </a:extLst>
            </p:cNvPr>
            <p:cNvPicPr>
              <a:picLocks noChangeAspect="1"/>
            </p:cNvPicPr>
            <p:nvPr/>
          </p:nvPicPr>
          <p:blipFill>
            <a:blip r:embed="rId2"/>
            <a:stretch>
              <a:fillRect/>
            </a:stretch>
          </p:blipFill>
          <p:spPr>
            <a:xfrm>
              <a:off x="2097880" y="3078522"/>
              <a:ext cx="7996237" cy="3098441"/>
            </a:xfrm>
            <a:prstGeom prst="rect">
              <a:avLst/>
            </a:prstGeom>
          </p:spPr>
        </p:pic>
        <p:sp>
          <p:nvSpPr>
            <p:cNvPr id="8" name="화살표: 왼쪽/오른쪽 7">
              <a:extLst>
                <a:ext uri="{FF2B5EF4-FFF2-40B4-BE49-F238E27FC236}">
                  <a16:creationId xmlns:a16="http://schemas.microsoft.com/office/drawing/2014/main" id="{B35A21B6-2AEA-493F-9300-EABD993E9906}"/>
                </a:ext>
              </a:extLst>
            </p:cNvPr>
            <p:cNvSpPr/>
            <p:nvPr/>
          </p:nvSpPr>
          <p:spPr>
            <a:xfrm>
              <a:off x="5836918" y="3280410"/>
              <a:ext cx="518160" cy="297180"/>
            </a:xfrm>
            <a:prstGeom prst="leftRightArrow">
              <a:avLst>
                <a:gd name="adj1" fmla="val 50000"/>
                <a:gd name="adj2" fmla="val 5000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3796541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Application Development Evolution</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Architecture and Operation :</a:t>
            </a:r>
          </a:p>
          <a:p>
            <a:pPr lvl="1">
              <a:buFont typeface="Wingdings" panose="05000000000000000000" pitchFamily="2" charset="2"/>
              <a:buChar char="§"/>
            </a:pPr>
            <a:r>
              <a:rPr lang="en-US" altLang="ko-KR" sz="1400" dirty="0"/>
              <a:t>Reduce coupling and increase cohesion.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7C896736-21C9-44A9-945D-7A27CEE46BA6}"/>
              </a:ext>
            </a:extLst>
          </p:cNvPr>
          <p:cNvPicPr>
            <a:picLocks noChangeAspect="1"/>
          </p:cNvPicPr>
          <p:nvPr/>
        </p:nvPicPr>
        <p:blipFill>
          <a:blip r:embed="rId2"/>
          <a:stretch>
            <a:fillRect/>
          </a:stretch>
        </p:blipFill>
        <p:spPr>
          <a:xfrm>
            <a:off x="1953713" y="1828800"/>
            <a:ext cx="8284573" cy="3393020"/>
          </a:xfrm>
          <a:prstGeom prst="rect">
            <a:avLst/>
          </a:prstGeom>
        </p:spPr>
      </p:pic>
    </p:spTree>
    <p:extLst>
      <p:ext uri="{BB962C8B-B14F-4D97-AF65-F5344CB8AC3E}">
        <p14:creationId xmlns:p14="http://schemas.microsoft.com/office/powerpoint/2010/main" val="101800319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Kubernetes Objects Big Picture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Relationships between Objects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CAA2E93-66DF-44FC-B68E-7DEFB112FA55}"/>
              </a:ext>
            </a:extLst>
          </p:cNvPr>
          <p:cNvPicPr>
            <a:picLocks noChangeAspect="1"/>
          </p:cNvPicPr>
          <p:nvPr/>
        </p:nvPicPr>
        <p:blipFill>
          <a:blip r:embed="rId2"/>
          <a:stretch>
            <a:fillRect/>
          </a:stretch>
        </p:blipFill>
        <p:spPr>
          <a:xfrm>
            <a:off x="3422756" y="1600200"/>
            <a:ext cx="5346488" cy="4267810"/>
          </a:xfrm>
          <a:prstGeom prst="rect">
            <a:avLst/>
          </a:prstGeom>
        </p:spPr>
      </p:pic>
    </p:spTree>
    <p:extLst>
      <p:ext uri="{BB962C8B-B14F-4D97-AF65-F5344CB8AC3E}">
        <p14:creationId xmlns:p14="http://schemas.microsoft.com/office/powerpoint/2010/main" val="243563246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823973"/>
            <a:ext cx="10515600" cy="5352990"/>
          </a:xfrm>
        </p:spPr>
        <p:txBody>
          <a:bodyPr>
            <a:normAutofit/>
          </a:bodyPr>
          <a:lstStyle/>
          <a:p>
            <a:pPr marL="0" indent="0">
              <a:buNone/>
            </a:pPr>
            <a:r>
              <a:rPr lang="en-US" altLang="ko-KR" sz="1400" b="1" dirty="0"/>
              <a:t>[1] Kubernetes: Up and Running, Dive into the Future of Infrastructure, Brendan Burns, Joe Beda, and Kelsey Hightower, </a:t>
            </a:r>
            <a:r>
              <a:rPr lang="en-US" altLang="ko-KR" sz="1400" b="1" dirty="0" err="1"/>
              <a:t>Oreilly</a:t>
            </a:r>
            <a:r>
              <a:rPr lang="en-US" altLang="ko-KR" sz="1400" b="1" dirty="0"/>
              <a:t>, 2</a:t>
            </a:r>
            <a:r>
              <a:rPr lang="en-US" altLang="ko-KR" sz="1400" b="1" baseline="30000" dirty="0"/>
              <a:t>nd</a:t>
            </a:r>
            <a:r>
              <a:rPr lang="en-US" altLang="ko-KR" sz="1400" b="1" dirty="0"/>
              <a:t> Edition, 2019. </a:t>
            </a:r>
          </a:p>
          <a:p>
            <a:pPr marL="0" indent="0">
              <a:buNone/>
            </a:pPr>
            <a:r>
              <a:rPr lang="en-US" altLang="ko-KR" sz="1400" b="1" dirty="0"/>
              <a:t>[2] </a:t>
            </a:r>
            <a:r>
              <a:rPr lang="en-US" altLang="ko-KR" sz="1400" b="1" dirty="0">
                <a:hlinkClick r:id="rId2"/>
              </a:rPr>
              <a:t>https://github.com/kubernetes-up-and-running/examples</a:t>
            </a:r>
            <a:endParaRPr lang="en-US" altLang="ko-KR" sz="1400" b="1" dirty="0"/>
          </a:p>
          <a:p>
            <a:pPr marL="0" indent="0">
              <a:buNone/>
            </a:pPr>
            <a:r>
              <a:rPr lang="en-US" altLang="ko-KR" sz="1400" b="1" dirty="0"/>
              <a:t>[3] </a:t>
            </a:r>
            <a:r>
              <a:rPr lang="en-US" altLang="ko-KR" sz="1400" b="1" dirty="0">
                <a:hlinkClick r:id="rId3"/>
              </a:rPr>
              <a:t>https://labs.play-with-k8s.com/</a:t>
            </a:r>
            <a:endParaRPr lang="en-US" altLang="ko-KR" sz="1400" b="1" dirty="0"/>
          </a:p>
          <a:p>
            <a:pPr marL="0" indent="0">
              <a:buNone/>
            </a:pPr>
            <a:r>
              <a:rPr lang="en-US" altLang="ko-KR" sz="1400" b="1" dirty="0"/>
              <a:t>[4] </a:t>
            </a:r>
            <a:r>
              <a:rPr lang="en-US" altLang="ko-KR" sz="1400" b="1" dirty="0">
                <a:hlinkClick r:id="rId4"/>
              </a:rPr>
              <a:t>https://github.com/kubernetes-up-and-running/kuard</a:t>
            </a:r>
            <a:endParaRPr lang="en-US" altLang="ko-KR" sz="1400" b="1" dirty="0"/>
          </a:p>
          <a:p>
            <a:pPr marL="0" indent="0">
              <a:buNone/>
            </a:pPr>
            <a:r>
              <a:rPr lang="en-US" altLang="ko-KR" sz="1400" b="1" dirty="0"/>
              <a:t>[5] </a:t>
            </a:r>
            <a:r>
              <a:rPr lang="en-US" altLang="ko-KR" sz="1400" b="1" dirty="0">
                <a:hlinkClick r:id="rId5"/>
              </a:rPr>
              <a:t>https://fixes.co.za/kubernetes/kubernetes-up-and-running/</a:t>
            </a:r>
            <a:endParaRPr lang="en-US" altLang="ko-KR" sz="1400" b="1" dirty="0"/>
          </a:p>
          <a:p>
            <a:pPr marL="0" indent="0">
              <a:buNone/>
            </a:pPr>
            <a:r>
              <a:rPr lang="en-US" altLang="ko-KR" sz="1400" b="1" dirty="0"/>
              <a:t>[6] </a:t>
            </a:r>
            <a:r>
              <a:rPr lang="en-US" altLang="ko-KR" sz="1400" b="1" dirty="0">
                <a:hlinkClick r:id="rId6"/>
              </a:rPr>
              <a:t>https://www.redhat.com/ko/topics/containers/what-is-etcd</a:t>
            </a:r>
            <a:r>
              <a:rPr lang="en-US" altLang="ko-KR" sz="1400" b="1" dirty="0"/>
              <a:t> </a:t>
            </a:r>
          </a:p>
          <a:p>
            <a:pPr marL="0" indent="0">
              <a:buNone/>
            </a:pPr>
            <a:r>
              <a:rPr lang="en-US" altLang="ko-KR" sz="1400" b="1" dirty="0"/>
              <a:t>[7] </a:t>
            </a:r>
            <a:r>
              <a:rPr lang="en-US" altLang="ko-KR" sz="1400" b="1" dirty="0">
                <a:hlinkClick r:id="rId7"/>
              </a:rPr>
              <a:t>https://devopscube.com/build-docker-image-kubernetes-pod/</a:t>
            </a:r>
            <a:endParaRPr lang="en-US" altLang="ko-KR" sz="1400" b="1" dirty="0"/>
          </a:p>
          <a:p>
            <a:pPr marL="0" indent="0">
              <a:buNone/>
            </a:pPr>
            <a:r>
              <a:rPr lang="en-US" altLang="ko-KR" sz="1400" b="1" dirty="0"/>
              <a:t>[8] </a:t>
            </a:r>
            <a:r>
              <a:rPr lang="en-US" altLang="ko-KR" sz="1400" b="1" dirty="0">
                <a:hlinkClick r:id="rId8"/>
              </a:rPr>
              <a:t>https://kubernetes.io/docs/reference/access-authn-authz/rbac/</a:t>
            </a:r>
            <a:r>
              <a:rPr lang="en-US" altLang="ko-KR" sz="1400" b="1" dirty="0"/>
              <a:t>  </a:t>
            </a:r>
          </a:p>
        </p:txBody>
      </p:sp>
      <p:sp>
        <p:nvSpPr>
          <p:cNvPr id="5" name="날짜 개체 틀 4">
            <a:extLst>
              <a:ext uri="{FF2B5EF4-FFF2-40B4-BE49-F238E27FC236}">
                <a16:creationId xmlns:a16="http://schemas.microsoft.com/office/drawing/2014/main" id="{71F25A6A-304E-4639-90AF-E4FB371FA41F}"/>
              </a:ext>
            </a:extLst>
          </p:cNvPr>
          <p:cNvSpPr>
            <a:spLocks noGrp="1"/>
          </p:cNvSpPr>
          <p:nvPr>
            <p:ph type="dt" sz="half" idx="10"/>
          </p:nvPr>
        </p:nvSpPr>
        <p:spPr/>
        <p:txBody>
          <a:bodyPr/>
          <a:lstStyle/>
          <a:p>
            <a:fld id="{54654E97-B81D-448F-BE65-F0EB75A60915}"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1F8D8AB8-381F-4242-8AFA-B0E9DE538CFE}"/>
              </a:ext>
            </a:extLst>
          </p:cNvPr>
          <p:cNvSpPr>
            <a:spLocks noGrp="1"/>
          </p:cNvSpPr>
          <p:nvPr>
            <p:ph type="sldNum" sz="quarter" idx="12"/>
          </p:nvPr>
        </p:nvSpPr>
        <p:spPr/>
        <p:txBody>
          <a:bodyPr/>
          <a:lstStyle/>
          <a:p>
            <a:fld id="{34C98182-889D-4BA7-ABC9-29B15B402893}" type="slidenum">
              <a:rPr lang="ko-KR" altLang="en-US" smtClean="0"/>
              <a:t>101</a:t>
            </a:fld>
            <a:endParaRPr lang="ko-KR" altLang="en-US"/>
          </a:p>
        </p:txBody>
      </p:sp>
      <p:cxnSp>
        <p:nvCxnSpPr>
          <p:cNvPr id="9" name="직선 연결선 8">
            <a:extLst>
              <a:ext uri="{FF2B5EF4-FFF2-40B4-BE49-F238E27FC236}">
                <a16:creationId xmlns:a16="http://schemas.microsoft.com/office/drawing/2014/main" id="{693BF51C-B510-4B04-B7A1-BEEFBB6CE968}"/>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F9582E8-13A6-4248-A570-E642AB1BB67D}"/>
              </a:ext>
            </a:extLst>
          </p:cNvPr>
          <p:cNvPicPr>
            <a:picLocks noChangeAspect="1"/>
          </p:cNvPicPr>
          <p:nvPr/>
        </p:nvPicPr>
        <p:blipFill>
          <a:blip r:embed="rId9"/>
          <a:stretch>
            <a:fillRect/>
          </a:stretch>
        </p:blipFill>
        <p:spPr>
          <a:xfrm>
            <a:off x="5231531" y="4091940"/>
            <a:ext cx="1728938" cy="2264410"/>
          </a:xfrm>
          <a:prstGeom prst="rect">
            <a:avLst/>
          </a:prstGeom>
          <a:ln>
            <a:solidFill>
              <a:schemeClr val="bg1">
                <a:lumMod val="50000"/>
              </a:schemeClr>
            </a:solidFill>
          </a:ln>
        </p:spPr>
      </p:pic>
    </p:spTree>
    <p:extLst>
      <p:ext uri="{BB962C8B-B14F-4D97-AF65-F5344CB8AC3E}">
        <p14:creationId xmlns:p14="http://schemas.microsoft.com/office/powerpoint/2010/main" val="84487956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BD483CEA-56F2-47AB-BFA1-132A8DDCC80B}"/>
              </a:ext>
            </a:extLst>
          </p:cNvPr>
          <p:cNvSpPr>
            <a:spLocks noGrp="1"/>
          </p:cNvSpPr>
          <p:nvPr>
            <p:ph type="dt" sz="half" idx="10"/>
          </p:nvPr>
        </p:nvSpPr>
        <p:spPr/>
        <p:txBody>
          <a:bodyPr/>
          <a:lstStyle/>
          <a:p>
            <a:fld id="{6A8ABF0E-5B75-4D4D-BF96-82EF72C3019F}" type="datetime1">
              <a:rPr lang="ko-KR" altLang="en-US" smtClean="0"/>
              <a:t>2026-08-21</a:t>
            </a:fld>
            <a:endParaRPr lang="ko-KR" altLang="en-US"/>
          </a:p>
        </p:txBody>
      </p:sp>
      <p:sp>
        <p:nvSpPr>
          <p:cNvPr id="6" name="슬라이드 번호 개체 틀 5">
            <a:extLst>
              <a:ext uri="{FF2B5EF4-FFF2-40B4-BE49-F238E27FC236}">
                <a16:creationId xmlns:a16="http://schemas.microsoft.com/office/drawing/2014/main" id="{85979C9C-7B4D-4A38-B1F9-F720E58BA8DC}"/>
              </a:ext>
            </a:extLst>
          </p:cNvPr>
          <p:cNvSpPr>
            <a:spLocks noGrp="1"/>
          </p:cNvSpPr>
          <p:nvPr>
            <p:ph type="sldNum" sz="quarter" idx="12"/>
          </p:nvPr>
        </p:nvSpPr>
        <p:spPr/>
        <p:txBody>
          <a:bodyPr/>
          <a:lstStyle/>
          <a:p>
            <a:fld id="{34C98182-889D-4BA7-ABC9-29B15B402893}" type="slidenum">
              <a:rPr lang="ko-KR" altLang="en-US" smtClean="0"/>
              <a:t>102</a:t>
            </a:fld>
            <a:endParaRPr lang="ko-KR" altLang="en-US"/>
          </a:p>
        </p:txBody>
      </p:sp>
      <p:cxnSp>
        <p:nvCxnSpPr>
          <p:cNvPr id="9" name="직선 연결선 8">
            <a:extLst>
              <a:ext uri="{FF2B5EF4-FFF2-40B4-BE49-F238E27FC236}">
                <a16:creationId xmlns:a16="http://schemas.microsoft.com/office/drawing/2014/main" id="{B671BC0C-7CE8-4BB6-A4DB-3EA4386487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58424194-75B7-4C81-BAF0-83EAB1BDC610}"/>
              </a:ext>
            </a:extLst>
          </p:cNvPr>
          <p:cNvPicPr>
            <a:picLocks noChangeAspect="1"/>
          </p:cNvPicPr>
          <p:nvPr/>
        </p:nvPicPr>
        <p:blipFill>
          <a:blip r:embed="rId2">
            <a:biLevel thresh="75000"/>
          </a:blip>
          <a:stretch>
            <a:fillRect/>
          </a:stretch>
        </p:blipFill>
        <p:spPr>
          <a:xfrm>
            <a:off x="4422750" y="2072013"/>
            <a:ext cx="3346499" cy="2713974"/>
          </a:xfrm>
          <a:prstGeom prst="rect">
            <a:avLst/>
          </a:prstGeom>
        </p:spPr>
      </p:pic>
    </p:spTree>
    <p:extLst>
      <p:ext uri="{BB962C8B-B14F-4D97-AF65-F5344CB8AC3E}">
        <p14:creationId xmlns:p14="http://schemas.microsoft.com/office/powerpoint/2010/main" val="20279317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ctr">
          <a:defRPr sz="10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126600</TotalTime>
  <Words>13182</Words>
  <Application>Microsoft Office PowerPoint</Application>
  <PresentationFormat>와이드스크린</PresentationFormat>
  <Paragraphs>1256</Paragraphs>
  <Slides>102</Slides>
  <Notes>0</Notes>
  <HiddenSlides>0</HiddenSlides>
  <MMClips>0</MMClips>
  <ScaleCrop>false</ScaleCrop>
  <HeadingPairs>
    <vt:vector size="8" baseType="variant">
      <vt:variant>
        <vt:lpstr>사용한 글꼴</vt:lpstr>
      </vt:variant>
      <vt:variant>
        <vt:i4>3</vt:i4>
      </vt:variant>
      <vt:variant>
        <vt:lpstr>테마</vt:lpstr>
      </vt:variant>
      <vt:variant>
        <vt:i4>1</vt:i4>
      </vt:variant>
      <vt:variant>
        <vt:lpstr>포함된 OLE 서버</vt:lpstr>
      </vt:variant>
      <vt:variant>
        <vt:i4>1</vt:i4>
      </vt:variant>
      <vt:variant>
        <vt:lpstr>슬라이드 제목</vt:lpstr>
      </vt:variant>
      <vt:variant>
        <vt:i4>102</vt:i4>
      </vt:variant>
    </vt:vector>
  </HeadingPairs>
  <TitlesOfParts>
    <vt:vector size="107" baseType="lpstr">
      <vt:lpstr>맑은 고딕</vt:lpstr>
      <vt:lpstr>Arial</vt:lpstr>
      <vt:lpstr>Wingdings</vt:lpstr>
      <vt:lpstr>Office 테마</vt:lpstr>
      <vt:lpstr>비트맵 이미지</vt:lpstr>
      <vt:lpstr>Kubernetes</vt:lpstr>
      <vt:lpstr>DaemonSets</vt:lpstr>
      <vt:lpstr>Introduction(1/2)</vt:lpstr>
      <vt:lpstr>Introduction(2/2)</vt:lpstr>
      <vt:lpstr>DaemonSet Scheduler(1/2)</vt:lpstr>
      <vt:lpstr>DaemonSet Scheduler(2/2)</vt:lpstr>
      <vt:lpstr>Creating DaemonSets(1/4)</vt:lpstr>
      <vt:lpstr>Creating DaemonSets(2/4)</vt:lpstr>
      <vt:lpstr>Creating DaemonSets(3/4)</vt:lpstr>
      <vt:lpstr>Creating DaemonSets(4/4)</vt:lpstr>
      <vt:lpstr>Limiting DaemonSets to Specific Nodes(1/4)</vt:lpstr>
      <vt:lpstr>Limiting DaemonSets to Specific Nodes(2/4)</vt:lpstr>
      <vt:lpstr>Limiting DaemonSets to Specific Nodes(3/4)</vt:lpstr>
      <vt:lpstr>Limiting DaemonSets to Specific Nodes(4/4)</vt:lpstr>
      <vt:lpstr>Updating a DaemonSet(1/2)</vt:lpstr>
      <vt:lpstr>Updating a DaemonSet(2/2)</vt:lpstr>
      <vt:lpstr>Deleting a DaemonSet</vt:lpstr>
      <vt:lpstr>NOTE - Summary</vt:lpstr>
      <vt:lpstr>Jobs</vt:lpstr>
      <vt:lpstr>Introduction</vt:lpstr>
      <vt:lpstr>The Job Object</vt:lpstr>
      <vt:lpstr>Job Pattern(1/21)</vt:lpstr>
      <vt:lpstr>Job Pattern(2/21)</vt:lpstr>
      <vt:lpstr>Job Pattern(3/21)</vt:lpstr>
      <vt:lpstr>Job Pattern(4/21)</vt:lpstr>
      <vt:lpstr>Job Pattern(5/21)</vt:lpstr>
      <vt:lpstr>Job Pattern(6/21)</vt:lpstr>
      <vt:lpstr>Job Pattern(7/21)</vt:lpstr>
      <vt:lpstr>Job Pattern(8/21)</vt:lpstr>
      <vt:lpstr>Job Pattern(9/21)</vt:lpstr>
      <vt:lpstr>Job Pattern(10/21)</vt:lpstr>
      <vt:lpstr>Job Pattern(11/21)</vt:lpstr>
      <vt:lpstr>Job Pattern(12/21)</vt:lpstr>
      <vt:lpstr>Job Pattern(13/21)</vt:lpstr>
      <vt:lpstr>Job Pattern(14/21)</vt:lpstr>
      <vt:lpstr>Job Pattern(15/21)</vt:lpstr>
      <vt:lpstr>Job Pattern(16/21)</vt:lpstr>
      <vt:lpstr>Job Pattern(17/21)</vt:lpstr>
      <vt:lpstr>Job Pattern(18/21)</vt:lpstr>
      <vt:lpstr>Job Pattern(19/21)</vt:lpstr>
      <vt:lpstr>Job Pattern(20/21)</vt:lpstr>
      <vt:lpstr>Job Pattern(21/21)</vt:lpstr>
      <vt:lpstr>CronJobs(1/2)</vt:lpstr>
      <vt:lpstr>CronJobs(2/2)</vt:lpstr>
      <vt:lpstr>NOTE : Summary</vt:lpstr>
      <vt:lpstr>ConfigMaps and Secrets</vt:lpstr>
      <vt:lpstr>Introduction</vt:lpstr>
      <vt:lpstr>ConfigMaps(1/9)</vt:lpstr>
      <vt:lpstr>ConfigMaps(2/9)</vt:lpstr>
      <vt:lpstr>ConfigMaps(3/9)</vt:lpstr>
      <vt:lpstr>ConfigMaps(4/9)</vt:lpstr>
      <vt:lpstr>ConfigMaps(5/9)</vt:lpstr>
      <vt:lpstr>ConfigMaps(6/9)</vt:lpstr>
      <vt:lpstr>ConfigMaps(7/9)</vt:lpstr>
      <vt:lpstr>ConfigMaps(8/9)</vt:lpstr>
      <vt:lpstr>ConfigMaps(9/9)</vt:lpstr>
      <vt:lpstr>Secrets(1/9)</vt:lpstr>
      <vt:lpstr>Secrets(2/9)</vt:lpstr>
      <vt:lpstr>Secrets(3/9)</vt:lpstr>
      <vt:lpstr>NOTE : Secrets in Kubernetes</vt:lpstr>
      <vt:lpstr>Secrets(4/9)</vt:lpstr>
      <vt:lpstr>Secrets(5/9)</vt:lpstr>
      <vt:lpstr>Secrets(6/9)</vt:lpstr>
      <vt:lpstr>Secrets(7/9)</vt:lpstr>
      <vt:lpstr>NOTE : Browsing File System in Kuard</vt:lpstr>
      <vt:lpstr>Secrets(8/9)</vt:lpstr>
      <vt:lpstr>Secrets(9/9)</vt:lpstr>
      <vt:lpstr>NOTE : Running “Image Pull Secrets”</vt:lpstr>
      <vt:lpstr>Naming Constraints</vt:lpstr>
      <vt:lpstr>Managing ConfigMaps and Secrets(1/7)</vt:lpstr>
      <vt:lpstr>Managing ConfigMaps and Secrets(2/7)</vt:lpstr>
      <vt:lpstr>Managing ConfigMaps and Secrets(3/7)</vt:lpstr>
      <vt:lpstr>Managing ConfigMaps and Secrets(4/7)</vt:lpstr>
      <vt:lpstr>Managing ConfigMaps and Secrets(5/7)</vt:lpstr>
      <vt:lpstr>Managing ConfigMaps and Secrets(6/7)</vt:lpstr>
      <vt:lpstr>Managing ConfigMaps and Secrets(7/7)</vt:lpstr>
      <vt:lpstr>NOTE : Summary</vt:lpstr>
      <vt:lpstr>Role-Based Access Control(RBAC) for Kubernetes</vt:lpstr>
      <vt:lpstr>Introduction(1/2)</vt:lpstr>
      <vt:lpstr>Introduction(2/2)</vt:lpstr>
      <vt:lpstr>Role-Based Access Control(1/10)</vt:lpstr>
      <vt:lpstr>Role-Based Access Control(2/10)</vt:lpstr>
      <vt:lpstr>Role-Based Access Control(3/10)</vt:lpstr>
      <vt:lpstr>Role-Based Access Control(4/10)</vt:lpstr>
      <vt:lpstr>Role-Based Access Control(5/10)</vt:lpstr>
      <vt:lpstr>Role-Based Access Control(6/10)</vt:lpstr>
      <vt:lpstr>Role-Based Access Control(7/10)</vt:lpstr>
      <vt:lpstr>Role-Based Access Control(8/10)</vt:lpstr>
      <vt:lpstr>Role-Based Access Control(9/10)</vt:lpstr>
      <vt:lpstr>Role-Based Access Control(10/10)</vt:lpstr>
      <vt:lpstr>Techniques for Managing RBAC(1/2)</vt:lpstr>
      <vt:lpstr>Techniques for Managing RBAC(2/2)</vt:lpstr>
      <vt:lpstr>Advanced Topics(1/5)</vt:lpstr>
      <vt:lpstr>Advanced Topics(2/5)</vt:lpstr>
      <vt:lpstr>Advanced Topics(3/5)</vt:lpstr>
      <vt:lpstr>Advanced Topics(4/5)</vt:lpstr>
      <vt:lpstr>Advanced Topics(5/5)</vt:lpstr>
      <vt:lpstr>NOTE : Summary</vt:lpstr>
      <vt:lpstr>NOTE : Application Development Evolution</vt:lpstr>
      <vt:lpstr>NOTE : Kubernetes Objects Big Picture</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수호 권</cp:lastModifiedBy>
  <cp:revision>5497</cp:revision>
  <dcterms:created xsi:type="dcterms:W3CDTF">2020-11-26T08:00:10Z</dcterms:created>
  <dcterms:modified xsi:type="dcterms:W3CDTF">2026-08-21T07:51:13Z</dcterms:modified>
</cp:coreProperties>
</file>