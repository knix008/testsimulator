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55"/>
  </p:notesMasterIdLst>
  <p:sldIdLst>
    <p:sldId id="256" r:id="rId2"/>
    <p:sldId id="776" r:id="rId3"/>
    <p:sldId id="1195" r:id="rId4"/>
    <p:sldId id="1200" r:id="rId5"/>
    <p:sldId id="1201" r:id="rId6"/>
    <p:sldId id="1202" r:id="rId7"/>
    <p:sldId id="1203" r:id="rId8"/>
    <p:sldId id="1204" r:id="rId9"/>
    <p:sldId id="1205" r:id="rId10"/>
    <p:sldId id="1206" r:id="rId11"/>
    <p:sldId id="1207" r:id="rId12"/>
    <p:sldId id="1208" r:id="rId13"/>
    <p:sldId id="1209" r:id="rId14"/>
    <p:sldId id="1210" r:id="rId15"/>
    <p:sldId id="1211" r:id="rId16"/>
    <p:sldId id="1212" r:id="rId17"/>
    <p:sldId id="1213" r:id="rId18"/>
    <p:sldId id="1214" r:id="rId19"/>
    <p:sldId id="1215" r:id="rId20"/>
    <p:sldId id="1216" r:id="rId21"/>
    <p:sldId id="1217" r:id="rId22"/>
    <p:sldId id="1218" r:id="rId23"/>
    <p:sldId id="1219" r:id="rId24"/>
    <p:sldId id="1220" r:id="rId25"/>
    <p:sldId id="1241" r:id="rId26"/>
    <p:sldId id="1198" r:id="rId27"/>
    <p:sldId id="1196" r:id="rId28"/>
    <p:sldId id="1197" r:id="rId29"/>
    <p:sldId id="1199" r:id="rId30"/>
    <p:sldId id="1221" r:id="rId31"/>
    <p:sldId id="1222" r:id="rId32"/>
    <p:sldId id="1223" r:id="rId33"/>
    <p:sldId id="1244" r:id="rId34"/>
    <p:sldId id="1224" r:id="rId35"/>
    <p:sldId id="1243" r:id="rId36"/>
    <p:sldId id="1245" r:id="rId37"/>
    <p:sldId id="1227" r:id="rId38"/>
    <p:sldId id="1225" r:id="rId39"/>
    <p:sldId id="1246" r:id="rId40"/>
    <p:sldId id="1226" r:id="rId41"/>
    <p:sldId id="1228" r:id="rId42"/>
    <p:sldId id="1247" r:id="rId43"/>
    <p:sldId id="1248" r:id="rId44"/>
    <p:sldId id="1229" r:id="rId45"/>
    <p:sldId id="1230" r:id="rId46"/>
    <p:sldId id="1232" r:id="rId47"/>
    <p:sldId id="1242" r:id="rId48"/>
    <p:sldId id="1249" r:id="rId49"/>
    <p:sldId id="1250" r:id="rId50"/>
    <p:sldId id="1251" r:id="rId51"/>
    <p:sldId id="1252" r:id="rId52"/>
    <p:sldId id="281" r:id="rId53"/>
    <p:sldId id="259" r:id="rId54"/>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빅터 (권수호)" initials="빅(" lastIdx="1" clrIdx="0">
    <p:extLst>
      <p:ext uri="{19B8F6BF-5375-455C-9EA6-DF929625EA0E}">
        <p15:presenceInfo xmlns:p15="http://schemas.microsoft.com/office/powerpoint/2012/main" userId="S-1-5-21-736389252-3530206494-3470180472-100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보통 스타일 2 - 강조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보통 스타일 2 - 강조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보통 스타일 2 - 강조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375" autoAdjust="0"/>
    <p:restoredTop sz="94660"/>
  </p:normalViewPr>
  <p:slideViewPr>
    <p:cSldViewPr snapToGrid="0">
      <p:cViewPr varScale="1">
        <p:scale>
          <a:sx n="122" d="100"/>
          <a:sy n="122" d="100"/>
        </p:scale>
        <p:origin x="126" y="4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EF9866-EDA7-412E-9943-EC1619E1B9B3}" type="datetimeFigureOut">
              <a:rPr lang="ko-KR" altLang="en-US" smtClean="0"/>
              <a:t>2026-08-18</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B7BD4D-98D7-4ECB-9666-1F944AD0DB97}" type="slidenum">
              <a:rPr lang="ko-KR" altLang="en-US" smtClean="0"/>
              <a:t>‹#›</a:t>
            </a:fld>
            <a:endParaRPr lang="ko-KR" altLang="en-US"/>
          </a:p>
        </p:txBody>
      </p:sp>
    </p:spTree>
    <p:extLst>
      <p:ext uri="{BB962C8B-B14F-4D97-AF65-F5344CB8AC3E}">
        <p14:creationId xmlns:p14="http://schemas.microsoft.com/office/powerpoint/2010/main" val="3027187884"/>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923893C-0324-4581-89FE-8A8E43B5E0DB}"/>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D1BF58F6-155A-4478-ADFD-FD3F7A2DC0E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BB7BB740-692B-4FA6-BCDC-10D5D007026F}"/>
              </a:ext>
            </a:extLst>
          </p:cNvPr>
          <p:cNvSpPr>
            <a:spLocks noGrp="1"/>
          </p:cNvSpPr>
          <p:nvPr>
            <p:ph type="dt" sz="half" idx="10"/>
          </p:nvPr>
        </p:nvSpPr>
        <p:spPr/>
        <p:txBody>
          <a:bodyPr/>
          <a:lstStyle/>
          <a:p>
            <a:fld id="{7007662A-90A0-422F-86C7-28633F226238}" type="datetime1">
              <a:rPr lang="ko-KR" altLang="en-US" smtClean="0"/>
              <a:t>2026-08-18</a:t>
            </a:fld>
            <a:endParaRPr lang="ko-KR" altLang="en-US"/>
          </a:p>
        </p:txBody>
      </p:sp>
      <p:sp>
        <p:nvSpPr>
          <p:cNvPr id="5" name="바닥글 개체 틀 4">
            <a:extLst>
              <a:ext uri="{FF2B5EF4-FFF2-40B4-BE49-F238E27FC236}">
                <a16:creationId xmlns:a16="http://schemas.microsoft.com/office/drawing/2014/main" id="{4FE33567-1257-4493-B1DD-3F9C1910B965}"/>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B74C17BC-E7B6-4C2E-9DE5-9AF1C51D3071}"/>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32389213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1574505-BAB9-46BA-B586-7AAAC8886217}"/>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AC3A8096-0680-4B11-9CB2-4FED24895F89}"/>
              </a:ext>
            </a:extLst>
          </p:cNvPr>
          <p:cNvSpPr>
            <a:spLocks noGrp="1"/>
          </p:cNvSpPr>
          <p:nvPr>
            <p:ph idx="1"/>
          </p:nvPr>
        </p:nvSpPr>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AD0A38AB-D330-49F0-BCCB-4AE64421E11E}"/>
              </a:ext>
            </a:extLst>
          </p:cNvPr>
          <p:cNvSpPr>
            <a:spLocks noGrp="1"/>
          </p:cNvSpPr>
          <p:nvPr>
            <p:ph type="dt" sz="half" idx="10"/>
          </p:nvPr>
        </p:nvSpPr>
        <p:spPr/>
        <p:txBody>
          <a:bodyPr/>
          <a:lstStyle/>
          <a:p>
            <a:fld id="{8864E73B-4F23-434A-A6D7-88271ACC49EC}" type="datetime1">
              <a:rPr lang="ko-KR" altLang="en-US" smtClean="0"/>
              <a:t>2026-08-18</a:t>
            </a:fld>
            <a:endParaRPr lang="ko-KR" altLang="en-US"/>
          </a:p>
        </p:txBody>
      </p:sp>
      <p:sp>
        <p:nvSpPr>
          <p:cNvPr id="5" name="바닥글 개체 틀 4">
            <a:extLst>
              <a:ext uri="{FF2B5EF4-FFF2-40B4-BE49-F238E27FC236}">
                <a16:creationId xmlns:a16="http://schemas.microsoft.com/office/drawing/2014/main" id="{3E8BC20B-0BDE-4AE7-ACF6-D32838B0BFA0}"/>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DDFC554E-AD93-49DB-9B26-67885CECBED7}"/>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42603019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59D1DDC-6D57-4F54-B622-9E7ACF8A16B6}"/>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3903737D-6531-49D0-AF79-0B66DE73578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 편집</a:t>
            </a:r>
          </a:p>
        </p:txBody>
      </p:sp>
      <p:sp>
        <p:nvSpPr>
          <p:cNvPr id="4" name="날짜 개체 틀 3">
            <a:extLst>
              <a:ext uri="{FF2B5EF4-FFF2-40B4-BE49-F238E27FC236}">
                <a16:creationId xmlns:a16="http://schemas.microsoft.com/office/drawing/2014/main" id="{FE4F4B43-5C46-47D5-918D-ECE0BB87A4E1}"/>
              </a:ext>
            </a:extLst>
          </p:cNvPr>
          <p:cNvSpPr>
            <a:spLocks noGrp="1"/>
          </p:cNvSpPr>
          <p:nvPr>
            <p:ph type="dt" sz="half" idx="10"/>
          </p:nvPr>
        </p:nvSpPr>
        <p:spPr/>
        <p:txBody>
          <a:bodyPr/>
          <a:lstStyle/>
          <a:p>
            <a:fld id="{AF92D8FD-6369-45D3-BF1E-CE092B602C81}" type="datetime1">
              <a:rPr lang="ko-KR" altLang="en-US" smtClean="0"/>
              <a:t>2026-08-18</a:t>
            </a:fld>
            <a:endParaRPr lang="ko-KR" altLang="en-US"/>
          </a:p>
        </p:txBody>
      </p:sp>
      <p:sp>
        <p:nvSpPr>
          <p:cNvPr id="5" name="바닥글 개체 틀 4">
            <a:extLst>
              <a:ext uri="{FF2B5EF4-FFF2-40B4-BE49-F238E27FC236}">
                <a16:creationId xmlns:a16="http://schemas.microsoft.com/office/drawing/2014/main" id="{C11458F6-83EA-4BBC-BAA1-4838180AF15D}"/>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99BE8959-73C5-4BEE-AADB-B0A1635CE81D}"/>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9134325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9DC2E9C-31ED-40DF-AFA0-C1EB825022ED}"/>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0C6A1E6D-6737-45A3-839F-1AE39AB88B2A}"/>
              </a:ext>
            </a:extLst>
          </p:cNvPr>
          <p:cNvSpPr>
            <a:spLocks noGrp="1"/>
          </p:cNvSpPr>
          <p:nvPr>
            <p:ph sz="half" idx="1"/>
          </p:nvPr>
        </p:nvSpPr>
        <p:spPr>
          <a:xfrm>
            <a:off x="838200" y="1825625"/>
            <a:ext cx="51816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a:extLst>
              <a:ext uri="{FF2B5EF4-FFF2-40B4-BE49-F238E27FC236}">
                <a16:creationId xmlns:a16="http://schemas.microsoft.com/office/drawing/2014/main" id="{411C17ED-85A1-47AD-8EBE-FDF4912BCF5F}"/>
              </a:ext>
            </a:extLst>
          </p:cNvPr>
          <p:cNvSpPr>
            <a:spLocks noGrp="1"/>
          </p:cNvSpPr>
          <p:nvPr>
            <p:ph sz="half" idx="2"/>
          </p:nvPr>
        </p:nvSpPr>
        <p:spPr>
          <a:xfrm>
            <a:off x="6172200" y="1825625"/>
            <a:ext cx="51816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날짜 개체 틀 4">
            <a:extLst>
              <a:ext uri="{FF2B5EF4-FFF2-40B4-BE49-F238E27FC236}">
                <a16:creationId xmlns:a16="http://schemas.microsoft.com/office/drawing/2014/main" id="{F98E7E8F-808B-43FF-AE3F-12A63339EE61}"/>
              </a:ext>
            </a:extLst>
          </p:cNvPr>
          <p:cNvSpPr>
            <a:spLocks noGrp="1"/>
          </p:cNvSpPr>
          <p:nvPr>
            <p:ph type="dt" sz="half" idx="10"/>
          </p:nvPr>
        </p:nvSpPr>
        <p:spPr/>
        <p:txBody>
          <a:bodyPr/>
          <a:lstStyle/>
          <a:p>
            <a:fld id="{0E884664-AC38-4616-AC26-A81EB70F9B6D}" type="datetime1">
              <a:rPr lang="ko-KR" altLang="en-US" smtClean="0"/>
              <a:t>2026-08-18</a:t>
            </a:fld>
            <a:endParaRPr lang="ko-KR" altLang="en-US"/>
          </a:p>
        </p:txBody>
      </p:sp>
      <p:sp>
        <p:nvSpPr>
          <p:cNvPr id="6" name="바닥글 개체 틀 5">
            <a:extLst>
              <a:ext uri="{FF2B5EF4-FFF2-40B4-BE49-F238E27FC236}">
                <a16:creationId xmlns:a16="http://schemas.microsoft.com/office/drawing/2014/main" id="{A9F181D1-16BF-4533-9146-09F9D6109AD9}"/>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328688F8-916E-4F95-B2E7-17805EB8B7BE}"/>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31392045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A918287-3231-4D9B-9ABC-1B58425DADCA}"/>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66683157-2E3D-4C8A-84BE-39CAE31B2B5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4" name="내용 개체 틀 3">
            <a:extLst>
              <a:ext uri="{FF2B5EF4-FFF2-40B4-BE49-F238E27FC236}">
                <a16:creationId xmlns:a16="http://schemas.microsoft.com/office/drawing/2014/main" id="{EC6FB253-0AA5-4EA5-B266-11F099E92112}"/>
              </a:ext>
            </a:extLst>
          </p:cNvPr>
          <p:cNvSpPr>
            <a:spLocks noGrp="1"/>
          </p:cNvSpPr>
          <p:nvPr>
            <p:ph sz="half" idx="2"/>
          </p:nvPr>
        </p:nvSpPr>
        <p:spPr>
          <a:xfrm>
            <a:off x="839788" y="2505075"/>
            <a:ext cx="5157787"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텍스트 개체 틀 4">
            <a:extLst>
              <a:ext uri="{FF2B5EF4-FFF2-40B4-BE49-F238E27FC236}">
                <a16:creationId xmlns:a16="http://schemas.microsoft.com/office/drawing/2014/main" id="{57908119-FD1B-4C5C-ABF4-116C4179051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6" name="내용 개체 틀 5">
            <a:extLst>
              <a:ext uri="{FF2B5EF4-FFF2-40B4-BE49-F238E27FC236}">
                <a16:creationId xmlns:a16="http://schemas.microsoft.com/office/drawing/2014/main" id="{A850826E-D850-4072-8B69-E26ACBC45485}"/>
              </a:ext>
            </a:extLst>
          </p:cNvPr>
          <p:cNvSpPr>
            <a:spLocks noGrp="1"/>
          </p:cNvSpPr>
          <p:nvPr>
            <p:ph sz="quarter" idx="4"/>
          </p:nvPr>
        </p:nvSpPr>
        <p:spPr>
          <a:xfrm>
            <a:off x="6172200" y="2505075"/>
            <a:ext cx="5183188"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날짜 개체 틀 6">
            <a:extLst>
              <a:ext uri="{FF2B5EF4-FFF2-40B4-BE49-F238E27FC236}">
                <a16:creationId xmlns:a16="http://schemas.microsoft.com/office/drawing/2014/main" id="{DBF33CD5-555A-4699-A10A-A4FA0409B703}"/>
              </a:ext>
            </a:extLst>
          </p:cNvPr>
          <p:cNvSpPr>
            <a:spLocks noGrp="1"/>
          </p:cNvSpPr>
          <p:nvPr>
            <p:ph type="dt" sz="half" idx="10"/>
          </p:nvPr>
        </p:nvSpPr>
        <p:spPr/>
        <p:txBody>
          <a:bodyPr/>
          <a:lstStyle/>
          <a:p>
            <a:fld id="{D5BB2583-C2D6-4752-93FB-A3B1CCF51AD7}" type="datetime1">
              <a:rPr lang="ko-KR" altLang="en-US" smtClean="0"/>
              <a:t>2026-08-18</a:t>
            </a:fld>
            <a:endParaRPr lang="ko-KR" altLang="en-US"/>
          </a:p>
        </p:txBody>
      </p:sp>
      <p:sp>
        <p:nvSpPr>
          <p:cNvPr id="8" name="바닥글 개체 틀 7">
            <a:extLst>
              <a:ext uri="{FF2B5EF4-FFF2-40B4-BE49-F238E27FC236}">
                <a16:creationId xmlns:a16="http://schemas.microsoft.com/office/drawing/2014/main" id="{9F14D1C8-FC60-4333-ACBB-5ED9C6E1B4E8}"/>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D62093B3-31F5-4892-B533-DC0CA92487D2}"/>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13545109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D4FA2BF-534C-44BE-B413-E10AC7FB3513}"/>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A44BFA3A-F774-4B7B-8D63-9FDD27B5F136}"/>
              </a:ext>
            </a:extLst>
          </p:cNvPr>
          <p:cNvSpPr>
            <a:spLocks noGrp="1"/>
          </p:cNvSpPr>
          <p:nvPr>
            <p:ph type="dt" sz="half" idx="10"/>
          </p:nvPr>
        </p:nvSpPr>
        <p:spPr/>
        <p:txBody>
          <a:bodyPr/>
          <a:lstStyle/>
          <a:p>
            <a:fld id="{AE591029-0B61-42E7-89A5-1452CC1CC685}" type="datetime1">
              <a:rPr lang="ko-KR" altLang="en-US" smtClean="0"/>
              <a:t>2026-08-18</a:t>
            </a:fld>
            <a:endParaRPr lang="ko-KR" altLang="en-US"/>
          </a:p>
        </p:txBody>
      </p:sp>
      <p:sp>
        <p:nvSpPr>
          <p:cNvPr id="4" name="바닥글 개체 틀 3">
            <a:extLst>
              <a:ext uri="{FF2B5EF4-FFF2-40B4-BE49-F238E27FC236}">
                <a16:creationId xmlns:a16="http://schemas.microsoft.com/office/drawing/2014/main" id="{61C7E7F0-2A3E-4C49-89F0-5D08295F83FC}"/>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6E1E947A-3885-4B82-BA3E-5254653FD596}"/>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24602414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7A6FA01D-C650-430A-81EB-396EE011080B}"/>
              </a:ext>
            </a:extLst>
          </p:cNvPr>
          <p:cNvSpPr>
            <a:spLocks noGrp="1"/>
          </p:cNvSpPr>
          <p:nvPr>
            <p:ph type="dt" sz="half" idx="10"/>
          </p:nvPr>
        </p:nvSpPr>
        <p:spPr/>
        <p:txBody>
          <a:bodyPr/>
          <a:lstStyle/>
          <a:p>
            <a:fld id="{946CEB9F-05DB-43E1-892D-90A459D7CCD8}" type="datetime1">
              <a:rPr lang="ko-KR" altLang="en-US" smtClean="0"/>
              <a:t>2026-08-18</a:t>
            </a:fld>
            <a:endParaRPr lang="ko-KR" altLang="en-US"/>
          </a:p>
        </p:txBody>
      </p:sp>
      <p:sp>
        <p:nvSpPr>
          <p:cNvPr id="3" name="바닥글 개체 틀 2">
            <a:extLst>
              <a:ext uri="{FF2B5EF4-FFF2-40B4-BE49-F238E27FC236}">
                <a16:creationId xmlns:a16="http://schemas.microsoft.com/office/drawing/2014/main" id="{C6FB156C-D5FE-42A1-9B0A-D1ED6713F223}"/>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1B0973E2-E7B1-4050-85F8-604E107FB9FC}"/>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16011745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FC49C6F-546E-4387-9D44-0F5381B7FECE}"/>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A40AB43D-2905-4CBE-9713-99F290A222A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a:extLst>
              <a:ext uri="{FF2B5EF4-FFF2-40B4-BE49-F238E27FC236}">
                <a16:creationId xmlns:a16="http://schemas.microsoft.com/office/drawing/2014/main" id="{4E2BBF02-5C89-4C7F-9590-6454B28FD9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날짜 개체 틀 4">
            <a:extLst>
              <a:ext uri="{FF2B5EF4-FFF2-40B4-BE49-F238E27FC236}">
                <a16:creationId xmlns:a16="http://schemas.microsoft.com/office/drawing/2014/main" id="{B3A3E073-3EF4-4892-AC9C-5A6D183D73E7}"/>
              </a:ext>
            </a:extLst>
          </p:cNvPr>
          <p:cNvSpPr>
            <a:spLocks noGrp="1"/>
          </p:cNvSpPr>
          <p:nvPr>
            <p:ph type="dt" sz="half" idx="10"/>
          </p:nvPr>
        </p:nvSpPr>
        <p:spPr/>
        <p:txBody>
          <a:bodyPr/>
          <a:lstStyle/>
          <a:p>
            <a:fld id="{CECC215A-7973-470B-84A4-F5AF132B8AAF}" type="datetime1">
              <a:rPr lang="ko-KR" altLang="en-US" smtClean="0"/>
              <a:t>2026-08-18</a:t>
            </a:fld>
            <a:endParaRPr lang="ko-KR" altLang="en-US"/>
          </a:p>
        </p:txBody>
      </p:sp>
      <p:sp>
        <p:nvSpPr>
          <p:cNvPr id="6" name="바닥글 개체 틀 5">
            <a:extLst>
              <a:ext uri="{FF2B5EF4-FFF2-40B4-BE49-F238E27FC236}">
                <a16:creationId xmlns:a16="http://schemas.microsoft.com/office/drawing/2014/main" id="{1FA8C830-C0D2-4E34-984D-BFD62710C34E}"/>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F4AE579A-FA23-47BF-A4BA-55EC39640F3C}"/>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19824358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2233AAD-A233-4461-B600-ECA6C77849B3}"/>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4849EC07-44FD-4C4A-9314-3224DF7BA6A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305A6D9C-B6D2-4BFA-A079-7D5C12CCF7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날짜 개체 틀 4">
            <a:extLst>
              <a:ext uri="{FF2B5EF4-FFF2-40B4-BE49-F238E27FC236}">
                <a16:creationId xmlns:a16="http://schemas.microsoft.com/office/drawing/2014/main" id="{2CF08306-C9C4-4CE5-8E7B-5E04932FFF5C}"/>
              </a:ext>
            </a:extLst>
          </p:cNvPr>
          <p:cNvSpPr>
            <a:spLocks noGrp="1"/>
          </p:cNvSpPr>
          <p:nvPr>
            <p:ph type="dt" sz="half" idx="10"/>
          </p:nvPr>
        </p:nvSpPr>
        <p:spPr/>
        <p:txBody>
          <a:bodyPr/>
          <a:lstStyle/>
          <a:p>
            <a:fld id="{6F2C50B2-507C-4DE6-835C-CC74E109F16E}" type="datetime1">
              <a:rPr lang="ko-KR" altLang="en-US" smtClean="0"/>
              <a:t>2026-08-18</a:t>
            </a:fld>
            <a:endParaRPr lang="ko-KR" altLang="en-US"/>
          </a:p>
        </p:txBody>
      </p:sp>
      <p:sp>
        <p:nvSpPr>
          <p:cNvPr id="6" name="바닥글 개체 틀 5">
            <a:extLst>
              <a:ext uri="{FF2B5EF4-FFF2-40B4-BE49-F238E27FC236}">
                <a16:creationId xmlns:a16="http://schemas.microsoft.com/office/drawing/2014/main" id="{22B10644-0531-497F-B2C0-377780F41979}"/>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99BEEBFB-DA63-4048-A6CA-C1E1EF828368}"/>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4218287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CBC8EC7-6E11-4403-BD26-ECBF190F4B40}"/>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41DD3C11-4CF8-4044-BAF1-B13CDFF8EEC5}"/>
              </a:ext>
            </a:extLst>
          </p:cNvPr>
          <p:cNvSpPr>
            <a:spLocks noGrp="1"/>
          </p:cNvSpPr>
          <p:nvPr>
            <p:ph type="body" orient="vert" idx="1"/>
          </p:nvPr>
        </p:nvSpPr>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C83BC4E7-66FB-40C1-8FCD-5D5E3897EEE9}"/>
              </a:ext>
            </a:extLst>
          </p:cNvPr>
          <p:cNvSpPr>
            <a:spLocks noGrp="1"/>
          </p:cNvSpPr>
          <p:nvPr>
            <p:ph type="dt" sz="half" idx="10"/>
          </p:nvPr>
        </p:nvSpPr>
        <p:spPr/>
        <p:txBody>
          <a:bodyPr/>
          <a:lstStyle/>
          <a:p>
            <a:fld id="{B9D71F2C-84F6-42CA-BB66-E87B622B6B79}" type="datetime1">
              <a:rPr lang="ko-KR" altLang="en-US" smtClean="0"/>
              <a:t>2026-08-18</a:t>
            </a:fld>
            <a:endParaRPr lang="ko-KR" altLang="en-US"/>
          </a:p>
        </p:txBody>
      </p:sp>
      <p:sp>
        <p:nvSpPr>
          <p:cNvPr id="5" name="바닥글 개체 틀 4">
            <a:extLst>
              <a:ext uri="{FF2B5EF4-FFF2-40B4-BE49-F238E27FC236}">
                <a16:creationId xmlns:a16="http://schemas.microsoft.com/office/drawing/2014/main" id="{2707E1BA-7287-48B0-845A-3B6A12C669B6}"/>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2D2CF8AD-9CD0-445E-859E-05D7DCB80CC1}"/>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23511416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BA2AAEFD-B44D-4155-9045-4229A5D65009}"/>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3553818F-4461-41C0-996E-171B2484FB42}"/>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F1C01757-6CD8-4F39-8D5A-496ED6954279}"/>
              </a:ext>
            </a:extLst>
          </p:cNvPr>
          <p:cNvSpPr>
            <a:spLocks noGrp="1"/>
          </p:cNvSpPr>
          <p:nvPr>
            <p:ph type="dt" sz="half" idx="10"/>
          </p:nvPr>
        </p:nvSpPr>
        <p:spPr/>
        <p:txBody>
          <a:bodyPr/>
          <a:lstStyle/>
          <a:p>
            <a:fld id="{8686B409-5BD5-456C-AF48-4FD374032583}" type="datetime1">
              <a:rPr lang="ko-KR" altLang="en-US" smtClean="0"/>
              <a:t>2026-08-18</a:t>
            </a:fld>
            <a:endParaRPr lang="ko-KR" altLang="en-US"/>
          </a:p>
        </p:txBody>
      </p:sp>
      <p:sp>
        <p:nvSpPr>
          <p:cNvPr id="5" name="바닥글 개체 틀 4">
            <a:extLst>
              <a:ext uri="{FF2B5EF4-FFF2-40B4-BE49-F238E27FC236}">
                <a16:creationId xmlns:a16="http://schemas.microsoft.com/office/drawing/2014/main" id="{6FBAE857-085C-477D-AD27-8CA53DCEE757}"/>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7CF7504C-26BC-48B7-8DF3-12010D3DB49D}"/>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32878460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8D87DD47-3055-4794-9EC4-443F56DA11C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A8D58F93-79C2-4CFD-A3A1-BA00A0F1882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740137D3-CE03-437A-B22E-E71309174D3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D3538FB-B8FC-4171-87E6-7B07A54FA9FA}" type="datetime1">
              <a:rPr lang="ko-KR" altLang="en-US" smtClean="0"/>
              <a:t>2026-08-18</a:t>
            </a:fld>
            <a:endParaRPr lang="ko-KR" altLang="en-US"/>
          </a:p>
        </p:txBody>
      </p:sp>
      <p:sp>
        <p:nvSpPr>
          <p:cNvPr id="5" name="바닥글 개체 틀 4">
            <a:extLst>
              <a:ext uri="{FF2B5EF4-FFF2-40B4-BE49-F238E27FC236}">
                <a16:creationId xmlns:a16="http://schemas.microsoft.com/office/drawing/2014/main" id="{CE63D692-A5AC-4625-ACF0-0DE38652C8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30B51C3C-2FF0-4757-A7D5-BD00847B2C9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369158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hyperlink" Target="https://raw.githubusercontent.com/coreos/flannel/master/Documentation/k8s-manifests/kube-flannel-rbac.yml" TargetMode="External"/><Relationship Id="rId2" Type="http://schemas.openxmlformats.org/officeDocument/2006/relationships/hyperlink" Target="https://raw.githubusercontent.com/coreos/flannel/master/Documentation/kube-flannel.yml" TargetMode="Externa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4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hyperlink" Target="https://syhwang.tistory.com/52" TargetMode="Externa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8" Type="http://schemas.openxmlformats.org/officeDocument/2006/relationships/hyperlink" Target="https://kubernetes.io/ko/docs/concepts/cluster-administration/addons/" TargetMode="External"/><Relationship Id="rId3" Type="http://schemas.openxmlformats.org/officeDocument/2006/relationships/hyperlink" Target="https://dongle94.github.io/kubernetes/kubernetes-cluster-build/" TargetMode="External"/><Relationship Id="rId7" Type="http://schemas.openxmlformats.org/officeDocument/2006/relationships/hyperlink" Target="https://www.tigera.io/project-calico/" TargetMode="External"/><Relationship Id="rId12" Type="http://schemas.openxmlformats.org/officeDocument/2006/relationships/image" Target="../media/image43.png"/><Relationship Id="rId2" Type="http://schemas.openxmlformats.org/officeDocument/2006/relationships/hyperlink" Target="https://github.com/kubernetes-up-and-running" TargetMode="External"/><Relationship Id="rId1" Type="http://schemas.openxmlformats.org/officeDocument/2006/relationships/slideLayout" Target="../slideLayouts/slideLayout2.xml"/><Relationship Id="rId6" Type="http://schemas.openxmlformats.org/officeDocument/2006/relationships/hyperlink" Target="https://kubernetes.io/ko/docs/setup/production-environment/tools/kubeadm/_print/" TargetMode="External"/><Relationship Id="rId11" Type="http://schemas.openxmlformats.org/officeDocument/2006/relationships/hyperlink" Target="https://github.com/weaveworks/weave/issues/3758" TargetMode="External"/><Relationship Id="rId5" Type="http://schemas.openxmlformats.org/officeDocument/2006/relationships/hyperlink" Target="https://kubernetes.io/docs/setup/production-environment/tools/kubeadm/troubleshooting-kubeadm/" TargetMode="External"/><Relationship Id="rId10" Type="http://schemas.openxmlformats.org/officeDocument/2006/relationships/hyperlink" Target="https://nirsa.tistory.com/295" TargetMode="External"/><Relationship Id="rId4" Type="http://schemas.openxmlformats.org/officeDocument/2006/relationships/hyperlink" Target="https://kubernetes.io/docs/reference/setup-tools/kubeadm/" TargetMode="External"/><Relationship Id="rId9" Type="http://schemas.openxmlformats.org/officeDocument/2006/relationships/hyperlink" Target="https://blog.knoldus.com/how-to-install-kubernetes-on-ubuntu-20-04-kubeadm-and-minikube/" TargetMode="External"/></Relationships>
</file>

<file path=ppt/slides/_rels/slide53.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E702FFF-01AB-4779-B408-42E2E4E9C43E}"/>
              </a:ext>
            </a:extLst>
          </p:cNvPr>
          <p:cNvSpPr>
            <a:spLocks noGrp="1"/>
          </p:cNvSpPr>
          <p:nvPr>
            <p:ph type="ctrTitle"/>
          </p:nvPr>
        </p:nvSpPr>
        <p:spPr>
          <a:xfrm>
            <a:off x="1075173" y="1122363"/>
            <a:ext cx="10098593" cy="2387600"/>
          </a:xfrm>
        </p:spPr>
        <p:txBody>
          <a:bodyPr>
            <a:normAutofit/>
          </a:bodyPr>
          <a:lstStyle/>
          <a:p>
            <a:r>
              <a:rPr lang="en-US" altLang="ko-KR" sz="4800" b="1" dirty="0"/>
              <a:t>Kubernetes</a:t>
            </a:r>
            <a:endParaRPr lang="ko-KR" altLang="en-US" sz="4800" b="1" dirty="0"/>
          </a:p>
        </p:txBody>
      </p:sp>
      <p:sp>
        <p:nvSpPr>
          <p:cNvPr id="3" name="부제목 2">
            <a:extLst>
              <a:ext uri="{FF2B5EF4-FFF2-40B4-BE49-F238E27FC236}">
                <a16:creationId xmlns:a16="http://schemas.microsoft.com/office/drawing/2014/main" id="{47AEB803-0A24-4323-A770-ED2D6F7EC46E}"/>
              </a:ext>
            </a:extLst>
          </p:cNvPr>
          <p:cNvSpPr>
            <a:spLocks noGrp="1"/>
          </p:cNvSpPr>
          <p:nvPr>
            <p:ph type="subTitle" idx="1"/>
          </p:nvPr>
        </p:nvSpPr>
        <p:spPr/>
        <p:txBody>
          <a:bodyPr>
            <a:normAutofit lnSpcReduction="10000"/>
          </a:bodyPr>
          <a:lstStyle/>
          <a:p>
            <a:r>
              <a:rPr lang="en-US" altLang="ko-KR" b="1" dirty="0"/>
              <a:t>Kubernetes Up &amp; Running</a:t>
            </a:r>
          </a:p>
          <a:p>
            <a:r>
              <a:rPr lang="en-US" altLang="ko-KR" b="1"/>
              <a:t>Appendix</a:t>
            </a:r>
            <a:endParaRPr lang="en-US" altLang="ko-KR" b="1" dirty="0"/>
          </a:p>
          <a:p>
            <a:endParaRPr lang="en-US" altLang="ko-KR" b="1" dirty="0"/>
          </a:p>
          <a:p>
            <a:r>
              <a:rPr lang="en-US" altLang="ko-KR" sz="2000" b="1" dirty="0"/>
              <a:t>2026.08.25</a:t>
            </a:r>
          </a:p>
          <a:p>
            <a:endParaRPr lang="ko-KR" altLang="en-US" sz="1600" dirty="0"/>
          </a:p>
        </p:txBody>
      </p:sp>
      <p:cxnSp>
        <p:nvCxnSpPr>
          <p:cNvPr id="5" name="직선 연결선 4">
            <a:extLst>
              <a:ext uri="{FF2B5EF4-FFF2-40B4-BE49-F238E27FC236}">
                <a16:creationId xmlns:a16="http://schemas.microsoft.com/office/drawing/2014/main" id="{AAC595A7-AC89-45DB-BE94-EB85A23F72EB}"/>
              </a:ext>
            </a:extLst>
          </p:cNvPr>
          <p:cNvCxnSpPr>
            <a:cxnSpLocks/>
          </p:cNvCxnSpPr>
          <p:nvPr/>
        </p:nvCxnSpPr>
        <p:spPr>
          <a:xfrm>
            <a:off x="1283368" y="3509963"/>
            <a:ext cx="9721516"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94030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E702FFF-01AB-4779-B408-42E2E4E9C43E}"/>
              </a:ext>
            </a:extLst>
          </p:cNvPr>
          <p:cNvSpPr>
            <a:spLocks noGrp="1"/>
          </p:cNvSpPr>
          <p:nvPr>
            <p:ph type="ctrTitle"/>
          </p:nvPr>
        </p:nvSpPr>
        <p:spPr>
          <a:xfrm>
            <a:off x="1075173" y="1122363"/>
            <a:ext cx="10098593" cy="2387600"/>
          </a:xfrm>
        </p:spPr>
        <p:txBody>
          <a:bodyPr>
            <a:normAutofit/>
          </a:bodyPr>
          <a:lstStyle/>
          <a:p>
            <a:r>
              <a:rPr lang="en-US" altLang="ko-KR" sz="4400" b="1" dirty="0"/>
              <a:t>Organizing Your Application</a:t>
            </a:r>
            <a:endParaRPr lang="ko-KR" altLang="en-US" sz="4400" b="1" dirty="0"/>
          </a:p>
        </p:txBody>
      </p:sp>
      <p:cxnSp>
        <p:nvCxnSpPr>
          <p:cNvPr id="5" name="직선 연결선 4">
            <a:extLst>
              <a:ext uri="{FF2B5EF4-FFF2-40B4-BE49-F238E27FC236}">
                <a16:creationId xmlns:a16="http://schemas.microsoft.com/office/drawing/2014/main" id="{AAC595A7-AC89-45DB-BE94-EB85A23F72EB}"/>
              </a:ext>
            </a:extLst>
          </p:cNvPr>
          <p:cNvCxnSpPr>
            <a:cxnSpLocks/>
          </p:cNvCxnSpPr>
          <p:nvPr/>
        </p:nvCxnSpPr>
        <p:spPr>
          <a:xfrm>
            <a:off x="1283368" y="3509963"/>
            <a:ext cx="9721516"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99668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Principles to Guide Us(1/4) </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Principles :</a:t>
            </a:r>
          </a:p>
          <a:p>
            <a:pPr lvl="1">
              <a:buFont typeface="Wingdings" panose="05000000000000000000" pitchFamily="2" charset="2"/>
              <a:buChar char="§"/>
            </a:pPr>
            <a:r>
              <a:rPr lang="en-US" altLang="ko-KR" sz="1400" b="1" dirty="0">
                <a:solidFill>
                  <a:srgbClr val="FF0000"/>
                </a:solidFill>
              </a:rPr>
              <a:t>Reliability</a:t>
            </a:r>
            <a:r>
              <a:rPr lang="en-US" altLang="ko-KR" sz="1400" b="1" dirty="0"/>
              <a:t> and </a:t>
            </a:r>
            <a:r>
              <a:rPr lang="en-US" altLang="ko-KR" sz="1400" b="1" dirty="0">
                <a:solidFill>
                  <a:srgbClr val="FF0000"/>
                </a:solidFill>
              </a:rPr>
              <a:t>agility</a:t>
            </a:r>
            <a:r>
              <a:rPr lang="en-US" altLang="ko-KR" sz="1400" b="1" dirty="0"/>
              <a:t> are the general goals of developing a cloud-native application in Kubernetes</a:t>
            </a:r>
            <a:r>
              <a:rPr lang="en-US" altLang="ko-KR" sz="1400" dirty="0"/>
              <a:t>, but moving to the next level of detail, how does this actually relate to </a:t>
            </a:r>
            <a:r>
              <a:rPr lang="en-US" altLang="ko-KR" sz="1400" b="1" dirty="0"/>
              <a:t>how you design the maintenance and deployment of your application?</a:t>
            </a:r>
          </a:p>
          <a:p>
            <a:pPr lvl="1">
              <a:buFont typeface="Wingdings" panose="05000000000000000000" pitchFamily="2" charset="2"/>
              <a:buChar char="§"/>
            </a:pPr>
            <a:r>
              <a:rPr lang="en-US" altLang="ko-KR" sz="1400" b="1" dirty="0"/>
              <a:t>The principles </a:t>
            </a:r>
            <a:r>
              <a:rPr lang="en-US" altLang="ko-KR" sz="1400" dirty="0"/>
              <a:t>are :</a:t>
            </a:r>
          </a:p>
          <a:p>
            <a:pPr lvl="2">
              <a:buFont typeface="Wingdings" panose="05000000000000000000" pitchFamily="2" charset="2"/>
              <a:buChar char="§"/>
            </a:pPr>
            <a:r>
              <a:rPr lang="en-US" altLang="ko-KR" sz="1400" b="1" dirty="0"/>
              <a:t>Filesystems as the source of truth</a:t>
            </a:r>
          </a:p>
          <a:p>
            <a:pPr lvl="2">
              <a:buFont typeface="Wingdings" panose="05000000000000000000" pitchFamily="2" charset="2"/>
              <a:buChar char="§"/>
            </a:pPr>
            <a:r>
              <a:rPr lang="en-US" altLang="ko-KR" sz="1400" b="1" dirty="0"/>
              <a:t>Code review </a:t>
            </a:r>
            <a:r>
              <a:rPr lang="en-US" altLang="ko-KR" sz="1400" dirty="0"/>
              <a:t>to ensure the quality of changes</a:t>
            </a:r>
          </a:p>
          <a:p>
            <a:pPr lvl="2">
              <a:buFont typeface="Wingdings" panose="05000000000000000000" pitchFamily="2" charset="2"/>
              <a:buChar char="§"/>
            </a:pPr>
            <a:r>
              <a:rPr lang="en-US" altLang="ko-KR" sz="1400" b="1" dirty="0"/>
              <a:t>Feature flags for staged roll forward and roll back</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59DC6DE9-5557-4532-8FD4-80E9C4543D77}"/>
              </a:ext>
            </a:extLst>
          </p:cNvPr>
          <p:cNvGrpSpPr/>
          <p:nvPr/>
        </p:nvGrpSpPr>
        <p:grpSpPr>
          <a:xfrm>
            <a:off x="3044190" y="3148314"/>
            <a:ext cx="6103620" cy="3260716"/>
            <a:chOff x="3044190" y="2906299"/>
            <a:chExt cx="6103620" cy="3260716"/>
          </a:xfrm>
        </p:grpSpPr>
        <p:pic>
          <p:nvPicPr>
            <p:cNvPr id="8" name="그림 7">
              <a:extLst>
                <a:ext uri="{FF2B5EF4-FFF2-40B4-BE49-F238E27FC236}">
                  <a16:creationId xmlns:a16="http://schemas.microsoft.com/office/drawing/2014/main" id="{BE7EB8F6-B5DA-44CF-B3C0-CD32D267F84E}"/>
                </a:ext>
              </a:extLst>
            </p:cNvPr>
            <p:cNvPicPr>
              <a:picLocks noChangeAspect="1"/>
            </p:cNvPicPr>
            <p:nvPr/>
          </p:nvPicPr>
          <p:blipFill>
            <a:blip r:embed="rId2"/>
            <a:stretch>
              <a:fillRect/>
            </a:stretch>
          </p:blipFill>
          <p:spPr>
            <a:xfrm>
              <a:off x="3044190" y="2906299"/>
              <a:ext cx="6103620" cy="3137606"/>
            </a:xfrm>
            <a:prstGeom prst="rect">
              <a:avLst/>
            </a:prstGeom>
          </p:spPr>
        </p:pic>
        <p:sp>
          <p:nvSpPr>
            <p:cNvPr id="9" name="TextBox 8">
              <a:extLst>
                <a:ext uri="{FF2B5EF4-FFF2-40B4-BE49-F238E27FC236}">
                  <a16:creationId xmlns:a16="http://schemas.microsoft.com/office/drawing/2014/main" id="{8845C46D-A921-4C90-B996-D0340FC3D137}"/>
                </a:ext>
              </a:extLst>
            </p:cNvPr>
            <p:cNvSpPr txBox="1"/>
            <p:nvPr/>
          </p:nvSpPr>
          <p:spPr>
            <a:xfrm>
              <a:off x="5159685" y="5920794"/>
              <a:ext cx="1872629" cy="246221"/>
            </a:xfrm>
            <a:prstGeom prst="rect">
              <a:avLst/>
            </a:prstGeom>
            <a:noFill/>
          </p:spPr>
          <p:txBody>
            <a:bodyPr wrap="none" rtlCol="0">
              <a:spAutoFit/>
            </a:bodyPr>
            <a:lstStyle/>
            <a:p>
              <a:pPr algn="ctr"/>
              <a:r>
                <a:rPr lang="en-US" altLang="ko-KR" sz="1000" b="1" dirty="0"/>
                <a:t>Container Design Principles</a:t>
              </a:r>
              <a:endParaRPr lang="ko-KR" altLang="en-US" sz="1000" b="1" dirty="0"/>
            </a:p>
          </p:txBody>
        </p:sp>
      </p:grpSp>
    </p:spTree>
    <p:extLst>
      <p:ext uri="{BB962C8B-B14F-4D97-AF65-F5344CB8AC3E}">
        <p14:creationId xmlns:p14="http://schemas.microsoft.com/office/powerpoint/2010/main" val="5043024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Principles to Guide Us(2/4) </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Filesystems as the Source of Truth :</a:t>
            </a:r>
          </a:p>
          <a:p>
            <a:pPr lvl="1">
              <a:buFont typeface="Wingdings" panose="05000000000000000000" pitchFamily="2" charset="2"/>
              <a:buChar char="§"/>
            </a:pPr>
            <a:r>
              <a:rPr lang="en-US" altLang="ko-KR" sz="1400" b="1" dirty="0"/>
              <a:t>Rather than viewing the state of the cluster—the data in “</a:t>
            </a:r>
            <a:r>
              <a:rPr lang="en-US" altLang="ko-KR" sz="1400" b="1" dirty="0" err="1"/>
              <a:t>etcd</a:t>
            </a:r>
            <a:r>
              <a:rPr lang="en-US" altLang="ko-KR" sz="1400" b="1" dirty="0"/>
              <a:t>”—as the source of truth, it is optimal to view </a:t>
            </a:r>
            <a:r>
              <a:rPr lang="en-US" altLang="ko-KR" sz="1400" b="1" dirty="0">
                <a:solidFill>
                  <a:srgbClr val="FF0000"/>
                </a:solidFill>
              </a:rPr>
              <a:t>the filesystem of YAML objects </a:t>
            </a:r>
            <a:r>
              <a:rPr lang="en-US" altLang="ko-KR" sz="1400" b="1" dirty="0"/>
              <a:t>as the source of truth for your application</a:t>
            </a:r>
            <a:r>
              <a:rPr lang="en-US" altLang="ko-KR" sz="1400" dirty="0"/>
              <a:t>. The API objects deployed into your Kubernetes cluster(s) are then a reflection of the truth stored in the filesystem.</a:t>
            </a:r>
          </a:p>
          <a:p>
            <a:pPr lvl="1">
              <a:buFont typeface="Wingdings" panose="05000000000000000000" pitchFamily="2" charset="2"/>
              <a:buChar char="§"/>
            </a:pPr>
            <a:r>
              <a:rPr lang="en-US" altLang="ko-KR" sz="1400" b="1" dirty="0"/>
              <a:t>The first and foremost is that it largely enables you to treat your cluster as if it is immutable infrastructure</a:t>
            </a:r>
            <a:r>
              <a:rPr lang="en-US" altLang="ko-KR" sz="1400" dirty="0"/>
              <a:t>. As we have moved into cloud-native architectures, we have become increasingly comfortable with </a:t>
            </a:r>
            <a:r>
              <a:rPr lang="en-US" altLang="ko-KR" sz="1400" b="1" dirty="0"/>
              <a:t>the notion that our applications and their containers are </a:t>
            </a:r>
            <a:r>
              <a:rPr lang="en-US" altLang="ko-KR" sz="1400" b="1" dirty="0">
                <a:solidFill>
                  <a:srgbClr val="FF0000"/>
                </a:solidFill>
              </a:rPr>
              <a:t>immutable infrastructure</a:t>
            </a:r>
            <a:r>
              <a:rPr lang="en-US" altLang="ko-KR" sz="1400" dirty="0"/>
              <a:t>, but treating a cluster as such is less common. And yet, the same reasons for moving our applications to immutable infrastructure apply to our clusters.</a:t>
            </a:r>
          </a:p>
          <a:p>
            <a:pPr lvl="1">
              <a:buFont typeface="Wingdings" panose="05000000000000000000" pitchFamily="2" charset="2"/>
              <a:buChar char="§"/>
            </a:pPr>
            <a:r>
              <a:rPr lang="en-US" altLang="ko-KR" sz="1400" b="1" dirty="0"/>
              <a:t>Additionally, managing the cluster state via the filesystem makes it very easy to collaborate with multiple team members</a:t>
            </a:r>
            <a:r>
              <a:rPr lang="en-US" altLang="ko-KR" sz="1400" dirty="0"/>
              <a:t>. </a:t>
            </a:r>
            <a:r>
              <a:rPr lang="en-US" altLang="ko-KR" sz="1400" b="1" dirty="0">
                <a:solidFill>
                  <a:srgbClr val="FF0000"/>
                </a:solidFill>
              </a:rPr>
              <a:t>Source-control systems </a:t>
            </a:r>
            <a:r>
              <a:rPr lang="en-US" altLang="ko-KR" sz="1400" dirty="0"/>
              <a:t>are well understood and can easily enable multiple different people to simultaneously edit the state of the cluster while making conflicts (and the resolution of those conflicts) clear to everyone.</a:t>
            </a:r>
          </a:p>
          <a:p>
            <a:pPr lvl="1">
              <a:buFont typeface="Wingdings" panose="05000000000000000000" pitchFamily="2" charset="2"/>
              <a:buChar char="§"/>
            </a:pPr>
            <a:r>
              <a:rPr lang="en-US" altLang="ko-KR" sz="1400" b="1" dirty="0"/>
              <a:t>NOTE : The combination of these motivations means that it is absolutely a first principle that all applications deployed to Kubernetes should first be described in files stored in a filesystem</a:t>
            </a:r>
            <a:r>
              <a:rPr lang="en-US" altLang="ko-KR" sz="1400" dirty="0"/>
              <a:t>. The actual API objects are then just a projection of this filesystem into a particular cluster.</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A4A8E1F0-92BB-45D1-8396-846FC4E06ED2}"/>
              </a:ext>
            </a:extLst>
          </p:cNvPr>
          <p:cNvPicPr>
            <a:picLocks noChangeAspect="1"/>
          </p:cNvPicPr>
          <p:nvPr/>
        </p:nvPicPr>
        <p:blipFill>
          <a:blip r:embed="rId2"/>
          <a:stretch>
            <a:fillRect/>
          </a:stretch>
        </p:blipFill>
        <p:spPr>
          <a:xfrm>
            <a:off x="3958590" y="4106691"/>
            <a:ext cx="4274820" cy="2302339"/>
          </a:xfrm>
          <a:prstGeom prst="rect">
            <a:avLst/>
          </a:prstGeom>
          <a:ln w="12700">
            <a:solidFill>
              <a:schemeClr val="bg1">
                <a:lumMod val="50000"/>
              </a:schemeClr>
            </a:solidFill>
          </a:ln>
        </p:spPr>
      </p:pic>
    </p:spTree>
    <p:extLst>
      <p:ext uri="{BB962C8B-B14F-4D97-AF65-F5344CB8AC3E}">
        <p14:creationId xmlns:p14="http://schemas.microsoft.com/office/powerpoint/2010/main" val="26960451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Principles to Guide Us(3/4) </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The Role of Code Review :</a:t>
            </a:r>
          </a:p>
          <a:p>
            <a:pPr lvl="1">
              <a:buFont typeface="Wingdings" panose="05000000000000000000" pitchFamily="2" charset="2"/>
              <a:buChar char="§"/>
            </a:pPr>
            <a:r>
              <a:rPr lang="en-US" altLang="ko-KR" sz="1400" b="1" dirty="0"/>
              <a:t>It is clear now that the notion of multiple people looking at a piece of code before it is committed to an application is a best practice for producing quality, reliable code</a:t>
            </a:r>
            <a:r>
              <a:rPr lang="en-US" altLang="ko-KR" sz="1400" dirty="0"/>
              <a:t>. It is therefore surprising that the same is somewhat less true for the configurations used to deploy those applications. All of the same reasons for reviewing code apply directly to application configurations also. But when you think about it, it is also obvious that </a:t>
            </a:r>
            <a:r>
              <a:rPr lang="en-US" altLang="ko-KR" sz="1400" b="1" dirty="0">
                <a:solidFill>
                  <a:srgbClr val="FF0000"/>
                </a:solidFill>
              </a:rPr>
              <a:t>code review </a:t>
            </a:r>
            <a:r>
              <a:rPr lang="en-US" altLang="ko-KR" sz="1400" b="1" dirty="0"/>
              <a:t>of these configurations is critical to the reliable deployment of services</a:t>
            </a:r>
            <a:r>
              <a:rPr lang="en-US" altLang="ko-KR" sz="1400" dirty="0"/>
              <a:t>. In our experience, most service outages are self-inflicted via unexpected consequences, typos, or other simple mistakes. </a:t>
            </a:r>
            <a:r>
              <a:rPr lang="en-US" altLang="ko-KR" sz="1400" b="1" dirty="0"/>
              <a:t>Ensuring that at least two people look at any configuration change significantly decreases the probability of such errors</a:t>
            </a:r>
            <a:r>
              <a:rPr lang="en-US" altLang="ko-KR" sz="1400" dirty="0"/>
              <a:t>.</a:t>
            </a:r>
          </a:p>
          <a:p>
            <a:pPr lvl="1">
              <a:buFont typeface="Wingdings" panose="05000000000000000000" pitchFamily="2" charset="2"/>
              <a:buChar char="§"/>
            </a:pPr>
            <a:r>
              <a:rPr lang="en-US" altLang="ko-KR" sz="1400" dirty="0"/>
              <a:t>Consequently</a:t>
            </a:r>
            <a:r>
              <a:rPr lang="en-US" altLang="ko-KR" sz="1400" b="1" dirty="0"/>
              <a:t>, the second principle of our application layout is that it must facilitate </a:t>
            </a:r>
            <a:r>
              <a:rPr lang="en-US" altLang="ko-KR" sz="1400" b="1" dirty="0">
                <a:solidFill>
                  <a:srgbClr val="FF0000"/>
                </a:solidFill>
              </a:rPr>
              <a:t>the review of every change </a:t>
            </a:r>
            <a:r>
              <a:rPr lang="en-US" altLang="ko-KR" sz="1400" b="1" dirty="0"/>
              <a:t>merged into the set of files that represents the source of truth for our cluster</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2C52229D-8C16-440A-8A51-E1A99A66F1D8}"/>
              </a:ext>
            </a:extLst>
          </p:cNvPr>
          <p:cNvPicPr>
            <a:picLocks noChangeAspect="1"/>
          </p:cNvPicPr>
          <p:nvPr/>
        </p:nvPicPr>
        <p:blipFill>
          <a:blip r:embed="rId2"/>
          <a:stretch>
            <a:fillRect/>
          </a:stretch>
        </p:blipFill>
        <p:spPr>
          <a:xfrm>
            <a:off x="4329180" y="3369223"/>
            <a:ext cx="3533639" cy="3039807"/>
          </a:xfrm>
          <a:prstGeom prst="rect">
            <a:avLst/>
          </a:prstGeom>
        </p:spPr>
      </p:pic>
    </p:spTree>
    <p:extLst>
      <p:ext uri="{BB962C8B-B14F-4D97-AF65-F5344CB8AC3E}">
        <p14:creationId xmlns:p14="http://schemas.microsoft.com/office/powerpoint/2010/main" val="34353193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Principles to Guide Us(4/4) </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Feature Gates and Guards :</a:t>
            </a:r>
          </a:p>
          <a:p>
            <a:pPr lvl="1">
              <a:buFont typeface="Wingdings" panose="05000000000000000000" pitchFamily="2" charset="2"/>
              <a:buChar char="§"/>
            </a:pPr>
            <a:r>
              <a:rPr lang="en-US" altLang="ko-KR" sz="1400" b="1" dirty="0"/>
              <a:t>In larger projects it often makes sense to separate the source code from the configuration to provide for a </a:t>
            </a:r>
            <a:r>
              <a:rPr lang="en-US" altLang="ko-KR" sz="1400" b="1" dirty="0">
                <a:solidFill>
                  <a:srgbClr val="FF0000"/>
                </a:solidFill>
              </a:rPr>
              <a:t>separation of concerns</a:t>
            </a:r>
            <a:r>
              <a:rPr lang="en-US" altLang="ko-KR" sz="1400" dirty="0"/>
              <a:t>. Even if the same people are responsible for both building and deploying the application, </a:t>
            </a:r>
            <a:r>
              <a:rPr lang="en-US" altLang="ko-KR" sz="1400" b="1" dirty="0"/>
              <a:t>the perspectives of the builder versus the deployer are different</a:t>
            </a:r>
            <a:r>
              <a:rPr lang="en-US" altLang="ko-KR" sz="1400" dirty="0"/>
              <a:t> </a:t>
            </a:r>
            <a:r>
              <a:rPr lang="en-US" altLang="ko-KR" sz="1400" b="1" dirty="0"/>
              <a:t>enough that this separation of concerns makes sense</a:t>
            </a:r>
            <a:r>
              <a:rPr lang="en-US" altLang="ko-KR" sz="1400" dirty="0"/>
              <a:t>.</a:t>
            </a:r>
          </a:p>
          <a:p>
            <a:pPr lvl="1">
              <a:buFont typeface="Wingdings" panose="05000000000000000000" pitchFamily="2" charset="2"/>
              <a:buChar char="§"/>
            </a:pPr>
            <a:r>
              <a:rPr lang="en-US" altLang="ko-KR" sz="1400" dirty="0"/>
              <a:t>If that is the case, then how do you </a:t>
            </a:r>
            <a:r>
              <a:rPr lang="en-US" altLang="ko-KR" sz="1400" b="1" dirty="0"/>
              <a:t>bridge the development of new features in source control with the deployment of those features into a production environment? </a:t>
            </a:r>
            <a:r>
              <a:rPr lang="en-US" altLang="ko-KR" sz="1400" dirty="0"/>
              <a:t>This is where </a:t>
            </a:r>
            <a:r>
              <a:rPr lang="en-US" altLang="ko-KR" sz="1400" b="1" dirty="0">
                <a:solidFill>
                  <a:srgbClr val="FF0000"/>
                </a:solidFill>
              </a:rPr>
              <a:t>feature gates and guards </a:t>
            </a:r>
            <a:r>
              <a:rPr lang="en-US" altLang="ko-KR" sz="1400" dirty="0"/>
              <a:t>play an important role.</a:t>
            </a:r>
          </a:p>
          <a:p>
            <a:pPr lvl="1">
              <a:buFont typeface="Wingdings" panose="05000000000000000000" pitchFamily="2" charset="2"/>
              <a:buChar char="§"/>
            </a:pPr>
            <a:r>
              <a:rPr lang="en-US" altLang="ko-KR" sz="1400" dirty="0"/>
              <a:t>The idea is that when some new feature is developed, that development takes place entirely behind a </a:t>
            </a:r>
            <a:r>
              <a:rPr lang="en-US" altLang="ko-KR" sz="1400" b="1" dirty="0"/>
              <a:t>feature flag or gate</a:t>
            </a:r>
            <a:r>
              <a:rPr lang="en-US" altLang="ko-KR" sz="1400" dirty="0"/>
              <a:t>. This gate looks something like:</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There are a variety of benefits to this approach. </a:t>
            </a:r>
            <a:r>
              <a:rPr lang="en-US" altLang="ko-KR" sz="1400" b="1" dirty="0"/>
              <a:t>First, it enables </a:t>
            </a:r>
            <a:r>
              <a:rPr lang="en-US" altLang="ko-KR" sz="1400" b="1" dirty="0">
                <a:solidFill>
                  <a:srgbClr val="FF0000"/>
                </a:solidFill>
              </a:rPr>
              <a:t>the committing of code to the production branch</a:t>
            </a:r>
            <a:r>
              <a:rPr lang="en-US" altLang="ko-KR" sz="1400" b="1" dirty="0"/>
              <a:t> long before the feature is ready to ship</a:t>
            </a:r>
            <a:r>
              <a:rPr lang="en-US" altLang="ko-KR" sz="1400" dirty="0"/>
              <a:t>. </a:t>
            </a:r>
            <a:r>
              <a:rPr lang="en-US" altLang="ko-KR" sz="1400" b="1" dirty="0"/>
              <a:t>This enables feature development to stay much more closely aligned with the “HEAD” of a repository</a:t>
            </a:r>
            <a:r>
              <a:rPr lang="en-US" altLang="ko-KR" sz="1400" dirty="0"/>
              <a:t>, and thus you avoid </a:t>
            </a:r>
            <a:r>
              <a:rPr lang="en-US" altLang="ko-KR" sz="1400" b="1" dirty="0"/>
              <a:t>the horrendous merge conflicts </a:t>
            </a:r>
            <a:r>
              <a:rPr lang="en-US" altLang="ko-KR" sz="1400" dirty="0"/>
              <a:t>of a long-lived branch.</a:t>
            </a:r>
          </a:p>
          <a:p>
            <a:pPr lvl="1">
              <a:buFont typeface="Wingdings" panose="05000000000000000000" pitchFamily="2" charset="2"/>
              <a:buChar char="§"/>
            </a:pPr>
            <a:r>
              <a:rPr lang="en-US" altLang="ko-KR" sz="1400" b="1" dirty="0"/>
              <a:t>Additionally, it means that the enabling a feature simply involves a configuration change to activate the flag</a:t>
            </a:r>
            <a:r>
              <a:rPr lang="en-US" altLang="ko-KR" sz="1400" dirty="0"/>
              <a:t>. This makes it very clear </a:t>
            </a:r>
            <a:r>
              <a:rPr lang="en-US" altLang="ko-KR" sz="1400" b="1" dirty="0"/>
              <a:t>what changed in the production environment</a:t>
            </a:r>
            <a:r>
              <a:rPr lang="en-US" altLang="ko-KR" sz="1400" dirty="0"/>
              <a:t>, and likewise makes it very simple to </a:t>
            </a:r>
            <a:r>
              <a:rPr lang="en-US" altLang="ko-KR" sz="1400" b="1" dirty="0">
                <a:solidFill>
                  <a:srgbClr val="FF0000"/>
                </a:solidFill>
              </a:rPr>
              <a:t>roll back</a:t>
            </a:r>
            <a:r>
              <a:rPr lang="en-US" altLang="ko-KR" sz="1400" b="1" dirty="0"/>
              <a:t> the activation of the feature if it causes problems</a:t>
            </a:r>
            <a:r>
              <a:rPr lang="en-US" altLang="ko-KR" sz="1400" dirty="0"/>
              <a:t>.</a:t>
            </a:r>
          </a:p>
          <a:p>
            <a:pPr lvl="1">
              <a:buFont typeface="Wingdings" panose="05000000000000000000" pitchFamily="2" charset="2"/>
              <a:buChar char="§"/>
            </a:pPr>
            <a:r>
              <a:rPr lang="en-US" altLang="ko-KR" sz="1400" b="1" dirty="0"/>
              <a:t>The use of feature flags thus both simplifies debugging problems in production and ensures that disabling a feature doesn’t require a binary rollback to an older version of the code </a:t>
            </a:r>
            <a:r>
              <a:rPr lang="en-US" altLang="ko-KR" sz="1400" dirty="0"/>
              <a:t>that would remove all of the bug fixes and other improvements made by the newer version of the code.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B831D09A-1CAA-4C6B-8ACC-74046C53D7F7}"/>
              </a:ext>
            </a:extLst>
          </p:cNvPr>
          <p:cNvSpPr/>
          <p:nvPr/>
        </p:nvSpPr>
        <p:spPr>
          <a:xfrm>
            <a:off x="3048000" y="3129141"/>
            <a:ext cx="6096000" cy="553998"/>
          </a:xfrm>
          <a:prstGeom prst="rect">
            <a:avLst/>
          </a:prstGeom>
          <a:ln>
            <a:solidFill>
              <a:schemeClr val="bg1">
                <a:lumMod val="50000"/>
              </a:schemeClr>
            </a:solidFill>
          </a:ln>
        </p:spPr>
        <p:txBody>
          <a:bodyPr>
            <a:spAutoFit/>
          </a:bodyPr>
          <a:lstStyle/>
          <a:p>
            <a:r>
              <a:rPr lang="en-US" altLang="ko-KR" sz="1000" b="1" dirty="0"/>
              <a:t>if (</a:t>
            </a:r>
            <a:r>
              <a:rPr lang="en-US" altLang="ko-KR" sz="1000" b="1" dirty="0" err="1"/>
              <a:t>featureFlags.myFlag</a:t>
            </a:r>
            <a:r>
              <a:rPr lang="en-US" altLang="ko-KR" sz="1000" b="1" dirty="0"/>
              <a:t>) {</a:t>
            </a:r>
          </a:p>
          <a:p>
            <a:r>
              <a:rPr lang="en-US" altLang="ko-KR" sz="1000" b="1" dirty="0"/>
              <a:t>    // Feature implementation goes here</a:t>
            </a:r>
          </a:p>
          <a:p>
            <a:r>
              <a:rPr lang="en-US" altLang="ko-KR" sz="1000" b="1" dirty="0"/>
              <a:t>}</a:t>
            </a:r>
          </a:p>
        </p:txBody>
      </p:sp>
      <p:pic>
        <p:nvPicPr>
          <p:cNvPr id="8" name="그림 7">
            <a:extLst>
              <a:ext uri="{FF2B5EF4-FFF2-40B4-BE49-F238E27FC236}">
                <a16:creationId xmlns:a16="http://schemas.microsoft.com/office/drawing/2014/main" id="{97F23F9B-A05D-4BFA-8287-568004089EB7}"/>
              </a:ext>
            </a:extLst>
          </p:cNvPr>
          <p:cNvPicPr>
            <a:picLocks noChangeAspect="1"/>
          </p:cNvPicPr>
          <p:nvPr/>
        </p:nvPicPr>
        <p:blipFill>
          <a:blip r:embed="rId2"/>
          <a:stretch>
            <a:fillRect/>
          </a:stretch>
        </p:blipFill>
        <p:spPr>
          <a:xfrm>
            <a:off x="8846820" y="5512980"/>
            <a:ext cx="2506980" cy="896050"/>
          </a:xfrm>
          <a:prstGeom prst="rect">
            <a:avLst/>
          </a:prstGeom>
        </p:spPr>
      </p:pic>
    </p:spTree>
    <p:extLst>
      <p:ext uri="{BB962C8B-B14F-4D97-AF65-F5344CB8AC3E}">
        <p14:creationId xmlns:p14="http://schemas.microsoft.com/office/powerpoint/2010/main" val="27940297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Managing Your Application in Source Control(1/4)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Filesystem Layout :</a:t>
            </a:r>
          </a:p>
          <a:p>
            <a:pPr lvl="1">
              <a:buFont typeface="Wingdings" panose="05000000000000000000" pitchFamily="2" charset="2"/>
              <a:buChar char="§"/>
            </a:pPr>
            <a:r>
              <a:rPr lang="en-US" altLang="ko-KR" sz="1400" b="1" dirty="0"/>
              <a:t>The first cardinality on which you want to organize your application is </a:t>
            </a:r>
            <a:r>
              <a:rPr lang="en-US" altLang="ko-KR" sz="1400" b="1" dirty="0">
                <a:solidFill>
                  <a:srgbClr val="FF0000"/>
                </a:solidFill>
              </a:rPr>
              <a:t>the semantic component or layer </a:t>
            </a:r>
            <a:r>
              <a:rPr lang="en-US" altLang="ko-KR" sz="1400" b="1" dirty="0"/>
              <a:t>(e.g., frontend, batch work queue, etc.)</a:t>
            </a:r>
            <a:r>
              <a:rPr lang="en-US" altLang="ko-KR" sz="1400" dirty="0"/>
              <a:t>. Though early on this might seem like overkill, since a single team manages all of these components, it sets the stage for team scaling—eventually, a different team (or </a:t>
            </a:r>
            <a:r>
              <a:rPr lang="en-US" altLang="ko-KR" sz="1400" dirty="0" err="1"/>
              <a:t>subteam</a:t>
            </a:r>
            <a:r>
              <a:rPr lang="en-US" altLang="ko-KR" sz="1400" dirty="0"/>
              <a:t>) may be responsible for each of these components.</a:t>
            </a:r>
          </a:p>
          <a:p>
            <a:pPr lvl="1">
              <a:buFont typeface="Wingdings" panose="05000000000000000000" pitchFamily="2" charset="2"/>
              <a:buChar char="§"/>
            </a:pPr>
            <a:r>
              <a:rPr lang="en-US" altLang="ko-KR" sz="1400" dirty="0"/>
              <a:t>Thus, for an application with a frontend that uses two services, the filesystem might look like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Within each of these directories, the configurations for each application are stored</a:t>
            </a:r>
            <a:r>
              <a:rPr lang="en-US" altLang="ko-KR" sz="1400" dirty="0"/>
              <a:t>. These are the </a:t>
            </a:r>
            <a:r>
              <a:rPr lang="en-US" altLang="ko-KR" sz="1400" b="1" dirty="0"/>
              <a:t>YAML files </a:t>
            </a:r>
            <a:r>
              <a:rPr lang="en-US" altLang="ko-KR" sz="1400" dirty="0"/>
              <a:t>that directly represent the current state of the cluster. </a:t>
            </a:r>
            <a:r>
              <a:rPr lang="en-US" altLang="ko-KR" sz="1400" b="1" dirty="0"/>
              <a:t>It’s generally useful to include both the service name and the object type within the same file</a:t>
            </a:r>
            <a:r>
              <a:rPr lang="en-US" altLang="ko-KR" sz="1400" dirty="0"/>
              <a:t>.</a:t>
            </a:r>
          </a:p>
          <a:p>
            <a:pPr lvl="1">
              <a:buFont typeface="Wingdings" panose="05000000000000000000" pitchFamily="2" charset="2"/>
              <a:buChar char="§"/>
            </a:pPr>
            <a:r>
              <a:rPr lang="en-US" altLang="ko-KR" sz="1400" b="1" dirty="0"/>
              <a:t>NOTE : While Kubernetes allows for the creation of YAML files with multiple objects in the same file, this should generally be considered an anti-pattern</a:t>
            </a:r>
            <a:r>
              <a:rPr lang="en-US" altLang="ko-KR" sz="1400" dirty="0"/>
              <a:t>. The only good reason for grouping a number of objects in the same file is if they are conceptually identical. When deciding what to include in a single YAML file, consider design principles similar to those for defining a class or struct. </a:t>
            </a:r>
            <a:r>
              <a:rPr lang="en-US" altLang="ko-KR" sz="1400" b="1" dirty="0">
                <a:solidFill>
                  <a:srgbClr val="FF0000"/>
                </a:solidFill>
              </a:rPr>
              <a:t>If grouping the objects together doesn’t form a single concept, they probably shouldn’t be in a single file(ex. SRP - Single Responsibility Principle)</a:t>
            </a:r>
            <a:r>
              <a:rPr lang="en-US" altLang="ko-KR" sz="1400" dirty="0"/>
              <a:t>. </a:t>
            </a:r>
          </a:p>
          <a:p>
            <a:pPr lvl="1">
              <a:buFont typeface="Wingdings" panose="05000000000000000000" pitchFamily="2" charset="2"/>
              <a:buChar char="§"/>
            </a:pPr>
            <a:r>
              <a:rPr lang="en-US" altLang="ko-KR" sz="1400" dirty="0"/>
              <a:t>Thus, extending our previous example, the filesystem might look like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8" name="직사각형 7">
            <a:extLst>
              <a:ext uri="{FF2B5EF4-FFF2-40B4-BE49-F238E27FC236}">
                <a16:creationId xmlns:a16="http://schemas.microsoft.com/office/drawing/2014/main" id="{7A4A19E7-56EE-4ED8-8C4E-D1DA2768C1FE}"/>
              </a:ext>
            </a:extLst>
          </p:cNvPr>
          <p:cNvSpPr/>
          <p:nvPr/>
        </p:nvSpPr>
        <p:spPr>
          <a:xfrm>
            <a:off x="3048000" y="2299056"/>
            <a:ext cx="6096000" cy="553998"/>
          </a:xfrm>
          <a:prstGeom prst="rect">
            <a:avLst/>
          </a:prstGeom>
          <a:ln>
            <a:solidFill>
              <a:schemeClr val="bg1">
                <a:lumMod val="50000"/>
              </a:schemeClr>
            </a:solidFill>
          </a:ln>
        </p:spPr>
        <p:txBody>
          <a:bodyPr>
            <a:spAutoFit/>
          </a:bodyPr>
          <a:lstStyle/>
          <a:p>
            <a:r>
              <a:rPr lang="en-US" altLang="ko-KR" sz="1000" b="1" dirty="0"/>
              <a:t>frontend/</a:t>
            </a:r>
          </a:p>
          <a:p>
            <a:r>
              <a:rPr lang="en-US" altLang="ko-KR" sz="1000" b="1" dirty="0"/>
              <a:t>service-1/</a:t>
            </a:r>
          </a:p>
          <a:p>
            <a:r>
              <a:rPr lang="en-US" altLang="ko-KR" sz="1000" b="1" dirty="0"/>
              <a:t>service-2/</a:t>
            </a:r>
          </a:p>
        </p:txBody>
      </p:sp>
      <p:sp>
        <p:nvSpPr>
          <p:cNvPr id="9" name="직사각형 8">
            <a:extLst>
              <a:ext uri="{FF2B5EF4-FFF2-40B4-BE49-F238E27FC236}">
                <a16:creationId xmlns:a16="http://schemas.microsoft.com/office/drawing/2014/main" id="{8EF85FCA-2EA3-4961-9944-1B6A51A28D26}"/>
              </a:ext>
            </a:extLst>
          </p:cNvPr>
          <p:cNvSpPr/>
          <p:nvPr/>
        </p:nvSpPr>
        <p:spPr>
          <a:xfrm>
            <a:off x="3048000" y="4931702"/>
            <a:ext cx="6096000" cy="1477328"/>
          </a:xfrm>
          <a:prstGeom prst="rect">
            <a:avLst/>
          </a:prstGeom>
          <a:ln>
            <a:solidFill>
              <a:schemeClr val="bg1">
                <a:lumMod val="50000"/>
              </a:schemeClr>
            </a:solidFill>
          </a:ln>
        </p:spPr>
        <p:txBody>
          <a:bodyPr>
            <a:spAutoFit/>
          </a:bodyPr>
          <a:lstStyle/>
          <a:p>
            <a:r>
              <a:rPr lang="en-US" altLang="ko-KR" sz="1000" b="1" dirty="0"/>
              <a:t>frontend/</a:t>
            </a:r>
          </a:p>
          <a:p>
            <a:r>
              <a:rPr lang="en-US" altLang="ko-KR" sz="1000" b="1" dirty="0"/>
              <a:t>    frontend-</a:t>
            </a:r>
            <a:r>
              <a:rPr lang="en-US" altLang="ko-KR" sz="1000" b="1" dirty="0" err="1"/>
              <a:t>deployment.yaml</a:t>
            </a:r>
            <a:endParaRPr lang="en-US" altLang="ko-KR" sz="1000" b="1" dirty="0"/>
          </a:p>
          <a:p>
            <a:r>
              <a:rPr lang="en-US" altLang="ko-KR" sz="1000" b="1" dirty="0"/>
              <a:t>    frontend-</a:t>
            </a:r>
            <a:r>
              <a:rPr lang="en-US" altLang="ko-KR" sz="1000" b="1" dirty="0" err="1"/>
              <a:t>service.yaml</a:t>
            </a:r>
            <a:endParaRPr lang="en-US" altLang="ko-KR" sz="1000" b="1" dirty="0"/>
          </a:p>
          <a:p>
            <a:r>
              <a:rPr lang="en-US" altLang="ko-KR" sz="1000" b="1" dirty="0"/>
              <a:t>    frontend-</a:t>
            </a:r>
            <a:r>
              <a:rPr lang="en-US" altLang="ko-KR" sz="1000" b="1" dirty="0" err="1"/>
              <a:t>ingress.yaml</a:t>
            </a:r>
            <a:endParaRPr lang="en-US" altLang="ko-KR" sz="1000" b="1" dirty="0"/>
          </a:p>
          <a:p>
            <a:r>
              <a:rPr lang="en-US" altLang="ko-KR" sz="1000" b="1" dirty="0"/>
              <a:t>service-1/</a:t>
            </a:r>
          </a:p>
          <a:p>
            <a:r>
              <a:rPr lang="en-US" altLang="ko-KR" sz="1000" b="1" dirty="0"/>
              <a:t>    service-1-deployment.yaml</a:t>
            </a:r>
          </a:p>
          <a:p>
            <a:r>
              <a:rPr lang="en-US" altLang="ko-KR" sz="1000" b="1" dirty="0"/>
              <a:t>    service-1-service.yaml</a:t>
            </a:r>
          </a:p>
          <a:p>
            <a:r>
              <a:rPr lang="en-US" altLang="ko-KR" sz="1000" b="1" dirty="0"/>
              <a:t>    service-1-configmap.yaml</a:t>
            </a:r>
          </a:p>
          <a:p>
            <a:r>
              <a:rPr lang="en-US" altLang="ko-KR" sz="1000" b="1" dirty="0"/>
              <a:t>...</a:t>
            </a:r>
            <a:endParaRPr lang="ko-KR" altLang="en-US" sz="1000" b="1" dirty="0"/>
          </a:p>
        </p:txBody>
      </p:sp>
    </p:spTree>
    <p:extLst>
      <p:ext uri="{BB962C8B-B14F-4D97-AF65-F5344CB8AC3E}">
        <p14:creationId xmlns:p14="http://schemas.microsoft.com/office/powerpoint/2010/main" val="40013731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Managing Your Application in Source Control(2/4)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Managing Periodic Versions :</a:t>
            </a:r>
          </a:p>
          <a:p>
            <a:pPr lvl="1">
              <a:buFont typeface="Wingdings" panose="05000000000000000000" pitchFamily="2" charset="2"/>
              <a:buChar char="§"/>
            </a:pPr>
            <a:r>
              <a:rPr lang="en-US" altLang="ko-KR" sz="1400" b="1" dirty="0"/>
              <a:t>It is very useful to be able to look back historically and see what your application deployment previously looked like</a:t>
            </a:r>
            <a:r>
              <a:rPr lang="en-US" altLang="ko-KR" sz="1400" dirty="0"/>
              <a:t>. Similarly, it is very useful to be able to </a:t>
            </a:r>
            <a:r>
              <a:rPr lang="en-US" altLang="ko-KR" sz="1400" b="1" dirty="0"/>
              <a:t>iterate a configuration forward while still being able to deploy a stable release configuration</a:t>
            </a:r>
            <a:r>
              <a:rPr lang="en-US" altLang="ko-KR" sz="1400" dirty="0"/>
              <a:t>. </a:t>
            </a:r>
          </a:p>
          <a:p>
            <a:pPr lvl="1">
              <a:buFont typeface="Wingdings" panose="05000000000000000000" pitchFamily="2" charset="2"/>
              <a:buChar char="§"/>
            </a:pPr>
            <a:r>
              <a:rPr lang="en-US" altLang="ko-KR" sz="1400" b="1" dirty="0"/>
              <a:t>Consequently, it’s handy to be able to simultaneously store and maintain multiple different revisions of your configuration</a:t>
            </a:r>
            <a:r>
              <a:rPr lang="en-US" altLang="ko-KR" sz="1400" dirty="0"/>
              <a:t>. Given “</a:t>
            </a:r>
            <a:r>
              <a:rPr lang="en-US" altLang="ko-KR" sz="1400" b="1" dirty="0">
                <a:solidFill>
                  <a:srgbClr val="FF0000"/>
                </a:solidFill>
              </a:rPr>
              <a:t>the file and version control approach</a:t>
            </a:r>
            <a:r>
              <a:rPr lang="en-US" altLang="ko-KR" sz="1400" dirty="0"/>
              <a:t>”, there are two different approaches that you can use. The first is to use </a:t>
            </a:r>
            <a:r>
              <a:rPr lang="en-US" altLang="ko-KR" sz="1400" b="1" dirty="0">
                <a:solidFill>
                  <a:srgbClr val="FF0000"/>
                </a:solidFill>
              </a:rPr>
              <a:t>tags, branches, and source-control features</a:t>
            </a:r>
            <a:r>
              <a:rPr lang="en-US" altLang="ko-KR" sz="1400" dirty="0"/>
              <a:t>. This is convenient because it maps to the same way that people manage revisions in source control, and it leads to </a:t>
            </a:r>
            <a:r>
              <a:rPr lang="en-US" altLang="ko-KR" sz="1400" b="1" dirty="0"/>
              <a:t>a more simplified directory structure</a:t>
            </a:r>
            <a:r>
              <a:rPr lang="en-US" altLang="ko-KR" sz="1400" dirty="0"/>
              <a:t>. The other option is to </a:t>
            </a:r>
            <a:r>
              <a:rPr lang="en-US" altLang="ko-KR" sz="1400" b="1" dirty="0">
                <a:solidFill>
                  <a:srgbClr val="FF0000"/>
                </a:solidFill>
              </a:rPr>
              <a:t>clone the configuration within the filesystem and use directories for different revisions</a:t>
            </a:r>
            <a:r>
              <a:rPr lang="en-US" altLang="ko-KR" sz="1400" dirty="0"/>
              <a:t>. This approach is convenient because it makes </a:t>
            </a:r>
            <a:r>
              <a:rPr lang="en-US" altLang="ko-KR" sz="1400" b="1" dirty="0"/>
              <a:t>simultaneous viewing of the configurations very straightforward</a:t>
            </a:r>
            <a:r>
              <a:rPr lang="en-US" altLang="ko-KR" sz="1400" dirty="0"/>
              <a:t>. </a:t>
            </a:r>
          </a:p>
          <a:p>
            <a:pPr lvl="1">
              <a:buFont typeface="Wingdings" panose="05000000000000000000" pitchFamily="2" charset="2"/>
              <a:buChar char="§"/>
            </a:pPr>
            <a:r>
              <a:rPr lang="en-US" altLang="ko-KR" sz="1400" dirty="0"/>
              <a:t>In reality, the approaches are more or less identical, and it is ultimately an </a:t>
            </a:r>
            <a:r>
              <a:rPr lang="en-US" altLang="ko-KR" sz="1400" b="1" dirty="0"/>
              <a:t>aesthetic choice</a:t>
            </a:r>
            <a:r>
              <a:rPr lang="en-US" altLang="ko-KR" sz="1400" dirty="0"/>
              <a:t> between the two.</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41A2E8A8-C56B-475D-A62E-3203641BB821}"/>
              </a:ext>
            </a:extLst>
          </p:cNvPr>
          <p:cNvPicPr>
            <a:picLocks noChangeAspect="1"/>
          </p:cNvPicPr>
          <p:nvPr/>
        </p:nvPicPr>
        <p:blipFill>
          <a:blip r:embed="rId2"/>
          <a:stretch>
            <a:fillRect/>
          </a:stretch>
        </p:blipFill>
        <p:spPr>
          <a:xfrm>
            <a:off x="3932274" y="3352800"/>
            <a:ext cx="4327452" cy="3056230"/>
          </a:xfrm>
          <a:prstGeom prst="rect">
            <a:avLst/>
          </a:prstGeom>
          <a:ln>
            <a:solidFill>
              <a:schemeClr val="bg1">
                <a:lumMod val="50000"/>
              </a:schemeClr>
            </a:solidFill>
          </a:ln>
        </p:spPr>
      </p:pic>
    </p:spTree>
    <p:extLst>
      <p:ext uri="{BB962C8B-B14F-4D97-AF65-F5344CB8AC3E}">
        <p14:creationId xmlns:p14="http://schemas.microsoft.com/office/powerpoint/2010/main" val="42286151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Managing Your Application in Source Control(3/4)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Versioning with Branches and Tags :</a:t>
            </a:r>
          </a:p>
          <a:p>
            <a:pPr lvl="1">
              <a:buFont typeface="Wingdings" panose="05000000000000000000" pitchFamily="2" charset="2"/>
              <a:buChar char="§"/>
            </a:pPr>
            <a:r>
              <a:rPr lang="en-US" altLang="ko-KR" sz="1400" b="1" dirty="0"/>
              <a:t>When you use branches and tags to manage configuration revisions, the directory structure is unchanged</a:t>
            </a:r>
            <a:r>
              <a:rPr lang="en-US" altLang="ko-KR" sz="1400" dirty="0"/>
              <a:t>. When you are ready for a </a:t>
            </a:r>
            <a:r>
              <a:rPr lang="en-US" altLang="ko-KR" sz="1400" b="1" dirty="0">
                <a:solidFill>
                  <a:srgbClr val="FF0000"/>
                </a:solidFill>
              </a:rPr>
              <a:t>release</a:t>
            </a:r>
            <a:r>
              <a:rPr lang="en-US" altLang="ko-KR" sz="1400" b="1" dirty="0"/>
              <a:t>, </a:t>
            </a:r>
            <a:r>
              <a:rPr lang="en-US" altLang="ko-KR" sz="1400" dirty="0"/>
              <a:t>you place a source-control </a:t>
            </a:r>
            <a:r>
              <a:rPr lang="en-US" altLang="ko-KR" sz="1400" b="1" dirty="0">
                <a:solidFill>
                  <a:srgbClr val="FF0000"/>
                </a:solidFill>
              </a:rPr>
              <a:t>tag</a:t>
            </a:r>
            <a:r>
              <a:rPr lang="en-US" altLang="ko-KR" sz="1400" dirty="0"/>
              <a:t> (e.g., “git tag v1.0”) in the configuration source-control system. </a:t>
            </a:r>
            <a:r>
              <a:rPr lang="en-US" altLang="ko-KR" sz="1400" b="1" dirty="0">
                <a:solidFill>
                  <a:srgbClr val="FF0000"/>
                </a:solidFill>
              </a:rPr>
              <a:t>The tag represents the configuration used for that version</a:t>
            </a:r>
            <a:r>
              <a:rPr lang="en-US" altLang="ko-KR" sz="1400" dirty="0"/>
              <a:t>, and </a:t>
            </a:r>
            <a:r>
              <a:rPr lang="en-US" altLang="ko-KR" sz="1400" b="1" dirty="0"/>
              <a:t>the </a:t>
            </a:r>
            <a:r>
              <a:rPr lang="en-US" altLang="ko-KR" sz="1400" b="1" dirty="0">
                <a:solidFill>
                  <a:srgbClr val="FF0000"/>
                </a:solidFill>
              </a:rPr>
              <a:t>HEAD</a:t>
            </a:r>
            <a:r>
              <a:rPr lang="en-US" altLang="ko-KR" sz="1400" b="1" dirty="0"/>
              <a:t> of source control continues to iterate forward</a:t>
            </a:r>
            <a:r>
              <a:rPr lang="en-US" altLang="ko-KR" sz="1400" dirty="0"/>
              <a:t>.</a:t>
            </a:r>
          </a:p>
          <a:p>
            <a:pPr lvl="1">
              <a:buFont typeface="Wingdings" panose="05000000000000000000" pitchFamily="2" charset="2"/>
              <a:buChar char="§"/>
            </a:pPr>
            <a:r>
              <a:rPr lang="en-US" altLang="ko-KR" sz="1400" dirty="0"/>
              <a:t>The world becomes somewhat more complicated when you need to update the release configuration, but the approach models what you would do in source control. </a:t>
            </a:r>
            <a:r>
              <a:rPr lang="en-US" altLang="ko-KR" sz="1400" b="1" dirty="0"/>
              <a:t>First, you </a:t>
            </a:r>
            <a:r>
              <a:rPr lang="en-US" altLang="ko-KR" sz="1400" b="1" dirty="0">
                <a:solidFill>
                  <a:srgbClr val="FF0000"/>
                </a:solidFill>
              </a:rPr>
              <a:t>commit</a:t>
            </a:r>
            <a:r>
              <a:rPr lang="en-US" altLang="ko-KR" sz="1400" b="1" dirty="0"/>
              <a:t> the change to the HEAD of the repository</a:t>
            </a:r>
            <a:r>
              <a:rPr lang="en-US" altLang="ko-KR" sz="1400" dirty="0"/>
              <a:t>. </a:t>
            </a:r>
            <a:r>
              <a:rPr lang="en-US" altLang="ko-KR" sz="1400" b="1" dirty="0"/>
              <a:t>Then you create a new </a:t>
            </a:r>
            <a:r>
              <a:rPr lang="en-US" altLang="ko-KR" sz="1400" b="1" dirty="0">
                <a:solidFill>
                  <a:srgbClr val="FF0000"/>
                </a:solidFill>
              </a:rPr>
              <a:t>branch</a:t>
            </a:r>
            <a:r>
              <a:rPr lang="en-US" altLang="ko-KR" sz="1400" b="1" dirty="0"/>
              <a:t> named v1 at the v1.0 tag</a:t>
            </a:r>
            <a:r>
              <a:rPr lang="en-US" altLang="ko-KR" sz="1400" dirty="0"/>
              <a:t>. </a:t>
            </a:r>
            <a:r>
              <a:rPr lang="en-US" altLang="ko-KR" sz="1400" b="1" dirty="0"/>
              <a:t>You then cherry-pick the desired change onto the release branch </a:t>
            </a:r>
            <a:r>
              <a:rPr lang="en-US" altLang="ko-KR" sz="1400" dirty="0"/>
              <a:t>(“git cherry-pick &lt;edit&gt;”), and </a:t>
            </a:r>
            <a:r>
              <a:rPr lang="en-US" altLang="ko-KR" sz="1400" b="1" dirty="0"/>
              <a:t>finally, you tag this branch with the v1.1 tag to </a:t>
            </a:r>
            <a:r>
              <a:rPr lang="en-US" altLang="ko-KR" sz="1400" b="1" dirty="0">
                <a:solidFill>
                  <a:srgbClr val="FF0000"/>
                </a:solidFill>
              </a:rPr>
              <a:t>indicate a new point release</a:t>
            </a:r>
            <a:r>
              <a:rPr lang="en-US" altLang="ko-KR" sz="1400" dirty="0"/>
              <a:t>.</a:t>
            </a:r>
          </a:p>
          <a:p>
            <a:pPr lvl="1">
              <a:buFont typeface="Wingdings" panose="05000000000000000000" pitchFamily="2" charset="2"/>
              <a:buChar char="§"/>
            </a:pPr>
            <a:r>
              <a:rPr lang="en-US" altLang="ko-KR" sz="1400" b="1" dirty="0"/>
              <a:t>NOTE : One common error when cherry-picking fixes into a release branch is to only pick the change into the latest release. It’s a good idea to cherry-pick it into all active releases</a:t>
            </a:r>
            <a:r>
              <a:rPr lang="en-US" altLang="ko-KR" sz="1400" dirty="0"/>
              <a:t>, in case for some reason you need to roll back versions but the fix is still needed.</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3518572B-88AF-4262-9E13-BFA37BE5CE52}"/>
              </a:ext>
            </a:extLst>
          </p:cNvPr>
          <p:cNvPicPr>
            <a:picLocks noChangeAspect="1"/>
          </p:cNvPicPr>
          <p:nvPr/>
        </p:nvPicPr>
        <p:blipFill>
          <a:blip r:embed="rId2"/>
          <a:stretch>
            <a:fillRect/>
          </a:stretch>
        </p:blipFill>
        <p:spPr>
          <a:xfrm>
            <a:off x="3242941" y="3803954"/>
            <a:ext cx="5706119" cy="2605076"/>
          </a:xfrm>
          <a:prstGeom prst="rect">
            <a:avLst/>
          </a:prstGeom>
        </p:spPr>
      </p:pic>
    </p:spTree>
    <p:extLst>
      <p:ext uri="{BB962C8B-B14F-4D97-AF65-F5344CB8AC3E}">
        <p14:creationId xmlns:p14="http://schemas.microsoft.com/office/powerpoint/2010/main" val="36307984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Managing Your Application in Source Control(4/4)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lnSpcReduction="10000"/>
          </a:bodyPr>
          <a:lstStyle/>
          <a:p>
            <a:pPr>
              <a:buFont typeface="Wingdings" panose="05000000000000000000" pitchFamily="2" charset="2"/>
              <a:buChar char="§"/>
            </a:pPr>
            <a:r>
              <a:rPr lang="en-US" altLang="ko-KR" sz="1800" b="1" dirty="0"/>
              <a:t>Versioning with Directories :</a:t>
            </a:r>
          </a:p>
          <a:p>
            <a:pPr lvl="1">
              <a:buFont typeface="Wingdings" panose="05000000000000000000" pitchFamily="2" charset="2"/>
              <a:buChar char="§"/>
            </a:pPr>
            <a:r>
              <a:rPr lang="en-US" altLang="ko-KR" sz="1400" b="1" dirty="0"/>
              <a:t>An alternative to using source-control features is to use filesystem features</a:t>
            </a:r>
            <a:r>
              <a:rPr lang="en-US" altLang="ko-KR" sz="1400" dirty="0"/>
              <a:t>. In this approach, </a:t>
            </a:r>
            <a:r>
              <a:rPr lang="en-US" altLang="ko-KR" sz="1400" b="1" dirty="0">
                <a:solidFill>
                  <a:srgbClr val="FF0000"/>
                </a:solidFill>
              </a:rPr>
              <a:t>each versioned deployment exists within its own directory</a:t>
            </a:r>
            <a:r>
              <a:rPr lang="en-US" altLang="ko-KR" sz="1400" dirty="0"/>
              <a:t>. For example, the filesystem for your application might look like this :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t>Thus, each revision exists in a parallel directory structure within a directory associated with the release</a:t>
            </a:r>
            <a:r>
              <a:rPr lang="en-US" altLang="ko-KR" sz="1400" dirty="0"/>
              <a:t>. </a:t>
            </a:r>
            <a:r>
              <a:rPr lang="en-US" altLang="ko-KR" sz="1400" b="1" dirty="0">
                <a:solidFill>
                  <a:srgbClr val="FF0000"/>
                </a:solidFill>
              </a:rPr>
              <a:t>All deployments occur from HEAD instead of from specific revisions or tags</a:t>
            </a:r>
            <a:r>
              <a:rPr lang="en-US" altLang="ko-KR" sz="1400" dirty="0"/>
              <a:t>. When adding a new configuration, it is done to the files in the current directory.</a:t>
            </a:r>
          </a:p>
          <a:p>
            <a:pPr lvl="1">
              <a:buFont typeface="Wingdings" panose="05000000000000000000" pitchFamily="2" charset="2"/>
              <a:buChar char="§"/>
            </a:pPr>
            <a:r>
              <a:rPr lang="en-US" altLang="ko-KR" sz="1400" b="1" dirty="0"/>
              <a:t>When creating a new release, the current directory is copied to create a new directory associated with the new release</a:t>
            </a:r>
            <a:r>
              <a:rPr lang="en-US" altLang="ko-KR" sz="1400" dirty="0"/>
              <a:t>. </a:t>
            </a:r>
          </a:p>
          <a:p>
            <a:pPr lvl="1">
              <a:buFont typeface="Wingdings" panose="05000000000000000000" pitchFamily="2" charset="2"/>
              <a:buChar char="§"/>
            </a:pPr>
            <a:r>
              <a:rPr lang="en-US" altLang="ko-KR" sz="1400" b="1" dirty="0"/>
              <a:t>When performing a bugfix change to a release, the pull request must modify the YAML file in all the relevant release directories</a:t>
            </a:r>
            <a:r>
              <a:rPr lang="en-US" altLang="ko-KR" sz="1400" dirty="0"/>
              <a:t>. This is a slightly better experience than the cherry-picking approach described earlier, since it is clear in </a:t>
            </a:r>
            <a:r>
              <a:rPr lang="en-US" altLang="ko-KR" sz="1400" b="1" dirty="0"/>
              <a:t>a single change request that all of the relevant versions are being updated with the same change, instead of requiring a cherry-pick per version</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B36880D7-297C-4420-9A6B-866C326C3033}"/>
              </a:ext>
            </a:extLst>
          </p:cNvPr>
          <p:cNvSpPr/>
          <p:nvPr/>
        </p:nvSpPr>
        <p:spPr>
          <a:xfrm>
            <a:off x="3048000" y="1568024"/>
            <a:ext cx="6096000" cy="2862322"/>
          </a:xfrm>
          <a:prstGeom prst="rect">
            <a:avLst/>
          </a:prstGeom>
          <a:ln>
            <a:solidFill>
              <a:schemeClr val="bg1">
                <a:lumMod val="50000"/>
              </a:schemeClr>
            </a:solidFill>
          </a:ln>
        </p:spPr>
        <p:txBody>
          <a:bodyPr>
            <a:spAutoFit/>
          </a:bodyPr>
          <a:lstStyle/>
          <a:p>
            <a:r>
              <a:rPr lang="en-US" altLang="ko-KR" sz="1000" b="1" dirty="0"/>
              <a:t>frontend/</a:t>
            </a:r>
          </a:p>
          <a:p>
            <a:r>
              <a:rPr lang="en-US" altLang="ko-KR" sz="1000" b="1" dirty="0"/>
              <a:t>    v1/</a:t>
            </a:r>
          </a:p>
          <a:p>
            <a:r>
              <a:rPr lang="en-US" altLang="ko-KR" sz="1000" b="1" dirty="0"/>
              <a:t>        frontend-</a:t>
            </a:r>
            <a:r>
              <a:rPr lang="en-US" altLang="ko-KR" sz="1000" b="1" dirty="0" err="1"/>
              <a:t>deployment.yaml</a:t>
            </a:r>
            <a:endParaRPr lang="en-US" altLang="ko-KR" sz="1000" b="1" dirty="0"/>
          </a:p>
          <a:p>
            <a:r>
              <a:rPr lang="en-US" altLang="ko-KR" sz="1000" b="1" dirty="0"/>
              <a:t>        frontend-</a:t>
            </a:r>
            <a:r>
              <a:rPr lang="en-US" altLang="ko-KR" sz="1000" b="1" dirty="0" err="1"/>
              <a:t>service.yaml</a:t>
            </a:r>
            <a:endParaRPr lang="en-US" altLang="ko-KR" sz="1000" b="1" dirty="0"/>
          </a:p>
          <a:p>
            <a:r>
              <a:rPr lang="en-US" altLang="ko-KR" sz="1000" b="1" dirty="0"/>
              <a:t>    current/</a:t>
            </a:r>
          </a:p>
          <a:p>
            <a:r>
              <a:rPr lang="en-US" altLang="ko-KR" sz="1000" b="1" dirty="0"/>
              <a:t>        frontend-</a:t>
            </a:r>
            <a:r>
              <a:rPr lang="en-US" altLang="ko-KR" sz="1000" b="1" dirty="0" err="1"/>
              <a:t>deployment.yaml</a:t>
            </a:r>
            <a:endParaRPr lang="en-US" altLang="ko-KR" sz="1000" b="1" dirty="0"/>
          </a:p>
          <a:p>
            <a:r>
              <a:rPr lang="en-US" altLang="ko-KR" sz="1000" b="1" dirty="0"/>
              <a:t>        frontend-</a:t>
            </a:r>
            <a:r>
              <a:rPr lang="en-US" altLang="ko-KR" sz="1000" b="1" dirty="0" err="1"/>
              <a:t>service.yaml</a:t>
            </a:r>
            <a:endParaRPr lang="en-US" altLang="ko-KR" sz="1000" b="1" dirty="0"/>
          </a:p>
          <a:p>
            <a:r>
              <a:rPr lang="en-US" altLang="ko-KR" sz="1000" b="1" dirty="0"/>
              <a:t>service-1/</a:t>
            </a:r>
          </a:p>
          <a:p>
            <a:r>
              <a:rPr lang="en-US" altLang="ko-KR" sz="1000" b="1" dirty="0"/>
              <a:t>    v1/</a:t>
            </a:r>
          </a:p>
          <a:p>
            <a:r>
              <a:rPr lang="en-US" altLang="ko-KR" sz="1000" b="1" dirty="0"/>
              <a:t>        service-1-deployment.yaml</a:t>
            </a:r>
          </a:p>
          <a:p>
            <a:r>
              <a:rPr lang="en-US" altLang="ko-KR" sz="1000" b="1" dirty="0"/>
              <a:t>        service-1-service.yaml</a:t>
            </a:r>
          </a:p>
          <a:p>
            <a:r>
              <a:rPr lang="en-US" altLang="ko-KR" sz="1000" b="1" dirty="0"/>
              <a:t>    v2/</a:t>
            </a:r>
          </a:p>
          <a:p>
            <a:r>
              <a:rPr lang="en-US" altLang="ko-KR" sz="1000" b="1" dirty="0"/>
              <a:t>        service-1-deployment.yaml</a:t>
            </a:r>
          </a:p>
          <a:p>
            <a:r>
              <a:rPr lang="en-US" altLang="ko-KR" sz="1000" b="1" dirty="0"/>
              <a:t>        service-1-service.yaml</a:t>
            </a:r>
          </a:p>
          <a:p>
            <a:r>
              <a:rPr lang="en-US" altLang="ko-KR" sz="1000" b="1" dirty="0"/>
              <a:t>    current/</a:t>
            </a:r>
          </a:p>
          <a:p>
            <a:r>
              <a:rPr lang="en-US" altLang="ko-KR" sz="1000" b="1" dirty="0"/>
              <a:t>        service-1-deployment.yaml</a:t>
            </a:r>
          </a:p>
          <a:p>
            <a:r>
              <a:rPr lang="en-US" altLang="ko-KR" sz="1000" b="1" dirty="0"/>
              <a:t>        service-1-service.yaml</a:t>
            </a:r>
          </a:p>
          <a:p>
            <a:r>
              <a:rPr lang="en-US" altLang="ko-KR" sz="1000" b="1" dirty="0"/>
              <a:t>...</a:t>
            </a:r>
          </a:p>
        </p:txBody>
      </p:sp>
    </p:spTree>
    <p:extLst>
      <p:ext uri="{BB962C8B-B14F-4D97-AF65-F5344CB8AC3E}">
        <p14:creationId xmlns:p14="http://schemas.microsoft.com/office/powerpoint/2010/main" val="35517097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Structuring for Development, Testing, and Deployment(1/4)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Purpose :</a:t>
            </a:r>
          </a:p>
          <a:p>
            <a:pPr lvl="1">
              <a:buFont typeface="Wingdings" panose="05000000000000000000" pitchFamily="2" charset="2"/>
              <a:buChar char="§"/>
            </a:pPr>
            <a:r>
              <a:rPr lang="en-US" altLang="ko-KR" sz="1400" b="1" dirty="0"/>
              <a:t>In addition to structuring your application for a periodic release cadence, you also want to structure your application to enable agile development, quality testing, and safe deployment</a:t>
            </a:r>
            <a:r>
              <a:rPr lang="en-US" altLang="ko-KR" sz="1400" dirty="0"/>
              <a:t>. This enables developers to rapidly make and test changes to the distributed application, and to safely roll those changes out to customers.</a:t>
            </a:r>
          </a:p>
          <a:p>
            <a:pPr>
              <a:buFont typeface="Wingdings" panose="05000000000000000000" pitchFamily="2" charset="2"/>
              <a:buChar char="§"/>
            </a:pPr>
            <a:r>
              <a:rPr lang="en-US" altLang="ko-KR" sz="1800" b="1" dirty="0"/>
              <a:t>Goal : </a:t>
            </a:r>
          </a:p>
          <a:p>
            <a:pPr lvl="1">
              <a:buFont typeface="Wingdings" panose="05000000000000000000" pitchFamily="2" charset="2"/>
              <a:buChar char="§"/>
            </a:pPr>
            <a:r>
              <a:rPr lang="en-US" altLang="ko-KR" sz="1400" dirty="0"/>
              <a:t>There are two goals for your application with regard to </a:t>
            </a:r>
            <a:r>
              <a:rPr lang="en-US" altLang="ko-KR" sz="1400" b="1" dirty="0"/>
              <a:t>development and testing</a:t>
            </a:r>
            <a:r>
              <a:rPr lang="en-US" altLang="ko-KR" sz="1400" dirty="0"/>
              <a:t>. </a:t>
            </a:r>
          </a:p>
          <a:p>
            <a:pPr lvl="2">
              <a:buFont typeface="Wingdings" panose="05000000000000000000" pitchFamily="2" charset="2"/>
              <a:buChar char="§"/>
            </a:pPr>
            <a:r>
              <a:rPr lang="en-US" altLang="ko-KR" sz="1400" b="1" dirty="0"/>
              <a:t>The first is that each developer should be able to easily develop new features for the application</a:t>
            </a:r>
            <a:r>
              <a:rPr lang="en-US" altLang="ko-KR" sz="1400" dirty="0"/>
              <a:t>. In most cases, the developer is only working on a single component, and yet that component is interconnected to all of the other microservices within the cluster. </a:t>
            </a:r>
            <a:r>
              <a:rPr lang="en-US" altLang="ko-KR" sz="1400" b="1" dirty="0"/>
              <a:t>Thus, to facilitate development it is essential that </a:t>
            </a:r>
            <a:r>
              <a:rPr lang="en-US" altLang="ko-KR" sz="1400" b="1" dirty="0">
                <a:solidFill>
                  <a:srgbClr val="FF0000"/>
                </a:solidFill>
              </a:rPr>
              <a:t>developers be able to work in their own environment, yet with all services available</a:t>
            </a:r>
            <a:r>
              <a:rPr lang="en-US" altLang="ko-KR" sz="1400" dirty="0"/>
              <a:t>.</a:t>
            </a:r>
          </a:p>
          <a:p>
            <a:pPr lvl="2">
              <a:buFont typeface="Wingdings" panose="05000000000000000000" pitchFamily="2" charset="2"/>
              <a:buChar char="§"/>
            </a:pPr>
            <a:r>
              <a:rPr lang="en-US" altLang="ko-KR" sz="1400" b="1" dirty="0"/>
              <a:t>The other goal for structuring your application for testing is the ability to easily and accurately test your application prior to deployment</a:t>
            </a:r>
            <a:r>
              <a:rPr lang="en-US" altLang="ko-KR" sz="1400" dirty="0"/>
              <a:t>. This is essential to the ability to </a:t>
            </a:r>
            <a:r>
              <a:rPr lang="en-US" altLang="ko-KR" sz="1400" b="1" dirty="0">
                <a:solidFill>
                  <a:srgbClr val="FF0000"/>
                </a:solidFill>
              </a:rPr>
              <a:t>quickly roll out features while maintaining high reliability</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4E03432B-3A95-4380-BB0C-C8559EE1C841}"/>
              </a:ext>
            </a:extLst>
          </p:cNvPr>
          <p:cNvPicPr>
            <a:picLocks noChangeAspect="1"/>
          </p:cNvPicPr>
          <p:nvPr/>
        </p:nvPicPr>
        <p:blipFill>
          <a:blip r:embed="rId2"/>
          <a:stretch>
            <a:fillRect/>
          </a:stretch>
        </p:blipFill>
        <p:spPr>
          <a:xfrm>
            <a:off x="3428234" y="3832860"/>
            <a:ext cx="5335532" cy="2576170"/>
          </a:xfrm>
          <a:prstGeom prst="rect">
            <a:avLst/>
          </a:prstGeom>
        </p:spPr>
      </p:pic>
    </p:spTree>
    <p:extLst>
      <p:ext uri="{BB962C8B-B14F-4D97-AF65-F5344CB8AC3E}">
        <p14:creationId xmlns:p14="http://schemas.microsoft.com/office/powerpoint/2010/main" val="2860668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Structuring for Development, Testing, and Deployment(2/4)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Progression of a Release :</a:t>
            </a:r>
          </a:p>
          <a:p>
            <a:pPr lvl="1">
              <a:buFont typeface="Wingdings" panose="05000000000000000000" pitchFamily="2" charset="2"/>
              <a:buChar char="§"/>
            </a:pPr>
            <a:r>
              <a:rPr lang="en-US" altLang="ko-KR" sz="1400" dirty="0"/>
              <a:t>To achieve both of the previous goals, it is important to </a:t>
            </a:r>
            <a:r>
              <a:rPr lang="en-US" altLang="ko-KR" sz="1400" b="1" dirty="0"/>
              <a:t>relate the stages of development to the release versions</a:t>
            </a:r>
            <a:r>
              <a:rPr lang="en-US" altLang="ko-KR" sz="1400" dirty="0"/>
              <a:t>. </a:t>
            </a:r>
          </a:p>
          <a:p>
            <a:pPr lvl="1">
              <a:buFont typeface="Wingdings" panose="05000000000000000000" pitchFamily="2" charset="2"/>
              <a:buChar char="§"/>
            </a:pPr>
            <a:r>
              <a:rPr lang="en-US" altLang="ko-KR" sz="1400" b="1" dirty="0"/>
              <a:t>The stages of a release are </a:t>
            </a:r>
            <a:r>
              <a:rPr lang="en-US" altLang="ko-KR" sz="1400" dirty="0"/>
              <a:t>:</a:t>
            </a:r>
          </a:p>
          <a:p>
            <a:pPr lvl="2">
              <a:buFont typeface="Wingdings" panose="05000000000000000000" pitchFamily="2" charset="2"/>
              <a:buChar char="§"/>
            </a:pPr>
            <a:r>
              <a:rPr lang="en-US" altLang="ko-KR" sz="1400" b="1" dirty="0">
                <a:solidFill>
                  <a:srgbClr val="FF0000"/>
                </a:solidFill>
              </a:rPr>
              <a:t>HEAD</a:t>
            </a:r>
            <a:r>
              <a:rPr lang="en-US" altLang="ko-KR" sz="1400" dirty="0"/>
              <a:t> - The bleeding edge of the configuration; the </a:t>
            </a:r>
            <a:r>
              <a:rPr lang="en-US" altLang="ko-KR" sz="1400" b="1" dirty="0"/>
              <a:t>latest changes</a:t>
            </a:r>
            <a:r>
              <a:rPr lang="en-US" altLang="ko-KR" sz="1400" dirty="0"/>
              <a:t>.</a:t>
            </a:r>
          </a:p>
          <a:p>
            <a:pPr lvl="2">
              <a:buFont typeface="Wingdings" panose="05000000000000000000" pitchFamily="2" charset="2"/>
              <a:buChar char="§"/>
            </a:pPr>
            <a:r>
              <a:rPr lang="en-US" altLang="ko-KR" sz="1400" b="1" dirty="0">
                <a:solidFill>
                  <a:srgbClr val="FF0000"/>
                </a:solidFill>
              </a:rPr>
              <a:t>Development</a:t>
            </a:r>
            <a:r>
              <a:rPr lang="en-US" altLang="ko-KR" sz="1400" dirty="0"/>
              <a:t> - </a:t>
            </a:r>
            <a:r>
              <a:rPr lang="en-US" altLang="ko-KR" sz="1400" b="1" dirty="0"/>
              <a:t>Largely stable, but not ready for deployment</a:t>
            </a:r>
            <a:r>
              <a:rPr lang="en-US" altLang="ko-KR" sz="1400" dirty="0"/>
              <a:t>. Suitable for developers to use for building features.</a:t>
            </a:r>
          </a:p>
          <a:p>
            <a:pPr lvl="2">
              <a:buFont typeface="Wingdings" panose="05000000000000000000" pitchFamily="2" charset="2"/>
              <a:buChar char="§"/>
            </a:pPr>
            <a:r>
              <a:rPr lang="en-US" altLang="ko-KR" sz="1400" b="1" dirty="0">
                <a:solidFill>
                  <a:srgbClr val="FF0000"/>
                </a:solidFill>
              </a:rPr>
              <a:t>Staging</a:t>
            </a:r>
            <a:r>
              <a:rPr lang="en-US" altLang="ko-KR" sz="1400" dirty="0"/>
              <a:t> - </a:t>
            </a:r>
            <a:r>
              <a:rPr lang="en-US" altLang="ko-KR" sz="1400" b="1" dirty="0"/>
              <a:t>The beginnings of testing</a:t>
            </a:r>
            <a:r>
              <a:rPr lang="en-US" altLang="ko-KR" sz="1400" dirty="0"/>
              <a:t>, unlikely to change unless problems are found.</a:t>
            </a:r>
          </a:p>
          <a:p>
            <a:pPr lvl="2">
              <a:buFont typeface="Wingdings" panose="05000000000000000000" pitchFamily="2" charset="2"/>
              <a:buChar char="§"/>
            </a:pPr>
            <a:r>
              <a:rPr lang="en-US" altLang="ko-KR" sz="1400" b="1" dirty="0">
                <a:solidFill>
                  <a:srgbClr val="FF0000"/>
                </a:solidFill>
              </a:rPr>
              <a:t>Canary</a:t>
            </a:r>
            <a:r>
              <a:rPr lang="en-US" altLang="ko-KR" sz="1400" dirty="0"/>
              <a:t> - </a:t>
            </a:r>
            <a:r>
              <a:rPr lang="en-US" altLang="ko-KR" sz="1400" b="1" dirty="0"/>
              <a:t>The first real release to users</a:t>
            </a:r>
            <a:r>
              <a:rPr lang="en-US" altLang="ko-KR" sz="1400" dirty="0"/>
              <a:t>, used to test for problems with real-world traffic and likewise give users a chance to test what is coming next.</a:t>
            </a:r>
          </a:p>
          <a:p>
            <a:pPr lvl="2">
              <a:buFont typeface="Wingdings" panose="05000000000000000000" pitchFamily="2" charset="2"/>
              <a:buChar char="§"/>
            </a:pPr>
            <a:r>
              <a:rPr lang="en-US" altLang="ko-KR" sz="1400" b="1" dirty="0">
                <a:solidFill>
                  <a:srgbClr val="FF0000"/>
                </a:solidFill>
              </a:rPr>
              <a:t>Release</a:t>
            </a:r>
            <a:r>
              <a:rPr lang="en-US" altLang="ko-KR" sz="1400" b="1" dirty="0"/>
              <a:t> - The current production release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2D224A75-B2DF-4672-8D7E-13CCC2AA64D9}"/>
              </a:ext>
            </a:extLst>
          </p:cNvPr>
          <p:cNvPicPr>
            <a:picLocks noChangeAspect="1"/>
          </p:cNvPicPr>
          <p:nvPr/>
        </p:nvPicPr>
        <p:blipFill>
          <a:blip r:embed="rId2"/>
          <a:stretch>
            <a:fillRect/>
          </a:stretch>
        </p:blipFill>
        <p:spPr>
          <a:xfrm>
            <a:off x="2614902" y="3429000"/>
            <a:ext cx="6962195" cy="2980030"/>
          </a:xfrm>
          <a:prstGeom prst="rect">
            <a:avLst/>
          </a:prstGeom>
        </p:spPr>
      </p:pic>
    </p:spTree>
    <p:extLst>
      <p:ext uri="{BB962C8B-B14F-4D97-AF65-F5344CB8AC3E}">
        <p14:creationId xmlns:p14="http://schemas.microsoft.com/office/powerpoint/2010/main" val="33235834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Structuring for Development, Testing, and Deployment(3/4)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Introducing a Development Tag :</a:t>
            </a:r>
          </a:p>
          <a:p>
            <a:pPr lvl="1">
              <a:buFont typeface="Wingdings" panose="05000000000000000000" pitchFamily="2" charset="2"/>
              <a:buChar char="§"/>
            </a:pPr>
            <a:r>
              <a:rPr lang="en-US" altLang="ko-KR" sz="1400" b="1" dirty="0"/>
              <a:t>Regardless of whether you structure releases using the filesystem or version control, the right way to model the development stage is </a:t>
            </a:r>
            <a:r>
              <a:rPr lang="en-US" altLang="ko-KR" sz="1400" b="1" dirty="0">
                <a:solidFill>
                  <a:srgbClr val="FF0000"/>
                </a:solidFill>
              </a:rPr>
              <a:t>via a source-control tag</a:t>
            </a:r>
            <a:r>
              <a:rPr lang="en-US" altLang="ko-KR" sz="1400" dirty="0"/>
              <a:t>. This is because development is necessarily fast-moving as it tracks stability only slightly behind HEAD.</a:t>
            </a:r>
          </a:p>
          <a:p>
            <a:pPr lvl="1">
              <a:buFont typeface="Wingdings" panose="05000000000000000000" pitchFamily="2" charset="2"/>
              <a:buChar char="§"/>
            </a:pPr>
            <a:r>
              <a:rPr lang="en-US" altLang="ko-KR" sz="1400" b="1" dirty="0"/>
              <a:t>To introduce a development stage, a new development tag is added to the source-control system and an automated process is used to move this tag forward</a:t>
            </a:r>
            <a:r>
              <a:rPr lang="en-US" altLang="ko-KR" sz="1400" dirty="0"/>
              <a:t>. On a periodic cadence, </a:t>
            </a:r>
            <a:r>
              <a:rPr lang="en-US" altLang="ko-KR" sz="1400" b="1" dirty="0"/>
              <a:t>HEAD</a:t>
            </a:r>
            <a:r>
              <a:rPr lang="en-US" altLang="ko-KR" sz="1400" dirty="0"/>
              <a:t> is tested via automated integration testing. If these tests pass, the development tag is moved forward to HEAD. </a:t>
            </a:r>
            <a:r>
              <a:rPr lang="en-US" altLang="ko-KR" sz="1400" b="1" dirty="0"/>
              <a:t>Thus, developers can track reasonably close to the latest changes when deploying their own environments, but they also can be assured that the deployed configurations have at least passed a limited </a:t>
            </a:r>
            <a:r>
              <a:rPr lang="en-US" altLang="ko-KR" sz="1400" b="1" dirty="0">
                <a:solidFill>
                  <a:srgbClr val="FF0000"/>
                </a:solidFill>
              </a:rPr>
              <a:t>smoke test</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D53D3FA7-94EF-48B2-B4C0-576EAD3D8B78}"/>
              </a:ext>
            </a:extLst>
          </p:cNvPr>
          <p:cNvPicPr>
            <a:picLocks noChangeAspect="1"/>
          </p:cNvPicPr>
          <p:nvPr/>
        </p:nvPicPr>
        <p:blipFill>
          <a:blip r:embed="rId2"/>
          <a:stretch>
            <a:fillRect/>
          </a:stretch>
        </p:blipFill>
        <p:spPr>
          <a:xfrm>
            <a:off x="3044190" y="3242183"/>
            <a:ext cx="6103620" cy="2624557"/>
          </a:xfrm>
          <a:prstGeom prst="rect">
            <a:avLst/>
          </a:prstGeom>
        </p:spPr>
      </p:pic>
    </p:spTree>
    <p:extLst>
      <p:ext uri="{BB962C8B-B14F-4D97-AF65-F5344CB8AC3E}">
        <p14:creationId xmlns:p14="http://schemas.microsoft.com/office/powerpoint/2010/main" val="2433909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Structuring for Development, Testing, and Deployment(4/4)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Mapping Stages to Revisions :</a:t>
            </a:r>
          </a:p>
          <a:p>
            <a:pPr lvl="1">
              <a:buFont typeface="Wingdings" panose="05000000000000000000" pitchFamily="2" charset="2"/>
              <a:buChar char="§"/>
            </a:pPr>
            <a:r>
              <a:rPr lang="en-US" altLang="ko-KR" sz="1400" b="1" dirty="0"/>
              <a:t>It might be tempting to introduce a new set of configurations for each of the previous stages</a:t>
            </a:r>
            <a:r>
              <a:rPr lang="en-US" altLang="ko-KR" sz="1400" dirty="0"/>
              <a:t>, but in reality, the Cartesian product of versions and stages would create a mess that is very difficult to reason about. Instead, </a:t>
            </a:r>
            <a:r>
              <a:rPr lang="en-US" altLang="ko-KR" sz="1400" b="1" dirty="0"/>
              <a:t>the right practice is to </a:t>
            </a:r>
            <a:r>
              <a:rPr lang="en-US" altLang="ko-KR" sz="1400" b="1" dirty="0">
                <a:solidFill>
                  <a:srgbClr val="FF0000"/>
                </a:solidFill>
              </a:rPr>
              <a:t>introduce a mapping between revisions and stages</a:t>
            </a:r>
            <a:r>
              <a:rPr lang="en-US" altLang="ko-KR" sz="1400" dirty="0"/>
              <a:t>.</a:t>
            </a:r>
          </a:p>
          <a:p>
            <a:pPr lvl="1">
              <a:buFont typeface="Wingdings" panose="05000000000000000000" pitchFamily="2" charset="2"/>
              <a:buChar char="§"/>
            </a:pPr>
            <a:r>
              <a:rPr lang="en-US" altLang="ko-KR" sz="1400" dirty="0"/>
              <a:t>Regardless of whether you are using the filesystem or source-control revisions to represent different configuration versions, it is </a:t>
            </a:r>
            <a:r>
              <a:rPr lang="en-US" altLang="ko-KR" sz="1400" b="1" dirty="0"/>
              <a:t>easy to implement a map from stage to revision</a:t>
            </a:r>
            <a:r>
              <a:rPr lang="en-US" altLang="ko-KR" sz="1400" dirty="0"/>
              <a:t>. In the filesystem case you can use </a:t>
            </a:r>
            <a:r>
              <a:rPr lang="en-US" altLang="ko-KR" sz="1400" b="1" dirty="0"/>
              <a:t>symbolic links to map a stage name to a revision</a:t>
            </a:r>
            <a:r>
              <a:rPr lang="en-US" altLang="ko-KR" sz="1400" dirty="0"/>
              <a:t>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In the case of version control, it is simply </a:t>
            </a:r>
            <a:r>
              <a:rPr lang="en-US" altLang="ko-KR" sz="1400" b="1" dirty="0">
                <a:solidFill>
                  <a:srgbClr val="FF0000"/>
                </a:solidFill>
              </a:rPr>
              <a:t>an additional tag</a:t>
            </a:r>
            <a:r>
              <a:rPr lang="en-US" altLang="ko-KR" sz="1400" b="1" dirty="0"/>
              <a:t> at the same revision as the appropriate version</a:t>
            </a:r>
            <a:r>
              <a:rPr lang="en-US" altLang="ko-KR" sz="1400" dirty="0"/>
              <a:t>.</a:t>
            </a:r>
          </a:p>
          <a:p>
            <a:pPr lvl="1">
              <a:buFont typeface="Wingdings" panose="05000000000000000000" pitchFamily="2" charset="2"/>
              <a:buChar char="§"/>
            </a:pPr>
            <a:r>
              <a:rPr lang="en-US" altLang="ko-KR" sz="1400" dirty="0"/>
              <a:t>In either case, the versioning of releases proceeds using the processes described previously, and separately the stages are moved forward to new versions as appropriate. Effectively this means that </a:t>
            </a:r>
            <a:r>
              <a:rPr lang="en-US" altLang="ko-KR" sz="1400" b="1" dirty="0"/>
              <a:t>there are two simultaneous processes</a:t>
            </a:r>
            <a:r>
              <a:rPr lang="en-US" altLang="ko-KR" sz="1400" dirty="0"/>
              <a:t>,  </a:t>
            </a:r>
            <a:r>
              <a:rPr lang="en-US" altLang="ko-KR" sz="1400" b="1" dirty="0"/>
              <a:t>the first for cutting new release versions and the second for qualifying a release version for a particular stage in the application lifecycle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7366446B-61E1-4C57-9A59-0FDBB26DF24D}"/>
              </a:ext>
            </a:extLst>
          </p:cNvPr>
          <p:cNvSpPr/>
          <p:nvPr/>
        </p:nvSpPr>
        <p:spPr>
          <a:xfrm>
            <a:off x="3048000" y="2488755"/>
            <a:ext cx="6096000" cy="1015663"/>
          </a:xfrm>
          <a:prstGeom prst="rect">
            <a:avLst/>
          </a:prstGeom>
          <a:ln>
            <a:solidFill>
              <a:schemeClr val="bg1">
                <a:lumMod val="50000"/>
              </a:schemeClr>
            </a:solidFill>
          </a:ln>
        </p:spPr>
        <p:txBody>
          <a:bodyPr>
            <a:spAutoFit/>
          </a:bodyPr>
          <a:lstStyle/>
          <a:p>
            <a:r>
              <a:rPr lang="en-US" altLang="ko-KR" sz="1000" b="1" dirty="0"/>
              <a:t>frontend/</a:t>
            </a:r>
          </a:p>
          <a:p>
            <a:r>
              <a:rPr lang="en-US" altLang="ko-KR" sz="1000" b="1" dirty="0"/>
              <a:t>    canary/ -&gt; v2/</a:t>
            </a:r>
          </a:p>
          <a:p>
            <a:r>
              <a:rPr lang="en-US" altLang="ko-KR" sz="1000" b="1" dirty="0"/>
              <a:t>    release/ -&gt; v1/</a:t>
            </a:r>
          </a:p>
          <a:p>
            <a:r>
              <a:rPr lang="en-US" altLang="ko-KR" sz="1000" b="1" dirty="0"/>
              <a:t>    v1/</a:t>
            </a:r>
          </a:p>
          <a:p>
            <a:r>
              <a:rPr lang="en-US" altLang="ko-KR" sz="1000" b="1" dirty="0"/>
              <a:t>        frontend-</a:t>
            </a:r>
            <a:r>
              <a:rPr lang="en-US" altLang="ko-KR" sz="1000" b="1" dirty="0" err="1"/>
              <a:t>deployment.yaml</a:t>
            </a:r>
            <a:endParaRPr lang="en-US" altLang="ko-KR" sz="1000" b="1" dirty="0"/>
          </a:p>
          <a:p>
            <a:r>
              <a:rPr lang="en-US" altLang="ko-KR" sz="1000" b="1" dirty="0"/>
              <a:t>...</a:t>
            </a:r>
          </a:p>
        </p:txBody>
      </p:sp>
      <p:pic>
        <p:nvPicPr>
          <p:cNvPr id="8" name="그림 7">
            <a:extLst>
              <a:ext uri="{FF2B5EF4-FFF2-40B4-BE49-F238E27FC236}">
                <a16:creationId xmlns:a16="http://schemas.microsoft.com/office/drawing/2014/main" id="{2037DADE-C294-47DD-B860-1CC48EF63774}"/>
              </a:ext>
            </a:extLst>
          </p:cNvPr>
          <p:cNvPicPr>
            <a:picLocks noChangeAspect="1"/>
          </p:cNvPicPr>
          <p:nvPr/>
        </p:nvPicPr>
        <p:blipFill>
          <a:blip r:embed="rId2"/>
          <a:stretch>
            <a:fillRect/>
          </a:stretch>
        </p:blipFill>
        <p:spPr>
          <a:xfrm>
            <a:off x="6812280" y="4676216"/>
            <a:ext cx="4541520" cy="1732814"/>
          </a:xfrm>
          <a:prstGeom prst="rect">
            <a:avLst/>
          </a:prstGeom>
        </p:spPr>
      </p:pic>
    </p:spTree>
    <p:extLst>
      <p:ext uri="{BB962C8B-B14F-4D97-AF65-F5344CB8AC3E}">
        <p14:creationId xmlns:p14="http://schemas.microsoft.com/office/powerpoint/2010/main" val="33144214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Parameterizing with Templates(1/4)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Parameterized Environments :</a:t>
            </a:r>
          </a:p>
          <a:p>
            <a:pPr lvl="1">
              <a:buFont typeface="Wingdings" panose="05000000000000000000" pitchFamily="2" charset="2"/>
              <a:buChar char="§"/>
            </a:pPr>
            <a:r>
              <a:rPr lang="en-US" altLang="ko-KR" sz="1400" b="1" dirty="0"/>
              <a:t>Once you have a Cartesian product of environments and stages, it becomes clear that it is impractical or impossible to keep them all entirely identical</a:t>
            </a:r>
            <a:r>
              <a:rPr lang="en-US" altLang="ko-KR" sz="1400" dirty="0"/>
              <a:t>. And yet, it is important to strive for </a:t>
            </a:r>
            <a:r>
              <a:rPr lang="en-US" altLang="ko-KR" sz="1400" b="1" dirty="0"/>
              <a:t>the environments to be as identical as possible</a:t>
            </a:r>
            <a:r>
              <a:rPr lang="en-US" altLang="ko-KR" sz="1400" dirty="0"/>
              <a:t>. Variance and drift between different environments produces snowflakes and systems that are hard to reason about. </a:t>
            </a:r>
            <a:r>
              <a:rPr lang="en-US" altLang="ko-KR" sz="1400" b="1" dirty="0"/>
              <a:t>If your staging environment is different than your release environment, can you really trust the load tests that you ran in the staging environment to qualify a release</a:t>
            </a:r>
            <a:r>
              <a:rPr lang="en-US" altLang="ko-KR" sz="1400" dirty="0"/>
              <a:t>? </a:t>
            </a:r>
          </a:p>
          <a:p>
            <a:pPr lvl="1">
              <a:buFont typeface="Wingdings" panose="05000000000000000000" pitchFamily="2" charset="2"/>
              <a:buChar char="§"/>
            </a:pPr>
            <a:r>
              <a:rPr lang="en-US" altLang="ko-KR" sz="1400" b="1" dirty="0"/>
              <a:t>To ensure that your environments stay as similar as possible, it is useful to use </a:t>
            </a:r>
            <a:r>
              <a:rPr lang="en-US" altLang="ko-KR" sz="1400" b="1" dirty="0">
                <a:solidFill>
                  <a:srgbClr val="FF0000"/>
                </a:solidFill>
              </a:rPr>
              <a:t>parameterized environments</a:t>
            </a:r>
            <a:r>
              <a:rPr lang="en-US" altLang="ko-KR" sz="1400" dirty="0"/>
              <a:t>. Parameterized environments </a:t>
            </a:r>
            <a:r>
              <a:rPr lang="en-US" altLang="ko-KR" sz="1400" b="1" dirty="0"/>
              <a:t>use templates for the bulk of their configuration</a:t>
            </a:r>
            <a:r>
              <a:rPr lang="en-US" altLang="ko-KR" sz="1400" dirty="0"/>
              <a:t>, but they mix in </a:t>
            </a:r>
            <a:r>
              <a:rPr lang="en-US" altLang="ko-KR" sz="1400" b="1" dirty="0"/>
              <a:t>a limited set of parameters to produce the final configuration</a:t>
            </a:r>
            <a:r>
              <a:rPr lang="en-US" altLang="ko-KR" sz="1400" dirty="0"/>
              <a:t>. In this way most of the configuration is contained within a shared template, while the parameterization is limited in scope and </a:t>
            </a:r>
            <a:r>
              <a:rPr lang="en-US" altLang="ko-KR" sz="1400" b="1" dirty="0"/>
              <a:t>maintained in a small parameters file </a:t>
            </a:r>
            <a:r>
              <a:rPr lang="en-US" altLang="ko-KR" sz="1400" dirty="0"/>
              <a:t>for easy visualization of differences between environments.</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13D40F4C-1892-4127-B320-F7201FA05F45}"/>
              </a:ext>
            </a:extLst>
          </p:cNvPr>
          <p:cNvPicPr>
            <a:picLocks noChangeAspect="1"/>
          </p:cNvPicPr>
          <p:nvPr/>
        </p:nvPicPr>
        <p:blipFill>
          <a:blip r:embed="rId2"/>
          <a:stretch>
            <a:fillRect/>
          </a:stretch>
        </p:blipFill>
        <p:spPr>
          <a:xfrm>
            <a:off x="3806190" y="3394113"/>
            <a:ext cx="4579620" cy="3014917"/>
          </a:xfrm>
          <a:prstGeom prst="rect">
            <a:avLst/>
          </a:prstGeom>
        </p:spPr>
      </p:pic>
    </p:spTree>
    <p:extLst>
      <p:ext uri="{BB962C8B-B14F-4D97-AF65-F5344CB8AC3E}">
        <p14:creationId xmlns:p14="http://schemas.microsoft.com/office/powerpoint/2010/main" val="33248904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Parameterizing with Templates(2/4)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Parameterizing with Helm and Templates :</a:t>
            </a:r>
          </a:p>
          <a:p>
            <a:pPr lvl="1">
              <a:buFont typeface="Wingdings" panose="05000000000000000000" pitchFamily="2" charset="2"/>
              <a:buChar char="§"/>
            </a:pPr>
            <a:r>
              <a:rPr lang="en-US" altLang="ko-KR" sz="1400" b="1" dirty="0"/>
              <a:t>There are a variety of different languages for creating parameterized configurations</a:t>
            </a:r>
            <a:r>
              <a:rPr lang="en-US" altLang="ko-KR" sz="1400" dirty="0"/>
              <a:t>. </a:t>
            </a:r>
            <a:r>
              <a:rPr lang="en-US" altLang="ko-KR" sz="1400" b="1" dirty="0"/>
              <a:t>In general they all divide the files into a </a:t>
            </a:r>
            <a:r>
              <a:rPr lang="en-US" altLang="ko-KR" sz="1400" b="1" dirty="0">
                <a:solidFill>
                  <a:srgbClr val="FF0000"/>
                </a:solidFill>
              </a:rPr>
              <a:t>template file</a:t>
            </a:r>
            <a:r>
              <a:rPr lang="en-US" altLang="ko-KR" sz="1400" b="1" dirty="0"/>
              <a:t>, which contains </a:t>
            </a:r>
            <a:r>
              <a:rPr lang="en-US" altLang="ko-KR" sz="1400" b="1" dirty="0">
                <a:solidFill>
                  <a:srgbClr val="FF0000"/>
                </a:solidFill>
              </a:rPr>
              <a:t>the bulk of the configuration</a:t>
            </a:r>
            <a:r>
              <a:rPr lang="en-US" altLang="ko-KR" sz="1400" b="1" dirty="0"/>
              <a:t>, and a </a:t>
            </a:r>
            <a:r>
              <a:rPr lang="en-US" altLang="ko-KR" sz="1400" b="1" dirty="0">
                <a:solidFill>
                  <a:srgbClr val="FF0000"/>
                </a:solidFill>
              </a:rPr>
              <a:t>parameters file</a:t>
            </a:r>
            <a:r>
              <a:rPr lang="en-US" altLang="ko-KR" sz="1400" b="1" dirty="0"/>
              <a:t>, which can be </a:t>
            </a:r>
            <a:r>
              <a:rPr lang="en-US" altLang="ko-KR" sz="1400" b="1" dirty="0">
                <a:solidFill>
                  <a:srgbClr val="FF0000"/>
                </a:solidFill>
              </a:rPr>
              <a:t>combined with the template</a:t>
            </a:r>
            <a:r>
              <a:rPr lang="en-US" altLang="ko-KR" sz="1400" b="1" dirty="0"/>
              <a:t> to produce a complete configuration</a:t>
            </a:r>
            <a:r>
              <a:rPr lang="en-US" altLang="ko-KR" sz="1400" dirty="0"/>
              <a:t>. In addition to parameters, </a:t>
            </a:r>
            <a:r>
              <a:rPr lang="en-US" altLang="ko-KR" sz="1400" b="1" dirty="0"/>
              <a:t>most templating languages allow parameters to have default values if no value is specified</a:t>
            </a:r>
            <a:r>
              <a:rPr lang="en-US" altLang="ko-KR" sz="1400" dirty="0"/>
              <a:t>. </a:t>
            </a:r>
          </a:p>
          <a:p>
            <a:pPr lvl="1">
              <a:buFont typeface="Wingdings" panose="05000000000000000000" pitchFamily="2" charset="2"/>
              <a:buChar char="§"/>
            </a:pPr>
            <a:r>
              <a:rPr lang="en-US" altLang="ko-KR" sz="1400" b="1" dirty="0">
                <a:solidFill>
                  <a:srgbClr val="FF0000"/>
                </a:solidFill>
              </a:rPr>
              <a:t>Helm</a:t>
            </a:r>
            <a:r>
              <a:rPr lang="en-US" altLang="ko-KR" sz="1400" b="1" dirty="0"/>
              <a:t> is a package manager for Kubernetes</a:t>
            </a:r>
            <a:r>
              <a:rPr lang="en-US" altLang="ko-KR" sz="1400" dirty="0"/>
              <a:t>. Despite what devotees of various languages may say, all parameterization languages are largely equivalent, and as with programming languages, which one you prefer is largely a matter of personal or team style.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80E983AD-EF67-439D-80BA-BB5E697957D0}"/>
              </a:ext>
            </a:extLst>
          </p:cNvPr>
          <p:cNvPicPr>
            <a:picLocks noChangeAspect="1"/>
          </p:cNvPicPr>
          <p:nvPr/>
        </p:nvPicPr>
        <p:blipFill>
          <a:blip r:embed="rId2"/>
          <a:stretch>
            <a:fillRect/>
          </a:stretch>
        </p:blipFill>
        <p:spPr>
          <a:xfrm>
            <a:off x="3061335" y="2892021"/>
            <a:ext cx="6069330" cy="3151884"/>
          </a:xfrm>
          <a:prstGeom prst="rect">
            <a:avLst/>
          </a:prstGeom>
        </p:spPr>
      </p:pic>
    </p:spTree>
    <p:extLst>
      <p:ext uri="{BB962C8B-B14F-4D97-AF65-F5344CB8AC3E}">
        <p14:creationId xmlns:p14="http://schemas.microsoft.com/office/powerpoint/2010/main" val="19282205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Parameterizing with Templates(3/4)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Parameterizing with Helm and Templates :</a:t>
            </a:r>
          </a:p>
          <a:p>
            <a:pPr lvl="1">
              <a:buFont typeface="Wingdings" panose="05000000000000000000" pitchFamily="2" charset="2"/>
              <a:buChar char="§"/>
            </a:pPr>
            <a:r>
              <a:rPr lang="en-US" altLang="ko-KR" sz="1400" b="1" dirty="0"/>
              <a:t>The Helm template language uses the “</a:t>
            </a:r>
            <a:r>
              <a:rPr lang="en-US" altLang="ko-KR" sz="1400" b="1" dirty="0">
                <a:solidFill>
                  <a:srgbClr val="FF0000"/>
                </a:solidFill>
              </a:rPr>
              <a:t>mustache</a:t>
            </a:r>
            <a:r>
              <a:rPr lang="en-US" altLang="ko-KR" sz="1400" b="1" dirty="0"/>
              <a:t>” syntax</a:t>
            </a:r>
            <a:r>
              <a:rPr lang="en-US" altLang="ko-KR" sz="1400" dirty="0"/>
              <a:t>, so for example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The above snippet indicates that “</a:t>
            </a:r>
            <a:r>
              <a:rPr lang="en-US" altLang="ko-KR" sz="1400" b="1" dirty="0" err="1"/>
              <a:t>Release.Name</a:t>
            </a:r>
            <a:r>
              <a:rPr lang="en-US" altLang="ko-KR" sz="1400" dirty="0"/>
              <a:t>” should be </a:t>
            </a:r>
            <a:r>
              <a:rPr lang="en-US" altLang="ko-KR" sz="1400" b="1" dirty="0"/>
              <a:t>substituted into the name of a deployment</a:t>
            </a:r>
            <a:r>
              <a:rPr lang="en-US" altLang="ko-KR" sz="1400" dirty="0"/>
              <a:t>.</a:t>
            </a:r>
          </a:p>
          <a:p>
            <a:pPr lvl="1">
              <a:buFont typeface="Wingdings" panose="05000000000000000000" pitchFamily="2" charset="2"/>
              <a:buChar char="§"/>
            </a:pPr>
            <a:r>
              <a:rPr lang="en-US" altLang="ko-KR" sz="1400" dirty="0"/>
              <a:t>To pass a parameter for this value you use a “</a:t>
            </a:r>
            <a:r>
              <a:rPr lang="en-US" altLang="ko-KR" sz="1400" b="1" dirty="0" err="1"/>
              <a:t>values.yaml</a:t>
            </a:r>
            <a:r>
              <a:rPr lang="en-US" altLang="ko-KR" sz="1400" dirty="0"/>
              <a:t>” file with contents like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Which after </a:t>
            </a:r>
            <a:r>
              <a:rPr lang="en-US" altLang="ko-KR" sz="1400" b="1" dirty="0"/>
              <a:t>parameter substitution </a:t>
            </a:r>
            <a:r>
              <a:rPr lang="en-US" altLang="ko-KR" sz="1400" dirty="0"/>
              <a:t>results in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133729BC-CB9E-4C1A-AA62-7F3464D875C7}"/>
              </a:ext>
            </a:extLst>
          </p:cNvPr>
          <p:cNvSpPr/>
          <p:nvPr/>
        </p:nvSpPr>
        <p:spPr>
          <a:xfrm>
            <a:off x="3048000" y="1536115"/>
            <a:ext cx="6096000" cy="400110"/>
          </a:xfrm>
          <a:prstGeom prst="rect">
            <a:avLst/>
          </a:prstGeom>
          <a:ln>
            <a:solidFill>
              <a:schemeClr val="bg1">
                <a:lumMod val="50000"/>
              </a:schemeClr>
            </a:solidFill>
          </a:ln>
        </p:spPr>
        <p:txBody>
          <a:bodyPr>
            <a:spAutoFit/>
          </a:bodyPr>
          <a:lstStyle/>
          <a:p>
            <a:r>
              <a:rPr lang="en-US" altLang="ko-KR" sz="1000" b="1" dirty="0"/>
              <a:t>metadata:</a:t>
            </a:r>
          </a:p>
          <a:p>
            <a:r>
              <a:rPr lang="en-US" altLang="ko-KR" sz="1000" b="1" dirty="0"/>
              <a:t>    name: </a:t>
            </a:r>
            <a:r>
              <a:rPr lang="en-US" altLang="ko-KR" sz="1000" b="1" dirty="0">
                <a:solidFill>
                  <a:srgbClr val="FF0000"/>
                </a:solidFill>
              </a:rPr>
              <a:t>{{</a:t>
            </a:r>
            <a:r>
              <a:rPr lang="en-US" altLang="ko-KR" sz="1000" b="1" dirty="0"/>
              <a:t> </a:t>
            </a:r>
            <a:r>
              <a:rPr lang="en-US" altLang="ko-KR" sz="1000" b="1" dirty="0">
                <a:solidFill>
                  <a:srgbClr val="FF0000"/>
                </a:solidFill>
              </a:rPr>
              <a:t>.</a:t>
            </a:r>
            <a:r>
              <a:rPr lang="en-US" altLang="ko-KR" sz="1000" b="1" dirty="0" err="1">
                <a:solidFill>
                  <a:srgbClr val="FF0000"/>
                </a:solidFill>
              </a:rPr>
              <a:t>Release.Name</a:t>
            </a:r>
            <a:r>
              <a:rPr lang="en-US" altLang="ko-KR" sz="1000" b="1" dirty="0"/>
              <a:t> </a:t>
            </a:r>
            <a:r>
              <a:rPr lang="en-US" altLang="ko-KR" sz="1000" b="1" dirty="0">
                <a:solidFill>
                  <a:srgbClr val="FF0000"/>
                </a:solidFill>
              </a:rPr>
              <a:t>}}</a:t>
            </a:r>
            <a:r>
              <a:rPr lang="en-US" altLang="ko-KR" sz="1000" b="1" dirty="0"/>
              <a:t>-deployment</a:t>
            </a:r>
            <a:endParaRPr lang="ko-KR" altLang="en-US" sz="1000" b="1" dirty="0"/>
          </a:p>
        </p:txBody>
      </p:sp>
      <p:sp>
        <p:nvSpPr>
          <p:cNvPr id="8" name="직사각형 7">
            <a:extLst>
              <a:ext uri="{FF2B5EF4-FFF2-40B4-BE49-F238E27FC236}">
                <a16:creationId xmlns:a16="http://schemas.microsoft.com/office/drawing/2014/main" id="{6138819C-0C09-42A8-9BA3-E37D4BB6671C}"/>
              </a:ext>
            </a:extLst>
          </p:cNvPr>
          <p:cNvSpPr/>
          <p:nvPr/>
        </p:nvSpPr>
        <p:spPr>
          <a:xfrm>
            <a:off x="3048000" y="2846755"/>
            <a:ext cx="6096000" cy="400110"/>
          </a:xfrm>
          <a:prstGeom prst="rect">
            <a:avLst/>
          </a:prstGeom>
          <a:ln>
            <a:solidFill>
              <a:schemeClr val="bg1">
                <a:lumMod val="50000"/>
              </a:schemeClr>
            </a:solidFill>
          </a:ln>
        </p:spPr>
        <p:txBody>
          <a:bodyPr>
            <a:spAutoFit/>
          </a:bodyPr>
          <a:lstStyle/>
          <a:p>
            <a:r>
              <a:rPr lang="en-US" altLang="ko-KR" sz="1000" b="1" dirty="0"/>
              <a:t>Release:</a:t>
            </a:r>
          </a:p>
          <a:p>
            <a:r>
              <a:rPr lang="en-US" altLang="ko-KR" sz="1000" b="1" dirty="0"/>
              <a:t>    Name: </a:t>
            </a:r>
            <a:r>
              <a:rPr lang="en-US" altLang="ko-KR" sz="1000" b="1" dirty="0">
                <a:solidFill>
                  <a:srgbClr val="FF0000"/>
                </a:solidFill>
              </a:rPr>
              <a:t>my-release</a:t>
            </a:r>
            <a:endParaRPr lang="ko-KR" altLang="en-US" sz="1000" b="1" dirty="0">
              <a:solidFill>
                <a:srgbClr val="FF0000"/>
              </a:solidFill>
            </a:endParaRPr>
          </a:p>
        </p:txBody>
      </p:sp>
      <p:sp>
        <p:nvSpPr>
          <p:cNvPr id="9" name="직사각형 8">
            <a:extLst>
              <a:ext uri="{FF2B5EF4-FFF2-40B4-BE49-F238E27FC236}">
                <a16:creationId xmlns:a16="http://schemas.microsoft.com/office/drawing/2014/main" id="{114568A2-B362-4E3D-846D-41C57065803E}"/>
              </a:ext>
            </a:extLst>
          </p:cNvPr>
          <p:cNvSpPr/>
          <p:nvPr/>
        </p:nvSpPr>
        <p:spPr>
          <a:xfrm>
            <a:off x="3048000" y="3837207"/>
            <a:ext cx="6096000" cy="400110"/>
          </a:xfrm>
          <a:prstGeom prst="rect">
            <a:avLst/>
          </a:prstGeom>
          <a:ln>
            <a:solidFill>
              <a:schemeClr val="bg1">
                <a:lumMod val="50000"/>
              </a:schemeClr>
            </a:solidFill>
          </a:ln>
        </p:spPr>
        <p:txBody>
          <a:bodyPr>
            <a:spAutoFit/>
          </a:bodyPr>
          <a:lstStyle/>
          <a:p>
            <a:r>
              <a:rPr lang="en-US" altLang="ko-KR" sz="1000" b="1" dirty="0"/>
              <a:t>metadata:</a:t>
            </a:r>
          </a:p>
          <a:p>
            <a:r>
              <a:rPr lang="en-US" altLang="ko-KR" sz="1000" b="1" dirty="0"/>
              <a:t>    name: </a:t>
            </a:r>
            <a:r>
              <a:rPr lang="en-US" altLang="ko-KR" sz="1000" b="1" dirty="0">
                <a:solidFill>
                  <a:srgbClr val="FF0000"/>
                </a:solidFill>
              </a:rPr>
              <a:t>my-release</a:t>
            </a:r>
            <a:r>
              <a:rPr lang="en-US" altLang="ko-KR" sz="1000" b="1" dirty="0"/>
              <a:t>-deployment</a:t>
            </a:r>
            <a:endParaRPr lang="ko-KR" altLang="en-US" sz="1000" b="1" dirty="0"/>
          </a:p>
        </p:txBody>
      </p:sp>
    </p:spTree>
    <p:extLst>
      <p:ext uri="{BB962C8B-B14F-4D97-AF65-F5344CB8AC3E}">
        <p14:creationId xmlns:p14="http://schemas.microsoft.com/office/powerpoint/2010/main" val="19611341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Parameterizing with Templates(4/4)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Filesystem Layout for Parameterization :</a:t>
            </a:r>
          </a:p>
          <a:p>
            <a:pPr lvl="1">
              <a:buFont typeface="Wingdings" panose="05000000000000000000" pitchFamily="2" charset="2"/>
              <a:buChar char="§"/>
            </a:pPr>
            <a:r>
              <a:rPr lang="en-US" altLang="ko-KR" sz="1400" dirty="0"/>
              <a:t>How do you apply the parameterized configurations to the filesystem layouts we have described previously? To achieve this, </a:t>
            </a:r>
            <a:r>
              <a:rPr lang="en-US" altLang="ko-KR" sz="1400" b="1" dirty="0"/>
              <a:t>instead of treating each deployment lifecycle stage as a pointer to a version, each deployment lifecycle is the combination of a parameters file and a pointer to a specific version : </a:t>
            </a: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Doing this with version control looks similar, except that </a:t>
            </a:r>
            <a:r>
              <a:rPr lang="en-US" altLang="ko-KR" sz="1400" b="1" dirty="0"/>
              <a:t>the parameters for each lifecycle stage are kept at the root of the configuration directory tree</a:t>
            </a:r>
            <a:r>
              <a:rPr lang="en-US" altLang="ko-KR" sz="1400" dirty="0"/>
              <a:t>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09B64C1F-9AF2-4972-8542-EB2751C9391F}"/>
              </a:ext>
            </a:extLst>
          </p:cNvPr>
          <p:cNvSpPr/>
          <p:nvPr/>
        </p:nvSpPr>
        <p:spPr>
          <a:xfrm>
            <a:off x="3048000" y="1893421"/>
            <a:ext cx="6096000" cy="2246769"/>
          </a:xfrm>
          <a:prstGeom prst="rect">
            <a:avLst/>
          </a:prstGeom>
          <a:ln>
            <a:solidFill>
              <a:schemeClr val="bg1">
                <a:lumMod val="50000"/>
              </a:schemeClr>
            </a:solidFill>
          </a:ln>
        </p:spPr>
        <p:txBody>
          <a:bodyPr>
            <a:spAutoFit/>
          </a:bodyPr>
          <a:lstStyle/>
          <a:p>
            <a:r>
              <a:rPr lang="en-US" altLang="ko-KR" sz="1000" b="1" dirty="0"/>
              <a:t>frontend/</a:t>
            </a:r>
          </a:p>
          <a:p>
            <a:r>
              <a:rPr lang="en-US" altLang="ko-KR" sz="1000" b="1" dirty="0"/>
              <a:t>    staging/</a:t>
            </a:r>
          </a:p>
          <a:p>
            <a:r>
              <a:rPr lang="en-US" altLang="ko-KR" sz="1000" b="1" dirty="0"/>
              <a:t>        templates -&gt; ../v2</a:t>
            </a:r>
          </a:p>
          <a:p>
            <a:r>
              <a:rPr lang="en-US" altLang="ko-KR" sz="1000" b="1" dirty="0"/>
              <a:t>        </a:t>
            </a:r>
            <a:r>
              <a:rPr lang="en-US" altLang="ko-KR" sz="1000" b="1" dirty="0">
                <a:solidFill>
                  <a:srgbClr val="FF0000"/>
                </a:solidFill>
              </a:rPr>
              <a:t>staging-</a:t>
            </a:r>
            <a:r>
              <a:rPr lang="en-US" altLang="ko-KR" sz="1000" b="1" dirty="0" err="1">
                <a:solidFill>
                  <a:srgbClr val="FF0000"/>
                </a:solidFill>
              </a:rPr>
              <a:t>parameters.yaml</a:t>
            </a:r>
            <a:endParaRPr lang="en-US" altLang="ko-KR" sz="1000" b="1" dirty="0">
              <a:solidFill>
                <a:srgbClr val="FF0000"/>
              </a:solidFill>
            </a:endParaRPr>
          </a:p>
          <a:p>
            <a:r>
              <a:rPr lang="en-US" altLang="ko-KR" sz="1000" b="1" dirty="0"/>
              <a:t>    production/</a:t>
            </a:r>
          </a:p>
          <a:p>
            <a:r>
              <a:rPr lang="en-US" altLang="ko-KR" sz="1000" b="1" dirty="0"/>
              <a:t>        templates -&gt; ../v1</a:t>
            </a:r>
          </a:p>
          <a:p>
            <a:r>
              <a:rPr lang="en-US" altLang="ko-KR" sz="1000" b="1" dirty="0"/>
              <a:t>        </a:t>
            </a:r>
            <a:r>
              <a:rPr lang="en-US" altLang="ko-KR" sz="1000" b="1" dirty="0">
                <a:solidFill>
                  <a:srgbClr val="FF0000"/>
                </a:solidFill>
              </a:rPr>
              <a:t>production-</a:t>
            </a:r>
            <a:r>
              <a:rPr lang="en-US" altLang="ko-KR" sz="1000" b="1" dirty="0" err="1">
                <a:solidFill>
                  <a:srgbClr val="FF0000"/>
                </a:solidFill>
              </a:rPr>
              <a:t>parameters.yaml</a:t>
            </a:r>
            <a:endParaRPr lang="en-US" altLang="ko-KR" sz="1000" b="1" dirty="0">
              <a:solidFill>
                <a:srgbClr val="FF0000"/>
              </a:solidFill>
            </a:endParaRPr>
          </a:p>
          <a:p>
            <a:r>
              <a:rPr lang="en-US" altLang="ko-KR" sz="1000" b="1" dirty="0"/>
              <a:t>    v1/</a:t>
            </a:r>
          </a:p>
          <a:p>
            <a:r>
              <a:rPr lang="en-US" altLang="ko-KR" sz="1000" b="1" dirty="0"/>
              <a:t>        frontend-</a:t>
            </a:r>
            <a:r>
              <a:rPr lang="en-US" altLang="ko-KR" sz="1000" b="1" dirty="0" err="1"/>
              <a:t>deployment.yaml</a:t>
            </a:r>
            <a:endParaRPr lang="en-US" altLang="ko-KR" sz="1000" b="1" dirty="0"/>
          </a:p>
          <a:p>
            <a:r>
              <a:rPr lang="en-US" altLang="ko-KR" sz="1000" b="1" dirty="0"/>
              <a:t>        frontend-</a:t>
            </a:r>
            <a:r>
              <a:rPr lang="en-US" altLang="ko-KR" sz="1000" b="1" dirty="0" err="1"/>
              <a:t>service.yaml</a:t>
            </a:r>
            <a:endParaRPr lang="en-US" altLang="ko-KR" sz="1000" b="1" dirty="0"/>
          </a:p>
          <a:p>
            <a:r>
              <a:rPr lang="en-US" altLang="ko-KR" sz="1000" b="1" dirty="0"/>
              <a:t>    v2/</a:t>
            </a:r>
          </a:p>
          <a:p>
            <a:r>
              <a:rPr lang="en-US" altLang="ko-KR" sz="1000" b="1" dirty="0"/>
              <a:t>        frontend-</a:t>
            </a:r>
            <a:r>
              <a:rPr lang="en-US" altLang="ko-KR" sz="1000" b="1" dirty="0" err="1"/>
              <a:t>deployment.yaml</a:t>
            </a:r>
            <a:endParaRPr lang="en-US" altLang="ko-KR" sz="1000" b="1" dirty="0"/>
          </a:p>
          <a:p>
            <a:r>
              <a:rPr lang="en-US" altLang="ko-KR" sz="1000" b="1" dirty="0"/>
              <a:t>        frontend-</a:t>
            </a:r>
            <a:r>
              <a:rPr lang="en-US" altLang="ko-KR" sz="1000" b="1" dirty="0" err="1"/>
              <a:t>service.yaml</a:t>
            </a:r>
            <a:endParaRPr lang="en-US" altLang="ko-KR" sz="1000" b="1" dirty="0"/>
          </a:p>
          <a:p>
            <a:r>
              <a:rPr lang="en-US" altLang="ko-KR" sz="1000" b="1" dirty="0"/>
              <a:t>...</a:t>
            </a:r>
          </a:p>
        </p:txBody>
      </p:sp>
      <p:sp>
        <p:nvSpPr>
          <p:cNvPr id="8" name="직사각형 7">
            <a:extLst>
              <a:ext uri="{FF2B5EF4-FFF2-40B4-BE49-F238E27FC236}">
                <a16:creationId xmlns:a16="http://schemas.microsoft.com/office/drawing/2014/main" id="{7DB08412-7A2C-462E-832A-092CF3B471E9}"/>
              </a:ext>
            </a:extLst>
          </p:cNvPr>
          <p:cNvSpPr/>
          <p:nvPr/>
        </p:nvSpPr>
        <p:spPr>
          <a:xfrm>
            <a:off x="3048000" y="4879022"/>
            <a:ext cx="6096000" cy="861774"/>
          </a:xfrm>
          <a:prstGeom prst="rect">
            <a:avLst/>
          </a:prstGeom>
          <a:ln>
            <a:solidFill>
              <a:schemeClr val="bg1">
                <a:lumMod val="50000"/>
              </a:schemeClr>
            </a:solidFill>
          </a:ln>
        </p:spPr>
        <p:txBody>
          <a:bodyPr>
            <a:spAutoFit/>
          </a:bodyPr>
          <a:lstStyle/>
          <a:p>
            <a:r>
              <a:rPr lang="en-US" altLang="ko-KR" sz="1000" b="1" dirty="0"/>
              <a:t>frontend/</a:t>
            </a:r>
          </a:p>
          <a:p>
            <a:r>
              <a:rPr lang="en-US" altLang="ko-KR" sz="1000" b="1" dirty="0"/>
              <a:t>    </a:t>
            </a:r>
            <a:r>
              <a:rPr lang="en-US" altLang="ko-KR" sz="1000" b="1" dirty="0">
                <a:solidFill>
                  <a:srgbClr val="FF0000"/>
                </a:solidFill>
              </a:rPr>
              <a:t>staging-</a:t>
            </a:r>
            <a:r>
              <a:rPr lang="en-US" altLang="ko-KR" sz="1000" b="1" dirty="0" err="1">
                <a:solidFill>
                  <a:srgbClr val="FF0000"/>
                </a:solidFill>
              </a:rPr>
              <a:t>parameters.yaml</a:t>
            </a:r>
            <a:endParaRPr lang="en-US" altLang="ko-KR" sz="1000" b="1" dirty="0">
              <a:solidFill>
                <a:srgbClr val="FF0000"/>
              </a:solidFill>
            </a:endParaRPr>
          </a:p>
          <a:p>
            <a:r>
              <a:rPr lang="en-US" altLang="ko-KR" sz="1000" b="1" dirty="0"/>
              <a:t>    templates/</a:t>
            </a:r>
          </a:p>
          <a:p>
            <a:r>
              <a:rPr lang="en-US" altLang="ko-KR" sz="1000" b="1" dirty="0"/>
              <a:t>        frontend-</a:t>
            </a:r>
            <a:r>
              <a:rPr lang="en-US" altLang="ko-KR" sz="1000" b="1" dirty="0" err="1"/>
              <a:t>deployment.YAML</a:t>
            </a:r>
            <a:endParaRPr lang="en-US" altLang="ko-KR" sz="1000" b="1" dirty="0"/>
          </a:p>
          <a:p>
            <a:r>
              <a:rPr lang="en-US" altLang="ko-KR" sz="1000" b="1" dirty="0"/>
              <a:t>.....</a:t>
            </a:r>
          </a:p>
        </p:txBody>
      </p:sp>
    </p:spTree>
    <p:extLst>
      <p:ext uri="{BB962C8B-B14F-4D97-AF65-F5344CB8AC3E}">
        <p14:creationId xmlns:p14="http://schemas.microsoft.com/office/powerpoint/2010/main" val="1117213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Deploying Your Application Around the World(1/7)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World-Wide Service Deployment :</a:t>
            </a:r>
          </a:p>
          <a:p>
            <a:pPr lvl="1">
              <a:buFont typeface="Wingdings" panose="05000000000000000000" pitchFamily="2" charset="2"/>
              <a:buChar char="§"/>
            </a:pPr>
            <a:r>
              <a:rPr lang="en-US" altLang="ko-KR" sz="1400" b="1" dirty="0"/>
              <a:t>The final step in structuring your configurations is to deploy your application around the world</a:t>
            </a:r>
            <a:r>
              <a:rPr lang="en-US" altLang="ko-KR" sz="1400" dirty="0"/>
              <a:t>. But don’t think that these approaches are only for large-scale applications. In reality, they can be used to scale from two different regions to tens or hundreds around the world. </a:t>
            </a:r>
            <a:r>
              <a:rPr lang="en-US" altLang="ko-KR" sz="1400" b="1" dirty="0"/>
              <a:t>In the world of the cloud, where an entire region can fail, deploying to multiple regions (and managing that deployment) is the only way to achieve sufficient uptime for demanding users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05FB57A2-A0DE-46AE-850E-42E52D7215B4}"/>
              </a:ext>
            </a:extLst>
          </p:cNvPr>
          <p:cNvPicPr>
            <a:picLocks noChangeAspect="1"/>
          </p:cNvPicPr>
          <p:nvPr/>
        </p:nvPicPr>
        <p:blipFill>
          <a:blip r:embed="rId2"/>
          <a:stretch>
            <a:fillRect/>
          </a:stretch>
        </p:blipFill>
        <p:spPr>
          <a:xfrm>
            <a:off x="3637356" y="2431452"/>
            <a:ext cx="4917287" cy="3977578"/>
          </a:xfrm>
          <a:prstGeom prst="rect">
            <a:avLst/>
          </a:prstGeom>
        </p:spPr>
      </p:pic>
    </p:spTree>
    <p:extLst>
      <p:ext uri="{BB962C8B-B14F-4D97-AF65-F5344CB8AC3E}">
        <p14:creationId xmlns:p14="http://schemas.microsoft.com/office/powerpoint/2010/main" val="19532077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Deploying Your Application Around the World(2/7)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Architectures for Worldwide Deployment :</a:t>
            </a:r>
          </a:p>
          <a:p>
            <a:pPr lvl="1">
              <a:buFont typeface="Wingdings" panose="05000000000000000000" pitchFamily="2" charset="2"/>
              <a:buChar char="§"/>
            </a:pPr>
            <a:r>
              <a:rPr lang="en-US" altLang="ko-KR" sz="1400" b="1" dirty="0"/>
              <a:t>Generally speaking, each Kubernetes cluster is intended to </a:t>
            </a:r>
            <a:r>
              <a:rPr lang="en-US" altLang="ko-KR" sz="1400" b="1" dirty="0">
                <a:solidFill>
                  <a:srgbClr val="FF0000"/>
                </a:solidFill>
              </a:rPr>
              <a:t>live in a single region</a:t>
            </a:r>
            <a:r>
              <a:rPr lang="en-US" altLang="ko-KR" sz="1400" b="1" dirty="0"/>
              <a:t>, and each Kubernetes cluster is </a:t>
            </a:r>
            <a:r>
              <a:rPr lang="en-US" altLang="ko-KR" sz="1400" b="1" dirty="0">
                <a:solidFill>
                  <a:srgbClr val="FF0000"/>
                </a:solidFill>
              </a:rPr>
              <a:t>expected to contain a single, complete deployment of your application</a:t>
            </a:r>
            <a:r>
              <a:rPr lang="en-US" altLang="ko-KR" sz="1400" dirty="0"/>
              <a:t>. </a:t>
            </a:r>
            <a:r>
              <a:rPr lang="en-US" altLang="ko-KR" sz="1400" b="1" dirty="0"/>
              <a:t>Consequently, a worldwide deployment of an application consists of multiple different Kubernetes clusters, each with its own application configuration</a:t>
            </a:r>
            <a:r>
              <a:rPr lang="en-US" altLang="ko-KR" sz="1400" dirty="0"/>
              <a:t>.</a:t>
            </a:r>
          </a:p>
          <a:p>
            <a:pPr lvl="1">
              <a:buFont typeface="Wingdings" panose="05000000000000000000" pitchFamily="2" charset="2"/>
              <a:buChar char="§"/>
            </a:pPr>
            <a:r>
              <a:rPr lang="en-US" altLang="ko-KR" sz="1400" b="1" dirty="0"/>
              <a:t>Ultimately, a particular region’s configuration is conceptually the same as a stage in the deployment lifecycle</a:t>
            </a:r>
            <a:r>
              <a:rPr lang="en-US" altLang="ko-KR" sz="1400" dirty="0"/>
              <a:t>. Thus, </a:t>
            </a:r>
            <a:r>
              <a:rPr lang="en-US" altLang="ko-KR" sz="1400" b="1" dirty="0"/>
              <a:t>adding multiple regions to your configuration is identical to adding new lifecycle stages</a:t>
            </a:r>
            <a:r>
              <a:rPr lang="en-US" altLang="ko-KR" sz="1400" dirty="0"/>
              <a:t>. </a:t>
            </a:r>
          </a:p>
          <a:p>
            <a:pPr lvl="1">
              <a:buFont typeface="Wingdings" panose="05000000000000000000" pitchFamily="2" charset="2"/>
              <a:buChar char="§"/>
            </a:pPr>
            <a:r>
              <a:rPr lang="en-US" altLang="ko-KR" sz="1400" dirty="0"/>
              <a:t>For example, instead of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3B7E6B01-DF23-4BAD-953F-9F2B0DA0BF83}"/>
              </a:ext>
            </a:extLst>
          </p:cNvPr>
          <p:cNvGrpSpPr/>
          <p:nvPr/>
        </p:nvGrpSpPr>
        <p:grpSpPr>
          <a:xfrm>
            <a:off x="3048000" y="2732149"/>
            <a:ext cx="6096000" cy="2190860"/>
            <a:chOff x="3048000" y="2503549"/>
            <a:chExt cx="6096000" cy="2190860"/>
          </a:xfrm>
        </p:grpSpPr>
        <p:sp>
          <p:nvSpPr>
            <p:cNvPr id="4" name="직사각형 3">
              <a:extLst>
                <a:ext uri="{FF2B5EF4-FFF2-40B4-BE49-F238E27FC236}">
                  <a16:creationId xmlns:a16="http://schemas.microsoft.com/office/drawing/2014/main" id="{459D251B-869A-4E79-80A0-59DC0AB7E904}"/>
                </a:ext>
              </a:extLst>
            </p:cNvPr>
            <p:cNvSpPr/>
            <p:nvPr/>
          </p:nvSpPr>
          <p:spPr>
            <a:xfrm>
              <a:off x="3048000" y="2503549"/>
              <a:ext cx="6096000" cy="707886"/>
            </a:xfrm>
            <a:prstGeom prst="rect">
              <a:avLst/>
            </a:prstGeom>
            <a:ln>
              <a:solidFill>
                <a:schemeClr val="bg1">
                  <a:lumMod val="50000"/>
                </a:schemeClr>
              </a:solidFill>
            </a:ln>
          </p:spPr>
          <p:txBody>
            <a:bodyPr>
              <a:spAutoFit/>
            </a:bodyPr>
            <a:lstStyle/>
            <a:p>
              <a:r>
                <a:rPr lang="en-US" altLang="ko-KR" sz="1000" b="1" dirty="0"/>
                <a:t>• Development</a:t>
              </a:r>
            </a:p>
            <a:p>
              <a:r>
                <a:rPr lang="en-US" altLang="ko-KR" sz="1000" b="1" dirty="0"/>
                <a:t>• Staging</a:t>
              </a:r>
            </a:p>
            <a:p>
              <a:r>
                <a:rPr lang="en-US" altLang="ko-KR" sz="1000" b="1" dirty="0"/>
                <a:t>• Canary</a:t>
              </a:r>
            </a:p>
            <a:p>
              <a:r>
                <a:rPr lang="en-US" altLang="ko-KR" sz="1000" b="1" dirty="0"/>
                <a:t>• Production</a:t>
              </a:r>
              <a:endParaRPr lang="ko-KR" altLang="en-US" sz="1000" b="1" dirty="0"/>
            </a:p>
          </p:txBody>
        </p:sp>
        <p:sp>
          <p:nvSpPr>
            <p:cNvPr id="8" name="직사각형 7">
              <a:extLst>
                <a:ext uri="{FF2B5EF4-FFF2-40B4-BE49-F238E27FC236}">
                  <a16:creationId xmlns:a16="http://schemas.microsoft.com/office/drawing/2014/main" id="{9589F1DC-99A9-41D5-A9E7-3CE237B823E2}"/>
                </a:ext>
              </a:extLst>
            </p:cNvPr>
            <p:cNvSpPr/>
            <p:nvPr/>
          </p:nvSpPr>
          <p:spPr>
            <a:xfrm>
              <a:off x="3048000" y="3524858"/>
              <a:ext cx="6096000" cy="1169551"/>
            </a:xfrm>
            <a:prstGeom prst="rect">
              <a:avLst/>
            </a:prstGeom>
            <a:ln>
              <a:solidFill>
                <a:schemeClr val="bg1">
                  <a:lumMod val="50000"/>
                </a:schemeClr>
              </a:solidFill>
            </a:ln>
          </p:spPr>
          <p:txBody>
            <a:bodyPr>
              <a:spAutoFit/>
            </a:bodyPr>
            <a:lstStyle/>
            <a:p>
              <a:r>
                <a:rPr lang="en-US" altLang="ko-KR" sz="1000" b="1" dirty="0"/>
                <a:t>• Development</a:t>
              </a:r>
            </a:p>
            <a:p>
              <a:r>
                <a:rPr lang="en-US" altLang="ko-KR" sz="1000" b="1" dirty="0"/>
                <a:t>• Staging</a:t>
              </a:r>
            </a:p>
            <a:p>
              <a:r>
                <a:rPr lang="en-US" altLang="ko-KR" sz="1000" b="1" dirty="0"/>
                <a:t>• Canary</a:t>
              </a:r>
            </a:p>
            <a:p>
              <a:r>
                <a:rPr lang="en-US" altLang="ko-KR" sz="1000" b="1" dirty="0">
                  <a:solidFill>
                    <a:srgbClr val="FF0000"/>
                  </a:solidFill>
                </a:rPr>
                <a:t>• </a:t>
              </a:r>
              <a:r>
                <a:rPr lang="en-US" altLang="ko-KR" sz="1000" b="1" dirty="0" err="1">
                  <a:solidFill>
                    <a:srgbClr val="FF0000"/>
                  </a:solidFill>
                </a:rPr>
                <a:t>EastUS</a:t>
              </a:r>
              <a:endParaRPr lang="en-US" altLang="ko-KR" sz="1000" b="1" dirty="0">
                <a:solidFill>
                  <a:srgbClr val="FF0000"/>
                </a:solidFill>
              </a:endParaRPr>
            </a:p>
            <a:p>
              <a:r>
                <a:rPr lang="en-US" altLang="ko-KR" sz="1000" b="1" dirty="0">
                  <a:solidFill>
                    <a:srgbClr val="FF0000"/>
                  </a:solidFill>
                </a:rPr>
                <a:t>• </a:t>
              </a:r>
              <a:r>
                <a:rPr lang="en-US" altLang="ko-KR" sz="1000" b="1" dirty="0" err="1">
                  <a:solidFill>
                    <a:srgbClr val="FF0000"/>
                  </a:solidFill>
                </a:rPr>
                <a:t>WestUS</a:t>
              </a:r>
              <a:endParaRPr lang="en-US" altLang="ko-KR" sz="1000" b="1" dirty="0">
                <a:solidFill>
                  <a:srgbClr val="FF0000"/>
                </a:solidFill>
              </a:endParaRPr>
            </a:p>
            <a:p>
              <a:r>
                <a:rPr lang="en-US" altLang="ko-KR" sz="1000" b="1" dirty="0">
                  <a:solidFill>
                    <a:srgbClr val="FF0000"/>
                  </a:solidFill>
                </a:rPr>
                <a:t>• Europe</a:t>
              </a:r>
            </a:p>
            <a:p>
              <a:r>
                <a:rPr lang="en-US" altLang="ko-KR" sz="1000" b="1" dirty="0">
                  <a:solidFill>
                    <a:srgbClr val="FF0000"/>
                  </a:solidFill>
                </a:rPr>
                <a:t>• Asia</a:t>
              </a:r>
              <a:endParaRPr lang="ko-KR" altLang="en-US" sz="1000" b="1" dirty="0">
                <a:solidFill>
                  <a:srgbClr val="FF0000"/>
                </a:solidFill>
              </a:endParaRPr>
            </a:p>
          </p:txBody>
        </p:sp>
        <p:sp>
          <p:nvSpPr>
            <p:cNvPr id="9" name="화살표: 아래쪽 8">
              <a:extLst>
                <a:ext uri="{FF2B5EF4-FFF2-40B4-BE49-F238E27FC236}">
                  <a16:creationId xmlns:a16="http://schemas.microsoft.com/office/drawing/2014/main" id="{AA2CDCBB-E950-4DC1-9BE3-58FD491D07CC}"/>
                </a:ext>
              </a:extLst>
            </p:cNvPr>
            <p:cNvSpPr/>
            <p:nvPr/>
          </p:nvSpPr>
          <p:spPr>
            <a:xfrm>
              <a:off x="5905500" y="3228395"/>
              <a:ext cx="381000" cy="278525"/>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40936648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Deploying Your Application Around the World(3/7)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Architectures for Worldwide Deployment :</a:t>
            </a:r>
          </a:p>
          <a:p>
            <a:pPr lvl="1">
              <a:buFont typeface="Wingdings" panose="05000000000000000000" pitchFamily="2" charset="2"/>
              <a:buChar char="§"/>
            </a:pPr>
            <a:r>
              <a:rPr lang="en-US" altLang="ko-KR" sz="1400" dirty="0"/>
              <a:t>Modeling this in the </a:t>
            </a:r>
            <a:r>
              <a:rPr lang="en-US" altLang="ko-KR" sz="1400" b="1" dirty="0"/>
              <a:t>filesystem for configuration </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If you instead are using </a:t>
            </a:r>
            <a:r>
              <a:rPr lang="en-US" altLang="ko-KR" sz="1400" b="1" dirty="0"/>
              <a:t>version control and tags</a:t>
            </a:r>
            <a:r>
              <a:rPr lang="en-US" altLang="ko-KR" sz="1400" dirty="0"/>
              <a:t>, the filesystem would look like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Using this structure, you would </a:t>
            </a:r>
            <a:r>
              <a:rPr lang="en-US" altLang="ko-KR" sz="1400" b="1" dirty="0"/>
              <a:t>introduce a new tag for each region and use the file contents at that tag to deploy to that region</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FABB2DB0-6219-4029-B25F-8BD9579A89F3}"/>
              </a:ext>
            </a:extLst>
          </p:cNvPr>
          <p:cNvSpPr/>
          <p:nvPr/>
        </p:nvSpPr>
        <p:spPr>
          <a:xfrm>
            <a:off x="3048000" y="1485960"/>
            <a:ext cx="6096000" cy="1785104"/>
          </a:xfrm>
          <a:prstGeom prst="rect">
            <a:avLst/>
          </a:prstGeom>
          <a:ln>
            <a:solidFill>
              <a:schemeClr val="bg1">
                <a:lumMod val="50000"/>
              </a:schemeClr>
            </a:solidFill>
          </a:ln>
        </p:spPr>
        <p:txBody>
          <a:bodyPr>
            <a:spAutoFit/>
          </a:bodyPr>
          <a:lstStyle/>
          <a:p>
            <a:r>
              <a:rPr lang="en-US" altLang="ko-KR" sz="1000" b="1" dirty="0"/>
              <a:t>frontend/</a:t>
            </a:r>
          </a:p>
          <a:p>
            <a:r>
              <a:rPr lang="en-US" altLang="ko-KR" sz="1000" b="1" dirty="0"/>
              <a:t>    staging/</a:t>
            </a:r>
          </a:p>
          <a:p>
            <a:r>
              <a:rPr lang="en-US" altLang="ko-KR" sz="1000" b="1" dirty="0"/>
              <a:t>        templates -&gt; ../v3/</a:t>
            </a:r>
          </a:p>
          <a:p>
            <a:r>
              <a:rPr lang="en-US" altLang="ko-KR" sz="1000" b="1" dirty="0"/>
              <a:t>        </a:t>
            </a:r>
            <a:r>
              <a:rPr lang="en-US" altLang="ko-KR" sz="1000" b="1" dirty="0" err="1"/>
              <a:t>parameters.yaml</a:t>
            </a:r>
            <a:endParaRPr lang="en-US" altLang="ko-KR" sz="1000" b="1" dirty="0"/>
          </a:p>
          <a:p>
            <a:r>
              <a:rPr lang="en-US" altLang="ko-KR" sz="1000" b="1" dirty="0"/>
              <a:t>    </a:t>
            </a:r>
            <a:r>
              <a:rPr lang="en-US" altLang="ko-KR" sz="1000" b="1" dirty="0" err="1"/>
              <a:t>eastus</a:t>
            </a:r>
            <a:r>
              <a:rPr lang="en-US" altLang="ko-KR" sz="1000" b="1" dirty="0"/>
              <a:t>/</a:t>
            </a:r>
          </a:p>
          <a:p>
            <a:r>
              <a:rPr lang="en-US" altLang="ko-KR" sz="1000" b="1" dirty="0"/>
              <a:t>        templates -&gt; ../v1/</a:t>
            </a:r>
          </a:p>
          <a:p>
            <a:r>
              <a:rPr lang="en-US" altLang="ko-KR" sz="1000" b="1" dirty="0"/>
              <a:t>        </a:t>
            </a:r>
            <a:r>
              <a:rPr lang="en-US" altLang="ko-KR" sz="1000" b="1" dirty="0" err="1"/>
              <a:t>parameters.yaml</a:t>
            </a:r>
            <a:endParaRPr lang="en-US" altLang="ko-KR" sz="1000" b="1" dirty="0"/>
          </a:p>
          <a:p>
            <a:r>
              <a:rPr lang="en-US" altLang="ko-KR" sz="1000" b="1" dirty="0"/>
              <a:t>    </a:t>
            </a:r>
            <a:r>
              <a:rPr lang="en-US" altLang="ko-KR" sz="1000" b="1" dirty="0" err="1"/>
              <a:t>westus</a:t>
            </a:r>
            <a:r>
              <a:rPr lang="en-US" altLang="ko-KR" sz="1000" b="1" dirty="0"/>
              <a:t>/</a:t>
            </a:r>
          </a:p>
          <a:p>
            <a:r>
              <a:rPr lang="en-US" altLang="ko-KR" sz="1000" b="1" dirty="0"/>
              <a:t>        templates -&gt; ../v2/</a:t>
            </a:r>
          </a:p>
          <a:p>
            <a:r>
              <a:rPr lang="en-US" altLang="ko-KR" sz="1000" b="1" dirty="0"/>
              <a:t>        </a:t>
            </a:r>
            <a:r>
              <a:rPr lang="en-US" altLang="ko-KR" sz="1000" b="1" dirty="0" err="1"/>
              <a:t>parameters.yaml</a:t>
            </a:r>
            <a:endParaRPr lang="en-US" altLang="ko-KR" sz="1000" b="1" dirty="0"/>
          </a:p>
          <a:p>
            <a:r>
              <a:rPr lang="en-US" altLang="ko-KR" sz="1000" b="1" dirty="0"/>
              <a:t>...</a:t>
            </a:r>
            <a:endParaRPr lang="ko-KR" altLang="en-US" sz="1000" b="1" dirty="0"/>
          </a:p>
        </p:txBody>
      </p:sp>
      <p:sp>
        <p:nvSpPr>
          <p:cNvPr id="8" name="직사각형 7">
            <a:extLst>
              <a:ext uri="{FF2B5EF4-FFF2-40B4-BE49-F238E27FC236}">
                <a16:creationId xmlns:a16="http://schemas.microsoft.com/office/drawing/2014/main" id="{5887C821-0996-486A-A4E8-A328064F6421}"/>
              </a:ext>
            </a:extLst>
          </p:cNvPr>
          <p:cNvSpPr/>
          <p:nvPr/>
        </p:nvSpPr>
        <p:spPr>
          <a:xfrm>
            <a:off x="3048000" y="3798044"/>
            <a:ext cx="6096000" cy="1169551"/>
          </a:xfrm>
          <a:prstGeom prst="rect">
            <a:avLst/>
          </a:prstGeom>
          <a:ln>
            <a:solidFill>
              <a:schemeClr val="bg1">
                <a:lumMod val="50000"/>
              </a:schemeClr>
            </a:solidFill>
          </a:ln>
        </p:spPr>
        <p:txBody>
          <a:bodyPr>
            <a:spAutoFit/>
          </a:bodyPr>
          <a:lstStyle/>
          <a:p>
            <a:r>
              <a:rPr lang="en-US" altLang="ko-KR" sz="1000" b="1" dirty="0"/>
              <a:t>frontend/</a:t>
            </a:r>
          </a:p>
          <a:p>
            <a:r>
              <a:rPr lang="en-US" altLang="ko-KR" sz="1000" b="1" dirty="0"/>
              <a:t>    staging-</a:t>
            </a:r>
            <a:r>
              <a:rPr lang="en-US" altLang="ko-KR" sz="1000" b="1" dirty="0" err="1"/>
              <a:t>parameters.yaml</a:t>
            </a:r>
            <a:endParaRPr lang="en-US" altLang="ko-KR" sz="1000" b="1" dirty="0"/>
          </a:p>
          <a:p>
            <a:r>
              <a:rPr lang="en-US" altLang="ko-KR" sz="1000" b="1" dirty="0"/>
              <a:t>    </a:t>
            </a:r>
            <a:r>
              <a:rPr lang="en-US" altLang="ko-KR" sz="1000" b="1" dirty="0" err="1"/>
              <a:t>eastus-parameters.yaml</a:t>
            </a:r>
            <a:endParaRPr lang="en-US" altLang="ko-KR" sz="1000" b="1" dirty="0"/>
          </a:p>
          <a:p>
            <a:r>
              <a:rPr lang="en-US" altLang="ko-KR" sz="1000" b="1" dirty="0"/>
              <a:t>    </a:t>
            </a:r>
            <a:r>
              <a:rPr lang="en-US" altLang="ko-KR" sz="1000" b="1" dirty="0" err="1"/>
              <a:t>westus-parameters.yaml</a:t>
            </a:r>
            <a:endParaRPr lang="en-US" altLang="ko-KR" sz="1000" b="1" dirty="0"/>
          </a:p>
          <a:p>
            <a:r>
              <a:rPr lang="en-US" altLang="ko-KR" sz="1000" b="1" dirty="0"/>
              <a:t>    templates/</a:t>
            </a:r>
          </a:p>
          <a:p>
            <a:r>
              <a:rPr lang="en-US" altLang="ko-KR" sz="1000" b="1" dirty="0"/>
              <a:t>        frontend-</a:t>
            </a:r>
            <a:r>
              <a:rPr lang="en-US" altLang="ko-KR" sz="1000" b="1" dirty="0" err="1"/>
              <a:t>deployment.yaml</a:t>
            </a:r>
            <a:endParaRPr lang="en-US" altLang="ko-KR" sz="1000" b="1" dirty="0"/>
          </a:p>
          <a:p>
            <a:r>
              <a:rPr lang="en-US" altLang="ko-KR" sz="1000" b="1" dirty="0"/>
              <a:t>...</a:t>
            </a:r>
            <a:endParaRPr lang="ko-KR" altLang="en-US" sz="1000" b="1" dirty="0"/>
          </a:p>
        </p:txBody>
      </p:sp>
    </p:spTree>
    <p:extLst>
      <p:ext uri="{BB962C8B-B14F-4D97-AF65-F5344CB8AC3E}">
        <p14:creationId xmlns:p14="http://schemas.microsoft.com/office/powerpoint/2010/main" val="41781331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Deploying Your Application Around the World(4/7)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Implementing Worldwide Deployment :</a:t>
            </a:r>
          </a:p>
          <a:p>
            <a:pPr lvl="1">
              <a:buFont typeface="Wingdings" panose="05000000000000000000" pitchFamily="2" charset="2"/>
              <a:buChar char="§"/>
            </a:pPr>
            <a:r>
              <a:rPr lang="en-US" altLang="ko-KR" sz="1400" b="1" dirty="0"/>
              <a:t>The question becomes one of how to update those various regions</a:t>
            </a:r>
            <a:r>
              <a:rPr lang="en-US" altLang="ko-KR" sz="1400" dirty="0"/>
              <a:t>. </a:t>
            </a:r>
            <a:r>
              <a:rPr lang="en-US" altLang="ko-KR" sz="1400" b="1" dirty="0"/>
              <a:t>One of the primary goals of using multiple regions is to ensure very high reliability and uptime</a:t>
            </a:r>
            <a:r>
              <a:rPr lang="en-US" altLang="ko-KR" sz="1400" dirty="0"/>
              <a:t>. While it would be tempting to assume that cloud and data center outages are the primary causes of downtime, the truth is that </a:t>
            </a:r>
            <a:r>
              <a:rPr lang="en-US" altLang="ko-KR" sz="1400" b="1" dirty="0"/>
              <a:t>outages are generally caused by new versions of software rolling out</a:t>
            </a:r>
            <a:r>
              <a:rPr lang="en-US" altLang="ko-KR" sz="1400" dirty="0"/>
              <a:t>. </a:t>
            </a:r>
            <a:r>
              <a:rPr lang="en-US" altLang="ko-KR" sz="1400" b="1" dirty="0"/>
              <a:t>Because of this, the key to a highly available system is </a:t>
            </a:r>
            <a:r>
              <a:rPr lang="en-US" altLang="ko-KR" sz="1400" b="1" dirty="0">
                <a:solidFill>
                  <a:srgbClr val="FF0000"/>
                </a:solidFill>
              </a:rPr>
              <a:t>limiting the effect or “blast radius” of any change</a:t>
            </a:r>
            <a:r>
              <a:rPr lang="en-US" altLang="ko-KR" sz="1400" b="1" dirty="0"/>
              <a:t> that you might make</a:t>
            </a:r>
            <a:r>
              <a:rPr lang="en-US" altLang="ko-KR" sz="1400" dirty="0"/>
              <a:t>. Thus, as you roll out a version across a variety of regions, </a:t>
            </a:r>
            <a:r>
              <a:rPr lang="en-US" altLang="ko-KR" sz="1400" b="1" dirty="0"/>
              <a:t>it makes sense to move carefully from region to region in order to validate and gain confidence in one region before moving on to the next</a:t>
            </a:r>
            <a:r>
              <a:rPr lang="en-US" altLang="ko-KR" sz="1400" dirty="0"/>
              <a:t>.</a:t>
            </a:r>
          </a:p>
          <a:p>
            <a:pPr lvl="1">
              <a:buFont typeface="Wingdings" panose="05000000000000000000" pitchFamily="2" charset="2"/>
              <a:buChar char="§"/>
            </a:pPr>
            <a:r>
              <a:rPr lang="en-US" altLang="ko-KR" sz="1400" b="1" dirty="0"/>
              <a:t>Rolling out software across the world generally looks more like a workflow than a single declarative update </a:t>
            </a:r>
            <a:r>
              <a:rPr lang="en-US" altLang="ko-KR" sz="1400" dirty="0"/>
              <a:t>: you begin by updating the version in staging to the latest version and then proceed through all regions until it is rolled out everywhere. </a:t>
            </a:r>
            <a:r>
              <a:rPr lang="en-US" altLang="ko-KR" sz="1400" b="1" dirty="0"/>
              <a:t>But how should you structure the various regions, and how long should you wait to validate between regions?</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EB06AE3E-CCF6-4596-9B32-1A84838AB89A}"/>
              </a:ext>
            </a:extLst>
          </p:cNvPr>
          <p:cNvPicPr>
            <a:picLocks noChangeAspect="1"/>
          </p:cNvPicPr>
          <p:nvPr/>
        </p:nvPicPr>
        <p:blipFill>
          <a:blip r:embed="rId2"/>
          <a:stretch>
            <a:fillRect/>
          </a:stretch>
        </p:blipFill>
        <p:spPr>
          <a:xfrm>
            <a:off x="4130315" y="3429000"/>
            <a:ext cx="3931370" cy="2979241"/>
          </a:xfrm>
          <a:prstGeom prst="rect">
            <a:avLst/>
          </a:prstGeom>
        </p:spPr>
      </p:pic>
    </p:spTree>
    <p:extLst>
      <p:ext uri="{BB962C8B-B14F-4D97-AF65-F5344CB8AC3E}">
        <p14:creationId xmlns:p14="http://schemas.microsoft.com/office/powerpoint/2010/main" val="3989853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Deploying Your Application Around the World(5/7)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Implementing Worldwide Deployment :</a:t>
            </a:r>
          </a:p>
          <a:p>
            <a:pPr lvl="1">
              <a:buFont typeface="Wingdings" panose="05000000000000000000" pitchFamily="2" charset="2"/>
              <a:buChar char="§"/>
            </a:pPr>
            <a:r>
              <a:rPr lang="en-US" altLang="ko-KR" sz="1400" b="1" dirty="0"/>
              <a:t>To determine the length of time between rollouts to regions, you want to consider the “</a:t>
            </a:r>
            <a:r>
              <a:rPr lang="en-US" altLang="ko-KR" sz="1400" b="1" dirty="0">
                <a:solidFill>
                  <a:srgbClr val="FF0000"/>
                </a:solidFill>
              </a:rPr>
              <a:t>mean time to smoke</a:t>
            </a:r>
            <a:r>
              <a:rPr lang="en-US" altLang="ko-KR" sz="1400" b="1" dirty="0"/>
              <a:t>” for your software</a:t>
            </a:r>
            <a:r>
              <a:rPr lang="en-US" altLang="ko-KR" sz="1400" dirty="0"/>
              <a:t>. This is the time it takes on average after a new release is rolled out to a region for a problem (if it exists) to be discovered. Obviously, each problem is unique and can take a varying amount of time to make itself known, and that is why you want to understand the average time. </a:t>
            </a:r>
            <a:r>
              <a:rPr lang="en-US" altLang="ko-KR" sz="1400" b="1" dirty="0"/>
              <a:t>Managing software at scale is a business of probability, not certainty, so you want to wait for a time that makes the probability of an error low enough that you are comfortable moving on to the next region</a:t>
            </a:r>
            <a:r>
              <a:rPr lang="en-US" altLang="ko-KR" sz="1400" dirty="0"/>
              <a:t>. Something like </a:t>
            </a:r>
            <a:r>
              <a:rPr lang="en-US" altLang="ko-KR" sz="1400" b="1" dirty="0"/>
              <a:t>two to three times the mean time to smoke </a:t>
            </a:r>
            <a:r>
              <a:rPr lang="en-US" altLang="ko-KR" sz="1400" dirty="0"/>
              <a:t>is probably a reasonable place to start, but </a:t>
            </a:r>
            <a:r>
              <a:rPr lang="en-US" altLang="ko-KR" sz="1400" b="1" dirty="0"/>
              <a:t>it is highly variable depending on your application</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F957408F-B433-4A86-8152-9A06F17E1B1C}"/>
              </a:ext>
            </a:extLst>
          </p:cNvPr>
          <p:cNvPicPr>
            <a:picLocks noChangeAspect="1"/>
          </p:cNvPicPr>
          <p:nvPr/>
        </p:nvPicPr>
        <p:blipFill>
          <a:blip r:embed="rId2"/>
          <a:stretch>
            <a:fillRect/>
          </a:stretch>
        </p:blipFill>
        <p:spPr>
          <a:xfrm>
            <a:off x="3090717" y="2753905"/>
            <a:ext cx="6010565" cy="3509076"/>
          </a:xfrm>
          <a:prstGeom prst="rect">
            <a:avLst/>
          </a:prstGeom>
        </p:spPr>
      </p:pic>
    </p:spTree>
    <p:extLst>
      <p:ext uri="{BB962C8B-B14F-4D97-AF65-F5344CB8AC3E}">
        <p14:creationId xmlns:p14="http://schemas.microsoft.com/office/powerpoint/2010/main" val="15554446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Deploying Your Application Around the World(6/7)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Implementing Worldwide Deployment :</a:t>
            </a:r>
          </a:p>
          <a:p>
            <a:pPr lvl="1">
              <a:buFont typeface="Wingdings" panose="05000000000000000000" pitchFamily="2" charset="2"/>
              <a:buChar char="§"/>
            </a:pPr>
            <a:r>
              <a:rPr lang="en-US" altLang="ko-KR" sz="1400" b="1" dirty="0"/>
              <a:t>To determine the order of regions, it is important to consider the characteristics of various regions</a:t>
            </a:r>
            <a:r>
              <a:rPr lang="en-US" altLang="ko-KR" sz="1400" dirty="0"/>
              <a:t>. For example, you are likely to have </a:t>
            </a:r>
            <a:r>
              <a:rPr lang="en-US" altLang="ko-KR" sz="1400" b="1" dirty="0"/>
              <a:t>high-traffic regions </a:t>
            </a:r>
            <a:r>
              <a:rPr lang="en-US" altLang="ko-KR" sz="1400" dirty="0"/>
              <a:t>and </a:t>
            </a:r>
            <a:r>
              <a:rPr lang="en-US" altLang="ko-KR" sz="1400" b="1" dirty="0"/>
              <a:t>low-traffic regions</a:t>
            </a:r>
            <a:r>
              <a:rPr lang="en-US" altLang="ko-KR" sz="1400" dirty="0"/>
              <a:t>. Depending on your application, you may have features that are more popular in one geographic area or another. All of these characteristics should be considered when putting together a release schedule. </a:t>
            </a:r>
          </a:p>
          <a:p>
            <a:pPr lvl="1">
              <a:buFont typeface="Wingdings" panose="05000000000000000000" pitchFamily="2" charset="2"/>
              <a:buChar char="§"/>
            </a:pPr>
            <a:r>
              <a:rPr lang="en-US" altLang="ko-KR" sz="1400" dirty="0"/>
              <a:t>You likely want to begin by rolling out to a low-traffic region. This ensures that any early problems you catch are limited to an area of little impact. Though it is not a “</a:t>
            </a:r>
            <a:r>
              <a:rPr lang="en-US" altLang="ko-KR" sz="1400" b="1" dirty="0"/>
              <a:t>hard-and-fast</a:t>
            </a:r>
            <a:r>
              <a:rPr lang="en-US" altLang="ko-KR" sz="1400" dirty="0"/>
              <a:t>” rule, </a:t>
            </a:r>
            <a:r>
              <a:rPr lang="en-US" altLang="ko-KR" sz="1400" b="1" dirty="0"/>
              <a:t>early problems are often the most severe, since they manifest quickly enough to be caught in the first region you roll out to</a:t>
            </a:r>
            <a:r>
              <a:rPr lang="en-US" altLang="ko-KR" sz="1400" dirty="0"/>
              <a:t>. Thus, minimizing the impact of such problems on your customers makes sense. </a:t>
            </a:r>
          </a:p>
          <a:p>
            <a:pPr lvl="1">
              <a:buFont typeface="Wingdings" panose="05000000000000000000" pitchFamily="2" charset="2"/>
              <a:buChar char="§"/>
            </a:pPr>
            <a:r>
              <a:rPr lang="en-US" altLang="ko-KR" sz="1400" b="1" dirty="0"/>
              <a:t>Once you have successfully validated that your release works correctly via the low-traffic region, you want to validate that it works correctly at scale</a:t>
            </a:r>
            <a:r>
              <a:rPr lang="en-US" altLang="ko-KR" sz="1400" dirty="0"/>
              <a:t>. </a:t>
            </a:r>
            <a:r>
              <a:rPr lang="en-US" altLang="ko-KR" sz="1400" b="1" dirty="0"/>
              <a:t>The only way to do this is to roll it out to a single high-traffic region</a:t>
            </a:r>
            <a:r>
              <a:rPr lang="en-US" altLang="ko-KR" sz="1400" dirty="0"/>
              <a:t>. When you have successfully rolled out to both a low- and a high-traffic region, you may have confidence that your application can safely roll out everywhere. </a:t>
            </a:r>
            <a:r>
              <a:rPr lang="en-US" altLang="ko-KR" sz="1400" b="1" dirty="0"/>
              <a:t>However, if there are regional variations, you may want to also test more slowly across a variety of geographies before pushing your release more broadly</a:t>
            </a:r>
            <a:r>
              <a:rPr lang="en-US" altLang="ko-KR" sz="1400" dirty="0"/>
              <a:t>.</a:t>
            </a:r>
          </a:p>
          <a:p>
            <a:pPr lvl="1">
              <a:buFont typeface="Wingdings" panose="05000000000000000000" pitchFamily="2" charset="2"/>
              <a:buChar char="§"/>
            </a:pPr>
            <a:r>
              <a:rPr lang="en-US" altLang="ko-KR" sz="1400" b="1" dirty="0"/>
              <a:t>When you put your release schedule together, it is important to follow it completely for every release, no matter how big or how small</a:t>
            </a:r>
            <a:r>
              <a:rPr lang="en-US" altLang="ko-KR" sz="1400" dirty="0"/>
              <a:t>. Many outages have been caused by people accelerating releases either to fix some other problem, or because they believed it to be “safe.”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9E18922B-2B55-4CA8-AF54-773E90CE2FD6}"/>
              </a:ext>
            </a:extLst>
          </p:cNvPr>
          <p:cNvPicPr>
            <a:picLocks noChangeAspect="1"/>
          </p:cNvPicPr>
          <p:nvPr/>
        </p:nvPicPr>
        <p:blipFill>
          <a:blip r:embed="rId2"/>
          <a:stretch>
            <a:fillRect/>
          </a:stretch>
        </p:blipFill>
        <p:spPr>
          <a:xfrm>
            <a:off x="7894322" y="4679291"/>
            <a:ext cx="3459478" cy="1729739"/>
          </a:xfrm>
          <a:prstGeom prst="rect">
            <a:avLst/>
          </a:prstGeom>
          <a:ln>
            <a:solidFill>
              <a:schemeClr val="bg1">
                <a:lumMod val="50000"/>
              </a:schemeClr>
            </a:solidFill>
          </a:ln>
        </p:spPr>
      </p:pic>
    </p:spTree>
    <p:extLst>
      <p:ext uri="{BB962C8B-B14F-4D97-AF65-F5344CB8AC3E}">
        <p14:creationId xmlns:p14="http://schemas.microsoft.com/office/powerpoint/2010/main" val="8793803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Deploying Your Application Around the World(7/7)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Dashboards and Monitoring for Worldwide Deployments :</a:t>
            </a:r>
          </a:p>
          <a:p>
            <a:pPr lvl="1">
              <a:buFont typeface="Wingdings" panose="05000000000000000000" pitchFamily="2" charset="2"/>
              <a:buChar char="§"/>
            </a:pPr>
            <a:r>
              <a:rPr lang="en-US" altLang="ko-KR" sz="1400" b="1" dirty="0"/>
              <a:t>One significant problem that you will likely run into at a medium or large scale is having different versions of your application deployed to different regions</a:t>
            </a:r>
            <a:r>
              <a:rPr lang="en-US" altLang="ko-KR" sz="1400" dirty="0"/>
              <a:t>. This can happen for a variety of reasons (e.g., because a release has failed, been aborted, or had problems in a particular region), and if you don’t track things carefully you can rapidly end up with an unmanageable snowflake of different versions deployed around the world. </a:t>
            </a:r>
          </a:p>
          <a:p>
            <a:pPr lvl="1">
              <a:buFont typeface="Wingdings" panose="05000000000000000000" pitchFamily="2" charset="2"/>
              <a:buChar char="§"/>
            </a:pPr>
            <a:r>
              <a:rPr lang="en-US" altLang="ko-KR" sz="1400" b="1" dirty="0"/>
              <a:t>It is essential to develop dashboards that can tell you at a glance what version is running in which region, as well as alerting that will fire when too many different versions of your application are deployed</a:t>
            </a:r>
            <a:r>
              <a:rPr lang="en-US" altLang="ko-KR" sz="1400" dirty="0"/>
              <a:t>. A best practice is to </a:t>
            </a:r>
            <a:r>
              <a:rPr lang="en-US" altLang="ko-KR" sz="1400" b="1" dirty="0">
                <a:solidFill>
                  <a:srgbClr val="FF0000"/>
                </a:solidFill>
              </a:rPr>
              <a:t>limit the number of active versions to no more than three</a:t>
            </a:r>
            <a:r>
              <a:rPr lang="en-US" altLang="ko-KR" sz="1400" dirty="0"/>
              <a:t>: </a:t>
            </a:r>
            <a:r>
              <a:rPr lang="en-US" altLang="ko-KR" sz="1400" b="1" dirty="0"/>
              <a:t>one testing, one rolling out, and one being replaced by the rollout</a:t>
            </a:r>
            <a:r>
              <a:rPr lang="en-US" altLang="ko-KR" sz="1400" dirty="0"/>
              <a:t>. Any more active versions than this is asking for trouble.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C6F24188-5B0D-4E94-AC0F-29A6906154F0}"/>
              </a:ext>
            </a:extLst>
          </p:cNvPr>
          <p:cNvPicPr>
            <a:picLocks noChangeAspect="1"/>
          </p:cNvPicPr>
          <p:nvPr/>
        </p:nvPicPr>
        <p:blipFill>
          <a:blip r:embed="rId2"/>
          <a:stretch>
            <a:fillRect/>
          </a:stretch>
        </p:blipFill>
        <p:spPr>
          <a:xfrm>
            <a:off x="2232660" y="2929226"/>
            <a:ext cx="7726680" cy="3201053"/>
          </a:xfrm>
          <a:prstGeom prst="rect">
            <a:avLst/>
          </a:prstGeom>
        </p:spPr>
      </p:pic>
    </p:spTree>
    <p:extLst>
      <p:ext uri="{BB962C8B-B14F-4D97-AF65-F5344CB8AC3E}">
        <p14:creationId xmlns:p14="http://schemas.microsoft.com/office/powerpoint/2010/main" val="35139880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Summary</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Remember :</a:t>
            </a:r>
          </a:p>
          <a:p>
            <a:pPr lvl="1">
              <a:buFont typeface="Wingdings" panose="05000000000000000000" pitchFamily="2" charset="2"/>
              <a:buChar char="§"/>
            </a:pPr>
            <a:r>
              <a:rPr lang="en-US" altLang="ko-KR" sz="1400" dirty="0"/>
              <a:t>We provides </a:t>
            </a:r>
            <a:r>
              <a:rPr lang="en-US" altLang="ko-KR" sz="1400" b="1" dirty="0"/>
              <a:t>guidance on how to manage a Kubernetes application through software versions, deployment stages, and regions around the world</a:t>
            </a:r>
            <a:r>
              <a:rPr lang="en-US" altLang="ko-KR" sz="1400" dirty="0"/>
              <a:t>. It highlights the principles that are the foundation of organizing your application : </a:t>
            </a:r>
          </a:p>
          <a:p>
            <a:pPr lvl="2">
              <a:buFont typeface="Wingdings" panose="05000000000000000000" pitchFamily="2" charset="2"/>
              <a:buChar char="§"/>
            </a:pPr>
            <a:r>
              <a:rPr lang="en-US" altLang="ko-KR" sz="1400" b="1" dirty="0"/>
              <a:t>Relying on the filesystem </a:t>
            </a:r>
            <a:r>
              <a:rPr lang="en-US" altLang="ko-KR" sz="1400" dirty="0"/>
              <a:t>for organization</a:t>
            </a:r>
          </a:p>
          <a:p>
            <a:pPr lvl="2">
              <a:buFont typeface="Wingdings" panose="05000000000000000000" pitchFamily="2" charset="2"/>
              <a:buChar char="§"/>
            </a:pPr>
            <a:r>
              <a:rPr lang="en-US" altLang="ko-KR" sz="1400" b="1" dirty="0"/>
              <a:t>Using code review </a:t>
            </a:r>
            <a:r>
              <a:rPr lang="en-US" altLang="ko-KR" sz="1400" dirty="0"/>
              <a:t>to ensure quality changes</a:t>
            </a:r>
          </a:p>
          <a:p>
            <a:pPr lvl="2">
              <a:buFont typeface="Wingdings" panose="05000000000000000000" pitchFamily="2" charset="2"/>
              <a:buChar char="§"/>
            </a:pPr>
            <a:r>
              <a:rPr lang="en-US" altLang="ko-KR" sz="1400" b="1" dirty="0"/>
              <a:t>Relying on feature flags or gates </a:t>
            </a:r>
            <a:r>
              <a:rPr lang="en-US" altLang="ko-KR" sz="1400" dirty="0"/>
              <a:t>to make it easy to </a:t>
            </a:r>
            <a:r>
              <a:rPr lang="en-US" altLang="ko-KR" sz="1400" b="1" dirty="0">
                <a:solidFill>
                  <a:srgbClr val="FF0000"/>
                </a:solidFill>
              </a:rPr>
              <a:t>incrementally add and remove functionality</a:t>
            </a:r>
            <a:endParaRPr lang="en-US" altLang="ko-KR" sz="1000" b="1" dirty="0">
              <a:solidFill>
                <a:srgbClr val="FF0000"/>
              </a:solidFill>
            </a:endParaRPr>
          </a:p>
          <a:p>
            <a:pPr lvl="1">
              <a:buFont typeface="Wingdings" panose="05000000000000000000" pitchFamily="2" charset="2"/>
              <a:buChar char="§"/>
            </a:pPr>
            <a:r>
              <a:rPr lang="en-US" altLang="ko-KR" sz="1400" b="1" dirty="0"/>
              <a:t>Read the guidance, and find the mix of approaches that works best for the particular circumstances of your application</a:t>
            </a:r>
            <a:r>
              <a:rPr lang="en-US" altLang="ko-KR" sz="1400" dirty="0"/>
              <a:t>. But keep in mind that in laying out your application for deployment, you are setting a process that you will likely have to live with for a number of years.</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EBE5C0BF-D21C-4137-B189-DE970E87C32C}"/>
              </a:ext>
            </a:extLst>
          </p:cNvPr>
          <p:cNvPicPr>
            <a:picLocks noChangeAspect="1"/>
          </p:cNvPicPr>
          <p:nvPr/>
        </p:nvPicPr>
        <p:blipFill>
          <a:blip r:embed="rId2"/>
          <a:stretch>
            <a:fillRect/>
          </a:stretch>
        </p:blipFill>
        <p:spPr>
          <a:xfrm>
            <a:off x="3190811" y="3429000"/>
            <a:ext cx="5810377" cy="2980030"/>
          </a:xfrm>
          <a:prstGeom prst="rect">
            <a:avLst/>
          </a:prstGeom>
        </p:spPr>
      </p:pic>
    </p:spTree>
    <p:extLst>
      <p:ext uri="{BB962C8B-B14F-4D97-AF65-F5344CB8AC3E}">
        <p14:creationId xmlns:p14="http://schemas.microsoft.com/office/powerpoint/2010/main" val="6398581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E702FFF-01AB-4779-B408-42E2E4E9C43E}"/>
              </a:ext>
            </a:extLst>
          </p:cNvPr>
          <p:cNvSpPr>
            <a:spLocks noGrp="1"/>
          </p:cNvSpPr>
          <p:nvPr>
            <p:ph type="ctrTitle"/>
          </p:nvPr>
        </p:nvSpPr>
        <p:spPr>
          <a:xfrm>
            <a:off x="1075173" y="1122363"/>
            <a:ext cx="10098593" cy="2387600"/>
          </a:xfrm>
        </p:spPr>
        <p:txBody>
          <a:bodyPr>
            <a:normAutofit/>
          </a:bodyPr>
          <a:lstStyle/>
          <a:p>
            <a:r>
              <a:rPr lang="en-US" altLang="ko-KR" sz="4400" b="1" dirty="0"/>
              <a:t>Building Multi-Node Cluster with </a:t>
            </a:r>
            <a:r>
              <a:rPr lang="en-US" altLang="ko-KR" sz="4400" b="1" dirty="0" err="1"/>
              <a:t>Kubeadm</a:t>
            </a:r>
            <a:endParaRPr lang="ko-KR" altLang="en-US" sz="4400" b="1" dirty="0"/>
          </a:p>
        </p:txBody>
      </p:sp>
      <p:cxnSp>
        <p:nvCxnSpPr>
          <p:cNvPr id="5" name="직선 연결선 4">
            <a:extLst>
              <a:ext uri="{FF2B5EF4-FFF2-40B4-BE49-F238E27FC236}">
                <a16:creationId xmlns:a16="http://schemas.microsoft.com/office/drawing/2014/main" id="{AAC595A7-AC89-45DB-BE94-EB85A23F72EB}"/>
              </a:ext>
            </a:extLst>
          </p:cNvPr>
          <p:cNvCxnSpPr>
            <a:cxnSpLocks/>
          </p:cNvCxnSpPr>
          <p:nvPr/>
        </p:nvCxnSpPr>
        <p:spPr>
          <a:xfrm>
            <a:off x="1283368" y="3509963"/>
            <a:ext cx="9721516"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907227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Kubernetes</a:t>
            </a:r>
            <a:r>
              <a:rPr lang="ko-KR" altLang="en-US" sz="2800" b="1" dirty="0"/>
              <a:t> </a:t>
            </a:r>
            <a:r>
              <a:rPr lang="en-US" altLang="ko-KR" sz="2800" b="1" dirty="0"/>
              <a:t>Cluster(1/13)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Prerequisites :</a:t>
            </a:r>
          </a:p>
          <a:p>
            <a:pPr lvl="1">
              <a:buFont typeface="Wingdings" panose="05000000000000000000" pitchFamily="2" charset="2"/>
              <a:buChar char="§"/>
            </a:pPr>
            <a:r>
              <a:rPr lang="en-US" altLang="ko-KR" sz="1400" dirty="0"/>
              <a:t>We assume that we are using </a:t>
            </a:r>
            <a:r>
              <a:rPr lang="en-US" altLang="ko-KR" sz="1400" b="1" dirty="0"/>
              <a:t>Ubuntu 20.04</a:t>
            </a:r>
            <a:r>
              <a:rPr lang="en-US" altLang="ko-KR" sz="1400" dirty="0"/>
              <a:t>. You need to do the following things before you make </a:t>
            </a:r>
            <a:r>
              <a:rPr lang="en-US" altLang="ko-KR" sz="1400" b="1" dirty="0"/>
              <a:t>on-premise Kubernetes cluster </a:t>
            </a:r>
            <a:r>
              <a:rPr lang="en-US" altLang="ko-KR" sz="1400" dirty="0"/>
              <a:t>in your company.</a:t>
            </a:r>
          </a:p>
          <a:p>
            <a:pPr lvl="2">
              <a:buFont typeface="Wingdings" panose="05000000000000000000" pitchFamily="2" charset="2"/>
              <a:buChar char="§"/>
            </a:pPr>
            <a:r>
              <a:rPr lang="en-US" altLang="ko-KR" sz="1400" b="1" dirty="0"/>
              <a:t>NTP(Network Time Protocol) server </a:t>
            </a:r>
            <a:r>
              <a:rPr lang="en-US" altLang="ko-KR" sz="1400" dirty="0"/>
              <a:t>synchronization</a:t>
            </a:r>
          </a:p>
          <a:p>
            <a:pPr lvl="2">
              <a:buFont typeface="Wingdings" panose="05000000000000000000" pitchFamily="2" charset="2"/>
              <a:buChar char="§"/>
            </a:pPr>
            <a:r>
              <a:rPr lang="en-US" altLang="ko-KR" sz="1400" b="1" dirty="0"/>
              <a:t>Swap off</a:t>
            </a:r>
          </a:p>
          <a:p>
            <a:pPr lvl="2">
              <a:buFont typeface="Wingdings" panose="05000000000000000000" pitchFamily="2" charset="2"/>
              <a:buChar char="§"/>
            </a:pPr>
            <a:r>
              <a:rPr lang="en-US" altLang="ko-KR" sz="1400" b="1" dirty="0"/>
              <a:t>Docker engine </a:t>
            </a:r>
            <a:r>
              <a:rPr lang="en-US" altLang="ko-KR" sz="1400" dirty="0"/>
              <a:t>installation</a:t>
            </a:r>
          </a:p>
          <a:p>
            <a:pPr lvl="2">
              <a:buFont typeface="Wingdings" panose="05000000000000000000" pitchFamily="2" charset="2"/>
              <a:buChar char="§"/>
            </a:pPr>
            <a:r>
              <a:rPr lang="en-US" altLang="ko-KR" sz="1400" b="1" dirty="0"/>
              <a:t>Changing Docker daemon to system</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CA0E3024-1CFB-45EA-8FC5-D1E357F21AB9}"/>
              </a:ext>
            </a:extLst>
          </p:cNvPr>
          <p:cNvPicPr>
            <a:picLocks noChangeAspect="1"/>
          </p:cNvPicPr>
          <p:nvPr/>
        </p:nvPicPr>
        <p:blipFill>
          <a:blip r:embed="rId2"/>
          <a:stretch>
            <a:fillRect/>
          </a:stretch>
        </p:blipFill>
        <p:spPr>
          <a:xfrm>
            <a:off x="3402330" y="2688688"/>
            <a:ext cx="5387340" cy="3574293"/>
          </a:xfrm>
          <a:prstGeom prst="rect">
            <a:avLst/>
          </a:prstGeom>
        </p:spPr>
      </p:pic>
    </p:spTree>
    <p:extLst>
      <p:ext uri="{BB962C8B-B14F-4D97-AF65-F5344CB8AC3E}">
        <p14:creationId xmlns:p14="http://schemas.microsoft.com/office/powerpoint/2010/main" val="20716995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Kubernetes</a:t>
            </a:r>
            <a:r>
              <a:rPr lang="ko-KR" altLang="en-US" sz="2800" b="1" dirty="0"/>
              <a:t> </a:t>
            </a:r>
            <a:r>
              <a:rPr lang="en-US" altLang="ko-KR" sz="2800" b="1" dirty="0"/>
              <a:t>Cluster(2/13)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NTP(Network Time Protocol) server synchronization : </a:t>
            </a:r>
          </a:p>
          <a:p>
            <a:pPr lvl="1">
              <a:buFont typeface="Wingdings" panose="05000000000000000000" pitchFamily="2" charset="2"/>
              <a:buChar char="§"/>
            </a:pPr>
            <a:r>
              <a:rPr lang="en-US" altLang="ko-KR" sz="1400" b="1" dirty="0"/>
              <a:t>Step 01</a:t>
            </a:r>
            <a:r>
              <a:rPr lang="en-US" altLang="ko-KR" sz="1400" dirty="0"/>
              <a:t>. We need to </a:t>
            </a:r>
            <a:r>
              <a:rPr lang="en-US" altLang="ko-KR" sz="1400" b="1" dirty="0"/>
              <a:t>install NTP </a:t>
            </a:r>
            <a:r>
              <a:rPr lang="en-US" altLang="ko-KR" sz="1400" dirty="0"/>
              <a:t>with the following command.</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26F3CDF9-DC34-4760-BCD1-47B1B613C9F1}"/>
              </a:ext>
            </a:extLst>
          </p:cNvPr>
          <p:cNvGrpSpPr/>
          <p:nvPr/>
        </p:nvGrpSpPr>
        <p:grpSpPr>
          <a:xfrm>
            <a:off x="1423035" y="1603124"/>
            <a:ext cx="9345930" cy="3153256"/>
            <a:chOff x="1423035" y="1491734"/>
            <a:chExt cx="9345930" cy="3153256"/>
          </a:xfrm>
        </p:grpSpPr>
        <p:sp>
          <p:nvSpPr>
            <p:cNvPr id="4" name="직사각형 3">
              <a:extLst>
                <a:ext uri="{FF2B5EF4-FFF2-40B4-BE49-F238E27FC236}">
                  <a16:creationId xmlns:a16="http://schemas.microsoft.com/office/drawing/2014/main" id="{313FDB53-C7AC-4EEF-8B24-74F79C8A0D26}"/>
                </a:ext>
              </a:extLst>
            </p:cNvPr>
            <p:cNvSpPr/>
            <p:nvPr/>
          </p:nvSpPr>
          <p:spPr>
            <a:xfrm>
              <a:off x="5343230" y="1491734"/>
              <a:ext cx="1505540" cy="246221"/>
            </a:xfrm>
            <a:prstGeom prst="rect">
              <a:avLst/>
            </a:prstGeom>
            <a:ln>
              <a:solidFill>
                <a:schemeClr val="bg1">
                  <a:lumMod val="50000"/>
                </a:schemeClr>
              </a:solidFill>
            </a:ln>
          </p:spPr>
          <p:txBody>
            <a:bodyPr wrap="none">
              <a:spAutoFit/>
            </a:bodyPr>
            <a:lstStyle/>
            <a:p>
              <a:r>
                <a:rPr lang="en-US" altLang="ko-KR" sz="1000" b="1" dirty="0"/>
                <a:t>$ </a:t>
              </a:r>
              <a:r>
                <a:rPr lang="en-US" altLang="ko-KR" sz="1000" b="1" dirty="0" err="1"/>
                <a:t>sudo</a:t>
              </a:r>
              <a:r>
                <a:rPr lang="en-US" altLang="ko-KR" sz="1000" b="1" dirty="0"/>
                <a:t> apt install </a:t>
              </a:r>
              <a:r>
                <a:rPr lang="en-US" altLang="ko-KR" sz="1000" b="1" dirty="0" err="1"/>
                <a:t>ntp</a:t>
              </a:r>
              <a:endParaRPr lang="ko-KR" altLang="en-US" sz="1000" b="1" dirty="0"/>
            </a:p>
          </p:txBody>
        </p:sp>
        <p:sp>
          <p:nvSpPr>
            <p:cNvPr id="8" name="화살표: 아래쪽 7">
              <a:extLst>
                <a:ext uri="{FF2B5EF4-FFF2-40B4-BE49-F238E27FC236}">
                  <a16:creationId xmlns:a16="http://schemas.microsoft.com/office/drawing/2014/main" id="{CA7F4679-E697-4E45-A6EF-BAB92C4016D6}"/>
                </a:ext>
              </a:extLst>
            </p:cNvPr>
            <p:cNvSpPr/>
            <p:nvPr/>
          </p:nvSpPr>
          <p:spPr>
            <a:xfrm>
              <a:off x="5886450" y="1771067"/>
              <a:ext cx="419100" cy="246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1" name="그룹 10">
              <a:extLst>
                <a:ext uri="{FF2B5EF4-FFF2-40B4-BE49-F238E27FC236}">
                  <a16:creationId xmlns:a16="http://schemas.microsoft.com/office/drawing/2014/main" id="{2D734EA8-65EE-4BFD-AF40-B6F28863917C}"/>
                </a:ext>
              </a:extLst>
            </p:cNvPr>
            <p:cNvGrpSpPr/>
            <p:nvPr/>
          </p:nvGrpSpPr>
          <p:grpSpPr>
            <a:xfrm>
              <a:off x="1423035" y="2017288"/>
              <a:ext cx="9345930" cy="2627702"/>
              <a:chOff x="1333500" y="2033732"/>
              <a:chExt cx="10267950" cy="2773299"/>
            </a:xfrm>
          </p:grpSpPr>
          <p:pic>
            <p:nvPicPr>
              <p:cNvPr id="9" name="그림 8">
                <a:extLst>
                  <a:ext uri="{FF2B5EF4-FFF2-40B4-BE49-F238E27FC236}">
                    <a16:creationId xmlns:a16="http://schemas.microsoft.com/office/drawing/2014/main" id="{2091BF86-9BB0-4EDA-AEF6-62B9F323FFEC}"/>
                  </a:ext>
                </a:extLst>
              </p:cNvPr>
              <p:cNvPicPr>
                <a:picLocks noChangeAspect="1"/>
              </p:cNvPicPr>
              <p:nvPr/>
            </p:nvPicPr>
            <p:blipFill>
              <a:blip r:embed="rId2"/>
              <a:stretch>
                <a:fillRect/>
              </a:stretch>
            </p:blipFill>
            <p:spPr>
              <a:xfrm>
                <a:off x="1333500" y="2033732"/>
                <a:ext cx="9525000" cy="1809750"/>
              </a:xfrm>
              <a:prstGeom prst="rect">
                <a:avLst/>
              </a:prstGeom>
            </p:spPr>
          </p:pic>
          <p:pic>
            <p:nvPicPr>
              <p:cNvPr id="10" name="그림 9">
                <a:extLst>
                  <a:ext uri="{FF2B5EF4-FFF2-40B4-BE49-F238E27FC236}">
                    <a16:creationId xmlns:a16="http://schemas.microsoft.com/office/drawing/2014/main" id="{4C198449-CDC1-4DF9-8682-7BA0820727C8}"/>
                  </a:ext>
                </a:extLst>
              </p:cNvPr>
              <p:cNvPicPr>
                <a:picLocks noChangeAspect="1"/>
              </p:cNvPicPr>
              <p:nvPr/>
            </p:nvPicPr>
            <p:blipFill>
              <a:blip r:embed="rId3"/>
              <a:stretch>
                <a:fillRect/>
              </a:stretch>
            </p:blipFill>
            <p:spPr>
              <a:xfrm>
                <a:off x="2076450" y="2997281"/>
                <a:ext cx="9525000" cy="1809750"/>
              </a:xfrm>
              <a:prstGeom prst="rect">
                <a:avLst/>
              </a:prstGeom>
              <a:ln>
                <a:solidFill>
                  <a:schemeClr val="bg1">
                    <a:lumMod val="50000"/>
                  </a:schemeClr>
                </a:solidFill>
              </a:ln>
            </p:spPr>
          </p:pic>
        </p:grpSp>
      </p:grpSp>
    </p:spTree>
    <p:extLst>
      <p:ext uri="{BB962C8B-B14F-4D97-AF65-F5344CB8AC3E}">
        <p14:creationId xmlns:p14="http://schemas.microsoft.com/office/powerpoint/2010/main" val="37850001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Kubernetes</a:t>
            </a:r>
            <a:r>
              <a:rPr lang="ko-KR" altLang="en-US" sz="2800" b="1" dirty="0"/>
              <a:t> </a:t>
            </a:r>
            <a:r>
              <a:rPr lang="en-US" altLang="ko-KR" sz="2800" b="1" dirty="0"/>
              <a:t>Cluster(3/13)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NTP(Network Time Protocol) server synchronization :</a:t>
            </a:r>
          </a:p>
          <a:p>
            <a:pPr lvl="1">
              <a:buFont typeface="Wingdings" panose="05000000000000000000" pitchFamily="2" charset="2"/>
              <a:buChar char="§"/>
            </a:pPr>
            <a:r>
              <a:rPr lang="en-US" altLang="ko-KR" sz="1400" b="1" dirty="0"/>
              <a:t>Step 02</a:t>
            </a:r>
            <a:r>
              <a:rPr lang="en-US" altLang="ko-KR" sz="1400" dirty="0"/>
              <a:t>. </a:t>
            </a:r>
            <a:r>
              <a:rPr lang="en-US" altLang="ko-KR" sz="1400" b="1" dirty="0"/>
              <a:t>In master node</a:t>
            </a:r>
            <a:r>
              <a:rPr lang="en-US" altLang="ko-KR" sz="1400" dirty="0"/>
              <a:t>, after installing NTP we need to </a:t>
            </a:r>
            <a:r>
              <a:rPr lang="en-US" altLang="ko-KR" sz="1400" b="1" dirty="0"/>
              <a:t>reload NTP service and check the running status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AA510E67-671B-47B4-97E2-6DBD3F46783B}"/>
              </a:ext>
            </a:extLst>
          </p:cNvPr>
          <p:cNvGrpSpPr/>
          <p:nvPr/>
        </p:nvGrpSpPr>
        <p:grpSpPr>
          <a:xfrm>
            <a:off x="2135505" y="1566595"/>
            <a:ext cx="7920990" cy="4837997"/>
            <a:chOff x="2135505" y="1566595"/>
            <a:chExt cx="7920990" cy="4837997"/>
          </a:xfrm>
        </p:grpSpPr>
        <p:grpSp>
          <p:nvGrpSpPr>
            <p:cNvPr id="10" name="그룹 9">
              <a:extLst>
                <a:ext uri="{FF2B5EF4-FFF2-40B4-BE49-F238E27FC236}">
                  <a16:creationId xmlns:a16="http://schemas.microsoft.com/office/drawing/2014/main" id="{AD7AEA3D-662B-4D0B-84C8-01E723741977}"/>
                </a:ext>
              </a:extLst>
            </p:cNvPr>
            <p:cNvGrpSpPr/>
            <p:nvPr/>
          </p:nvGrpSpPr>
          <p:grpSpPr>
            <a:xfrm>
              <a:off x="3048000" y="1566595"/>
              <a:ext cx="6096000" cy="729883"/>
              <a:chOff x="3048000" y="1520875"/>
              <a:chExt cx="6096000" cy="729883"/>
            </a:xfrm>
          </p:grpSpPr>
          <p:sp>
            <p:nvSpPr>
              <p:cNvPr id="4" name="직사각형 3">
                <a:extLst>
                  <a:ext uri="{FF2B5EF4-FFF2-40B4-BE49-F238E27FC236}">
                    <a16:creationId xmlns:a16="http://schemas.microsoft.com/office/drawing/2014/main" id="{F593A599-DAF3-4A17-B2A4-362096CE678C}"/>
                  </a:ext>
                </a:extLst>
              </p:cNvPr>
              <p:cNvSpPr/>
              <p:nvPr/>
            </p:nvSpPr>
            <p:spPr>
              <a:xfrm>
                <a:off x="3048000" y="1520875"/>
                <a:ext cx="6096000" cy="400110"/>
              </a:xfrm>
              <a:prstGeom prst="rect">
                <a:avLst/>
              </a:prstGeom>
              <a:ln>
                <a:solidFill>
                  <a:schemeClr val="bg1">
                    <a:lumMod val="50000"/>
                  </a:schemeClr>
                </a:solidFill>
              </a:ln>
            </p:spPr>
            <p:txBody>
              <a:bodyPr>
                <a:spAutoFit/>
              </a:bodyPr>
              <a:lstStyle/>
              <a:p>
                <a:r>
                  <a:rPr lang="en-US" altLang="ko-KR" sz="1000" b="1" dirty="0"/>
                  <a:t>$ </a:t>
                </a:r>
                <a:r>
                  <a:rPr lang="en-US" altLang="ko-KR" sz="1000" b="1" dirty="0" err="1"/>
                  <a:t>sudo</a:t>
                </a:r>
                <a:r>
                  <a:rPr lang="en-US" altLang="ko-KR" sz="1000" b="1" dirty="0"/>
                  <a:t> service </a:t>
                </a:r>
                <a:r>
                  <a:rPr lang="en-US" altLang="ko-KR" sz="1000" b="1" dirty="0" err="1"/>
                  <a:t>ntp</a:t>
                </a:r>
                <a:r>
                  <a:rPr lang="en-US" altLang="ko-KR" sz="1000" b="1" dirty="0"/>
                  <a:t> reload</a:t>
                </a:r>
              </a:p>
              <a:p>
                <a:r>
                  <a:rPr lang="en-US" altLang="ko-KR" sz="1000" b="1" dirty="0"/>
                  <a:t>$ </a:t>
                </a:r>
                <a:r>
                  <a:rPr lang="en-US" altLang="ko-KR" sz="1000" b="1" dirty="0" err="1"/>
                  <a:t>sudo</a:t>
                </a:r>
                <a:r>
                  <a:rPr lang="en-US" altLang="ko-KR" sz="1000" b="1" dirty="0"/>
                  <a:t> </a:t>
                </a:r>
                <a:r>
                  <a:rPr lang="en-US" altLang="ko-KR" sz="1000" b="1" dirty="0" err="1"/>
                  <a:t>ntpq</a:t>
                </a:r>
                <a:r>
                  <a:rPr lang="en-US" altLang="ko-KR" sz="1000" b="1" dirty="0"/>
                  <a:t> -p</a:t>
                </a:r>
                <a:endParaRPr lang="ko-KR" altLang="en-US" sz="1000" b="1" dirty="0"/>
              </a:p>
            </p:txBody>
          </p:sp>
          <p:sp>
            <p:nvSpPr>
              <p:cNvPr id="9" name="화살표: 아래쪽 8">
                <a:extLst>
                  <a:ext uri="{FF2B5EF4-FFF2-40B4-BE49-F238E27FC236}">
                    <a16:creationId xmlns:a16="http://schemas.microsoft.com/office/drawing/2014/main" id="{B0D524DA-D4F3-4779-A338-E16A874FEC85}"/>
                  </a:ext>
                </a:extLst>
              </p:cNvPr>
              <p:cNvSpPr/>
              <p:nvPr/>
            </p:nvSpPr>
            <p:spPr>
              <a:xfrm>
                <a:off x="5901690" y="1947667"/>
                <a:ext cx="388620" cy="30309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11" name="그림 10">
              <a:extLst>
                <a:ext uri="{FF2B5EF4-FFF2-40B4-BE49-F238E27FC236}">
                  <a16:creationId xmlns:a16="http://schemas.microsoft.com/office/drawing/2014/main" id="{2BEB0B02-40AA-4D02-878A-7586F6E3F94C}"/>
                </a:ext>
              </a:extLst>
            </p:cNvPr>
            <p:cNvPicPr>
              <a:picLocks noChangeAspect="1"/>
            </p:cNvPicPr>
            <p:nvPr/>
          </p:nvPicPr>
          <p:blipFill>
            <a:blip r:embed="rId2"/>
            <a:stretch>
              <a:fillRect/>
            </a:stretch>
          </p:blipFill>
          <p:spPr>
            <a:xfrm>
              <a:off x="2135505" y="2285677"/>
              <a:ext cx="7920990" cy="4118915"/>
            </a:xfrm>
            <a:prstGeom prst="rect">
              <a:avLst/>
            </a:prstGeom>
            <a:ln>
              <a:solidFill>
                <a:schemeClr val="bg1">
                  <a:lumMod val="50000"/>
                </a:schemeClr>
              </a:solidFill>
            </a:ln>
          </p:spPr>
        </p:pic>
      </p:grpSp>
    </p:spTree>
    <p:extLst>
      <p:ext uri="{BB962C8B-B14F-4D97-AF65-F5344CB8AC3E}">
        <p14:creationId xmlns:p14="http://schemas.microsoft.com/office/powerpoint/2010/main" val="42397487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Kubernetes</a:t>
            </a:r>
            <a:r>
              <a:rPr lang="ko-KR" altLang="en-US" sz="2800" b="1" dirty="0"/>
              <a:t> </a:t>
            </a:r>
            <a:r>
              <a:rPr lang="en-US" altLang="ko-KR" sz="2800" b="1" dirty="0"/>
              <a:t>Cluster(4/13)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NTP(Network Time Protocol) server synchronization :</a:t>
            </a:r>
          </a:p>
          <a:p>
            <a:pPr lvl="1">
              <a:buFont typeface="Wingdings" panose="05000000000000000000" pitchFamily="2" charset="2"/>
              <a:buChar char="§"/>
            </a:pPr>
            <a:r>
              <a:rPr lang="en-US" altLang="ko-KR" sz="1400" b="1" dirty="0"/>
              <a:t>Step 03</a:t>
            </a:r>
            <a:r>
              <a:rPr lang="en-US" altLang="ko-KR" sz="1400" dirty="0"/>
              <a:t>. </a:t>
            </a:r>
            <a:r>
              <a:rPr lang="en-US" altLang="ko-KR" sz="1400" b="1" dirty="0"/>
              <a:t>In worker node</a:t>
            </a:r>
            <a:r>
              <a:rPr lang="en-US" altLang="ko-KR" sz="1400" dirty="0"/>
              <a:t>, we need to </a:t>
            </a:r>
            <a:r>
              <a:rPr lang="en-US" altLang="ko-KR" sz="1400" b="1" dirty="0"/>
              <a:t>change the NTP server setting to connect to the master node NTP service</a:t>
            </a:r>
            <a:r>
              <a:rPr lang="en-US" altLang="ko-KR" sz="1400" dirty="0"/>
              <a:t>.</a:t>
            </a:r>
          </a:p>
          <a:p>
            <a:pPr lvl="2">
              <a:buFont typeface="Wingdings" panose="05000000000000000000" pitchFamily="2" charset="2"/>
              <a:buChar char="§"/>
            </a:pPr>
            <a:r>
              <a:rPr lang="en-US" altLang="ko-KR" sz="1400" b="1" dirty="0"/>
              <a:t>NOTE : You also need to install NTP in worker node</a:t>
            </a:r>
            <a:r>
              <a:rPr lang="en-US" altLang="ko-KR" sz="1400" dirty="0"/>
              <a:t>.</a:t>
            </a:r>
          </a:p>
          <a:p>
            <a:pPr lvl="2">
              <a:buFont typeface="Wingdings" panose="05000000000000000000" pitchFamily="2" charset="2"/>
              <a:buChar char="§"/>
            </a:pPr>
            <a:endParaRPr lang="en-US" altLang="ko-KR" sz="1400" dirty="0"/>
          </a:p>
          <a:p>
            <a:pPr lvl="2">
              <a:buFont typeface="Wingdings" panose="05000000000000000000" pitchFamily="2" charset="2"/>
              <a:buChar char="§"/>
            </a:pPr>
            <a:endParaRPr lang="en-US" altLang="ko-KR" sz="1400" dirty="0"/>
          </a:p>
          <a:p>
            <a:pPr lvl="2">
              <a:buFont typeface="Wingdings" panose="05000000000000000000" pitchFamily="2" charset="2"/>
              <a:buChar char="§"/>
            </a:pPr>
            <a:endParaRPr lang="en-US" altLang="ko-KR" sz="1400" dirty="0"/>
          </a:p>
          <a:p>
            <a:pPr lvl="2">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Step 04. In worker node, restart the NTP service and check the synchronization status</a:t>
            </a:r>
            <a:r>
              <a:rPr lang="en-US" altLang="ko-KR" sz="1400" dirty="0"/>
              <a:t> with the following commands.</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C46E2863-2E14-4453-8DC0-A5D65A75C8E4}"/>
              </a:ext>
            </a:extLst>
          </p:cNvPr>
          <p:cNvSpPr/>
          <p:nvPr/>
        </p:nvSpPr>
        <p:spPr>
          <a:xfrm>
            <a:off x="3006596" y="1735574"/>
            <a:ext cx="6178807" cy="707886"/>
          </a:xfrm>
          <a:prstGeom prst="rect">
            <a:avLst/>
          </a:prstGeom>
          <a:ln>
            <a:solidFill>
              <a:schemeClr val="bg1">
                <a:lumMod val="50000"/>
              </a:schemeClr>
            </a:solidFill>
          </a:ln>
        </p:spPr>
        <p:txBody>
          <a:bodyPr wrap="square">
            <a:spAutoFit/>
          </a:bodyPr>
          <a:lstStyle/>
          <a:p>
            <a:r>
              <a:rPr lang="en-US" altLang="ko-KR" sz="1000" b="1" dirty="0"/>
              <a:t>$ </a:t>
            </a:r>
            <a:r>
              <a:rPr lang="en-US" altLang="ko-KR" sz="1000" b="1" dirty="0" err="1"/>
              <a:t>sudo</a:t>
            </a:r>
            <a:r>
              <a:rPr lang="en-US" altLang="ko-KR" sz="1000" b="1" dirty="0"/>
              <a:t> vi /</a:t>
            </a:r>
            <a:r>
              <a:rPr lang="en-US" altLang="ko-KR" sz="1000" b="1" dirty="0" err="1"/>
              <a:t>etc</a:t>
            </a:r>
            <a:r>
              <a:rPr lang="en-US" altLang="ko-KR" sz="1000" b="1" dirty="0"/>
              <a:t>/</a:t>
            </a:r>
            <a:r>
              <a:rPr lang="en-US" altLang="ko-KR" sz="1000" b="1" dirty="0" err="1"/>
              <a:t>ntp.conf</a:t>
            </a:r>
            <a:endParaRPr lang="en-US" altLang="ko-KR" sz="1000" b="1" dirty="0"/>
          </a:p>
          <a:p>
            <a:r>
              <a:rPr lang="en-US" altLang="ko-KR" sz="1000" b="1" dirty="0"/>
              <a:t>…</a:t>
            </a:r>
          </a:p>
          <a:p>
            <a:r>
              <a:rPr lang="en-US" altLang="ko-KR" sz="1000" b="1" dirty="0"/>
              <a:t># Comment out all uncommented </a:t>
            </a:r>
            <a:r>
              <a:rPr lang="en-US" altLang="ko-KR" sz="1000" b="1" dirty="0">
                <a:solidFill>
                  <a:srgbClr val="FF0000"/>
                </a:solidFill>
              </a:rPr>
              <a:t>pools</a:t>
            </a:r>
            <a:r>
              <a:rPr lang="en-US" altLang="ko-KR" sz="1000" b="1" dirty="0"/>
              <a:t> and </a:t>
            </a:r>
            <a:r>
              <a:rPr lang="en-US" altLang="ko-KR" sz="1000" b="1" dirty="0">
                <a:solidFill>
                  <a:srgbClr val="FF0000"/>
                </a:solidFill>
              </a:rPr>
              <a:t>servers</a:t>
            </a:r>
            <a:r>
              <a:rPr lang="en-US" altLang="ko-KR" sz="1000" b="1" dirty="0"/>
              <a:t> and add the master node NTP IP address.</a:t>
            </a:r>
          </a:p>
          <a:p>
            <a:r>
              <a:rPr lang="en-US" altLang="ko-KR" sz="1000" b="1" dirty="0"/>
              <a:t>server &lt;</a:t>
            </a:r>
            <a:r>
              <a:rPr lang="en-US" altLang="ko-KR" sz="1000" b="1" dirty="0">
                <a:solidFill>
                  <a:srgbClr val="FF0000"/>
                </a:solidFill>
              </a:rPr>
              <a:t>MASTER NODE IP ADDRESS</a:t>
            </a:r>
            <a:r>
              <a:rPr lang="en-US" altLang="ko-KR" sz="1000" b="1" dirty="0"/>
              <a:t>&gt;</a:t>
            </a:r>
            <a:endParaRPr lang="ko-KR" altLang="en-US" sz="1000" b="1" dirty="0"/>
          </a:p>
        </p:txBody>
      </p:sp>
      <p:sp>
        <p:nvSpPr>
          <p:cNvPr id="8" name="직사각형 7">
            <a:extLst>
              <a:ext uri="{FF2B5EF4-FFF2-40B4-BE49-F238E27FC236}">
                <a16:creationId xmlns:a16="http://schemas.microsoft.com/office/drawing/2014/main" id="{AD4A18A3-F149-480A-9CC4-62EF690B3C67}"/>
              </a:ext>
            </a:extLst>
          </p:cNvPr>
          <p:cNvSpPr/>
          <p:nvPr/>
        </p:nvSpPr>
        <p:spPr>
          <a:xfrm>
            <a:off x="3006595" y="3004518"/>
            <a:ext cx="6178807" cy="400110"/>
          </a:xfrm>
          <a:prstGeom prst="rect">
            <a:avLst/>
          </a:prstGeom>
          <a:ln>
            <a:solidFill>
              <a:schemeClr val="bg1">
                <a:lumMod val="50000"/>
              </a:schemeClr>
            </a:solidFill>
          </a:ln>
        </p:spPr>
        <p:txBody>
          <a:bodyPr wrap="square">
            <a:spAutoFit/>
          </a:bodyPr>
          <a:lstStyle/>
          <a:p>
            <a:r>
              <a:rPr lang="en-US" altLang="ko-KR" sz="1000" b="1" dirty="0"/>
              <a:t>$ </a:t>
            </a:r>
            <a:r>
              <a:rPr lang="en-US" altLang="ko-KR" sz="1000" b="1" dirty="0" err="1"/>
              <a:t>sudo</a:t>
            </a:r>
            <a:r>
              <a:rPr lang="en-US" altLang="ko-KR" sz="1000" b="1" dirty="0"/>
              <a:t> </a:t>
            </a:r>
            <a:r>
              <a:rPr lang="en-US" altLang="ko-KR" sz="1000" b="1" dirty="0" err="1"/>
              <a:t>systemctl</a:t>
            </a:r>
            <a:r>
              <a:rPr lang="en-US" altLang="ko-KR" sz="1000" b="1" dirty="0"/>
              <a:t> restart </a:t>
            </a:r>
            <a:r>
              <a:rPr lang="en-US" altLang="ko-KR" sz="1000" b="1" dirty="0" err="1"/>
              <a:t>ntp</a:t>
            </a:r>
            <a:endParaRPr lang="en-US" altLang="ko-KR" sz="1000" b="1" dirty="0"/>
          </a:p>
          <a:p>
            <a:r>
              <a:rPr lang="en-US" altLang="ko-KR" sz="1000" b="1" dirty="0"/>
              <a:t>$ </a:t>
            </a:r>
            <a:r>
              <a:rPr lang="en-US" altLang="ko-KR" sz="1000" b="1" dirty="0" err="1"/>
              <a:t>sudo</a:t>
            </a:r>
            <a:r>
              <a:rPr lang="en-US" altLang="ko-KR" sz="1000" b="1" dirty="0"/>
              <a:t> </a:t>
            </a:r>
            <a:r>
              <a:rPr lang="en-US" altLang="ko-KR" sz="1000" b="1" dirty="0" err="1"/>
              <a:t>ntpq</a:t>
            </a:r>
            <a:r>
              <a:rPr lang="en-US" altLang="ko-KR" sz="1000" b="1" dirty="0"/>
              <a:t> -p</a:t>
            </a:r>
            <a:endParaRPr lang="ko-KR" altLang="en-US" sz="1000" b="1" dirty="0"/>
          </a:p>
        </p:txBody>
      </p:sp>
      <p:pic>
        <p:nvPicPr>
          <p:cNvPr id="9" name="그림 8">
            <a:extLst>
              <a:ext uri="{FF2B5EF4-FFF2-40B4-BE49-F238E27FC236}">
                <a16:creationId xmlns:a16="http://schemas.microsoft.com/office/drawing/2014/main" id="{8B3BA291-7FB5-468E-8832-A5DE10DC4C07}"/>
              </a:ext>
            </a:extLst>
          </p:cNvPr>
          <p:cNvPicPr>
            <a:picLocks noChangeAspect="1"/>
          </p:cNvPicPr>
          <p:nvPr/>
        </p:nvPicPr>
        <p:blipFill>
          <a:blip r:embed="rId2"/>
          <a:stretch>
            <a:fillRect/>
          </a:stretch>
        </p:blipFill>
        <p:spPr>
          <a:xfrm>
            <a:off x="1818956" y="3735077"/>
            <a:ext cx="8554088" cy="2677429"/>
          </a:xfrm>
          <a:prstGeom prst="rect">
            <a:avLst/>
          </a:prstGeom>
          <a:ln>
            <a:solidFill>
              <a:schemeClr val="bg1">
                <a:lumMod val="50000"/>
              </a:schemeClr>
            </a:solidFill>
          </a:ln>
        </p:spPr>
      </p:pic>
      <p:sp>
        <p:nvSpPr>
          <p:cNvPr id="10" name="화살표: 아래쪽 9">
            <a:extLst>
              <a:ext uri="{FF2B5EF4-FFF2-40B4-BE49-F238E27FC236}">
                <a16:creationId xmlns:a16="http://schemas.microsoft.com/office/drawing/2014/main" id="{85E8F531-1767-48FE-94BF-0804B44C0D3F}"/>
              </a:ext>
            </a:extLst>
          </p:cNvPr>
          <p:cNvSpPr/>
          <p:nvPr/>
        </p:nvSpPr>
        <p:spPr>
          <a:xfrm>
            <a:off x="5890258" y="3439410"/>
            <a:ext cx="411480" cy="295667"/>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직사각형 10">
            <a:extLst>
              <a:ext uri="{FF2B5EF4-FFF2-40B4-BE49-F238E27FC236}">
                <a16:creationId xmlns:a16="http://schemas.microsoft.com/office/drawing/2014/main" id="{7701C0A5-5B56-4DC1-97D5-E6DC7E7A6BD0}"/>
              </a:ext>
            </a:extLst>
          </p:cNvPr>
          <p:cNvSpPr/>
          <p:nvPr/>
        </p:nvSpPr>
        <p:spPr>
          <a:xfrm>
            <a:off x="1988820" y="5524500"/>
            <a:ext cx="5372100" cy="15596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TextBox 11">
            <a:extLst>
              <a:ext uri="{FF2B5EF4-FFF2-40B4-BE49-F238E27FC236}">
                <a16:creationId xmlns:a16="http://schemas.microsoft.com/office/drawing/2014/main" id="{FDFF4522-8BD5-49D8-8D18-FBC64750D166}"/>
              </a:ext>
            </a:extLst>
          </p:cNvPr>
          <p:cNvSpPr txBox="1"/>
          <p:nvPr/>
        </p:nvSpPr>
        <p:spPr>
          <a:xfrm>
            <a:off x="10373044" y="4927794"/>
            <a:ext cx="980756" cy="1477328"/>
          </a:xfrm>
          <a:prstGeom prst="rect">
            <a:avLst/>
          </a:prstGeom>
          <a:noFill/>
        </p:spPr>
        <p:txBody>
          <a:bodyPr wrap="square" rtlCol="0">
            <a:spAutoFit/>
          </a:bodyPr>
          <a:lstStyle/>
          <a:p>
            <a:r>
              <a:rPr lang="en-US" altLang="ko-KR" sz="1000" b="1" dirty="0"/>
              <a:t>NOTICE!!! I just added the Master node IP address without commenting out the pool and server.</a:t>
            </a:r>
            <a:endParaRPr lang="ko-KR" altLang="en-US" sz="1000" b="1" dirty="0"/>
          </a:p>
        </p:txBody>
      </p:sp>
    </p:spTree>
    <p:extLst>
      <p:ext uri="{BB962C8B-B14F-4D97-AF65-F5344CB8AC3E}">
        <p14:creationId xmlns:p14="http://schemas.microsoft.com/office/powerpoint/2010/main" val="30066173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Kubernetes</a:t>
            </a:r>
            <a:r>
              <a:rPr lang="ko-KR" altLang="en-US" sz="2800" b="1" dirty="0"/>
              <a:t> </a:t>
            </a:r>
            <a:r>
              <a:rPr lang="en-US" altLang="ko-KR" sz="2800" b="1" dirty="0"/>
              <a:t>Cluster(5/13)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Swap Off :</a:t>
            </a:r>
          </a:p>
          <a:p>
            <a:pPr lvl="1">
              <a:buFont typeface="Wingdings" panose="05000000000000000000" pitchFamily="2" charset="2"/>
              <a:buChar char="§"/>
            </a:pPr>
            <a:r>
              <a:rPr lang="en-US" altLang="ko-KR" sz="1400" b="1" dirty="0"/>
              <a:t>The performance of the Kubernetes will be degraded when the swap is on</a:t>
            </a:r>
            <a:r>
              <a:rPr lang="en-US" altLang="ko-KR" sz="1400" dirty="0"/>
              <a:t>. So turn it off. To turn off swap, you can run the following command.</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To make the system permanently turned off swap</a:t>
            </a:r>
            <a:r>
              <a:rPr lang="en-US" altLang="ko-KR" sz="1400" dirty="0"/>
              <a:t>, you need to edit “</a:t>
            </a:r>
            <a:r>
              <a:rPr lang="en-US" altLang="ko-KR" sz="1400" b="1" dirty="0"/>
              <a:t>/</a:t>
            </a:r>
            <a:r>
              <a:rPr lang="en-US" altLang="ko-KR" sz="1400" b="1" dirty="0" err="1"/>
              <a:t>etc</a:t>
            </a:r>
            <a:r>
              <a:rPr lang="en-US" altLang="ko-KR" sz="1400" b="1" dirty="0"/>
              <a:t>/</a:t>
            </a:r>
            <a:r>
              <a:rPr lang="en-US" altLang="ko-KR" sz="1400" b="1" dirty="0" err="1"/>
              <a:t>fstab</a:t>
            </a:r>
            <a:r>
              <a:rPr lang="en-US" altLang="ko-KR" sz="1400" dirty="0"/>
              <a:t>” file. Comment out the “</a:t>
            </a:r>
            <a:r>
              <a:rPr lang="en-US" altLang="ko-KR" sz="1400" b="1" dirty="0"/>
              <a:t>/</a:t>
            </a:r>
            <a:r>
              <a:rPr lang="en-US" altLang="ko-KR" sz="1400" b="1" dirty="0" err="1"/>
              <a:t>swapfile</a:t>
            </a:r>
            <a:r>
              <a:rPr lang="en-US" altLang="ko-KR" sz="1400" dirty="0"/>
              <a:t>” line.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06A2709E-EA90-4815-AC32-2E0848D44FF1}"/>
              </a:ext>
            </a:extLst>
          </p:cNvPr>
          <p:cNvSpPr/>
          <p:nvPr/>
        </p:nvSpPr>
        <p:spPr>
          <a:xfrm>
            <a:off x="4719508" y="1636514"/>
            <a:ext cx="2752983" cy="246221"/>
          </a:xfrm>
          <a:prstGeom prst="rect">
            <a:avLst/>
          </a:prstGeom>
          <a:ln>
            <a:solidFill>
              <a:schemeClr val="bg1">
                <a:lumMod val="50000"/>
              </a:schemeClr>
            </a:solidFill>
          </a:ln>
        </p:spPr>
        <p:txBody>
          <a:bodyPr wrap="square">
            <a:spAutoFit/>
          </a:bodyPr>
          <a:lstStyle/>
          <a:p>
            <a:r>
              <a:rPr lang="en-US" altLang="ko-KR" sz="1000" b="1" dirty="0"/>
              <a:t>$ </a:t>
            </a:r>
            <a:r>
              <a:rPr lang="en-US" altLang="ko-KR" sz="1000" b="1" dirty="0" err="1"/>
              <a:t>sudo</a:t>
            </a:r>
            <a:r>
              <a:rPr lang="en-US" altLang="ko-KR" sz="1000" b="1" dirty="0"/>
              <a:t> </a:t>
            </a:r>
            <a:r>
              <a:rPr lang="en-US" altLang="ko-KR" sz="1000" b="1" dirty="0" err="1"/>
              <a:t>swapoff</a:t>
            </a:r>
            <a:r>
              <a:rPr lang="en-US" altLang="ko-KR" sz="1000" b="1" dirty="0"/>
              <a:t> -a</a:t>
            </a:r>
            <a:endParaRPr lang="ko-KR" altLang="en-US" sz="1000" b="1" dirty="0"/>
          </a:p>
        </p:txBody>
      </p:sp>
      <p:grpSp>
        <p:nvGrpSpPr>
          <p:cNvPr id="12" name="그룹 11">
            <a:extLst>
              <a:ext uri="{FF2B5EF4-FFF2-40B4-BE49-F238E27FC236}">
                <a16:creationId xmlns:a16="http://schemas.microsoft.com/office/drawing/2014/main" id="{9960A790-C077-4DCB-9120-23335CD71A68}"/>
              </a:ext>
            </a:extLst>
          </p:cNvPr>
          <p:cNvGrpSpPr/>
          <p:nvPr/>
        </p:nvGrpSpPr>
        <p:grpSpPr>
          <a:xfrm>
            <a:off x="1333499" y="2634310"/>
            <a:ext cx="9525000" cy="2828925"/>
            <a:chOff x="1333499" y="2634310"/>
            <a:chExt cx="9525000" cy="2828925"/>
          </a:xfrm>
        </p:grpSpPr>
        <p:pic>
          <p:nvPicPr>
            <p:cNvPr id="9" name="그림 8">
              <a:extLst>
                <a:ext uri="{FF2B5EF4-FFF2-40B4-BE49-F238E27FC236}">
                  <a16:creationId xmlns:a16="http://schemas.microsoft.com/office/drawing/2014/main" id="{CBAAF77E-D660-4F0B-A886-E3C369A75CCB}"/>
                </a:ext>
              </a:extLst>
            </p:cNvPr>
            <p:cNvPicPr>
              <a:picLocks noChangeAspect="1"/>
            </p:cNvPicPr>
            <p:nvPr/>
          </p:nvPicPr>
          <p:blipFill>
            <a:blip r:embed="rId2"/>
            <a:stretch>
              <a:fillRect/>
            </a:stretch>
          </p:blipFill>
          <p:spPr>
            <a:xfrm>
              <a:off x="1333499" y="2634310"/>
              <a:ext cx="9525000" cy="2828925"/>
            </a:xfrm>
            <a:prstGeom prst="rect">
              <a:avLst/>
            </a:prstGeom>
          </p:spPr>
        </p:pic>
        <p:sp>
          <p:nvSpPr>
            <p:cNvPr id="11" name="직사각형 10">
              <a:extLst>
                <a:ext uri="{FF2B5EF4-FFF2-40B4-BE49-F238E27FC236}">
                  <a16:creationId xmlns:a16="http://schemas.microsoft.com/office/drawing/2014/main" id="{5EE8960A-9B13-49F5-BAC9-577A5BFB0EFD}"/>
                </a:ext>
              </a:extLst>
            </p:cNvPr>
            <p:cNvSpPr/>
            <p:nvPr/>
          </p:nvSpPr>
          <p:spPr>
            <a:xfrm>
              <a:off x="1440180" y="4967646"/>
              <a:ext cx="7261860" cy="16823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1478085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Ubuntu 20.04 Swap Off</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Swapping Off :</a:t>
            </a:r>
          </a:p>
          <a:p>
            <a:pPr lvl="1">
              <a:buFont typeface="Wingdings" panose="05000000000000000000" pitchFamily="2" charset="2"/>
              <a:buChar char="§"/>
            </a:pPr>
            <a:r>
              <a:rPr lang="en-US" altLang="ko-KR" sz="1400" dirty="0"/>
              <a:t>If you want to run Kubernetes on your local host(master and worker nodes), you need to make the system </a:t>
            </a:r>
            <a:r>
              <a:rPr lang="en-US" altLang="ko-KR" sz="1400" b="1" dirty="0">
                <a:solidFill>
                  <a:srgbClr val="FF0000"/>
                </a:solidFill>
              </a:rPr>
              <a:t>swap off </a:t>
            </a:r>
            <a:r>
              <a:rPr lang="en-US" altLang="ko-KR" sz="1400" dirty="0"/>
              <a:t>temporarily or permanently. Do the following steps for each purpose.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A724DE6B-16E3-48E6-AFEF-CAF2067CD95F}"/>
              </a:ext>
            </a:extLst>
          </p:cNvPr>
          <p:cNvGrpSpPr/>
          <p:nvPr/>
        </p:nvGrpSpPr>
        <p:grpSpPr>
          <a:xfrm>
            <a:off x="1333500" y="1785684"/>
            <a:ext cx="9525000" cy="4344595"/>
            <a:chOff x="1333500" y="1785684"/>
            <a:chExt cx="9525000" cy="4344595"/>
          </a:xfrm>
        </p:grpSpPr>
        <p:sp>
          <p:nvSpPr>
            <p:cNvPr id="4" name="TextBox 3">
              <a:extLst>
                <a:ext uri="{FF2B5EF4-FFF2-40B4-BE49-F238E27FC236}">
                  <a16:creationId xmlns:a16="http://schemas.microsoft.com/office/drawing/2014/main" id="{94E495DD-A87D-41D7-AE3E-83FB8CDD958D}"/>
                </a:ext>
              </a:extLst>
            </p:cNvPr>
            <p:cNvSpPr txBox="1"/>
            <p:nvPr/>
          </p:nvSpPr>
          <p:spPr>
            <a:xfrm>
              <a:off x="2970318" y="1785684"/>
              <a:ext cx="6251364" cy="1169551"/>
            </a:xfrm>
            <a:prstGeom prst="rect">
              <a:avLst/>
            </a:prstGeom>
            <a:noFill/>
            <a:ln>
              <a:solidFill>
                <a:schemeClr val="bg1">
                  <a:lumMod val="50000"/>
                </a:schemeClr>
              </a:solidFill>
            </a:ln>
          </p:spPr>
          <p:txBody>
            <a:bodyPr wrap="square" rtlCol="0">
              <a:spAutoFit/>
            </a:bodyPr>
            <a:lstStyle/>
            <a:p>
              <a:pPr marL="228600" indent="-228600">
                <a:buAutoNum type="arabicPeriod"/>
              </a:pPr>
              <a:r>
                <a:rPr lang="en-US" altLang="ko-KR" sz="1000" b="1" dirty="0"/>
                <a:t>To make temporary swap off</a:t>
              </a:r>
            </a:p>
            <a:p>
              <a:r>
                <a:rPr lang="en-US" altLang="ko-KR" sz="1000" b="1" dirty="0"/>
                <a:t>$ </a:t>
              </a:r>
              <a:r>
                <a:rPr lang="en-US" altLang="ko-KR" sz="1000" b="1" dirty="0" err="1">
                  <a:solidFill>
                    <a:srgbClr val="FF0000"/>
                  </a:solidFill>
                </a:rPr>
                <a:t>sudo</a:t>
              </a:r>
              <a:r>
                <a:rPr lang="en-US" altLang="ko-KR" sz="1000" b="1" dirty="0">
                  <a:solidFill>
                    <a:srgbClr val="FF0000"/>
                  </a:solidFill>
                </a:rPr>
                <a:t> </a:t>
              </a:r>
              <a:r>
                <a:rPr lang="en-US" altLang="ko-KR" sz="1000" b="1" dirty="0" err="1">
                  <a:solidFill>
                    <a:srgbClr val="FF0000"/>
                  </a:solidFill>
                </a:rPr>
                <a:t>swapoff</a:t>
              </a:r>
              <a:r>
                <a:rPr lang="en-US" altLang="ko-KR" sz="1000" b="1" dirty="0">
                  <a:solidFill>
                    <a:srgbClr val="FF0000"/>
                  </a:solidFill>
                </a:rPr>
                <a:t> -a</a:t>
              </a:r>
            </a:p>
            <a:p>
              <a:endParaRPr lang="en-US" altLang="ko-KR" sz="1000" b="1" dirty="0"/>
            </a:p>
            <a:p>
              <a:r>
                <a:rPr lang="en-US" altLang="ko-KR" sz="1000" b="1" dirty="0"/>
                <a:t>2. To make permanent swap off</a:t>
              </a:r>
            </a:p>
            <a:p>
              <a:r>
                <a:rPr lang="en-US" altLang="ko-KR" sz="1000" b="1" dirty="0"/>
                <a:t>$ </a:t>
              </a:r>
              <a:r>
                <a:rPr lang="en-US" altLang="ko-KR" sz="1000" b="1" dirty="0" err="1"/>
                <a:t>sudo</a:t>
              </a:r>
              <a:r>
                <a:rPr lang="en-US" altLang="ko-KR" sz="1000" b="1" dirty="0"/>
                <a:t> vi </a:t>
              </a:r>
              <a:r>
                <a:rPr lang="en-US" altLang="ko-KR" sz="1000" b="1" dirty="0">
                  <a:solidFill>
                    <a:srgbClr val="FF0000"/>
                  </a:solidFill>
                </a:rPr>
                <a:t>/</a:t>
              </a:r>
              <a:r>
                <a:rPr lang="en-US" altLang="ko-KR" sz="1000" b="1" dirty="0" err="1">
                  <a:solidFill>
                    <a:srgbClr val="FF0000"/>
                  </a:solidFill>
                </a:rPr>
                <a:t>etc</a:t>
              </a:r>
              <a:r>
                <a:rPr lang="en-US" altLang="ko-KR" sz="1000" b="1" dirty="0">
                  <a:solidFill>
                    <a:srgbClr val="FF0000"/>
                  </a:solidFill>
                </a:rPr>
                <a:t>/</a:t>
              </a:r>
              <a:r>
                <a:rPr lang="en-US" altLang="ko-KR" sz="1000" b="1" dirty="0" err="1">
                  <a:solidFill>
                    <a:srgbClr val="FF0000"/>
                  </a:solidFill>
                </a:rPr>
                <a:t>fstab</a:t>
              </a:r>
              <a:endParaRPr lang="en-US" altLang="ko-KR" sz="1000" b="1" dirty="0">
                <a:solidFill>
                  <a:srgbClr val="FF0000"/>
                </a:solidFill>
              </a:endParaRPr>
            </a:p>
            <a:p>
              <a:r>
                <a:rPr lang="en-US" altLang="ko-KR" sz="1000" b="1" dirty="0"/>
                <a:t>…. </a:t>
              </a:r>
            </a:p>
            <a:p>
              <a:r>
                <a:rPr lang="en-US" altLang="ko-KR" sz="1000" b="1" dirty="0">
                  <a:solidFill>
                    <a:srgbClr val="FF0000"/>
                  </a:solidFill>
                </a:rPr>
                <a:t>#/</a:t>
              </a:r>
              <a:r>
                <a:rPr lang="en-US" altLang="ko-KR" sz="1000" b="1" dirty="0" err="1">
                  <a:solidFill>
                    <a:srgbClr val="FF0000"/>
                  </a:solidFill>
                </a:rPr>
                <a:t>swapfile</a:t>
              </a:r>
              <a:r>
                <a:rPr lang="en-US" altLang="ko-KR" sz="1000" b="1" dirty="0">
                  <a:solidFill>
                    <a:srgbClr val="FF0000"/>
                  </a:solidFill>
                </a:rPr>
                <a:t> …</a:t>
              </a:r>
              <a:endParaRPr lang="ko-KR" altLang="en-US" sz="1000" b="1" dirty="0">
                <a:solidFill>
                  <a:srgbClr val="FF0000"/>
                </a:solidFill>
              </a:endParaRPr>
            </a:p>
          </p:txBody>
        </p:sp>
        <p:pic>
          <p:nvPicPr>
            <p:cNvPr id="8" name="그림 7">
              <a:extLst>
                <a:ext uri="{FF2B5EF4-FFF2-40B4-BE49-F238E27FC236}">
                  <a16:creationId xmlns:a16="http://schemas.microsoft.com/office/drawing/2014/main" id="{7D731D74-15C9-4EAE-91B6-30DC507EDCB0}"/>
                </a:ext>
              </a:extLst>
            </p:cNvPr>
            <p:cNvPicPr>
              <a:picLocks noChangeAspect="1"/>
            </p:cNvPicPr>
            <p:nvPr/>
          </p:nvPicPr>
          <p:blipFill>
            <a:blip r:embed="rId2"/>
            <a:stretch>
              <a:fillRect/>
            </a:stretch>
          </p:blipFill>
          <p:spPr>
            <a:xfrm>
              <a:off x="1333500" y="3272779"/>
              <a:ext cx="9525000" cy="2857500"/>
            </a:xfrm>
            <a:prstGeom prst="rect">
              <a:avLst/>
            </a:prstGeom>
          </p:spPr>
        </p:pic>
        <p:sp>
          <p:nvSpPr>
            <p:cNvPr id="9" name="화살표: 아래쪽 8">
              <a:extLst>
                <a:ext uri="{FF2B5EF4-FFF2-40B4-BE49-F238E27FC236}">
                  <a16:creationId xmlns:a16="http://schemas.microsoft.com/office/drawing/2014/main" id="{A4D889D9-B6FE-4322-BA9F-125D566C3F9D}"/>
                </a:ext>
              </a:extLst>
            </p:cNvPr>
            <p:cNvSpPr/>
            <p:nvPr/>
          </p:nvSpPr>
          <p:spPr>
            <a:xfrm>
              <a:off x="5882640" y="2978577"/>
              <a:ext cx="426720" cy="26576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86510077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Kubernetes</a:t>
            </a:r>
            <a:r>
              <a:rPr lang="ko-KR" altLang="en-US" sz="2800" b="1" dirty="0"/>
              <a:t> </a:t>
            </a:r>
            <a:r>
              <a:rPr lang="en-US" altLang="ko-KR" sz="2800" b="1" dirty="0"/>
              <a:t>Cluster(6/13)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Docker Engine Installation(Ubuntu 20.04) :</a:t>
            </a:r>
          </a:p>
          <a:p>
            <a:pPr lvl="1">
              <a:buFont typeface="Wingdings" panose="05000000000000000000" pitchFamily="2" charset="2"/>
              <a:buChar char="§"/>
            </a:pPr>
            <a:r>
              <a:rPr lang="en-US" altLang="ko-KR" sz="1400" b="1" dirty="0"/>
              <a:t>To install the </a:t>
            </a:r>
            <a:r>
              <a:rPr lang="en-US" altLang="ko-KR" sz="1400" b="1" dirty="0">
                <a:solidFill>
                  <a:srgbClr val="FF0000"/>
                </a:solidFill>
              </a:rPr>
              <a:t>stable</a:t>
            </a:r>
            <a:r>
              <a:rPr lang="en-US" altLang="ko-KR" sz="1400" b="1" dirty="0"/>
              <a:t> Docker engine</a:t>
            </a:r>
            <a:r>
              <a:rPr lang="en-US" altLang="ko-KR" sz="1400" dirty="0"/>
              <a:t>, you need to run the following commands.</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BCE7F79C-CF3C-4893-8F3B-A331B6B83D89}"/>
              </a:ext>
            </a:extLst>
          </p:cNvPr>
          <p:cNvSpPr/>
          <p:nvPr/>
        </p:nvSpPr>
        <p:spPr>
          <a:xfrm>
            <a:off x="1895475" y="1577860"/>
            <a:ext cx="8401050" cy="3170099"/>
          </a:xfrm>
          <a:prstGeom prst="rect">
            <a:avLst/>
          </a:prstGeom>
          <a:ln>
            <a:solidFill>
              <a:schemeClr val="bg1">
                <a:lumMod val="50000"/>
              </a:schemeClr>
            </a:solidFill>
          </a:ln>
        </p:spPr>
        <p:txBody>
          <a:bodyPr wrap="square">
            <a:spAutoFit/>
          </a:bodyPr>
          <a:lstStyle/>
          <a:p>
            <a:r>
              <a:rPr lang="en-US" altLang="ko-KR" sz="1000" b="1" dirty="0"/>
              <a:t>$ </a:t>
            </a:r>
            <a:r>
              <a:rPr lang="en-US" altLang="ko-KR" sz="1000" b="1" dirty="0" err="1"/>
              <a:t>sudo</a:t>
            </a:r>
            <a:r>
              <a:rPr lang="en-US" altLang="ko-KR" sz="1000" b="1" dirty="0"/>
              <a:t> apt-get update</a:t>
            </a:r>
          </a:p>
          <a:p>
            <a:r>
              <a:rPr lang="en-US" altLang="ko-KR" sz="1000" b="1" dirty="0"/>
              <a:t>$ </a:t>
            </a:r>
            <a:r>
              <a:rPr lang="en-US" altLang="ko-KR" sz="1000" b="1" dirty="0" err="1"/>
              <a:t>sudo</a:t>
            </a:r>
            <a:r>
              <a:rPr lang="en-US" altLang="ko-KR" sz="1000" b="1" dirty="0"/>
              <a:t> apt-get install \</a:t>
            </a:r>
          </a:p>
          <a:p>
            <a:r>
              <a:rPr lang="en-US" altLang="ko-KR" sz="1000" b="1" dirty="0"/>
              <a:t>   ca-certificates \</a:t>
            </a:r>
          </a:p>
          <a:p>
            <a:r>
              <a:rPr lang="en-US" altLang="ko-KR" sz="1000" b="1" dirty="0"/>
              <a:t>   curl \</a:t>
            </a:r>
          </a:p>
          <a:p>
            <a:r>
              <a:rPr lang="en-US" altLang="ko-KR" sz="1000" b="1" dirty="0"/>
              <a:t>   </a:t>
            </a:r>
            <a:r>
              <a:rPr lang="en-US" altLang="ko-KR" sz="1000" b="1" dirty="0" err="1"/>
              <a:t>gnupg</a:t>
            </a:r>
            <a:r>
              <a:rPr lang="en-US" altLang="ko-KR" sz="1000" b="1" dirty="0"/>
              <a:t> \</a:t>
            </a:r>
          </a:p>
          <a:p>
            <a:r>
              <a:rPr lang="en-US" altLang="ko-KR" sz="1000" b="1" dirty="0"/>
              <a:t>   </a:t>
            </a:r>
            <a:r>
              <a:rPr lang="en-US" altLang="ko-KR" sz="1000" b="1" dirty="0" err="1"/>
              <a:t>lsb</a:t>
            </a:r>
            <a:r>
              <a:rPr lang="en-US" altLang="ko-KR" sz="1000" b="1" dirty="0"/>
              <a:t>-release</a:t>
            </a:r>
          </a:p>
          <a:p>
            <a:endParaRPr lang="en-US" altLang="ko-KR" sz="1000" b="1" dirty="0"/>
          </a:p>
          <a:p>
            <a:r>
              <a:rPr lang="en-US" altLang="ko-KR" sz="1000" b="1" dirty="0"/>
              <a:t>$ curl -</a:t>
            </a:r>
            <a:r>
              <a:rPr lang="en-US" altLang="ko-KR" sz="1000" b="1" dirty="0" err="1"/>
              <a:t>fsSL</a:t>
            </a:r>
            <a:r>
              <a:rPr lang="en-US" altLang="ko-KR" sz="1000" b="1" dirty="0"/>
              <a:t> https://download.docker.com/linux/ubuntu/gpg | </a:t>
            </a:r>
            <a:r>
              <a:rPr lang="en-US" altLang="ko-KR" sz="1000" b="1" dirty="0" err="1"/>
              <a:t>sudo</a:t>
            </a:r>
            <a:r>
              <a:rPr lang="en-US" altLang="ko-KR" sz="1000" b="1" dirty="0"/>
              <a:t> </a:t>
            </a:r>
            <a:r>
              <a:rPr lang="en-US" altLang="ko-KR" sz="1000" b="1" dirty="0" err="1"/>
              <a:t>gpg</a:t>
            </a:r>
            <a:r>
              <a:rPr lang="en-US" altLang="ko-KR" sz="1000" b="1" dirty="0"/>
              <a:t> --</a:t>
            </a:r>
            <a:r>
              <a:rPr lang="en-US" altLang="ko-KR" sz="1000" b="1" dirty="0" err="1"/>
              <a:t>dearmor</a:t>
            </a:r>
            <a:r>
              <a:rPr lang="en-US" altLang="ko-KR" sz="1000" b="1" dirty="0"/>
              <a:t> -o /</a:t>
            </a:r>
            <a:r>
              <a:rPr lang="en-US" altLang="ko-KR" sz="1000" b="1" dirty="0" err="1"/>
              <a:t>usr</a:t>
            </a:r>
            <a:r>
              <a:rPr lang="en-US" altLang="ko-KR" sz="1000" b="1" dirty="0"/>
              <a:t>/share/keyrings/docker-archive-</a:t>
            </a:r>
            <a:r>
              <a:rPr lang="en-US" altLang="ko-KR" sz="1000" b="1" dirty="0" err="1"/>
              <a:t>keyring.gpg</a:t>
            </a:r>
            <a:endParaRPr lang="en-US" altLang="ko-KR" sz="1000" b="1" dirty="0"/>
          </a:p>
          <a:p>
            <a:r>
              <a:rPr lang="en-US" altLang="ko-KR" sz="1000" b="1" dirty="0"/>
              <a:t>$ echo \</a:t>
            </a:r>
          </a:p>
          <a:p>
            <a:r>
              <a:rPr lang="en-US" altLang="ko-KR" sz="1000" b="1" dirty="0"/>
              <a:t>  "deb [arch=$(</a:t>
            </a:r>
            <a:r>
              <a:rPr lang="en-US" altLang="ko-KR" sz="1000" b="1" dirty="0" err="1"/>
              <a:t>dpkg</a:t>
            </a:r>
            <a:r>
              <a:rPr lang="en-US" altLang="ko-KR" sz="1000" b="1" dirty="0"/>
              <a:t> --print-architecture) signed-by=/</a:t>
            </a:r>
            <a:r>
              <a:rPr lang="en-US" altLang="ko-KR" sz="1000" b="1" dirty="0" err="1"/>
              <a:t>usr</a:t>
            </a:r>
            <a:r>
              <a:rPr lang="en-US" altLang="ko-KR" sz="1000" b="1" dirty="0"/>
              <a:t>/share/keyrings/docker-archive-</a:t>
            </a:r>
            <a:r>
              <a:rPr lang="en-US" altLang="ko-KR" sz="1000" b="1" dirty="0" err="1"/>
              <a:t>keyring.gpg</a:t>
            </a:r>
            <a:r>
              <a:rPr lang="en-US" altLang="ko-KR" sz="1000" b="1" dirty="0"/>
              <a:t>] https://download.docker.com/linux/ubuntu \</a:t>
            </a:r>
          </a:p>
          <a:p>
            <a:r>
              <a:rPr lang="en-US" altLang="ko-KR" sz="1000" b="1" dirty="0"/>
              <a:t>  $(</a:t>
            </a:r>
            <a:r>
              <a:rPr lang="en-US" altLang="ko-KR" sz="1000" b="1" dirty="0" err="1"/>
              <a:t>lsb_release</a:t>
            </a:r>
            <a:r>
              <a:rPr lang="en-US" altLang="ko-KR" sz="1000" b="1" dirty="0"/>
              <a:t> -cs) stable" | </a:t>
            </a:r>
            <a:r>
              <a:rPr lang="en-US" altLang="ko-KR" sz="1000" b="1" dirty="0" err="1"/>
              <a:t>sudo</a:t>
            </a:r>
            <a:r>
              <a:rPr lang="en-US" altLang="ko-KR" sz="1000" b="1" dirty="0"/>
              <a:t> tee /</a:t>
            </a:r>
            <a:r>
              <a:rPr lang="en-US" altLang="ko-KR" sz="1000" b="1" dirty="0" err="1"/>
              <a:t>etc</a:t>
            </a:r>
            <a:r>
              <a:rPr lang="en-US" altLang="ko-KR" sz="1000" b="1" dirty="0"/>
              <a:t>/apt/</a:t>
            </a:r>
            <a:r>
              <a:rPr lang="en-US" altLang="ko-KR" sz="1000" b="1" dirty="0" err="1"/>
              <a:t>sources.list.d</a:t>
            </a:r>
            <a:r>
              <a:rPr lang="en-US" altLang="ko-KR" sz="1000" b="1" dirty="0"/>
              <a:t>/</a:t>
            </a:r>
            <a:r>
              <a:rPr lang="en-US" altLang="ko-KR" sz="1000" b="1" dirty="0" err="1"/>
              <a:t>docker.list</a:t>
            </a:r>
            <a:r>
              <a:rPr lang="en-US" altLang="ko-KR" sz="1000" b="1" dirty="0"/>
              <a:t> &gt; /dev/null</a:t>
            </a:r>
          </a:p>
          <a:p>
            <a:endParaRPr lang="en-US" altLang="ko-KR" sz="1000" b="1" dirty="0"/>
          </a:p>
          <a:p>
            <a:r>
              <a:rPr lang="en-US" altLang="ko-KR" sz="1000" b="1" dirty="0"/>
              <a:t>$ </a:t>
            </a:r>
            <a:r>
              <a:rPr lang="en-US" altLang="ko-KR" sz="1000" b="1" dirty="0" err="1"/>
              <a:t>sudo</a:t>
            </a:r>
            <a:r>
              <a:rPr lang="en-US" altLang="ko-KR" sz="1000" b="1" dirty="0"/>
              <a:t> apt-get update</a:t>
            </a:r>
          </a:p>
          <a:p>
            <a:r>
              <a:rPr lang="en-US" altLang="ko-KR" sz="1000" b="1" dirty="0"/>
              <a:t>$ </a:t>
            </a:r>
            <a:r>
              <a:rPr lang="en-US" altLang="ko-KR" sz="1000" b="1" dirty="0" err="1"/>
              <a:t>sudo</a:t>
            </a:r>
            <a:r>
              <a:rPr lang="en-US" altLang="ko-KR" sz="1000" b="1" dirty="0"/>
              <a:t> apt-get install </a:t>
            </a:r>
            <a:r>
              <a:rPr lang="en-US" altLang="ko-KR" sz="1000" b="1" dirty="0">
                <a:solidFill>
                  <a:srgbClr val="FF0000"/>
                </a:solidFill>
              </a:rPr>
              <a:t>docker-</a:t>
            </a:r>
            <a:r>
              <a:rPr lang="en-US" altLang="ko-KR" sz="1000" b="1" dirty="0" err="1">
                <a:solidFill>
                  <a:srgbClr val="FF0000"/>
                </a:solidFill>
              </a:rPr>
              <a:t>ce</a:t>
            </a:r>
            <a:r>
              <a:rPr lang="en-US" altLang="ko-KR" sz="1000" b="1" dirty="0">
                <a:solidFill>
                  <a:srgbClr val="FF0000"/>
                </a:solidFill>
              </a:rPr>
              <a:t> docker-</a:t>
            </a:r>
            <a:r>
              <a:rPr lang="en-US" altLang="ko-KR" sz="1000" b="1" dirty="0" err="1">
                <a:solidFill>
                  <a:srgbClr val="FF0000"/>
                </a:solidFill>
              </a:rPr>
              <a:t>ce</a:t>
            </a:r>
            <a:r>
              <a:rPr lang="en-US" altLang="ko-KR" sz="1000" b="1" dirty="0">
                <a:solidFill>
                  <a:srgbClr val="FF0000"/>
                </a:solidFill>
              </a:rPr>
              <a:t>-cli containerd.io</a:t>
            </a:r>
          </a:p>
          <a:p>
            <a:endParaRPr lang="en-US" altLang="ko-KR" sz="1000" b="1" dirty="0">
              <a:solidFill>
                <a:srgbClr val="FF0000"/>
              </a:solidFill>
            </a:endParaRPr>
          </a:p>
          <a:p>
            <a:r>
              <a:rPr lang="en-US" altLang="ko-KR" sz="1000" b="1" dirty="0"/>
              <a:t>$ </a:t>
            </a:r>
            <a:r>
              <a:rPr lang="en-US" altLang="ko-KR" sz="1000" b="1" dirty="0" err="1"/>
              <a:t>sudo</a:t>
            </a:r>
            <a:r>
              <a:rPr lang="en-US" altLang="ko-KR" sz="1000" b="1" dirty="0"/>
              <a:t> docker run hello-world</a:t>
            </a:r>
          </a:p>
          <a:p>
            <a:endParaRPr lang="en-US" altLang="ko-KR" sz="1000" b="1" dirty="0"/>
          </a:p>
          <a:p>
            <a:r>
              <a:rPr lang="en-US" altLang="ko-KR" sz="1000" b="1" dirty="0"/>
              <a:t>$ </a:t>
            </a:r>
            <a:r>
              <a:rPr lang="en-US" altLang="ko-KR" sz="1000" b="1" dirty="0" err="1"/>
              <a:t>sudo</a:t>
            </a:r>
            <a:r>
              <a:rPr lang="en-US" altLang="ko-KR" sz="1000" b="1" dirty="0"/>
              <a:t> </a:t>
            </a:r>
            <a:r>
              <a:rPr lang="en-US" altLang="ko-KR" sz="1000" b="1" dirty="0" err="1"/>
              <a:t>groupadd</a:t>
            </a:r>
            <a:r>
              <a:rPr lang="en-US" altLang="ko-KR" sz="1000" b="1" dirty="0"/>
              <a:t> docker</a:t>
            </a:r>
          </a:p>
          <a:p>
            <a:r>
              <a:rPr lang="en-US" altLang="ko-KR" sz="1000" b="1" dirty="0"/>
              <a:t>$ </a:t>
            </a:r>
            <a:r>
              <a:rPr lang="en-US" altLang="ko-KR" sz="1000" b="1" dirty="0" err="1"/>
              <a:t>sudo</a:t>
            </a:r>
            <a:r>
              <a:rPr lang="en-US" altLang="ko-KR" sz="1000" b="1" dirty="0"/>
              <a:t> </a:t>
            </a:r>
            <a:r>
              <a:rPr lang="en-US" altLang="ko-KR" sz="1000" b="1" dirty="0" err="1"/>
              <a:t>usermod</a:t>
            </a:r>
            <a:r>
              <a:rPr lang="en-US" altLang="ko-KR" sz="1000" b="1" dirty="0"/>
              <a:t> -</a:t>
            </a:r>
            <a:r>
              <a:rPr lang="en-US" altLang="ko-KR" sz="1000" b="1" dirty="0" err="1"/>
              <a:t>aG</a:t>
            </a:r>
            <a:r>
              <a:rPr lang="en-US" altLang="ko-KR" sz="1000" b="1" dirty="0"/>
              <a:t> docker $USER</a:t>
            </a:r>
            <a:endParaRPr lang="ko-KR" altLang="en-US" sz="1000" b="1" dirty="0"/>
          </a:p>
        </p:txBody>
      </p:sp>
    </p:spTree>
    <p:extLst>
      <p:ext uri="{BB962C8B-B14F-4D97-AF65-F5344CB8AC3E}">
        <p14:creationId xmlns:p14="http://schemas.microsoft.com/office/powerpoint/2010/main" val="311524369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Installation of Docker</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Install “docker.io” :</a:t>
            </a:r>
          </a:p>
          <a:p>
            <a:pPr lvl="1">
              <a:buFont typeface="Wingdings" panose="05000000000000000000" pitchFamily="2" charset="2"/>
              <a:buChar char="§"/>
            </a:pPr>
            <a:r>
              <a:rPr lang="en-US" altLang="ko-KR" sz="1400" dirty="0"/>
              <a:t>To use docker daemon in </a:t>
            </a:r>
            <a:r>
              <a:rPr lang="en-US" altLang="ko-KR" sz="1400" b="1" dirty="0" err="1"/>
              <a:t>kubeadm</a:t>
            </a:r>
            <a:r>
              <a:rPr lang="en-US" altLang="ko-KR" sz="1400" dirty="0"/>
              <a:t>, you need to install “</a:t>
            </a:r>
            <a:r>
              <a:rPr lang="en-US" altLang="ko-KR" sz="1400" b="1" dirty="0"/>
              <a:t>docker.io</a:t>
            </a:r>
            <a:r>
              <a:rPr lang="en-US" altLang="ko-KR" sz="1400" dirty="0"/>
              <a:t>” </a:t>
            </a:r>
            <a:r>
              <a:rPr lang="en-US" altLang="ko-KR" sz="1400" b="1" dirty="0"/>
              <a:t>in each machines(master and worker nodes)</a:t>
            </a:r>
            <a:r>
              <a:rPr lang="en-US" altLang="ko-KR" sz="1400" dirty="0"/>
              <a:t> and enable service. First of all, because the “docker.io” will conflict with “</a:t>
            </a:r>
            <a:r>
              <a:rPr lang="en-US" altLang="ko-KR" sz="1400" b="1" dirty="0"/>
              <a:t>containerd.io</a:t>
            </a:r>
            <a:r>
              <a:rPr lang="en-US" altLang="ko-KR" sz="1400" dirty="0"/>
              <a:t>”, you need to remove it first. Do the following steps.</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A8E72499-90F3-4A40-ADF7-B536850BE041}"/>
              </a:ext>
            </a:extLst>
          </p:cNvPr>
          <p:cNvGrpSpPr/>
          <p:nvPr/>
        </p:nvGrpSpPr>
        <p:grpSpPr>
          <a:xfrm>
            <a:off x="2044190" y="1800938"/>
            <a:ext cx="8103621" cy="4608092"/>
            <a:chOff x="2046218" y="1703060"/>
            <a:chExt cx="8103621" cy="4608092"/>
          </a:xfrm>
        </p:grpSpPr>
        <p:grpSp>
          <p:nvGrpSpPr>
            <p:cNvPr id="10" name="그룹 9">
              <a:extLst>
                <a:ext uri="{FF2B5EF4-FFF2-40B4-BE49-F238E27FC236}">
                  <a16:creationId xmlns:a16="http://schemas.microsoft.com/office/drawing/2014/main" id="{4281B172-8E94-495A-8BB3-632DFFB729CA}"/>
                </a:ext>
              </a:extLst>
            </p:cNvPr>
            <p:cNvGrpSpPr/>
            <p:nvPr/>
          </p:nvGrpSpPr>
          <p:grpSpPr>
            <a:xfrm>
              <a:off x="2046218" y="1703060"/>
              <a:ext cx="8103621" cy="4608092"/>
              <a:chOff x="2181955" y="1802424"/>
              <a:chExt cx="8103621" cy="4608092"/>
            </a:xfrm>
          </p:grpSpPr>
          <p:sp>
            <p:nvSpPr>
              <p:cNvPr id="4" name="TextBox 3">
                <a:extLst>
                  <a:ext uri="{FF2B5EF4-FFF2-40B4-BE49-F238E27FC236}">
                    <a16:creationId xmlns:a16="http://schemas.microsoft.com/office/drawing/2014/main" id="{CF057DB0-183E-475F-B59A-B82119729C8C}"/>
                  </a:ext>
                </a:extLst>
              </p:cNvPr>
              <p:cNvSpPr txBox="1"/>
              <p:nvPr/>
            </p:nvSpPr>
            <p:spPr>
              <a:xfrm>
                <a:off x="2181957" y="1802424"/>
                <a:ext cx="8099561" cy="1323439"/>
              </a:xfrm>
              <a:prstGeom prst="rect">
                <a:avLst/>
              </a:prstGeom>
              <a:noFill/>
              <a:ln>
                <a:solidFill>
                  <a:schemeClr val="bg1">
                    <a:lumMod val="50000"/>
                  </a:schemeClr>
                </a:solidFill>
              </a:ln>
            </p:spPr>
            <p:txBody>
              <a:bodyPr wrap="square" rtlCol="0">
                <a:spAutoFit/>
              </a:bodyPr>
              <a:lstStyle/>
              <a:p>
                <a:r>
                  <a:rPr lang="en-US" altLang="ko-KR" sz="1000" b="1" dirty="0"/>
                  <a:t>$ </a:t>
                </a:r>
                <a:r>
                  <a:rPr lang="en-US" altLang="ko-KR" sz="1000" b="1" dirty="0" err="1"/>
                  <a:t>sudo</a:t>
                </a:r>
                <a:r>
                  <a:rPr lang="en-US" altLang="ko-KR" sz="1000" b="1" dirty="0"/>
                  <a:t> </a:t>
                </a:r>
                <a:r>
                  <a:rPr lang="en-US" altLang="ko-KR" sz="1000" b="1" dirty="0" err="1"/>
                  <a:t>systemctl</a:t>
                </a:r>
                <a:r>
                  <a:rPr lang="en-US" altLang="ko-KR" sz="1000" b="1" dirty="0"/>
                  <a:t> disable containerd.io</a:t>
                </a:r>
              </a:p>
              <a:p>
                <a:r>
                  <a:rPr lang="en-US" altLang="ko-KR" sz="1000" b="1" dirty="0"/>
                  <a:t>$ </a:t>
                </a:r>
                <a:r>
                  <a:rPr lang="en-US" altLang="ko-KR" sz="1000" b="1" dirty="0" err="1"/>
                  <a:t>sudo</a:t>
                </a:r>
                <a:r>
                  <a:rPr lang="en-US" altLang="ko-KR" sz="1000" b="1" dirty="0"/>
                  <a:t> apt remove containerd.io</a:t>
                </a:r>
              </a:p>
              <a:p>
                <a:r>
                  <a:rPr lang="en-US" altLang="ko-KR" sz="1000" b="1" dirty="0"/>
                  <a:t>$ </a:t>
                </a:r>
                <a:r>
                  <a:rPr lang="en-US" altLang="ko-KR" sz="1000" b="1" dirty="0" err="1"/>
                  <a:t>sudo</a:t>
                </a:r>
                <a:r>
                  <a:rPr lang="en-US" altLang="ko-KR" sz="1000" b="1" dirty="0"/>
                  <a:t> apt </a:t>
                </a:r>
                <a:r>
                  <a:rPr lang="en-US" altLang="ko-KR" sz="1000" b="1" dirty="0" err="1"/>
                  <a:t>autoremove</a:t>
                </a:r>
                <a:r>
                  <a:rPr lang="en-US" altLang="ko-KR" sz="1000" b="1" dirty="0"/>
                  <a:t> </a:t>
                </a:r>
              </a:p>
              <a:p>
                <a:r>
                  <a:rPr lang="en-US" altLang="ko-KR" sz="1000" b="1" dirty="0"/>
                  <a:t>$ </a:t>
                </a:r>
                <a:r>
                  <a:rPr lang="en-US" altLang="ko-KR" sz="1000" b="1" dirty="0" err="1"/>
                  <a:t>sudo</a:t>
                </a:r>
                <a:r>
                  <a:rPr lang="en-US" altLang="ko-KR" sz="1000" b="1" dirty="0"/>
                  <a:t> apt update</a:t>
                </a:r>
              </a:p>
              <a:p>
                <a:r>
                  <a:rPr lang="en-US" altLang="ko-KR" sz="1000" b="1" dirty="0"/>
                  <a:t>$ </a:t>
                </a:r>
                <a:r>
                  <a:rPr lang="en-US" altLang="ko-KR" sz="1000" b="1" dirty="0" err="1">
                    <a:solidFill>
                      <a:srgbClr val="FF0000"/>
                    </a:solidFill>
                  </a:rPr>
                  <a:t>sudo</a:t>
                </a:r>
                <a:r>
                  <a:rPr lang="en-US" altLang="ko-KR" sz="1000" b="1" dirty="0">
                    <a:solidFill>
                      <a:srgbClr val="FF0000"/>
                    </a:solidFill>
                  </a:rPr>
                  <a:t> apt install docker.io</a:t>
                </a:r>
              </a:p>
              <a:p>
                <a:r>
                  <a:rPr lang="en-US" altLang="ko-KR" sz="1000" b="1" dirty="0"/>
                  <a:t>$ </a:t>
                </a:r>
                <a:r>
                  <a:rPr lang="en-US" altLang="ko-KR" sz="1000" b="1" dirty="0" err="1">
                    <a:solidFill>
                      <a:srgbClr val="FF0000"/>
                    </a:solidFill>
                  </a:rPr>
                  <a:t>sudo</a:t>
                </a:r>
                <a:r>
                  <a:rPr lang="en-US" altLang="ko-KR" sz="1000" b="1" dirty="0">
                    <a:solidFill>
                      <a:srgbClr val="FF0000"/>
                    </a:solidFill>
                  </a:rPr>
                  <a:t> </a:t>
                </a:r>
                <a:r>
                  <a:rPr lang="en-US" altLang="ko-KR" sz="1000" b="1" dirty="0" err="1">
                    <a:solidFill>
                      <a:srgbClr val="FF0000"/>
                    </a:solidFill>
                  </a:rPr>
                  <a:t>systemctl</a:t>
                </a:r>
                <a:r>
                  <a:rPr lang="en-US" altLang="ko-KR" sz="1000" b="1" dirty="0">
                    <a:solidFill>
                      <a:srgbClr val="FF0000"/>
                    </a:solidFill>
                  </a:rPr>
                  <a:t> start docker</a:t>
                </a:r>
              </a:p>
              <a:p>
                <a:r>
                  <a:rPr lang="en-US" altLang="ko-KR" sz="1000" b="1" dirty="0"/>
                  <a:t>$ </a:t>
                </a:r>
                <a:r>
                  <a:rPr lang="en-US" altLang="ko-KR" sz="1000" b="1" dirty="0" err="1">
                    <a:solidFill>
                      <a:srgbClr val="FF0000"/>
                    </a:solidFill>
                  </a:rPr>
                  <a:t>sudo</a:t>
                </a:r>
                <a:r>
                  <a:rPr lang="en-US" altLang="ko-KR" sz="1000" b="1" dirty="0">
                    <a:solidFill>
                      <a:srgbClr val="FF0000"/>
                    </a:solidFill>
                  </a:rPr>
                  <a:t> </a:t>
                </a:r>
                <a:r>
                  <a:rPr lang="en-US" altLang="ko-KR" sz="1000" b="1" dirty="0" err="1">
                    <a:solidFill>
                      <a:srgbClr val="FF0000"/>
                    </a:solidFill>
                  </a:rPr>
                  <a:t>systemctl</a:t>
                </a:r>
                <a:r>
                  <a:rPr lang="en-US" altLang="ko-KR" sz="1000" b="1" dirty="0">
                    <a:solidFill>
                      <a:srgbClr val="FF0000"/>
                    </a:solidFill>
                  </a:rPr>
                  <a:t> enable docker</a:t>
                </a:r>
              </a:p>
              <a:p>
                <a:r>
                  <a:rPr lang="en-US" altLang="ko-KR" sz="1000" b="1" dirty="0"/>
                  <a:t>$ </a:t>
                </a:r>
                <a:r>
                  <a:rPr lang="en-US" altLang="ko-KR" sz="1000" b="1" dirty="0" err="1"/>
                  <a:t>sudo</a:t>
                </a:r>
                <a:r>
                  <a:rPr lang="en-US" altLang="ko-KR" sz="1000" b="1" dirty="0"/>
                  <a:t> </a:t>
                </a:r>
                <a:r>
                  <a:rPr lang="en-US" altLang="ko-KR" sz="1000" b="1" dirty="0" err="1"/>
                  <a:t>systemctl</a:t>
                </a:r>
                <a:r>
                  <a:rPr lang="en-US" altLang="ko-KR" sz="1000" b="1" dirty="0"/>
                  <a:t> status docker</a:t>
                </a:r>
                <a:endParaRPr lang="ko-KR" altLang="en-US" sz="1000" b="1" dirty="0"/>
              </a:p>
            </p:txBody>
          </p:sp>
          <p:pic>
            <p:nvPicPr>
              <p:cNvPr id="8" name="그림 7">
                <a:extLst>
                  <a:ext uri="{FF2B5EF4-FFF2-40B4-BE49-F238E27FC236}">
                    <a16:creationId xmlns:a16="http://schemas.microsoft.com/office/drawing/2014/main" id="{4B3C45DE-AD44-49A1-B384-69B4E4F763C9}"/>
                  </a:ext>
                </a:extLst>
              </p:cNvPr>
              <p:cNvPicPr>
                <a:picLocks noChangeAspect="1"/>
              </p:cNvPicPr>
              <p:nvPr/>
            </p:nvPicPr>
            <p:blipFill>
              <a:blip r:embed="rId2"/>
              <a:stretch>
                <a:fillRect/>
              </a:stretch>
            </p:blipFill>
            <p:spPr>
              <a:xfrm>
                <a:off x="2181955" y="3444485"/>
                <a:ext cx="8103621" cy="2966031"/>
              </a:xfrm>
              <a:prstGeom prst="rect">
                <a:avLst/>
              </a:prstGeom>
            </p:spPr>
          </p:pic>
          <p:sp>
            <p:nvSpPr>
              <p:cNvPr id="9" name="화살표: 아래쪽 8">
                <a:extLst>
                  <a:ext uri="{FF2B5EF4-FFF2-40B4-BE49-F238E27FC236}">
                    <a16:creationId xmlns:a16="http://schemas.microsoft.com/office/drawing/2014/main" id="{7DDD0D73-C8A4-406E-A936-D5162D42CD58}"/>
                  </a:ext>
                </a:extLst>
              </p:cNvPr>
              <p:cNvSpPr/>
              <p:nvPr/>
            </p:nvSpPr>
            <p:spPr>
              <a:xfrm>
                <a:off x="6017791" y="3146854"/>
                <a:ext cx="427892" cy="270462"/>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CDC3266B-8CEB-4C07-BA90-42D51CD4066C}"/>
                </a:ext>
              </a:extLst>
            </p:cNvPr>
            <p:cNvSpPr/>
            <p:nvPr/>
          </p:nvSpPr>
          <p:spPr>
            <a:xfrm>
              <a:off x="2941320" y="4010888"/>
              <a:ext cx="1059180" cy="16487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13008447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Hostname</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Setting the Hostname :</a:t>
            </a:r>
          </a:p>
          <a:p>
            <a:pPr lvl="1">
              <a:buFont typeface="Wingdings" panose="05000000000000000000" pitchFamily="2" charset="2"/>
              <a:buChar char="§"/>
            </a:pPr>
            <a:r>
              <a:rPr lang="en-US" altLang="ko-KR" sz="1400" dirty="0"/>
              <a:t>You need to set the host name and it’s IP address in “</a:t>
            </a:r>
            <a:r>
              <a:rPr lang="en-US" altLang="ko-KR" sz="1400" b="1" dirty="0"/>
              <a:t>/</a:t>
            </a:r>
            <a:r>
              <a:rPr lang="en-US" altLang="ko-KR" sz="1400" b="1" dirty="0" err="1"/>
              <a:t>etc</a:t>
            </a:r>
            <a:r>
              <a:rPr lang="en-US" altLang="ko-KR" sz="1400" b="1" dirty="0"/>
              <a:t>/hosts</a:t>
            </a:r>
            <a:r>
              <a:rPr lang="en-US" altLang="ko-KR" sz="1400" dirty="0"/>
              <a:t>” file in each nodes. See the following screenshot.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71F9B9B1-569F-4E20-93F9-747390121B4A}"/>
              </a:ext>
            </a:extLst>
          </p:cNvPr>
          <p:cNvPicPr>
            <a:picLocks noChangeAspect="1"/>
          </p:cNvPicPr>
          <p:nvPr/>
        </p:nvPicPr>
        <p:blipFill>
          <a:blip r:embed="rId2"/>
          <a:stretch>
            <a:fillRect/>
          </a:stretch>
        </p:blipFill>
        <p:spPr>
          <a:xfrm>
            <a:off x="1333500" y="2000250"/>
            <a:ext cx="9525000" cy="2857500"/>
          </a:xfrm>
          <a:prstGeom prst="rect">
            <a:avLst/>
          </a:prstGeom>
          <a:ln>
            <a:solidFill>
              <a:schemeClr val="bg1">
                <a:lumMod val="50000"/>
              </a:schemeClr>
            </a:solidFill>
          </a:ln>
        </p:spPr>
      </p:pic>
      <p:sp>
        <p:nvSpPr>
          <p:cNvPr id="8" name="직사각형 7">
            <a:extLst>
              <a:ext uri="{FF2B5EF4-FFF2-40B4-BE49-F238E27FC236}">
                <a16:creationId xmlns:a16="http://schemas.microsoft.com/office/drawing/2014/main" id="{E26247BD-A0E3-41E9-AC31-3FA65DBD6064}"/>
              </a:ext>
            </a:extLst>
          </p:cNvPr>
          <p:cNvSpPr/>
          <p:nvPr/>
        </p:nvSpPr>
        <p:spPr>
          <a:xfrm>
            <a:off x="1440180" y="2849880"/>
            <a:ext cx="2354580" cy="36512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68975385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Kubernetes</a:t>
            </a:r>
            <a:r>
              <a:rPr lang="ko-KR" altLang="en-US" sz="2800" b="1" dirty="0"/>
              <a:t> </a:t>
            </a:r>
            <a:r>
              <a:rPr lang="en-US" altLang="ko-KR" sz="2800" b="1" dirty="0"/>
              <a:t>Cluster(7/13)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Docker Engine Installation(Ubuntu 20.04) :</a:t>
            </a:r>
          </a:p>
          <a:p>
            <a:pPr lvl="1">
              <a:buFont typeface="Wingdings" panose="05000000000000000000" pitchFamily="2" charset="2"/>
              <a:buChar char="§"/>
            </a:pPr>
            <a:r>
              <a:rPr lang="en-US" altLang="ko-KR" sz="1400" dirty="0"/>
              <a:t>Before you go further, you need to </a:t>
            </a:r>
            <a:r>
              <a:rPr lang="en-US" altLang="ko-KR" sz="1400" b="1" dirty="0"/>
              <a:t>add docker daemon configuration and restart it </a:t>
            </a:r>
            <a:r>
              <a:rPr lang="en-US" altLang="ko-KR" sz="1400" dirty="0"/>
              <a:t>with the following commands.</a:t>
            </a:r>
          </a:p>
          <a:p>
            <a:pPr lvl="1">
              <a:buFont typeface="Wingdings" panose="05000000000000000000" pitchFamily="2" charset="2"/>
              <a:buChar char="§"/>
            </a:pPr>
            <a:r>
              <a:rPr lang="en-US" altLang="ko-KR" sz="1400" b="1" dirty="0"/>
              <a:t>NOTE : If you have “/</a:t>
            </a:r>
            <a:r>
              <a:rPr lang="en-US" altLang="ko-KR" sz="1400" b="1" dirty="0" err="1"/>
              <a:t>etc</a:t>
            </a:r>
            <a:r>
              <a:rPr lang="en-US" altLang="ko-KR" sz="1400" b="1" dirty="0"/>
              <a:t>/docker” directory, just skip the command</a:t>
            </a:r>
            <a:r>
              <a:rPr lang="en-US" altLang="ko-KR" sz="1400" dirty="0"/>
              <a:t>.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799F167D-88EF-4A35-97A0-874BD88E6325}"/>
              </a:ext>
            </a:extLst>
          </p:cNvPr>
          <p:cNvGrpSpPr/>
          <p:nvPr/>
        </p:nvGrpSpPr>
        <p:grpSpPr>
          <a:xfrm>
            <a:off x="2770433" y="1697390"/>
            <a:ext cx="6651134" cy="4712304"/>
            <a:chOff x="2770433" y="1697390"/>
            <a:chExt cx="6651134" cy="4712304"/>
          </a:xfrm>
        </p:grpSpPr>
        <p:sp>
          <p:nvSpPr>
            <p:cNvPr id="4" name="직사각형 3">
              <a:extLst>
                <a:ext uri="{FF2B5EF4-FFF2-40B4-BE49-F238E27FC236}">
                  <a16:creationId xmlns:a16="http://schemas.microsoft.com/office/drawing/2014/main" id="{5BFAFC8E-9077-4457-ABED-CC0E98E0CCCF}"/>
                </a:ext>
              </a:extLst>
            </p:cNvPr>
            <p:cNvSpPr/>
            <p:nvPr/>
          </p:nvSpPr>
          <p:spPr>
            <a:xfrm>
              <a:off x="3048000" y="1697390"/>
              <a:ext cx="6096000" cy="2554545"/>
            </a:xfrm>
            <a:prstGeom prst="rect">
              <a:avLst/>
            </a:prstGeom>
            <a:ln>
              <a:solidFill>
                <a:schemeClr val="bg1">
                  <a:lumMod val="50000"/>
                </a:schemeClr>
              </a:solidFill>
            </a:ln>
          </p:spPr>
          <p:txBody>
            <a:bodyPr>
              <a:spAutoFit/>
            </a:bodyPr>
            <a:lstStyle/>
            <a:p>
              <a:r>
                <a:rPr lang="en-US" altLang="ko-KR" sz="1000" b="1" dirty="0">
                  <a:solidFill>
                    <a:srgbClr val="FF0000"/>
                  </a:solidFill>
                </a:rPr>
                <a:t>$ </a:t>
              </a:r>
              <a:r>
                <a:rPr lang="en-US" altLang="ko-KR" sz="1000" b="1" dirty="0" err="1">
                  <a:solidFill>
                    <a:srgbClr val="FF0000"/>
                  </a:solidFill>
                </a:rPr>
                <a:t>sudo</a:t>
              </a:r>
              <a:r>
                <a:rPr lang="en-US" altLang="ko-KR" sz="1000" b="1" dirty="0">
                  <a:solidFill>
                    <a:srgbClr val="FF0000"/>
                  </a:solidFill>
                </a:rPr>
                <a:t> </a:t>
              </a:r>
              <a:r>
                <a:rPr lang="en-US" altLang="ko-KR" sz="1000" b="1" dirty="0" err="1">
                  <a:solidFill>
                    <a:srgbClr val="FF0000"/>
                  </a:solidFill>
                </a:rPr>
                <a:t>mkdir</a:t>
              </a:r>
              <a:r>
                <a:rPr lang="en-US" altLang="ko-KR" sz="1000" b="1" dirty="0">
                  <a:solidFill>
                    <a:srgbClr val="FF0000"/>
                  </a:solidFill>
                </a:rPr>
                <a:t> /</a:t>
              </a:r>
              <a:r>
                <a:rPr lang="en-US" altLang="ko-KR" sz="1000" b="1" dirty="0" err="1">
                  <a:solidFill>
                    <a:srgbClr val="FF0000"/>
                  </a:solidFill>
                </a:rPr>
                <a:t>etc</a:t>
              </a:r>
              <a:r>
                <a:rPr lang="en-US" altLang="ko-KR" sz="1000" b="1" dirty="0">
                  <a:solidFill>
                    <a:srgbClr val="FF0000"/>
                  </a:solidFill>
                </a:rPr>
                <a:t>/docker</a:t>
              </a:r>
            </a:p>
            <a:p>
              <a:endParaRPr lang="en-US" altLang="ko-KR" sz="1000" b="1" dirty="0"/>
            </a:p>
            <a:p>
              <a:r>
                <a:rPr lang="en-US" altLang="ko-KR" sz="1000" b="1" dirty="0"/>
                <a:t>cat &lt;&lt;EOF | </a:t>
              </a:r>
              <a:r>
                <a:rPr lang="en-US" altLang="ko-KR" sz="1000" b="1" dirty="0" err="1"/>
                <a:t>sudo</a:t>
              </a:r>
              <a:r>
                <a:rPr lang="en-US" altLang="ko-KR" sz="1000" b="1" dirty="0"/>
                <a:t> tee /</a:t>
              </a:r>
              <a:r>
                <a:rPr lang="en-US" altLang="ko-KR" sz="1000" b="1" dirty="0" err="1"/>
                <a:t>etc</a:t>
              </a:r>
              <a:r>
                <a:rPr lang="en-US" altLang="ko-KR" sz="1000" b="1" dirty="0"/>
                <a:t>/docker/</a:t>
              </a:r>
              <a:r>
                <a:rPr lang="en-US" altLang="ko-KR" sz="1000" b="1" dirty="0" err="1"/>
                <a:t>daemon.json</a:t>
              </a:r>
              <a:endParaRPr lang="en-US" altLang="ko-KR" sz="1000" b="1" dirty="0"/>
            </a:p>
            <a:p>
              <a:r>
                <a:rPr lang="en-US" altLang="ko-KR" sz="1000" b="1" dirty="0"/>
                <a:t>{</a:t>
              </a:r>
            </a:p>
            <a:p>
              <a:r>
                <a:rPr lang="en-US" altLang="ko-KR" sz="1000" b="1" dirty="0"/>
                <a:t>"exec-opts": ["</a:t>
              </a:r>
              <a:r>
                <a:rPr lang="en-US" altLang="ko-KR" sz="1000" b="1" dirty="0" err="1"/>
                <a:t>native.cgroupdriver</a:t>
              </a:r>
              <a:r>
                <a:rPr lang="en-US" altLang="ko-KR" sz="1000" b="1" dirty="0"/>
                <a:t>=</a:t>
              </a:r>
              <a:r>
                <a:rPr lang="en-US" altLang="ko-KR" sz="1000" b="1" dirty="0" err="1">
                  <a:solidFill>
                    <a:srgbClr val="FF0000"/>
                  </a:solidFill>
                </a:rPr>
                <a:t>systemd</a:t>
              </a:r>
              <a:r>
                <a:rPr lang="en-US" altLang="ko-KR" sz="1000" b="1" dirty="0"/>
                <a:t>"],</a:t>
              </a:r>
            </a:p>
            <a:p>
              <a:r>
                <a:rPr lang="en-US" altLang="ko-KR" sz="1000" b="1" dirty="0"/>
                <a:t>"log-driver": "json-file",</a:t>
              </a:r>
            </a:p>
            <a:p>
              <a:r>
                <a:rPr lang="en-US" altLang="ko-KR" sz="1000" b="1" dirty="0"/>
                <a:t>"log-opts": {</a:t>
              </a:r>
            </a:p>
            <a:p>
              <a:r>
                <a:rPr lang="en-US" altLang="ko-KR" sz="1000" b="1" dirty="0"/>
                <a:t>"max-size": "100m"</a:t>
              </a:r>
            </a:p>
            <a:p>
              <a:r>
                <a:rPr lang="en-US" altLang="ko-KR" sz="1000" b="1" dirty="0"/>
                <a:t>},</a:t>
              </a:r>
            </a:p>
            <a:p>
              <a:r>
                <a:rPr lang="en-US" altLang="ko-KR" sz="1000" b="1" dirty="0"/>
                <a:t>"storage-driver": "overlay2"</a:t>
              </a:r>
            </a:p>
            <a:p>
              <a:r>
                <a:rPr lang="en-US" altLang="ko-KR" sz="1000" b="1" dirty="0"/>
                <a:t>}</a:t>
              </a:r>
            </a:p>
            <a:p>
              <a:r>
                <a:rPr lang="en-US" altLang="ko-KR" sz="1000" b="1" dirty="0"/>
                <a:t>EOF</a:t>
              </a:r>
            </a:p>
            <a:p>
              <a:r>
                <a:rPr lang="en-US" altLang="ko-KR" sz="1000" b="1" dirty="0"/>
                <a:t> </a:t>
              </a:r>
            </a:p>
            <a:p>
              <a:r>
                <a:rPr lang="en-US" altLang="ko-KR" sz="1000" b="1" dirty="0"/>
                <a:t>$ </a:t>
              </a:r>
              <a:r>
                <a:rPr lang="en-US" altLang="ko-KR" sz="1000" b="1" dirty="0" err="1"/>
                <a:t>sudo</a:t>
              </a:r>
              <a:r>
                <a:rPr lang="en-US" altLang="ko-KR" sz="1000" b="1" dirty="0"/>
                <a:t> </a:t>
              </a:r>
              <a:r>
                <a:rPr lang="en-US" altLang="ko-KR" sz="1000" b="1" dirty="0" err="1"/>
                <a:t>systemctl</a:t>
              </a:r>
              <a:r>
                <a:rPr lang="en-US" altLang="ko-KR" sz="1000" b="1" dirty="0"/>
                <a:t> enable docker</a:t>
              </a:r>
            </a:p>
            <a:p>
              <a:r>
                <a:rPr lang="en-US" altLang="ko-KR" sz="1000" b="1" dirty="0"/>
                <a:t>$ </a:t>
              </a:r>
              <a:r>
                <a:rPr lang="en-US" altLang="ko-KR" sz="1000" b="1" dirty="0" err="1"/>
                <a:t>sudo</a:t>
              </a:r>
              <a:r>
                <a:rPr lang="en-US" altLang="ko-KR" sz="1000" b="1" dirty="0"/>
                <a:t> </a:t>
              </a:r>
              <a:r>
                <a:rPr lang="en-US" altLang="ko-KR" sz="1000" b="1" dirty="0" err="1"/>
                <a:t>systemctl</a:t>
              </a:r>
              <a:r>
                <a:rPr lang="en-US" altLang="ko-KR" sz="1000" b="1" dirty="0"/>
                <a:t> daemon-reload</a:t>
              </a:r>
            </a:p>
            <a:p>
              <a:r>
                <a:rPr lang="en-US" altLang="ko-KR" sz="1000" b="1" dirty="0"/>
                <a:t>$ </a:t>
              </a:r>
              <a:r>
                <a:rPr lang="en-US" altLang="ko-KR" sz="1000" b="1" dirty="0" err="1"/>
                <a:t>sudo</a:t>
              </a:r>
              <a:r>
                <a:rPr lang="en-US" altLang="ko-KR" sz="1000" b="1" dirty="0"/>
                <a:t> </a:t>
              </a:r>
              <a:r>
                <a:rPr lang="en-US" altLang="ko-KR" sz="1000" b="1" dirty="0" err="1"/>
                <a:t>systemctl</a:t>
              </a:r>
              <a:r>
                <a:rPr lang="en-US" altLang="ko-KR" sz="1000" b="1" dirty="0"/>
                <a:t> restart docker</a:t>
              </a:r>
              <a:endParaRPr lang="ko-KR" altLang="en-US" sz="1000" b="1" dirty="0"/>
            </a:p>
          </p:txBody>
        </p:sp>
        <p:pic>
          <p:nvPicPr>
            <p:cNvPr id="8" name="그림 7">
              <a:extLst>
                <a:ext uri="{FF2B5EF4-FFF2-40B4-BE49-F238E27FC236}">
                  <a16:creationId xmlns:a16="http://schemas.microsoft.com/office/drawing/2014/main" id="{53462B43-B102-4E66-B9EE-B38B41C157C2}"/>
                </a:ext>
              </a:extLst>
            </p:cNvPr>
            <p:cNvPicPr>
              <a:picLocks noChangeAspect="1"/>
            </p:cNvPicPr>
            <p:nvPr/>
          </p:nvPicPr>
          <p:blipFill>
            <a:blip r:embed="rId2"/>
            <a:stretch>
              <a:fillRect/>
            </a:stretch>
          </p:blipFill>
          <p:spPr>
            <a:xfrm>
              <a:off x="2770433" y="4565044"/>
              <a:ext cx="6651134" cy="1844650"/>
            </a:xfrm>
            <a:prstGeom prst="rect">
              <a:avLst/>
            </a:prstGeom>
          </p:spPr>
        </p:pic>
        <p:sp>
          <p:nvSpPr>
            <p:cNvPr id="9" name="화살표: 아래쪽 8">
              <a:extLst>
                <a:ext uri="{FF2B5EF4-FFF2-40B4-BE49-F238E27FC236}">
                  <a16:creationId xmlns:a16="http://schemas.microsoft.com/office/drawing/2014/main" id="{41815465-45D2-46C3-84DC-7F1810DD5C01}"/>
                </a:ext>
              </a:extLst>
            </p:cNvPr>
            <p:cNvSpPr/>
            <p:nvPr/>
          </p:nvSpPr>
          <p:spPr>
            <a:xfrm>
              <a:off x="5890260" y="4266843"/>
              <a:ext cx="411480" cy="281965"/>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TextBox 10">
            <a:extLst>
              <a:ext uri="{FF2B5EF4-FFF2-40B4-BE49-F238E27FC236}">
                <a16:creationId xmlns:a16="http://schemas.microsoft.com/office/drawing/2014/main" id="{256BCF4D-FE41-4D38-AB0B-62DBE6A63C65}"/>
              </a:ext>
            </a:extLst>
          </p:cNvPr>
          <p:cNvSpPr txBox="1"/>
          <p:nvPr/>
        </p:nvSpPr>
        <p:spPr>
          <a:xfrm>
            <a:off x="9421567" y="5547256"/>
            <a:ext cx="1932234" cy="861774"/>
          </a:xfrm>
          <a:prstGeom prst="rect">
            <a:avLst/>
          </a:prstGeom>
          <a:noFill/>
        </p:spPr>
        <p:txBody>
          <a:bodyPr wrap="square" rtlCol="0">
            <a:spAutoFit/>
          </a:bodyPr>
          <a:lstStyle/>
          <a:p>
            <a:r>
              <a:rPr lang="en-US" altLang="ko-KR" sz="1000" b="1" dirty="0"/>
              <a:t>NOTE : If you don’t do this step, you will meet an pending(waiting) error, when you run “</a:t>
            </a:r>
            <a:r>
              <a:rPr lang="en-US" altLang="ko-KR" sz="1000" b="1" dirty="0" err="1">
                <a:solidFill>
                  <a:srgbClr val="FF0000"/>
                </a:solidFill>
              </a:rPr>
              <a:t>kubeadm</a:t>
            </a:r>
            <a:r>
              <a:rPr lang="en-US" altLang="ko-KR" sz="1000" b="1" dirty="0">
                <a:solidFill>
                  <a:srgbClr val="FF0000"/>
                </a:solidFill>
              </a:rPr>
              <a:t> </a:t>
            </a:r>
            <a:r>
              <a:rPr lang="en-US" altLang="ko-KR" sz="1000" b="1" dirty="0" err="1">
                <a:solidFill>
                  <a:srgbClr val="FF0000"/>
                </a:solidFill>
              </a:rPr>
              <a:t>init</a:t>
            </a:r>
            <a:r>
              <a:rPr lang="en-US" altLang="ko-KR" sz="1000" b="1" dirty="0"/>
              <a:t>” command later. </a:t>
            </a:r>
            <a:endParaRPr lang="ko-KR" altLang="en-US" sz="1000" b="1" dirty="0"/>
          </a:p>
        </p:txBody>
      </p:sp>
    </p:spTree>
    <p:extLst>
      <p:ext uri="{BB962C8B-B14F-4D97-AF65-F5344CB8AC3E}">
        <p14:creationId xmlns:p14="http://schemas.microsoft.com/office/powerpoint/2010/main" val="18601394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Kubernetes</a:t>
            </a:r>
            <a:r>
              <a:rPr lang="ko-KR" altLang="en-US" sz="2800" b="1" dirty="0"/>
              <a:t> </a:t>
            </a:r>
            <a:r>
              <a:rPr lang="en-US" altLang="ko-KR" sz="2800" b="1" dirty="0"/>
              <a:t>Cluster(8/13)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Installing “</a:t>
            </a:r>
            <a:r>
              <a:rPr lang="en-US" altLang="ko-KR" sz="1800" b="1" dirty="0" err="1"/>
              <a:t>kubeadm</a:t>
            </a:r>
            <a:r>
              <a:rPr lang="en-US" altLang="ko-KR" sz="1800" b="1" dirty="0"/>
              <a:t>” :</a:t>
            </a:r>
          </a:p>
          <a:p>
            <a:pPr lvl="1">
              <a:buFont typeface="Wingdings" panose="05000000000000000000" pitchFamily="2" charset="2"/>
              <a:buChar char="§"/>
            </a:pPr>
            <a:r>
              <a:rPr lang="en-US" altLang="ko-KR" sz="1400" dirty="0"/>
              <a:t>You can install “</a:t>
            </a:r>
            <a:r>
              <a:rPr lang="en-US" altLang="ko-KR" sz="1400" b="1" dirty="0" err="1"/>
              <a:t>kubelet</a:t>
            </a:r>
            <a:r>
              <a:rPr lang="en-US" altLang="ko-KR" sz="1400" b="1" dirty="0"/>
              <a:t>, </a:t>
            </a:r>
            <a:r>
              <a:rPr lang="en-US" altLang="ko-KR" sz="1400" b="1" dirty="0" err="1"/>
              <a:t>kubeadm</a:t>
            </a:r>
            <a:r>
              <a:rPr lang="en-US" altLang="ko-KR" sz="1400" b="1" dirty="0"/>
              <a:t>, </a:t>
            </a:r>
            <a:r>
              <a:rPr lang="en-US" altLang="ko-KR" sz="1400" b="1" dirty="0" err="1"/>
              <a:t>kubectl</a:t>
            </a:r>
            <a:r>
              <a:rPr lang="en-US" altLang="ko-KR" sz="1400" b="1" dirty="0"/>
              <a:t>, </a:t>
            </a:r>
            <a:r>
              <a:rPr lang="en-US" altLang="ko-KR" sz="1400" b="1" dirty="0" err="1"/>
              <a:t>kubernetes-cni</a:t>
            </a:r>
            <a:r>
              <a:rPr lang="en-US" altLang="ko-KR" sz="1400" dirty="0"/>
              <a:t>” with the following commands. After the installation, you will also lock the package version change with “</a:t>
            </a:r>
            <a:r>
              <a:rPr lang="en-US" altLang="ko-KR" sz="1400" b="1" dirty="0" err="1"/>
              <a:t>sudo</a:t>
            </a:r>
            <a:r>
              <a:rPr lang="en-US" altLang="ko-KR" sz="1400" b="1" dirty="0"/>
              <a:t> apt-mark hold xxx</a:t>
            </a:r>
            <a:r>
              <a:rPr lang="en-US" altLang="ko-KR" sz="1400" dirty="0"/>
              <a:t>” command.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To unlock the package version(update) change</a:t>
            </a:r>
            <a:r>
              <a:rPr lang="en-US" altLang="ko-KR" sz="1400" dirty="0"/>
              <a:t>, you can use “</a:t>
            </a:r>
            <a:r>
              <a:rPr lang="en-US" altLang="ko-KR" sz="1400" b="1" dirty="0" err="1"/>
              <a:t>sudo</a:t>
            </a:r>
            <a:r>
              <a:rPr lang="en-US" altLang="ko-KR" sz="1400" b="1" dirty="0"/>
              <a:t> apt-mark </a:t>
            </a:r>
            <a:r>
              <a:rPr lang="en-US" altLang="ko-KR" sz="1400" b="1" dirty="0" err="1"/>
              <a:t>unhold</a:t>
            </a:r>
            <a:r>
              <a:rPr lang="en-US" altLang="ko-KR" sz="1400" b="1" dirty="0"/>
              <a:t> xxx</a:t>
            </a:r>
            <a:r>
              <a:rPr lang="en-US" altLang="ko-KR" sz="1400" dirty="0"/>
              <a:t>” command.</a:t>
            </a:r>
          </a:p>
          <a:p>
            <a:pPr lvl="1">
              <a:buFont typeface="Wingdings" panose="05000000000000000000" pitchFamily="2" charset="2"/>
              <a:buChar char="§"/>
            </a:pPr>
            <a:r>
              <a:rPr lang="en-US" altLang="ko-KR" sz="1400" b="1" dirty="0"/>
              <a:t>NOTE : Actually you don’t need to install “</a:t>
            </a:r>
            <a:r>
              <a:rPr lang="en-US" altLang="ko-KR" sz="1400" b="1" dirty="0" err="1"/>
              <a:t>kubernetes-cni</a:t>
            </a:r>
            <a:r>
              <a:rPr lang="en-US" altLang="ko-KR" sz="1400" b="1" dirty="0"/>
              <a:t>”. It will be installed already if you have installed “</a:t>
            </a:r>
            <a:r>
              <a:rPr lang="en-US" altLang="ko-KR" sz="1400" b="1" dirty="0" err="1"/>
              <a:t>kubelet</a:t>
            </a:r>
            <a:r>
              <a:rPr lang="en-US" altLang="ko-KR" sz="1400" b="1" dirty="0"/>
              <a:t>, </a:t>
            </a:r>
            <a:r>
              <a:rPr lang="en-US" altLang="ko-KR" sz="1400" b="1" dirty="0" err="1"/>
              <a:t>kubeadm</a:t>
            </a:r>
            <a:r>
              <a:rPr lang="en-US" altLang="ko-KR" sz="1400" b="1" dirty="0"/>
              <a:t>, and </a:t>
            </a:r>
            <a:r>
              <a:rPr lang="en-US" altLang="ko-KR" sz="1400" b="1" dirty="0" err="1"/>
              <a:t>kubectl</a:t>
            </a:r>
            <a:r>
              <a:rPr lang="en-US" altLang="ko-KR" sz="1400" b="1" dirty="0"/>
              <a:t>” before. </a:t>
            </a:r>
          </a:p>
          <a:p>
            <a:pPr lvl="1">
              <a:buFont typeface="Wingdings" panose="05000000000000000000" pitchFamily="2" charset="2"/>
              <a:buChar char="§"/>
            </a:pPr>
            <a:r>
              <a:rPr lang="en-US" altLang="ko-KR" sz="1400" b="1" dirty="0"/>
              <a:t>NOTE : </a:t>
            </a:r>
            <a:r>
              <a:rPr lang="en-US" altLang="ko-KR" sz="1400" b="1" dirty="0">
                <a:solidFill>
                  <a:srgbClr val="FF0000"/>
                </a:solidFill>
              </a:rPr>
              <a:t>CNI</a:t>
            </a:r>
            <a:r>
              <a:rPr lang="en-US" altLang="ko-KR" sz="1400" b="1" dirty="0"/>
              <a:t> is the abbreviation of “</a:t>
            </a:r>
            <a:r>
              <a:rPr lang="en-US" altLang="ko-KR" sz="1400" b="1" dirty="0">
                <a:solidFill>
                  <a:srgbClr val="FF0000"/>
                </a:solidFill>
              </a:rPr>
              <a:t>C</a:t>
            </a:r>
            <a:r>
              <a:rPr lang="en-US" altLang="ko-KR" sz="1400" b="1" dirty="0"/>
              <a:t>ontainer </a:t>
            </a:r>
            <a:r>
              <a:rPr lang="en-US" altLang="ko-KR" sz="1400" b="1" dirty="0">
                <a:solidFill>
                  <a:srgbClr val="FF0000"/>
                </a:solidFill>
              </a:rPr>
              <a:t>N</a:t>
            </a:r>
            <a:r>
              <a:rPr lang="en-US" altLang="ko-KR" sz="1400" b="1" dirty="0"/>
              <a:t>etwork </a:t>
            </a:r>
            <a:r>
              <a:rPr lang="en-US" altLang="ko-KR" sz="1400" b="1" dirty="0">
                <a:solidFill>
                  <a:srgbClr val="FF0000"/>
                </a:solidFill>
              </a:rPr>
              <a:t>I</a:t>
            </a:r>
            <a:r>
              <a:rPr lang="en-US" altLang="ko-KR" sz="1400" b="1" dirty="0"/>
              <a:t>nterface”.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D0994112-8E5D-4318-A54B-471498CCE660}"/>
              </a:ext>
            </a:extLst>
          </p:cNvPr>
          <p:cNvSpPr/>
          <p:nvPr/>
        </p:nvSpPr>
        <p:spPr>
          <a:xfrm>
            <a:off x="2053590" y="1858417"/>
            <a:ext cx="8084820" cy="1477328"/>
          </a:xfrm>
          <a:prstGeom prst="rect">
            <a:avLst/>
          </a:prstGeom>
          <a:ln>
            <a:solidFill>
              <a:schemeClr val="bg1">
                <a:lumMod val="50000"/>
              </a:schemeClr>
            </a:solidFill>
          </a:ln>
        </p:spPr>
        <p:txBody>
          <a:bodyPr wrap="square">
            <a:spAutoFit/>
          </a:bodyPr>
          <a:lstStyle/>
          <a:p>
            <a:r>
              <a:rPr lang="en-US" altLang="ko-KR" sz="1000" b="1" dirty="0"/>
              <a:t>$ </a:t>
            </a:r>
            <a:r>
              <a:rPr lang="en-US" altLang="ko-KR" sz="1000" b="1" dirty="0" err="1"/>
              <a:t>sudo</a:t>
            </a:r>
            <a:r>
              <a:rPr lang="en-US" altLang="ko-KR" sz="1000" b="1" dirty="0"/>
              <a:t> apt-get update</a:t>
            </a:r>
          </a:p>
          <a:p>
            <a:r>
              <a:rPr lang="en-US" altLang="ko-KR" sz="1000" b="1" dirty="0"/>
              <a:t>$ </a:t>
            </a:r>
            <a:r>
              <a:rPr lang="en-US" altLang="ko-KR" sz="1000" b="1" dirty="0" err="1"/>
              <a:t>sudo</a:t>
            </a:r>
            <a:r>
              <a:rPr lang="en-US" altLang="ko-KR" sz="1000" b="1" dirty="0"/>
              <a:t> apt-get install -y apt-transport-https ca-certificates curl</a:t>
            </a:r>
          </a:p>
          <a:p>
            <a:r>
              <a:rPr lang="en-US" altLang="ko-KR" sz="1000" b="1" dirty="0"/>
              <a:t>$ </a:t>
            </a:r>
            <a:r>
              <a:rPr lang="en-US" altLang="ko-KR" sz="1000" b="1" dirty="0" err="1"/>
              <a:t>sudo</a:t>
            </a:r>
            <a:r>
              <a:rPr lang="en-US" altLang="ko-KR" sz="1000" b="1" dirty="0"/>
              <a:t> curl -</a:t>
            </a:r>
            <a:r>
              <a:rPr lang="en-US" altLang="ko-KR" sz="1000" b="1" dirty="0" err="1"/>
              <a:t>fsSLo</a:t>
            </a:r>
            <a:r>
              <a:rPr lang="en-US" altLang="ko-KR" sz="1000" b="1" dirty="0"/>
              <a:t> /</a:t>
            </a:r>
            <a:r>
              <a:rPr lang="en-US" altLang="ko-KR" sz="1000" b="1" dirty="0" err="1"/>
              <a:t>usr</a:t>
            </a:r>
            <a:r>
              <a:rPr lang="en-US" altLang="ko-KR" sz="1000" b="1" dirty="0"/>
              <a:t>/share/keyrings/</a:t>
            </a:r>
            <a:r>
              <a:rPr lang="en-US" altLang="ko-KR" sz="1000" b="1" dirty="0" err="1"/>
              <a:t>kubernetes</a:t>
            </a:r>
            <a:r>
              <a:rPr lang="en-US" altLang="ko-KR" sz="1000" b="1" dirty="0"/>
              <a:t>-archive-</a:t>
            </a:r>
            <a:r>
              <a:rPr lang="en-US" altLang="ko-KR" sz="1000" b="1" dirty="0" err="1"/>
              <a:t>keyring.gpg</a:t>
            </a:r>
            <a:r>
              <a:rPr lang="en-US" altLang="ko-KR" sz="1000" b="1" dirty="0"/>
              <a:t> https://packages.cloud.google.com/apt/doc/apt-key.gpg</a:t>
            </a:r>
          </a:p>
          <a:p>
            <a:endParaRPr lang="en-US" altLang="ko-KR" sz="1000" b="1" dirty="0"/>
          </a:p>
          <a:p>
            <a:r>
              <a:rPr lang="en-US" altLang="ko-KR" sz="1000" b="1" dirty="0"/>
              <a:t>$ echo "deb [signed-by=/</a:t>
            </a:r>
            <a:r>
              <a:rPr lang="en-US" altLang="ko-KR" sz="1000" b="1" dirty="0" err="1"/>
              <a:t>usr</a:t>
            </a:r>
            <a:r>
              <a:rPr lang="en-US" altLang="ko-KR" sz="1000" b="1" dirty="0"/>
              <a:t>/share/keyrings/</a:t>
            </a:r>
            <a:r>
              <a:rPr lang="en-US" altLang="ko-KR" sz="1000" b="1" dirty="0" err="1"/>
              <a:t>kubernetes</a:t>
            </a:r>
            <a:r>
              <a:rPr lang="en-US" altLang="ko-KR" sz="1000" b="1" dirty="0"/>
              <a:t>-archive-</a:t>
            </a:r>
            <a:r>
              <a:rPr lang="en-US" altLang="ko-KR" sz="1000" b="1" dirty="0" err="1"/>
              <a:t>keyring.gpg</a:t>
            </a:r>
            <a:r>
              <a:rPr lang="en-US" altLang="ko-KR" sz="1000" b="1" dirty="0"/>
              <a:t>] https://apt.kubernetes.io/ </a:t>
            </a:r>
            <a:r>
              <a:rPr lang="en-US" altLang="ko-KR" sz="1000" b="1" dirty="0" err="1"/>
              <a:t>kubernetes-xenial</a:t>
            </a:r>
            <a:r>
              <a:rPr lang="en-US" altLang="ko-KR" sz="1000" b="1" dirty="0"/>
              <a:t> main" | </a:t>
            </a:r>
            <a:r>
              <a:rPr lang="en-US" altLang="ko-KR" sz="1000" b="1" dirty="0" err="1"/>
              <a:t>sudo</a:t>
            </a:r>
            <a:r>
              <a:rPr lang="en-US" altLang="ko-KR" sz="1000" b="1" dirty="0"/>
              <a:t> tee /</a:t>
            </a:r>
            <a:r>
              <a:rPr lang="en-US" altLang="ko-KR" sz="1000" b="1" dirty="0" err="1"/>
              <a:t>etc</a:t>
            </a:r>
            <a:r>
              <a:rPr lang="en-US" altLang="ko-KR" sz="1000" b="1" dirty="0"/>
              <a:t>/apt/</a:t>
            </a:r>
            <a:r>
              <a:rPr lang="en-US" altLang="ko-KR" sz="1000" b="1" dirty="0" err="1"/>
              <a:t>sources.list.d</a:t>
            </a:r>
            <a:r>
              <a:rPr lang="en-US" altLang="ko-KR" sz="1000" b="1" dirty="0"/>
              <a:t>/</a:t>
            </a:r>
            <a:r>
              <a:rPr lang="en-US" altLang="ko-KR" sz="1000" b="1" dirty="0" err="1"/>
              <a:t>kubernetes.list</a:t>
            </a:r>
            <a:endParaRPr lang="en-US" altLang="ko-KR" sz="1000" b="1" dirty="0"/>
          </a:p>
          <a:p>
            <a:r>
              <a:rPr lang="en-US" altLang="ko-KR" sz="1000" b="1" dirty="0"/>
              <a:t>$ </a:t>
            </a:r>
            <a:r>
              <a:rPr lang="en-US" altLang="ko-KR" sz="1000" b="1" dirty="0" err="1"/>
              <a:t>sudo</a:t>
            </a:r>
            <a:r>
              <a:rPr lang="en-US" altLang="ko-KR" sz="1000" b="1" dirty="0"/>
              <a:t> apt-get update </a:t>
            </a:r>
          </a:p>
          <a:p>
            <a:r>
              <a:rPr lang="en-US" altLang="ko-KR" sz="1000" b="1" dirty="0"/>
              <a:t>$ </a:t>
            </a:r>
            <a:r>
              <a:rPr lang="en-US" altLang="ko-KR" sz="1000" b="1" dirty="0" err="1"/>
              <a:t>sudo</a:t>
            </a:r>
            <a:r>
              <a:rPr lang="en-US" altLang="ko-KR" sz="1000" b="1" dirty="0"/>
              <a:t> apt-get install -y </a:t>
            </a:r>
            <a:r>
              <a:rPr lang="en-US" altLang="ko-KR" sz="1000" b="1" dirty="0" err="1">
                <a:solidFill>
                  <a:srgbClr val="FF0000"/>
                </a:solidFill>
              </a:rPr>
              <a:t>kubelet</a:t>
            </a:r>
            <a:r>
              <a:rPr lang="en-US" altLang="ko-KR" sz="1000" b="1" dirty="0">
                <a:solidFill>
                  <a:srgbClr val="FF0000"/>
                </a:solidFill>
              </a:rPr>
              <a:t> </a:t>
            </a:r>
            <a:r>
              <a:rPr lang="en-US" altLang="ko-KR" sz="1000" b="1" dirty="0" err="1">
                <a:solidFill>
                  <a:srgbClr val="FF0000"/>
                </a:solidFill>
              </a:rPr>
              <a:t>kubeadm</a:t>
            </a:r>
            <a:r>
              <a:rPr lang="en-US" altLang="ko-KR" sz="1000" b="1" dirty="0">
                <a:solidFill>
                  <a:srgbClr val="FF0000"/>
                </a:solidFill>
              </a:rPr>
              <a:t> </a:t>
            </a:r>
            <a:r>
              <a:rPr lang="en-US" altLang="ko-KR" sz="1000" b="1" dirty="0" err="1">
                <a:solidFill>
                  <a:srgbClr val="FF0000"/>
                </a:solidFill>
              </a:rPr>
              <a:t>kubectl</a:t>
            </a:r>
            <a:r>
              <a:rPr lang="en-US" altLang="ko-KR" sz="1000" b="1" dirty="0">
                <a:solidFill>
                  <a:srgbClr val="FF0000"/>
                </a:solidFill>
              </a:rPr>
              <a:t> </a:t>
            </a:r>
            <a:r>
              <a:rPr lang="en-US" altLang="ko-KR" sz="1000" b="1" dirty="0" err="1">
                <a:solidFill>
                  <a:srgbClr val="FF0000"/>
                </a:solidFill>
              </a:rPr>
              <a:t>kubernetes-cni</a:t>
            </a:r>
            <a:endParaRPr lang="en-US" altLang="ko-KR" sz="1000" b="1" dirty="0">
              <a:solidFill>
                <a:srgbClr val="FF0000"/>
              </a:solidFill>
            </a:endParaRPr>
          </a:p>
          <a:p>
            <a:r>
              <a:rPr lang="en-US" altLang="ko-KR" sz="1000" b="1" dirty="0"/>
              <a:t>$ </a:t>
            </a:r>
            <a:r>
              <a:rPr lang="en-US" altLang="ko-KR" sz="1000" b="1" dirty="0" err="1"/>
              <a:t>sudo</a:t>
            </a:r>
            <a:r>
              <a:rPr lang="en-US" altLang="ko-KR" sz="1000" b="1" dirty="0"/>
              <a:t> apt-mark hold </a:t>
            </a:r>
            <a:r>
              <a:rPr lang="en-US" altLang="ko-KR" sz="1000" b="1" dirty="0" err="1">
                <a:solidFill>
                  <a:srgbClr val="FF0000"/>
                </a:solidFill>
              </a:rPr>
              <a:t>kubelet</a:t>
            </a:r>
            <a:r>
              <a:rPr lang="en-US" altLang="ko-KR" sz="1000" b="1" dirty="0">
                <a:solidFill>
                  <a:srgbClr val="FF0000"/>
                </a:solidFill>
              </a:rPr>
              <a:t> </a:t>
            </a:r>
            <a:r>
              <a:rPr lang="en-US" altLang="ko-KR" sz="1000" b="1" dirty="0" err="1">
                <a:solidFill>
                  <a:srgbClr val="FF0000"/>
                </a:solidFill>
              </a:rPr>
              <a:t>kubeadm</a:t>
            </a:r>
            <a:r>
              <a:rPr lang="en-US" altLang="ko-KR" sz="1000" b="1" dirty="0">
                <a:solidFill>
                  <a:srgbClr val="FF0000"/>
                </a:solidFill>
              </a:rPr>
              <a:t> </a:t>
            </a:r>
            <a:r>
              <a:rPr lang="en-US" altLang="ko-KR" sz="1000" b="1" dirty="0" err="1">
                <a:solidFill>
                  <a:srgbClr val="FF0000"/>
                </a:solidFill>
              </a:rPr>
              <a:t>kubectl</a:t>
            </a:r>
            <a:endParaRPr lang="en-US" altLang="ko-KR" sz="1000" b="1" dirty="0">
              <a:solidFill>
                <a:srgbClr val="FF0000"/>
              </a:solidFill>
            </a:endParaRPr>
          </a:p>
        </p:txBody>
      </p:sp>
    </p:spTree>
    <p:extLst>
      <p:ext uri="{BB962C8B-B14F-4D97-AF65-F5344CB8AC3E}">
        <p14:creationId xmlns:p14="http://schemas.microsoft.com/office/powerpoint/2010/main" val="325340510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Firewall Setting</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Disabling Firewall in Ubuntu :</a:t>
            </a:r>
          </a:p>
          <a:p>
            <a:pPr lvl="1">
              <a:buFont typeface="Wingdings" panose="05000000000000000000" pitchFamily="2" charset="2"/>
              <a:buChar char="§"/>
            </a:pPr>
            <a:r>
              <a:rPr lang="en-US" altLang="ko-KR" sz="1400" dirty="0"/>
              <a:t>If there is a problem to communicate with other nodes, you need to </a:t>
            </a:r>
            <a:r>
              <a:rPr lang="en-US" altLang="ko-KR" sz="1400" b="1" dirty="0"/>
              <a:t>disable firewall setting</a:t>
            </a:r>
            <a:r>
              <a:rPr lang="en-US" altLang="ko-KR" sz="1400" dirty="0"/>
              <a:t> in Ubuntu. Do the following command and check the status. For </a:t>
            </a:r>
            <a:r>
              <a:rPr lang="en-US" altLang="ko-KR" sz="1400" b="1" dirty="0"/>
              <a:t>CentOS</a:t>
            </a:r>
            <a:r>
              <a:rPr lang="en-US" altLang="ko-KR" sz="1400" dirty="0"/>
              <a:t>, you also need to </a:t>
            </a:r>
            <a:r>
              <a:rPr lang="en-US" altLang="ko-KR" sz="1400" b="1" dirty="0"/>
              <a:t>disable </a:t>
            </a:r>
            <a:r>
              <a:rPr lang="en-US" altLang="ko-KR" sz="1400" b="1" dirty="0" err="1"/>
              <a:t>SELinux</a:t>
            </a:r>
            <a:r>
              <a:rPr lang="en-US" altLang="ko-KR" sz="1400" b="1" dirty="0"/>
              <a:t>(Secure Linux) </a:t>
            </a:r>
            <a:r>
              <a:rPr lang="en-US" altLang="ko-KR" sz="1400" dirty="0"/>
              <a:t>feature.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6C76C987-1D30-4714-A74C-F1FE32E4BB2D}"/>
              </a:ext>
            </a:extLst>
          </p:cNvPr>
          <p:cNvGrpSpPr/>
          <p:nvPr/>
        </p:nvGrpSpPr>
        <p:grpSpPr>
          <a:xfrm>
            <a:off x="1333500" y="2145060"/>
            <a:ext cx="9525000" cy="2567880"/>
            <a:chOff x="1333499" y="1729740"/>
            <a:chExt cx="9525000" cy="2567880"/>
          </a:xfrm>
        </p:grpSpPr>
        <p:sp>
          <p:nvSpPr>
            <p:cNvPr id="4" name="TextBox 3">
              <a:extLst>
                <a:ext uri="{FF2B5EF4-FFF2-40B4-BE49-F238E27FC236}">
                  <a16:creationId xmlns:a16="http://schemas.microsoft.com/office/drawing/2014/main" id="{FA0B4C45-C60D-43FB-BD24-185FB8438183}"/>
                </a:ext>
              </a:extLst>
            </p:cNvPr>
            <p:cNvSpPr txBox="1"/>
            <p:nvPr/>
          </p:nvSpPr>
          <p:spPr>
            <a:xfrm>
              <a:off x="4421179" y="1729740"/>
              <a:ext cx="3349641" cy="400110"/>
            </a:xfrm>
            <a:prstGeom prst="rect">
              <a:avLst/>
            </a:prstGeom>
            <a:noFill/>
            <a:ln>
              <a:solidFill>
                <a:schemeClr val="bg1">
                  <a:lumMod val="50000"/>
                </a:schemeClr>
              </a:solidFill>
            </a:ln>
          </p:spPr>
          <p:txBody>
            <a:bodyPr wrap="square" rtlCol="0">
              <a:spAutoFit/>
            </a:bodyPr>
            <a:lstStyle/>
            <a:p>
              <a:r>
                <a:rPr lang="en-US" altLang="ko-KR" sz="1000" b="1" dirty="0"/>
                <a:t>$ </a:t>
              </a:r>
              <a:r>
                <a:rPr lang="en-US" altLang="ko-KR" sz="1000" b="1" dirty="0" err="1"/>
                <a:t>sudo</a:t>
              </a:r>
              <a:r>
                <a:rPr lang="en-US" altLang="ko-KR" sz="1000" b="1" dirty="0"/>
                <a:t> </a:t>
              </a:r>
              <a:r>
                <a:rPr lang="en-US" altLang="ko-KR" sz="1000" b="1" dirty="0" err="1"/>
                <a:t>ufw</a:t>
              </a:r>
              <a:r>
                <a:rPr lang="en-US" altLang="ko-KR" sz="1000" b="1" dirty="0"/>
                <a:t> disable</a:t>
              </a:r>
            </a:p>
            <a:p>
              <a:r>
                <a:rPr lang="en-US" altLang="ko-KR" sz="1000" b="1" dirty="0"/>
                <a:t>$ </a:t>
              </a:r>
              <a:r>
                <a:rPr lang="en-US" altLang="ko-KR" sz="1000" b="1" dirty="0" err="1"/>
                <a:t>sudo</a:t>
              </a:r>
              <a:r>
                <a:rPr lang="en-US" altLang="ko-KR" sz="1000" b="1" dirty="0"/>
                <a:t> </a:t>
              </a:r>
              <a:r>
                <a:rPr lang="en-US" altLang="ko-KR" sz="1000" b="1" dirty="0" err="1"/>
                <a:t>ufw</a:t>
              </a:r>
              <a:r>
                <a:rPr lang="en-US" altLang="ko-KR" sz="1000" b="1" dirty="0"/>
                <a:t> status</a:t>
              </a:r>
              <a:endParaRPr lang="ko-KR" altLang="en-US" sz="1000" b="1" dirty="0"/>
            </a:p>
          </p:txBody>
        </p:sp>
        <p:sp>
          <p:nvSpPr>
            <p:cNvPr id="8" name="화살표: 아래쪽 7">
              <a:extLst>
                <a:ext uri="{FF2B5EF4-FFF2-40B4-BE49-F238E27FC236}">
                  <a16:creationId xmlns:a16="http://schemas.microsoft.com/office/drawing/2014/main" id="{11203E91-81C5-4681-BCDB-4A862AFAACF5}"/>
                </a:ext>
              </a:extLst>
            </p:cNvPr>
            <p:cNvSpPr/>
            <p:nvPr/>
          </p:nvSpPr>
          <p:spPr>
            <a:xfrm>
              <a:off x="5882639" y="2156460"/>
              <a:ext cx="426720" cy="304800"/>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9" name="그림 8">
              <a:extLst>
                <a:ext uri="{FF2B5EF4-FFF2-40B4-BE49-F238E27FC236}">
                  <a16:creationId xmlns:a16="http://schemas.microsoft.com/office/drawing/2014/main" id="{9C93379B-44FA-4CC5-BA71-74857B8DA91D}"/>
                </a:ext>
              </a:extLst>
            </p:cNvPr>
            <p:cNvPicPr>
              <a:picLocks noChangeAspect="1"/>
            </p:cNvPicPr>
            <p:nvPr/>
          </p:nvPicPr>
          <p:blipFill>
            <a:blip r:embed="rId2"/>
            <a:stretch>
              <a:fillRect/>
            </a:stretch>
          </p:blipFill>
          <p:spPr>
            <a:xfrm>
              <a:off x="1333499" y="2487870"/>
              <a:ext cx="9525000" cy="1809750"/>
            </a:xfrm>
            <a:prstGeom prst="rect">
              <a:avLst/>
            </a:prstGeom>
            <a:ln>
              <a:solidFill>
                <a:schemeClr val="bg1">
                  <a:lumMod val="50000"/>
                </a:schemeClr>
              </a:solidFill>
            </a:ln>
          </p:spPr>
        </p:pic>
      </p:grpSp>
    </p:spTree>
    <p:extLst>
      <p:ext uri="{BB962C8B-B14F-4D97-AF65-F5344CB8AC3E}">
        <p14:creationId xmlns:p14="http://schemas.microsoft.com/office/powerpoint/2010/main" val="99427424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Kubernetes</a:t>
            </a:r>
            <a:r>
              <a:rPr lang="ko-KR" altLang="en-US" sz="2800" b="1" dirty="0"/>
              <a:t> </a:t>
            </a:r>
            <a:r>
              <a:rPr lang="en-US" altLang="ko-KR" sz="2800" b="1" dirty="0"/>
              <a:t>Cluster(9/13)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Initializing Kubernetes Cluster :</a:t>
            </a:r>
          </a:p>
          <a:p>
            <a:pPr lvl="1">
              <a:buFont typeface="Wingdings" panose="05000000000000000000" pitchFamily="2" charset="2"/>
              <a:buChar char="§"/>
            </a:pPr>
            <a:r>
              <a:rPr lang="en-US" altLang="ko-KR" sz="1400" b="1" dirty="0"/>
              <a:t>In master node</a:t>
            </a:r>
            <a:r>
              <a:rPr lang="en-US" altLang="ko-KR" sz="1400" dirty="0"/>
              <a:t>, you can start the Kubernetes cluster with “</a:t>
            </a:r>
            <a:r>
              <a:rPr lang="en-US" altLang="ko-KR" sz="1400" b="1" dirty="0" err="1"/>
              <a:t>kubeadm</a:t>
            </a:r>
            <a:r>
              <a:rPr lang="en-US" altLang="ko-KR" sz="1400" b="1" dirty="0"/>
              <a:t> </a:t>
            </a:r>
            <a:r>
              <a:rPr lang="en-US" altLang="ko-KR" sz="1400" b="1" dirty="0" err="1"/>
              <a:t>init</a:t>
            </a:r>
            <a:r>
              <a:rPr lang="en-US" altLang="ko-KR" sz="1400" dirty="0"/>
              <a:t>” command.</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50B8B55E-E713-4D54-8037-37D3C84A1E29}"/>
              </a:ext>
            </a:extLst>
          </p:cNvPr>
          <p:cNvSpPr/>
          <p:nvPr/>
        </p:nvSpPr>
        <p:spPr>
          <a:xfrm>
            <a:off x="1792605" y="1581835"/>
            <a:ext cx="8606790" cy="553998"/>
          </a:xfrm>
          <a:prstGeom prst="rect">
            <a:avLst/>
          </a:prstGeom>
          <a:ln>
            <a:solidFill>
              <a:schemeClr val="bg1">
                <a:lumMod val="50000"/>
              </a:schemeClr>
            </a:solidFill>
          </a:ln>
        </p:spPr>
        <p:txBody>
          <a:bodyPr wrap="square">
            <a:spAutoFit/>
          </a:bodyPr>
          <a:lstStyle/>
          <a:p>
            <a:r>
              <a:rPr lang="en-US" altLang="ko-KR" sz="1000" b="1" dirty="0"/>
              <a:t>$ </a:t>
            </a:r>
            <a:r>
              <a:rPr lang="en-US" altLang="ko-KR" sz="1000" b="1" dirty="0" err="1"/>
              <a:t>sudo</a:t>
            </a:r>
            <a:r>
              <a:rPr lang="en-US" altLang="ko-KR" sz="1000" b="1" dirty="0"/>
              <a:t> </a:t>
            </a:r>
            <a:r>
              <a:rPr lang="en-US" altLang="ko-KR" sz="1000" b="1" dirty="0" err="1"/>
              <a:t>kubeadm</a:t>
            </a:r>
            <a:r>
              <a:rPr lang="en-US" altLang="ko-KR" sz="1000" b="1" dirty="0"/>
              <a:t> </a:t>
            </a:r>
            <a:r>
              <a:rPr lang="en-US" altLang="ko-KR" sz="1000" b="1" dirty="0" err="1"/>
              <a:t>init</a:t>
            </a:r>
            <a:r>
              <a:rPr lang="en-US" altLang="ko-KR" sz="1000" b="1" dirty="0"/>
              <a:t> --</a:t>
            </a:r>
            <a:r>
              <a:rPr lang="en-US" altLang="ko-KR" sz="1000" b="1" dirty="0" err="1"/>
              <a:t>apiserver</a:t>
            </a:r>
            <a:r>
              <a:rPr lang="en-US" altLang="ko-KR" sz="1000" b="1" dirty="0"/>
              <a:t>-advertise-address </a:t>
            </a:r>
            <a:r>
              <a:rPr lang="en-US" altLang="ko-KR" sz="1000" b="1" dirty="0">
                <a:solidFill>
                  <a:srgbClr val="FF0000"/>
                </a:solidFill>
              </a:rPr>
              <a:t>&lt;MASTER NODE IP ADDRESS&gt;</a:t>
            </a:r>
            <a:r>
              <a:rPr lang="en-US" altLang="ko-KR" sz="1000" b="1" dirty="0"/>
              <a:t> --pod-network-</a:t>
            </a:r>
            <a:r>
              <a:rPr lang="en-US" altLang="ko-KR" sz="1000" b="1" dirty="0" err="1"/>
              <a:t>cidr</a:t>
            </a:r>
            <a:r>
              <a:rPr lang="en-US" altLang="ko-KR" sz="1000" b="1" dirty="0"/>
              <a:t>=</a:t>
            </a:r>
            <a:r>
              <a:rPr lang="en-US" altLang="ko-KR" sz="1000" b="1" dirty="0">
                <a:solidFill>
                  <a:srgbClr val="FF0000"/>
                </a:solidFill>
              </a:rPr>
              <a:t>&lt;CLUSTER NODE IP ADDRESSES&gt;</a:t>
            </a:r>
          </a:p>
          <a:p>
            <a:endParaRPr lang="en-US" altLang="ko-KR" sz="1000" b="1" dirty="0">
              <a:solidFill>
                <a:srgbClr val="FF0000"/>
              </a:solidFill>
            </a:endParaRPr>
          </a:p>
          <a:p>
            <a:r>
              <a:rPr lang="en-US" altLang="ko-KR" sz="1000" b="1" dirty="0"/>
              <a:t>ex) $ </a:t>
            </a:r>
            <a:r>
              <a:rPr lang="en-US" altLang="ko-KR" sz="1000" b="1" dirty="0" err="1"/>
              <a:t>sudo</a:t>
            </a:r>
            <a:r>
              <a:rPr lang="en-US" altLang="ko-KR" sz="1000" b="1" dirty="0"/>
              <a:t> </a:t>
            </a:r>
            <a:r>
              <a:rPr lang="en-US" altLang="ko-KR" sz="1000" b="1" dirty="0" err="1"/>
              <a:t>kubeadm</a:t>
            </a:r>
            <a:r>
              <a:rPr lang="en-US" altLang="ko-KR" sz="1000" b="1" dirty="0"/>
              <a:t> </a:t>
            </a:r>
            <a:r>
              <a:rPr lang="en-US" altLang="ko-KR" sz="1000" b="1" dirty="0" err="1"/>
              <a:t>init</a:t>
            </a:r>
            <a:r>
              <a:rPr lang="en-US" altLang="ko-KR" sz="1000" b="1" dirty="0"/>
              <a:t> --</a:t>
            </a:r>
            <a:r>
              <a:rPr lang="en-US" altLang="ko-KR" sz="1000" b="1" dirty="0" err="1"/>
              <a:t>apiserver</a:t>
            </a:r>
            <a:r>
              <a:rPr lang="en-US" altLang="ko-KR" sz="1000" b="1" dirty="0"/>
              <a:t>-advertise-address 172.16.10.90 --pod-network-</a:t>
            </a:r>
            <a:r>
              <a:rPr lang="en-US" altLang="ko-KR" sz="1000" b="1" dirty="0" err="1"/>
              <a:t>cidr</a:t>
            </a:r>
            <a:r>
              <a:rPr lang="en-US" altLang="ko-KR" sz="1000" b="1" dirty="0"/>
              <a:t>=192.168.10.0/2</a:t>
            </a:r>
            <a:endParaRPr lang="ko-KR" altLang="en-US" sz="1000" b="1" dirty="0"/>
          </a:p>
        </p:txBody>
      </p:sp>
      <p:grpSp>
        <p:nvGrpSpPr>
          <p:cNvPr id="16" name="그룹 15">
            <a:extLst>
              <a:ext uri="{FF2B5EF4-FFF2-40B4-BE49-F238E27FC236}">
                <a16:creationId xmlns:a16="http://schemas.microsoft.com/office/drawing/2014/main" id="{E5ED1E3F-373E-440B-A533-185459DD66DC}"/>
              </a:ext>
            </a:extLst>
          </p:cNvPr>
          <p:cNvGrpSpPr/>
          <p:nvPr/>
        </p:nvGrpSpPr>
        <p:grpSpPr>
          <a:xfrm>
            <a:off x="1102705" y="2333127"/>
            <a:ext cx="9986590" cy="3955709"/>
            <a:chOff x="1102705" y="2333127"/>
            <a:chExt cx="9986590" cy="3955709"/>
          </a:xfrm>
        </p:grpSpPr>
        <p:grpSp>
          <p:nvGrpSpPr>
            <p:cNvPr id="14" name="그룹 13">
              <a:extLst>
                <a:ext uri="{FF2B5EF4-FFF2-40B4-BE49-F238E27FC236}">
                  <a16:creationId xmlns:a16="http://schemas.microsoft.com/office/drawing/2014/main" id="{7FDA0ABB-C41F-4D95-B7FD-54364D7357F8}"/>
                </a:ext>
              </a:extLst>
            </p:cNvPr>
            <p:cNvGrpSpPr/>
            <p:nvPr/>
          </p:nvGrpSpPr>
          <p:grpSpPr>
            <a:xfrm>
              <a:off x="1102705" y="2333127"/>
              <a:ext cx="9986590" cy="3955709"/>
              <a:chOff x="1102705" y="2333127"/>
              <a:chExt cx="9986590" cy="3955709"/>
            </a:xfrm>
          </p:grpSpPr>
          <p:grpSp>
            <p:nvGrpSpPr>
              <p:cNvPr id="12" name="그룹 11">
                <a:extLst>
                  <a:ext uri="{FF2B5EF4-FFF2-40B4-BE49-F238E27FC236}">
                    <a16:creationId xmlns:a16="http://schemas.microsoft.com/office/drawing/2014/main" id="{FF85AEBC-3599-4585-BF13-7D5C22C017AE}"/>
                  </a:ext>
                </a:extLst>
              </p:cNvPr>
              <p:cNvGrpSpPr/>
              <p:nvPr/>
            </p:nvGrpSpPr>
            <p:grpSpPr>
              <a:xfrm>
                <a:off x="1102705" y="2333127"/>
                <a:ext cx="9986590" cy="3955709"/>
                <a:chOff x="1102705" y="2333127"/>
                <a:chExt cx="9986590" cy="3955709"/>
              </a:xfrm>
            </p:grpSpPr>
            <p:pic>
              <p:nvPicPr>
                <p:cNvPr id="9" name="그림 8">
                  <a:extLst>
                    <a:ext uri="{FF2B5EF4-FFF2-40B4-BE49-F238E27FC236}">
                      <a16:creationId xmlns:a16="http://schemas.microsoft.com/office/drawing/2014/main" id="{E7570D77-F6FA-4E29-9DAB-0CADAB9BA52A}"/>
                    </a:ext>
                  </a:extLst>
                </p:cNvPr>
                <p:cNvPicPr>
                  <a:picLocks noChangeAspect="1"/>
                </p:cNvPicPr>
                <p:nvPr/>
              </p:nvPicPr>
              <p:blipFill>
                <a:blip r:embed="rId2"/>
                <a:stretch>
                  <a:fillRect/>
                </a:stretch>
              </p:blipFill>
              <p:spPr>
                <a:xfrm>
                  <a:off x="1102705" y="2882266"/>
                  <a:ext cx="9986590" cy="3406570"/>
                </a:xfrm>
                <a:prstGeom prst="rect">
                  <a:avLst/>
                </a:prstGeom>
                <a:ln>
                  <a:solidFill>
                    <a:schemeClr val="bg1">
                      <a:lumMod val="50000"/>
                    </a:schemeClr>
                  </a:solidFill>
                </a:ln>
              </p:spPr>
            </p:pic>
            <p:sp>
              <p:nvSpPr>
                <p:cNvPr id="10" name="TextBox 9">
                  <a:extLst>
                    <a:ext uri="{FF2B5EF4-FFF2-40B4-BE49-F238E27FC236}">
                      <a16:creationId xmlns:a16="http://schemas.microsoft.com/office/drawing/2014/main" id="{7001C74C-8D48-4C34-8217-A28BA2855989}"/>
                    </a:ext>
                  </a:extLst>
                </p:cNvPr>
                <p:cNvSpPr txBox="1"/>
                <p:nvPr/>
              </p:nvSpPr>
              <p:spPr>
                <a:xfrm>
                  <a:off x="2866607" y="2333127"/>
                  <a:ext cx="6458819" cy="246221"/>
                </a:xfrm>
                <a:prstGeom prst="rect">
                  <a:avLst/>
                </a:prstGeom>
                <a:noFill/>
                <a:ln>
                  <a:solidFill>
                    <a:schemeClr val="bg1">
                      <a:lumMod val="50000"/>
                    </a:schemeClr>
                  </a:solidFill>
                </a:ln>
              </p:spPr>
              <p:txBody>
                <a:bodyPr wrap="none" rtlCol="0">
                  <a:spAutoFit/>
                </a:bodyPr>
                <a:lstStyle/>
                <a:p>
                  <a:pPr algn="ctr"/>
                  <a:r>
                    <a:rPr lang="en-US" altLang="ko-KR" sz="1000" b="1" dirty="0"/>
                    <a:t>$ </a:t>
                  </a:r>
                  <a:r>
                    <a:rPr lang="en-US" altLang="ko-KR" sz="1000" b="1" dirty="0" err="1"/>
                    <a:t>sudo</a:t>
                  </a:r>
                  <a:r>
                    <a:rPr lang="en-US" altLang="ko-KR" sz="1000" b="1" dirty="0"/>
                    <a:t> </a:t>
                  </a:r>
                  <a:r>
                    <a:rPr lang="en-US" altLang="ko-KR" sz="1000" b="1" dirty="0" err="1"/>
                    <a:t>kubeadm</a:t>
                  </a:r>
                  <a:r>
                    <a:rPr lang="en-US" altLang="ko-KR" sz="1000" b="1" dirty="0"/>
                    <a:t> </a:t>
                  </a:r>
                  <a:r>
                    <a:rPr lang="en-US" altLang="ko-KR" sz="1000" b="1" dirty="0" err="1"/>
                    <a:t>init</a:t>
                  </a:r>
                  <a:r>
                    <a:rPr lang="en-US" altLang="ko-KR" sz="1000" b="1" dirty="0"/>
                    <a:t> </a:t>
                  </a:r>
                  <a:r>
                    <a:rPr lang="en-US" altLang="ko-KR" sz="1000" b="1" dirty="0">
                      <a:solidFill>
                        <a:srgbClr val="FF0000"/>
                      </a:solidFill>
                    </a:rPr>
                    <a:t>--</a:t>
                  </a:r>
                  <a:r>
                    <a:rPr lang="en-US" altLang="ko-KR" sz="1000" b="1" dirty="0" err="1">
                      <a:solidFill>
                        <a:srgbClr val="FF0000"/>
                      </a:solidFill>
                    </a:rPr>
                    <a:t>apiserver</a:t>
                  </a:r>
                  <a:r>
                    <a:rPr lang="en-US" altLang="ko-KR" sz="1000" b="1" dirty="0">
                      <a:solidFill>
                        <a:srgbClr val="FF0000"/>
                      </a:solidFill>
                    </a:rPr>
                    <a:t>-advertise-address 192.168.100.31 --pod-network-</a:t>
                  </a:r>
                  <a:r>
                    <a:rPr lang="en-US" altLang="ko-KR" sz="1000" b="1" dirty="0" err="1">
                      <a:solidFill>
                        <a:srgbClr val="FF0000"/>
                      </a:solidFill>
                    </a:rPr>
                    <a:t>cidr</a:t>
                  </a:r>
                  <a:r>
                    <a:rPr lang="en-US" altLang="ko-KR" sz="1000" b="1" dirty="0">
                      <a:solidFill>
                        <a:srgbClr val="FF0000"/>
                      </a:solidFill>
                    </a:rPr>
                    <a:t>=172.16.0.0/16</a:t>
                  </a:r>
                  <a:endParaRPr lang="ko-KR" altLang="en-US" sz="1000" b="1" dirty="0">
                    <a:solidFill>
                      <a:srgbClr val="FF0000"/>
                    </a:solidFill>
                  </a:endParaRPr>
                </a:p>
              </p:txBody>
            </p:sp>
            <p:sp>
              <p:nvSpPr>
                <p:cNvPr id="11" name="화살표: 아래쪽 10">
                  <a:extLst>
                    <a:ext uri="{FF2B5EF4-FFF2-40B4-BE49-F238E27FC236}">
                      <a16:creationId xmlns:a16="http://schemas.microsoft.com/office/drawing/2014/main" id="{4A3ADB92-50D1-4CD5-BBF3-EE0BA054468A}"/>
                    </a:ext>
                  </a:extLst>
                </p:cNvPr>
                <p:cNvSpPr/>
                <p:nvPr/>
              </p:nvSpPr>
              <p:spPr>
                <a:xfrm>
                  <a:off x="5890260" y="2588874"/>
                  <a:ext cx="411480" cy="293392"/>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3" name="직사각형 12">
                <a:extLst>
                  <a:ext uri="{FF2B5EF4-FFF2-40B4-BE49-F238E27FC236}">
                    <a16:creationId xmlns:a16="http://schemas.microsoft.com/office/drawing/2014/main" id="{B3672B4E-6244-4B2B-B986-4984496974F6}"/>
                  </a:ext>
                </a:extLst>
              </p:cNvPr>
              <p:cNvSpPr/>
              <p:nvPr/>
            </p:nvSpPr>
            <p:spPr>
              <a:xfrm>
                <a:off x="1211580" y="5722620"/>
                <a:ext cx="6705600" cy="29339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5" name="직사각형 14">
              <a:extLst>
                <a:ext uri="{FF2B5EF4-FFF2-40B4-BE49-F238E27FC236}">
                  <a16:creationId xmlns:a16="http://schemas.microsoft.com/office/drawing/2014/main" id="{2C808EE6-D37C-47C5-BF11-19009C154004}"/>
                </a:ext>
              </a:extLst>
            </p:cNvPr>
            <p:cNvSpPr/>
            <p:nvPr/>
          </p:nvSpPr>
          <p:spPr>
            <a:xfrm>
              <a:off x="1295400" y="3893820"/>
              <a:ext cx="3543300" cy="48006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99211734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Kubernetes</a:t>
            </a:r>
            <a:r>
              <a:rPr lang="ko-KR" altLang="en-US" sz="2800" b="1" dirty="0"/>
              <a:t> </a:t>
            </a:r>
            <a:r>
              <a:rPr lang="en-US" altLang="ko-KR" sz="2800" b="1" dirty="0"/>
              <a:t>Cluster(10/13)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Configuring Kubernetes Cluster :</a:t>
            </a:r>
          </a:p>
          <a:p>
            <a:pPr lvl="1">
              <a:buFont typeface="Wingdings" panose="05000000000000000000" pitchFamily="2" charset="2"/>
              <a:buChar char="§"/>
            </a:pPr>
            <a:r>
              <a:rPr lang="en-US" altLang="ko-KR" sz="1400" b="1" dirty="0"/>
              <a:t>NOTICE : If you meet some errors like “</a:t>
            </a:r>
            <a:r>
              <a:rPr lang="en-US" altLang="ko-KR" sz="1400" b="1" dirty="0" err="1"/>
              <a:t>xxxx</a:t>
            </a:r>
            <a:r>
              <a:rPr lang="en-US" altLang="ko-KR" sz="1400" b="1" dirty="0"/>
              <a:t> ports are already in use”, then just reset with “$ </a:t>
            </a:r>
            <a:r>
              <a:rPr lang="en-US" altLang="ko-KR" sz="1400" b="1" dirty="0" err="1">
                <a:solidFill>
                  <a:srgbClr val="FF0000"/>
                </a:solidFill>
              </a:rPr>
              <a:t>sudo</a:t>
            </a:r>
            <a:r>
              <a:rPr lang="en-US" altLang="ko-KR" sz="1400" b="1" dirty="0">
                <a:solidFill>
                  <a:srgbClr val="FF0000"/>
                </a:solidFill>
              </a:rPr>
              <a:t> </a:t>
            </a:r>
            <a:r>
              <a:rPr lang="en-US" altLang="ko-KR" sz="1400" b="1" dirty="0" err="1">
                <a:solidFill>
                  <a:srgbClr val="FF0000"/>
                </a:solidFill>
              </a:rPr>
              <a:t>kubeadm</a:t>
            </a:r>
            <a:r>
              <a:rPr lang="en-US" altLang="ko-KR" sz="1400" b="1" dirty="0">
                <a:solidFill>
                  <a:srgbClr val="FF0000"/>
                </a:solidFill>
              </a:rPr>
              <a:t> reset</a:t>
            </a:r>
            <a:r>
              <a:rPr lang="en-US" altLang="ko-KR" sz="1400" b="1" dirty="0"/>
              <a:t>” command</a:t>
            </a:r>
            <a:r>
              <a:rPr lang="en-US" altLang="ko-KR" sz="1400" dirty="0"/>
              <a:t>. It will revert all changes made by “</a:t>
            </a:r>
            <a:r>
              <a:rPr lang="en-US" altLang="ko-KR" sz="1400" b="1" dirty="0" err="1"/>
              <a:t>kubeadm</a:t>
            </a:r>
            <a:r>
              <a:rPr lang="en-US" altLang="ko-KR" sz="1400" b="1" dirty="0"/>
              <a:t> </a:t>
            </a:r>
            <a:r>
              <a:rPr lang="en-US" altLang="ko-KR" sz="1400" b="1" dirty="0" err="1"/>
              <a:t>init</a:t>
            </a:r>
            <a:r>
              <a:rPr lang="en-US" altLang="ko-KR" sz="1400" dirty="0"/>
              <a:t>” and </a:t>
            </a:r>
            <a:r>
              <a:rPr lang="en-US" altLang="ko-KR" sz="1400" b="1" dirty="0" err="1"/>
              <a:t>kubeadm</a:t>
            </a:r>
            <a:r>
              <a:rPr lang="en-US" altLang="ko-KR" sz="1400" b="1" dirty="0"/>
              <a:t> join</a:t>
            </a:r>
            <a:r>
              <a:rPr lang="en-US" altLang="ko-KR" sz="1400" dirty="0"/>
              <a:t>” commands. Then try again with “</a:t>
            </a:r>
            <a:r>
              <a:rPr lang="en-US" altLang="ko-KR" sz="1400" b="1" dirty="0"/>
              <a:t>$ </a:t>
            </a:r>
            <a:r>
              <a:rPr lang="en-US" altLang="ko-KR" sz="1400" b="1" dirty="0" err="1"/>
              <a:t>sudo</a:t>
            </a:r>
            <a:r>
              <a:rPr lang="en-US" altLang="ko-KR" sz="1400" b="1" dirty="0"/>
              <a:t> </a:t>
            </a:r>
            <a:r>
              <a:rPr lang="en-US" altLang="ko-KR" sz="1400" b="1" dirty="0" err="1"/>
              <a:t>kubeadm</a:t>
            </a:r>
            <a:r>
              <a:rPr lang="en-US" altLang="ko-KR" sz="1400" b="1" dirty="0"/>
              <a:t> </a:t>
            </a:r>
            <a:r>
              <a:rPr lang="en-US" altLang="ko-KR" sz="1400" b="1" dirty="0" err="1"/>
              <a:t>init</a:t>
            </a:r>
            <a:r>
              <a:rPr lang="en-US" altLang="ko-KR" sz="1400" dirty="0"/>
              <a:t>” command.</a:t>
            </a:r>
          </a:p>
          <a:p>
            <a:pPr lvl="1">
              <a:buFont typeface="Wingdings" panose="05000000000000000000" pitchFamily="2" charset="2"/>
              <a:buChar char="§"/>
            </a:pPr>
            <a:r>
              <a:rPr lang="en-US" altLang="ko-KR" sz="1400" b="1" dirty="0"/>
              <a:t>In master node</a:t>
            </a:r>
            <a:r>
              <a:rPr lang="en-US" altLang="ko-KR" sz="1400" dirty="0"/>
              <a:t>, you need to do some more. See the result of the previous command like the following lines :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Do all the commands in master node</a:t>
            </a:r>
            <a:r>
              <a:rPr lang="en-US" altLang="ko-KR" sz="1400" dirty="0"/>
              <a:t>. </a:t>
            </a:r>
          </a:p>
          <a:p>
            <a:pPr lvl="1">
              <a:buFont typeface="Wingdings" panose="05000000000000000000" pitchFamily="2" charset="2"/>
              <a:buChar char="§"/>
            </a:pPr>
            <a:r>
              <a:rPr lang="en-US" altLang="ko-KR" sz="1400" b="1" dirty="0"/>
              <a:t>NOTE : There is a “</a:t>
            </a:r>
            <a:r>
              <a:rPr lang="en-US" altLang="ko-KR" sz="1400" b="1" dirty="0">
                <a:solidFill>
                  <a:srgbClr val="FF0000"/>
                </a:solidFill>
              </a:rPr>
              <a:t>.</a:t>
            </a:r>
            <a:r>
              <a:rPr lang="en-US" altLang="ko-KR" sz="1400" b="1" dirty="0" err="1">
                <a:solidFill>
                  <a:srgbClr val="FF0000"/>
                </a:solidFill>
              </a:rPr>
              <a:t>kube</a:t>
            </a:r>
            <a:r>
              <a:rPr lang="en-US" altLang="ko-KR" sz="1400" b="1" dirty="0"/>
              <a:t>” directory already in your home directory if you already run some Kubernetes commands before</a:t>
            </a:r>
            <a:r>
              <a:rPr lang="en-US" altLang="ko-KR" sz="1400" dirty="0"/>
              <a:t>. </a:t>
            </a:r>
          </a:p>
          <a:p>
            <a:pPr lvl="1">
              <a:buFont typeface="Wingdings" panose="05000000000000000000" pitchFamily="2" charset="2"/>
              <a:buChar char="§"/>
            </a:pPr>
            <a:endParaRPr lang="en-US" altLang="ko-KR" sz="1400"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11" name="직사각형 10">
            <a:extLst>
              <a:ext uri="{FF2B5EF4-FFF2-40B4-BE49-F238E27FC236}">
                <a16:creationId xmlns:a16="http://schemas.microsoft.com/office/drawing/2014/main" id="{3B09F47E-220E-4234-92B5-C266AB088FD0}"/>
              </a:ext>
            </a:extLst>
          </p:cNvPr>
          <p:cNvSpPr/>
          <p:nvPr/>
        </p:nvSpPr>
        <p:spPr>
          <a:xfrm>
            <a:off x="3048000" y="2244306"/>
            <a:ext cx="6096000" cy="553998"/>
          </a:xfrm>
          <a:prstGeom prst="rect">
            <a:avLst/>
          </a:prstGeom>
          <a:ln>
            <a:solidFill>
              <a:schemeClr val="bg1">
                <a:lumMod val="50000"/>
              </a:schemeClr>
            </a:solidFill>
          </a:ln>
        </p:spPr>
        <p:txBody>
          <a:bodyPr>
            <a:spAutoFit/>
          </a:bodyPr>
          <a:lstStyle/>
          <a:p>
            <a:r>
              <a:rPr lang="en-US" altLang="ko-KR" sz="1000" b="1" dirty="0"/>
              <a:t>$ </a:t>
            </a:r>
            <a:r>
              <a:rPr lang="en-US" altLang="ko-KR" sz="1000" b="1" dirty="0" err="1">
                <a:solidFill>
                  <a:srgbClr val="FF0000"/>
                </a:solidFill>
              </a:rPr>
              <a:t>mkdir</a:t>
            </a:r>
            <a:r>
              <a:rPr lang="en-US" altLang="ko-KR" sz="1000" b="1" dirty="0">
                <a:solidFill>
                  <a:srgbClr val="FF0000"/>
                </a:solidFill>
              </a:rPr>
              <a:t> -p $HOME/.</a:t>
            </a:r>
            <a:r>
              <a:rPr lang="en-US" altLang="ko-KR" sz="1000" b="1" dirty="0" err="1">
                <a:solidFill>
                  <a:srgbClr val="FF0000"/>
                </a:solidFill>
              </a:rPr>
              <a:t>kube</a:t>
            </a:r>
            <a:endParaRPr lang="en-US" altLang="ko-KR" sz="1000" b="1" dirty="0">
              <a:solidFill>
                <a:srgbClr val="FF0000"/>
              </a:solidFill>
            </a:endParaRPr>
          </a:p>
          <a:p>
            <a:r>
              <a:rPr lang="en-US" altLang="ko-KR" sz="1000" b="1" dirty="0"/>
              <a:t>$ </a:t>
            </a:r>
            <a:r>
              <a:rPr lang="en-US" altLang="ko-KR" sz="1000" b="1" dirty="0" err="1"/>
              <a:t>sudo</a:t>
            </a:r>
            <a:r>
              <a:rPr lang="en-US" altLang="ko-KR" sz="1000" b="1" dirty="0"/>
              <a:t> cp -</a:t>
            </a:r>
            <a:r>
              <a:rPr lang="en-US" altLang="ko-KR" sz="1000" b="1" dirty="0" err="1"/>
              <a:t>i</a:t>
            </a:r>
            <a:r>
              <a:rPr lang="en-US" altLang="ko-KR" sz="1000" b="1" dirty="0"/>
              <a:t> /</a:t>
            </a:r>
            <a:r>
              <a:rPr lang="en-US" altLang="ko-KR" sz="1000" b="1" dirty="0" err="1"/>
              <a:t>etc</a:t>
            </a:r>
            <a:r>
              <a:rPr lang="en-US" altLang="ko-KR" sz="1000" b="1" dirty="0"/>
              <a:t>/</a:t>
            </a:r>
            <a:r>
              <a:rPr lang="en-US" altLang="ko-KR" sz="1000" b="1" dirty="0" err="1"/>
              <a:t>kubernetes</a:t>
            </a:r>
            <a:r>
              <a:rPr lang="en-US" altLang="ko-KR" sz="1000" b="1" dirty="0"/>
              <a:t>/</a:t>
            </a:r>
            <a:r>
              <a:rPr lang="en-US" altLang="ko-KR" sz="1000" b="1" dirty="0" err="1"/>
              <a:t>admin.conf</a:t>
            </a:r>
            <a:r>
              <a:rPr lang="en-US" altLang="ko-KR" sz="1000" b="1" dirty="0"/>
              <a:t> $HOME/.</a:t>
            </a:r>
            <a:r>
              <a:rPr lang="en-US" altLang="ko-KR" sz="1000" b="1" dirty="0" err="1"/>
              <a:t>kube</a:t>
            </a:r>
            <a:r>
              <a:rPr lang="en-US" altLang="ko-KR" sz="1000" b="1" dirty="0"/>
              <a:t>/config</a:t>
            </a:r>
          </a:p>
          <a:p>
            <a:r>
              <a:rPr lang="en-US" altLang="ko-KR" sz="1000" b="1" dirty="0"/>
              <a:t>$ </a:t>
            </a:r>
            <a:r>
              <a:rPr lang="en-US" altLang="ko-KR" sz="1000" b="1" dirty="0" err="1"/>
              <a:t>sudo</a:t>
            </a:r>
            <a:r>
              <a:rPr lang="en-US" altLang="ko-KR" sz="1000" b="1" dirty="0"/>
              <a:t> </a:t>
            </a:r>
            <a:r>
              <a:rPr lang="en-US" altLang="ko-KR" sz="1000" b="1" dirty="0" err="1"/>
              <a:t>chown</a:t>
            </a:r>
            <a:r>
              <a:rPr lang="en-US" altLang="ko-KR" sz="1000" b="1" dirty="0"/>
              <a:t> $(id -u):$(id -g) $HOME/.</a:t>
            </a:r>
            <a:r>
              <a:rPr lang="en-US" altLang="ko-KR" sz="1000" b="1" dirty="0" err="1"/>
              <a:t>kube</a:t>
            </a:r>
            <a:r>
              <a:rPr lang="en-US" altLang="ko-KR" sz="1000" b="1" dirty="0"/>
              <a:t>/config</a:t>
            </a:r>
            <a:endParaRPr lang="ko-KR" altLang="en-US" sz="1000" b="1" dirty="0"/>
          </a:p>
        </p:txBody>
      </p:sp>
      <p:pic>
        <p:nvPicPr>
          <p:cNvPr id="12" name="그림 11">
            <a:extLst>
              <a:ext uri="{FF2B5EF4-FFF2-40B4-BE49-F238E27FC236}">
                <a16:creationId xmlns:a16="http://schemas.microsoft.com/office/drawing/2014/main" id="{0E000FD0-6CE3-4FA6-90CA-5DF9B828D395}"/>
              </a:ext>
            </a:extLst>
          </p:cNvPr>
          <p:cNvPicPr>
            <a:picLocks noChangeAspect="1"/>
          </p:cNvPicPr>
          <p:nvPr/>
        </p:nvPicPr>
        <p:blipFill>
          <a:blip r:embed="rId2"/>
          <a:stretch>
            <a:fillRect/>
          </a:stretch>
        </p:blipFill>
        <p:spPr>
          <a:xfrm>
            <a:off x="1385887" y="3918585"/>
            <a:ext cx="9420225" cy="1809750"/>
          </a:xfrm>
          <a:prstGeom prst="rect">
            <a:avLst/>
          </a:prstGeom>
          <a:ln>
            <a:solidFill>
              <a:schemeClr val="bg1">
                <a:lumMod val="50000"/>
              </a:schemeClr>
            </a:solidFill>
          </a:ln>
        </p:spPr>
      </p:pic>
    </p:spTree>
    <p:extLst>
      <p:ext uri="{BB962C8B-B14F-4D97-AF65-F5344CB8AC3E}">
        <p14:creationId xmlns:p14="http://schemas.microsoft.com/office/powerpoint/2010/main" val="144705562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Overlay Setting</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Pod Overlay Network :</a:t>
            </a:r>
          </a:p>
          <a:p>
            <a:pPr lvl="1">
              <a:buFont typeface="Wingdings" panose="05000000000000000000" pitchFamily="2" charset="2"/>
              <a:buChar char="§"/>
            </a:pPr>
            <a:r>
              <a:rPr lang="en-US" altLang="ko-KR" sz="1400" b="1" dirty="0"/>
              <a:t>To make communication channel between Pods</a:t>
            </a:r>
            <a:r>
              <a:rPr lang="en-US" altLang="ko-KR" sz="1400" dirty="0"/>
              <a:t>, we need to install “</a:t>
            </a:r>
            <a:r>
              <a:rPr lang="en-US" altLang="ko-KR" sz="1400" b="1" dirty="0"/>
              <a:t>overlay</a:t>
            </a:r>
            <a:r>
              <a:rPr lang="en-US" altLang="ko-KR" sz="1400" dirty="0"/>
              <a:t>” network addons. There are many network addons for this purpose. Here we will use “</a:t>
            </a:r>
            <a:r>
              <a:rPr lang="en-US" altLang="ko-KR" sz="1400" b="1" dirty="0"/>
              <a:t>Flannel</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3" name="그룹 12">
            <a:extLst>
              <a:ext uri="{FF2B5EF4-FFF2-40B4-BE49-F238E27FC236}">
                <a16:creationId xmlns:a16="http://schemas.microsoft.com/office/drawing/2014/main" id="{9038995E-ABC0-43DB-9983-BE957627D13B}"/>
              </a:ext>
            </a:extLst>
          </p:cNvPr>
          <p:cNvGrpSpPr/>
          <p:nvPr/>
        </p:nvGrpSpPr>
        <p:grpSpPr>
          <a:xfrm>
            <a:off x="1152049" y="1836809"/>
            <a:ext cx="9887902" cy="3457138"/>
            <a:chOff x="1152049" y="1836809"/>
            <a:chExt cx="9887902" cy="3457138"/>
          </a:xfrm>
        </p:grpSpPr>
        <p:grpSp>
          <p:nvGrpSpPr>
            <p:cNvPr id="10" name="그룹 9">
              <a:extLst>
                <a:ext uri="{FF2B5EF4-FFF2-40B4-BE49-F238E27FC236}">
                  <a16:creationId xmlns:a16="http://schemas.microsoft.com/office/drawing/2014/main" id="{F913D390-A4C1-4F13-854A-4F5515F80861}"/>
                </a:ext>
              </a:extLst>
            </p:cNvPr>
            <p:cNvGrpSpPr/>
            <p:nvPr/>
          </p:nvGrpSpPr>
          <p:grpSpPr>
            <a:xfrm>
              <a:off x="1152049" y="1836809"/>
              <a:ext cx="9887902" cy="3457138"/>
              <a:chOff x="1152049" y="1755755"/>
              <a:chExt cx="9887902" cy="3457138"/>
            </a:xfrm>
          </p:grpSpPr>
          <p:sp>
            <p:nvSpPr>
              <p:cNvPr id="4" name="직사각형 3">
                <a:extLst>
                  <a:ext uri="{FF2B5EF4-FFF2-40B4-BE49-F238E27FC236}">
                    <a16:creationId xmlns:a16="http://schemas.microsoft.com/office/drawing/2014/main" id="{8DEFCF51-6BB8-4FE2-8588-2FA01D9C95AC}"/>
                  </a:ext>
                </a:extLst>
              </p:cNvPr>
              <p:cNvSpPr/>
              <p:nvPr/>
            </p:nvSpPr>
            <p:spPr>
              <a:xfrm>
                <a:off x="1901190" y="1755755"/>
                <a:ext cx="8389620" cy="553998"/>
              </a:xfrm>
              <a:prstGeom prst="rect">
                <a:avLst/>
              </a:prstGeom>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apply -f </a:t>
                </a:r>
                <a:r>
                  <a:rPr lang="en-US" altLang="ko-KR" sz="1000" b="1" dirty="0">
                    <a:hlinkClick r:id="rId2"/>
                  </a:rPr>
                  <a:t>https://raw.githubusercontent.com/coreos/flannel/master/Documentation/kube-flannel.yml</a:t>
                </a:r>
                <a:endParaRPr lang="en-US" altLang="ko-KR" sz="1000" b="1" dirty="0"/>
              </a:p>
              <a:p>
                <a:r>
                  <a:rPr lang="en-US" altLang="ko-KR" sz="1000" b="1" dirty="0"/>
                  <a:t>$ </a:t>
                </a:r>
                <a:r>
                  <a:rPr lang="en-US" altLang="ko-KR" sz="1000" b="1" dirty="0" err="1"/>
                  <a:t>kubectl</a:t>
                </a:r>
                <a:r>
                  <a:rPr lang="en-US" altLang="ko-KR" sz="1000" b="1" dirty="0"/>
                  <a:t> apply -f </a:t>
                </a:r>
                <a:r>
                  <a:rPr lang="en-US" altLang="ko-KR" sz="1000" b="1" dirty="0">
                    <a:hlinkClick r:id="rId3"/>
                  </a:rPr>
                  <a:t>https://raw.githubusercontent.com/coreos/flannel/master/Documentation/k8s-manifests/kube-flannel-rbac.yml</a:t>
                </a:r>
                <a:r>
                  <a:rPr lang="en-US" altLang="ko-KR" sz="1000" b="1" dirty="0"/>
                  <a:t> </a:t>
                </a:r>
              </a:p>
              <a:p>
                <a:r>
                  <a:rPr lang="en-US" altLang="ko-KR" sz="1000" b="1" dirty="0"/>
                  <a:t>$ </a:t>
                </a:r>
                <a:r>
                  <a:rPr lang="en-US" altLang="ko-KR" sz="1000" b="1" dirty="0" err="1"/>
                  <a:t>kubectl</a:t>
                </a:r>
                <a:r>
                  <a:rPr lang="en-US" altLang="ko-KR" sz="1000" b="1" dirty="0"/>
                  <a:t> get pods --all-namespaces</a:t>
                </a:r>
                <a:endParaRPr lang="ko-KR" altLang="en-US" sz="1000" b="1" dirty="0"/>
              </a:p>
            </p:txBody>
          </p:sp>
          <p:sp>
            <p:nvSpPr>
              <p:cNvPr id="8" name="화살표: 아래쪽 7">
                <a:extLst>
                  <a:ext uri="{FF2B5EF4-FFF2-40B4-BE49-F238E27FC236}">
                    <a16:creationId xmlns:a16="http://schemas.microsoft.com/office/drawing/2014/main" id="{1083A5E3-4D7C-453F-A936-EABCFFE735FC}"/>
                  </a:ext>
                </a:extLst>
              </p:cNvPr>
              <p:cNvSpPr/>
              <p:nvPr/>
            </p:nvSpPr>
            <p:spPr>
              <a:xfrm>
                <a:off x="5875020" y="2331590"/>
                <a:ext cx="441960" cy="297180"/>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9" name="그림 8">
                <a:extLst>
                  <a:ext uri="{FF2B5EF4-FFF2-40B4-BE49-F238E27FC236}">
                    <a16:creationId xmlns:a16="http://schemas.microsoft.com/office/drawing/2014/main" id="{4AC90799-9925-42F3-87C2-B76E8A941002}"/>
                  </a:ext>
                </a:extLst>
              </p:cNvPr>
              <p:cNvPicPr>
                <a:picLocks noChangeAspect="1"/>
              </p:cNvPicPr>
              <p:nvPr/>
            </p:nvPicPr>
            <p:blipFill>
              <a:blip r:embed="rId4"/>
              <a:stretch>
                <a:fillRect/>
              </a:stretch>
            </p:blipFill>
            <p:spPr>
              <a:xfrm>
                <a:off x="1152049" y="2650607"/>
                <a:ext cx="9887902" cy="2562286"/>
              </a:xfrm>
              <a:prstGeom prst="rect">
                <a:avLst/>
              </a:prstGeom>
              <a:ln>
                <a:solidFill>
                  <a:schemeClr val="bg1">
                    <a:lumMod val="50000"/>
                  </a:schemeClr>
                </a:solidFill>
              </a:ln>
            </p:spPr>
          </p:pic>
        </p:grpSp>
        <p:sp>
          <p:nvSpPr>
            <p:cNvPr id="11" name="직사각형 10">
              <a:extLst>
                <a:ext uri="{FF2B5EF4-FFF2-40B4-BE49-F238E27FC236}">
                  <a16:creationId xmlns:a16="http://schemas.microsoft.com/office/drawing/2014/main" id="{4CB1926C-613D-467C-84FC-7042C58EBB0F}"/>
                </a:ext>
              </a:extLst>
            </p:cNvPr>
            <p:cNvSpPr/>
            <p:nvPr/>
          </p:nvSpPr>
          <p:spPr>
            <a:xfrm>
              <a:off x="1226820" y="3489960"/>
              <a:ext cx="5951220" cy="29750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11">
              <a:extLst>
                <a:ext uri="{FF2B5EF4-FFF2-40B4-BE49-F238E27FC236}">
                  <a16:creationId xmlns:a16="http://schemas.microsoft.com/office/drawing/2014/main" id="{88674833-399D-4E2C-A111-6C169870559E}"/>
                </a:ext>
              </a:extLst>
            </p:cNvPr>
            <p:cNvSpPr/>
            <p:nvPr/>
          </p:nvSpPr>
          <p:spPr>
            <a:xfrm>
              <a:off x="1226820" y="4204202"/>
              <a:ext cx="5951220" cy="29750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29539692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Trouble Shooting</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Flannel :</a:t>
            </a:r>
          </a:p>
          <a:p>
            <a:pPr lvl="1">
              <a:buFont typeface="Wingdings" panose="05000000000000000000" pitchFamily="2" charset="2"/>
              <a:buChar char="§"/>
            </a:pPr>
            <a:r>
              <a:rPr lang="en-US" altLang="ko-KR" sz="1400" dirty="0"/>
              <a:t>If you meet a problem like “</a:t>
            </a:r>
            <a:r>
              <a:rPr lang="en-US" altLang="ko-KR" sz="1400" b="1" dirty="0" err="1"/>
              <a:t>kube</a:t>
            </a:r>
            <a:r>
              <a:rPr lang="en-US" altLang="ko-KR" sz="1400" b="1" dirty="0"/>
              <a:t>-flannel </a:t>
            </a:r>
            <a:r>
              <a:rPr lang="en-US" altLang="ko-KR" sz="1400" b="1" dirty="0" err="1"/>
              <a:t>CrashLoopBackOff</a:t>
            </a:r>
            <a:r>
              <a:rPr lang="en-US" altLang="ko-KR" sz="1400" dirty="0"/>
              <a:t>” error, you can fix the problem with the following steps.</a:t>
            </a:r>
          </a:p>
          <a:p>
            <a:pPr lvl="1">
              <a:buFont typeface="Wingdings" panose="05000000000000000000" pitchFamily="2" charset="2"/>
              <a:buChar char="§"/>
            </a:pPr>
            <a:r>
              <a:rPr lang="en-US" altLang="ko-KR" sz="1400" b="1" dirty="0"/>
              <a:t>Step 01. Add the following lines</a:t>
            </a:r>
            <a:r>
              <a:rPr lang="en-US" altLang="ko-KR" sz="1400" dirty="0"/>
              <a:t>.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t>Step 02. Run “</a:t>
            </a:r>
            <a:r>
              <a:rPr lang="en-US" altLang="ko-KR" sz="1400" b="1" dirty="0">
                <a:solidFill>
                  <a:srgbClr val="FF0000"/>
                </a:solidFill>
              </a:rPr>
              <a:t>$ </a:t>
            </a:r>
            <a:r>
              <a:rPr lang="en-US" altLang="ko-KR" sz="1400" b="1" dirty="0" err="1">
                <a:solidFill>
                  <a:srgbClr val="FF0000"/>
                </a:solidFill>
              </a:rPr>
              <a:t>kubectl</a:t>
            </a:r>
            <a:r>
              <a:rPr lang="en-US" altLang="ko-KR" sz="1400" b="1" dirty="0">
                <a:solidFill>
                  <a:srgbClr val="FF0000"/>
                </a:solidFill>
              </a:rPr>
              <a:t> patch node &lt;Each Nodes&gt; -p '{"spec":{"podCIDR":"172.168.0.0/24"}}’</a:t>
            </a:r>
            <a:r>
              <a:rPr lang="en-US" altLang="ko-KR" sz="1400" b="1" dirty="0"/>
              <a:t>”</a:t>
            </a:r>
          </a:p>
          <a:p>
            <a:pPr lvl="1">
              <a:buFont typeface="Wingdings" panose="05000000000000000000" pitchFamily="2" charset="2"/>
              <a:buChar char="§"/>
            </a:pPr>
            <a:r>
              <a:rPr lang="en-US" altLang="ko-KR" sz="1400" b="1" dirty="0"/>
              <a:t>Step 03. Run “$ </a:t>
            </a:r>
            <a:r>
              <a:rPr lang="en-US" altLang="ko-KR" sz="1400" b="1" dirty="0" err="1"/>
              <a:t>kubectl</a:t>
            </a:r>
            <a:r>
              <a:rPr lang="en-US" altLang="ko-KR" sz="1400" b="1" dirty="0"/>
              <a:t> apply -f xxx” commands again.</a:t>
            </a:r>
          </a:p>
          <a:p>
            <a:pPr lvl="1">
              <a:buFont typeface="Wingdings" panose="05000000000000000000" pitchFamily="2" charset="2"/>
              <a:buChar char="§"/>
            </a:pPr>
            <a:r>
              <a:rPr lang="en-US" altLang="ko-KR" sz="1400" b="1" dirty="0">
                <a:solidFill>
                  <a:srgbClr val="FF0000"/>
                </a:solidFill>
              </a:rPr>
              <a:t>NOTICE!!! </a:t>
            </a:r>
            <a:r>
              <a:rPr lang="en-US" altLang="ko-KR" sz="1400" b="1" dirty="0"/>
              <a:t>If you run “$ </a:t>
            </a:r>
            <a:r>
              <a:rPr lang="en-US" altLang="ko-KR" sz="1400" b="1" dirty="0" err="1"/>
              <a:t>sudo</a:t>
            </a:r>
            <a:r>
              <a:rPr lang="en-US" altLang="ko-KR" sz="1400" b="1" dirty="0"/>
              <a:t> </a:t>
            </a:r>
            <a:r>
              <a:rPr lang="en-US" altLang="ko-KR" sz="1400" b="1" dirty="0" err="1"/>
              <a:t>kubeadm</a:t>
            </a:r>
            <a:r>
              <a:rPr lang="en-US" altLang="ko-KR" sz="1400" b="1" dirty="0"/>
              <a:t> </a:t>
            </a:r>
            <a:r>
              <a:rPr lang="en-US" altLang="ko-KR" sz="1400" b="1" dirty="0" err="1"/>
              <a:t>init</a:t>
            </a:r>
            <a:r>
              <a:rPr lang="en-US" altLang="ko-KR" sz="1400" b="1" dirty="0"/>
              <a:t> </a:t>
            </a:r>
            <a:r>
              <a:rPr lang="en-US" altLang="ko-KR" sz="1400" b="1" dirty="0">
                <a:solidFill>
                  <a:srgbClr val="FF0000"/>
                </a:solidFill>
              </a:rPr>
              <a:t>--pod-network-</a:t>
            </a:r>
            <a:r>
              <a:rPr lang="en-US" altLang="ko-KR" sz="1400" b="1" dirty="0" err="1">
                <a:solidFill>
                  <a:srgbClr val="FF0000"/>
                </a:solidFill>
              </a:rPr>
              <a:t>cidr</a:t>
            </a:r>
            <a:r>
              <a:rPr lang="en-US" altLang="ko-KR" sz="1400" b="1" dirty="0">
                <a:solidFill>
                  <a:srgbClr val="FF0000"/>
                </a:solidFill>
              </a:rPr>
              <a:t>=</a:t>
            </a:r>
            <a:r>
              <a:rPr lang="en-US" altLang="ko-KR" sz="1400" b="1" dirty="0" err="1">
                <a:solidFill>
                  <a:srgbClr val="FF0000"/>
                </a:solidFill>
              </a:rPr>
              <a:t>xxx.xxx.xxx.xxx</a:t>
            </a:r>
            <a:r>
              <a:rPr lang="en-US" altLang="ko-KR" sz="1400" b="1" dirty="0">
                <a:solidFill>
                  <a:srgbClr val="FF0000"/>
                </a:solidFill>
              </a:rPr>
              <a:t>/xxx</a:t>
            </a:r>
            <a:r>
              <a:rPr lang="en-US" altLang="ko-KR" sz="1400" b="1" dirty="0"/>
              <a:t>”, you don’t need to do this again.</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49517699-169A-4144-B85A-19BF33945391}"/>
              </a:ext>
            </a:extLst>
          </p:cNvPr>
          <p:cNvGrpSpPr/>
          <p:nvPr/>
        </p:nvGrpSpPr>
        <p:grpSpPr>
          <a:xfrm>
            <a:off x="2348389" y="1813559"/>
            <a:ext cx="7495222" cy="2881483"/>
            <a:chOff x="1366837" y="1811655"/>
            <a:chExt cx="9458325" cy="3676650"/>
          </a:xfrm>
        </p:grpSpPr>
        <p:pic>
          <p:nvPicPr>
            <p:cNvPr id="4" name="그림 3">
              <a:extLst>
                <a:ext uri="{FF2B5EF4-FFF2-40B4-BE49-F238E27FC236}">
                  <a16:creationId xmlns:a16="http://schemas.microsoft.com/office/drawing/2014/main" id="{FD391C0A-8453-4830-AB52-BC788FDDB5D6}"/>
                </a:ext>
              </a:extLst>
            </p:cNvPr>
            <p:cNvPicPr>
              <a:picLocks noChangeAspect="1"/>
            </p:cNvPicPr>
            <p:nvPr/>
          </p:nvPicPr>
          <p:blipFill>
            <a:blip r:embed="rId2"/>
            <a:stretch>
              <a:fillRect/>
            </a:stretch>
          </p:blipFill>
          <p:spPr>
            <a:xfrm>
              <a:off x="1366837" y="1811655"/>
              <a:ext cx="9458325" cy="3676650"/>
            </a:xfrm>
            <a:prstGeom prst="rect">
              <a:avLst/>
            </a:prstGeom>
          </p:spPr>
        </p:pic>
        <p:sp>
          <p:nvSpPr>
            <p:cNvPr id="8" name="직사각형 7">
              <a:extLst>
                <a:ext uri="{FF2B5EF4-FFF2-40B4-BE49-F238E27FC236}">
                  <a16:creationId xmlns:a16="http://schemas.microsoft.com/office/drawing/2014/main" id="{96B0CB69-C8AD-4698-BFD0-FA5218AB1FE9}"/>
                </a:ext>
              </a:extLst>
            </p:cNvPr>
            <p:cNvSpPr/>
            <p:nvPr/>
          </p:nvSpPr>
          <p:spPr>
            <a:xfrm>
              <a:off x="1706880" y="2994660"/>
              <a:ext cx="2377440" cy="1905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직사각형 8">
              <a:extLst>
                <a:ext uri="{FF2B5EF4-FFF2-40B4-BE49-F238E27FC236}">
                  <a16:creationId xmlns:a16="http://schemas.microsoft.com/office/drawing/2014/main" id="{EE3E451A-ADEF-4425-BEAF-931417C818BF}"/>
                </a:ext>
              </a:extLst>
            </p:cNvPr>
            <p:cNvSpPr/>
            <p:nvPr/>
          </p:nvSpPr>
          <p:spPr>
            <a:xfrm>
              <a:off x="1706880" y="3787140"/>
              <a:ext cx="2529840" cy="1905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66846159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Kubernetes</a:t>
            </a:r>
            <a:r>
              <a:rPr lang="ko-KR" altLang="en-US" sz="2800" b="1" dirty="0"/>
              <a:t> </a:t>
            </a:r>
            <a:r>
              <a:rPr lang="en-US" altLang="ko-KR" sz="2800" b="1" dirty="0"/>
              <a:t>Cluster(11/13)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Configuring Kubernetes Cluster :</a:t>
            </a:r>
          </a:p>
          <a:p>
            <a:pPr lvl="1">
              <a:buFont typeface="Wingdings" panose="05000000000000000000" pitchFamily="2" charset="2"/>
              <a:buChar char="§"/>
            </a:pPr>
            <a:r>
              <a:rPr lang="en-US" altLang="ko-KR" sz="1400" b="1" dirty="0"/>
              <a:t>In worker node, you need to run the “</a:t>
            </a:r>
            <a:r>
              <a:rPr lang="en-US" altLang="ko-KR" sz="1400" b="1" dirty="0">
                <a:solidFill>
                  <a:srgbClr val="FF0000"/>
                </a:solidFill>
              </a:rPr>
              <a:t>join</a:t>
            </a:r>
            <a:r>
              <a:rPr lang="en-US" altLang="ko-KR" sz="1400" b="1" dirty="0"/>
              <a:t>” command which is from the running of “</a:t>
            </a:r>
            <a:r>
              <a:rPr lang="en-US" altLang="ko-KR" sz="1400" b="1" dirty="0" err="1">
                <a:solidFill>
                  <a:srgbClr val="FF0000"/>
                </a:solidFill>
              </a:rPr>
              <a:t>kubeadm</a:t>
            </a:r>
            <a:r>
              <a:rPr lang="en-US" altLang="ko-KR" sz="1400" b="1" dirty="0">
                <a:solidFill>
                  <a:srgbClr val="FF0000"/>
                </a:solidFill>
              </a:rPr>
              <a:t> </a:t>
            </a:r>
            <a:r>
              <a:rPr lang="en-US" altLang="ko-KR" sz="1400" b="1" dirty="0" err="1">
                <a:solidFill>
                  <a:srgbClr val="FF0000"/>
                </a:solidFill>
              </a:rPr>
              <a:t>init</a:t>
            </a:r>
            <a:r>
              <a:rPr lang="en-US" altLang="ko-KR" sz="1400" b="1" dirty="0"/>
              <a:t>” command in master node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그룹 13">
            <a:extLst>
              <a:ext uri="{FF2B5EF4-FFF2-40B4-BE49-F238E27FC236}">
                <a16:creationId xmlns:a16="http://schemas.microsoft.com/office/drawing/2014/main" id="{BB6DFC31-99CE-44BC-B7AB-4D9C65B015D2}"/>
              </a:ext>
            </a:extLst>
          </p:cNvPr>
          <p:cNvGrpSpPr/>
          <p:nvPr/>
        </p:nvGrpSpPr>
        <p:grpSpPr>
          <a:xfrm>
            <a:off x="1486376" y="1768316"/>
            <a:ext cx="9219247" cy="3905483"/>
            <a:chOff x="1486375" y="1966436"/>
            <a:chExt cx="9219247" cy="3905483"/>
          </a:xfrm>
        </p:grpSpPr>
        <p:sp>
          <p:nvSpPr>
            <p:cNvPr id="4" name="직사각형 3">
              <a:extLst>
                <a:ext uri="{FF2B5EF4-FFF2-40B4-BE49-F238E27FC236}">
                  <a16:creationId xmlns:a16="http://schemas.microsoft.com/office/drawing/2014/main" id="{9EB638F7-B576-41FB-956C-1B5783C1BE37}"/>
                </a:ext>
              </a:extLst>
            </p:cNvPr>
            <p:cNvSpPr/>
            <p:nvPr/>
          </p:nvSpPr>
          <p:spPr>
            <a:xfrm>
              <a:off x="2103120" y="1966436"/>
              <a:ext cx="7985760" cy="400110"/>
            </a:xfrm>
            <a:prstGeom prst="rect">
              <a:avLst/>
            </a:prstGeom>
            <a:ln>
              <a:solidFill>
                <a:schemeClr val="bg1">
                  <a:lumMod val="50000"/>
                </a:schemeClr>
              </a:solidFill>
            </a:ln>
          </p:spPr>
          <p:txBody>
            <a:bodyPr wrap="square">
              <a:spAutoFit/>
            </a:bodyPr>
            <a:lstStyle/>
            <a:p>
              <a:r>
                <a:rPr lang="en-US" altLang="ko-KR" sz="1000" b="1" dirty="0"/>
                <a:t>$ </a:t>
              </a:r>
              <a:r>
                <a:rPr lang="en-US" altLang="ko-KR" sz="1000" b="1" dirty="0" err="1"/>
                <a:t>sudo</a:t>
              </a:r>
              <a:r>
                <a:rPr lang="en-US" altLang="ko-KR" sz="1000" b="1" dirty="0"/>
                <a:t> </a:t>
              </a:r>
              <a:r>
                <a:rPr lang="en-US" altLang="ko-KR" sz="1000" b="1" dirty="0" err="1"/>
                <a:t>kubeadm</a:t>
              </a:r>
              <a:r>
                <a:rPr lang="en-US" altLang="ko-KR" sz="1000" b="1" dirty="0"/>
                <a:t> </a:t>
              </a:r>
              <a:r>
                <a:rPr lang="en-US" altLang="ko-KR" sz="1000" b="1" dirty="0">
                  <a:solidFill>
                    <a:srgbClr val="FF0000"/>
                  </a:solidFill>
                </a:rPr>
                <a:t>join</a:t>
              </a:r>
              <a:r>
                <a:rPr lang="en-US" altLang="ko-KR" sz="1000" b="1" dirty="0"/>
                <a:t> 192.168.100.31:6443 --token pxwv1m.wentmkukpyp5jbpp --discovery-token-ca-cert-hash sha256:cd5d36fc014d245c5e113cf274dbe4ca9f9caccf495f8208954f8ae2246cf585</a:t>
              </a:r>
              <a:endParaRPr lang="ko-KR" altLang="en-US" sz="1000" b="1" dirty="0"/>
            </a:p>
          </p:txBody>
        </p:sp>
        <p:pic>
          <p:nvPicPr>
            <p:cNvPr id="12" name="그림 11">
              <a:extLst>
                <a:ext uri="{FF2B5EF4-FFF2-40B4-BE49-F238E27FC236}">
                  <a16:creationId xmlns:a16="http://schemas.microsoft.com/office/drawing/2014/main" id="{A0B3AC10-1317-458C-B818-9A51E76B7B49}"/>
                </a:ext>
              </a:extLst>
            </p:cNvPr>
            <p:cNvPicPr>
              <a:picLocks noChangeAspect="1"/>
            </p:cNvPicPr>
            <p:nvPr/>
          </p:nvPicPr>
          <p:blipFill>
            <a:blip r:embed="rId2"/>
            <a:stretch>
              <a:fillRect/>
            </a:stretch>
          </p:blipFill>
          <p:spPr>
            <a:xfrm>
              <a:off x="1486375" y="2676220"/>
              <a:ext cx="9219247" cy="3195699"/>
            </a:xfrm>
            <a:prstGeom prst="rect">
              <a:avLst/>
            </a:prstGeom>
            <a:ln>
              <a:solidFill>
                <a:schemeClr val="bg1">
                  <a:lumMod val="50000"/>
                </a:schemeClr>
              </a:solidFill>
            </a:ln>
          </p:spPr>
        </p:pic>
        <p:sp>
          <p:nvSpPr>
            <p:cNvPr id="13" name="화살표: 아래쪽 12">
              <a:extLst>
                <a:ext uri="{FF2B5EF4-FFF2-40B4-BE49-F238E27FC236}">
                  <a16:creationId xmlns:a16="http://schemas.microsoft.com/office/drawing/2014/main" id="{5D9DCE05-5E97-4969-9E53-5627B5E105FC}"/>
                </a:ext>
              </a:extLst>
            </p:cNvPr>
            <p:cNvSpPr/>
            <p:nvPr/>
          </p:nvSpPr>
          <p:spPr>
            <a:xfrm>
              <a:off x="5878829" y="2394498"/>
              <a:ext cx="434340" cy="253770"/>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3312175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Kubernetes</a:t>
            </a:r>
            <a:r>
              <a:rPr lang="ko-KR" altLang="en-US" sz="2800" b="1" dirty="0"/>
              <a:t> </a:t>
            </a:r>
            <a:r>
              <a:rPr lang="en-US" altLang="ko-KR" sz="2800" b="1" dirty="0"/>
              <a:t>Cluster(12/13)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Configuring Kubernetes Cluster :</a:t>
            </a:r>
          </a:p>
          <a:p>
            <a:pPr lvl="1">
              <a:buFont typeface="Wingdings" panose="05000000000000000000" pitchFamily="2" charset="2"/>
              <a:buChar char="§"/>
            </a:pPr>
            <a:r>
              <a:rPr lang="en-US" altLang="ko-KR" sz="1400" dirty="0"/>
              <a:t>To see the joined nodes, you need to run “</a:t>
            </a:r>
            <a:r>
              <a:rPr lang="en-US" altLang="ko-KR" sz="1400" b="1" dirty="0" err="1"/>
              <a:t>kubectl</a:t>
            </a:r>
            <a:r>
              <a:rPr lang="en-US" altLang="ko-KR" sz="1400" b="1" dirty="0"/>
              <a:t> get nodes</a:t>
            </a:r>
            <a:r>
              <a:rPr lang="en-US" altLang="ko-KR" sz="1400" dirty="0"/>
              <a:t>” </a:t>
            </a:r>
            <a:r>
              <a:rPr lang="en-US" altLang="ko-KR" sz="1400" b="1" dirty="0"/>
              <a:t>command in master node</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solidFill>
                  <a:srgbClr val="FF0000"/>
                </a:solidFill>
              </a:rPr>
              <a:t>NOTICE!!!</a:t>
            </a:r>
            <a:r>
              <a:rPr lang="en-US" altLang="ko-KR" sz="1400" b="1" dirty="0"/>
              <a:t> If you have an error like permission, you need to set “</a:t>
            </a:r>
            <a:r>
              <a:rPr lang="en-US" altLang="ko-KR" sz="1400" b="1" dirty="0">
                <a:solidFill>
                  <a:srgbClr val="FF0000"/>
                </a:solidFill>
              </a:rPr>
              <a:t>KUBECONFIG</a:t>
            </a:r>
            <a:r>
              <a:rPr lang="en-US" altLang="ko-KR" sz="1400" b="1" dirty="0"/>
              <a:t>” environment variable to “</a:t>
            </a:r>
            <a:r>
              <a:rPr lang="en-US" altLang="ko-KR" sz="1400" b="1" dirty="0">
                <a:solidFill>
                  <a:srgbClr val="FF0000"/>
                </a:solidFill>
              </a:rPr>
              <a:t>$HOME/.</a:t>
            </a:r>
            <a:r>
              <a:rPr lang="en-US" altLang="ko-KR" sz="1400" b="1" dirty="0" err="1">
                <a:solidFill>
                  <a:srgbClr val="FF0000"/>
                </a:solidFill>
              </a:rPr>
              <a:t>kube</a:t>
            </a:r>
            <a:r>
              <a:rPr lang="en-US" altLang="ko-KR" sz="1400" b="1" dirty="0">
                <a:solidFill>
                  <a:srgbClr val="FF0000"/>
                </a:solidFill>
              </a:rPr>
              <a:t>/config</a:t>
            </a:r>
            <a:r>
              <a:rPr lang="en-US" altLang="ko-KR" sz="1400" b="1" dirty="0"/>
              <a:t>” with “</a:t>
            </a:r>
            <a:r>
              <a:rPr lang="en-US" altLang="ko-KR" sz="1400" b="1" dirty="0">
                <a:solidFill>
                  <a:srgbClr val="FF0000"/>
                </a:solidFill>
              </a:rPr>
              <a:t>export KUBECONFIG=$HOME/.</a:t>
            </a:r>
            <a:r>
              <a:rPr lang="en-US" altLang="ko-KR" sz="1400" b="1" dirty="0" err="1">
                <a:solidFill>
                  <a:srgbClr val="FF0000"/>
                </a:solidFill>
              </a:rPr>
              <a:t>kube</a:t>
            </a:r>
            <a:r>
              <a:rPr lang="en-US" altLang="ko-KR" sz="1400" b="1" dirty="0">
                <a:solidFill>
                  <a:srgbClr val="FF0000"/>
                </a:solidFill>
              </a:rPr>
              <a:t>/config</a:t>
            </a:r>
            <a:r>
              <a:rPr lang="en-US" altLang="ko-KR" sz="1400" b="1" dirty="0"/>
              <a:t>” command. If you reset the cluster with “</a:t>
            </a:r>
            <a:r>
              <a:rPr lang="en-US" altLang="ko-KR" sz="1400" b="1" dirty="0" err="1">
                <a:solidFill>
                  <a:srgbClr val="FF0000"/>
                </a:solidFill>
              </a:rPr>
              <a:t>kubeadm</a:t>
            </a:r>
            <a:r>
              <a:rPr lang="en-US" altLang="ko-KR" sz="1400" b="1" dirty="0">
                <a:solidFill>
                  <a:srgbClr val="FF0000"/>
                </a:solidFill>
              </a:rPr>
              <a:t> reset</a:t>
            </a:r>
            <a:r>
              <a:rPr lang="en-US" altLang="ko-KR" sz="1400" b="1" dirty="0"/>
              <a:t>” command. </a:t>
            </a:r>
            <a:r>
              <a:rPr lang="en-US" altLang="ko-KR" sz="1400" b="1" dirty="0">
                <a:solidFill>
                  <a:srgbClr val="FF0000"/>
                </a:solidFill>
              </a:rPr>
              <a:t>You need to copy the CA again and set the environment variable again</a:t>
            </a:r>
            <a:r>
              <a:rPr lang="en-US" altLang="ko-KR" sz="1400" b="1" dirty="0"/>
              <a:t> in the previous page</a:t>
            </a:r>
            <a:r>
              <a:rPr lang="en-US" altLang="ko-KR" sz="1400" dirty="0"/>
              <a:t>.</a:t>
            </a:r>
          </a:p>
          <a:p>
            <a:pPr lvl="1">
              <a:buFont typeface="Wingdings" panose="05000000000000000000" pitchFamily="2" charset="2"/>
              <a:buChar char="§"/>
            </a:pPr>
            <a:r>
              <a:rPr lang="en-US" altLang="ko-KR" sz="1400" dirty="0"/>
              <a:t>In the result screenshot, you can find “</a:t>
            </a:r>
            <a:r>
              <a:rPr lang="en-US" altLang="ko-KR" sz="1400" b="1" dirty="0"/>
              <a:t>control-plane, master</a:t>
            </a:r>
            <a:r>
              <a:rPr lang="en-US" altLang="ko-KR" sz="1400" dirty="0"/>
              <a:t>”. It means that the node is </a:t>
            </a:r>
            <a:r>
              <a:rPr lang="en-US" altLang="ko-KR" sz="1400" b="1" dirty="0"/>
              <a:t>master </a:t>
            </a:r>
            <a:r>
              <a:rPr lang="en-US" altLang="ko-KR" sz="1400" dirty="0"/>
              <a:t>and “</a:t>
            </a:r>
            <a:r>
              <a:rPr lang="en-US" altLang="ko-KR" sz="1400" b="1" dirty="0"/>
              <a:t>&lt;none&gt;</a:t>
            </a:r>
            <a:r>
              <a:rPr lang="en-US" altLang="ko-KR" sz="1400" dirty="0"/>
              <a:t>” is </a:t>
            </a:r>
            <a:r>
              <a:rPr lang="en-US" altLang="ko-KR" sz="1400" b="1" dirty="0"/>
              <a:t>slave(worker)</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9" name="그룹 8">
            <a:extLst>
              <a:ext uri="{FF2B5EF4-FFF2-40B4-BE49-F238E27FC236}">
                <a16:creationId xmlns:a16="http://schemas.microsoft.com/office/drawing/2014/main" id="{7911BAAA-38AC-4DED-990B-232A8EE939C4}"/>
              </a:ext>
            </a:extLst>
          </p:cNvPr>
          <p:cNvGrpSpPr/>
          <p:nvPr/>
        </p:nvGrpSpPr>
        <p:grpSpPr>
          <a:xfrm>
            <a:off x="5391320" y="1546860"/>
            <a:ext cx="1409360" cy="520541"/>
            <a:chOff x="5391320" y="1546860"/>
            <a:chExt cx="1409360" cy="520541"/>
          </a:xfrm>
        </p:grpSpPr>
        <p:sp>
          <p:nvSpPr>
            <p:cNvPr id="4" name="TextBox 3">
              <a:extLst>
                <a:ext uri="{FF2B5EF4-FFF2-40B4-BE49-F238E27FC236}">
                  <a16:creationId xmlns:a16="http://schemas.microsoft.com/office/drawing/2014/main" id="{AAC5FF1B-C10D-45B1-9067-29BB92E65BE5}"/>
                </a:ext>
              </a:extLst>
            </p:cNvPr>
            <p:cNvSpPr txBox="1"/>
            <p:nvPr/>
          </p:nvSpPr>
          <p:spPr>
            <a:xfrm>
              <a:off x="5391320" y="1546860"/>
              <a:ext cx="1409360" cy="246221"/>
            </a:xfrm>
            <a:prstGeom prst="rect">
              <a:avLst/>
            </a:prstGeom>
            <a:noFill/>
            <a:ln>
              <a:solidFill>
                <a:schemeClr val="bg1">
                  <a:lumMod val="50000"/>
                </a:schemeClr>
              </a:solidFill>
            </a:ln>
          </p:spPr>
          <p:txBody>
            <a:bodyPr wrap="none" rtlCol="0">
              <a:spAutoFit/>
            </a:bodyPr>
            <a:lstStyle/>
            <a:p>
              <a:pPr algn="ctr"/>
              <a:r>
                <a:rPr lang="en-US" altLang="ko-KR" sz="1000" b="1" dirty="0"/>
                <a:t>$ </a:t>
              </a:r>
              <a:r>
                <a:rPr lang="en-US" altLang="ko-KR" sz="1000" b="1" dirty="0" err="1"/>
                <a:t>kubectl</a:t>
              </a:r>
              <a:r>
                <a:rPr lang="en-US" altLang="ko-KR" sz="1000" b="1" dirty="0"/>
                <a:t> get nodes</a:t>
              </a:r>
              <a:endParaRPr lang="ko-KR" altLang="en-US" sz="1000" b="1" dirty="0"/>
            </a:p>
          </p:txBody>
        </p:sp>
        <p:sp>
          <p:nvSpPr>
            <p:cNvPr id="8" name="화살표: 아래쪽 7">
              <a:extLst>
                <a:ext uri="{FF2B5EF4-FFF2-40B4-BE49-F238E27FC236}">
                  <a16:creationId xmlns:a16="http://schemas.microsoft.com/office/drawing/2014/main" id="{5F506FFD-76AF-44D9-B041-E5FAA38161FB}"/>
                </a:ext>
              </a:extLst>
            </p:cNvPr>
            <p:cNvSpPr/>
            <p:nvPr/>
          </p:nvSpPr>
          <p:spPr>
            <a:xfrm>
              <a:off x="5886450" y="1793081"/>
              <a:ext cx="419100" cy="274320"/>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3" name="그룹 12">
            <a:extLst>
              <a:ext uri="{FF2B5EF4-FFF2-40B4-BE49-F238E27FC236}">
                <a16:creationId xmlns:a16="http://schemas.microsoft.com/office/drawing/2014/main" id="{9D904EE5-F8F1-407D-85CA-0EF0452F10AD}"/>
              </a:ext>
            </a:extLst>
          </p:cNvPr>
          <p:cNvGrpSpPr/>
          <p:nvPr/>
        </p:nvGrpSpPr>
        <p:grpSpPr>
          <a:xfrm>
            <a:off x="1333500" y="2067401"/>
            <a:ext cx="9525000" cy="1809750"/>
            <a:chOff x="1333500" y="2067401"/>
            <a:chExt cx="9525000" cy="1809750"/>
          </a:xfrm>
        </p:grpSpPr>
        <p:pic>
          <p:nvPicPr>
            <p:cNvPr id="11" name="그림 10">
              <a:extLst>
                <a:ext uri="{FF2B5EF4-FFF2-40B4-BE49-F238E27FC236}">
                  <a16:creationId xmlns:a16="http://schemas.microsoft.com/office/drawing/2014/main" id="{5789FC63-212B-4E0F-9AD3-B488C1B1D78E}"/>
                </a:ext>
              </a:extLst>
            </p:cNvPr>
            <p:cNvPicPr>
              <a:picLocks noChangeAspect="1"/>
            </p:cNvPicPr>
            <p:nvPr/>
          </p:nvPicPr>
          <p:blipFill>
            <a:blip r:embed="rId2"/>
            <a:stretch>
              <a:fillRect/>
            </a:stretch>
          </p:blipFill>
          <p:spPr>
            <a:xfrm>
              <a:off x="1333500" y="2067401"/>
              <a:ext cx="9525000" cy="1809750"/>
            </a:xfrm>
            <a:prstGeom prst="rect">
              <a:avLst/>
            </a:prstGeom>
            <a:ln>
              <a:solidFill>
                <a:schemeClr val="bg1">
                  <a:lumMod val="50000"/>
                </a:schemeClr>
              </a:solidFill>
            </a:ln>
          </p:spPr>
        </p:pic>
        <p:sp>
          <p:nvSpPr>
            <p:cNvPr id="12" name="직사각형 11">
              <a:extLst>
                <a:ext uri="{FF2B5EF4-FFF2-40B4-BE49-F238E27FC236}">
                  <a16:creationId xmlns:a16="http://schemas.microsoft.com/office/drawing/2014/main" id="{1BCFAC66-A2D4-4F02-BC76-F4C0475BA459}"/>
                </a:ext>
              </a:extLst>
            </p:cNvPr>
            <p:cNvSpPr/>
            <p:nvPr/>
          </p:nvSpPr>
          <p:spPr>
            <a:xfrm>
              <a:off x="1402080" y="2933700"/>
              <a:ext cx="5013960" cy="19906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79991607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Node Information</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Get Node Information :</a:t>
            </a:r>
          </a:p>
          <a:p>
            <a:pPr lvl="1">
              <a:buFont typeface="Wingdings" panose="05000000000000000000" pitchFamily="2" charset="2"/>
              <a:buChar char="§"/>
            </a:pPr>
            <a:r>
              <a:rPr lang="en-US" altLang="ko-KR" sz="1400" b="1" dirty="0"/>
              <a:t>In master node, you can use “</a:t>
            </a:r>
            <a:r>
              <a:rPr lang="en-US" altLang="ko-KR" sz="1400" b="1" dirty="0" err="1"/>
              <a:t>kubectl</a:t>
            </a:r>
            <a:r>
              <a:rPr lang="en-US" altLang="ko-KR" sz="1400" b="1" dirty="0"/>
              <a:t> describe node </a:t>
            </a:r>
            <a:r>
              <a:rPr lang="en-US" altLang="ko-KR" sz="1400" b="1" dirty="0" err="1"/>
              <a:t>xxxx</a:t>
            </a:r>
            <a:r>
              <a:rPr lang="en-US" altLang="ko-KR" sz="1400" b="1" dirty="0"/>
              <a:t>” command to see the node information in details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8730F4FC-34F8-450D-BB5B-F87910779D3B}"/>
              </a:ext>
            </a:extLst>
          </p:cNvPr>
          <p:cNvGrpSpPr/>
          <p:nvPr/>
        </p:nvGrpSpPr>
        <p:grpSpPr>
          <a:xfrm>
            <a:off x="1126758" y="1607820"/>
            <a:ext cx="9938484" cy="4152900"/>
            <a:chOff x="1126758" y="1569720"/>
            <a:chExt cx="9938484" cy="4152900"/>
          </a:xfrm>
        </p:grpSpPr>
        <p:grpSp>
          <p:nvGrpSpPr>
            <p:cNvPr id="10" name="그룹 9">
              <a:extLst>
                <a:ext uri="{FF2B5EF4-FFF2-40B4-BE49-F238E27FC236}">
                  <a16:creationId xmlns:a16="http://schemas.microsoft.com/office/drawing/2014/main" id="{A2362A5B-1B9D-40A8-9CE5-6832F3D8519A}"/>
                </a:ext>
              </a:extLst>
            </p:cNvPr>
            <p:cNvGrpSpPr/>
            <p:nvPr/>
          </p:nvGrpSpPr>
          <p:grpSpPr>
            <a:xfrm>
              <a:off x="1126758" y="1569720"/>
              <a:ext cx="9938484" cy="4152900"/>
              <a:chOff x="1126758" y="1501140"/>
              <a:chExt cx="9938484" cy="4152900"/>
            </a:xfrm>
          </p:grpSpPr>
          <p:sp>
            <p:nvSpPr>
              <p:cNvPr id="4" name="TextBox 3">
                <a:extLst>
                  <a:ext uri="{FF2B5EF4-FFF2-40B4-BE49-F238E27FC236}">
                    <a16:creationId xmlns:a16="http://schemas.microsoft.com/office/drawing/2014/main" id="{2EF2FF1C-3A51-4FF9-83BF-9F3C1632DB57}"/>
                  </a:ext>
                </a:extLst>
              </p:cNvPr>
              <p:cNvSpPr txBox="1"/>
              <p:nvPr/>
            </p:nvSpPr>
            <p:spPr>
              <a:xfrm>
                <a:off x="4895992" y="1501140"/>
                <a:ext cx="2400016" cy="246221"/>
              </a:xfrm>
              <a:prstGeom prst="rect">
                <a:avLst/>
              </a:prstGeom>
              <a:noFill/>
              <a:ln>
                <a:solidFill>
                  <a:schemeClr val="bg1">
                    <a:lumMod val="50000"/>
                  </a:schemeClr>
                </a:solidFill>
              </a:ln>
            </p:spPr>
            <p:txBody>
              <a:bodyPr wrap="none" rtlCol="0">
                <a:spAutoFit/>
              </a:bodyPr>
              <a:lstStyle/>
              <a:p>
                <a:pPr algn="ctr"/>
                <a:r>
                  <a:rPr lang="en-US" altLang="ko-KR" sz="1000" b="1" dirty="0" err="1"/>
                  <a:t>kubectl</a:t>
                </a:r>
                <a:r>
                  <a:rPr lang="en-US" altLang="ko-KR" sz="1000" b="1" dirty="0"/>
                  <a:t> describe node </a:t>
                </a:r>
                <a:r>
                  <a:rPr lang="en-US" altLang="ko-KR" sz="1000" b="1" dirty="0">
                    <a:solidFill>
                      <a:srgbClr val="FF0000"/>
                    </a:solidFill>
                  </a:rPr>
                  <a:t>virtualbox-02</a:t>
                </a:r>
                <a:endParaRPr lang="ko-KR" altLang="en-US" sz="1000" b="1" dirty="0">
                  <a:solidFill>
                    <a:srgbClr val="FF0000"/>
                  </a:solidFill>
                </a:endParaRPr>
              </a:p>
            </p:txBody>
          </p:sp>
          <p:sp>
            <p:nvSpPr>
              <p:cNvPr id="8" name="화살표: 아래쪽 7">
                <a:extLst>
                  <a:ext uri="{FF2B5EF4-FFF2-40B4-BE49-F238E27FC236}">
                    <a16:creationId xmlns:a16="http://schemas.microsoft.com/office/drawing/2014/main" id="{8795AB8F-4183-4D45-8531-BF4716D42AA2}"/>
                  </a:ext>
                </a:extLst>
              </p:cNvPr>
              <p:cNvSpPr/>
              <p:nvPr/>
            </p:nvSpPr>
            <p:spPr>
              <a:xfrm>
                <a:off x="5865495" y="1747361"/>
                <a:ext cx="461010" cy="297180"/>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9" name="그림 8">
                <a:extLst>
                  <a:ext uri="{FF2B5EF4-FFF2-40B4-BE49-F238E27FC236}">
                    <a16:creationId xmlns:a16="http://schemas.microsoft.com/office/drawing/2014/main" id="{E6EEED33-0E0B-4EDA-9189-9C8E9539DB1F}"/>
                  </a:ext>
                </a:extLst>
              </p:cNvPr>
              <p:cNvPicPr>
                <a:picLocks noChangeAspect="1"/>
              </p:cNvPicPr>
              <p:nvPr/>
            </p:nvPicPr>
            <p:blipFill>
              <a:blip r:embed="rId2"/>
              <a:stretch>
                <a:fillRect/>
              </a:stretch>
            </p:blipFill>
            <p:spPr>
              <a:xfrm>
                <a:off x="1126758" y="2044541"/>
                <a:ext cx="9938484" cy="3609499"/>
              </a:xfrm>
              <a:prstGeom prst="rect">
                <a:avLst/>
              </a:prstGeom>
              <a:ln>
                <a:solidFill>
                  <a:schemeClr val="bg1">
                    <a:lumMod val="50000"/>
                  </a:schemeClr>
                </a:solidFill>
              </a:ln>
            </p:spPr>
          </p:pic>
        </p:grpSp>
        <p:sp>
          <p:nvSpPr>
            <p:cNvPr id="11" name="직사각형 10">
              <a:extLst>
                <a:ext uri="{FF2B5EF4-FFF2-40B4-BE49-F238E27FC236}">
                  <a16:creationId xmlns:a16="http://schemas.microsoft.com/office/drawing/2014/main" id="{3AFFBD2E-F3C9-44C3-875F-47411E2EBA36}"/>
                </a:ext>
              </a:extLst>
            </p:cNvPr>
            <p:cNvSpPr/>
            <p:nvPr/>
          </p:nvSpPr>
          <p:spPr>
            <a:xfrm>
              <a:off x="2316480" y="2606040"/>
              <a:ext cx="853440" cy="16002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62061210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Kubernetes</a:t>
            </a:r>
            <a:r>
              <a:rPr lang="ko-KR" altLang="en-US" sz="2800" b="1" dirty="0"/>
              <a:t> </a:t>
            </a:r>
            <a:r>
              <a:rPr lang="en-US" altLang="ko-KR" sz="2800" b="1" dirty="0"/>
              <a:t>Cluster(13/13)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Running Application :</a:t>
            </a:r>
          </a:p>
          <a:p>
            <a:pPr lvl="1">
              <a:buFont typeface="Wingdings" panose="05000000000000000000" pitchFamily="2" charset="2"/>
              <a:buChar char="§"/>
            </a:pPr>
            <a:r>
              <a:rPr lang="en-US" altLang="ko-KR" sz="1400" dirty="0"/>
              <a:t>Now, it’s time to run a application, we will use </a:t>
            </a:r>
            <a:r>
              <a:rPr lang="en-US" altLang="ko-KR" sz="1400" b="1" dirty="0"/>
              <a:t>the example from “Chapter02 in </a:t>
            </a:r>
            <a:r>
              <a:rPr lang="en-US" altLang="ko-KR" sz="1400" b="1" dirty="0" err="1"/>
              <a:t>kubernetes</a:t>
            </a:r>
            <a:r>
              <a:rPr lang="en-US" altLang="ko-KR" sz="1400" b="1" dirty="0"/>
              <a:t>-in-action”, </a:t>
            </a:r>
            <a:r>
              <a:rPr lang="en-US" altLang="ko-KR" sz="1400" b="1" dirty="0" err="1"/>
              <a:t>kubia</a:t>
            </a:r>
            <a:r>
              <a:rPr lang="en-US" altLang="ko-KR" sz="1400" b="1" dirty="0"/>
              <a:t>. </a:t>
            </a:r>
            <a:r>
              <a:rPr lang="en-US" altLang="ko-KR" sz="1400" dirty="0"/>
              <a:t>To use the “</a:t>
            </a:r>
            <a:r>
              <a:rPr lang="en-US" altLang="ko-KR" sz="1400" b="1" dirty="0" err="1"/>
              <a:t>kubia.yaml</a:t>
            </a:r>
            <a:r>
              <a:rPr lang="en-US" altLang="ko-KR" sz="1400" dirty="0"/>
              <a:t>” file, you need to </a:t>
            </a:r>
            <a:r>
              <a:rPr lang="en-US" altLang="ko-KR" sz="1400" b="1" dirty="0"/>
              <a:t>build docker image</a:t>
            </a:r>
            <a:r>
              <a:rPr lang="en-US" altLang="ko-KR" sz="1400" dirty="0"/>
              <a:t> first and </a:t>
            </a:r>
            <a:r>
              <a:rPr lang="en-US" altLang="ko-KR" sz="1400" b="1" dirty="0"/>
              <a:t>push it into your account in Docker hub</a:t>
            </a:r>
            <a:r>
              <a:rPr lang="en-US" altLang="ko-KR" sz="1400" dirty="0"/>
              <a:t>. Go to the “</a:t>
            </a:r>
            <a:r>
              <a:rPr lang="en-US" altLang="ko-KR" sz="1400" b="1" dirty="0" err="1"/>
              <a:t>kubia</a:t>
            </a:r>
            <a:r>
              <a:rPr lang="en-US" altLang="ko-KR" sz="1400" dirty="0"/>
              <a:t>” directory and run the following commands.</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8" name="그룹 17">
            <a:extLst>
              <a:ext uri="{FF2B5EF4-FFF2-40B4-BE49-F238E27FC236}">
                <a16:creationId xmlns:a16="http://schemas.microsoft.com/office/drawing/2014/main" id="{9BD9DF4B-3A42-4B10-8CF5-AD71169AE9CD}"/>
              </a:ext>
            </a:extLst>
          </p:cNvPr>
          <p:cNvGrpSpPr/>
          <p:nvPr/>
        </p:nvGrpSpPr>
        <p:grpSpPr>
          <a:xfrm>
            <a:off x="1623350" y="1932605"/>
            <a:ext cx="8945300" cy="4197674"/>
            <a:chOff x="1623350" y="1889760"/>
            <a:chExt cx="8945300" cy="4197674"/>
          </a:xfrm>
        </p:grpSpPr>
        <p:sp>
          <p:nvSpPr>
            <p:cNvPr id="13" name="TextBox 12">
              <a:extLst>
                <a:ext uri="{FF2B5EF4-FFF2-40B4-BE49-F238E27FC236}">
                  <a16:creationId xmlns:a16="http://schemas.microsoft.com/office/drawing/2014/main" id="{5E6B9204-1007-46B9-BE51-FE7431CA8E9D}"/>
                </a:ext>
              </a:extLst>
            </p:cNvPr>
            <p:cNvSpPr txBox="1"/>
            <p:nvPr/>
          </p:nvSpPr>
          <p:spPr>
            <a:xfrm>
              <a:off x="2960950" y="1889760"/>
              <a:ext cx="6270100" cy="1015663"/>
            </a:xfrm>
            <a:prstGeom prst="rect">
              <a:avLst/>
            </a:prstGeom>
            <a:noFill/>
            <a:ln>
              <a:solidFill>
                <a:schemeClr val="bg1">
                  <a:lumMod val="50000"/>
                </a:schemeClr>
              </a:solidFill>
            </a:ln>
          </p:spPr>
          <p:txBody>
            <a:bodyPr wrap="square" rtlCol="0">
              <a:spAutoFit/>
            </a:bodyPr>
            <a:lstStyle/>
            <a:p>
              <a:r>
                <a:rPr lang="en-US" altLang="ko-KR" sz="1000" b="1" dirty="0"/>
                <a:t>$ docker build -t </a:t>
              </a:r>
              <a:r>
                <a:rPr lang="en-US" altLang="ko-KR" sz="1000" b="1" dirty="0" err="1"/>
                <a:t>kubia</a:t>
              </a:r>
              <a:r>
                <a:rPr lang="en-US" altLang="ko-KR" sz="1000" b="1" dirty="0"/>
                <a:t> .</a:t>
              </a:r>
            </a:p>
            <a:p>
              <a:r>
                <a:rPr lang="de-DE" altLang="ko-KR" sz="1000" b="1" dirty="0"/>
                <a:t>$ docker login</a:t>
              </a:r>
            </a:p>
            <a:p>
              <a:r>
                <a:rPr lang="de-DE" altLang="ko-KR" sz="1000" b="1" dirty="0"/>
                <a:t>$ docker tag &lt;</a:t>
              </a:r>
              <a:r>
                <a:rPr lang="de-DE" altLang="ko-KR" sz="1000" b="1" dirty="0">
                  <a:solidFill>
                    <a:srgbClr val="FF0000"/>
                  </a:solidFill>
                </a:rPr>
                <a:t>IMAGE_ID</a:t>
              </a:r>
              <a:r>
                <a:rPr lang="de-DE" altLang="ko-KR" sz="1000" b="1" dirty="0"/>
                <a:t>&gt; </a:t>
              </a:r>
              <a:r>
                <a:rPr lang="de-DE" altLang="ko-KR" sz="1000" b="1" dirty="0">
                  <a:solidFill>
                    <a:srgbClr val="FF0000"/>
                  </a:solidFill>
                </a:rPr>
                <a:t>knix008/kubia:1.0</a:t>
              </a:r>
            </a:p>
            <a:p>
              <a:r>
                <a:rPr lang="de-DE" altLang="ko-KR" sz="1000" b="1" dirty="0"/>
                <a:t>$ docker push </a:t>
              </a:r>
              <a:r>
                <a:rPr lang="de-DE" altLang="ko-KR" sz="1000" b="1" dirty="0">
                  <a:solidFill>
                    <a:srgbClr val="FF0000"/>
                  </a:solidFill>
                </a:rPr>
                <a:t>knix008/kubia:1.0</a:t>
              </a:r>
            </a:p>
            <a:p>
              <a:r>
                <a:rPr lang="de-DE" altLang="ko-KR" sz="1000" b="1" dirty="0"/>
                <a:t>$ cd ..</a:t>
              </a:r>
              <a:endParaRPr lang="de-DE" altLang="ko-KR" sz="1000" b="1" dirty="0">
                <a:solidFill>
                  <a:srgbClr val="FF0000"/>
                </a:solidFill>
              </a:endParaRPr>
            </a:p>
            <a:p>
              <a:r>
                <a:rPr lang="de-DE" altLang="ko-KR" sz="1000" b="1" dirty="0"/>
                <a:t>$ kubctl apply -f </a:t>
              </a:r>
              <a:r>
                <a:rPr lang="de-DE" altLang="ko-KR" sz="1000" b="1" dirty="0">
                  <a:solidFill>
                    <a:srgbClr val="FF0000"/>
                  </a:solidFill>
                </a:rPr>
                <a:t>kubia.yaml</a:t>
              </a:r>
            </a:p>
          </p:txBody>
        </p:sp>
        <p:sp>
          <p:nvSpPr>
            <p:cNvPr id="16" name="화살표: 아래쪽 15">
              <a:extLst>
                <a:ext uri="{FF2B5EF4-FFF2-40B4-BE49-F238E27FC236}">
                  <a16:creationId xmlns:a16="http://schemas.microsoft.com/office/drawing/2014/main" id="{E95E6B3F-E2CA-41C4-9400-6BB086979AFE}"/>
                </a:ext>
              </a:extLst>
            </p:cNvPr>
            <p:cNvSpPr/>
            <p:nvPr/>
          </p:nvSpPr>
          <p:spPr>
            <a:xfrm>
              <a:off x="5867400" y="2905423"/>
              <a:ext cx="457200" cy="312420"/>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7" name="그림 16">
              <a:extLst>
                <a:ext uri="{FF2B5EF4-FFF2-40B4-BE49-F238E27FC236}">
                  <a16:creationId xmlns:a16="http://schemas.microsoft.com/office/drawing/2014/main" id="{5FF815A5-37E8-4E14-AF77-4D381B222696}"/>
                </a:ext>
              </a:extLst>
            </p:cNvPr>
            <p:cNvPicPr>
              <a:picLocks noChangeAspect="1"/>
            </p:cNvPicPr>
            <p:nvPr/>
          </p:nvPicPr>
          <p:blipFill>
            <a:blip r:embed="rId2"/>
            <a:stretch>
              <a:fillRect/>
            </a:stretch>
          </p:blipFill>
          <p:spPr>
            <a:xfrm>
              <a:off x="1623350" y="3227018"/>
              <a:ext cx="8945300" cy="2860416"/>
            </a:xfrm>
            <a:prstGeom prst="rect">
              <a:avLst/>
            </a:prstGeom>
            <a:ln>
              <a:solidFill>
                <a:schemeClr val="bg1">
                  <a:lumMod val="50000"/>
                </a:schemeClr>
              </a:solidFill>
            </a:ln>
          </p:spPr>
        </p:pic>
      </p:grpSp>
    </p:spTree>
    <p:extLst>
      <p:ext uri="{BB962C8B-B14F-4D97-AF65-F5344CB8AC3E}">
        <p14:creationId xmlns:p14="http://schemas.microsoft.com/office/powerpoint/2010/main" val="137544855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Trouble Shooting </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t>
            </a:r>
            <a:r>
              <a:rPr lang="en-US" altLang="ko-KR" sz="1800" b="1" dirty="0" err="1"/>
              <a:t>Coredns</a:t>
            </a:r>
            <a:r>
              <a:rPr lang="en-US" altLang="ko-KR" sz="1800" b="1" dirty="0"/>
              <a:t>” Pod Pending Issue :</a:t>
            </a:r>
          </a:p>
          <a:p>
            <a:pPr lvl="1">
              <a:buFont typeface="Wingdings" panose="05000000000000000000" pitchFamily="2" charset="2"/>
              <a:buChar char="§"/>
            </a:pPr>
            <a:r>
              <a:rPr lang="en-US" altLang="ko-KR" sz="1400" dirty="0"/>
              <a:t>When you meet the following screenshot in “</a:t>
            </a:r>
            <a:r>
              <a:rPr lang="en-US" altLang="ko-KR" sz="1400" b="1" dirty="0" err="1"/>
              <a:t>kubectl</a:t>
            </a:r>
            <a:r>
              <a:rPr lang="en-US" altLang="ko-KR" sz="1400" b="1" dirty="0"/>
              <a:t> apply -f flannel….</a:t>
            </a:r>
            <a:r>
              <a:rPr lang="en-US" altLang="ko-KR" sz="1400" dirty="0"/>
              <a:t>”, you need to remove all setting for </a:t>
            </a:r>
            <a:r>
              <a:rPr lang="en-US" altLang="ko-KR" sz="1400" b="1" dirty="0"/>
              <a:t>CNI</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Step 01</a:t>
            </a:r>
            <a:r>
              <a:rPr lang="en-US" altLang="ko-KR" sz="1400" dirty="0"/>
              <a:t>. </a:t>
            </a:r>
            <a:r>
              <a:rPr lang="en-US" altLang="ko-KR" sz="1400" b="1" dirty="0"/>
              <a:t>Reset “</a:t>
            </a:r>
            <a:r>
              <a:rPr lang="en-US" altLang="ko-KR" sz="1400" b="1" dirty="0" err="1"/>
              <a:t>kubeadm</a:t>
            </a:r>
            <a:r>
              <a:rPr lang="en-US" altLang="ko-KR" sz="1400" b="1" dirty="0"/>
              <a:t>” in master node</a:t>
            </a:r>
            <a:r>
              <a:rPr lang="en-US" altLang="ko-KR" sz="1400" dirty="0"/>
              <a:t>. </a:t>
            </a:r>
            <a:r>
              <a:rPr lang="en-US" altLang="ko-KR" sz="1400" b="1" dirty="0"/>
              <a:t>Reboot master and worker nodes</a:t>
            </a:r>
            <a:r>
              <a:rPr lang="en-US" altLang="ko-KR" sz="1400" dirty="0"/>
              <a:t>.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t>Step 02. Reboot your master and worker nodes. Do the previous things again from the “</a:t>
            </a:r>
            <a:r>
              <a:rPr lang="en-US" altLang="ko-KR" sz="1400" b="1" dirty="0" err="1"/>
              <a:t>kubeadm</a:t>
            </a:r>
            <a:r>
              <a:rPr lang="en-US" altLang="ko-KR" sz="1400" b="1" dirty="0"/>
              <a:t> </a:t>
            </a:r>
            <a:r>
              <a:rPr lang="en-US" altLang="ko-KR" sz="1400" b="1" dirty="0" err="1"/>
              <a:t>init</a:t>
            </a:r>
            <a:r>
              <a:rPr lang="en-US" altLang="ko-KR" sz="1400" b="1" dirty="0"/>
              <a:t>”</a:t>
            </a:r>
            <a:r>
              <a:rPr lang="en-US" altLang="ko-KR" sz="1400" dirty="0"/>
              <a:t>.</a:t>
            </a:r>
          </a:p>
          <a:p>
            <a:pPr lvl="1">
              <a:buFont typeface="Wingdings" panose="05000000000000000000" pitchFamily="2" charset="2"/>
              <a:buChar char="§"/>
            </a:pPr>
            <a:r>
              <a:rPr lang="en-US" altLang="ko-KR" sz="1400" dirty="0"/>
              <a:t>For more information, see the following link : </a:t>
            </a:r>
            <a:r>
              <a:rPr lang="en-US" altLang="ko-KR" sz="1400" b="1" dirty="0">
                <a:hlinkClick r:id="rId2"/>
              </a:rPr>
              <a:t>https://syhwang.tistory.com/52</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AC91987C-7033-4783-9254-1821790F4DC9}"/>
              </a:ext>
            </a:extLst>
          </p:cNvPr>
          <p:cNvPicPr>
            <a:picLocks noChangeAspect="1"/>
          </p:cNvPicPr>
          <p:nvPr/>
        </p:nvPicPr>
        <p:blipFill>
          <a:blip r:embed="rId3"/>
          <a:stretch>
            <a:fillRect/>
          </a:stretch>
        </p:blipFill>
        <p:spPr>
          <a:xfrm>
            <a:off x="2457450" y="1408588"/>
            <a:ext cx="7277100" cy="2183130"/>
          </a:xfrm>
          <a:prstGeom prst="rect">
            <a:avLst/>
          </a:prstGeom>
        </p:spPr>
      </p:pic>
      <p:sp>
        <p:nvSpPr>
          <p:cNvPr id="9" name="TextBox 8">
            <a:extLst>
              <a:ext uri="{FF2B5EF4-FFF2-40B4-BE49-F238E27FC236}">
                <a16:creationId xmlns:a16="http://schemas.microsoft.com/office/drawing/2014/main" id="{6AAC963B-4C62-4A05-B213-11912A7F3CF7}"/>
              </a:ext>
            </a:extLst>
          </p:cNvPr>
          <p:cNvSpPr txBox="1"/>
          <p:nvPr/>
        </p:nvSpPr>
        <p:spPr>
          <a:xfrm>
            <a:off x="2457450" y="3979704"/>
            <a:ext cx="7277100" cy="1631216"/>
          </a:xfrm>
          <a:prstGeom prst="rect">
            <a:avLst/>
          </a:prstGeom>
          <a:noFill/>
          <a:ln>
            <a:solidFill>
              <a:schemeClr val="bg1">
                <a:lumMod val="50000"/>
              </a:schemeClr>
            </a:solidFill>
          </a:ln>
        </p:spPr>
        <p:txBody>
          <a:bodyPr wrap="square" rtlCol="0">
            <a:spAutoFit/>
          </a:bodyPr>
          <a:lstStyle/>
          <a:p>
            <a:r>
              <a:rPr lang="en-US" altLang="ko-KR" sz="1000" b="1" dirty="0"/>
              <a:t>$ </a:t>
            </a:r>
            <a:r>
              <a:rPr lang="en-US" altLang="ko-KR" sz="1000" b="1" dirty="0" err="1"/>
              <a:t>sudo</a:t>
            </a:r>
            <a:r>
              <a:rPr lang="en-US" altLang="ko-KR" sz="1000" b="1" dirty="0"/>
              <a:t> </a:t>
            </a:r>
            <a:r>
              <a:rPr lang="en-US" altLang="ko-KR" sz="1000" b="1" dirty="0" err="1"/>
              <a:t>kubeadm</a:t>
            </a:r>
            <a:r>
              <a:rPr lang="en-US" altLang="ko-KR" sz="1000" b="1" dirty="0"/>
              <a:t> reset</a:t>
            </a:r>
          </a:p>
          <a:p>
            <a:r>
              <a:rPr lang="en-US" altLang="ko-KR" sz="1000" b="1" dirty="0"/>
              <a:t>$ </a:t>
            </a:r>
            <a:r>
              <a:rPr lang="en-US" altLang="ko-KR" sz="1000" b="1" dirty="0" err="1"/>
              <a:t>sudo</a:t>
            </a:r>
            <a:r>
              <a:rPr lang="en-US" altLang="ko-KR" sz="1000" b="1" dirty="0"/>
              <a:t> </a:t>
            </a:r>
            <a:r>
              <a:rPr lang="en-US" altLang="ko-KR" sz="1000" b="1" dirty="0" err="1"/>
              <a:t>systemctl</a:t>
            </a:r>
            <a:r>
              <a:rPr lang="en-US" altLang="ko-KR" sz="1000" b="1" dirty="0"/>
              <a:t> stop </a:t>
            </a:r>
            <a:r>
              <a:rPr lang="en-US" altLang="ko-KR" sz="1000" b="1" dirty="0" err="1"/>
              <a:t>kubelet</a:t>
            </a:r>
            <a:endParaRPr lang="en-US" altLang="ko-KR" sz="1000" b="1" dirty="0"/>
          </a:p>
          <a:p>
            <a:r>
              <a:rPr lang="en-US" altLang="ko-KR" sz="1000" b="1" dirty="0"/>
              <a:t>$ </a:t>
            </a:r>
            <a:r>
              <a:rPr lang="en-US" altLang="ko-KR" sz="1000" b="1" dirty="0" err="1"/>
              <a:t>sudo</a:t>
            </a:r>
            <a:r>
              <a:rPr lang="en-US" altLang="ko-KR" sz="1000" b="1" dirty="0"/>
              <a:t> </a:t>
            </a:r>
            <a:r>
              <a:rPr lang="en-US" altLang="ko-KR" sz="1000" b="1" dirty="0" err="1"/>
              <a:t>systemctl</a:t>
            </a:r>
            <a:r>
              <a:rPr lang="en-US" altLang="ko-KR" sz="1000" b="1" dirty="0"/>
              <a:t> stop docker</a:t>
            </a:r>
          </a:p>
          <a:p>
            <a:r>
              <a:rPr lang="en-US" altLang="ko-KR" sz="1000" b="1" dirty="0"/>
              <a:t>$ </a:t>
            </a:r>
            <a:r>
              <a:rPr lang="en-US" altLang="ko-KR" sz="1000" b="1" dirty="0" err="1"/>
              <a:t>sudo</a:t>
            </a:r>
            <a:r>
              <a:rPr lang="en-US" altLang="ko-KR" sz="1000" b="1" dirty="0"/>
              <a:t> rm -rf /var/lib/</a:t>
            </a:r>
            <a:r>
              <a:rPr lang="en-US" altLang="ko-KR" sz="1000" b="1" dirty="0" err="1"/>
              <a:t>cni</a:t>
            </a:r>
            <a:r>
              <a:rPr lang="en-US" altLang="ko-KR" sz="1000" b="1" dirty="0"/>
              <a:t>/</a:t>
            </a:r>
          </a:p>
          <a:p>
            <a:r>
              <a:rPr lang="en-US" altLang="ko-KR" sz="1000" b="1" dirty="0"/>
              <a:t>$ </a:t>
            </a:r>
            <a:r>
              <a:rPr lang="en-US" altLang="ko-KR" sz="1000" b="1" dirty="0" err="1"/>
              <a:t>sudo</a:t>
            </a:r>
            <a:r>
              <a:rPr lang="en-US" altLang="ko-KR" sz="1000" b="1" dirty="0"/>
              <a:t> rm -rf /var/lib/</a:t>
            </a:r>
            <a:r>
              <a:rPr lang="en-US" altLang="ko-KR" sz="1000" b="1" dirty="0" err="1"/>
              <a:t>kubelet</a:t>
            </a:r>
            <a:r>
              <a:rPr lang="en-US" altLang="ko-KR" sz="1000" b="1" dirty="0"/>
              <a:t>/*</a:t>
            </a:r>
          </a:p>
          <a:p>
            <a:r>
              <a:rPr lang="en-US" altLang="ko-KR" sz="1000" b="1" dirty="0"/>
              <a:t>$ </a:t>
            </a:r>
            <a:r>
              <a:rPr lang="en-US" altLang="ko-KR" sz="1000" b="1" dirty="0" err="1"/>
              <a:t>sudo</a:t>
            </a:r>
            <a:r>
              <a:rPr lang="en-US" altLang="ko-KR" sz="1000" b="1" dirty="0"/>
              <a:t> rm -rf /</a:t>
            </a:r>
            <a:r>
              <a:rPr lang="en-US" altLang="ko-KR" sz="1000" b="1" dirty="0" err="1"/>
              <a:t>etc</a:t>
            </a:r>
            <a:r>
              <a:rPr lang="en-US" altLang="ko-KR" sz="1000" b="1" dirty="0"/>
              <a:t>/</a:t>
            </a:r>
            <a:r>
              <a:rPr lang="en-US" altLang="ko-KR" sz="1000" b="1" dirty="0" err="1"/>
              <a:t>cni</a:t>
            </a:r>
            <a:endParaRPr lang="en-US" altLang="ko-KR" sz="1000" b="1" dirty="0"/>
          </a:p>
          <a:p>
            <a:r>
              <a:rPr lang="en-US" altLang="ko-KR" sz="1000" b="1" dirty="0"/>
              <a:t>$ </a:t>
            </a:r>
            <a:r>
              <a:rPr lang="en-US" altLang="ko-KR" sz="1000" b="1" dirty="0" err="1"/>
              <a:t>sudo</a:t>
            </a:r>
            <a:r>
              <a:rPr lang="en-US" altLang="ko-KR" sz="1000" b="1" dirty="0"/>
              <a:t> ifconfig cni0 down</a:t>
            </a:r>
          </a:p>
          <a:p>
            <a:r>
              <a:rPr lang="en-US" altLang="ko-KR" sz="1000" b="1" dirty="0"/>
              <a:t>$ </a:t>
            </a:r>
            <a:r>
              <a:rPr lang="en-US" altLang="ko-KR" sz="1000" b="1" dirty="0" err="1"/>
              <a:t>sudo</a:t>
            </a:r>
            <a:r>
              <a:rPr lang="en-US" altLang="ko-KR" sz="1000" b="1" dirty="0"/>
              <a:t> ifconfig flannel.1 down</a:t>
            </a:r>
          </a:p>
          <a:p>
            <a:r>
              <a:rPr lang="en-US" altLang="ko-KR" sz="1000" b="1" dirty="0"/>
              <a:t>$ </a:t>
            </a:r>
            <a:r>
              <a:rPr lang="en-US" altLang="ko-KR" sz="1000" b="1" dirty="0" err="1"/>
              <a:t>sudo</a:t>
            </a:r>
            <a:r>
              <a:rPr lang="en-US" altLang="ko-KR" sz="1000" b="1" dirty="0"/>
              <a:t> ifconfig docker0 down</a:t>
            </a:r>
          </a:p>
          <a:p>
            <a:r>
              <a:rPr lang="en-US" altLang="ko-KR" sz="1000" b="1" dirty="0"/>
              <a:t>$ </a:t>
            </a:r>
            <a:r>
              <a:rPr lang="en-US" altLang="ko-KR" sz="1000" b="1" dirty="0" err="1"/>
              <a:t>sudo</a:t>
            </a:r>
            <a:r>
              <a:rPr lang="en-US" altLang="ko-KR" sz="1000" b="1" dirty="0"/>
              <a:t> shutdown -r now</a:t>
            </a:r>
            <a:endParaRPr lang="ko-KR" altLang="en-US" sz="1000" b="1" dirty="0"/>
          </a:p>
        </p:txBody>
      </p:sp>
    </p:spTree>
    <p:extLst>
      <p:ext uri="{BB962C8B-B14F-4D97-AF65-F5344CB8AC3E}">
        <p14:creationId xmlns:p14="http://schemas.microsoft.com/office/powerpoint/2010/main" val="122212211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The Final Result</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Running “</a:t>
            </a:r>
            <a:r>
              <a:rPr lang="en-US" altLang="ko-KR" sz="1800" b="1" dirty="0" err="1"/>
              <a:t>kubia</a:t>
            </a:r>
            <a:r>
              <a:rPr lang="en-US" altLang="ko-KR" sz="1800" b="1" dirty="0"/>
              <a:t>” Example :</a:t>
            </a:r>
          </a:p>
          <a:p>
            <a:pPr lvl="1">
              <a:buFont typeface="Wingdings" panose="05000000000000000000" pitchFamily="2" charset="2"/>
              <a:buChar char="§"/>
            </a:pPr>
            <a:r>
              <a:rPr lang="en-US" altLang="ko-KR" sz="1400" dirty="0"/>
              <a:t>If you did all things correctly, you will see the following screen shot. It is not easy to make an </a:t>
            </a:r>
            <a:r>
              <a:rPr lang="en-US" altLang="ko-KR" sz="1400" b="1" dirty="0"/>
              <a:t>On-Premise Kubernetes Cluster </a:t>
            </a:r>
            <a:r>
              <a:rPr lang="en-US" altLang="ko-KR" sz="1400" dirty="0"/>
              <a:t>in your network. But, you can find many solutions for your problems you meet in the near future. </a:t>
            </a:r>
            <a:r>
              <a:rPr lang="en-US" altLang="ko-KR" sz="1400" b="1" dirty="0"/>
              <a:t>Please enjoy your daily life with Kubernetes and good luck to you and your family!!!</a:t>
            </a:r>
            <a:r>
              <a:rPr lang="en-US" altLang="ko-KR" sz="1400" dirty="0"/>
              <a:t>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5351A484-F61B-4F52-8B9A-C492A216D422}"/>
              </a:ext>
            </a:extLst>
          </p:cNvPr>
          <p:cNvPicPr>
            <a:picLocks noChangeAspect="1"/>
          </p:cNvPicPr>
          <p:nvPr/>
        </p:nvPicPr>
        <p:blipFill>
          <a:blip r:embed="rId2"/>
          <a:stretch>
            <a:fillRect/>
          </a:stretch>
        </p:blipFill>
        <p:spPr>
          <a:xfrm>
            <a:off x="1338819" y="2225043"/>
            <a:ext cx="9514361" cy="2407913"/>
          </a:xfrm>
          <a:prstGeom prst="rect">
            <a:avLst/>
          </a:prstGeom>
          <a:ln>
            <a:solidFill>
              <a:schemeClr val="bg1">
                <a:lumMod val="50000"/>
              </a:schemeClr>
            </a:solidFill>
          </a:ln>
        </p:spPr>
      </p:pic>
    </p:spTree>
    <p:extLst>
      <p:ext uri="{BB962C8B-B14F-4D97-AF65-F5344CB8AC3E}">
        <p14:creationId xmlns:p14="http://schemas.microsoft.com/office/powerpoint/2010/main" val="219074814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Using “</a:t>
            </a:r>
            <a:r>
              <a:rPr lang="en-US" altLang="ko-KR" sz="2800" b="1" dirty="0" err="1"/>
              <a:t>kubectl</a:t>
            </a:r>
            <a:r>
              <a:rPr lang="en-US" altLang="ko-KR" sz="2800" b="1" dirty="0"/>
              <a:t>” in Worker Node</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In Worker Node :</a:t>
            </a:r>
          </a:p>
          <a:p>
            <a:pPr lvl="1">
              <a:buFont typeface="Wingdings" panose="05000000000000000000" pitchFamily="2" charset="2"/>
              <a:buChar char="§"/>
            </a:pPr>
            <a:r>
              <a:rPr lang="en-US" altLang="ko-KR" sz="1400" dirty="0"/>
              <a:t>You need to copy “</a:t>
            </a:r>
            <a:r>
              <a:rPr lang="en-US" altLang="ko-KR" sz="1400" b="1" dirty="0" err="1"/>
              <a:t>admin.conf</a:t>
            </a:r>
            <a:r>
              <a:rPr lang="en-US" altLang="ko-KR" sz="1400" dirty="0"/>
              <a:t>” file to your “</a:t>
            </a:r>
            <a:r>
              <a:rPr lang="en-US" altLang="ko-KR" sz="1400" b="1" dirty="0"/>
              <a:t>$HOME/.</a:t>
            </a:r>
            <a:r>
              <a:rPr lang="en-US" altLang="ko-KR" sz="1400" b="1" dirty="0" err="1"/>
              <a:t>kube</a:t>
            </a:r>
            <a:r>
              <a:rPr lang="en-US" altLang="ko-KR" sz="1400" b="1" dirty="0"/>
              <a:t>/config</a:t>
            </a:r>
            <a:r>
              <a:rPr lang="en-US" altLang="ko-KR" sz="1400" dirty="0"/>
              <a:t>” file. To do that, you can use “</a:t>
            </a:r>
            <a:r>
              <a:rPr lang="en-US" altLang="ko-KR" sz="1400" b="1" dirty="0"/>
              <a:t>Secure Copy(SCP)</a:t>
            </a:r>
            <a:r>
              <a:rPr lang="en-US" altLang="ko-KR" sz="1400" dirty="0"/>
              <a:t>” in your worker node terminal.</a:t>
            </a:r>
          </a:p>
          <a:p>
            <a:pPr lvl="1">
              <a:buFont typeface="Wingdings" panose="05000000000000000000" pitchFamily="2" charset="2"/>
              <a:buChar char="§"/>
            </a:pPr>
            <a:r>
              <a:rPr lang="en-US" altLang="ko-KR" sz="1400" dirty="0"/>
              <a:t>Actually, the “</a:t>
            </a:r>
            <a:r>
              <a:rPr lang="en-US" altLang="ko-KR" sz="1400" b="1" dirty="0" err="1"/>
              <a:t>admin.conf</a:t>
            </a:r>
            <a:r>
              <a:rPr lang="en-US" altLang="ko-KR" sz="1400" dirty="0"/>
              <a:t>” file is your “</a:t>
            </a:r>
            <a:r>
              <a:rPr lang="en-US" altLang="ko-KR" sz="1400" b="1" dirty="0"/>
              <a:t>$HOME/.</a:t>
            </a:r>
            <a:r>
              <a:rPr lang="en-US" altLang="ko-KR" sz="1400" b="1" dirty="0" err="1"/>
              <a:t>kube</a:t>
            </a:r>
            <a:r>
              <a:rPr lang="en-US" altLang="ko-KR" sz="1400" b="1" dirty="0"/>
              <a:t>/config</a:t>
            </a:r>
            <a:r>
              <a:rPr lang="en-US" altLang="ko-KR" sz="1400" dirty="0"/>
              <a:t>” file in master node. So you can just copy the file with the following command in worker node.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011DA221-001C-4C6A-A26B-18FF4CDD6F9F}"/>
              </a:ext>
            </a:extLst>
          </p:cNvPr>
          <p:cNvGrpSpPr/>
          <p:nvPr/>
        </p:nvGrpSpPr>
        <p:grpSpPr>
          <a:xfrm>
            <a:off x="1033028" y="2229165"/>
            <a:ext cx="10125943" cy="3854429"/>
            <a:chOff x="1033028" y="2173850"/>
            <a:chExt cx="10125943" cy="3854429"/>
          </a:xfrm>
        </p:grpSpPr>
        <p:sp>
          <p:nvSpPr>
            <p:cNvPr id="4" name="직사각형 3">
              <a:extLst>
                <a:ext uri="{FF2B5EF4-FFF2-40B4-BE49-F238E27FC236}">
                  <a16:creationId xmlns:a16="http://schemas.microsoft.com/office/drawing/2014/main" id="{DD366A72-BB6F-419C-859F-CACA161D1672}"/>
                </a:ext>
              </a:extLst>
            </p:cNvPr>
            <p:cNvSpPr/>
            <p:nvPr/>
          </p:nvSpPr>
          <p:spPr>
            <a:xfrm>
              <a:off x="3048000" y="2173850"/>
              <a:ext cx="6096000" cy="400110"/>
            </a:xfrm>
            <a:prstGeom prst="rect">
              <a:avLst/>
            </a:prstGeom>
            <a:ln>
              <a:solidFill>
                <a:schemeClr val="bg1">
                  <a:lumMod val="50000"/>
                </a:schemeClr>
              </a:solidFill>
            </a:ln>
          </p:spPr>
          <p:txBody>
            <a:bodyPr>
              <a:spAutoFit/>
            </a:bodyPr>
            <a:lstStyle/>
            <a:p>
              <a:r>
                <a:rPr lang="en-US" altLang="ko-KR" sz="1000" b="1" dirty="0"/>
                <a:t>$ </a:t>
              </a:r>
              <a:r>
                <a:rPr lang="en-US" altLang="ko-KR" sz="1000" b="1" dirty="0" err="1"/>
                <a:t>scp</a:t>
              </a:r>
              <a:r>
                <a:rPr lang="en-US" altLang="ko-KR" sz="1000" b="1" dirty="0"/>
                <a:t> shkwon@192.168.100.31:$HOME/.</a:t>
              </a:r>
              <a:r>
                <a:rPr lang="en-US" altLang="ko-KR" sz="1000" b="1" dirty="0" err="1"/>
                <a:t>kube</a:t>
              </a:r>
              <a:r>
                <a:rPr lang="en-US" altLang="ko-KR" sz="1000" b="1" dirty="0"/>
                <a:t>/config $HOME/.</a:t>
              </a:r>
              <a:r>
                <a:rPr lang="en-US" altLang="ko-KR" sz="1000" b="1" dirty="0" err="1"/>
                <a:t>kube</a:t>
              </a:r>
              <a:r>
                <a:rPr lang="en-US" altLang="ko-KR" sz="1000" b="1" dirty="0"/>
                <a:t>/config</a:t>
              </a:r>
            </a:p>
            <a:p>
              <a:r>
                <a:rPr lang="en-US" altLang="ko-KR" sz="1000" b="1" dirty="0"/>
                <a:t>$ export KUBECONFIG=$HOME/.</a:t>
              </a:r>
              <a:r>
                <a:rPr lang="en-US" altLang="ko-KR" sz="1000" b="1" dirty="0" err="1"/>
                <a:t>kube</a:t>
              </a:r>
              <a:r>
                <a:rPr lang="en-US" altLang="ko-KR" sz="1000" b="1" dirty="0"/>
                <a:t>/config</a:t>
              </a:r>
            </a:p>
          </p:txBody>
        </p:sp>
        <p:pic>
          <p:nvPicPr>
            <p:cNvPr id="9" name="그림 8">
              <a:extLst>
                <a:ext uri="{FF2B5EF4-FFF2-40B4-BE49-F238E27FC236}">
                  <a16:creationId xmlns:a16="http://schemas.microsoft.com/office/drawing/2014/main" id="{2D3C0401-3E48-4805-B6DA-4CEA4F919168}"/>
                </a:ext>
              </a:extLst>
            </p:cNvPr>
            <p:cNvPicPr>
              <a:picLocks noChangeAspect="1"/>
            </p:cNvPicPr>
            <p:nvPr/>
          </p:nvPicPr>
          <p:blipFill>
            <a:blip r:embed="rId2"/>
            <a:stretch>
              <a:fillRect/>
            </a:stretch>
          </p:blipFill>
          <p:spPr>
            <a:xfrm>
              <a:off x="1033028" y="2859668"/>
              <a:ext cx="10125943" cy="3168611"/>
            </a:xfrm>
            <a:prstGeom prst="rect">
              <a:avLst/>
            </a:prstGeom>
            <a:ln>
              <a:solidFill>
                <a:schemeClr val="bg1">
                  <a:lumMod val="50000"/>
                </a:schemeClr>
              </a:solidFill>
            </a:ln>
          </p:spPr>
        </p:pic>
        <p:sp>
          <p:nvSpPr>
            <p:cNvPr id="10" name="화살표: 아래쪽 9">
              <a:extLst>
                <a:ext uri="{FF2B5EF4-FFF2-40B4-BE49-F238E27FC236}">
                  <a16:creationId xmlns:a16="http://schemas.microsoft.com/office/drawing/2014/main" id="{53159204-F20B-4404-8F00-545D3F2A8678}"/>
                </a:ext>
              </a:extLst>
            </p:cNvPr>
            <p:cNvSpPr/>
            <p:nvPr/>
          </p:nvSpPr>
          <p:spPr>
            <a:xfrm>
              <a:off x="5886450" y="2589586"/>
              <a:ext cx="419100" cy="270082"/>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423046360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Big Picture</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Pods, CNI, Flannel, CIDR :</a:t>
            </a:r>
          </a:p>
          <a:p>
            <a:pPr lvl="1">
              <a:buFont typeface="Wingdings" panose="05000000000000000000" pitchFamily="2" charset="2"/>
              <a:buChar char="§"/>
            </a:pPr>
            <a:r>
              <a:rPr lang="en-US" altLang="ko-KR" sz="1400" dirty="0"/>
              <a:t>To understand the </a:t>
            </a:r>
            <a:r>
              <a:rPr lang="en-US" altLang="ko-KR" sz="1400" dirty="0" err="1"/>
              <a:t>Multinode</a:t>
            </a:r>
            <a:r>
              <a:rPr lang="en-US" altLang="ko-KR" sz="1400" dirty="0"/>
              <a:t> Kubernetes cluster, you need to get an image how it works in your mind. See the following figures.</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7" name="그룹 16">
            <a:extLst>
              <a:ext uri="{FF2B5EF4-FFF2-40B4-BE49-F238E27FC236}">
                <a16:creationId xmlns:a16="http://schemas.microsoft.com/office/drawing/2014/main" id="{2054E562-1F51-4663-AC11-7ACC4BCC2C03}"/>
              </a:ext>
            </a:extLst>
          </p:cNvPr>
          <p:cNvGrpSpPr/>
          <p:nvPr/>
        </p:nvGrpSpPr>
        <p:grpSpPr>
          <a:xfrm>
            <a:off x="3103245" y="1608784"/>
            <a:ext cx="5985510" cy="4846930"/>
            <a:chOff x="3103245" y="1608784"/>
            <a:chExt cx="5985510" cy="4846930"/>
          </a:xfrm>
        </p:grpSpPr>
        <p:grpSp>
          <p:nvGrpSpPr>
            <p:cNvPr id="14" name="그룹 13">
              <a:extLst>
                <a:ext uri="{FF2B5EF4-FFF2-40B4-BE49-F238E27FC236}">
                  <a16:creationId xmlns:a16="http://schemas.microsoft.com/office/drawing/2014/main" id="{832A4AA2-E81C-4801-B9A2-A2ABAA3E29E1}"/>
                </a:ext>
              </a:extLst>
            </p:cNvPr>
            <p:cNvGrpSpPr/>
            <p:nvPr/>
          </p:nvGrpSpPr>
          <p:grpSpPr>
            <a:xfrm>
              <a:off x="3103245" y="1608784"/>
              <a:ext cx="5985510" cy="4846930"/>
              <a:chOff x="2502702" y="1228258"/>
              <a:chExt cx="6587958" cy="5493217"/>
            </a:xfrm>
          </p:grpSpPr>
          <p:pic>
            <p:nvPicPr>
              <p:cNvPr id="12" name="그림 11">
                <a:extLst>
                  <a:ext uri="{FF2B5EF4-FFF2-40B4-BE49-F238E27FC236}">
                    <a16:creationId xmlns:a16="http://schemas.microsoft.com/office/drawing/2014/main" id="{AA65D033-687B-45E0-9EA8-A622C9D7D2FF}"/>
                  </a:ext>
                </a:extLst>
              </p:cNvPr>
              <p:cNvPicPr>
                <a:picLocks noChangeAspect="1"/>
              </p:cNvPicPr>
              <p:nvPr/>
            </p:nvPicPr>
            <p:blipFill>
              <a:blip r:embed="rId2"/>
              <a:stretch>
                <a:fillRect/>
              </a:stretch>
            </p:blipFill>
            <p:spPr>
              <a:xfrm>
                <a:off x="2502702" y="1228258"/>
                <a:ext cx="6587958" cy="2933700"/>
              </a:xfrm>
              <a:prstGeom prst="rect">
                <a:avLst/>
              </a:prstGeom>
            </p:spPr>
          </p:pic>
          <p:pic>
            <p:nvPicPr>
              <p:cNvPr id="13" name="그림 12">
                <a:extLst>
                  <a:ext uri="{FF2B5EF4-FFF2-40B4-BE49-F238E27FC236}">
                    <a16:creationId xmlns:a16="http://schemas.microsoft.com/office/drawing/2014/main" id="{8EBE554F-3488-4236-A38E-31B3AB5E9703}"/>
                  </a:ext>
                </a:extLst>
              </p:cNvPr>
              <p:cNvPicPr>
                <a:picLocks noChangeAspect="1"/>
              </p:cNvPicPr>
              <p:nvPr/>
            </p:nvPicPr>
            <p:blipFill>
              <a:blip r:embed="rId3"/>
              <a:stretch>
                <a:fillRect/>
              </a:stretch>
            </p:blipFill>
            <p:spPr>
              <a:xfrm>
                <a:off x="2824881" y="4238553"/>
                <a:ext cx="5943600" cy="2482922"/>
              </a:xfrm>
              <a:prstGeom prst="rect">
                <a:avLst/>
              </a:prstGeom>
            </p:spPr>
          </p:pic>
        </p:grpSp>
        <p:sp>
          <p:nvSpPr>
            <p:cNvPr id="15" name="TextBox 14">
              <a:extLst>
                <a:ext uri="{FF2B5EF4-FFF2-40B4-BE49-F238E27FC236}">
                  <a16:creationId xmlns:a16="http://schemas.microsoft.com/office/drawing/2014/main" id="{687941C7-F04C-48EB-8113-B38C9CDD2496}"/>
                </a:ext>
              </a:extLst>
            </p:cNvPr>
            <p:cNvSpPr txBox="1"/>
            <p:nvPr/>
          </p:nvSpPr>
          <p:spPr>
            <a:xfrm>
              <a:off x="4055513" y="2209800"/>
              <a:ext cx="606256" cy="246221"/>
            </a:xfrm>
            <a:prstGeom prst="rect">
              <a:avLst/>
            </a:prstGeom>
            <a:noFill/>
          </p:spPr>
          <p:txBody>
            <a:bodyPr wrap="none" rtlCol="0">
              <a:spAutoFit/>
            </a:bodyPr>
            <a:lstStyle/>
            <a:p>
              <a:pPr algn="ctr"/>
              <a:r>
                <a:rPr lang="en-US" altLang="ko-KR" sz="1000" b="1" dirty="0"/>
                <a:t>Master</a:t>
              </a:r>
              <a:endParaRPr lang="ko-KR" altLang="en-US" sz="1000" b="1" dirty="0"/>
            </a:p>
          </p:txBody>
        </p:sp>
        <p:sp>
          <p:nvSpPr>
            <p:cNvPr id="16" name="TextBox 15">
              <a:extLst>
                <a:ext uri="{FF2B5EF4-FFF2-40B4-BE49-F238E27FC236}">
                  <a16:creationId xmlns:a16="http://schemas.microsoft.com/office/drawing/2014/main" id="{40784081-9F5E-4A51-B6CF-B185D02B1744}"/>
                </a:ext>
              </a:extLst>
            </p:cNvPr>
            <p:cNvSpPr txBox="1"/>
            <p:nvPr/>
          </p:nvSpPr>
          <p:spPr>
            <a:xfrm>
              <a:off x="7536996" y="2209800"/>
              <a:ext cx="635110" cy="246221"/>
            </a:xfrm>
            <a:prstGeom prst="rect">
              <a:avLst/>
            </a:prstGeom>
            <a:noFill/>
          </p:spPr>
          <p:txBody>
            <a:bodyPr wrap="none" rtlCol="0">
              <a:spAutoFit/>
            </a:bodyPr>
            <a:lstStyle/>
            <a:p>
              <a:pPr algn="ctr"/>
              <a:r>
                <a:rPr lang="en-US" altLang="ko-KR" sz="1000" b="1" dirty="0"/>
                <a:t>Worker</a:t>
              </a:r>
              <a:endParaRPr lang="ko-KR" altLang="en-US" sz="1000" b="1" dirty="0"/>
            </a:p>
          </p:txBody>
        </p:sp>
      </p:grpSp>
    </p:spTree>
    <p:extLst>
      <p:ext uri="{BB962C8B-B14F-4D97-AF65-F5344CB8AC3E}">
        <p14:creationId xmlns:p14="http://schemas.microsoft.com/office/powerpoint/2010/main" val="109897311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Reference</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823972"/>
            <a:ext cx="10515600" cy="5532371"/>
          </a:xfrm>
        </p:spPr>
        <p:txBody>
          <a:bodyPr>
            <a:normAutofit/>
          </a:bodyPr>
          <a:lstStyle/>
          <a:p>
            <a:pPr marL="0" indent="0">
              <a:buNone/>
            </a:pPr>
            <a:r>
              <a:rPr lang="en-US" altLang="ko-KR" sz="1400" b="1" dirty="0"/>
              <a:t>[1] Kubernetes: Up and Running, Dive into the Future of Infrastructure, Brendan Burns, Joe Beda, and Kelsey Hightower, </a:t>
            </a:r>
            <a:r>
              <a:rPr lang="en-US" altLang="ko-KR" sz="1400" b="1" dirty="0" err="1"/>
              <a:t>Oreilly</a:t>
            </a:r>
            <a:r>
              <a:rPr lang="en-US" altLang="ko-KR" sz="1400" b="1" dirty="0"/>
              <a:t>, 2</a:t>
            </a:r>
            <a:r>
              <a:rPr lang="en-US" altLang="ko-KR" sz="1400" b="1" baseline="30000" dirty="0"/>
              <a:t>nd</a:t>
            </a:r>
            <a:r>
              <a:rPr lang="en-US" altLang="ko-KR" sz="1400" b="1" dirty="0"/>
              <a:t> Edition, 2019. </a:t>
            </a:r>
          </a:p>
          <a:p>
            <a:pPr marL="0" indent="0">
              <a:buNone/>
            </a:pPr>
            <a:r>
              <a:rPr lang="en-US" altLang="ko-KR" sz="1400" b="1" dirty="0"/>
              <a:t>[2] </a:t>
            </a:r>
            <a:r>
              <a:rPr lang="en-US" altLang="ko-KR" sz="1400" b="1" dirty="0">
                <a:hlinkClick r:id="rId2"/>
              </a:rPr>
              <a:t>https://github.com/kubernetes-up-and-running</a:t>
            </a:r>
            <a:endParaRPr lang="en-US" altLang="ko-KR" sz="1400" b="1" dirty="0"/>
          </a:p>
          <a:p>
            <a:pPr marL="0" indent="0">
              <a:buNone/>
            </a:pPr>
            <a:r>
              <a:rPr lang="en-US" altLang="ko-KR" sz="1400" b="1" dirty="0"/>
              <a:t>[3] </a:t>
            </a:r>
            <a:r>
              <a:rPr lang="en-US" altLang="ko-KR" sz="1400" b="1" dirty="0">
                <a:hlinkClick r:id="rId3"/>
              </a:rPr>
              <a:t>https://dongle94.github.io/kubernetes/kubernetes-cluster-build/</a:t>
            </a:r>
            <a:r>
              <a:rPr lang="en-US" altLang="ko-KR" sz="1400" b="1" dirty="0"/>
              <a:t> </a:t>
            </a:r>
          </a:p>
          <a:p>
            <a:pPr marL="0" indent="0">
              <a:buNone/>
            </a:pPr>
            <a:r>
              <a:rPr lang="en-US" altLang="ko-KR" sz="1400" b="1" dirty="0"/>
              <a:t>[4] </a:t>
            </a:r>
            <a:r>
              <a:rPr lang="en-US" altLang="ko-KR" sz="1400" b="1" dirty="0">
                <a:hlinkClick r:id="rId4"/>
              </a:rPr>
              <a:t>https://kubernetes.io/docs/reference/setup-tools/kubeadm/</a:t>
            </a:r>
            <a:endParaRPr lang="en-US" altLang="ko-KR" sz="1400" b="1" dirty="0"/>
          </a:p>
          <a:p>
            <a:pPr marL="0" indent="0">
              <a:buNone/>
            </a:pPr>
            <a:r>
              <a:rPr lang="en-US" altLang="ko-KR" sz="1400" b="1" dirty="0"/>
              <a:t>[5] </a:t>
            </a:r>
            <a:r>
              <a:rPr lang="en-US" altLang="ko-KR" sz="1400" b="1" dirty="0">
                <a:hlinkClick r:id="rId5"/>
              </a:rPr>
              <a:t>https://kubernetes.io/docs/setup/production-environment/tools/kubeadm/troubleshooting-kubeadm/</a:t>
            </a:r>
            <a:endParaRPr lang="en-US" altLang="ko-KR" sz="1400" b="1" dirty="0"/>
          </a:p>
          <a:p>
            <a:pPr marL="0" indent="0">
              <a:buNone/>
            </a:pPr>
            <a:r>
              <a:rPr lang="en-US" altLang="ko-KR" sz="1400" b="1" dirty="0"/>
              <a:t>[6] </a:t>
            </a:r>
            <a:r>
              <a:rPr lang="en-US" altLang="ko-KR" sz="1400" b="1" dirty="0">
                <a:hlinkClick r:id="rId6"/>
              </a:rPr>
              <a:t>https://kubernetes.io/ko/docs/setup/production-environment/tools/kubeadm/_print/</a:t>
            </a:r>
            <a:r>
              <a:rPr lang="en-US" altLang="ko-KR" sz="1400" b="1" dirty="0"/>
              <a:t> </a:t>
            </a:r>
          </a:p>
          <a:p>
            <a:pPr marL="0" indent="0">
              <a:buNone/>
            </a:pPr>
            <a:r>
              <a:rPr lang="en-US" altLang="ko-KR" sz="1400" b="1" dirty="0"/>
              <a:t>[7] </a:t>
            </a:r>
            <a:r>
              <a:rPr lang="en-US" altLang="ko-KR" sz="1400" b="1" dirty="0">
                <a:hlinkClick r:id="rId7"/>
              </a:rPr>
              <a:t>https://www.tigera.io/project-calico/</a:t>
            </a:r>
            <a:r>
              <a:rPr lang="en-US" altLang="ko-KR" sz="1400" b="1" dirty="0"/>
              <a:t> </a:t>
            </a:r>
          </a:p>
          <a:p>
            <a:pPr marL="0" indent="0">
              <a:buNone/>
            </a:pPr>
            <a:r>
              <a:rPr lang="en-US" altLang="ko-KR" sz="1400" b="1" dirty="0"/>
              <a:t>[8] </a:t>
            </a:r>
            <a:r>
              <a:rPr lang="en-US" altLang="ko-KR" sz="1400" b="1" dirty="0">
                <a:hlinkClick r:id="rId8"/>
              </a:rPr>
              <a:t>https://kubernetes.io/ko/docs/concepts/cluster-administration/addons/</a:t>
            </a:r>
            <a:r>
              <a:rPr lang="en-US" altLang="ko-KR" sz="1400" b="1" dirty="0"/>
              <a:t> </a:t>
            </a:r>
          </a:p>
          <a:p>
            <a:pPr marL="0" indent="0">
              <a:buNone/>
            </a:pPr>
            <a:r>
              <a:rPr lang="en-US" altLang="ko-KR" sz="1400" b="1" dirty="0"/>
              <a:t>[9] </a:t>
            </a:r>
            <a:r>
              <a:rPr lang="en-US" altLang="ko-KR" sz="1400" b="1" dirty="0">
                <a:hlinkClick r:id="rId9"/>
              </a:rPr>
              <a:t>https://blog.knoldus.com/how-to-install-kubernetes-on-ubuntu-20-04-kubeadm-and-minikube/</a:t>
            </a:r>
            <a:r>
              <a:rPr lang="en-US" altLang="ko-KR" sz="1400" b="1" dirty="0"/>
              <a:t> </a:t>
            </a:r>
          </a:p>
          <a:p>
            <a:pPr marL="0" indent="0">
              <a:buNone/>
            </a:pPr>
            <a:r>
              <a:rPr lang="en-US" altLang="ko-KR" sz="1400" b="1" dirty="0"/>
              <a:t>[10] </a:t>
            </a:r>
            <a:r>
              <a:rPr lang="en-US" altLang="ko-KR" sz="1400" b="1" dirty="0">
                <a:hlinkClick r:id="rId10"/>
              </a:rPr>
              <a:t>https://nirsa.tistory.com/295</a:t>
            </a:r>
            <a:r>
              <a:rPr lang="en-US" altLang="ko-KR" sz="1400" b="1" dirty="0"/>
              <a:t> </a:t>
            </a:r>
          </a:p>
          <a:p>
            <a:pPr marL="0" indent="0">
              <a:buNone/>
            </a:pPr>
            <a:r>
              <a:rPr lang="en-US" altLang="ko-KR" sz="1400" b="1" dirty="0"/>
              <a:t>[11] </a:t>
            </a:r>
            <a:r>
              <a:rPr lang="en-US" altLang="ko-KR" sz="1400" b="1" dirty="0">
                <a:hlinkClick r:id="rId11"/>
              </a:rPr>
              <a:t>https://github.com/weaveworks/weave/issues/3758</a:t>
            </a:r>
            <a:r>
              <a:rPr lang="en-US" altLang="ko-KR" sz="1400" b="1" dirty="0"/>
              <a:t> </a:t>
            </a:r>
          </a:p>
        </p:txBody>
      </p:sp>
      <p:sp>
        <p:nvSpPr>
          <p:cNvPr id="5" name="날짜 개체 틀 4">
            <a:extLst>
              <a:ext uri="{FF2B5EF4-FFF2-40B4-BE49-F238E27FC236}">
                <a16:creationId xmlns:a16="http://schemas.microsoft.com/office/drawing/2014/main" id="{71F25A6A-304E-4639-90AF-E4FB371FA41F}"/>
              </a:ext>
            </a:extLst>
          </p:cNvPr>
          <p:cNvSpPr>
            <a:spLocks noGrp="1"/>
          </p:cNvSpPr>
          <p:nvPr>
            <p:ph type="dt" sz="half" idx="10"/>
          </p:nvPr>
        </p:nvSpPr>
        <p:spPr/>
        <p:txBody>
          <a:bodyPr/>
          <a:lstStyle/>
          <a:p>
            <a:fld id="{54654E97-B81D-448F-BE65-F0EB75A60915}"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1F8D8AB8-381F-4242-8AFA-B0E9DE538CFE}"/>
              </a:ext>
            </a:extLst>
          </p:cNvPr>
          <p:cNvSpPr>
            <a:spLocks noGrp="1"/>
          </p:cNvSpPr>
          <p:nvPr>
            <p:ph type="sldNum" sz="quarter" idx="12"/>
          </p:nvPr>
        </p:nvSpPr>
        <p:spPr/>
        <p:txBody>
          <a:bodyPr/>
          <a:lstStyle/>
          <a:p>
            <a:fld id="{34C98182-889D-4BA7-ABC9-29B15B402893}" type="slidenum">
              <a:rPr lang="ko-KR" altLang="en-US" smtClean="0"/>
              <a:t>52</a:t>
            </a:fld>
            <a:endParaRPr lang="ko-KR" altLang="en-US"/>
          </a:p>
        </p:txBody>
      </p:sp>
      <p:cxnSp>
        <p:nvCxnSpPr>
          <p:cNvPr id="9" name="직선 연결선 8">
            <a:extLst>
              <a:ext uri="{FF2B5EF4-FFF2-40B4-BE49-F238E27FC236}">
                <a16:creationId xmlns:a16="http://schemas.microsoft.com/office/drawing/2014/main" id="{693BF51C-B510-4B04-B7A1-BEEFBB6CE968}"/>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BF9582E8-13A6-4248-A570-E642AB1BB67D}"/>
              </a:ext>
            </a:extLst>
          </p:cNvPr>
          <p:cNvPicPr>
            <a:picLocks noChangeAspect="1"/>
          </p:cNvPicPr>
          <p:nvPr/>
        </p:nvPicPr>
        <p:blipFill>
          <a:blip r:embed="rId12"/>
          <a:stretch>
            <a:fillRect/>
          </a:stretch>
        </p:blipFill>
        <p:spPr>
          <a:xfrm>
            <a:off x="9682600" y="4167554"/>
            <a:ext cx="1671200" cy="2188789"/>
          </a:xfrm>
          <a:prstGeom prst="rect">
            <a:avLst/>
          </a:prstGeom>
          <a:ln>
            <a:solidFill>
              <a:schemeClr val="bg1">
                <a:lumMod val="50000"/>
              </a:schemeClr>
            </a:solidFill>
          </a:ln>
        </p:spPr>
      </p:pic>
    </p:spTree>
    <p:extLst>
      <p:ext uri="{BB962C8B-B14F-4D97-AF65-F5344CB8AC3E}">
        <p14:creationId xmlns:p14="http://schemas.microsoft.com/office/powerpoint/2010/main" val="84487956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 &amp; !</a:t>
            </a:r>
            <a:endParaRPr lang="ko-KR" altLang="en-US" sz="2800" b="1" dirty="0"/>
          </a:p>
        </p:txBody>
      </p:sp>
      <p:sp>
        <p:nvSpPr>
          <p:cNvPr id="5" name="날짜 개체 틀 4">
            <a:extLst>
              <a:ext uri="{FF2B5EF4-FFF2-40B4-BE49-F238E27FC236}">
                <a16:creationId xmlns:a16="http://schemas.microsoft.com/office/drawing/2014/main" id="{BD483CEA-56F2-47AB-BFA1-132A8DDCC80B}"/>
              </a:ext>
            </a:extLst>
          </p:cNvPr>
          <p:cNvSpPr>
            <a:spLocks noGrp="1"/>
          </p:cNvSpPr>
          <p:nvPr>
            <p:ph type="dt" sz="half" idx="10"/>
          </p:nvPr>
        </p:nvSpPr>
        <p:spPr/>
        <p:txBody>
          <a:bodyPr/>
          <a:lstStyle/>
          <a:p>
            <a:fld id="{6A8ABF0E-5B75-4D4D-BF96-82EF72C3019F}" type="datetime1">
              <a:rPr lang="ko-KR" altLang="en-US" smtClean="0"/>
              <a:t>2026-08-18</a:t>
            </a:fld>
            <a:endParaRPr lang="ko-KR" altLang="en-US"/>
          </a:p>
        </p:txBody>
      </p:sp>
      <p:sp>
        <p:nvSpPr>
          <p:cNvPr id="6" name="슬라이드 번호 개체 틀 5">
            <a:extLst>
              <a:ext uri="{FF2B5EF4-FFF2-40B4-BE49-F238E27FC236}">
                <a16:creationId xmlns:a16="http://schemas.microsoft.com/office/drawing/2014/main" id="{85979C9C-7B4D-4A38-B1F9-F720E58BA8DC}"/>
              </a:ext>
            </a:extLst>
          </p:cNvPr>
          <p:cNvSpPr>
            <a:spLocks noGrp="1"/>
          </p:cNvSpPr>
          <p:nvPr>
            <p:ph type="sldNum" sz="quarter" idx="12"/>
          </p:nvPr>
        </p:nvSpPr>
        <p:spPr/>
        <p:txBody>
          <a:bodyPr/>
          <a:lstStyle/>
          <a:p>
            <a:fld id="{34C98182-889D-4BA7-ABC9-29B15B402893}" type="slidenum">
              <a:rPr lang="ko-KR" altLang="en-US" smtClean="0"/>
              <a:t>53</a:t>
            </a:fld>
            <a:endParaRPr lang="ko-KR" altLang="en-US"/>
          </a:p>
        </p:txBody>
      </p:sp>
      <p:cxnSp>
        <p:nvCxnSpPr>
          <p:cNvPr id="9" name="직선 연결선 8">
            <a:extLst>
              <a:ext uri="{FF2B5EF4-FFF2-40B4-BE49-F238E27FC236}">
                <a16:creationId xmlns:a16="http://schemas.microsoft.com/office/drawing/2014/main" id="{B671BC0C-7CE8-4BB6-A4DB-3EA4386487A3}"/>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12" name="그림 11">
            <a:extLst>
              <a:ext uri="{FF2B5EF4-FFF2-40B4-BE49-F238E27FC236}">
                <a16:creationId xmlns:a16="http://schemas.microsoft.com/office/drawing/2014/main" id="{58424194-75B7-4C81-BAF0-83EAB1BDC610}"/>
              </a:ext>
            </a:extLst>
          </p:cNvPr>
          <p:cNvPicPr>
            <a:picLocks noChangeAspect="1"/>
          </p:cNvPicPr>
          <p:nvPr/>
        </p:nvPicPr>
        <p:blipFill>
          <a:blip r:embed="rId2">
            <a:biLevel thresh="75000"/>
          </a:blip>
          <a:stretch>
            <a:fillRect/>
          </a:stretch>
        </p:blipFill>
        <p:spPr>
          <a:xfrm>
            <a:off x="4422750" y="2072013"/>
            <a:ext cx="3346499" cy="2713974"/>
          </a:xfrm>
          <a:prstGeom prst="rect">
            <a:avLst/>
          </a:prstGeom>
        </p:spPr>
      </p:pic>
    </p:spTree>
    <p:extLst>
      <p:ext uri="{BB962C8B-B14F-4D97-AF65-F5344CB8AC3E}">
        <p14:creationId xmlns:p14="http://schemas.microsoft.com/office/powerpoint/2010/main" val="2027931730"/>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28575">
          <a:solidFill>
            <a:srgbClr val="FF0000"/>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gn="ctr">
          <a:defRPr sz="1000" b="1"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144205</TotalTime>
  <Words>7046</Words>
  <Application>Microsoft Office PowerPoint</Application>
  <PresentationFormat>와이드스크린</PresentationFormat>
  <Paragraphs>657</Paragraphs>
  <Slides>53</Slides>
  <Notes>0</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53</vt:i4>
      </vt:variant>
    </vt:vector>
  </HeadingPairs>
  <TitlesOfParts>
    <vt:vector size="57" baseType="lpstr">
      <vt:lpstr>맑은 고딕</vt:lpstr>
      <vt:lpstr>Arial</vt:lpstr>
      <vt:lpstr>Wingdings</vt:lpstr>
      <vt:lpstr>Office 테마</vt:lpstr>
      <vt:lpstr>Kubernetes</vt:lpstr>
      <vt:lpstr>Organizing Your Application</vt:lpstr>
      <vt:lpstr>Principles to Guide Us(1/4) </vt:lpstr>
      <vt:lpstr>Principles to Guide Us(2/4) </vt:lpstr>
      <vt:lpstr>Principles to Guide Us(3/4) </vt:lpstr>
      <vt:lpstr>Principles to Guide Us(4/4) </vt:lpstr>
      <vt:lpstr>Managing Your Application in Source Control(1/4)</vt:lpstr>
      <vt:lpstr>Managing Your Application in Source Control(2/4)</vt:lpstr>
      <vt:lpstr>Managing Your Application in Source Control(3/4)</vt:lpstr>
      <vt:lpstr>Managing Your Application in Source Control(4/4)</vt:lpstr>
      <vt:lpstr>Structuring for Development, Testing, and Deployment(1/4)</vt:lpstr>
      <vt:lpstr>Structuring for Development, Testing, and Deployment(2/4)</vt:lpstr>
      <vt:lpstr>Structuring for Development, Testing, and Deployment(3/4)</vt:lpstr>
      <vt:lpstr>Structuring for Development, Testing, and Deployment(4/4)</vt:lpstr>
      <vt:lpstr>Parameterizing with Templates(1/4)</vt:lpstr>
      <vt:lpstr>Parameterizing with Templates(2/4)</vt:lpstr>
      <vt:lpstr>Parameterizing with Templates(3/4)</vt:lpstr>
      <vt:lpstr>Parameterizing with Templates(4/4)</vt:lpstr>
      <vt:lpstr>Deploying Your Application Around the World(1/7)</vt:lpstr>
      <vt:lpstr>Deploying Your Application Around the World(2/7)</vt:lpstr>
      <vt:lpstr>Deploying Your Application Around the World(3/7)</vt:lpstr>
      <vt:lpstr>Deploying Your Application Around the World(4/7)</vt:lpstr>
      <vt:lpstr>Deploying Your Application Around the World(5/7)</vt:lpstr>
      <vt:lpstr>Deploying Your Application Around the World(6/7)</vt:lpstr>
      <vt:lpstr>Deploying Your Application Around the World(7/7)</vt:lpstr>
      <vt:lpstr>NOTE : Summary</vt:lpstr>
      <vt:lpstr>Building Multi-Node Cluster with Kubeadm</vt:lpstr>
      <vt:lpstr>Kubernetes Cluster(1/13)</vt:lpstr>
      <vt:lpstr>Kubernetes Cluster(2/13)</vt:lpstr>
      <vt:lpstr>Kubernetes Cluster(3/13)</vt:lpstr>
      <vt:lpstr>Kubernetes Cluster(4/13)</vt:lpstr>
      <vt:lpstr>Kubernetes Cluster(5/13)</vt:lpstr>
      <vt:lpstr>NOTE :  Ubuntu 20.04 Swap Off</vt:lpstr>
      <vt:lpstr>Kubernetes Cluster(6/13)</vt:lpstr>
      <vt:lpstr>NOTE : Installation of Docker</vt:lpstr>
      <vt:lpstr>NOTE : Hostname</vt:lpstr>
      <vt:lpstr>Kubernetes Cluster(7/13)</vt:lpstr>
      <vt:lpstr>Kubernetes Cluster(8/13)</vt:lpstr>
      <vt:lpstr>NOTE : Firewall Setting</vt:lpstr>
      <vt:lpstr>Kubernetes Cluster(9/13)</vt:lpstr>
      <vt:lpstr>Kubernetes Cluster(10/13)</vt:lpstr>
      <vt:lpstr>NOTE : Overlay Setting</vt:lpstr>
      <vt:lpstr>NOTE : Trouble Shooting</vt:lpstr>
      <vt:lpstr>Kubernetes Cluster(11/13)</vt:lpstr>
      <vt:lpstr>Kubernetes Cluster(12/13)</vt:lpstr>
      <vt:lpstr>NOTE : Node Information</vt:lpstr>
      <vt:lpstr>Kubernetes Cluster(13/13)</vt:lpstr>
      <vt:lpstr>NOTE : Trouble Shooting </vt:lpstr>
      <vt:lpstr>NOTE : The Final Result</vt:lpstr>
      <vt:lpstr>NOTE : Using “kubectl” in Worker Node</vt:lpstr>
      <vt:lpstr>NOTE : Big Picture</vt:lpstr>
      <vt:lpstr>Reference</vt:lpstr>
      <vt:lpstr>? &amp;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Ethereum</dc:title>
  <dc:creator>빅터 (권수호)</dc:creator>
  <cp:lastModifiedBy>수호 권</cp:lastModifiedBy>
  <cp:revision>6096</cp:revision>
  <dcterms:created xsi:type="dcterms:W3CDTF">2020-11-26T08:00:10Z</dcterms:created>
  <dcterms:modified xsi:type="dcterms:W3CDTF">2026-08-18T02:50:31Z</dcterms:modified>
</cp:coreProperties>
</file>