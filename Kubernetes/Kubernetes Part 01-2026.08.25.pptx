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1"/>
  </p:notesMasterIdLst>
  <p:sldIdLst>
    <p:sldId id="256" r:id="rId2"/>
    <p:sldId id="776" r:id="rId3"/>
    <p:sldId id="1101" r:id="rId4"/>
    <p:sldId id="1102" r:id="rId5"/>
    <p:sldId id="1103" r:id="rId6"/>
    <p:sldId id="1104" r:id="rId7"/>
    <p:sldId id="1105" r:id="rId8"/>
    <p:sldId id="1106" r:id="rId9"/>
    <p:sldId id="1107" r:id="rId10"/>
    <p:sldId id="1108" r:id="rId11"/>
    <p:sldId id="1109" r:id="rId12"/>
    <p:sldId id="1110" r:id="rId13"/>
    <p:sldId id="1111" r:id="rId14"/>
    <p:sldId id="1112" r:id="rId15"/>
    <p:sldId id="1113" r:id="rId16"/>
    <p:sldId id="1114" r:id="rId17"/>
    <p:sldId id="1115" r:id="rId18"/>
    <p:sldId id="1116" r:id="rId19"/>
    <p:sldId id="1117" r:id="rId20"/>
    <p:sldId id="1118" r:id="rId21"/>
    <p:sldId id="1119" r:id="rId22"/>
    <p:sldId id="1120" r:id="rId23"/>
    <p:sldId id="1121" r:id="rId24"/>
    <p:sldId id="1122" r:id="rId25"/>
    <p:sldId id="1123" r:id="rId26"/>
    <p:sldId id="1134" r:id="rId27"/>
    <p:sldId id="1124" r:id="rId28"/>
    <p:sldId id="1125" r:id="rId29"/>
    <p:sldId id="1126" r:id="rId30"/>
    <p:sldId id="1127" r:id="rId31"/>
    <p:sldId id="1128" r:id="rId32"/>
    <p:sldId id="1129" r:id="rId33"/>
    <p:sldId id="1130" r:id="rId34"/>
    <p:sldId id="1131" r:id="rId35"/>
    <p:sldId id="1133" r:id="rId36"/>
    <p:sldId id="1132" r:id="rId37"/>
    <p:sldId id="1135" r:id="rId38"/>
    <p:sldId id="1136" r:id="rId39"/>
    <p:sldId id="1137" r:id="rId40"/>
    <p:sldId id="1138" r:id="rId41"/>
    <p:sldId id="1139" r:id="rId42"/>
    <p:sldId id="1140" r:id="rId43"/>
    <p:sldId id="1141" r:id="rId44"/>
    <p:sldId id="1142" r:id="rId45"/>
    <p:sldId id="1143" r:id="rId46"/>
    <p:sldId id="1144" r:id="rId47"/>
    <p:sldId id="1145" r:id="rId48"/>
    <p:sldId id="1146" r:id="rId49"/>
    <p:sldId id="1147" r:id="rId50"/>
    <p:sldId id="1148" r:id="rId51"/>
    <p:sldId id="1149" r:id="rId52"/>
    <p:sldId id="1150" r:id="rId53"/>
    <p:sldId id="1151" r:id="rId54"/>
    <p:sldId id="1152" r:id="rId55"/>
    <p:sldId id="1153" r:id="rId56"/>
    <p:sldId id="1154" r:id="rId57"/>
    <p:sldId id="1155" r:id="rId58"/>
    <p:sldId id="1156" r:id="rId59"/>
    <p:sldId id="1157" r:id="rId60"/>
    <p:sldId id="1158" r:id="rId61"/>
    <p:sldId id="1159" r:id="rId62"/>
    <p:sldId id="1160" r:id="rId63"/>
    <p:sldId id="1167" r:id="rId64"/>
    <p:sldId id="1161" r:id="rId65"/>
    <p:sldId id="1162" r:id="rId66"/>
    <p:sldId id="1163" r:id="rId67"/>
    <p:sldId id="1164" r:id="rId68"/>
    <p:sldId id="1165" r:id="rId69"/>
    <p:sldId id="1166" r:id="rId70"/>
    <p:sldId id="1168" r:id="rId71"/>
    <p:sldId id="1169" r:id="rId72"/>
    <p:sldId id="1170" r:id="rId73"/>
    <p:sldId id="1171" r:id="rId74"/>
    <p:sldId id="1172" r:id="rId75"/>
    <p:sldId id="1173" r:id="rId76"/>
    <p:sldId id="1174" r:id="rId77"/>
    <p:sldId id="1175" r:id="rId78"/>
    <p:sldId id="1176" r:id="rId79"/>
    <p:sldId id="1198" r:id="rId80"/>
    <p:sldId id="1177" r:id="rId81"/>
    <p:sldId id="1179" r:id="rId82"/>
    <p:sldId id="1197" r:id="rId83"/>
    <p:sldId id="1180" r:id="rId84"/>
    <p:sldId id="1181" r:id="rId85"/>
    <p:sldId id="1182" r:id="rId86"/>
    <p:sldId id="1183" r:id="rId87"/>
    <p:sldId id="1184" r:id="rId88"/>
    <p:sldId id="1185" r:id="rId89"/>
    <p:sldId id="1186" r:id="rId90"/>
    <p:sldId id="1187" r:id="rId91"/>
    <p:sldId id="1188" r:id="rId92"/>
    <p:sldId id="1189" r:id="rId93"/>
    <p:sldId id="1190" r:id="rId94"/>
    <p:sldId id="1191" r:id="rId95"/>
    <p:sldId id="1194" r:id="rId96"/>
    <p:sldId id="1193" r:id="rId97"/>
    <p:sldId id="1195" r:id="rId98"/>
    <p:sldId id="281" r:id="rId99"/>
    <p:sldId id="259" r:id="rId10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51" autoAdjust="0"/>
    <p:restoredTop sz="94660"/>
  </p:normalViewPr>
  <p:slideViewPr>
    <p:cSldViewPr snapToGrid="0">
      <p:cViewPr varScale="1">
        <p:scale>
          <a:sx n="116" d="100"/>
          <a:sy n="116" d="100"/>
        </p:scale>
        <p:origin x="102"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bit.ly/2vIrL4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parkmycloud.com/blog/kubernetes-pricing/"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eveloppaper.com/using-aiops-to-optimize-the-cost-of-kubernetes-cluster/"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opencontainers.or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deb.nodesource.com/setup_16.x%20-o%20nodesource_setup.sh"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docs.docker.com/engine/reference/builder/"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kubernetes-up-and-running/kuard.git"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s://github.com/spotify/docker-gc"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hub.docker.com/" TargetMode="Externa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cloud.google.com/kubernetes-engine/docs/how-to/creating-a-zonal-cluster" TargetMode="External"/><Relationship Id="rId2" Type="http://schemas.openxmlformats.org/officeDocument/2006/relationships/hyperlink" Target="https://cloud.google.com/sdk/docs/install" TargetMode="Externa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hyperlink" Target="https://github.com/Azure/azure-cli" TargetMode="Externa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3" Type="http://schemas.openxmlformats.org/officeDocument/2006/relationships/hyperlink" Target="https://docs.microsoft.com/ko-kr/cli/azure/group?view=azure-cli-latest" TargetMode="External"/><Relationship Id="rId2" Type="http://schemas.openxmlformats.org/officeDocument/2006/relationships/hyperlink" Target="https://docs.microsoft.com/en-us/azure/aks/kubernetes-walkthrough" TargetMode="External"/><Relationship Id="rId1" Type="http://schemas.openxmlformats.org/officeDocument/2006/relationships/slideLayout" Target="../slideLayouts/slideLayout2.xml"/><Relationship Id="rId4" Type="http://schemas.openxmlformats.org/officeDocument/2006/relationships/image" Target="../media/image65.emf"/></Relationships>
</file>

<file path=ppt/slides/_rels/slide68.xml.rels><?xml version="1.0" encoding="UTF-8" standalone="yes"?>
<Relationships xmlns="http://schemas.openxmlformats.org/package/2006/relationships"><Relationship Id="rId3" Type="http://schemas.openxmlformats.org/officeDocument/2006/relationships/hyperlink" Target="https://kubernetes.io/docs/tasks/tools/" TargetMode="External"/><Relationship Id="rId2" Type="http://schemas.openxmlformats.org/officeDocument/2006/relationships/hyperlink" Target="https://eksctl.io/" TargetMode="Externa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github.com/kubernetes/minikube"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kind.sigs.k8s.io/docs/user/quick-start" TargetMode="External"/><Relationship Id="rId2" Type="http://schemas.openxmlformats.org/officeDocument/2006/relationships/hyperlink" Target="https://kind.sigs.k8s.io/" TargetMode="Externa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8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hyperlink" Target="https://raw.githubusercontent.com/kubernetes/dashboard/v2.4.0/aio/deploy/recommended.yaml"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kubernetes.io/docs/tasks/access-application-cluster/web-ui-dashboard/" TargetMode="External"/><Relationship Id="rId2" Type="http://schemas.openxmlformats.org/officeDocument/2006/relationships/hyperlink" Target="http://localhost:8001/api/v1/namespaces/kubernetes-dashboard/services/https:kubernetes-dashboard:/proxy/" TargetMode="Externa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9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oreilly.com/library/view/kubernetes-up-and/9781492046523/" TargetMode="External"/><Relationship Id="rId2" Type="http://schemas.openxmlformats.org/officeDocument/2006/relationships/hyperlink" Target="https://github.com/kubernetes-up-and-running/kuard" TargetMode="Externa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hyperlink" Target="https://medium.com/finda-tech/overview-8d169b2a54ff" TargetMode="External"/><Relationship Id="rId4" Type="http://schemas.openxmlformats.org/officeDocument/2006/relationships/hyperlink" Target="https://github.com/surfer190/fixes/blob/master/docs/kubernetes/kubernetes-up-and-running.md" TargetMode="External"/></Relationships>
</file>

<file path=ppt/slides/_rels/slide9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dirty="0"/>
              <a:t>Part I</a:t>
            </a:r>
          </a:p>
          <a:p>
            <a:endParaRPr lang="en-US" altLang="ko-KR" b="1" dirty="0"/>
          </a:p>
          <a:p>
            <a:r>
              <a:rPr lang="en-US" altLang="ko-KR" sz="2000" b="1" dirty="0"/>
              <a:t>2026.08.25</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Introduction</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Reliable, Scalable, Distributed Systems :</a:t>
            </a:r>
          </a:p>
          <a:p>
            <a:pPr lvl="1">
              <a:buFont typeface="Wingdings" panose="05000000000000000000" pitchFamily="2" charset="2"/>
              <a:buChar char="§"/>
            </a:pPr>
            <a:r>
              <a:rPr lang="en-US" altLang="ko-KR" sz="1400" b="1" dirty="0"/>
              <a:t>Kubernetes is an open source </a:t>
            </a:r>
            <a:r>
              <a:rPr lang="en-US" altLang="ko-KR" sz="1400" b="1" dirty="0">
                <a:solidFill>
                  <a:srgbClr val="FF0000"/>
                </a:solidFill>
              </a:rPr>
              <a:t>orchestrator</a:t>
            </a:r>
            <a:r>
              <a:rPr lang="en-US" altLang="ko-KR" sz="1400" b="1" dirty="0"/>
              <a:t> </a:t>
            </a:r>
            <a:r>
              <a:rPr lang="en-US" altLang="ko-KR" sz="1400" b="1" dirty="0">
                <a:solidFill>
                  <a:srgbClr val="FF0000"/>
                </a:solidFill>
              </a:rPr>
              <a:t>for deploying containerized applications</a:t>
            </a:r>
            <a:r>
              <a:rPr lang="en-US" altLang="ko-KR" sz="1400" dirty="0"/>
              <a:t>. </a:t>
            </a:r>
            <a:r>
              <a:rPr lang="en-US" altLang="ko-KR" sz="1400" b="1" dirty="0">
                <a:hlinkClick r:id="rId2"/>
              </a:rPr>
              <a:t>It was originally developed by Google, inspired by a decade of experience deploying “scalable, reliable systems” in containers via application-oriented APIs</a:t>
            </a:r>
            <a:r>
              <a:rPr lang="en-US" altLang="ko-KR" sz="1400" dirty="0"/>
              <a:t>. Since its introduction in 2014, Kubernetes has grown to be one of the largest and most popular open source projects in the world. It has become the standard API for building cloud-native applications, present in nearly every public cloud. </a:t>
            </a:r>
          </a:p>
          <a:p>
            <a:pPr lvl="1">
              <a:buFont typeface="Wingdings" panose="05000000000000000000" pitchFamily="2" charset="2"/>
              <a:buChar char="§"/>
            </a:pPr>
            <a:r>
              <a:rPr lang="en-US" altLang="ko-KR" sz="1400" b="1" dirty="0"/>
              <a:t>Kubernetes is a proven infrastructure for distributed systems</a:t>
            </a:r>
            <a:r>
              <a:rPr lang="en-US" altLang="ko-KR" sz="1400" dirty="0"/>
              <a:t> that is suitable for cloud-native developers of all scales, from a cluster of Raspberry Pi computers to a warehouse full of the latest machines. It provides the software necessary to successfully build and deploy reliable, scalable distributed systems.</a:t>
            </a:r>
          </a:p>
          <a:p>
            <a:pPr lvl="1">
              <a:buFont typeface="Wingdings" panose="05000000000000000000" pitchFamily="2" charset="2"/>
              <a:buChar char="§"/>
            </a:pPr>
            <a:r>
              <a:rPr lang="en-US" altLang="ko-KR" sz="1400" dirty="0"/>
              <a:t>You may be wondering what we mean when we say “</a:t>
            </a:r>
            <a:r>
              <a:rPr lang="en-US" altLang="ko-KR" sz="1400" b="1" dirty="0"/>
              <a:t>reliable, scalable distributed systems</a:t>
            </a:r>
            <a:r>
              <a:rPr lang="en-US" altLang="ko-KR" sz="1400" dirty="0"/>
              <a:t>.” More and more services are delivered over the network via APIs. These APIs are often delivered by a distributed system, the various pieces that </a:t>
            </a:r>
            <a:r>
              <a:rPr lang="en-US" altLang="ko-KR" sz="1400" b="1" dirty="0"/>
              <a:t>implement the API running on different machines, connected via the network and coordinating their actions via network communication</a:t>
            </a:r>
            <a:r>
              <a:rPr lang="en-US" altLang="ko-KR" sz="1400" dirty="0"/>
              <a:t>. Because we rely on these APIs increasingly for all aspects of our daily lives (e.g., finding directions to the nearest hospital), these systems must be </a:t>
            </a:r>
            <a:r>
              <a:rPr lang="en-US" altLang="ko-KR" sz="1400" b="1" dirty="0"/>
              <a:t>highly reliable</a:t>
            </a:r>
            <a:r>
              <a:rPr lang="en-US" altLang="ko-KR" sz="1400" dirty="0"/>
              <a:t>. They </a:t>
            </a:r>
            <a:r>
              <a:rPr lang="en-US" altLang="ko-KR" sz="1400" b="1" dirty="0"/>
              <a:t>cannot fail</a:t>
            </a:r>
            <a:r>
              <a:rPr lang="en-US" altLang="ko-KR" sz="1400" dirty="0"/>
              <a:t>, even if a part of the system crashes or otherwise stops working. Likewise, they must </a:t>
            </a:r>
            <a:r>
              <a:rPr lang="en-US" altLang="ko-KR" sz="1400" b="1" dirty="0"/>
              <a:t>maintain availability</a:t>
            </a:r>
            <a:r>
              <a:rPr lang="en-US" altLang="ko-KR" sz="1400" dirty="0"/>
              <a:t> even during software rollouts or other maintenance events. Finally, because more and more of the world is coming online and using such services, they must be </a:t>
            </a:r>
            <a:r>
              <a:rPr lang="en-US" altLang="ko-KR" sz="1400" b="1" dirty="0"/>
              <a:t>highly scalable </a:t>
            </a:r>
            <a:r>
              <a:rPr lang="en-US" altLang="ko-KR" sz="1400" dirty="0"/>
              <a:t>so that they can grow their capacity to </a:t>
            </a:r>
            <a:r>
              <a:rPr lang="en-US" altLang="ko-KR" sz="1400" b="1" dirty="0"/>
              <a:t>keep up with ever-increasing usage without radical redesign of the distributed system </a:t>
            </a:r>
            <a:r>
              <a:rPr lang="en-US" altLang="ko-KR" sz="1400" dirty="0"/>
              <a:t>that implements the services.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E670147-2325-483C-B44F-7B48F141D863}"/>
              </a:ext>
            </a:extLst>
          </p:cNvPr>
          <p:cNvPicPr>
            <a:picLocks noChangeAspect="1"/>
          </p:cNvPicPr>
          <p:nvPr/>
        </p:nvPicPr>
        <p:blipFill>
          <a:blip r:embed="rId3"/>
          <a:stretch>
            <a:fillRect/>
          </a:stretch>
        </p:blipFill>
        <p:spPr>
          <a:xfrm>
            <a:off x="9007642" y="4398037"/>
            <a:ext cx="2346158" cy="2010993"/>
          </a:xfrm>
          <a:prstGeom prst="rect">
            <a:avLst/>
          </a:prstGeom>
        </p:spPr>
      </p:pic>
    </p:spTree>
    <p:extLst>
      <p:ext uri="{BB962C8B-B14F-4D97-AF65-F5344CB8AC3E}">
        <p14:creationId xmlns:p14="http://schemas.microsoft.com/office/powerpoint/2010/main" val="192916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Velocity :</a:t>
            </a:r>
          </a:p>
          <a:p>
            <a:pPr lvl="1">
              <a:buFont typeface="Wingdings" panose="05000000000000000000" pitchFamily="2" charset="2"/>
              <a:buChar char="§"/>
            </a:pPr>
            <a:r>
              <a:rPr lang="en-US" altLang="ko-KR" sz="1400" b="1" dirty="0">
                <a:solidFill>
                  <a:srgbClr val="FF0000"/>
                </a:solidFill>
              </a:rPr>
              <a:t>Velocity</a:t>
            </a:r>
            <a:r>
              <a:rPr lang="en-US" altLang="ko-KR" sz="1400" b="1" dirty="0"/>
              <a:t> is the key component in nearly all software development today</a:t>
            </a:r>
            <a:r>
              <a:rPr lang="en-US" altLang="ko-KR" sz="1400" dirty="0"/>
              <a:t>. The software industry has evolved from shipping products as boxed CDs or DVDs to software that is </a:t>
            </a:r>
            <a:r>
              <a:rPr lang="en-US" altLang="ko-KR" sz="1400" b="1" dirty="0"/>
              <a:t>delivered over the network via </a:t>
            </a:r>
            <a:r>
              <a:rPr lang="en-US" altLang="ko-KR" sz="1400" b="1" dirty="0">
                <a:solidFill>
                  <a:srgbClr val="FF0000"/>
                </a:solidFill>
              </a:rPr>
              <a:t>web-based services </a:t>
            </a:r>
            <a:r>
              <a:rPr lang="en-US" altLang="ko-KR" sz="1400" dirty="0"/>
              <a:t>that are updated hourly. This changing landscape means that the difference between you and your competitors is often </a:t>
            </a:r>
            <a:r>
              <a:rPr lang="en-US" altLang="ko-KR" sz="1400" b="1" dirty="0"/>
              <a:t>the speed with which you can develop and deploy new components and features, or the speed with which you can respond to innovations developed by others</a:t>
            </a:r>
            <a:r>
              <a:rPr lang="en-US" altLang="ko-KR" sz="1400" dirty="0"/>
              <a:t>.</a:t>
            </a:r>
          </a:p>
          <a:p>
            <a:pPr lvl="1">
              <a:buFont typeface="Wingdings" panose="05000000000000000000" pitchFamily="2" charset="2"/>
              <a:buChar char="§"/>
            </a:pPr>
            <a:r>
              <a:rPr lang="en-US" altLang="ko-KR" sz="1400" b="1" dirty="0"/>
              <a:t>It is important to note, however, that velocity is not defined in terms of simply raw speed</a:t>
            </a:r>
            <a:r>
              <a:rPr lang="en-US" altLang="ko-KR" sz="1400" dirty="0"/>
              <a:t>. While your users are always looking for </a:t>
            </a:r>
            <a:r>
              <a:rPr lang="en-US" altLang="ko-KR" sz="1400" b="1" dirty="0">
                <a:solidFill>
                  <a:srgbClr val="FF0000"/>
                </a:solidFill>
              </a:rPr>
              <a:t>iterative improvement</a:t>
            </a:r>
            <a:r>
              <a:rPr lang="en-US" altLang="ko-KR" sz="1400" dirty="0"/>
              <a:t>, they are </a:t>
            </a:r>
            <a:r>
              <a:rPr lang="en-US" altLang="ko-KR" sz="1400" b="1" dirty="0"/>
              <a:t>more interested in a highly reliable service</a:t>
            </a:r>
            <a:r>
              <a:rPr lang="en-US" altLang="ko-KR" sz="1400" dirty="0"/>
              <a:t>. Once upon a time, it was OK for a service to be down for maintenance at midnight every night. But today, </a:t>
            </a:r>
            <a:r>
              <a:rPr lang="en-US" altLang="ko-KR" sz="1400" b="1" dirty="0"/>
              <a:t>all users expect constant uptime, even if the software they are running is changing constantly</a:t>
            </a:r>
            <a:r>
              <a:rPr lang="en-US" altLang="ko-KR" sz="1400" dirty="0"/>
              <a:t>. </a:t>
            </a:r>
          </a:p>
          <a:p>
            <a:pPr lvl="1">
              <a:buFont typeface="Wingdings" panose="05000000000000000000" pitchFamily="2" charset="2"/>
              <a:buChar char="§"/>
            </a:pPr>
            <a:r>
              <a:rPr lang="en-US" altLang="ko-KR" sz="1400" b="1" dirty="0"/>
              <a:t>NOTICE!!! Velocity is measured not in terms of the raw number of features you can ship per hour or day, but rather in terms of </a:t>
            </a:r>
            <a:r>
              <a:rPr lang="en-US" altLang="ko-KR" sz="1400" b="1" dirty="0">
                <a:solidFill>
                  <a:srgbClr val="FF0000"/>
                </a:solidFill>
              </a:rPr>
              <a:t>the number of things you can ship while maintaining a highly available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BAECA3C8-A8E4-49CC-8FA0-CA38E5DD10F9}"/>
              </a:ext>
            </a:extLst>
          </p:cNvPr>
          <p:cNvGrpSpPr/>
          <p:nvPr/>
        </p:nvGrpSpPr>
        <p:grpSpPr>
          <a:xfrm>
            <a:off x="2147638" y="3755983"/>
            <a:ext cx="7896724" cy="2374296"/>
            <a:chOff x="2009275" y="3661224"/>
            <a:chExt cx="7896724" cy="2374296"/>
          </a:xfrm>
        </p:grpSpPr>
        <p:pic>
          <p:nvPicPr>
            <p:cNvPr id="4" name="그림 3">
              <a:extLst>
                <a:ext uri="{FF2B5EF4-FFF2-40B4-BE49-F238E27FC236}">
                  <a16:creationId xmlns:a16="http://schemas.microsoft.com/office/drawing/2014/main" id="{F47063FA-7555-46EA-A360-0FCB05E29D9A}"/>
                </a:ext>
              </a:extLst>
            </p:cNvPr>
            <p:cNvPicPr>
              <a:picLocks noChangeAspect="1"/>
            </p:cNvPicPr>
            <p:nvPr/>
          </p:nvPicPr>
          <p:blipFill>
            <a:blip r:embed="rId2"/>
            <a:stretch>
              <a:fillRect/>
            </a:stretch>
          </p:blipFill>
          <p:spPr>
            <a:xfrm>
              <a:off x="2009275" y="3737456"/>
              <a:ext cx="2029326" cy="2029326"/>
            </a:xfrm>
            <a:prstGeom prst="rect">
              <a:avLst/>
            </a:prstGeom>
          </p:spPr>
        </p:pic>
        <p:pic>
          <p:nvPicPr>
            <p:cNvPr id="8" name="그림 7">
              <a:extLst>
                <a:ext uri="{FF2B5EF4-FFF2-40B4-BE49-F238E27FC236}">
                  <a16:creationId xmlns:a16="http://schemas.microsoft.com/office/drawing/2014/main" id="{11B079AA-9EDC-47BB-9A96-0AA209C9E71B}"/>
                </a:ext>
              </a:extLst>
            </p:cNvPr>
            <p:cNvPicPr>
              <a:picLocks noChangeAspect="1"/>
            </p:cNvPicPr>
            <p:nvPr/>
          </p:nvPicPr>
          <p:blipFill>
            <a:blip r:embed="rId3"/>
            <a:stretch>
              <a:fillRect/>
            </a:stretch>
          </p:blipFill>
          <p:spPr>
            <a:xfrm>
              <a:off x="4411578" y="3661224"/>
              <a:ext cx="5494421" cy="2374296"/>
            </a:xfrm>
            <a:prstGeom prst="rect">
              <a:avLst/>
            </a:prstGeom>
          </p:spPr>
        </p:pic>
      </p:grpSp>
    </p:spTree>
    <p:extLst>
      <p:ext uri="{BB962C8B-B14F-4D97-AF65-F5344CB8AC3E}">
        <p14:creationId xmlns:p14="http://schemas.microsoft.com/office/powerpoint/2010/main" val="315787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Velocity :</a:t>
            </a:r>
          </a:p>
          <a:p>
            <a:pPr lvl="1">
              <a:buFont typeface="Wingdings" panose="05000000000000000000" pitchFamily="2" charset="2"/>
              <a:buChar char="§"/>
            </a:pPr>
            <a:r>
              <a:rPr lang="en-US" altLang="ko-KR" sz="1400" b="1" dirty="0">
                <a:solidFill>
                  <a:srgbClr val="FF0000"/>
                </a:solidFill>
              </a:rPr>
              <a:t>Containers</a:t>
            </a:r>
            <a:r>
              <a:rPr lang="en-US" altLang="ko-KR" sz="1400" b="1" dirty="0"/>
              <a:t> and </a:t>
            </a:r>
            <a:r>
              <a:rPr lang="en-US" altLang="ko-KR" sz="1400" b="1" dirty="0">
                <a:solidFill>
                  <a:srgbClr val="FF0000"/>
                </a:solidFill>
              </a:rPr>
              <a:t>Kubernetes</a:t>
            </a:r>
            <a:r>
              <a:rPr lang="en-US" altLang="ko-KR" sz="1400" b="1" dirty="0"/>
              <a:t> can provide the tools that you need to move quickly, while staying available</a:t>
            </a:r>
            <a:r>
              <a:rPr lang="en-US" altLang="ko-KR" sz="1400" dirty="0"/>
              <a:t>. The core concepts that enable this are : </a:t>
            </a:r>
          </a:p>
          <a:p>
            <a:pPr lvl="2">
              <a:buFont typeface="Wingdings" panose="05000000000000000000" pitchFamily="2" charset="2"/>
              <a:buChar char="§"/>
            </a:pPr>
            <a:r>
              <a:rPr lang="en-US" altLang="ko-KR" sz="1400" b="1" dirty="0"/>
              <a:t>Immutability</a:t>
            </a:r>
          </a:p>
          <a:p>
            <a:pPr lvl="2">
              <a:buFont typeface="Wingdings" panose="05000000000000000000" pitchFamily="2" charset="2"/>
              <a:buChar char="§"/>
            </a:pPr>
            <a:r>
              <a:rPr lang="en-US" altLang="ko-KR" sz="1400" b="1" dirty="0"/>
              <a:t>Declarative configuration</a:t>
            </a:r>
          </a:p>
          <a:p>
            <a:pPr lvl="2">
              <a:buFont typeface="Wingdings" panose="05000000000000000000" pitchFamily="2" charset="2"/>
              <a:buChar char="§"/>
            </a:pPr>
            <a:r>
              <a:rPr lang="en-US" altLang="ko-KR" sz="1400" b="1" dirty="0"/>
              <a:t>Online self-healing systems</a:t>
            </a:r>
          </a:p>
          <a:p>
            <a:pPr lvl="1">
              <a:buFont typeface="Wingdings" panose="05000000000000000000" pitchFamily="2" charset="2"/>
              <a:buChar char="§"/>
            </a:pPr>
            <a:r>
              <a:rPr lang="en-US" altLang="ko-KR" sz="1400" dirty="0"/>
              <a:t>These ideas all interrelate to radically </a:t>
            </a:r>
            <a:r>
              <a:rPr lang="en-US" altLang="ko-KR" sz="1400" b="1" dirty="0"/>
              <a:t>improve the speed with which you can </a:t>
            </a:r>
            <a:r>
              <a:rPr lang="en-US" altLang="ko-KR" sz="1400" b="1" dirty="0">
                <a:solidFill>
                  <a:srgbClr val="FF0000"/>
                </a:solidFill>
              </a:rPr>
              <a:t>reliably deploy software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12E1D0A-9E44-4AD0-AC87-5FED4037072E}"/>
              </a:ext>
            </a:extLst>
          </p:cNvPr>
          <p:cNvPicPr>
            <a:picLocks noChangeAspect="1"/>
          </p:cNvPicPr>
          <p:nvPr/>
        </p:nvPicPr>
        <p:blipFill>
          <a:blip r:embed="rId2"/>
          <a:stretch>
            <a:fillRect/>
          </a:stretch>
        </p:blipFill>
        <p:spPr>
          <a:xfrm>
            <a:off x="3675647" y="3233799"/>
            <a:ext cx="4840705" cy="2286440"/>
          </a:xfrm>
          <a:prstGeom prst="rect">
            <a:avLst/>
          </a:prstGeom>
        </p:spPr>
      </p:pic>
    </p:spTree>
    <p:extLst>
      <p:ext uri="{BB962C8B-B14F-4D97-AF65-F5344CB8AC3E}">
        <p14:creationId xmlns:p14="http://schemas.microsoft.com/office/powerpoint/2010/main" val="1687208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Value of Immutability :</a:t>
            </a:r>
          </a:p>
          <a:p>
            <a:pPr lvl="1">
              <a:buFont typeface="Wingdings" panose="05000000000000000000" pitchFamily="2" charset="2"/>
              <a:buChar char="§"/>
            </a:pPr>
            <a:r>
              <a:rPr lang="en-US" altLang="ko-KR" sz="1400" b="1" dirty="0"/>
              <a:t>Containers and Kubernetes encourage developers to build distributed systems that adhere to the principles of </a:t>
            </a:r>
            <a:r>
              <a:rPr lang="en-US" altLang="ko-KR" sz="1400" b="1" dirty="0">
                <a:solidFill>
                  <a:srgbClr val="FF0000"/>
                </a:solidFill>
              </a:rPr>
              <a:t>immutable infrastructure</a:t>
            </a:r>
            <a:r>
              <a:rPr lang="en-US" altLang="ko-KR" sz="1400" dirty="0"/>
              <a:t>. </a:t>
            </a:r>
            <a:r>
              <a:rPr lang="en-US" altLang="ko-KR" sz="1400" b="1" dirty="0"/>
              <a:t>With immutable infrastructure, </a:t>
            </a:r>
            <a:r>
              <a:rPr lang="en-US" altLang="ko-KR" sz="1400" b="1" dirty="0">
                <a:solidFill>
                  <a:srgbClr val="FF0000"/>
                </a:solidFill>
              </a:rPr>
              <a:t>once an artifact is created in the system it does not change via user modifications</a:t>
            </a:r>
            <a:r>
              <a:rPr lang="en-US" altLang="ko-KR" sz="1400" dirty="0"/>
              <a:t>. </a:t>
            </a:r>
          </a:p>
          <a:p>
            <a:pPr lvl="1">
              <a:buFont typeface="Wingdings" panose="05000000000000000000" pitchFamily="2" charset="2"/>
              <a:buChar char="§"/>
            </a:pPr>
            <a:r>
              <a:rPr lang="en-US" altLang="ko-KR" sz="1400" b="1" dirty="0"/>
              <a:t>Traditionally, computers and software systems have been treated as mutable infrastructure. With mutable infrastructure, changes are applied as incremental updates to an existing system</a:t>
            </a:r>
            <a:r>
              <a:rPr lang="en-US" altLang="ko-KR" sz="1400" dirty="0"/>
              <a:t>. These updates can occur all at once, or spread out across a long period of time. A system upgrade via the “</a:t>
            </a:r>
            <a:r>
              <a:rPr lang="en-US" altLang="ko-KR" sz="1400" b="1" dirty="0"/>
              <a:t>apt-get(Linux Ubuntu)</a:t>
            </a:r>
            <a:r>
              <a:rPr lang="en-US" altLang="ko-KR" sz="1400" dirty="0"/>
              <a:t>” update tool is a good example of an update to a mutable system. Running “</a:t>
            </a:r>
            <a:r>
              <a:rPr lang="en-US" altLang="ko-KR" sz="1400" b="1" dirty="0"/>
              <a:t>apt</a:t>
            </a:r>
            <a:r>
              <a:rPr lang="en-US" altLang="ko-KR" sz="1400" dirty="0"/>
              <a:t>” sequentially downloads any updated binaries, copies them on top of older binaries, and makes incremental updates to configuration files. </a:t>
            </a:r>
          </a:p>
          <a:p>
            <a:pPr lvl="1">
              <a:buFont typeface="Wingdings" panose="05000000000000000000" pitchFamily="2" charset="2"/>
              <a:buChar char="§"/>
            </a:pPr>
            <a:r>
              <a:rPr lang="en-US" altLang="ko-KR" sz="1400" b="1" dirty="0"/>
              <a:t>With a mutable system, the current state of the infrastructure is not represented as a single artifact, but rather </a:t>
            </a:r>
            <a:r>
              <a:rPr lang="en-US" altLang="ko-KR" sz="1400" b="1" dirty="0">
                <a:solidFill>
                  <a:srgbClr val="FF0000"/>
                </a:solidFill>
              </a:rPr>
              <a:t>an accumulation of incremental updates and changes over time</a:t>
            </a:r>
            <a:r>
              <a:rPr lang="en-US" altLang="ko-KR" sz="1400" dirty="0"/>
              <a:t>. On many systems these incremental updates come from not just system upgrades, but operator modifications as well. Furthermore, in any system run by a large team, it is highly likely that these changes will have been performed by many different people, and in many cases will not have been recorded anywhere.</a:t>
            </a:r>
          </a:p>
          <a:p>
            <a:pPr lvl="1">
              <a:buFont typeface="Wingdings" panose="05000000000000000000" pitchFamily="2" charset="2"/>
              <a:buChar char="§"/>
            </a:pPr>
            <a:r>
              <a:rPr lang="en-US" altLang="ko-KR" sz="1400" b="1" dirty="0"/>
              <a:t>In contrast, in an </a:t>
            </a:r>
            <a:r>
              <a:rPr lang="en-US" altLang="ko-KR" sz="1400" b="1" dirty="0">
                <a:solidFill>
                  <a:srgbClr val="FF0000"/>
                </a:solidFill>
              </a:rPr>
              <a:t>immutable system</a:t>
            </a:r>
            <a:r>
              <a:rPr lang="en-US" altLang="ko-KR" sz="1400" b="1" dirty="0"/>
              <a:t>, rather than a series of incremental updates and changes, an entirely new, complete image is built, where the </a:t>
            </a:r>
            <a:r>
              <a:rPr lang="en-US" altLang="ko-KR" sz="1400" b="1" dirty="0">
                <a:solidFill>
                  <a:srgbClr val="FF0000"/>
                </a:solidFill>
              </a:rPr>
              <a:t>update simply replaces the entire image with the newer image in a single operation</a:t>
            </a:r>
            <a:r>
              <a:rPr lang="en-US" altLang="ko-KR" sz="1400" dirty="0"/>
              <a:t>. There are no incremental changes.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D0AA660-F692-4EAC-9543-6DDD8D35A6C2}"/>
              </a:ext>
            </a:extLst>
          </p:cNvPr>
          <p:cNvPicPr>
            <a:picLocks noChangeAspect="1"/>
          </p:cNvPicPr>
          <p:nvPr/>
        </p:nvPicPr>
        <p:blipFill>
          <a:blip r:embed="rId2"/>
          <a:stretch>
            <a:fillRect/>
          </a:stretch>
        </p:blipFill>
        <p:spPr>
          <a:xfrm>
            <a:off x="8610601" y="4238473"/>
            <a:ext cx="2743200" cy="2170557"/>
          </a:xfrm>
          <a:prstGeom prst="rect">
            <a:avLst/>
          </a:prstGeom>
        </p:spPr>
      </p:pic>
    </p:spTree>
    <p:extLst>
      <p:ext uri="{BB962C8B-B14F-4D97-AF65-F5344CB8AC3E}">
        <p14:creationId xmlns:p14="http://schemas.microsoft.com/office/powerpoint/2010/main" val="255102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Value of Immutability :</a:t>
            </a:r>
          </a:p>
          <a:p>
            <a:pPr lvl="1">
              <a:buFont typeface="Wingdings" panose="05000000000000000000" pitchFamily="2" charset="2"/>
              <a:buChar char="§"/>
            </a:pPr>
            <a:r>
              <a:rPr lang="en-US" altLang="ko-KR" sz="1400" dirty="0"/>
              <a:t>To make this more concrete in the world of containers, consider two different ways to upgrade your software :</a:t>
            </a:r>
          </a:p>
          <a:p>
            <a:pPr lvl="2">
              <a:buFont typeface="+mj-lt"/>
              <a:buAutoNum type="arabicPeriod"/>
            </a:pPr>
            <a:r>
              <a:rPr lang="en-US" altLang="ko-KR" sz="1400" b="1" dirty="0"/>
              <a:t>You can log in to a container, run a command to download your new software, kill the old server, and start the new one</a:t>
            </a:r>
            <a:r>
              <a:rPr lang="en-US" altLang="ko-KR" sz="1400" dirty="0"/>
              <a:t>.</a:t>
            </a:r>
          </a:p>
          <a:p>
            <a:pPr lvl="2">
              <a:buFont typeface="+mj-lt"/>
              <a:buAutoNum type="arabicPeriod"/>
            </a:pPr>
            <a:r>
              <a:rPr lang="en-US" altLang="ko-KR" sz="1400" b="1" dirty="0"/>
              <a:t>You can build a new container image, push it to a container registry, kill the existing container, and start a new one</a:t>
            </a:r>
            <a:r>
              <a:rPr lang="en-US" altLang="ko-KR" sz="1400" dirty="0"/>
              <a:t>.</a:t>
            </a:r>
          </a:p>
          <a:p>
            <a:pPr lvl="1">
              <a:buFont typeface="Wingdings" panose="05000000000000000000" pitchFamily="2" charset="2"/>
              <a:buChar char="§"/>
            </a:pPr>
            <a:r>
              <a:rPr lang="en-US" altLang="ko-KR" sz="1400" b="1" dirty="0"/>
              <a:t>The key differentiation is </a:t>
            </a:r>
            <a:r>
              <a:rPr lang="en-US" altLang="ko-KR" sz="1400" b="1" dirty="0">
                <a:solidFill>
                  <a:srgbClr val="FF0000"/>
                </a:solidFill>
              </a:rPr>
              <a:t>the artifact that you create, and the record of how you created it</a:t>
            </a:r>
            <a:r>
              <a:rPr lang="en-US" altLang="ko-KR" sz="1400" dirty="0"/>
              <a:t>. These records make it easy to understand exactly the differences in some new version and, if something goes wrong, to determine what has changed and how to fix it.</a:t>
            </a:r>
          </a:p>
          <a:p>
            <a:pPr lvl="1">
              <a:buFont typeface="Wingdings" panose="05000000000000000000" pitchFamily="2" charset="2"/>
              <a:buChar char="§"/>
            </a:pPr>
            <a:r>
              <a:rPr lang="en-US" altLang="ko-KR" sz="1400" b="1" dirty="0"/>
              <a:t>Building a new image rather than modifying an existing one means the old image is still around, and can quickly be used for a rollback if an error occurs</a:t>
            </a:r>
            <a:r>
              <a:rPr lang="en-US" altLang="ko-KR" sz="1400" dirty="0"/>
              <a:t>. In contrast, once you copy your new binary over an existing binary, such a rollback is nearly impossible.</a:t>
            </a:r>
          </a:p>
          <a:p>
            <a:pPr lvl="1">
              <a:buFont typeface="Wingdings" panose="05000000000000000000" pitchFamily="2" charset="2"/>
              <a:buChar char="§"/>
            </a:pPr>
            <a:r>
              <a:rPr lang="en-US" altLang="ko-KR" sz="1400" b="1" dirty="0">
                <a:solidFill>
                  <a:srgbClr val="FF0000"/>
                </a:solidFill>
              </a:rPr>
              <a:t>Immutable container images</a:t>
            </a:r>
            <a:r>
              <a:rPr lang="en-US" altLang="ko-KR" sz="1400" b="1" dirty="0"/>
              <a:t> are at the core of everything that you will build in Kubernetes</a:t>
            </a:r>
            <a:r>
              <a:rPr lang="en-US" altLang="ko-KR" sz="1400" dirty="0"/>
              <a:t>. It is possible to imperatively change running containers, but this is an anti-pattern to be used only in extreme cases where there are no other options (e.g., if it is the only way to temporarily repair a mission-critical production system). And even then, the changes must also be recorded through a </a:t>
            </a:r>
            <a:r>
              <a:rPr lang="en-US" altLang="ko-KR" sz="1400" b="1" dirty="0">
                <a:solidFill>
                  <a:srgbClr val="FF0000"/>
                </a:solidFill>
              </a:rPr>
              <a:t>declarative</a:t>
            </a:r>
            <a:r>
              <a:rPr lang="en-US" altLang="ko-KR" sz="1400" b="1" dirty="0"/>
              <a:t> configuration update </a:t>
            </a:r>
            <a:r>
              <a:rPr lang="en-US" altLang="ko-KR" sz="1400" dirty="0"/>
              <a:t>at some later time, after the fire is out.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5430342-5153-4C65-B469-A072C61F737B}"/>
              </a:ext>
            </a:extLst>
          </p:cNvPr>
          <p:cNvGrpSpPr/>
          <p:nvPr/>
        </p:nvGrpSpPr>
        <p:grpSpPr>
          <a:xfrm>
            <a:off x="1855298" y="4515853"/>
            <a:ext cx="8481403" cy="1893177"/>
            <a:chOff x="2510589" y="4539800"/>
            <a:chExt cx="8681929" cy="1869230"/>
          </a:xfrm>
        </p:grpSpPr>
        <p:pic>
          <p:nvPicPr>
            <p:cNvPr id="8" name="그림 7">
              <a:extLst>
                <a:ext uri="{FF2B5EF4-FFF2-40B4-BE49-F238E27FC236}">
                  <a16:creationId xmlns:a16="http://schemas.microsoft.com/office/drawing/2014/main" id="{09D9B7AF-DBF4-46B9-B589-54DB0FB6BED5}"/>
                </a:ext>
              </a:extLst>
            </p:cNvPr>
            <p:cNvPicPr>
              <a:picLocks noChangeAspect="1"/>
            </p:cNvPicPr>
            <p:nvPr/>
          </p:nvPicPr>
          <p:blipFill>
            <a:blip r:embed="rId2"/>
            <a:stretch>
              <a:fillRect/>
            </a:stretch>
          </p:blipFill>
          <p:spPr>
            <a:xfrm>
              <a:off x="2510589" y="4539800"/>
              <a:ext cx="4121674" cy="1869230"/>
            </a:xfrm>
            <a:prstGeom prst="rect">
              <a:avLst/>
            </a:prstGeom>
          </p:spPr>
        </p:pic>
        <p:pic>
          <p:nvPicPr>
            <p:cNvPr id="9" name="그림 8">
              <a:extLst>
                <a:ext uri="{FF2B5EF4-FFF2-40B4-BE49-F238E27FC236}">
                  <a16:creationId xmlns:a16="http://schemas.microsoft.com/office/drawing/2014/main" id="{2F50E13C-03F9-4E65-BB8A-FB1820DE9600}"/>
                </a:ext>
              </a:extLst>
            </p:cNvPr>
            <p:cNvPicPr>
              <a:picLocks noChangeAspect="1"/>
            </p:cNvPicPr>
            <p:nvPr/>
          </p:nvPicPr>
          <p:blipFill>
            <a:blip r:embed="rId3"/>
            <a:stretch>
              <a:fillRect/>
            </a:stretch>
          </p:blipFill>
          <p:spPr>
            <a:xfrm>
              <a:off x="6793544" y="4539800"/>
              <a:ext cx="4398974" cy="1865128"/>
            </a:xfrm>
            <a:prstGeom prst="rect">
              <a:avLst/>
            </a:prstGeom>
          </p:spPr>
        </p:pic>
      </p:grpSp>
    </p:spTree>
    <p:extLst>
      <p:ext uri="{BB962C8B-B14F-4D97-AF65-F5344CB8AC3E}">
        <p14:creationId xmlns:p14="http://schemas.microsoft.com/office/powerpoint/2010/main" val="107668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Configuration :</a:t>
            </a:r>
          </a:p>
          <a:p>
            <a:pPr lvl="1">
              <a:buFont typeface="Wingdings" panose="05000000000000000000" pitchFamily="2" charset="2"/>
              <a:buChar char="§"/>
            </a:pPr>
            <a:r>
              <a:rPr lang="en-US" altLang="ko-KR" sz="1400" b="1" dirty="0"/>
              <a:t>Immutability extends beyond containers running in your cluster to the way you </a:t>
            </a:r>
            <a:r>
              <a:rPr lang="en-US" altLang="ko-KR" sz="1400" b="1" dirty="0">
                <a:solidFill>
                  <a:srgbClr val="FF0000"/>
                </a:solidFill>
              </a:rPr>
              <a:t>describe</a:t>
            </a:r>
            <a:r>
              <a:rPr lang="en-US" altLang="ko-KR" sz="1400" b="1" dirty="0"/>
              <a:t> your application to Kubernetes</a:t>
            </a:r>
            <a:r>
              <a:rPr lang="en-US" altLang="ko-KR" sz="1400" dirty="0"/>
              <a:t>. </a:t>
            </a:r>
            <a:r>
              <a:rPr lang="en-US" altLang="ko-KR" sz="1400" b="1" dirty="0"/>
              <a:t>Everything in Kubernetes is a </a:t>
            </a:r>
            <a:r>
              <a:rPr lang="en-US" altLang="ko-KR" sz="1400" b="1" dirty="0">
                <a:solidFill>
                  <a:srgbClr val="FF0000"/>
                </a:solidFill>
              </a:rPr>
              <a:t>declarative configuration object </a:t>
            </a:r>
            <a:r>
              <a:rPr lang="en-US" altLang="ko-KR" sz="1400" b="1" dirty="0"/>
              <a:t>that represents the desired state of the system</a:t>
            </a:r>
            <a:r>
              <a:rPr lang="en-US" altLang="ko-KR" sz="1400" dirty="0"/>
              <a:t>. It is the job of Kubernetes </a:t>
            </a:r>
            <a:r>
              <a:rPr lang="en-US" altLang="ko-KR" sz="1400" b="1" dirty="0"/>
              <a:t>to ensure that the actual state of the world matches this desired state</a:t>
            </a:r>
            <a:r>
              <a:rPr lang="en-US" altLang="ko-KR" sz="1400" dirty="0"/>
              <a:t>. </a:t>
            </a:r>
          </a:p>
          <a:p>
            <a:pPr lvl="1">
              <a:buFont typeface="Wingdings" panose="05000000000000000000" pitchFamily="2" charset="2"/>
              <a:buChar char="§"/>
            </a:pPr>
            <a:r>
              <a:rPr lang="en-US" altLang="ko-KR" sz="1400" dirty="0"/>
              <a:t>Much like mutable versus immutable infrastructure, </a:t>
            </a:r>
            <a:r>
              <a:rPr lang="en-US" altLang="ko-KR" sz="1400" b="1" dirty="0"/>
              <a:t>declarative configuration is an alternative to </a:t>
            </a:r>
            <a:r>
              <a:rPr lang="en-US" altLang="ko-KR" sz="1400" b="1" dirty="0">
                <a:solidFill>
                  <a:srgbClr val="FF0000"/>
                </a:solidFill>
              </a:rPr>
              <a:t>imperative configuration</a:t>
            </a:r>
            <a:r>
              <a:rPr lang="en-US" altLang="ko-KR" sz="1400" b="1" dirty="0"/>
              <a:t>, where the state of the world is defined by the execution of a series of instructions rather than a declaration of the desired state of the world</a:t>
            </a:r>
            <a:r>
              <a:rPr lang="en-US" altLang="ko-KR" sz="1400" dirty="0"/>
              <a:t>. While imperative commands define actions, declarative configurations define state.</a:t>
            </a:r>
          </a:p>
          <a:p>
            <a:pPr lvl="1">
              <a:buFont typeface="Wingdings" panose="05000000000000000000" pitchFamily="2" charset="2"/>
              <a:buChar char="§"/>
            </a:pPr>
            <a:r>
              <a:rPr lang="en-US" altLang="ko-KR" sz="1400" dirty="0"/>
              <a:t>To understand these two approaches, consider the task of producing three replicas of a piece of software. With an imperative approach, the configuration would say “</a:t>
            </a:r>
            <a:r>
              <a:rPr lang="en-US" altLang="ko-KR" sz="1400" b="1" dirty="0"/>
              <a:t>run A, run B, and run C</a:t>
            </a:r>
            <a:r>
              <a:rPr lang="en-US" altLang="ko-KR" sz="1400" dirty="0"/>
              <a:t>.” The corresponding declarative configuration would be “</a:t>
            </a:r>
            <a:r>
              <a:rPr lang="en-US" altLang="ko-KR" sz="1400" b="1" dirty="0"/>
              <a:t>replicas equals three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242F9DA-15F1-47CF-92EB-07B59934858A}"/>
              </a:ext>
            </a:extLst>
          </p:cNvPr>
          <p:cNvPicPr>
            <a:picLocks noChangeAspect="1"/>
          </p:cNvPicPr>
          <p:nvPr/>
        </p:nvPicPr>
        <p:blipFill>
          <a:blip r:embed="rId2"/>
          <a:stretch>
            <a:fillRect/>
          </a:stretch>
        </p:blipFill>
        <p:spPr>
          <a:xfrm>
            <a:off x="2494547" y="3429000"/>
            <a:ext cx="7202905" cy="2820669"/>
          </a:xfrm>
          <a:prstGeom prst="rect">
            <a:avLst/>
          </a:prstGeom>
        </p:spPr>
      </p:pic>
    </p:spTree>
    <p:extLst>
      <p:ext uri="{BB962C8B-B14F-4D97-AF65-F5344CB8AC3E}">
        <p14:creationId xmlns:p14="http://schemas.microsoft.com/office/powerpoint/2010/main" val="316885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Configuration :</a:t>
            </a:r>
          </a:p>
          <a:p>
            <a:pPr lvl="1">
              <a:buFont typeface="Wingdings" panose="05000000000000000000" pitchFamily="2" charset="2"/>
              <a:buChar char="§"/>
            </a:pPr>
            <a:r>
              <a:rPr lang="en-US" altLang="ko-KR" sz="1400" b="1" dirty="0"/>
              <a:t>Because it describes the state of the world, declarative configuration does not have to be executed to be understood</a:t>
            </a:r>
            <a:r>
              <a:rPr lang="en-US" altLang="ko-KR" sz="1400" dirty="0"/>
              <a:t>. Its impact is concretely declared. Since the effects of declarative configuration can be understood before they are executed, </a:t>
            </a:r>
            <a:r>
              <a:rPr lang="en-US" altLang="ko-KR" sz="1400" b="1" dirty="0"/>
              <a:t>declarative configuration is far less error-prone</a:t>
            </a:r>
            <a:r>
              <a:rPr lang="en-US" altLang="ko-KR" sz="1400" dirty="0"/>
              <a:t>. Further, the traditional tools of software development, such as source control, code review, and unit testing, can be used in declarative configuration in ways that are impossible for imperative instructions. </a:t>
            </a:r>
            <a:r>
              <a:rPr lang="en-US" altLang="ko-KR" sz="1400" b="1" dirty="0"/>
              <a:t>The idea of storing declarative configuration in source control is often referred to as “</a:t>
            </a:r>
            <a:r>
              <a:rPr lang="en-US" altLang="ko-KR" sz="1400" b="1" dirty="0">
                <a:solidFill>
                  <a:srgbClr val="FF0000"/>
                </a:solidFill>
              </a:rPr>
              <a:t>infrastructure as code</a:t>
            </a:r>
            <a:r>
              <a:rPr lang="en-US" altLang="ko-KR" sz="1400" b="1" dirty="0"/>
              <a:t>.”</a:t>
            </a:r>
          </a:p>
          <a:p>
            <a:pPr lvl="1">
              <a:buFont typeface="Wingdings" panose="05000000000000000000" pitchFamily="2" charset="2"/>
              <a:buChar char="§"/>
            </a:pPr>
            <a:r>
              <a:rPr lang="en-US" altLang="ko-KR" sz="1400" b="1" dirty="0"/>
              <a:t>The combination of declarative state stored in a version control system and the ability of Kubernetes to make reality match this declarative state makes rollback of a change trivially easy</a:t>
            </a:r>
            <a:r>
              <a:rPr lang="en-US" altLang="ko-KR" sz="1400" dirty="0"/>
              <a:t>. It is simply restating the previous declarative state of the system. This is usually impossible with imperative systems, because although the imperative instructions describe how to get you from point A to point B, they rarely include the reverse instructions that can get you back.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3A8EADA-5910-4038-894F-0CC772AF72FF}"/>
              </a:ext>
            </a:extLst>
          </p:cNvPr>
          <p:cNvPicPr>
            <a:picLocks noChangeAspect="1"/>
          </p:cNvPicPr>
          <p:nvPr/>
        </p:nvPicPr>
        <p:blipFill>
          <a:blip r:embed="rId2"/>
          <a:stretch>
            <a:fillRect/>
          </a:stretch>
        </p:blipFill>
        <p:spPr>
          <a:xfrm>
            <a:off x="3304673" y="3429000"/>
            <a:ext cx="5582653" cy="1833110"/>
          </a:xfrm>
          <a:prstGeom prst="rect">
            <a:avLst/>
          </a:prstGeom>
        </p:spPr>
      </p:pic>
    </p:spTree>
    <p:extLst>
      <p:ext uri="{BB962C8B-B14F-4D97-AF65-F5344CB8AC3E}">
        <p14:creationId xmlns:p14="http://schemas.microsoft.com/office/powerpoint/2010/main" val="1798944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Self-Healing Systems :</a:t>
            </a:r>
          </a:p>
          <a:p>
            <a:pPr lvl="1">
              <a:buFont typeface="Wingdings" panose="05000000000000000000" pitchFamily="2" charset="2"/>
              <a:buChar char="§"/>
            </a:pPr>
            <a:r>
              <a:rPr lang="en-US" altLang="ko-KR" sz="1400" b="1" dirty="0"/>
              <a:t>Kubernetes is </a:t>
            </a:r>
            <a:r>
              <a:rPr lang="en-US" altLang="ko-KR" sz="1400" b="1" dirty="0">
                <a:solidFill>
                  <a:srgbClr val="FF0000"/>
                </a:solidFill>
              </a:rPr>
              <a:t>an online, self-healing system</a:t>
            </a:r>
            <a:r>
              <a:rPr lang="en-US" altLang="ko-KR" sz="1400" dirty="0"/>
              <a:t>. </a:t>
            </a:r>
            <a:r>
              <a:rPr lang="en-US" altLang="ko-KR" sz="1400" b="1" dirty="0"/>
              <a:t>When it receives a desired state configuration, it does not simply take a set of actions to make the current state match the desired state a single time. It continuously takes actions to ensure that the current state matches the desired state</a:t>
            </a:r>
            <a:r>
              <a:rPr lang="en-US" altLang="ko-KR" sz="1400" dirty="0"/>
              <a:t>. This means that not only will Kubernetes initialize your system, but it will </a:t>
            </a:r>
            <a:r>
              <a:rPr lang="en-US" altLang="ko-KR" sz="1400" b="1" dirty="0"/>
              <a:t>guard</a:t>
            </a:r>
            <a:r>
              <a:rPr lang="en-US" altLang="ko-KR" sz="1400" dirty="0"/>
              <a:t> it against any failures or perturbations that might destabilize the system and affect reliability.</a:t>
            </a:r>
          </a:p>
          <a:p>
            <a:pPr lvl="1">
              <a:buFont typeface="Wingdings" panose="05000000000000000000" pitchFamily="2" charset="2"/>
              <a:buChar char="§"/>
            </a:pPr>
            <a:r>
              <a:rPr lang="en-US" altLang="ko-KR" sz="1400" b="1" dirty="0"/>
              <a:t>A more traditional operator repair involves </a:t>
            </a:r>
            <a:r>
              <a:rPr lang="en-US" altLang="ko-KR" sz="1400" b="1" dirty="0">
                <a:solidFill>
                  <a:srgbClr val="FF0000"/>
                </a:solidFill>
              </a:rPr>
              <a:t>a manual series of mitigation steps</a:t>
            </a:r>
            <a:r>
              <a:rPr lang="en-US" altLang="ko-KR" sz="1400" b="1" dirty="0"/>
              <a:t>, or </a:t>
            </a:r>
            <a:r>
              <a:rPr lang="en-US" altLang="ko-KR" sz="1400" b="1" dirty="0">
                <a:solidFill>
                  <a:srgbClr val="FF0000"/>
                </a:solidFill>
              </a:rPr>
              <a:t>human intervention </a:t>
            </a:r>
            <a:r>
              <a:rPr lang="en-US" altLang="ko-KR" sz="1400" b="1" dirty="0"/>
              <a:t>performed in response to some sort of alert. </a:t>
            </a:r>
            <a:r>
              <a:rPr lang="en-US" altLang="ko-KR" sz="1400" b="1" dirty="0">
                <a:solidFill>
                  <a:srgbClr val="FF0000"/>
                </a:solidFill>
              </a:rPr>
              <a:t>Imperative repair </a:t>
            </a:r>
            <a:r>
              <a:rPr lang="en-US" altLang="ko-KR" sz="1400" b="1" dirty="0"/>
              <a:t>like this is more expensive (since it generally requires an on-call operator to be available to enact the repair). </a:t>
            </a:r>
            <a:r>
              <a:rPr lang="en-US" altLang="ko-KR" sz="1400" dirty="0"/>
              <a:t>It is also generally slower, since a human must often wake up and log in to respond. Furthermore, it is less reliable because the imperative series of repair operations suffers from all of the problems of </a:t>
            </a:r>
            <a:r>
              <a:rPr lang="en-US" altLang="ko-KR" sz="1400" b="1" dirty="0"/>
              <a:t>imperative management </a:t>
            </a:r>
            <a:r>
              <a:rPr lang="en-US" altLang="ko-KR" sz="1400" dirty="0"/>
              <a:t>described in the previous section. </a:t>
            </a:r>
            <a:r>
              <a:rPr lang="en-US" altLang="ko-KR" sz="1400" b="1" dirty="0"/>
              <a:t>Self-healing systems like Kubernetes both reduce the burden on operators and improve the overall reliability of the system by performing reliable repairs more quickly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59144DC-A495-4AE2-89C6-C1C7C54C5154}"/>
              </a:ext>
            </a:extLst>
          </p:cNvPr>
          <p:cNvPicPr>
            <a:picLocks noChangeAspect="1"/>
          </p:cNvPicPr>
          <p:nvPr/>
        </p:nvPicPr>
        <p:blipFill>
          <a:blip r:embed="rId2"/>
          <a:stretch>
            <a:fillRect/>
          </a:stretch>
        </p:blipFill>
        <p:spPr>
          <a:xfrm>
            <a:off x="3823311" y="3774448"/>
            <a:ext cx="4545377" cy="2634582"/>
          </a:xfrm>
          <a:prstGeom prst="rect">
            <a:avLst/>
          </a:prstGeom>
        </p:spPr>
      </p:pic>
    </p:spTree>
    <p:extLst>
      <p:ext uri="{BB962C8B-B14F-4D97-AF65-F5344CB8AC3E}">
        <p14:creationId xmlns:p14="http://schemas.microsoft.com/office/powerpoint/2010/main" val="1617278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Self-Healing Systems :</a:t>
            </a:r>
          </a:p>
          <a:p>
            <a:pPr lvl="1">
              <a:buFont typeface="Wingdings" panose="05000000000000000000" pitchFamily="2" charset="2"/>
              <a:buChar char="§"/>
            </a:pPr>
            <a:r>
              <a:rPr lang="en-US" altLang="ko-KR" sz="1400" b="1" dirty="0"/>
              <a:t>Online self-healing systems improve developer velocity </a:t>
            </a:r>
            <a:r>
              <a:rPr lang="en-US" altLang="ko-KR" sz="1400" dirty="0"/>
              <a:t>because the time and energy you might otherwise have spent on operations and maintenance can instead be spent on developing and testing new features.</a:t>
            </a:r>
          </a:p>
          <a:p>
            <a:pPr lvl="1">
              <a:buFont typeface="Wingdings" panose="05000000000000000000" pitchFamily="2" charset="2"/>
              <a:buChar char="§"/>
            </a:pPr>
            <a:r>
              <a:rPr lang="en-US" altLang="ko-KR" sz="1400" b="1" dirty="0"/>
              <a:t>In a more advanced form of self-healing, there has been significant recent work in the operator paradigm for Kubernetes</a:t>
            </a:r>
            <a:r>
              <a:rPr lang="en-US" altLang="ko-KR" sz="1400" dirty="0"/>
              <a:t>. With operators, more advanced logic needed to maintain, scale, and heal a specific piece of software (MySQL, for example) is encoded into </a:t>
            </a:r>
            <a:r>
              <a:rPr lang="en-US" altLang="ko-KR" sz="1400" b="1" dirty="0"/>
              <a:t>an operator application </a:t>
            </a:r>
            <a:r>
              <a:rPr lang="en-US" altLang="ko-KR" sz="1400" dirty="0"/>
              <a:t>that runs as a container in the cluster. The code in the operator is responsible for more targeted and advanced </a:t>
            </a:r>
            <a:r>
              <a:rPr lang="en-US" altLang="ko-KR" sz="1400" b="1" dirty="0">
                <a:solidFill>
                  <a:srgbClr val="FF0000"/>
                </a:solidFill>
              </a:rPr>
              <a:t>health detection </a:t>
            </a:r>
            <a:r>
              <a:rPr lang="en-US" altLang="ko-KR" sz="1400" dirty="0"/>
              <a:t>and </a:t>
            </a:r>
            <a:r>
              <a:rPr lang="en-US" altLang="ko-KR" sz="1400" b="1" dirty="0"/>
              <a:t>healing</a:t>
            </a:r>
            <a:r>
              <a:rPr lang="en-US" altLang="ko-KR" sz="1400" dirty="0"/>
              <a:t> than can be achieved via </a:t>
            </a:r>
            <a:r>
              <a:rPr lang="en-US" altLang="ko-KR" sz="1400" b="1" dirty="0"/>
              <a:t>Kubernetes’s generic self-healing</a:t>
            </a:r>
            <a:r>
              <a:rPr lang="en-US" altLang="ko-KR" sz="1400" dirty="0"/>
              <a:t>. Often this is packaged up as “</a:t>
            </a:r>
            <a:r>
              <a:rPr lang="en-US" altLang="ko-KR" sz="1400" b="1" dirty="0">
                <a:solidFill>
                  <a:srgbClr val="FF0000"/>
                </a:solidFill>
              </a:rPr>
              <a:t>operators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5DEF2E8-2C75-4AE1-8636-7516F4470627}"/>
              </a:ext>
            </a:extLst>
          </p:cNvPr>
          <p:cNvPicPr>
            <a:picLocks noChangeAspect="1"/>
          </p:cNvPicPr>
          <p:nvPr/>
        </p:nvPicPr>
        <p:blipFill>
          <a:blip r:embed="rId2"/>
          <a:stretch>
            <a:fillRect/>
          </a:stretch>
        </p:blipFill>
        <p:spPr>
          <a:xfrm>
            <a:off x="3449303" y="2923534"/>
            <a:ext cx="5293393" cy="3485496"/>
          </a:xfrm>
          <a:prstGeom prst="rect">
            <a:avLst/>
          </a:prstGeom>
        </p:spPr>
      </p:pic>
    </p:spTree>
    <p:extLst>
      <p:ext uri="{BB962C8B-B14F-4D97-AF65-F5344CB8AC3E}">
        <p14:creationId xmlns:p14="http://schemas.microsoft.com/office/powerpoint/2010/main" val="2440299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Your Service and Your Teams :</a:t>
            </a:r>
          </a:p>
          <a:p>
            <a:pPr lvl="1">
              <a:buFont typeface="Wingdings" panose="05000000000000000000" pitchFamily="2" charset="2"/>
              <a:buChar char="§"/>
            </a:pPr>
            <a:r>
              <a:rPr lang="en-US" altLang="ko-KR" sz="1400" b="1" dirty="0"/>
              <a:t>As your product grows, it’s inevitable that you will need to </a:t>
            </a:r>
            <a:r>
              <a:rPr lang="en-US" altLang="ko-KR" sz="1400" b="1" dirty="0">
                <a:solidFill>
                  <a:srgbClr val="FF0000"/>
                </a:solidFill>
              </a:rPr>
              <a:t>scale</a:t>
            </a:r>
            <a:r>
              <a:rPr lang="en-US" altLang="ko-KR" sz="1400" b="1" dirty="0"/>
              <a:t> both your software and the teams that develop it</a:t>
            </a:r>
            <a:r>
              <a:rPr lang="en-US" altLang="ko-KR" sz="1400" dirty="0"/>
              <a:t>. Fortunately, Kubernetes can help with both of these goals. </a:t>
            </a:r>
            <a:r>
              <a:rPr lang="en-US" altLang="ko-KR" sz="1400" b="1" dirty="0"/>
              <a:t>Kubernetes achieves scalability by favoring </a:t>
            </a:r>
            <a:r>
              <a:rPr lang="en-US" altLang="ko-KR" sz="1400" b="1" dirty="0">
                <a:solidFill>
                  <a:srgbClr val="FF0000"/>
                </a:solidFill>
              </a:rPr>
              <a:t>decoupled architectures</a:t>
            </a:r>
            <a:r>
              <a:rPr lang="en-US" altLang="ko-KR" sz="1400" dirty="0"/>
              <a:t>.</a:t>
            </a:r>
          </a:p>
          <a:p>
            <a:pPr>
              <a:buFont typeface="Wingdings" panose="05000000000000000000" pitchFamily="2" charset="2"/>
              <a:buChar char="§"/>
            </a:pPr>
            <a:r>
              <a:rPr lang="en-US" altLang="ko-KR" sz="1800" b="1" dirty="0"/>
              <a:t>Decoupling : </a:t>
            </a:r>
          </a:p>
          <a:p>
            <a:pPr lvl="1">
              <a:buFont typeface="Wingdings" panose="05000000000000000000" pitchFamily="2" charset="2"/>
              <a:buChar char="§"/>
            </a:pPr>
            <a:r>
              <a:rPr lang="en-US" altLang="ko-KR" sz="1400" b="1" dirty="0"/>
              <a:t>In a decoupled architecture, </a:t>
            </a:r>
            <a:r>
              <a:rPr lang="en-US" altLang="ko-KR" sz="1400" b="1" dirty="0">
                <a:solidFill>
                  <a:srgbClr val="FF0000"/>
                </a:solidFill>
              </a:rPr>
              <a:t>each component is separated from other components </a:t>
            </a:r>
            <a:r>
              <a:rPr lang="en-US" altLang="ko-KR" sz="1400" b="1" dirty="0"/>
              <a:t>by defined </a:t>
            </a:r>
            <a:r>
              <a:rPr lang="en-US" altLang="ko-KR" sz="1400" b="1" dirty="0">
                <a:solidFill>
                  <a:srgbClr val="FF0000"/>
                </a:solidFill>
              </a:rPr>
              <a:t>APIs</a:t>
            </a:r>
            <a:r>
              <a:rPr lang="en-US" altLang="ko-KR" sz="1400" b="1" dirty="0"/>
              <a:t> and service </a:t>
            </a:r>
            <a:r>
              <a:rPr lang="en-US" altLang="ko-KR" sz="1400" b="1" dirty="0">
                <a:solidFill>
                  <a:srgbClr val="FF0000"/>
                </a:solidFill>
              </a:rPr>
              <a:t>load balancers</a:t>
            </a:r>
            <a:r>
              <a:rPr lang="en-US" altLang="ko-KR" sz="1400" dirty="0"/>
              <a:t>. </a:t>
            </a:r>
            <a:r>
              <a:rPr lang="en-US" altLang="ko-KR" sz="1400" b="1" dirty="0"/>
              <a:t>APIs and load balancers isolate each piece of the system from the others</a:t>
            </a:r>
            <a:r>
              <a:rPr lang="en-US" altLang="ko-KR" sz="1400" dirty="0"/>
              <a:t>. APIs provide a </a:t>
            </a:r>
            <a:r>
              <a:rPr lang="en-US" altLang="ko-KR" sz="1400" b="1" dirty="0"/>
              <a:t>buffer</a:t>
            </a:r>
            <a:r>
              <a:rPr lang="en-US" altLang="ko-KR" sz="1400" dirty="0"/>
              <a:t> between implementer and consumer, and load balancers provide a </a:t>
            </a:r>
            <a:r>
              <a:rPr lang="en-US" altLang="ko-KR" sz="1400" b="1" dirty="0"/>
              <a:t>buffer</a:t>
            </a:r>
            <a:r>
              <a:rPr lang="en-US" altLang="ko-KR" sz="1400" dirty="0"/>
              <a:t> between running instances of each service.</a:t>
            </a:r>
          </a:p>
          <a:p>
            <a:pPr lvl="1">
              <a:buFont typeface="Wingdings" panose="05000000000000000000" pitchFamily="2" charset="2"/>
              <a:buChar char="§"/>
            </a:pPr>
            <a:r>
              <a:rPr lang="en-US" altLang="ko-KR" sz="1400" b="1" dirty="0"/>
              <a:t>Decoupling components via load balancers makes it easy to scale the programs that make up your service</a:t>
            </a:r>
            <a:r>
              <a:rPr lang="en-US" altLang="ko-KR" sz="1400" dirty="0"/>
              <a:t>, because increasing the size (and therefore the capacity) of the program can be done without adjusting or reconfiguring any of the other layers of your service.</a:t>
            </a:r>
          </a:p>
          <a:p>
            <a:pPr lvl="1">
              <a:buFont typeface="Wingdings" panose="05000000000000000000" pitchFamily="2" charset="2"/>
              <a:buChar char="§"/>
            </a:pPr>
            <a:r>
              <a:rPr lang="en-US" altLang="ko-KR" sz="1400" b="1" dirty="0"/>
              <a:t>Decoupling servers via APIs makes it easier to scale the development teams because each team can focus on a single, smaller </a:t>
            </a:r>
            <a:r>
              <a:rPr lang="en-US" altLang="ko-KR" sz="1400" b="1" dirty="0">
                <a:solidFill>
                  <a:srgbClr val="FF0000"/>
                </a:solidFill>
              </a:rPr>
              <a:t>microservice</a:t>
            </a:r>
            <a:r>
              <a:rPr lang="en-US" altLang="ko-KR" sz="1400" b="1" dirty="0"/>
              <a:t> with a comprehensible surface area</a:t>
            </a:r>
            <a:r>
              <a:rPr lang="en-US" altLang="ko-KR" sz="1400" dirty="0"/>
              <a:t>. Crisp APIs between microservices </a:t>
            </a:r>
            <a:r>
              <a:rPr lang="en-US" altLang="ko-KR" sz="1400" b="1" dirty="0"/>
              <a:t>limit the amount of cross-team communication overhead </a:t>
            </a:r>
            <a:r>
              <a:rPr lang="en-US" altLang="ko-KR" sz="1400" dirty="0"/>
              <a:t>required to build and deploy software. This communication overhead is often the major restricting factor when scaling teams.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E0A1664-B47B-4625-9D17-D69627C30067}"/>
              </a:ext>
            </a:extLst>
          </p:cNvPr>
          <p:cNvPicPr>
            <a:picLocks noChangeAspect="1"/>
          </p:cNvPicPr>
          <p:nvPr/>
        </p:nvPicPr>
        <p:blipFill>
          <a:blip r:embed="rId2"/>
          <a:stretch>
            <a:fillRect/>
          </a:stretch>
        </p:blipFill>
        <p:spPr>
          <a:xfrm>
            <a:off x="3570329" y="4371474"/>
            <a:ext cx="5040271" cy="2037556"/>
          </a:xfrm>
          <a:prstGeom prst="rect">
            <a:avLst/>
          </a:prstGeom>
        </p:spPr>
      </p:pic>
    </p:spTree>
    <p:extLst>
      <p:ext uri="{BB962C8B-B14F-4D97-AF65-F5344CB8AC3E}">
        <p14:creationId xmlns:p14="http://schemas.microsoft.com/office/powerpoint/2010/main" val="1753681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Easy Scaling for Applications and Clusters :</a:t>
            </a:r>
          </a:p>
          <a:p>
            <a:pPr lvl="1">
              <a:buFont typeface="Wingdings" panose="05000000000000000000" pitchFamily="2" charset="2"/>
              <a:buChar char="§"/>
            </a:pPr>
            <a:r>
              <a:rPr lang="en-US" altLang="ko-KR" sz="1400" b="1" dirty="0"/>
              <a:t>When you need to scale your service, the immutable, declarative nature of Kubernetes makes this scaling trivial to implement</a:t>
            </a:r>
            <a:r>
              <a:rPr lang="en-US" altLang="ko-KR" sz="1400" dirty="0"/>
              <a:t>. Because your containers are immutable, and </a:t>
            </a:r>
            <a:r>
              <a:rPr lang="en-US" altLang="ko-KR" sz="1400" b="1" dirty="0"/>
              <a:t>the number of replicas is merely a number in a declarative config</a:t>
            </a:r>
            <a:r>
              <a:rPr lang="en-US" altLang="ko-KR" sz="1400" dirty="0"/>
              <a:t>, </a:t>
            </a:r>
            <a:r>
              <a:rPr lang="en-US" altLang="ko-KR" sz="1400" b="1" dirty="0"/>
              <a:t>scaling your service upward is simply a matter of changing a number in a configuration file</a:t>
            </a:r>
            <a:r>
              <a:rPr lang="en-US" altLang="ko-KR" sz="1400" dirty="0"/>
              <a:t>, asserting this new declarative state to Kubernetes, and letting it take care of the rest. Alternatively, you can set up </a:t>
            </a:r>
            <a:r>
              <a:rPr lang="en-US" altLang="ko-KR" sz="1400" b="1" dirty="0">
                <a:solidFill>
                  <a:srgbClr val="FF0000"/>
                </a:solidFill>
              </a:rPr>
              <a:t>autoscaling</a:t>
            </a:r>
            <a:r>
              <a:rPr lang="en-US" altLang="ko-KR" sz="1400" dirty="0"/>
              <a:t> and </a:t>
            </a:r>
            <a:r>
              <a:rPr lang="en-US" altLang="ko-KR" sz="1400" b="1" dirty="0"/>
              <a:t>let Kubernetes take care of it for you</a:t>
            </a:r>
            <a:r>
              <a:rPr lang="en-US" altLang="ko-KR" sz="1400" dirty="0"/>
              <a:t>.</a:t>
            </a:r>
          </a:p>
          <a:p>
            <a:pPr lvl="1">
              <a:buFont typeface="Wingdings" panose="05000000000000000000" pitchFamily="2" charset="2"/>
              <a:buChar char="§"/>
            </a:pPr>
            <a:r>
              <a:rPr lang="en-US" altLang="ko-KR" sz="1400" b="1" dirty="0"/>
              <a:t>Of course, that sort of scaling assumes that there are resources available in your cluster to consume</a:t>
            </a:r>
            <a:r>
              <a:rPr lang="en-US" altLang="ko-KR" sz="1400" dirty="0"/>
              <a:t>. Sometimes you actually need to scale up the cluster itself. Again, Kubernetes makes this task easier. </a:t>
            </a:r>
            <a:r>
              <a:rPr lang="en-US" altLang="ko-KR" sz="1400" b="1" dirty="0"/>
              <a:t>Because </a:t>
            </a:r>
            <a:r>
              <a:rPr lang="en-US" altLang="ko-KR" sz="1400" b="1" dirty="0">
                <a:solidFill>
                  <a:srgbClr val="FF0000"/>
                </a:solidFill>
              </a:rPr>
              <a:t>many machines in a cluster are entirely identical to other machines </a:t>
            </a:r>
            <a:r>
              <a:rPr lang="en-US" altLang="ko-KR" sz="1400" b="1" dirty="0"/>
              <a:t>in that set and the applications themselves are </a:t>
            </a:r>
            <a:r>
              <a:rPr lang="en-US" altLang="ko-KR" sz="1400" b="1" dirty="0">
                <a:solidFill>
                  <a:srgbClr val="FF0000"/>
                </a:solidFill>
              </a:rPr>
              <a:t>decoupled from the details of the machine</a:t>
            </a:r>
            <a:r>
              <a:rPr lang="en-US" altLang="ko-KR" sz="1400" b="1" dirty="0"/>
              <a:t> by containers, adding additional resources to the cluster is simply a matter of imaging a new machine of the same class and joining it into the cluster</a:t>
            </a:r>
            <a:r>
              <a:rPr lang="en-US" altLang="ko-KR" sz="1400" dirty="0"/>
              <a:t>. This can be accomplished via a few simple commands or via a prebaked machine image.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03E14D6-0B99-4189-B361-0426BBD2D2E2}"/>
              </a:ext>
            </a:extLst>
          </p:cNvPr>
          <p:cNvPicPr>
            <a:picLocks noChangeAspect="1"/>
          </p:cNvPicPr>
          <p:nvPr/>
        </p:nvPicPr>
        <p:blipFill>
          <a:blip r:embed="rId2"/>
          <a:stretch>
            <a:fillRect/>
          </a:stretch>
        </p:blipFill>
        <p:spPr>
          <a:xfrm>
            <a:off x="4619625" y="3591718"/>
            <a:ext cx="2952750" cy="2133600"/>
          </a:xfrm>
          <a:prstGeom prst="rect">
            <a:avLst/>
          </a:prstGeom>
        </p:spPr>
      </p:pic>
    </p:spTree>
    <p:extLst>
      <p:ext uri="{BB962C8B-B14F-4D97-AF65-F5344CB8AC3E}">
        <p14:creationId xmlns:p14="http://schemas.microsoft.com/office/powerpoint/2010/main" val="3287666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Easy Scaling for Applications and Clusters :</a:t>
            </a:r>
          </a:p>
          <a:p>
            <a:pPr lvl="1">
              <a:buFont typeface="Wingdings" panose="05000000000000000000" pitchFamily="2" charset="2"/>
              <a:buChar char="§"/>
            </a:pPr>
            <a:r>
              <a:rPr lang="en-US" altLang="ko-KR" sz="1400" b="1" dirty="0"/>
              <a:t>One of the challenges of scaling machine resources is predicting their use</a:t>
            </a:r>
            <a:r>
              <a:rPr lang="en-US" altLang="ko-KR" sz="1400" dirty="0"/>
              <a:t>. If you are running on physical infrastructure, the time to obtain a new machine is measured in days or weeks. </a:t>
            </a:r>
            <a:r>
              <a:rPr lang="en-US" altLang="ko-KR" sz="1400" b="1" dirty="0"/>
              <a:t>On both physical and cloud infrastructure, predicting future costs is difficult because it is hard to predict the growth and scaling needs of specific applications</a:t>
            </a:r>
            <a:r>
              <a:rPr lang="en-US" altLang="ko-KR" sz="1400" dirty="0"/>
              <a:t>. </a:t>
            </a:r>
          </a:p>
          <a:p>
            <a:pPr lvl="1">
              <a:buFont typeface="Wingdings" panose="05000000000000000000" pitchFamily="2" charset="2"/>
              <a:buChar char="§"/>
            </a:pPr>
            <a:r>
              <a:rPr lang="en-US" altLang="ko-KR" sz="1400" b="1" dirty="0"/>
              <a:t>Kubernetes can simplify forecasting future compute costs</a:t>
            </a:r>
            <a:r>
              <a:rPr lang="en-US" altLang="ko-KR" sz="1400" dirty="0"/>
              <a:t>. Historically you have seen that each team’s growth is highly variable and thus hard to predict. If you are provisioning individual machines for each service, you have no choice but to forecast based on the maximum expected growth for each service, since machines dedicated to one team cannot be used for another team. </a:t>
            </a:r>
            <a:r>
              <a:rPr lang="en-US" altLang="ko-KR" sz="1400" b="1" dirty="0"/>
              <a:t>If instead you use Kubernetes to decouple the teams from the specific machines they are using, you can forecast growth based on the aggregate growth of all three services</a:t>
            </a:r>
            <a:r>
              <a:rPr lang="en-US" altLang="ko-KR" sz="1400" dirty="0"/>
              <a:t>. </a:t>
            </a:r>
            <a:r>
              <a:rPr lang="en-US" altLang="ko-KR" sz="1400" b="1" dirty="0"/>
              <a:t>Furthermore, decoupling the teams from specific machines means that teams can share fractional parts of one another’s machines</a:t>
            </a:r>
            <a:r>
              <a:rPr lang="en-US" altLang="ko-KR" sz="1400" dirty="0"/>
              <a:t>, reducing even further the overheads associated with forecasting growth of computing resources.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E5DDC69-B647-4580-A068-808A0030AABF}"/>
              </a:ext>
            </a:extLst>
          </p:cNvPr>
          <p:cNvPicPr>
            <a:picLocks noChangeAspect="1"/>
          </p:cNvPicPr>
          <p:nvPr/>
        </p:nvPicPr>
        <p:blipFill>
          <a:blip r:embed="rId2"/>
          <a:stretch>
            <a:fillRect/>
          </a:stretch>
        </p:blipFill>
        <p:spPr>
          <a:xfrm>
            <a:off x="3671051" y="3591718"/>
            <a:ext cx="4849897" cy="2283493"/>
          </a:xfrm>
          <a:prstGeom prst="rect">
            <a:avLst/>
          </a:prstGeom>
        </p:spPr>
      </p:pic>
    </p:spTree>
    <p:extLst>
      <p:ext uri="{BB962C8B-B14F-4D97-AF65-F5344CB8AC3E}">
        <p14:creationId xmlns:p14="http://schemas.microsoft.com/office/powerpoint/2010/main" val="3301272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Development Teams with Microservices :</a:t>
            </a:r>
          </a:p>
          <a:p>
            <a:pPr lvl="1">
              <a:buFont typeface="Wingdings" panose="05000000000000000000" pitchFamily="2" charset="2"/>
              <a:buChar char="§"/>
            </a:pPr>
            <a:r>
              <a:rPr lang="en-US" altLang="ko-KR" sz="1400" b="1" dirty="0"/>
              <a:t>The ideal team size is the “</a:t>
            </a:r>
            <a:r>
              <a:rPr lang="en-US" altLang="ko-KR" sz="1400" b="1" dirty="0">
                <a:solidFill>
                  <a:srgbClr val="FF0000"/>
                </a:solidFill>
              </a:rPr>
              <a:t>two-pizza team</a:t>
            </a:r>
            <a:r>
              <a:rPr lang="en-US" altLang="ko-KR" sz="1400" b="1" dirty="0"/>
              <a:t>,” or roughly six to eight people(</a:t>
            </a:r>
            <a:r>
              <a:rPr lang="en-US" altLang="ko-KR" sz="1400" b="1" dirty="0">
                <a:solidFill>
                  <a:srgbClr val="FF0000"/>
                </a:solidFill>
              </a:rPr>
              <a:t>or 7 ± 2 = 5 ~ 9</a:t>
            </a:r>
            <a:r>
              <a:rPr lang="en-US" altLang="ko-KR" sz="1400" b="1" dirty="0"/>
              <a:t>)</a:t>
            </a:r>
            <a:r>
              <a:rPr lang="en-US" altLang="ko-KR" sz="1400" dirty="0"/>
              <a:t>. This group size often results in </a:t>
            </a:r>
            <a:r>
              <a:rPr lang="en-US" altLang="ko-KR" sz="1400" b="1" dirty="0"/>
              <a:t>good knowledge sharing, fast decision making, and a common sense of purpose</a:t>
            </a:r>
            <a:r>
              <a:rPr lang="en-US" altLang="ko-KR" sz="1400" dirty="0"/>
              <a:t>. Larger teams tend to suffer from issues of hierarchy, poor visibility, and infighting, which hinder agility and success. </a:t>
            </a:r>
          </a:p>
          <a:p>
            <a:pPr lvl="1">
              <a:buFont typeface="Wingdings" panose="05000000000000000000" pitchFamily="2" charset="2"/>
              <a:buChar char="§"/>
            </a:pPr>
            <a:r>
              <a:rPr lang="en-US" altLang="ko-KR" sz="1400" dirty="0"/>
              <a:t>However, many projects require significantly more resources to be successful and achieve their goals. Consequently, there is a tension between the ideal team size for agility and the necessary team size for the product’s end goals.</a:t>
            </a:r>
          </a:p>
          <a:p>
            <a:pPr lvl="1">
              <a:buFont typeface="Wingdings" panose="05000000000000000000" pitchFamily="2" charset="2"/>
              <a:buChar char="§"/>
            </a:pPr>
            <a:r>
              <a:rPr lang="en-US" altLang="ko-KR" sz="1400" b="1" dirty="0"/>
              <a:t>The common solution to this tension has been the development of </a:t>
            </a:r>
            <a:r>
              <a:rPr lang="en-US" altLang="ko-KR" sz="1400" b="1" dirty="0">
                <a:solidFill>
                  <a:srgbClr val="FF0000"/>
                </a:solidFill>
              </a:rPr>
              <a:t>decoupled</a:t>
            </a:r>
            <a:r>
              <a:rPr lang="en-US" altLang="ko-KR" sz="1400" b="1" dirty="0"/>
              <a:t>, </a:t>
            </a:r>
            <a:r>
              <a:rPr lang="en-US" altLang="ko-KR" sz="1400" b="1" dirty="0">
                <a:solidFill>
                  <a:srgbClr val="FF0000"/>
                </a:solidFill>
              </a:rPr>
              <a:t>service-oriented</a:t>
            </a:r>
            <a:r>
              <a:rPr lang="en-US" altLang="ko-KR" sz="1400" b="1" dirty="0"/>
              <a:t> teams that each build a single microservice</a:t>
            </a:r>
            <a:r>
              <a:rPr lang="en-US" altLang="ko-KR" sz="1400" dirty="0"/>
              <a:t>. Each small team is responsible for the design and delivery of a service that is consumed by other small teams. The aggregation of all of these services ultimately provides the implementation of the overall product’s surface area.</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AE63D3F-DE0F-495E-96EE-4C621A925474}"/>
              </a:ext>
            </a:extLst>
          </p:cNvPr>
          <p:cNvPicPr>
            <a:picLocks noChangeAspect="1"/>
          </p:cNvPicPr>
          <p:nvPr/>
        </p:nvPicPr>
        <p:blipFill>
          <a:blip r:embed="rId2"/>
          <a:stretch>
            <a:fillRect/>
          </a:stretch>
        </p:blipFill>
        <p:spPr>
          <a:xfrm>
            <a:off x="3538200" y="3429000"/>
            <a:ext cx="5115600" cy="2782804"/>
          </a:xfrm>
          <a:prstGeom prst="rect">
            <a:avLst/>
          </a:prstGeom>
        </p:spPr>
      </p:pic>
    </p:spTree>
    <p:extLst>
      <p:ext uri="{BB962C8B-B14F-4D97-AF65-F5344CB8AC3E}">
        <p14:creationId xmlns:p14="http://schemas.microsoft.com/office/powerpoint/2010/main" val="24397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Development Teams with Microservices :</a:t>
            </a:r>
          </a:p>
          <a:p>
            <a:pPr lvl="1">
              <a:buFont typeface="Wingdings" panose="05000000000000000000" pitchFamily="2" charset="2"/>
              <a:buChar char="§"/>
            </a:pPr>
            <a:r>
              <a:rPr lang="en-US" altLang="ko-KR" sz="1400" b="1" dirty="0"/>
              <a:t>Kubernetes provides numerous abstractions and APIs </a:t>
            </a:r>
            <a:r>
              <a:rPr lang="en-US" altLang="ko-KR" sz="1400" dirty="0"/>
              <a:t>that make it easier to build these decoupled microservice architectures :</a:t>
            </a:r>
          </a:p>
          <a:p>
            <a:pPr lvl="2">
              <a:buFont typeface="Wingdings" panose="05000000000000000000" pitchFamily="2" charset="2"/>
              <a:buChar char="§"/>
            </a:pPr>
            <a:r>
              <a:rPr lang="en-US" altLang="ko-KR" sz="1400" b="1" dirty="0">
                <a:solidFill>
                  <a:srgbClr val="FF0000"/>
                </a:solidFill>
              </a:rPr>
              <a:t>Pods</a:t>
            </a:r>
            <a:r>
              <a:rPr lang="en-US" altLang="ko-KR" sz="1400" dirty="0"/>
              <a:t>, or </a:t>
            </a:r>
            <a:r>
              <a:rPr lang="en-US" altLang="ko-KR" sz="1400" b="1" dirty="0"/>
              <a:t>groups of containers</a:t>
            </a:r>
            <a:r>
              <a:rPr lang="en-US" altLang="ko-KR" sz="1400" dirty="0"/>
              <a:t>, can group together container images developed by different teams into </a:t>
            </a:r>
            <a:r>
              <a:rPr lang="en-US" altLang="ko-KR" sz="1400" b="1" dirty="0">
                <a:solidFill>
                  <a:srgbClr val="FF0000"/>
                </a:solidFill>
              </a:rPr>
              <a:t>a single deployable unit</a:t>
            </a:r>
            <a:r>
              <a:rPr lang="en-US" altLang="ko-KR" sz="1400" dirty="0"/>
              <a:t>.</a:t>
            </a:r>
          </a:p>
          <a:p>
            <a:pPr lvl="2">
              <a:buFont typeface="Wingdings" panose="05000000000000000000" pitchFamily="2" charset="2"/>
              <a:buChar char="§"/>
            </a:pPr>
            <a:r>
              <a:rPr lang="en-US" altLang="ko-KR" sz="1400" b="1" dirty="0"/>
              <a:t>Kubernetes services provide load balancing, naming, and discovery</a:t>
            </a:r>
            <a:r>
              <a:rPr lang="en-US" altLang="ko-KR" sz="1400" dirty="0"/>
              <a:t> to isolate one microservice from another.</a:t>
            </a:r>
          </a:p>
          <a:p>
            <a:pPr lvl="2">
              <a:buFont typeface="Wingdings" panose="05000000000000000000" pitchFamily="2" charset="2"/>
              <a:buChar char="§"/>
            </a:pPr>
            <a:r>
              <a:rPr lang="en-US" altLang="ko-KR" sz="1400" b="1" dirty="0">
                <a:solidFill>
                  <a:srgbClr val="FF0000"/>
                </a:solidFill>
              </a:rPr>
              <a:t>Namespaces</a:t>
            </a:r>
            <a:r>
              <a:rPr lang="en-US" altLang="ko-KR" sz="1400" dirty="0"/>
              <a:t> </a:t>
            </a:r>
            <a:r>
              <a:rPr lang="en-US" altLang="ko-KR" sz="1400" b="1" dirty="0"/>
              <a:t>provide isolation and access control</a:t>
            </a:r>
            <a:r>
              <a:rPr lang="en-US" altLang="ko-KR" sz="1400" dirty="0"/>
              <a:t>, so that each microservice can control the degree to which other services interact with it.</a:t>
            </a:r>
          </a:p>
          <a:p>
            <a:pPr lvl="2">
              <a:buFont typeface="Wingdings" panose="05000000000000000000" pitchFamily="2" charset="2"/>
              <a:buChar char="§"/>
            </a:pPr>
            <a:r>
              <a:rPr lang="en-US" altLang="ko-KR" sz="1400" b="1" dirty="0">
                <a:solidFill>
                  <a:srgbClr val="FF0000"/>
                </a:solidFill>
              </a:rPr>
              <a:t>Ingress objects </a:t>
            </a:r>
            <a:r>
              <a:rPr lang="en-US" altLang="ko-KR" sz="1400" b="1" dirty="0"/>
              <a:t>provide an easy-to-use frontend </a:t>
            </a:r>
            <a:r>
              <a:rPr lang="en-US" altLang="ko-KR" sz="1400" dirty="0"/>
              <a:t>that can </a:t>
            </a:r>
            <a:r>
              <a:rPr lang="en-US" altLang="ko-KR" sz="1400" b="1" dirty="0"/>
              <a:t>combine multiple microservices into a single externalized API surface area</a:t>
            </a:r>
            <a:r>
              <a:rPr lang="en-US" altLang="ko-KR" sz="1400" dirty="0"/>
              <a:t>.</a:t>
            </a:r>
          </a:p>
          <a:p>
            <a:pPr lvl="1">
              <a:buFont typeface="Wingdings" panose="05000000000000000000" pitchFamily="2" charset="2"/>
              <a:buChar char="§"/>
            </a:pPr>
            <a:r>
              <a:rPr lang="en-US" altLang="ko-KR" sz="1400" b="1" dirty="0"/>
              <a:t>Finally, decoupling the application container image and machine means that different microservices can </a:t>
            </a:r>
            <a:r>
              <a:rPr lang="en-US" altLang="ko-KR" sz="1400" b="1" dirty="0" err="1"/>
              <a:t>colocate</a:t>
            </a:r>
            <a:r>
              <a:rPr lang="en-US" altLang="ko-KR" sz="1400" b="1" dirty="0"/>
              <a:t> on the same machine without interfering with one another, reducing the overhead and cost of microservice architectures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5DF088B-1DEC-41B4-BC2C-A019A2F38C3F}"/>
              </a:ext>
            </a:extLst>
          </p:cNvPr>
          <p:cNvPicPr>
            <a:picLocks noChangeAspect="1"/>
          </p:cNvPicPr>
          <p:nvPr/>
        </p:nvPicPr>
        <p:blipFill>
          <a:blip r:embed="rId2"/>
          <a:stretch>
            <a:fillRect/>
          </a:stretch>
        </p:blipFill>
        <p:spPr>
          <a:xfrm>
            <a:off x="5471385" y="3737816"/>
            <a:ext cx="5882415" cy="2671214"/>
          </a:xfrm>
          <a:prstGeom prst="rect">
            <a:avLst/>
          </a:prstGeom>
        </p:spPr>
      </p:pic>
      <p:sp>
        <p:nvSpPr>
          <p:cNvPr id="9" name="직사각형 8">
            <a:extLst>
              <a:ext uri="{FF2B5EF4-FFF2-40B4-BE49-F238E27FC236}">
                <a16:creationId xmlns:a16="http://schemas.microsoft.com/office/drawing/2014/main" id="{8CD2D271-F0F8-489B-92E2-968106E449D0}"/>
              </a:ext>
            </a:extLst>
          </p:cNvPr>
          <p:cNvSpPr/>
          <p:nvPr/>
        </p:nvSpPr>
        <p:spPr>
          <a:xfrm>
            <a:off x="838200" y="3796444"/>
            <a:ext cx="4633185" cy="1449628"/>
          </a:xfrm>
          <a:prstGeom prst="rect">
            <a:avLst/>
          </a:prstGeom>
        </p:spPr>
        <p:txBody>
          <a:bodyPr wrap="square">
            <a:spAutoFit/>
          </a:bodyPr>
          <a:lstStyle/>
          <a:p>
            <a:pPr marL="685800" lvl="1" indent="-228600">
              <a:lnSpc>
                <a:spcPct val="90000"/>
              </a:lnSpc>
              <a:spcBef>
                <a:spcPts val="500"/>
              </a:spcBef>
              <a:buFont typeface="Wingdings" panose="05000000000000000000" pitchFamily="2" charset="2"/>
              <a:buChar char="§"/>
            </a:pPr>
            <a:r>
              <a:rPr lang="en-US" altLang="ko-KR" sz="1400" b="1" dirty="0">
                <a:solidFill>
                  <a:prstClr val="black"/>
                </a:solidFill>
              </a:rPr>
              <a:t>The health-checking and rollout features of Kubernetes guarantee a consistent approach to application rollout and reliability </a:t>
            </a:r>
            <a:r>
              <a:rPr lang="en-US" altLang="ko-KR" sz="1400" dirty="0">
                <a:solidFill>
                  <a:prstClr val="black"/>
                </a:solidFill>
              </a:rPr>
              <a:t>that ensures that a proliferation of microservice teams does not also result in a proliferation of different approaches to service production lifecycle and operations.</a:t>
            </a:r>
          </a:p>
        </p:txBody>
      </p:sp>
    </p:spTree>
    <p:extLst>
      <p:ext uri="{BB962C8B-B14F-4D97-AF65-F5344CB8AC3E}">
        <p14:creationId xmlns:p14="http://schemas.microsoft.com/office/powerpoint/2010/main" val="1102149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Separation of Concerns for Consistency and Scaling :</a:t>
            </a:r>
          </a:p>
          <a:p>
            <a:pPr lvl="1">
              <a:buFont typeface="Wingdings" panose="05000000000000000000" pitchFamily="2" charset="2"/>
              <a:buChar char="§"/>
            </a:pPr>
            <a:r>
              <a:rPr lang="en-US" altLang="ko-KR" sz="1400" b="1" dirty="0"/>
              <a:t>In addition to the consistency that Kubernetes brings to operations, </a:t>
            </a:r>
            <a:r>
              <a:rPr lang="en-US" altLang="ko-KR" sz="1400" b="1" dirty="0">
                <a:solidFill>
                  <a:srgbClr val="FF0000"/>
                </a:solidFill>
              </a:rPr>
              <a:t>the decoupling and separation of concerns </a:t>
            </a:r>
            <a:r>
              <a:rPr lang="en-US" altLang="ko-KR" sz="1400" b="1" dirty="0"/>
              <a:t>produced by the Kubernetes stack lead to significantly greater </a:t>
            </a:r>
            <a:r>
              <a:rPr lang="en-US" altLang="ko-KR" sz="1400" b="1" dirty="0">
                <a:solidFill>
                  <a:srgbClr val="FF0000"/>
                </a:solidFill>
              </a:rPr>
              <a:t>consistency</a:t>
            </a:r>
            <a:r>
              <a:rPr lang="en-US" altLang="ko-KR" sz="1400" b="1" dirty="0"/>
              <a:t> for the lower levels of your infrastructure</a:t>
            </a:r>
            <a:r>
              <a:rPr lang="en-US" altLang="ko-KR" sz="1400" dirty="0"/>
              <a:t>. This enables you to scale infrastructure operations to manage many machines with a single small, focused team. </a:t>
            </a:r>
          </a:p>
          <a:p>
            <a:pPr lvl="1">
              <a:buFont typeface="Wingdings" panose="05000000000000000000" pitchFamily="2" charset="2"/>
              <a:buChar char="§"/>
            </a:pPr>
            <a:r>
              <a:rPr lang="en-US" altLang="ko-KR" sz="1400" b="1" dirty="0"/>
              <a:t>The container orchestration API becomes a crisp contract that separates the responsibilities of the application operator from the cluster orchestration operator</a:t>
            </a:r>
            <a:r>
              <a:rPr lang="en-US" altLang="ko-KR" sz="1400" dirty="0"/>
              <a:t>. We call this the “</a:t>
            </a:r>
            <a:r>
              <a:rPr lang="en-US" altLang="ko-KR" sz="1400" b="1" dirty="0"/>
              <a:t>not my monkey, not my circus</a:t>
            </a:r>
            <a:r>
              <a:rPr lang="en-US" altLang="ko-KR" sz="1400" dirty="0"/>
              <a:t>” line. </a:t>
            </a:r>
            <a:r>
              <a:rPr lang="en-US" altLang="ko-KR" sz="1400" b="1" dirty="0"/>
              <a:t>The application developer relies on the service-level agreement (SLA) delivered by the container orchestration API, without worrying about the details of how this SLA is achieved</a:t>
            </a:r>
            <a:r>
              <a:rPr lang="en-US" altLang="ko-KR" sz="1400" dirty="0"/>
              <a:t>. Likewise, </a:t>
            </a:r>
            <a:r>
              <a:rPr lang="en-US" altLang="ko-KR" sz="1400" b="1" dirty="0"/>
              <a:t>the container orchestration API reliability engineer focuses on delivering the orchestration API’s SLA without worrying about the applications that are running on top of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2657B8F-978B-4ED1-B4BE-A99FE9822D9A}"/>
              </a:ext>
            </a:extLst>
          </p:cNvPr>
          <p:cNvPicPr>
            <a:picLocks noChangeAspect="1"/>
          </p:cNvPicPr>
          <p:nvPr/>
        </p:nvPicPr>
        <p:blipFill>
          <a:blip r:embed="rId2"/>
          <a:stretch>
            <a:fillRect/>
          </a:stretch>
        </p:blipFill>
        <p:spPr>
          <a:xfrm>
            <a:off x="3538967" y="3429000"/>
            <a:ext cx="5114066" cy="2980030"/>
          </a:xfrm>
          <a:prstGeom prst="rect">
            <a:avLst/>
          </a:prstGeom>
        </p:spPr>
      </p:pic>
    </p:spTree>
    <p:extLst>
      <p:ext uri="{BB962C8B-B14F-4D97-AF65-F5344CB8AC3E}">
        <p14:creationId xmlns:p14="http://schemas.microsoft.com/office/powerpoint/2010/main" val="1316610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Separation of Concerns for Consistency and Scaling :</a:t>
            </a:r>
          </a:p>
          <a:p>
            <a:pPr lvl="1">
              <a:buFont typeface="Wingdings" panose="05000000000000000000" pitchFamily="2" charset="2"/>
              <a:buChar char="§"/>
            </a:pPr>
            <a:r>
              <a:rPr lang="en-US" altLang="ko-KR" sz="1400" b="1" dirty="0"/>
              <a:t>The decoupling of concerns means that a small team running a Kubernetes cluster can be responsible for supporting hundreds or even thousands of teams running applications within that cluster</a:t>
            </a:r>
            <a:r>
              <a:rPr lang="en-US" altLang="ko-KR" sz="1400" dirty="0"/>
              <a:t>. Likewise, a small team can be responsible for dozens (or more) of clusters running around the world. It’s important to note that </a:t>
            </a:r>
            <a:r>
              <a:rPr lang="en-US" altLang="ko-KR" sz="1400" b="1" dirty="0"/>
              <a:t>the same decoupling of containers and OS enables the OS reliability engineers to focus on the SLA of the individual machine’s OS</a:t>
            </a:r>
            <a:r>
              <a:rPr lang="en-US" altLang="ko-KR" sz="1400" dirty="0"/>
              <a:t>. This becomes another line of </a:t>
            </a:r>
            <a:r>
              <a:rPr lang="en-US" altLang="ko-KR" sz="1400" b="1" dirty="0">
                <a:solidFill>
                  <a:srgbClr val="FF0000"/>
                </a:solidFill>
              </a:rPr>
              <a:t>separate responsibility</a:t>
            </a:r>
            <a:r>
              <a:rPr lang="en-US" altLang="ko-KR" sz="1400" dirty="0"/>
              <a:t>, with the Kubernetes operators relying on the OS SLA, and the OS operators worrying solely about delivering that SLA. Again, this enables you to scale a small team of OS experts to a fleet of thousands of machines. </a:t>
            </a:r>
          </a:p>
          <a:p>
            <a:pPr lvl="1">
              <a:buFont typeface="Wingdings" panose="05000000000000000000" pitchFamily="2" charset="2"/>
              <a:buChar char="§"/>
            </a:pPr>
            <a:r>
              <a:rPr lang="en-US" altLang="ko-KR" sz="1400" dirty="0"/>
              <a:t>Devoting even a small team to managing an OS is beyond the scale of many organizations. In these environments, </a:t>
            </a:r>
            <a:r>
              <a:rPr lang="en-US" altLang="ko-KR" sz="1400" b="1" dirty="0"/>
              <a:t>a managed “</a:t>
            </a:r>
            <a:r>
              <a:rPr lang="en-US" altLang="ko-KR" sz="1400" b="1" dirty="0">
                <a:solidFill>
                  <a:srgbClr val="FF0000"/>
                </a:solidFill>
              </a:rPr>
              <a:t>Kubernetes-as-a-Service (</a:t>
            </a:r>
            <a:r>
              <a:rPr lang="en-US" altLang="ko-KR" sz="1400" b="1" dirty="0" err="1">
                <a:solidFill>
                  <a:srgbClr val="FF0000"/>
                </a:solidFill>
              </a:rPr>
              <a:t>KaaS</a:t>
            </a:r>
            <a:r>
              <a:rPr lang="en-US" altLang="ko-KR" sz="1400" b="1" dirty="0">
                <a:solidFill>
                  <a:srgbClr val="FF0000"/>
                </a:solidFill>
              </a:rPr>
              <a:t>)</a:t>
            </a:r>
            <a:r>
              <a:rPr lang="en-US" altLang="ko-KR" sz="1400" b="1" dirty="0"/>
              <a:t>” provided by a public cloud provider is a great option</a:t>
            </a:r>
            <a:r>
              <a:rPr lang="en-US" altLang="ko-KR" sz="1400" dirty="0"/>
              <a:t>. As Kubernetes has become increasingly ubiquitous, </a:t>
            </a:r>
            <a:r>
              <a:rPr lang="en-US" altLang="ko-KR" sz="1400" b="1" dirty="0" err="1"/>
              <a:t>KaaS</a:t>
            </a:r>
            <a:r>
              <a:rPr lang="en-US" altLang="ko-KR" sz="1400" dirty="0"/>
              <a:t> has become increasingly available as well, to the point where it is now offered on nearly every public cloud. </a:t>
            </a:r>
            <a:r>
              <a:rPr lang="en-US" altLang="ko-KR" sz="1400" b="1" dirty="0"/>
              <a:t>Using a </a:t>
            </a:r>
            <a:r>
              <a:rPr lang="en-US" altLang="ko-KR" sz="1400" b="1" dirty="0" err="1"/>
              <a:t>KaaS</a:t>
            </a:r>
            <a:r>
              <a:rPr lang="en-US" altLang="ko-KR" sz="1400" b="1" dirty="0"/>
              <a:t> has some limitations, since the operator makes decisions for you about how the Kubernetes clusters are built and configured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70F7E5D-BBF5-4496-A8B4-100033581929}"/>
              </a:ext>
            </a:extLst>
          </p:cNvPr>
          <p:cNvPicPr>
            <a:picLocks noChangeAspect="1"/>
          </p:cNvPicPr>
          <p:nvPr/>
        </p:nvPicPr>
        <p:blipFill>
          <a:blip r:embed="rId2"/>
          <a:stretch>
            <a:fillRect/>
          </a:stretch>
        </p:blipFill>
        <p:spPr>
          <a:xfrm>
            <a:off x="4949289" y="3554902"/>
            <a:ext cx="2293421" cy="2854128"/>
          </a:xfrm>
          <a:prstGeom prst="rect">
            <a:avLst/>
          </a:prstGeom>
        </p:spPr>
      </p:pic>
    </p:spTree>
    <p:extLst>
      <p:ext uri="{BB962C8B-B14F-4D97-AF65-F5344CB8AC3E}">
        <p14:creationId xmlns:p14="http://schemas.microsoft.com/office/powerpoint/2010/main" val="134824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Separation of Concerns for Consistency and Scaling :</a:t>
            </a:r>
          </a:p>
          <a:p>
            <a:pPr lvl="1">
              <a:buFont typeface="Wingdings" panose="05000000000000000000" pitchFamily="2" charset="2"/>
              <a:buChar char="§"/>
            </a:pPr>
            <a:r>
              <a:rPr lang="en-US" altLang="ko-KR" sz="1400" b="1" dirty="0"/>
              <a:t>In addition to a fully managed Kubernetes service, there is a thriving ecosystem of companies and projects that help to install and manage Kubernetes</a:t>
            </a:r>
            <a:r>
              <a:rPr lang="en-US" altLang="ko-KR" sz="1400" dirty="0"/>
              <a:t>. There is a full spectrum of solutions between doing it “</a:t>
            </a:r>
            <a:r>
              <a:rPr lang="en-US" altLang="ko-KR" sz="1400" b="1" dirty="0"/>
              <a:t>the hard way</a:t>
            </a:r>
            <a:r>
              <a:rPr lang="en-US" altLang="ko-KR" sz="1400" dirty="0"/>
              <a:t>” and a fully managed service. </a:t>
            </a:r>
          </a:p>
          <a:p>
            <a:pPr lvl="1">
              <a:buFont typeface="Wingdings" panose="05000000000000000000" pitchFamily="2" charset="2"/>
              <a:buChar char="§"/>
            </a:pPr>
            <a:r>
              <a:rPr lang="en-US" altLang="ko-KR" sz="1400" b="1" dirty="0"/>
              <a:t>The decision of whether to use </a:t>
            </a:r>
            <a:r>
              <a:rPr lang="en-US" altLang="ko-KR" sz="1400" b="1" dirty="0" err="1"/>
              <a:t>KaaS</a:t>
            </a:r>
            <a:r>
              <a:rPr lang="en-US" altLang="ko-KR" sz="1400" b="1" dirty="0"/>
              <a:t> or manage it yourself (or something in between) is one each user needs to make based on the skills and demands of their situation</a:t>
            </a:r>
            <a:r>
              <a:rPr lang="en-US" altLang="ko-KR" sz="1400" dirty="0"/>
              <a:t>. Often for small organizations, </a:t>
            </a:r>
            <a:r>
              <a:rPr lang="en-US" altLang="ko-KR" sz="1400" b="1" dirty="0" err="1"/>
              <a:t>KaaS</a:t>
            </a:r>
            <a:r>
              <a:rPr lang="en-US" altLang="ko-KR" sz="1400" dirty="0"/>
              <a:t> provides an easy-to-use solution that enables them to </a:t>
            </a:r>
            <a:r>
              <a:rPr lang="en-US" altLang="ko-KR" sz="1400" b="1" dirty="0"/>
              <a:t>focus their time and energy on building the software to support their work rather than managing a cluster</a:t>
            </a:r>
            <a:r>
              <a:rPr lang="en-US" altLang="ko-KR" sz="1400" dirty="0"/>
              <a:t>. For a larger organization that can afford a dedicated team for managing its Kubernetes cluster, it may make sense to manage it yourself since it enables greater flexibility in terms of cluster capabilities and operations.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11D0605-7997-4D6D-A5DC-FB00C4DA6656}"/>
              </a:ext>
            </a:extLst>
          </p:cNvPr>
          <p:cNvPicPr>
            <a:picLocks noChangeAspect="1"/>
          </p:cNvPicPr>
          <p:nvPr/>
        </p:nvPicPr>
        <p:blipFill>
          <a:blip r:embed="rId2"/>
          <a:stretch>
            <a:fillRect/>
          </a:stretch>
        </p:blipFill>
        <p:spPr>
          <a:xfrm>
            <a:off x="3048000" y="3162910"/>
            <a:ext cx="6096000" cy="3246120"/>
          </a:xfrm>
          <a:prstGeom prst="rect">
            <a:avLst/>
          </a:prstGeom>
        </p:spPr>
      </p:pic>
    </p:spTree>
    <p:extLst>
      <p:ext uri="{BB962C8B-B14F-4D97-AF65-F5344CB8AC3E}">
        <p14:creationId xmlns:p14="http://schemas.microsoft.com/office/powerpoint/2010/main" val="3345306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Abstracting Your Infrastructure :</a:t>
            </a:r>
          </a:p>
          <a:p>
            <a:pPr lvl="1">
              <a:buFont typeface="Wingdings" panose="05000000000000000000" pitchFamily="2" charset="2"/>
              <a:buChar char="§"/>
            </a:pPr>
            <a:r>
              <a:rPr lang="en-US" altLang="ko-KR" sz="1400" b="1" dirty="0"/>
              <a:t>The goal of the public cloud is to provide </a:t>
            </a:r>
            <a:r>
              <a:rPr lang="en-US" altLang="ko-KR" sz="1400" b="1" dirty="0">
                <a:solidFill>
                  <a:srgbClr val="FF0000"/>
                </a:solidFill>
              </a:rPr>
              <a:t>easy-to-use</a:t>
            </a:r>
            <a:r>
              <a:rPr lang="en-US" altLang="ko-KR" sz="1400" b="1" dirty="0"/>
              <a:t>, </a:t>
            </a:r>
            <a:r>
              <a:rPr lang="en-US" altLang="ko-KR" sz="1400" b="1" dirty="0">
                <a:solidFill>
                  <a:srgbClr val="FF0000"/>
                </a:solidFill>
              </a:rPr>
              <a:t>self-service infrastructure </a:t>
            </a:r>
            <a:r>
              <a:rPr lang="en-US" altLang="ko-KR" sz="1400" b="1" dirty="0"/>
              <a:t>for developers to consume</a:t>
            </a:r>
            <a:r>
              <a:rPr lang="en-US" altLang="ko-KR" sz="1400" dirty="0"/>
              <a:t>. However, too often </a:t>
            </a:r>
            <a:r>
              <a:rPr lang="en-US" altLang="ko-KR" sz="1400" b="1" dirty="0"/>
              <a:t>cloud APIs are oriented around mirroring the infrastructure that IT expects</a:t>
            </a:r>
            <a:r>
              <a:rPr lang="en-US" altLang="ko-KR" sz="1400" dirty="0"/>
              <a:t>, not the concepts (e.g., “virtual machines” instead of “applications”) that developers want to consume. Additionally, in many cases the cloud comes with </a:t>
            </a:r>
            <a:r>
              <a:rPr lang="en-US" altLang="ko-KR" sz="1400" b="1" dirty="0"/>
              <a:t>particular details in implementation or services that are specific to the cloud provider</a:t>
            </a:r>
            <a:r>
              <a:rPr lang="en-US" altLang="ko-KR" sz="1400" dirty="0"/>
              <a:t>. </a:t>
            </a:r>
            <a:r>
              <a:rPr lang="en-US" altLang="ko-KR" sz="1400" b="1" dirty="0"/>
              <a:t>Consuming these APIs directly makes it difficult to run your application in multiple environments, or spread between cloud and physical environments</a:t>
            </a:r>
            <a:r>
              <a:rPr lang="en-US" altLang="ko-KR" sz="1400" dirty="0"/>
              <a:t>.</a:t>
            </a:r>
          </a:p>
          <a:p>
            <a:pPr lvl="1">
              <a:buFont typeface="Wingdings" panose="05000000000000000000" pitchFamily="2" charset="2"/>
              <a:buChar char="§"/>
            </a:pPr>
            <a:r>
              <a:rPr lang="en-US" altLang="ko-KR" sz="1400" b="1" dirty="0"/>
              <a:t>The move to application-oriented container APIs like Kubernetes has two concrete benefits. First, it separates developers from specific machines</a:t>
            </a:r>
            <a:r>
              <a:rPr lang="en-US" altLang="ko-KR" sz="1400" dirty="0"/>
              <a:t>. This makes the machine-oriented IT role easier, since machines can simply be added in aggregate to scale the cluster, and in the context of the cloud it also enables </a:t>
            </a:r>
            <a:r>
              <a:rPr lang="en-US" altLang="ko-KR" sz="1400" b="1" dirty="0">
                <a:solidFill>
                  <a:srgbClr val="FF0000"/>
                </a:solidFill>
              </a:rPr>
              <a:t>a high degree of portability </a:t>
            </a:r>
            <a:r>
              <a:rPr lang="en-US" altLang="ko-KR" sz="1400" dirty="0"/>
              <a:t>since developers are consuming a higher-level API that is implemented in terms of the specific cloud infrastructure APIs.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4A5E33F-A1C7-4306-BC54-E3F4150EEF73}"/>
              </a:ext>
            </a:extLst>
          </p:cNvPr>
          <p:cNvPicPr>
            <a:picLocks noChangeAspect="1"/>
          </p:cNvPicPr>
          <p:nvPr/>
        </p:nvPicPr>
        <p:blipFill>
          <a:blip r:embed="rId2"/>
          <a:stretch>
            <a:fillRect/>
          </a:stretch>
        </p:blipFill>
        <p:spPr>
          <a:xfrm>
            <a:off x="4261171" y="3336758"/>
            <a:ext cx="3669658" cy="3072272"/>
          </a:xfrm>
          <a:prstGeom prst="rect">
            <a:avLst/>
          </a:prstGeom>
        </p:spPr>
      </p:pic>
    </p:spTree>
    <p:extLst>
      <p:ext uri="{BB962C8B-B14F-4D97-AF65-F5344CB8AC3E}">
        <p14:creationId xmlns:p14="http://schemas.microsoft.com/office/powerpoint/2010/main" val="2408873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Abstracting Your Infrastructure :</a:t>
            </a:r>
          </a:p>
          <a:p>
            <a:pPr lvl="1">
              <a:buFont typeface="Wingdings" panose="05000000000000000000" pitchFamily="2" charset="2"/>
              <a:buChar char="§"/>
            </a:pPr>
            <a:r>
              <a:rPr lang="en-US" altLang="ko-KR" sz="1400" dirty="0"/>
              <a:t>When your developers build their applications in terms of </a:t>
            </a:r>
            <a:r>
              <a:rPr lang="en-US" altLang="ko-KR" sz="1400" b="1" dirty="0">
                <a:solidFill>
                  <a:srgbClr val="FF0000"/>
                </a:solidFill>
              </a:rPr>
              <a:t>container images </a:t>
            </a:r>
            <a:r>
              <a:rPr lang="en-US" altLang="ko-KR" sz="1400" dirty="0"/>
              <a:t>and deploy them in terms of </a:t>
            </a:r>
            <a:r>
              <a:rPr lang="en-US" altLang="ko-KR" sz="1400" b="1" dirty="0">
                <a:solidFill>
                  <a:srgbClr val="FF0000"/>
                </a:solidFill>
              </a:rPr>
              <a:t>portable Kubernetes APIs</a:t>
            </a:r>
            <a:r>
              <a:rPr lang="en-US" altLang="ko-KR" sz="1400" dirty="0"/>
              <a:t>, </a:t>
            </a:r>
            <a:r>
              <a:rPr lang="en-US" altLang="ko-KR" sz="1400" b="1" dirty="0"/>
              <a:t>transferring your application between environments</a:t>
            </a:r>
            <a:r>
              <a:rPr lang="en-US" altLang="ko-KR" sz="1400" dirty="0"/>
              <a:t>, or </a:t>
            </a:r>
            <a:r>
              <a:rPr lang="en-US" altLang="ko-KR" sz="1400" b="1" dirty="0"/>
              <a:t>even running in hybrid environments</a:t>
            </a:r>
            <a:r>
              <a:rPr lang="en-US" altLang="ko-KR" sz="1400" dirty="0"/>
              <a:t>, is simply a matter of </a:t>
            </a:r>
            <a:r>
              <a:rPr lang="en-US" altLang="ko-KR" sz="1400" b="1" dirty="0"/>
              <a:t>sending the declarative config to a new cluster</a:t>
            </a:r>
            <a:r>
              <a:rPr lang="en-US" altLang="ko-KR" sz="1400" dirty="0"/>
              <a:t>. </a:t>
            </a:r>
          </a:p>
          <a:p>
            <a:pPr lvl="1">
              <a:buFont typeface="Wingdings" panose="05000000000000000000" pitchFamily="2" charset="2"/>
              <a:buChar char="§"/>
            </a:pPr>
            <a:r>
              <a:rPr lang="en-US" altLang="ko-KR" sz="1400" b="1" dirty="0"/>
              <a:t>Kubernetes has a number of plug-ins that can abstract you from a particular cloud</a:t>
            </a:r>
            <a:r>
              <a:rPr lang="en-US" altLang="ko-KR" sz="1400" dirty="0"/>
              <a:t>. For example, Kubernetes services know how to create </a:t>
            </a:r>
            <a:r>
              <a:rPr lang="en-US" altLang="ko-KR" sz="1400" b="1" dirty="0"/>
              <a:t>load balancers </a:t>
            </a:r>
            <a:r>
              <a:rPr lang="en-US" altLang="ko-KR" sz="1400" dirty="0"/>
              <a:t>on all major public clouds as well as several different private and physical infrastructures. Likewise, </a:t>
            </a:r>
            <a:r>
              <a:rPr lang="en-US" altLang="ko-KR" sz="1400" b="1" dirty="0"/>
              <a:t>Kubernetes </a:t>
            </a:r>
            <a:r>
              <a:rPr lang="en-US" altLang="ko-KR" sz="1400" b="1" dirty="0" err="1">
                <a:solidFill>
                  <a:srgbClr val="FF0000"/>
                </a:solidFill>
              </a:rPr>
              <a:t>PersistentVolumes</a:t>
            </a:r>
            <a:r>
              <a:rPr lang="en-US" altLang="ko-KR" sz="1400" b="1" dirty="0"/>
              <a:t> and </a:t>
            </a:r>
            <a:r>
              <a:rPr lang="en-US" altLang="ko-KR" sz="1400" b="1" dirty="0" err="1">
                <a:solidFill>
                  <a:srgbClr val="FF0000"/>
                </a:solidFill>
              </a:rPr>
              <a:t>PersistentVolumeClaims</a:t>
            </a:r>
            <a:r>
              <a:rPr lang="en-US" altLang="ko-KR" sz="1400" b="1" dirty="0"/>
              <a:t> can be used to abstract your applications away from specific storage implementations</a:t>
            </a:r>
            <a:r>
              <a:rPr lang="en-US" altLang="ko-KR" sz="1400" dirty="0"/>
              <a:t>. </a:t>
            </a:r>
          </a:p>
          <a:p>
            <a:pPr lvl="1">
              <a:buFont typeface="Wingdings" panose="05000000000000000000" pitchFamily="2" charset="2"/>
              <a:buChar char="§"/>
            </a:pPr>
            <a:r>
              <a:rPr lang="en-US" altLang="ko-KR" sz="1400" b="1" dirty="0"/>
              <a:t>To achieve this portability you need to avoid cloud-managed services (e.g., Amazon’s DynamoDB, Azure’s </a:t>
            </a:r>
            <a:r>
              <a:rPr lang="en-US" altLang="ko-KR" sz="1400" b="1" dirty="0" err="1"/>
              <a:t>CosmosDB</a:t>
            </a:r>
            <a:r>
              <a:rPr lang="en-US" altLang="ko-KR" sz="1400" b="1" dirty="0"/>
              <a:t>, or Google’s Cloud Spanner)</a:t>
            </a:r>
            <a:r>
              <a:rPr lang="en-US" altLang="ko-KR" sz="1400" dirty="0"/>
              <a:t>, which means that you will be forced to deploy and manage open source storage solutions like Cassandra, MySQL, or MongoDB.</a:t>
            </a:r>
          </a:p>
          <a:p>
            <a:pPr lvl="1">
              <a:buFont typeface="Wingdings" panose="05000000000000000000" pitchFamily="2" charset="2"/>
              <a:buChar char="§"/>
            </a:pPr>
            <a:r>
              <a:rPr lang="en-US" altLang="ko-KR" sz="1400" b="1" dirty="0"/>
              <a:t>Putting it all together, building on top of </a:t>
            </a:r>
            <a:r>
              <a:rPr lang="en-US" altLang="ko-KR" sz="1400" b="1" dirty="0">
                <a:solidFill>
                  <a:srgbClr val="FF0000"/>
                </a:solidFill>
              </a:rPr>
              <a:t>Kubernetes’s application-oriented abstractions </a:t>
            </a:r>
            <a:r>
              <a:rPr lang="en-US" altLang="ko-KR" sz="1400" b="1" dirty="0"/>
              <a:t>ensures that the effort you put into building, deploying, and managing your application is truly </a:t>
            </a:r>
            <a:r>
              <a:rPr lang="en-US" altLang="ko-KR" sz="1400" b="1" dirty="0">
                <a:solidFill>
                  <a:srgbClr val="FF0000"/>
                </a:solidFill>
              </a:rPr>
              <a:t>portable</a:t>
            </a:r>
            <a:r>
              <a:rPr lang="en-US" altLang="ko-KR" sz="1400" b="1" dirty="0"/>
              <a:t> across a wide variety of environments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8FD9A6-42D0-4B73-A023-517E65798583}"/>
              </a:ext>
            </a:extLst>
          </p:cNvPr>
          <p:cNvPicPr>
            <a:picLocks noChangeAspect="1"/>
          </p:cNvPicPr>
          <p:nvPr/>
        </p:nvPicPr>
        <p:blipFill>
          <a:blip r:embed="rId2"/>
          <a:stretch>
            <a:fillRect/>
          </a:stretch>
        </p:blipFill>
        <p:spPr>
          <a:xfrm>
            <a:off x="4416639" y="3785937"/>
            <a:ext cx="3358721" cy="2623093"/>
          </a:xfrm>
          <a:prstGeom prst="rect">
            <a:avLst/>
          </a:prstGeom>
        </p:spPr>
      </p:pic>
    </p:spTree>
    <p:extLst>
      <p:ext uri="{BB962C8B-B14F-4D97-AF65-F5344CB8AC3E}">
        <p14:creationId xmlns:p14="http://schemas.microsoft.com/office/powerpoint/2010/main" val="3638294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Features(19/21)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Efficiency :</a:t>
            </a:r>
          </a:p>
          <a:p>
            <a:pPr lvl="1">
              <a:buFont typeface="Wingdings" panose="05000000000000000000" pitchFamily="2" charset="2"/>
              <a:buChar char="§"/>
            </a:pPr>
            <a:r>
              <a:rPr lang="en-US" altLang="ko-KR" sz="1400" dirty="0"/>
              <a:t>In addition to the developer and IT management benefits that containers and Kubernetes provide, there is also a concrete </a:t>
            </a:r>
            <a:r>
              <a:rPr lang="en-US" altLang="ko-KR" sz="1400" b="1" dirty="0"/>
              <a:t>economic benefit to the abstraction</a:t>
            </a:r>
            <a:r>
              <a:rPr lang="en-US" altLang="ko-KR" sz="1400" dirty="0"/>
              <a:t>. Because developers no longer think in terms of machines, their applications can be collocated on the same machines without impacting the applications themselves. This means that </a:t>
            </a:r>
            <a:r>
              <a:rPr lang="en-US" altLang="ko-KR" sz="1400" b="1" dirty="0"/>
              <a:t>tasks from multiple users can be packed tightly onto fewer machines</a:t>
            </a:r>
            <a:r>
              <a:rPr lang="en-US" altLang="ko-KR" sz="1400" dirty="0"/>
              <a:t>. </a:t>
            </a:r>
          </a:p>
          <a:p>
            <a:pPr lvl="1">
              <a:buFont typeface="Wingdings" panose="05000000000000000000" pitchFamily="2" charset="2"/>
              <a:buChar char="§"/>
            </a:pPr>
            <a:r>
              <a:rPr lang="en-US" altLang="ko-KR" sz="1400" b="1" dirty="0">
                <a:solidFill>
                  <a:srgbClr val="FF0000"/>
                </a:solidFill>
              </a:rPr>
              <a:t>Efficiency</a:t>
            </a:r>
            <a:r>
              <a:rPr lang="en-US" altLang="ko-KR" sz="1400" b="1" dirty="0"/>
              <a:t> can be measured by the ratio of the useful work performed by a machine or process to the total amount of energy spent doing so</a:t>
            </a:r>
            <a:r>
              <a:rPr lang="en-US" altLang="ko-KR" sz="1400" dirty="0"/>
              <a:t>. When it comes to deploying and managing applications, many of the available tools and processes (e.g., </a:t>
            </a:r>
            <a:r>
              <a:rPr lang="en-US" altLang="ko-KR" sz="1400" b="1" dirty="0"/>
              <a:t>bash</a:t>
            </a:r>
            <a:r>
              <a:rPr lang="en-US" altLang="ko-KR" sz="1400" dirty="0"/>
              <a:t> scripts, </a:t>
            </a:r>
            <a:r>
              <a:rPr lang="en-US" altLang="ko-KR" sz="1400" b="1" dirty="0"/>
              <a:t>apt</a:t>
            </a:r>
            <a:r>
              <a:rPr lang="en-US" altLang="ko-KR" sz="1400" dirty="0"/>
              <a:t> updates, or imperative configuration management) are somewhat inefficient. When discussing efficiency it’s often helpful to think of both </a:t>
            </a:r>
            <a:r>
              <a:rPr lang="en-US" altLang="ko-KR" sz="1400" b="1" dirty="0">
                <a:solidFill>
                  <a:srgbClr val="FF0000"/>
                </a:solidFill>
              </a:rPr>
              <a:t>the cost of running a server </a:t>
            </a:r>
            <a:r>
              <a:rPr lang="en-US" altLang="ko-KR" sz="1400" b="1" dirty="0"/>
              <a:t>and </a:t>
            </a:r>
            <a:r>
              <a:rPr lang="en-US" altLang="ko-KR" sz="1400" b="1" dirty="0">
                <a:solidFill>
                  <a:srgbClr val="FF0000"/>
                </a:solidFill>
              </a:rPr>
              <a:t>the human cost required to manage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3AC967F-86DC-4217-9D05-B4F36524A407}"/>
              </a:ext>
            </a:extLst>
          </p:cNvPr>
          <p:cNvGrpSpPr/>
          <p:nvPr/>
        </p:nvGrpSpPr>
        <p:grpSpPr>
          <a:xfrm>
            <a:off x="2933700" y="3429000"/>
            <a:ext cx="6324600" cy="1976763"/>
            <a:chOff x="2933700" y="3429000"/>
            <a:chExt cx="6324600" cy="1976763"/>
          </a:xfrm>
        </p:grpSpPr>
        <p:pic>
          <p:nvPicPr>
            <p:cNvPr id="4" name="그림 3">
              <a:extLst>
                <a:ext uri="{FF2B5EF4-FFF2-40B4-BE49-F238E27FC236}">
                  <a16:creationId xmlns:a16="http://schemas.microsoft.com/office/drawing/2014/main" id="{D8A30829-5E6F-46CC-9451-09EED46CE4C5}"/>
                </a:ext>
              </a:extLst>
            </p:cNvPr>
            <p:cNvPicPr>
              <a:picLocks noChangeAspect="1"/>
            </p:cNvPicPr>
            <p:nvPr/>
          </p:nvPicPr>
          <p:blipFill>
            <a:blip r:embed="rId2"/>
            <a:stretch>
              <a:fillRect/>
            </a:stretch>
          </p:blipFill>
          <p:spPr>
            <a:xfrm>
              <a:off x="2933700" y="3429000"/>
              <a:ext cx="6324600" cy="1733550"/>
            </a:xfrm>
            <a:prstGeom prst="rect">
              <a:avLst/>
            </a:prstGeom>
          </p:spPr>
        </p:pic>
        <p:sp>
          <p:nvSpPr>
            <p:cNvPr id="8" name="직사각형 7">
              <a:extLst>
                <a:ext uri="{FF2B5EF4-FFF2-40B4-BE49-F238E27FC236}">
                  <a16:creationId xmlns:a16="http://schemas.microsoft.com/office/drawing/2014/main" id="{081B9C9A-15BE-477C-A06A-4B70E402DE6F}"/>
                </a:ext>
              </a:extLst>
            </p:cNvPr>
            <p:cNvSpPr/>
            <p:nvPr/>
          </p:nvSpPr>
          <p:spPr>
            <a:xfrm>
              <a:off x="3885298" y="5159542"/>
              <a:ext cx="4421403" cy="246221"/>
            </a:xfrm>
            <a:prstGeom prst="rect">
              <a:avLst/>
            </a:prstGeom>
            <a:ln>
              <a:noFill/>
            </a:ln>
          </p:spPr>
          <p:txBody>
            <a:bodyPr wrap="none">
              <a:spAutoFit/>
            </a:bodyPr>
            <a:lstStyle/>
            <a:p>
              <a:r>
                <a:rPr lang="en-US" altLang="ko-KR" sz="1000" b="1" dirty="0">
                  <a:hlinkClick r:id="rId3"/>
                </a:rPr>
                <a:t>https://www.parkmycloud.com/blog/kubernetes-pricing/</a:t>
              </a:r>
              <a:r>
                <a:rPr lang="en-US" altLang="ko-KR" sz="1000" b="1" dirty="0"/>
                <a:t>  2020.04.03</a:t>
              </a:r>
              <a:endParaRPr lang="ko-KR" altLang="en-US" sz="1000" b="1" dirty="0"/>
            </a:p>
          </p:txBody>
        </p:sp>
      </p:grpSp>
    </p:spTree>
    <p:extLst>
      <p:ext uri="{BB962C8B-B14F-4D97-AF65-F5344CB8AC3E}">
        <p14:creationId xmlns:p14="http://schemas.microsoft.com/office/powerpoint/2010/main" val="1510365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Features(20/21)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Efficiency :</a:t>
            </a:r>
          </a:p>
          <a:p>
            <a:pPr lvl="1">
              <a:buFont typeface="Wingdings" panose="05000000000000000000" pitchFamily="2" charset="2"/>
              <a:buChar char="§"/>
            </a:pPr>
            <a:r>
              <a:rPr lang="en-US" altLang="ko-KR" sz="1400" b="1" dirty="0"/>
              <a:t>Running a server incurs a cost based on power usage, cooling requirements, datacenter space, and raw compute power</a:t>
            </a:r>
            <a:r>
              <a:rPr lang="en-US" altLang="ko-KR" sz="1400" dirty="0"/>
              <a:t>. Once a server is racked and powered on (or clicked and spun up), the meter literally starts running. </a:t>
            </a:r>
            <a:r>
              <a:rPr lang="en-US" altLang="ko-KR" sz="1400" b="1" dirty="0"/>
              <a:t>Any idle CPU time is money wasted</a:t>
            </a:r>
            <a:r>
              <a:rPr lang="en-US" altLang="ko-KR" sz="1400" dirty="0"/>
              <a:t>. Thus, it becomes part of </a:t>
            </a:r>
            <a:r>
              <a:rPr lang="en-US" altLang="ko-KR" sz="1400" b="1" dirty="0"/>
              <a:t>the system administrator’s responsibilities to keep utilization at acceptable levels</a:t>
            </a:r>
            <a:r>
              <a:rPr lang="en-US" altLang="ko-KR" sz="1400" dirty="0"/>
              <a:t>, which requires ongoing management. This is where containers and the Kubernetes workflow come in. </a:t>
            </a:r>
            <a:r>
              <a:rPr lang="en-US" altLang="ko-KR" sz="1400" b="1" dirty="0">
                <a:solidFill>
                  <a:srgbClr val="FF0000"/>
                </a:solidFill>
              </a:rPr>
              <a:t>Kubernetes provides tools that automate the distribution of applications </a:t>
            </a:r>
            <a:r>
              <a:rPr lang="en-US" altLang="ko-KR" sz="1400" b="1" dirty="0"/>
              <a:t>across a cluster of machines, ensuring </a:t>
            </a:r>
            <a:r>
              <a:rPr lang="en-US" altLang="ko-KR" sz="1400" b="1" dirty="0">
                <a:solidFill>
                  <a:srgbClr val="FF0000"/>
                </a:solidFill>
              </a:rPr>
              <a:t>higher levels of utilization </a:t>
            </a:r>
            <a:r>
              <a:rPr lang="en-US" altLang="ko-KR" sz="1400" b="1" dirty="0"/>
              <a:t>than are possible with traditional tooling</a:t>
            </a:r>
            <a:r>
              <a:rPr lang="en-US" altLang="ko-KR" sz="1400" dirty="0"/>
              <a:t>.</a:t>
            </a:r>
          </a:p>
          <a:p>
            <a:pPr lvl="1">
              <a:buFont typeface="Wingdings" panose="05000000000000000000" pitchFamily="2" charset="2"/>
              <a:buChar char="§"/>
            </a:pPr>
            <a:r>
              <a:rPr lang="en-US" altLang="ko-KR" sz="1400" b="1" dirty="0"/>
              <a:t>A further increase in efficiency comes from the fact that a developer’s test environment can be quickly and cheaply created as a set of containers running in a personal view of a shared Kubernetes cluster </a:t>
            </a:r>
            <a:r>
              <a:rPr lang="en-US" altLang="ko-KR" sz="1400" dirty="0"/>
              <a:t>(using a feature called </a:t>
            </a:r>
            <a:r>
              <a:rPr lang="en-US" altLang="ko-KR" sz="1400" b="1" dirty="0">
                <a:solidFill>
                  <a:srgbClr val="FF0000"/>
                </a:solidFill>
              </a:rPr>
              <a:t>namespaces</a:t>
            </a:r>
            <a:r>
              <a:rPr lang="en-US" altLang="ko-KR" sz="1400" dirty="0"/>
              <a:t>). In the past, turning up a test cluster for a developer might have meant turning up three machines.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40564A-87C1-411A-8FC4-1ADA89CECBA2}"/>
              </a:ext>
            </a:extLst>
          </p:cNvPr>
          <p:cNvGrpSpPr/>
          <p:nvPr/>
        </p:nvGrpSpPr>
        <p:grpSpPr>
          <a:xfrm>
            <a:off x="3324726" y="3429000"/>
            <a:ext cx="5542548" cy="2480646"/>
            <a:chOff x="3324726" y="3213615"/>
            <a:chExt cx="5542548" cy="2480646"/>
          </a:xfrm>
        </p:grpSpPr>
        <p:pic>
          <p:nvPicPr>
            <p:cNvPr id="4" name="그림 3">
              <a:extLst>
                <a:ext uri="{FF2B5EF4-FFF2-40B4-BE49-F238E27FC236}">
                  <a16:creationId xmlns:a16="http://schemas.microsoft.com/office/drawing/2014/main" id="{23A2FFE3-782A-433A-B181-C3B6413E80E9}"/>
                </a:ext>
              </a:extLst>
            </p:cNvPr>
            <p:cNvPicPr>
              <a:picLocks noChangeAspect="1"/>
            </p:cNvPicPr>
            <p:nvPr/>
          </p:nvPicPr>
          <p:blipFill>
            <a:blip r:embed="rId2"/>
            <a:stretch>
              <a:fillRect/>
            </a:stretch>
          </p:blipFill>
          <p:spPr>
            <a:xfrm>
              <a:off x="3589421" y="3213615"/>
              <a:ext cx="5021179" cy="2234425"/>
            </a:xfrm>
            <a:prstGeom prst="rect">
              <a:avLst/>
            </a:prstGeom>
          </p:spPr>
        </p:pic>
        <p:sp>
          <p:nvSpPr>
            <p:cNvPr id="8" name="직사각형 7">
              <a:extLst>
                <a:ext uri="{FF2B5EF4-FFF2-40B4-BE49-F238E27FC236}">
                  <a16:creationId xmlns:a16="http://schemas.microsoft.com/office/drawing/2014/main" id="{4756A49D-C0F0-4BBB-8A2E-DF83252C4503}"/>
                </a:ext>
              </a:extLst>
            </p:cNvPr>
            <p:cNvSpPr/>
            <p:nvPr/>
          </p:nvSpPr>
          <p:spPr>
            <a:xfrm>
              <a:off x="3324726" y="5448040"/>
              <a:ext cx="5542548" cy="246221"/>
            </a:xfrm>
            <a:prstGeom prst="rect">
              <a:avLst/>
            </a:prstGeom>
          </p:spPr>
          <p:txBody>
            <a:bodyPr wrap="square">
              <a:spAutoFit/>
            </a:bodyPr>
            <a:lstStyle/>
            <a:p>
              <a:pPr algn="ctr"/>
              <a:r>
                <a:rPr lang="en-US" altLang="ko-KR" sz="1000" b="1" dirty="0">
                  <a:hlinkClick r:id="rId3"/>
                </a:rPr>
                <a:t>https://developpaper.com/using-aiops-to-optimize-the-cost-of-kubernetes-cluster/</a:t>
              </a:r>
              <a:endParaRPr lang="ko-KR" altLang="en-US" sz="1000" b="1" dirty="0"/>
            </a:p>
          </p:txBody>
        </p:sp>
      </p:grpSp>
    </p:spTree>
    <p:extLst>
      <p:ext uri="{BB962C8B-B14F-4D97-AF65-F5344CB8AC3E}">
        <p14:creationId xmlns:p14="http://schemas.microsoft.com/office/powerpoint/2010/main" val="2131656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Features(21/21)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Efficiency :</a:t>
            </a:r>
          </a:p>
          <a:p>
            <a:pPr lvl="1">
              <a:buFont typeface="Wingdings" panose="05000000000000000000" pitchFamily="2" charset="2"/>
              <a:buChar char="§"/>
            </a:pPr>
            <a:r>
              <a:rPr lang="en-US" altLang="ko-KR" sz="1400" b="1" dirty="0"/>
              <a:t>With Kubernetes it is simple to have all developers share a single test cluster, aggregating their usage onto a much smaller set of machines</a:t>
            </a:r>
            <a:r>
              <a:rPr lang="en-US" altLang="ko-KR" sz="1400" dirty="0"/>
              <a:t>. Reducing the overall number of machines used in turn drives up the efficiency of each system: since more of the resources (CPU, RAM, etc.) on each individual machine are used, the overall cost of each container becomes much lower.</a:t>
            </a:r>
          </a:p>
          <a:p>
            <a:pPr lvl="1">
              <a:buFont typeface="Wingdings" panose="05000000000000000000" pitchFamily="2" charset="2"/>
              <a:buChar char="§"/>
            </a:pPr>
            <a:r>
              <a:rPr lang="en-US" altLang="ko-KR" sz="1400" b="1" dirty="0"/>
              <a:t>Reducing the cost of development instances in your stack enables development practices that might previously have been cost-prohibitive</a:t>
            </a:r>
            <a:r>
              <a:rPr lang="en-US" altLang="ko-KR" sz="1400" dirty="0"/>
              <a:t>. For example, with your application deployed via Kubernetes it becomes conceivable to deploy and test every single commit contributed by every developer throughout your entire stack.</a:t>
            </a:r>
          </a:p>
          <a:p>
            <a:pPr lvl="1">
              <a:buFont typeface="Wingdings" panose="05000000000000000000" pitchFamily="2" charset="2"/>
              <a:buChar char="§"/>
            </a:pPr>
            <a:r>
              <a:rPr lang="en-US" altLang="ko-KR" sz="1400" b="1" dirty="0"/>
              <a:t>When the cost of each deployment is measured in terms of </a:t>
            </a:r>
            <a:r>
              <a:rPr lang="en-US" altLang="ko-KR" sz="1400" b="1" dirty="0">
                <a:solidFill>
                  <a:srgbClr val="FF0000"/>
                </a:solidFill>
              </a:rPr>
              <a:t>a small number of containers</a:t>
            </a:r>
            <a:r>
              <a:rPr lang="en-US" altLang="ko-KR" sz="1400" b="1" dirty="0"/>
              <a:t>, rather than multiple complete virtual machines (VMs), the cost you incur for such testing is dramatically lower</a:t>
            </a:r>
            <a:r>
              <a:rPr lang="en-US" altLang="ko-KR" sz="1400" dirty="0"/>
              <a:t>. Returning to the original value of Kubernetes, this </a:t>
            </a:r>
            <a:r>
              <a:rPr lang="en-US" altLang="ko-KR" sz="1400" b="1" dirty="0"/>
              <a:t>increased testing </a:t>
            </a:r>
            <a:r>
              <a:rPr lang="en-US" altLang="ko-KR" sz="1400" dirty="0"/>
              <a:t>also </a:t>
            </a:r>
            <a:r>
              <a:rPr lang="en-US" altLang="ko-KR" sz="1400" b="1" dirty="0"/>
              <a:t>increases velocity</a:t>
            </a:r>
            <a:r>
              <a:rPr lang="en-US" altLang="ko-KR" sz="1400" dirty="0"/>
              <a:t>, since you have strong signals as to </a:t>
            </a:r>
            <a:r>
              <a:rPr lang="en-US" altLang="ko-KR" sz="1400" b="1" dirty="0"/>
              <a:t>the reliability of your code</a:t>
            </a:r>
            <a:r>
              <a:rPr lang="en-US" altLang="ko-KR" sz="1400" dirty="0"/>
              <a:t> as well as </a:t>
            </a:r>
            <a:r>
              <a:rPr lang="en-US" altLang="ko-KR" sz="1400" b="1" dirty="0"/>
              <a:t>the granularity of detail required to quickly identify where a problem may have been introduced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360656E0-7ECB-41B0-B7E8-473F11492DD6}"/>
              </a:ext>
            </a:extLst>
          </p:cNvPr>
          <p:cNvPicPr>
            <a:picLocks noChangeAspect="1"/>
          </p:cNvPicPr>
          <p:nvPr/>
        </p:nvPicPr>
        <p:blipFill>
          <a:blip r:embed="rId2"/>
          <a:stretch>
            <a:fillRect/>
          </a:stretch>
        </p:blipFill>
        <p:spPr>
          <a:xfrm>
            <a:off x="2438973" y="3742273"/>
            <a:ext cx="7314054" cy="2666757"/>
          </a:xfrm>
          <a:prstGeom prst="rect">
            <a:avLst/>
          </a:prstGeom>
        </p:spPr>
      </p:pic>
    </p:spTree>
    <p:extLst>
      <p:ext uri="{BB962C8B-B14F-4D97-AF65-F5344CB8AC3E}">
        <p14:creationId xmlns:p14="http://schemas.microsoft.com/office/powerpoint/2010/main" val="214985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Virtual Machine VS. Container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What’s the Difference? :</a:t>
            </a:r>
          </a:p>
          <a:p>
            <a:pPr lvl="1">
              <a:buFont typeface="Wingdings" panose="05000000000000000000" pitchFamily="2" charset="2"/>
              <a:buChar char="§"/>
            </a:pPr>
            <a:r>
              <a:rPr lang="en-US" altLang="ko-KR" sz="1400" dirty="0"/>
              <a:t>System </a:t>
            </a:r>
            <a:r>
              <a:rPr lang="en-US" altLang="ko-KR" sz="1400" dirty="0">
                <a:sym typeface="Wingdings" panose="05000000000000000000" pitchFamily="2" charset="2"/>
              </a:rPr>
              <a:t> Service(Task)</a:t>
            </a:r>
          </a:p>
          <a:p>
            <a:pPr lvl="1">
              <a:buFont typeface="Wingdings" panose="05000000000000000000" pitchFamily="2" charset="2"/>
              <a:buChar char="§"/>
            </a:pPr>
            <a:r>
              <a:rPr lang="en-US" altLang="ko-KR" sz="1400" dirty="0"/>
              <a:t>Machine Level </a:t>
            </a:r>
            <a:r>
              <a:rPr lang="en-US" altLang="ko-KR" sz="1400" dirty="0">
                <a:sym typeface="Wingdings" panose="05000000000000000000" pitchFamily="2" charset="2"/>
              </a:rPr>
              <a:t> Application Level</a:t>
            </a:r>
          </a:p>
          <a:p>
            <a:pPr lvl="1">
              <a:buFont typeface="Wingdings" panose="05000000000000000000" pitchFamily="2" charset="2"/>
              <a:buChar char="§"/>
            </a:pPr>
            <a:r>
              <a:rPr lang="en-US" altLang="ko-KR" sz="1400" dirty="0">
                <a:sym typeface="Wingdings" panose="05000000000000000000" pitchFamily="2" charset="2"/>
              </a:rPr>
              <a:t>Monolithic Architecture  Microservice Architecture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9F4BFE1-64AE-42B1-8280-50665507F7BF}"/>
              </a:ext>
            </a:extLst>
          </p:cNvPr>
          <p:cNvPicPr>
            <a:picLocks noChangeAspect="1"/>
          </p:cNvPicPr>
          <p:nvPr/>
        </p:nvPicPr>
        <p:blipFill>
          <a:blip r:embed="rId2"/>
          <a:stretch>
            <a:fillRect/>
          </a:stretch>
        </p:blipFill>
        <p:spPr>
          <a:xfrm>
            <a:off x="2427328" y="2401939"/>
            <a:ext cx="7337344" cy="2755563"/>
          </a:xfrm>
          <a:prstGeom prst="rect">
            <a:avLst/>
          </a:prstGeom>
          <a:ln>
            <a:solidFill>
              <a:schemeClr val="bg1">
                <a:lumMod val="50000"/>
              </a:schemeClr>
            </a:solidFill>
          </a:ln>
        </p:spPr>
      </p:pic>
    </p:spTree>
    <p:extLst>
      <p:ext uri="{BB962C8B-B14F-4D97-AF65-F5344CB8AC3E}">
        <p14:creationId xmlns:p14="http://schemas.microsoft.com/office/powerpoint/2010/main" val="3790671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Creating and Running Containers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4897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Distributed Application(1/2)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Complexity and Coupling in Shared Components :</a:t>
            </a:r>
          </a:p>
          <a:p>
            <a:pPr lvl="1">
              <a:buFont typeface="Wingdings" panose="05000000000000000000" pitchFamily="2" charset="2"/>
              <a:buChar char="§"/>
            </a:pPr>
            <a:r>
              <a:rPr lang="en-US" altLang="ko-KR" sz="1400" b="1" dirty="0"/>
              <a:t>Kubernetes is a platform for creating, deploying, and managing “</a:t>
            </a:r>
            <a:r>
              <a:rPr lang="en-US" altLang="ko-KR" sz="1400" b="1" dirty="0">
                <a:solidFill>
                  <a:srgbClr val="FF0000"/>
                </a:solidFill>
              </a:rPr>
              <a:t>distributed applications</a:t>
            </a:r>
            <a:r>
              <a:rPr lang="en-US" altLang="ko-KR" sz="1400" dirty="0"/>
              <a:t>”. These applications come in many different shapes and sizes, but ultimately, they are all </a:t>
            </a:r>
            <a:r>
              <a:rPr lang="en-US" altLang="ko-KR" sz="1400" b="1" dirty="0"/>
              <a:t>comprised of one or more programs that run on individual machines</a:t>
            </a:r>
            <a:r>
              <a:rPr lang="en-US" altLang="ko-KR" sz="1400" dirty="0"/>
              <a:t>. These programs accept input, manipulate data, and then return the results. </a:t>
            </a:r>
          </a:p>
          <a:p>
            <a:pPr lvl="1">
              <a:buFont typeface="Wingdings" panose="05000000000000000000" pitchFamily="2" charset="2"/>
              <a:buChar char="§"/>
            </a:pPr>
            <a:r>
              <a:rPr lang="en-US" altLang="ko-KR" sz="1400" dirty="0"/>
              <a:t>Before we can even consider building a distributed system, we must first consider </a:t>
            </a:r>
            <a:r>
              <a:rPr lang="en-US" altLang="ko-KR" sz="1400" b="1" dirty="0"/>
              <a:t>how to build the application container images</a:t>
            </a:r>
            <a:r>
              <a:rPr lang="en-US" altLang="ko-KR" sz="1400" dirty="0"/>
              <a:t> </a:t>
            </a:r>
            <a:r>
              <a:rPr lang="en-US" altLang="ko-KR" sz="1400" b="1" dirty="0"/>
              <a:t>that contain these programs and make up the pieces of our distributed system</a:t>
            </a:r>
            <a:r>
              <a:rPr lang="en-US" altLang="ko-KR" sz="1400" dirty="0"/>
              <a:t>.</a:t>
            </a:r>
          </a:p>
          <a:p>
            <a:pPr lvl="1">
              <a:buFont typeface="Wingdings" panose="05000000000000000000" pitchFamily="2" charset="2"/>
              <a:buChar char="§"/>
            </a:pPr>
            <a:r>
              <a:rPr lang="en-US" altLang="ko-KR" sz="1400" b="1" dirty="0"/>
              <a:t>Application programs are typically comprised of a language runtime, libraries, and your source code</a:t>
            </a:r>
            <a:r>
              <a:rPr lang="en-US" altLang="ko-KR" sz="1400" dirty="0"/>
              <a:t>. In many cases, your application relies on external shared libraries such as </a:t>
            </a:r>
            <a:r>
              <a:rPr lang="en-US" altLang="ko-KR" sz="1400" b="1" dirty="0" err="1"/>
              <a:t>libc</a:t>
            </a:r>
            <a:r>
              <a:rPr lang="en-US" altLang="ko-KR" sz="1400" dirty="0"/>
              <a:t> and </a:t>
            </a:r>
            <a:r>
              <a:rPr lang="en-US" altLang="ko-KR" sz="1400" b="1" dirty="0" err="1"/>
              <a:t>libssl</a:t>
            </a:r>
            <a:r>
              <a:rPr lang="en-US" altLang="ko-KR" sz="1400" dirty="0"/>
              <a:t>. These external libraries are generally shipped as “</a:t>
            </a:r>
            <a:r>
              <a:rPr lang="en-US" altLang="ko-KR" sz="1400" b="1" dirty="0">
                <a:solidFill>
                  <a:srgbClr val="FF0000"/>
                </a:solidFill>
              </a:rPr>
              <a:t>shared components</a:t>
            </a:r>
            <a:r>
              <a:rPr lang="en-US" altLang="ko-KR" sz="1400" b="1" dirty="0"/>
              <a:t>” in the OS that you have installed on a particular machine</a:t>
            </a:r>
            <a:r>
              <a:rPr lang="en-US" altLang="ko-KR" sz="1400" dirty="0"/>
              <a:t>. </a:t>
            </a:r>
          </a:p>
          <a:p>
            <a:pPr lvl="1">
              <a:buFont typeface="Wingdings" panose="05000000000000000000" pitchFamily="2" charset="2"/>
              <a:buChar char="§"/>
            </a:pPr>
            <a:r>
              <a:rPr lang="en-US" altLang="ko-KR" sz="1400" b="1" dirty="0"/>
              <a:t>This dependency on shared libraries causes problems when an application developed on a programmer’s laptop has a dependency on a shared library that isn’t available when the program is rolled out to the production OS</a:t>
            </a:r>
            <a:r>
              <a:rPr lang="en-US" altLang="ko-KR" sz="1400" dirty="0"/>
              <a:t>. Even when the development and production environments share the exact same version of the OS, problems can occur when developers forget to include dependent asset files inside a package that they deploy to production.</a:t>
            </a:r>
          </a:p>
          <a:p>
            <a:pPr lvl="1">
              <a:buFont typeface="Wingdings" panose="05000000000000000000" pitchFamily="2" charset="2"/>
              <a:buChar char="§"/>
            </a:pPr>
            <a:r>
              <a:rPr lang="en-US" altLang="ko-KR" sz="1400" b="1" dirty="0"/>
              <a:t>The traditional methods of running multiple programs on a single machine require that all of these programs share the same versions of shared libraries on the system</a:t>
            </a:r>
            <a:r>
              <a:rPr lang="en-US" altLang="ko-KR" sz="1400" dirty="0"/>
              <a:t>. If the different programs are developed by different teams or organizations, these shared dependencies add needless </a:t>
            </a:r>
            <a:r>
              <a:rPr lang="en-US" altLang="ko-KR" sz="1400" b="1" dirty="0">
                <a:solidFill>
                  <a:srgbClr val="FF0000"/>
                </a:solidFill>
              </a:rPr>
              <a:t>complexity</a:t>
            </a:r>
            <a:r>
              <a:rPr lang="en-US" altLang="ko-KR" sz="1400" dirty="0"/>
              <a:t> and </a:t>
            </a:r>
            <a:r>
              <a:rPr lang="en-US" altLang="ko-KR" sz="1400" b="1" dirty="0">
                <a:solidFill>
                  <a:srgbClr val="FF0000"/>
                </a:solidFill>
              </a:rPr>
              <a:t>coupling</a:t>
            </a:r>
            <a:r>
              <a:rPr lang="en-US" altLang="ko-KR" sz="1400" dirty="0"/>
              <a:t> between these teams.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E49DB0F-0EEA-4E4F-B822-F23CF56D379E}"/>
              </a:ext>
            </a:extLst>
          </p:cNvPr>
          <p:cNvPicPr>
            <a:picLocks noChangeAspect="1"/>
          </p:cNvPicPr>
          <p:nvPr/>
        </p:nvPicPr>
        <p:blipFill>
          <a:blip r:embed="rId2"/>
          <a:stretch>
            <a:fillRect/>
          </a:stretch>
        </p:blipFill>
        <p:spPr>
          <a:xfrm>
            <a:off x="8221579" y="4335241"/>
            <a:ext cx="3132221" cy="2073789"/>
          </a:xfrm>
          <a:prstGeom prst="rect">
            <a:avLst/>
          </a:prstGeom>
        </p:spPr>
      </p:pic>
    </p:spTree>
    <p:extLst>
      <p:ext uri="{BB962C8B-B14F-4D97-AF65-F5344CB8AC3E}">
        <p14:creationId xmlns:p14="http://schemas.microsoft.com/office/powerpoint/2010/main" val="1113555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Distributed Application(2/2)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Complexity and Coupling in Shared Components :</a:t>
            </a:r>
          </a:p>
          <a:p>
            <a:pPr lvl="1">
              <a:buFont typeface="Wingdings" panose="05000000000000000000" pitchFamily="2" charset="2"/>
              <a:buChar char="§"/>
            </a:pPr>
            <a:r>
              <a:rPr lang="en-US" altLang="ko-KR" sz="1400" b="1" dirty="0"/>
              <a:t>A program can only execute successfully if it can be reliably deployed onto the machine where it should run</a:t>
            </a:r>
            <a:r>
              <a:rPr lang="en-US" altLang="ko-KR" sz="1400" dirty="0"/>
              <a:t>. Too often the state of the art for deployment involves </a:t>
            </a:r>
            <a:r>
              <a:rPr lang="en-US" altLang="ko-KR" sz="1400" b="1" dirty="0"/>
              <a:t>running imperative scripts</a:t>
            </a:r>
            <a:r>
              <a:rPr lang="en-US" altLang="ko-KR" sz="1400" dirty="0"/>
              <a:t>, which inevitably have twisty and byzantine failure cases. This makes the task of rolling out a new version of all or parts of a distributed system a </a:t>
            </a:r>
            <a:r>
              <a:rPr lang="en-US" altLang="ko-KR" sz="1400" b="1" dirty="0"/>
              <a:t>labor-intensive and difficult task</a:t>
            </a:r>
            <a:r>
              <a:rPr lang="en-US" altLang="ko-KR" sz="1400" dirty="0"/>
              <a:t>.</a:t>
            </a:r>
          </a:p>
          <a:p>
            <a:pPr lvl="1">
              <a:buFont typeface="Wingdings" panose="05000000000000000000" pitchFamily="2" charset="2"/>
              <a:buChar char="§"/>
            </a:pPr>
            <a:r>
              <a:rPr lang="en-US" altLang="ko-KR" sz="1400" b="1" dirty="0"/>
              <a:t>When working with applications it’s often helpful to package them in a way that makes it easy to share them with others</a:t>
            </a:r>
            <a:r>
              <a:rPr lang="en-US" altLang="ko-KR" sz="1400" dirty="0"/>
              <a:t>. </a:t>
            </a:r>
            <a:r>
              <a:rPr lang="en-US" altLang="ko-KR" sz="1400" b="1" dirty="0">
                <a:solidFill>
                  <a:srgbClr val="FF0000"/>
                </a:solidFill>
              </a:rPr>
              <a:t>Docker</a:t>
            </a:r>
            <a:r>
              <a:rPr lang="en-US" altLang="ko-KR" sz="1400" b="1" dirty="0"/>
              <a:t>, the default container runtime engine, makes it easy to package an executable and push it to a remote registry where it can later be pulled by others</a:t>
            </a:r>
            <a:r>
              <a:rPr lang="en-US" altLang="ko-KR" sz="1400" dirty="0"/>
              <a:t>. The container registries are available in all of the major public clouds, and services to build images in the cloud are also available in many of them. </a:t>
            </a:r>
            <a:r>
              <a:rPr lang="en-US" altLang="ko-KR" sz="1400" b="1" dirty="0"/>
              <a:t>You can also run your own registry using open source or commercial systems</a:t>
            </a:r>
            <a:r>
              <a:rPr lang="en-US" altLang="ko-KR" sz="1400" dirty="0"/>
              <a:t>. </a:t>
            </a:r>
            <a:r>
              <a:rPr lang="en-US" altLang="ko-KR" sz="1400" b="1" dirty="0"/>
              <a:t>These registries make it easy for users to manage and deploy private images, while image-builder services provide easy integration with </a:t>
            </a:r>
            <a:r>
              <a:rPr lang="en-US" altLang="ko-KR" sz="1400" b="1" dirty="0">
                <a:solidFill>
                  <a:srgbClr val="FF0000"/>
                </a:solidFill>
              </a:rPr>
              <a:t>continuous delivery </a:t>
            </a:r>
            <a:r>
              <a:rPr lang="en-US" altLang="ko-KR" sz="1400" b="1" dirty="0"/>
              <a:t>systems</a:t>
            </a:r>
            <a:r>
              <a:rPr lang="en-US" altLang="ko-KR" sz="1400" dirty="0"/>
              <a:t>.</a:t>
            </a:r>
          </a:p>
          <a:p>
            <a:pPr lvl="1">
              <a:buFont typeface="Wingdings" panose="05000000000000000000" pitchFamily="2" charset="2"/>
              <a:buChar char="§"/>
            </a:pPr>
            <a:r>
              <a:rPr lang="en-US" altLang="ko-KR" sz="1400" b="1" dirty="0">
                <a:solidFill>
                  <a:srgbClr val="FF0000"/>
                </a:solidFill>
              </a:rPr>
              <a:t>Container images </a:t>
            </a:r>
            <a:r>
              <a:rPr lang="en-US" altLang="ko-KR" sz="1400" b="1" dirty="0"/>
              <a:t>bundle a program and its dependencies into a single artifact under a root filesystem</a:t>
            </a:r>
            <a:r>
              <a:rPr lang="en-US" altLang="ko-KR" sz="1400" dirty="0"/>
              <a:t>. The most popular container image format is the </a:t>
            </a:r>
            <a:r>
              <a:rPr lang="en-US" altLang="ko-KR" sz="1400" b="1" dirty="0">
                <a:solidFill>
                  <a:srgbClr val="FF0000"/>
                </a:solidFill>
              </a:rPr>
              <a:t>Docker image format</a:t>
            </a:r>
            <a:r>
              <a:rPr lang="en-US" altLang="ko-KR" sz="1400" dirty="0"/>
              <a:t>, which has been standardized by the “</a:t>
            </a:r>
            <a:r>
              <a:rPr lang="en-US" altLang="ko-KR" sz="1400" b="1" dirty="0">
                <a:solidFill>
                  <a:srgbClr val="FF0000"/>
                </a:solidFill>
                <a:hlinkClick r:id="rId2"/>
              </a:rPr>
              <a:t>Open Container Initiative</a:t>
            </a:r>
            <a:r>
              <a:rPr lang="en-US" altLang="ko-KR" sz="1400" b="1" dirty="0"/>
              <a:t>” to the </a:t>
            </a:r>
            <a:r>
              <a:rPr lang="en-US" altLang="ko-KR" sz="1400" b="1" dirty="0">
                <a:solidFill>
                  <a:srgbClr val="FF0000"/>
                </a:solidFill>
              </a:rPr>
              <a:t>OCI image format</a:t>
            </a:r>
            <a:r>
              <a:rPr lang="en-US" altLang="ko-KR" sz="1400" dirty="0"/>
              <a:t>. </a:t>
            </a:r>
          </a:p>
          <a:p>
            <a:pPr lvl="1">
              <a:buFont typeface="Wingdings" panose="05000000000000000000" pitchFamily="2" charset="2"/>
              <a:buChar char="§"/>
            </a:pPr>
            <a:r>
              <a:rPr lang="en-US" altLang="ko-KR" sz="1400" b="1" dirty="0"/>
              <a:t>Kubernetes supports both Docker- and OCI-compatible images via Docker and other runtimes</a:t>
            </a:r>
            <a:r>
              <a:rPr lang="en-US" altLang="ko-KR" sz="1400" dirty="0"/>
              <a:t>. Docker images also include additional metadata used by a container runtime to start a running application instance based on the contents of the container image.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2DB446A-1517-4431-AF18-E322DF3E26B6}"/>
              </a:ext>
            </a:extLst>
          </p:cNvPr>
          <p:cNvPicPr>
            <a:picLocks noChangeAspect="1"/>
          </p:cNvPicPr>
          <p:nvPr/>
        </p:nvPicPr>
        <p:blipFill>
          <a:blip r:embed="rId3"/>
          <a:stretch>
            <a:fillRect/>
          </a:stretch>
        </p:blipFill>
        <p:spPr>
          <a:xfrm>
            <a:off x="9296400" y="4351630"/>
            <a:ext cx="2057400" cy="2057400"/>
          </a:xfrm>
          <a:prstGeom prst="rect">
            <a:avLst/>
          </a:prstGeom>
        </p:spPr>
      </p:pic>
    </p:spTree>
    <p:extLst>
      <p:ext uri="{BB962C8B-B14F-4D97-AF65-F5344CB8AC3E}">
        <p14:creationId xmlns:p14="http://schemas.microsoft.com/office/powerpoint/2010/main" val="529320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Container Images(1/5)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Container Image? :</a:t>
            </a:r>
          </a:p>
          <a:p>
            <a:pPr lvl="1">
              <a:buFont typeface="Wingdings" panose="05000000000000000000" pitchFamily="2" charset="2"/>
              <a:buChar char="§"/>
            </a:pPr>
            <a:r>
              <a:rPr lang="en-US" altLang="ko-KR" sz="1400" b="1" dirty="0"/>
              <a:t>A </a:t>
            </a:r>
            <a:r>
              <a:rPr lang="en-US" altLang="ko-KR" sz="1400" b="1" dirty="0">
                <a:solidFill>
                  <a:srgbClr val="FF0000"/>
                </a:solidFill>
              </a:rPr>
              <a:t>container image </a:t>
            </a:r>
            <a:r>
              <a:rPr lang="en-US" altLang="ko-KR" sz="1400" b="1" dirty="0"/>
              <a:t>is a </a:t>
            </a:r>
            <a:r>
              <a:rPr lang="en-US" altLang="ko-KR" sz="1400" b="1" dirty="0">
                <a:solidFill>
                  <a:srgbClr val="FF0000"/>
                </a:solidFill>
              </a:rPr>
              <a:t>binary package </a:t>
            </a:r>
            <a:r>
              <a:rPr lang="en-US" altLang="ko-KR" sz="1400" b="1" dirty="0"/>
              <a:t>that encapsulates all of the files necessary to run a program inside of an OS container</a:t>
            </a:r>
            <a:r>
              <a:rPr lang="en-US" altLang="ko-KR" sz="1400" dirty="0"/>
              <a:t>. Depending on how you first experiment with containers, you will either </a:t>
            </a:r>
            <a:r>
              <a:rPr lang="en-US" altLang="ko-KR" sz="1400" b="1" dirty="0"/>
              <a:t>build a container image from your local filesystem or download a preexisting image from a container registry</a:t>
            </a:r>
            <a:r>
              <a:rPr lang="en-US" altLang="ko-KR" sz="1400" dirty="0"/>
              <a:t>. In either case, once the container image is present on your computer, </a:t>
            </a:r>
            <a:r>
              <a:rPr lang="en-US" altLang="ko-KR" sz="1400" b="1" dirty="0"/>
              <a:t>you can run that image to produce a running application inside an </a:t>
            </a:r>
            <a:r>
              <a:rPr lang="en-US" altLang="ko-KR" sz="1400" b="1" dirty="0">
                <a:solidFill>
                  <a:srgbClr val="FF0000"/>
                </a:solidFill>
              </a:rPr>
              <a:t>OS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33B7C8E-61AB-4357-BAF0-78D3E8CEC732}"/>
              </a:ext>
            </a:extLst>
          </p:cNvPr>
          <p:cNvPicPr>
            <a:picLocks noChangeAspect="1"/>
          </p:cNvPicPr>
          <p:nvPr/>
        </p:nvPicPr>
        <p:blipFill>
          <a:blip r:embed="rId2"/>
          <a:stretch>
            <a:fillRect/>
          </a:stretch>
        </p:blipFill>
        <p:spPr>
          <a:xfrm>
            <a:off x="2967413" y="2775788"/>
            <a:ext cx="6257173" cy="3268117"/>
          </a:xfrm>
          <a:prstGeom prst="rect">
            <a:avLst/>
          </a:prstGeom>
        </p:spPr>
      </p:pic>
    </p:spTree>
    <p:extLst>
      <p:ext uri="{BB962C8B-B14F-4D97-AF65-F5344CB8AC3E}">
        <p14:creationId xmlns:p14="http://schemas.microsoft.com/office/powerpoint/2010/main" val="1740808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Container Images(2/5)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Docker Image Format :</a:t>
            </a:r>
          </a:p>
          <a:p>
            <a:pPr lvl="1">
              <a:buFont typeface="Wingdings" panose="05000000000000000000" pitchFamily="2" charset="2"/>
              <a:buChar char="§"/>
            </a:pPr>
            <a:r>
              <a:rPr lang="en-US" altLang="ko-KR" sz="1400" b="1" dirty="0"/>
              <a:t>The most popular and widespread container image format is the “</a:t>
            </a:r>
            <a:r>
              <a:rPr lang="en-US" altLang="ko-KR" sz="1400" b="1" dirty="0">
                <a:solidFill>
                  <a:srgbClr val="FF0000"/>
                </a:solidFill>
              </a:rPr>
              <a:t>Docker image format</a:t>
            </a:r>
            <a:r>
              <a:rPr lang="en-US" altLang="ko-KR" sz="1400" b="1" dirty="0"/>
              <a:t>”</a:t>
            </a:r>
            <a:r>
              <a:rPr lang="en-US" altLang="ko-KR" sz="1400" dirty="0"/>
              <a:t>, </a:t>
            </a:r>
            <a:r>
              <a:rPr lang="en-US" altLang="ko-KR" sz="1400" b="1" dirty="0"/>
              <a:t>which was developed by the Docker open source project for packaging, distributing, and running containers using the “docker” command</a:t>
            </a:r>
            <a:r>
              <a:rPr lang="en-US" altLang="ko-KR" sz="1400" dirty="0"/>
              <a:t>. Subsequently, work has begun by Docker, Inc., and others to standardize the </a:t>
            </a:r>
            <a:r>
              <a:rPr lang="en-US" altLang="ko-KR" sz="1400" b="1" dirty="0"/>
              <a:t>container image format </a:t>
            </a:r>
            <a:r>
              <a:rPr lang="en-US" altLang="ko-KR" sz="1400" dirty="0"/>
              <a:t>via the </a:t>
            </a:r>
            <a:r>
              <a:rPr lang="en-US" altLang="ko-KR" sz="1400" b="1" dirty="0"/>
              <a:t>Open Container Initiative (OCI) project</a:t>
            </a:r>
            <a:r>
              <a:rPr lang="en-US" altLang="ko-KR" sz="1400" dirty="0"/>
              <a:t>. </a:t>
            </a:r>
          </a:p>
          <a:p>
            <a:pPr lvl="1">
              <a:buFont typeface="Wingdings" panose="05000000000000000000" pitchFamily="2" charset="2"/>
              <a:buChar char="§"/>
            </a:pPr>
            <a:r>
              <a:rPr lang="en-US" altLang="ko-KR" sz="1400" dirty="0"/>
              <a:t>While the OCI standard achieved a 1.0 release milestone in mid-2017, adoption of these standards is proceeding slowly. </a:t>
            </a:r>
            <a:r>
              <a:rPr lang="en-US" altLang="ko-KR" sz="1400" b="1" dirty="0"/>
              <a:t>The Docker image format continues to be the de facto standard</a:t>
            </a:r>
            <a:r>
              <a:rPr lang="en-US" altLang="ko-KR" sz="1400" dirty="0"/>
              <a:t>, </a:t>
            </a:r>
            <a:r>
              <a:rPr lang="en-US" altLang="ko-KR" sz="1400" b="1" dirty="0"/>
              <a:t>and is </a:t>
            </a:r>
            <a:r>
              <a:rPr lang="en-US" altLang="ko-KR" sz="1400" b="1" dirty="0">
                <a:solidFill>
                  <a:srgbClr val="FF0000"/>
                </a:solidFill>
              </a:rPr>
              <a:t>made up of a series of filesystem layers</a:t>
            </a:r>
            <a:r>
              <a:rPr lang="en-US" altLang="ko-KR" sz="1400" dirty="0"/>
              <a:t>. </a:t>
            </a:r>
            <a:r>
              <a:rPr lang="en-US" altLang="ko-KR" sz="1400" b="1" dirty="0"/>
              <a:t>Each layer adds, removes, or modifies files from the preceding layer in the filesystem</a:t>
            </a:r>
            <a:r>
              <a:rPr lang="en-US" altLang="ko-KR" sz="1400" dirty="0"/>
              <a:t>. This is an example of an “</a:t>
            </a:r>
            <a:r>
              <a:rPr lang="en-US" altLang="ko-KR" sz="1400" b="1" dirty="0">
                <a:solidFill>
                  <a:srgbClr val="FF0000"/>
                </a:solidFill>
              </a:rPr>
              <a:t>overlay filesystem</a:t>
            </a:r>
            <a:r>
              <a:rPr lang="en-US" altLang="ko-KR" sz="1400" b="1" dirty="0"/>
              <a:t>”</a:t>
            </a:r>
            <a:r>
              <a:rPr lang="en-US" altLang="ko-KR" sz="1400" dirty="0"/>
              <a:t>. </a:t>
            </a:r>
          </a:p>
          <a:p>
            <a:pPr lvl="1">
              <a:buFont typeface="Wingdings" panose="05000000000000000000" pitchFamily="2" charset="2"/>
              <a:buChar char="§"/>
            </a:pPr>
            <a:r>
              <a:rPr lang="en-US" altLang="ko-KR" sz="1400" b="1" dirty="0"/>
              <a:t>The </a:t>
            </a:r>
            <a:r>
              <a:rPr lang="en-US" altLang="ko-KR" sz="1400" b="1" dirty="0">
                <a:solidFill>
                  <a:srgbClr val="FF0000"/>
                </a:solidFill>
              </a:rPr>
              <a:t>overlay system </a:t>
            </a:r>
            <a:r>
              <a:rPr lang="en-US" altLang="ko-KR" sz="1400" b="1" dirty="0"/>
              <a:t>is used both when packaging up the image and when the image is actually being used</a:t>
            </a:r>
            <a:r>
              <a:rPr lang="en-US" altLang="ko-KR" sz="1400" dirty="0"/>
              <a:t>. During runtime, there are a variety of different concrete implementations of such filesystems, including </a:t>
            </a:r>
            <a:r>
              <a:rPr lang="en-US" altLang="ko-KR" sz="1400" b="1" dirty="0" err="1"/>
              <a:t>aufs</a:t>
            </a:r>
            <a:r>
              <a:rPr lang="en-US" altLang="ko-KR" sz="1400" dirty="0"/>
              <a:t>, </a:t>
            </a:r>
            <a:r>
              <a:rPr lang="en-US" altLang="ko-KR" sz="1400" b="1" dirty="0"/>
              <a:t>overlay</a:t>
            </a:r>
            <a:r>
              <a:rPr lang="en-US" altLang="ko-KR" sz="1400" dirty="0"/>
              <a:t>, and </a:t>
            </a:r>
            <a:r>
              <a:rPr lang="en-US" altLang="ko-KR" sz="1400" b="1" dirty="0"/>
              <a:t>overlay2</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3FFFC55-9651-4ED7-9FA7-7E45218CFF05}"/>
              </a:ext>
            </a:extLst>
          </p:cNvPr>
          <p:cNvPicPr>
            <a:picLocks noChangeAspect="1"/>
          </p:cNvPicPr>
          <p:nvPr/>
        </p:nvPicPr>
        <p:blipFill>
          <a:blip r:embed="rId2"/>
          <a:stretch>
            <a:fillRect/>
          </a:stretch>
        </p:blipFill>
        <p:spPr>
          <a:xfrm>
            <a:off x="2490574" y="3553326"/>
            <a:ext cx="7210851" cy="2855704"/>
          </a:xfrm>
          <a:prstGeom prst="rect">
            <a:avLst/>
          </a:prstGeom>
        </p:spPr>
      </p:pic>
    </p:spTree>
    <p:extLst>
      <p:ext uri="{BB962C8B-B14F-4D97-AF65-F5344CB8AC3E}">
        <p14:creationId xmlns:p14="http://schemas.microsoft.com/office/powerpoint/2010/main" val="4223713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Container Images(3/5)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Docker Image Format :</a:t>
            </a:r>
          </a:p>
          <a:p>
            <a:pPr lvl="1">
              <a:buFont typeface="Wingdings" panose="05000000000000000000" pitchFamily="2" charset="2"/>
              <a:buChar char="§"/>
            </a:pPr>
            <a:r>
              <a:rPr lang="en-US" altLang="ko-KR" sz="1400" b="1" dirty="0"/>
              <a:t>The phrases “Docker image format” and “container images” may be a bit confusing</a:t>
            </a:r>
            <a:r>
              <a:rPr lang="en-US" altLang="ko-KR" sz="1400" dirty="0"/>
              <a:t>. </a:t>
            </a:r>
            <a:r>
              <a:rPr lang="en-US" altLang="ko-KR" sz="1400" b="1" dirty="0">
                <a:solidFill>
                  <a:srgbClr val="FF0000"/>
                </a:solidFill>
              </a:rPr>
              <a:t>The image isn’t a single file but rather a specification for a manifest file that points to other files</a:t>
            </a:r>
            <a:r>
              <a:rPr lang="en-US" altLang="ko-KR" sz="1400" dirty="0"/>
              <a:t>. </a:t>
            </a:r>
            <a:r>
              <a:rPr lang="en-US" altLang="ko-KR" sz="1400" b="1" dirty="0"/>
              <a:t>The manifest and associated files are often treated by users as a unit.</a:t>
            </a:r>
            <a:r>
              <a:rPr lang="en-US" altLang="ko-KR" sz="1400" dirty="0"/>
              <a:t> The level of indirection allows for </a:t>
            </a:r>
            <a:r>
              <a:rPr lang="en-US" altLang="ko-KR" sz="1400" b="1" dirty="0"/>
              <a:t>more efficient storage and transmittal</a:t>
            </a:r>
            <a:r>
              <a:rPr lang="en-US" altLang="ko-KR" sz="1400" dirty="0"/>
              <a:t>. Associated with this format is an API for uploading and downloading images to an </a:t>
            </a:r>
            <a:r>
              <a:rPr lang="en-US" altLang="ko-KR" sz="1400" b="1" dirty="0"/>
              <a:t>image registry</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4A73E87-7646-47BC-9BE9-DA519C1600BE}"/>
              </a:ext>
            </a:extLst>
          </p:cNvPr>
          <p:cNvGrpSpPr/>
          <p:nvPr/>
        </p:nvGrpSpPr>
        <p:grpSpPr>
          <a:xfrm>
            <a:off x="2183957" y="2266095"/>
            <a:ext cx="7824085" cy="3661672"/>
            <a:chOff x="2183957" y="2747358"/>
            <a:chExt cx="7824085" cy="3661672"/>
          </a:xfrm>
        </p:grpSpPr>
        <p:pic>
          <p:nvPicPr>
            <p:cNvPr id="4" name="그림 3">
              <a:extLst>
                <a:ext uri="{FF2B5EF4-FFF2-40B4-BE49-F238E27FC236}">
                  <a16:creationId xmlns:a16="http://schemas.microsoft.com/office/drawing/2014/main" id="{0E7926D5-AB7F-4E62-9348-22FFF332F957}"/>
                </a:ext>
              </a:extLst>
            </p:cNvPr>
            <p:cNvPicPr>
              <a:picLocks noChangeAspect="1"/>
            </p:cNvPicPr>
            <p:nvPr/>
          </p:nvPicPr>
          <p:blipFill>
            <a:blip r:embed="rId2"/>
            <a:stretch>
              <a:fillRect/>
            </a:stretch>
          </p:blipFill>
          <p:spPr>
            <a:xfrm>
              <a:off x="2183957" y="2747358"/>
              <a:ext cx="7824085" cy="3661672"/>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B223767C-8E8C-4622-8C40-14AD5E7D61B4}"/>
                </a:ext>
              </a:extLst>
            </p:cNvPr>
            <p:cNvSpPr/>
            <p:nvPr/>
          </p:nvSpPr>
          <p:spPr>
            <a:xfrm>
              <a:off x="2209800" y="3994484"/>
              <a:ext cx="3886200" cy="1443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98582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Container Images(4/5)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Docker Image Format :</a:t>
            </a:r>
          </a:p>
          <a:p>
            <a:pPr lvl="1">
              <a:buFont typeface="Wingdings" panose="05000000000000000000" pitchFamily="2" charset="2"/>
              <a:buChar char="§"/>
            </a:pPr>
            <a:r>
              <a:rPr lang="en-US" altLang="ko-KR" sz="1400" b="1" dirty="0"/>
              <a:t>Container images are constructed with a series of filesystem layers, where each layer </a:t>
            </a:r>
            <a:r>
              <a:rPr lang="en-US" altLang="ko-KR" sz="1400" b="1" dirty="0">
                <a:solidFill>
                  <a:srgbClr val="FF0000"/>
                </a:solidFill>
              </a:rPr>
              <a:t>inherits</a:t>
            </a:r>
            <a:r>
              <a:rPr lang="en-US" altLang="ko-KR" sz="1400" b="1" dirty="0"/>
              <a:t> and </a:t>
            </a:r>
            <a:r>
              <a:rPr lang="en-US" altLang="ko-KR" sz="1400" b="1" dirty="0">
                <a:solidFill>
                  <a:srgbClr val="FF0000"/>
                </a:solidFill>
              </a:rPr>
              <a:t>modifies</a:t>
            </a:r>
            <a:r>
              <a:rPr lang="en-US" altLang="ko-KR" sz="1400" b="1" dirty="0"/>
              <a:t> the layers that came before it</a:t>
            </a:r>
            <a:r>
              <a:rPr lang="en-US" altLang="ko-KR" sz="1400" dirty="0"/>
              <a:t>. Note that for correctness the ordering of the layers should be bottom up, but for ease of understanding we take the opposite approach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At this point we have three containers: A, B, and C. B and C are forked from A and share nothing besides the base container’s files</a:t>
            </a:r>
            <a:r>
              <a:rPr lang="en-US" altLang="ko-KR" sz="1400" dirty="0"/>
              <a:t>. Taking it further, </a:t>
            </a:r>
            <a:r>
              <a:rPr lang="en-US" altLang="ko-KR" sz="1400" b="1" dirty="0"/>
              <a:t>we can build on top of B by adding Rails (version 4.2.6)</a:t>
            </a:r>
            <a:r>
              <a:rPr lang="en-US" altLang="ko-KR" sz="1400" dirty="0"/>
              <a:t>. We may also want to support a legacy application that requires an older version of Rails (e.g., version 3.2.x). </a:t>
            </a:r>
            <a:r>
              <a:rPr lang="en-US" altLang="ko-KR" sz="1400" b="1" dirty="0"/>
              <a:t>We can build a container image to support that application based on B also, planning to someday migrate the app to version 4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Conceptually, each container image layer builds upon a previous one</a:t>
            </a:r>
            <a:r>
              <a:rPr lang="en-US" altLang="ko-KR" sz="1400" dirty="0"/>
              <a:t>. </a:t>
            </a:r>
            <a:r>
              <a:rPr lang="en-US" altLang="ko-KR" sz="1400" b="1" dirty="0">
                <a:solidFill>
                  <a:srgbClr val="FF0000"/>
                </a:solidFill>
              </a:rPr>
              <a:t>Each parent reference is a pointer</a:t>
            </a:r>
            <a:r>
              <a:rPr lang="en-US" altLang="ko-KR" sz="1400" dirty="0"/>
              <a:t>. While the example here is a simple set of containers, other real-world containers can be part of a larger extensive </a:t>
            </a:r>
            <a:r>
              <a:rPr lang="en-US" altLang="ko-KR" sz="1400" b="1" dirty="0"/>
              <a:t>directed acyclic graph(DAG)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3A31EDEB-6D1B-4CEA-BBC9-E47C8BA582C0}"/>
              </a:ext>
            </a:extLst>
          </p:cNvPr>
          <p:cNvSpPr/>
          <p:nvPr/>
        </p:nvSpPr>
        <p:spPr>
          <a:xfrm>
            <a:off x="3048000" y="1883948"/>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container A: a base operating system only, such as Debian</a:t>
            </a:r>
          </a:p>
          <a:p>
            <a:r>
              <a:rPr lang="en-US" altLang="ko-KR" sz="1000" b="1" dirty="0"/>
              <a:t>    └── container B: build upon #A, by adding Ruby v2.1.10</a:t>
            </a:r>
          </a:p>
          <a:p>
            <a:r>
              <a:rPr lang="en-US" altLang="ko-KR" sz="1000" b="1" dirty="0"/>
              <a:t>    └── container C: build upon #A, by adding Golang v1.6</a:t>
            </a:r>
            <a:endParaRPr lang="ko-KR" altLang="en-US" sz="1000" b="1" dirty="0"/>
          </a:p>
        </p:txBody>
      </p:sp>
      <p:sp>
        <p:nvSpPr>
          <p:cNvPr id="11" name="직사각형 10">
            <a:extLst>
              <a:ext uri="{FF2B5EF4-FFF2-40B4-BE49-F238E27FC236}">
                <a16:creationId xmlns:a16="http://schemas.microsoft.com/office/drawing/2014/main" id="{45B0F9C2-2239-4769-A37F-20EF32E71A25}"/>
              </a:ext>
            </a:extLst>
          </p:cNvPr>
          <p:cNvSpPr/>
          <p:nvPr/>
        </p:nvSpPr>
        <p:spPr>
          <a:xfrm>
            <a:off x="3048000" y="3766206"/>
            <a:ext cx="6096000" cy="707886"/>
          </a:xfrm>
          <a:prstGeom prst="rect">
            <a:avLst/>
          </a:prstGeom>
          <a:ln>
            <a:solidFill>
              <a:schemeClr val="bg1">
                <a:lumMod val="50000"/>
              </a:schemeClr>
            </a:solidFill>
          </a:ln>
        </p:spPr>
        <p:txBody>
          <a:bodyPr>
            <a:spAutoFit/>
          </a:bodyPr>
          <a:lstStyle/>
          <a:p>
            <a:r>
              <a:rPr lang="en-US" altLang="ko-KR" sz="1000" b="1" dirty="0"/>
              <a:t>. (continuing from above)</a:t>
            </a:r>
          </a:p>
          <a:p>
            <a:r>
              <a:rPr lang="en-US" altLang="ko-KR" sz="1000" b="1" dirty="0"/>
              <a:t>└── container B: build upon #A, by adding Ruby v2.1.10</a:t>
            </a:r>
          </a:p>
          <a:p>
            <a:r>
              <a:rPr lang="en-US" altLang="ko-KR" sz="1000" b="1" dirty="0"/>
              <a:t>    └── container D: build upon #B, by adding Rails v4.2.6</a:t>
            </a:r>
          </a:p>
          <a:p>
            <a:r>
              <a:rPr lang="en-US" altLang="ko-KR" sz="1000" b="1" dirty="0"/>
              <a:t>    └── container E: build upon #B, by adding Rails v3.2.x</a:t>
            </a:r>
            <a:endParaRPr lang="ko-KR" altLang="en-US" sz="1000" b="1" dirty="0"/>
          </a:p>
        </p:txBody>
      </p:sp>
      <p:pic>
        <p:nvPicPr>
          <p:cNvPr id="12" name="그림 11">
            <a:extLst>
              <a:ext uri="{FF2B5EF4-FFF2-40B4-BE49-F238E27FC236}">
                <a16:creationId xmlns:a16="http://schemas.microsoft.com/office/drawing/2014/main" id="{EF597CEE-AD95-42C9-97FD-6EE9378425B5}"/>
              </a:ext>
            </a:extLst>
          </p:cNvPr>
          <p:cNvPicPr>
            <a:picLocks noChangeAspect="1"/>
          </p:cNvPicPr>
          <p:nvPr/>
        </p:nvPicPr>
        <p:blipFill>
          <a:blip r:embed="rId2"/>
          <a:stretch>
            <a:fillRect/>
          </a:stretch>
        </p:blipFill>
        <p:spPr>
          <a:xfrm>
            <a:off x="4144127" y="5054201"/>
            <a:ext cx="3903746" cy="1354829"/>
          </a:xfrm>
          <a:prstGeom prst="rect">
            <a:avLst/>
          </a:prstGeom>
        </p:spPr>
      </p:pic>
    </p:spTree>
    <p:extLst>
      <p:ext uri="{BB962C8B-B14F-4D97-AF65-F5344CB8AC3E}">
        <p14:creationId xmlns:p14="http://schemas.microsoft.com/office/powerpoint/2010/main" val="800971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Container Images(5/5)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Docker Image Format :</a:t>
            </a:r>
          </a:p>
          <a:p>
            <a:pPr lvl="1">
              <a:buFont typeface="Wingdings" panose="05000000000000000000" pitchFamily="2" charset="2"/>
              <a:buChar char="§"/>
            </a:pPr>
            <a:r>
              <a:rPr lang="en-US" altLang="ko-KR" sz="1400" b="1" dirty="0"/>
              <a:t>Container images are typically combined with </a:t>
            </a:r>
            <a:r>
              <a:rPr lang="en-US" altLang="ko-KR" sz="1400" b="1" dirty="0">
                <a:solidFill>
                  <a:srgbClr val="FF0000"/>
                </a:solidFill>
              </a:rPr>
              <a:t>a container configuration file</a:t>
            </a:r>
            <a:r>
              <a:rPr lang="en-US" altLang="ko-KR" sz="1400" b="1" dirty="0"/>
              <a:t>, which provides instructions on how to set up the </a:t>
            </a:r>
            <a:r>
              <a:rPr lang="en-US" altLang="ko-KR" sz="1400" b="1" dirty="0">
                <a:solidFill>
                  <a:srgbClr val="FF0000"/>
                </a:solidFill>
              </a:rPr>
              <a:t>container environment </a:t>
            </a:r>
            <a:r>
              <a:rPr lang="en-US" altLang="ko-KR" sz="1400" b="1" dirty="0"/>
              <a:t>and execute an </a:t>
            </a:r>
            <a:r>
              <a:rPr lang="en-US" altLang="ko-KR" sz="1400" b="1" dirty="0">
                <a:solidFill>
                  <a:srgbClr val="FF0000"/>
                </a:solidFill>
              </a:rPr>
              <a:t>application entry point</a:t>
            </a:r>
            <a:r>
              <a:rPr lang="en-US" altLang="ko-KR" sz="1400" dirty="0"/>
              <a:t>. The container configuration often includes information on how to set up </a:t>
            </a:r>
            <a:r>
              <a:rPr lang="en-US" altLang="ko-KR" sz="1400" b="1" dirty="0"/>
              <a:t>networking</a:t>
            </a:r>
            <a:r>
              <a:rPr lang="en-US" altLang="ko-KR" sz="1400" dirty="0"/>
              <a:t>, </a:t>
            </a:r>
            <a:r>
              <a:rPr lang="en-US" altLang="ko-KR" sz="1400" b="1" dirty="0"/>
              <a:t>namespace isolation</a:t>
            </a:r>
            <a:r>
              <a:rPr lang="en-US" altLang="ko-KR" sz="1400" dirty="0"/>
              <a:t>, </a:t>
            </a:r>
            <a:r>
              <a:rPr lang="en-US" altLang="ko-KR" sz="1400" b="1" dirty="0"/>
              <a:t>resource constraints (</a:t>
            </a:r>
            <a:r>
              <a:rPr lang="en-US" altLang="ko-KR" sz="1400" b="1" dirty="0" err="1">
                <a:solidFill>
                  <a:srgbClr val="FF0000"/>
                </a:solidFill>
              </a:rPr>
              <a:t>cgroups</a:t>
            </a:r>
            <a:r>
              <a:rPr lang="en-US" altLang="ko-KR" sz="1400" b="1" dirty="0"/>
              <a:t>)</a:t>
            </a:r>
            <a:r>
              <a:rPr lang="en-US" altLang="ko-KR" sz="1400" dirty="0"/>
              <a:t>, and what </a:t>
            </a:r>
            <a:r>
              <a:rPr lang="en-US" altLang="ko-KR" sz="1400" b="1" dirty="0" err="1"/>
              <a:t>syscall</a:t>
            </a:r>
            <a:r>
              <a:rPr lang="en-US" altLang="ko-KR" sz="1400" b="1" dirty="0"/>
              <a:t> restrictions </a:t>
            </a:r>
            <a:r>
              <a:rPr lang="en-US" altLang="ko-KR" sz="1400" dirty="0"/>
              <a:t>should be placed on a running container instance. </a:t>
            </a:r>
            <a:r>
              <a:rPr lang="en-US" altLang="ko-KR" sz="1400" b="1" dirty="0"/>
              <a:t>The </a:t>
            </a:r>
            <a:r>
              <a:rPr lang="en-US" altLang="ko-KR" sz="1400" b="1" dirty="0">
                <a:solidFill>
                  <a:srgbClr val="FF0000"/>
                </a:solidFill>
              </a:rPr>
              <a:t>container root filesystem </a:t>
            </a:r>
            <a:r>
              <a:rPr lang="en-US" altLang="ko-KR" sz="1400" b="1" dirty="0"/>
              <a:t>and </a:t>
            </a:r>
            <a:r>
              <a:rPr lang="en-US" altLang="ko-KR" sz="1400" b="1" dirty="0">
                <a:solidFill>
                  <a:srgbClr val="FF0000"/>
                </a:solidFill>
              </a:rPr>
              <a:t>configuration file </a:t>
            </a:r>
            <a:r>
              <a:rPr lang="en-US" altLang="ko-KR" sz="1400" b="1" dirty="0"/>
              <a:t>are typically bundled using the Docker image format</a:t>
            </a:r>
            <a:r>
              <a:rPr lang="en-US" altLang="ko-KR" sz="1400" dirty="0"/>
              <a:t>.</a:t>
            </a:r>
          </a:p>
          <a:p>
            <a:pPr lvl="1">
              <a:buFont typeface="Wingdings" panose="05000000000000000000" pitchFamily="2" charset="2"/>
              <a:buChar char="§"/>
            </a:pPr>
            <a:r>
              <a:rPr lang="en-US" altLang="ko-KR" sz="1400" dirty="0"/>
              <a:t>Containers fall into two main categories :</a:t>
            </a:r>
          </a:p>
          <a:p>
            <a:pPr lvl="2">
              <a:buFont typeface="Wingdings" panose="05000000000000000000" pitchFamily="2" charset="2"/>
              <a:buChar char="§"/>
            </a:pPr>
            <a:r>
              <a:rPr lang="en-US" altLang="ko-KR" sz="1400" b="1" dirty="0"/>
              <a:t>System containers</a:t>
            </a:r>
          </a:p>
          <a:p>
            <a:pPr lvl="2">
              <a:buFont typeface="Wingdings" panose="05000000000000000000" pitchFamily="2" charset="2"/>
              <a:buChar char="§"/>
            </a:pPr>
            <a:r>
              <a:rPr lang="en-US" altLang="ko-KR" sz="1400" b="1" dirty="0"/>
              <a:t>Application containers</a:t>
            </a:r>
          </a:p>
          <a:p>
            <a:pPr lvl="1">
              <a:buFont typeface="Wingdings" panose="05000000000000000000" pitchFamily="2" charset="2"/>
              <a:buChar char="§"/>
            </a:pPr>
            <a:r>
              <a:rPr lang="en-US" altLang="ko-KR" sz="1400" b="1" dirty="0">
                <a:solidFill>
                  <a:srgbClr val="FF0000"/>
                </a:solidFill>
              </a:rPr>
              <a:t>System containers </a:t>
            </a:r>
            <a:r>
              <a:rPr lang="en-US" altLang="ko-KR" sz="1400" b="1" dirty="0"/>
              <a:t>seek to mimic virtual machines and often run a full boot process</a:t>
            </a:r>
            <a:r>
              <a:rPr lang="en-US" altLang="ko-KR" sz="1400" dirty="0"/>
              <a:t>. They often include a set of system services typically found in a </a:t>
            </a:r>
            <a:r>
              <a:rPr lang="en-US" altLang="ko-KR" sz="1400" b="1" dirty="0"/>
              <a:t>VM(Virtual Machine)</a:t>
            </a:r>
            <a:r>
              <a:rPr lang="en-US" altLang="ko-KR" sz="1400" dirty="0"/>
              <a:t>, such as </a:t>
            </a:r>
            <a:r>
              <a:rPr lang="en-US" altLang="ko-KR" sz="1400" b="1" dirty="0" err="1"/>
              <a:t>ssh</a:t>
            </a:r>
            <a:r>
              <a:rPr lang="en-US" altLang="ko-KR" sz="1400" dirty="0"/>
              <a:t>, </a:t>
            </a:r>
            <a:r>
              <a:rPr lang="en-US" altLang="ko-KR" sz="1400" b="1" dirty="0" err="1"/>
              <a:t>cron</a:t>
            </a:r>
            <a:r>
              <a:rPr lang="en-US" altLang="ko-KR" sz="1400" dirty="0"/>
              <a:t>, and </a:t>
            </a:r>
            <a:r>
              <a:rPr lang="en-US" altLang="ko-KR" sz="1400" b="1" dirty="0"/>
              <a:t>syslog</a:t>
            </a:r>
            <a:r>
              <a:rPr lang="en-US" altLang="ko-KR" sz="1400" dirty="0"/>
              <a:t>. When Docker was new, these types of containers were much more common. Over time, they have come to be seen as poor practice and application containers have gained favor.</a:t>
            </a:r>
          </a:p>
          <a:p>
            <a:pPr lvl="1">
              <a:buFont typeface="Wingdings" panose="05000000000000000000" pitchFamily="2" charset="2"/>
              <a:buChar char="§"/>
            </a:pPr>
            <a:r>
              <a:rPr lang="en-US" altLang="ko-KR" sz="1400" b="1" dirty="0">
                <a:solidFill>
                  <a:srgbClr val="FF0000"/>
                </a:solidFill>
              </a:rPr>
              <a:t>Application containers </a:t>
            </a:r>
            <a:r>
              <a:rPr lang="en-US" altLang="ko-KR" sz="1400" b="1" dirty="0"/>
              <a:t>differ from system containers in that they commonly </a:t>
            </a:r>
            <a:r>
              <a:rPr lang="en-US" altLang="ko-KR" sz="1400" b="1" dirty="0">
                <a:solidFill>
                  <a:srgbClr val="FF0000"/>
                </a:solidFill>
              </a:rPr>
              <a:t>run a single program</a:t>
            </a:r>
            <a:r>
              <a:rPr lang="en-US" altLang="ko-KR" sz="1400" dirty="0"/>
              <a:t>. While running a single program per container might seem like an unnecessary constraint, </a:t>
            </a:r>
            <a:r>
              <a:rPr lang="en-US" altLang="ko-KR" sz="1400" b="1" dirty="0"/>
              <a:t>it provides the perfect level of granularity for composing scalable applications </a:t>
            </a:r>
            <a:r>
              <a:rPr lang="en-US" altLang="ko-KR" sz="1400" dirty="0"/>
              <a:t>and is a design philosophy that is leveraged heavily by “</a:t>
            </a:r>
            <a:r>
              <a:rPr lang="en-US" altLang="ko-KR" sz="1400" b="1" dirty="0">
                <a:solidFill>
                  <a:srgbClr val="FF0000"/>
                </a:solidFill>
              </a:rPr>
              <a:t>Pods</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9CD00A-3535-4291-B76B-1D5840C93ABF}"/>
              </a:ext>
            </a:extLst>
          </p:cNvPr>
          <p:cNvPicPr>
            <a:picLocks noChangeAspect="1"/>
          </p:cNvPicPr>
          <p:nvPr/>
        </p:nvPicPr>
        <p:blipFill>
          <a:blip r:embed="rId2"/>
          <a:stretch>
            <a:fillRect/>
          </a:stretch>
        </p:blipFill>
        <p:spPr>
          <a:xfrm>
            <a:off x="4557086" y="4449730"/>
            <a:ext cx="3077828" cy="1959300"/>
          </a:xfrm>
          <a:prstGeom prst="rect">
            <a:avLst/>
          </a:prstGeom>
        </p:spPr>
      </p:pic>
    </p:spTree>
    <p:extLst>
      <p:ext uri="{BB962C8B-B14F-4D97-AF65-F5344CB8AC3E}">
        <p14:creationId xmlns:p14="http://schemas.microsoft.com/office/powerpoint/2010/main" val="1926267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dirty="0"/>
              <a:t>In general, </a:t>
            </a:r>
            <a:r>
              <a:rPr lang="en-US" altLang="ko-KR" sz="1400" b="1" dirty="0"/>
              <a:t>container orchestration systems like Kubernetes are focused on building and deploying distributed systems made up of “application containers”</a:t>
            </a:r>
            <a:r>
              <a:rPr lang="en-US" altLang="ko-KR" sz="1400" dirty="0"/>
              <a:t>. A “</a:t>
            </a:r>
            <a:r>
              <a:rPr lang="en-US" altLang="ko-KR" sz="1400" b="1" dirty="0" err="1">
                <a:solidFill>
                  <a:srgbClr val="FF0000"/>
                </a:solidFill>
              </a:rPr>
              <a:t>Dockerfile</a:t>
            </a:r>
            <a:r>
              <a:rPr lang="en-US" altLang="ko-KR" sz="1400" dirty="0"/>
              <a:t>” can be used to </a:t>
            </a:r>
            <a:r>
              <a:rPr lang="en-US" altLang="ko-KR" sz="1400" b="1" dirty="0"/>
              <a:t>automate the creation of a Docker container image</a:t>
            </a:r>
            <a:r>
              <a:rPr lang="en-US" altLang="ko-KR" sz="1400" dirty="0"/>
              <a:t>.</a:t>
            </a:r>
          </a:p>
          <a:p>
            <a:pPr lvl="1">
              <a:buFont typeface="Wingdings" panose="05000000000000000000" pitchFamily="2" charset="2"/>
              <a:buChar char="§"/>
            </a:pPr>
            <a:r>
              <a:rPr lang="en-US" altLang="ko-KR" sz="1400" b="1" dirty="0"/>
              <a:t>Building an application image for a simple Node.js program</a:t>
            </a:r>
            <a:r>
              <a:rPr lang="en-US" altLang="ko-KR" sz="1400" dirty="0"/>
              <a:t>. This example would be very similar for many other dynamic languages, like </a:t>
            </a:r>
            <a:r>
              <a:rPr lang="en-US" altLang="ko-KR" sz="1400" b="1" dirty="0"/>
              <a:t>Python</a:t>
            </a:r>
            <a:r>
              <a:rPr lang="en-US" altLang="ko-KR" sz="1400" dirty="0"/>
              <a:t> or </a:t>
            </a:r>
            <a:r>
              <a:rPr lang="en-US" altLang="ko-KR" sz="1400" b="1" dirty="0"/>
              <a:t>Ruby</a:t>
            </a:r>
            <a:r>
              <a:rPr lang="en-US" altLang="ko-KR" sz="1400" dirty="0"/>
              <a:t>. The simplest of </a:t>
            </a:r>
            <a:r>
              <a:rPr lang="en-US" altLang="ko-KR" sz="1400" b="1" dirty="0" err="1"/>
              <a:t>npm</a:t>
            </a:r>
            <a:r>
              <a:rPr lang="en-US" altLang="ko-KR" sz="1400" b="1" dirty="0"/>
              <a:t>/Node/Express apps </a:t>
            </a:r>
            <a:r>
              <a:rPr lang="en-US" altLang="ko-KR" sz="1400" dirty="0"/>
              <a:t>has two files: “</a:t>
            </a:r>
            <a:r>
              <a:rPr lang="en-US" altLang="ko-KR" sz="1400" b="1" dirty="0" err="1">
                <a:solidFill>
                  <a:srgbClr val="FF0000"/>
                </a:solidFill>
              </a:rPr>
              <a:t>package.json</a:t>
            </a:r>
            <a:r>
              <a:rPr lang="en-US" altLang="ko-KR" sz="1400" dirty="0"/>
              <a:t>” and “</a:t>
            </a:r>
            <a:r>
              <a:rPr lang="en-US" altLang="ko-KR" sz="1400" b="1" dirty="0">
                <a:solidFill>
                  <a:srgbClr val="FF0000"/>
                </a:solidFill>
              </a:rPr>
              <a:t>server.js</a:t>
            </a:r>
            <a:r>
              <a:rPr lang="en-US" altLang="ko-KR" sz="1400" dirty="0"/>
              <a:t>”. Put these in a directory and then run “</a:t>
            </a:r>
            <a:r>
              <a:rPr lang="en-US" altLang="ko-KR" sz="1400" b="1" dirty="0" err="1">
                <a:solidFill>
                  <a:srgbClr val="FF0000"/>
                </a:solidFill>
              </a:rPr>
              <a:t>npm</a:t>
            </a:r>
            <a:r>
              <a:rPr lang="en-US" altLang="ko-KR" sz="1400" b="1" dirty="0">
                <a:solidFill>
                  <a:srgbClr val="FF0000"/>
                </a:solidFill>
              </a:rPr>
              <a:t> install express --save</a:t>
            </a:r>
            <a:r>
              <a:rPr lang="en-US" altLang="ko-KR" sz="1400" dirty="0"/>
              <a:t>” command to establish a dependency on Express and install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37DEE98-98BD-4DC8-8D51-12F26C42DF79}"/>
              </a:ext>
            </a:extLst>
          </p:cNvPr>
          <p:cNvGrpSpPr/>
          <p:nvPr/>
        </p:nvGrpSpPr>
        <p:grpSpPr>
          <a:xfrm>
            <a:off x="3048000" y="2680265"/>
            <a:ext cx="6096000" cy="3728765"/>
            <a:chOff x="3048000" y="2490606"/>
            <a:chExt cx="6096000" cy="3728765"/>
          </a:xfrm>
        </p:grpSpPr>
        <p:sp>
          <p:nvSpPr>
            <p:cNvPr id="4" name="직사각형 3">
              <a:extLst>
                <a:ext uri="{FF2B5EF4-FFF2-40B4-BE49-F238E27FC236}">
                  <a16:creationId xmlns:a16="http://schemas.microsoft.com/office/drawing/2014/main" id="{E1FEC7C2-9780-45E2-B67D-616C8B9D011E}"/>
                </a:ext>
              </a:extLst>
            </p:cNvPr>
            <p:cNvSpPr/>
            <p:nvPr/>
          </p:nvSpPr>
          <p:spPr>
            <a:xfrm>
              <a:off x="3048000" y="2490606"/>
              <a:ext cx="6096000" cy="163121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"name": "simple-node",</a:t>
              </a:r>
            </a:p>
            <a:p>
              <a:r>
                <a:rPr lang="en-US" altLang="ko-KR" sz="1000" b="1" dirty="0"/>
                <a:t>    "version": "1.0.0",</a:t>
              </a:r>
            </a:p>
            <a:p>
              <a:r>
                <a:rPr lang="en-US" altLang="ko-KR" sz="1000" b="1" dirty="0"/>
                <a:t>    "description": "A sample simple application for Kubernetes Up &amp; Running",</a:t>
              </a:r>
            </a:p>
            <a:p>
              <a:r>
                <a:rPr lang="en-US" altLang="ko-KR" sz="1000" b="1" dirty="0"/>
                <a:t>    "main": "</a:t>
              </a:r>
              <a:r>
                <a:rPr lang="en-US" altLang="ko-KR" sz="1000" b="1" dirty="0">
                  <a:solidFill>
                    <a:srgbClr val="FF0000"/>
                  </a:solidFill>
                </a:rPr>
                <a:t>server.js</a:t>
              </a:r>
              <a:r>
                <a:rPr lang="en-US" altLang="ko-KR" sz="1000" b="1" dirty="0"/>
                <a:t>",</a:t>
              </a:r>
            </a:p>
            <a:p>
              <a:r>
                <a:rPr lang="en-US" altLang="ko-KR" sz="1000" b="1" dirty="0"/>
                <a:t>    "scripts": {</a:t>
              </a:r>
            </a:p>
            <a:p>
              <a:r>
                <a:rPr lang="en-US" altLang="ko-KR" sz="1000" b="1" dirty="0"/>
                <a:t>        "start": "</a:t>
              </a:r>
              <a:r>
                <a:rPr lang="en-US" altLang="ko-KR" sz="1000" b="1" dirty="0">
                  <a:solidFill>
                    <a:srgbClr val="FF0000"/>
                  </a:solidFill>
                </a:rPr>
                <a:t>node server.js</a:t>
              </a:r>
              <a:r>
                <a:rPr lang="en-US" altLang="ko-KR" sz="1000" b="1" dirty="0"/>
                <a:t>"</a:t>
              </a:r>
            </a:p>
            <a:p>
              <a:r>
                <a:rPr lang="en-US" altLang="ko-KR" sz="1000" b="1" dirty="0"/>
                <a:t>    },</a:t>
              </a:r>
            </a:p>
            <a:p>
              <a:r>
                <a:rPr lang="en-US" altLang="ko-KR" sz="1000" b="1" dirty="0"/>
                <a:t>    "author": ""</a:t>
              </a:r>
            </a:p>
            <a:p>
              <a:r>
                <a:rPr lang="en-US" altLang="ko-KR" sz="1000" b="1" dirty="0"/>
                <a:t>}</a:t>
              </a:r>
              <a:endParaRPr lang="ko-KR" altLang="en-US" sz="1000" b="1" dirty="0"/>
            </a:p>
          </p:txBody>
        </p:sp>
        <p:sp>
          <p:nvSpPr>
            <p:cNvPr id="8" name="직사각형 7">
              <a:extLst>
                <a:ext uri="{FF2B5EF4-FFF2-40B4-BE49-F238E27FC236}">
                  <a16:creationId xmlns:a16="http://schemas.microsoft.com/office/drawing/2014/main" id="{87E611FE-DA7E-4B72-AE96-68626F34B179}"/>
                </a:ext>
              </a:extLst>
            </p:cNvPr>
            <p:cNvSpPr/>
            <p:nvPr/>
          </p:nvSpPr>
          <p:spPr>
            <a:xfrm>
              <a:off x="3048000" y="4434267"/>
              <a:ext cx="6096000" cy="1785104"/>
            </a:xfrm>
            <a:prstGeom prst="rect">
              <a:avLst/>
            </a:prstGeom>
            <a:ln>
              <a:solidFill>
                <a:schemeClr val="bg1">
                  <a:lumMod val="50000"/>
                </a:schemeClr>
              </a:solidFill>
            </a:ln>
          </p:spPr>
          <p:txBody>
            <a:bodyPr>
              <a:spAutoFit/>
            </a:bodyPr>
            <a:lstStyle/>
            <a:p>
              <a:r>
                <a:rPr lang="en-US" altLang="ko-KR" sz="1000" b="1" dirty="0"/>
                <a:t>var express = require('express');</a:t>
              </a:r>
            </a:p>
            <a:p>
              <a:r>
                <a:rPr lang="en-US" altLang="ko-KR" sz="1000" b="1" dirty="0"/>
                <a:t>var app = express();</a:t>
              </a:r>
            </a:p>
            <a:p>
              <a:endParaRPr lang="en-US" altLang="ko-KR" sz="1000" b="1" dirty="0"/>
            </a:p>
            <a:p>
              <a:r>
                <a:rPr lang="en-US" altLang="ko-KR" sz="1000" b="1" dirty="0" err="1"/>
                <a:t>app.get</a:t>
              </a:r>
              <a:r>
                <a:rPr lang="en-US" altLang="ko-KR" sz="1000" b="1" dirty="0"/>
                <a:t>('/', function (req, res) {</a:t>
              </a:r>
            </a:p>
            <a:p>
              <a:r>
                <a:rPr lang="en-US" altLang="ko-KR" sz="1000" b="1" dirty="0"/>
                <a:t>    </a:t>
              </a:r>
              <a:r>
                <a:rPr lang="en-US" altLang="ko-KR" sz="1000" b="1" dirty="0" err="1"/>
                <a:t>res.send</a:t>
              </a:r>
              <a:r>
                <a:rPr lang="en-US" altLang="ko-KR" sz="1000" b="1" dirty="0"/>
                <a:t>('Hello World!');</a:t>
              </a:r>
            </a:p>
            <a:p>
              <a:r>
                <a:rPr lang="en-US" altLang="ko-KR" sz="1000" b="1" dirty="0"/>
                <a:t>});</a:t>
              </a:r>
            </a:p>
            <a:p>
              <a:endParaRPr lang="en-US" altLang="ko-KR" sz="1000" b="1" dirty="0"/>
            </a:p>
            <a:p>
              <a:r>
                <a:rPr lang="en-US" altLang="ko-KR" sz="1000" b="1" dirty="0" err="1"/>
                <a:t>app.listen</a:t>
              </a:r>
              <a:r>
                <a:rPr lang="en-US" altLang="ko-KR" sz="1000" b="1" dirty="0"/>
                <a:t>(3000, function () {</a:t>
              </a:r>
            </a:p>
            <a:p>
              <a:r>
                <a:rPr lang="en-US" altLang="ko-KR" sz="1000" b="1" dirty="0"/>
                <a:t>    console.log('Listening on port 3000!');</a:t>
              </a:r>
            </a:p>
            <a:p>
              <a:r>
                <a:rPr lang="en-US" altLang="ko-KR" sz="1000" b="1" dirty="0"/>
                <a:t>    console.log(' http://localhost:3000');</a:t>
              </a:r>
            </a:p>
            <a:p>
              <a:r>
                <a:rPr lang="en-US" altLang="ko-KR" sz="1000" b="1" dirty="0"/>
                <a:t>});</a:t>
              </a:r>
              <a:endParaRPr lang="ko-KR" altLang="en-US" sz="1000" b="1" dirty="0"/>
            </a:p>
          </p:txBody>
        </p:sp>
        <p:sp>
          <p:nvSpPr>
            <p:cNvPr id="9" name="TextBox 8">
              <a:extLst>
                <a:ext uri="{FF2B5EF4-FFF2-40B4-BE49-F238E27FC236}">
                  <a16:creationId xmlns:a16="http://schemas.microsoft.com/office/drawing/2014/main" id="{3BFF454E-78BF-4B2C-8E5F-1106FB9FF0A2}"/>
                </a:ext>
              </a:extLst>
            </p:cNvPr>
            <p:cNvSpPr txBox="1"/>
            <p:nvPr/>
          </p:nvSpPr>
          <p:spPr>
            <a:xfrm>
              <a:off x="8170657" y="2490606"/>
              <a:ext cx="973343" cy="246221"/>
            </a:xfrm>
            <a:prstGeom prst="rect">
              <a:avLst/>
            </a:prstGeom>
            <a:noFill/>
          </p:spPr>
          <p:txBody>
            <a:bodyPr wrap="none" rtlCol="0">
              <a:spAutoFit/>
            </a:bodyPr>
            <a:lstStyle/>
            <a:p>
              <a:pPr algn="ctr"/>
              <a:r>
                <a:rPr lang="en-US" altLang="ko-KR" sz="1000" b="1" dirty="0" err="1"/>
                <a:t>package.json</a:t>
              </a:r>
              <a:endParaRPr lang="ko-KR" altLang="en-US" sz="1000" b="1" dirty="0"/>
            </a:p>
          </p:txBody>
        </p:sp>
        <p:sp>
          <p:nvSpPr>
            <p:cNvPr id="10" name="TextBox 9">
              <a:extLst>
                <a:ext uri="{FF2B5EF4-FFF2-40B4-BE49-F238E27FC236}">
                  <a16:creationId xmlns:a16="http://schemas.microsoft.com/office/drawing/2014/main" id="{CBFDB3EF-63E9-4D8B-93D6-3CF4557790CE}"/>
                </a:ext>
              </a:extLst>
            </p:cNvPr>
            <p:cNvSpPr txBox="1"/>
            <p:nvPr/>
          </p:nvSpPr>
          <p:spPr>
            <a:xfrm>
              <a:off x="8462402" y="4434267"/>
              <a:ext cx="681598" cy="246221"/>
            </a:xfrm>
            <a:prstGeom prst="rect">
              <a:avLst/>
            </a:prstGeom>
            <a:noFill/>
          </p:spPr>
          <p:txBody>
            <a:bodyPr wrap="none" rtlCol="0">
              <a:spAutoFit/>
            </a:bodyPr>
            <a:lstStyle/>
            <a:p>
              <a:pPr algn="ctr"/>
              <a:r>
                <a:rPr lang="en-US" altLang="ko-KR" sz="1000" b="1" dirty="0"/>
                <a:t>server.js</a:t>
              </a:r>
              <a:endParaRPr lang="ko-KR" altLang="en-US" sz="1000" b="1" dirty="0"/>
            </a:p>
          </p:txBody>
        </p:sp>
      </p:grpSp>
    </p:spTree>
    <p:extLst>
      <p:ext uri="{BB962C8B-B14F-4D97-AF65-F5344CB8AC3E}">
        <p14:creationId xmlns:p14="http://schemas.microsoft.com/office/powerpoint/2010/main" val="4206591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Before You Go Further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of Node.JS on Ubuntu 20.04 :</a:t>
            </a:r>
          </a:p>
          <a:p>
            <a:pPr lvl="1">
              <a:buFont typeface="Wingdings" panose="05000000000000000000" pitchFamily="2" charset="2"/>
              <a:buChar char="§"/>
            </a:pPr>
            <a:r>
              <a:rPr lang="en-US" altLang="ko-KR" sz="1400" b="1" dirty="0"/>
              <a:t>The current(2022.01.27) stable version of Node.JS is 16.13.2</a:t>
            </a:r>
            <a:r>
              <a:rPr lang="en-US" altLang="ko-KR" sz="1400" dirty="0"/>
              <a:t>. If you want to download and install the current version, use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ADCE3DD-F159-42C9-BEF9-A65C035A785B}"/>
              </a:ext>
            </a:extLst>
          </p:cNvPr>
          <p:cNvGrpSpPr/>
          <p:nvPr/>
        </p:nvGrpSpPr>
        <p:grpSpPr>
          <a:xfrm>
            <a:off x="1333500" y="1788160"/>
            <a:ext cx="9525000" cy="3281679"/>
            <a:chOff x="1333500" y="1694130"/>
            <a:chExt cx="9525000" cy="3281679"/>
          </a:xfrm>
        </p:grpSpPr>
        <p:sp>
          <p:nvSpPr>
            <p:cNvPr id="4" name="직사각형 3">
              <a:extLst>
                <a:ext uri="{FF2B5EF4-FFF2-40B4-BE49-F238E27FC236}">
                  <a16:creationId xmlns:a16="http://schemas.microsoft.com/office/drawing/2014/main" id="{490BFAEA-790D-45FC-AEBF-49CD92A9B0C0}"/>
                </a:ext>
              </a:extLst>
            </p:cNvPr>
            <p:cNvSpPr/>
            <p:nvPr/>
          </p:nvSpPr>
          <p:spPr>
            <a:xfrm>
              <a:off x="3048000" y="1694130"/>
              <a:ext cx="6096000" cy="861774"/>
            </a:xfrm>
            <a:prstGeom prst="rect">
              <a:avLst/>
            </a:prstGeom>
            <a:ln>
              <a:solidFill>
                <a:schemeClr val="bg1">
                  <a:lumMod val="50000"/>
                </a:schemeClr>
              </a:solidFill>
            </a:ln>
          </p:spPr>
          <p:txBody>
            <a:bodyPr>
              <a:spAutoFit/>
            </a:bodyPr>
            <a:lstStyle/>
            <a:p>
              <a:r>
                <a:rPr lang="en-US" altLang="ko-KR" sz="1000" b="1" dirty="0"/>
                <a:t>curl -</a:t>
              </a:r>
              <a:r>
                <a:rPr lang="en-US" altLang="ko-KR" sz="1000" b="1" dirty="0" err="1"/>
                <a:t>sL</a:t>
              </a:r>
              <a:r>
                <a:rPr lang="en-US" altLang="ko-KR" sz="1000" b="1" dirty="0"/>
                <a:t> </a:t>
              </a:r>
              <a:r>
                <a:rPr lang="en-US" altLang="ko-KR" sz="1000" b="1" dirty="0">
                  <a:hlinkClick r:id="rId2"/>
                </a:rPr>
                <a:t>https://deb.nodesource.com/setup_16.x -o nodesource_setup.sh</a:t>
              </a:r>
              <a:endParaRPr lang="en-US" altLang="ko-KR" sz="1000" b="1" dirty="0"/>
            </a:p>
            <a:p>
              <a:r>
                <a:rPr lang="en-US" altLang="ko-KR" sz="1000" b="1" dirty="0" err="1"/>
                <a:t>sudo</a:t>
              </a:r>
              <a:r>
                <a:rPr lang="en-US" altLang="ko-KR" sz="1000" b="1" dirty="0"/>
                <a:t> bash nodesource_setup.sh</a:t>
              </a:r>
            </a:p>
            <a:p>
              <a:r>
                <a:rPr lang="en-US" altLang="ko-KR" sz="1000" b="1" dirty="0" err="1"/>
                <a:t>sudo</a:t>
              </a:r>
              <a:r>
                <a:rPr lang="en-US" altLang="ko-KR" sz="1000" b="1" dirty="0"/>
                <a:t> apt install </a:t>
              </a:r>
              <a:r>
                <a:rPr lang="en-US" altLang="ko-KR" sz="1000" b="1" dirty="0" err="1"/>
                <a:t>nodejs</a:t>
              </a:r>
              <a:endParaRPr lang="en-US" altLang="ko-KR" sz="1000" b="1" dirty="0"/>
            </a:p>
            <a:p>
              <a:r>
                <a:rPr lang="en-US" altLang="ko-KR" sz="1000" b="1" dirty="0"/>
                <a:t>node -v</a:t>
              </a:r>
            </a:p>
            <a:p>
              <a:r>
                <a:rPr lang="en-US" altLang="ko-KR" sz="1000" b="1" dirty="0" err="1"/>
                <a:t>npm</a:t>
              </a:r>
              <a:r>
                <a:rPr lang="en-US" altLang="ko-KR" sz="1000" b="1" dirty="0"/>
                <a:t> -v</a:t>
              </a:r>
              <a:endParaRPr lang="ko-KR" altLang="en-US" sz="1000" b="1" dirty="0"/>
            </a:p>
          </p:txBody>
        </p:sp>
        <p:pic>
          <p:nvPicPr>
            <p:cNvPr id="8" name="그림 7">
              <a:extLst>
                <a:ext uri="{FF2B5EF4-FFF2-40B4-BE49-F238E27FC236}">
                  <a16:creationId xmlns:a16="http://schemas.microsoft.com/office/drawing/2014/main" id="{D2FC39B1-59A3-446F-99C3-83E04BBB09D6}"/>
                </a:ext>
              </a:extLst>
            </p:cNvPr>
            <p:cNvPicPr>
              <a:picLocks noChangeAspect="1"/>
            </p:cNvPicPr>
            <p:nvPr/>
          </p:nvPicPr>
          <p:blipFill>
            <a:blip r:embed="rId3"/>
            <a:stretch>
              <a:fillRect/>
            </a:stretch>
          </p:blipFill>
          <p:spPr>
            <a:xfrm>
              <a:off x="1333500" y="2908884"/>
              <a:ext cx="9525000" cy="206692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0853FF62-5115-468F-8952-CBCB737B003D}"/>
                </a:ext>
              </a:extLst>
            </p:cNvPr>
            <p:cNvSpPr/>
            <p:nvPr/>
          </p:nvSpPr>
          <p:spPr>
            <a:xfrm>
              <a:off x="5891463" y="2596439"/>
              <a:ext cx="409074" cy="30761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56667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dirty="0"/>
              <a:t>After running the command, you can get the following screenshot. You will find “</a:t>
            </a:r>
            <a:r>
              <a:rPr lang="en-US" altLang="ko-KR" sz="1400" b="1" dirty="0" err="1"/>
              <a:t>node_modules</a:t>
            </a:r>
            <a:r>
              <a:rPr lang="en-US" altLang="ko-KR" sz="1400" dirty="0"/>
              <a:t>” directory, which has </a:t>
            </a:r>
            <a:r>
              <a:rPr lang="en-US" altLang="ko-KR" sz="1400" b="1" dirty="0"/>
              <a:t>all the dependent packages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DD75ABA4-D850-40A1-80A4-4B65A0AC1809}"/>
              </a:ext>
            </a:extLst>
          </p:cNvPr>
          <p:cNvGrpSpPr/>
          <p:nvPr/>
        </p:nvGrpSpPr>
        <p:grpSpPr>
          <a:xfrm>
            <a:off x="2151698" y="1597794"/>
            <a:ext cx="7888605" cy="4795032"/>
            <a:chOff x="2151698" y="1597794"/>
            <a:chExt cx="7888605" cy="4795032"/>
          </a:xfrm>
        </p:grpSpPr>
        <p:grpSp>
          <p:nvGrpSpPr>
            <p:cNvPr id="11" name="그룹 10">
              <a:extLst>
                <a:ext uri="{FF2B5EF4-FFF2-40B4-BE49-F238E27FC236}">
                  <a16:creationId xmlns:a16="http://schemas.microsoft.com/office/drawing/2014/main" id="{5BF1E6F4-AA92-4D34-B920-0660D1F8336E}"/>
                </a:ext>
              </a:extLst>
            </p:cNvPr>
            <p:cNvGrpSpPr/>
            <p:nvPr/>
          </p:nvGrpSpPr>
          <p:grpSpPr>
            <a:xfrm>
              <a:off x="2151698" y="2140256"/>
              <a:ext cx="7888605" cy="4252570"/>
              <a:chOff x="1819275" y="1717337"/>
              <a:chExt cx="8553450" cy="4691693"/>
            </a:xfrm>
          </p:grpSpPr>
          <p:grpSp>
            <p:nvGrpSpPr>
              <p:cNvPr id="9" name="그룹 8">
                <a:extLst>
                  <a:ext uri="{FF2B5EF4-FFF2-40B4-BE49-F238E27FC236}">
                    <a16:creationId xmlns:a16="http://schemas.microsoft.com/office/drawing/2014/main" id="{EA757FEC-467C-4D4D-9929-BEB5103FC718}"/>
                  </a:ext>
                </a:extLst>
              </p:cNvPr>
              <p:cNvGrpSpPr/>
              <p:nvPr/>
            </p:nvGrpSpPr>
            <p:grpSpPr>
              <a:xfrm>
                <a:off x="1819275" y="1717337"/>
                <a:ext cx="8553450" cy="4691693"/>
                <a:chOff x="1333500" y="1997369"/>
                <a:chExt cx="9525000" cy="5200650"/>
              </a:xfrm>
            </p:grpSpPr>
            <p:pic>
              <p:nvPicPr>
                <p:cNvPr id="4" name="그림 3">
                  <a:extLst>
                    <a:ext uri="{FF2B5EF4-FFF2-40B4-BE49-F238E27FC236}">
                      <a16:creationId xmlns:a16="http://schemas.microsoft.com/office/drawing/2014/main" id="{AD2012E9-DF47-4FB7-A180-E631DF517A0F}"/>
                    </a:ext>
                  </a:extLst>
                </p:cNvPr>
                <p:cNvPicPr>
                  <a:picLocks noChangeAspect="1"/>
                </p:cNvPicPr>
                <p:nvPr/>
              </p:nvPicPr>
              <p:blipFill>
                <a:blip r:embed="rId2"/>
                <a:stretch>
                  <a:fillRect/>
                </a:stretch>
              </p:blipFill>
              <p:spPr>
                <a:xfrm>
                  <a:off x="1333500" y="1997369"/>
                  <a:ext cx="9525000" cy="2971800"/>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EF9AB7A9-604D-4B20-A555-22516DE8CDF1}"/>
                    </a:ext>
                  </a:extLst>
                </p:cNvPr>
                <p:cNvPicPr>
                  <a:picLocks noChangeAspect="1"/>
                </p:cNvPicPr>
                <p:nvPr/>
              </p:nvPicPr>
              <p:blipFill>
                <a:blip r:embed="rId3"/>
                <a:stretch>
                  <a:fillRect/>
                </a:stretch>
              </p:blipFill>
              <p:spPr>
                <a:xfrm>
                  <a:off x="1333500" y="4969169"/>
                  <a:ext cx="9525000" cy="2228850"/>
                </a:xfrm>
                <a:prstGeom prst="rect">
                  <a:avLst/>
                </a:prstGeom>
              </p:spPr>
            </p:pic>
          </p:grpSp>
          <p:sp>
            <p:nvSpPr>
              <p:cNvPr id="10" name="직사각형 9">
                <a:extLst>
                  <a:ext uri="{FF2B5EF4-FFF2-40B4-BE49-F238E27FC236}">
                    <a16:creationId xmlns:a16="http://schemas.microsoft.com/office/drawing/2014/main" id="{C1736D02-0B03-47B2-815C-3D607E7FAD28}"/>
                  </a:ext>
                </a:extLst>
              </p:cNvPr>
              <p:cNvSpPr/>
              <p:nvPr/>
            </p:nvSpPr>
            <p:spPr>
              <a:xfrm>
                <a:off x="5783179" y="2166516"/>
                <a:ext cx="1973179" cy="2406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TextBox 11">
              <a:extLst>
                <a:ext uri="{FF2B5EF4-FFF2-40B4-BE49-F238E27FC236}">
                  <a16:creationId xmlns:a16="http://schemas.microsoft.com/office/drawing/2014/main" id="{F60B4584-5004-45CE-9B43-7DB8BE0B866B}"/>
                </a:ext>
              </a:extLst>
            </p:cNvPr>
            <p:cNvSpPr txBox="1"/>
            <p:nvPr/>
          </p:nvSpPr>
          <p:spPr>
            <a:xfrm>
              <a:off x="5200561" y="1597794"/>
              <a:ext cx="1790876" cy="246221"/>
            </a:xfrm>
            <a:prstGeom prst="rect">
              <a:avLst/>
            </a:prstGeom>
            <a:noFill/>
            <a:ln>
              <a:solidFill>
                <a:schemeClr val="bg1">
                  <a:lumMod val="50000"/>
                </a:schemeClr>
              </a:solidFill>
            </a:ln>
          </p:spPr>
          <p:txBody>
            <a:bodyPr wrap="none" rtlCol="0">
              <a:spAutoFit/>
            </a:bodyPr>
            <a:lstStyle/>
            <a:p>
              <a:pPr algn="ctr"/>
              <a:r>
                <a:rPr lang="en-US" altLang="ko-KR" sz="1000" b="1" dirty="0" err="1"/>
                <a:t>npm</a:t>
              </a:r>
              <a:r>
                <a:rPr lang="en-US" altLang="ko-KR" sz="1000" b="1" dirty="0"/>
                <a:t> install </a:t>
              </a:r>
              <a:r>
                <a:rPr lang="en-US" altLang="ko-KR" sz="1000" b="1" dirty="0">
                  <a:solidFill>
                    <a:srgbClr val="FF0000"/>
                  </a:solidFill>
                </a:rPr>
                <a:t>express</a:t>
              </a:r>
              <a:r>
                <a:rPr lang="en-US" altLang="ko-KR" sz="1000" b="1" dirty="0"/>
                <a:t> --save</a:t>
              </a:r>
              <a:endParaRPr lang="ko-KR" altLang="en-US" sz="1000" b="1" dirty="0"/>
            </a:p>
          </p:txBody>
        </p:sp>
        <p:sp>
          <p:nvSpPr>
            <p:cNvPr id="13" name="화살표: 아래쪽 12">
              <a:extLst>
                <a:ext uri="{FF2B5EF4-FFF2-40B4-BE49-F238E27FC236}">
                  <a16:creationId xmlns:a16="http://schemas.microsoft.com/office/drawing/2014/main" id="{36F35B5C-F891-4996-982C-92CA55B9EB7A}"/>
                </a:ext>
              </a:extLst>
            </p:cNvPr>
            <p:cNvSpPr/>
            <p:nvPr/>
          </p:nvSpPr>
          <p:spPr>
            <a:xfrm>
              <a:off x="5928359" y="1859255"/>
              <a:ext cx="335280"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84673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b="1" dirty="0"/>
              <a:t>To package this up as a Docker image we need to create two additional files : “</a:t>
            </a:r>
            <a:r>
              <a:rPr lang="en-US" altLang="ko-KR" sz="1400" b="1" dirty="0">
                <a:solidFill>
                  <a:srgbClr val="FF0000"/>
                </a:solidFill>
              </a:rPr>
              <a:t>.</a:t>
            </a:r>
            <a:r>
              <a:rPr lang="en-US" altLang="ko-KR" sz="1400" b="1" dirty="0" err="1">
                <a:solidFill>
                  <a:srgbClr val="FF0000"/>
                </a:solidFill>
              </a:rPr>
              <a:t>dockerignore</a:t>
            </a:r>
            <a:r>
              <a:rPr lang="en-US" altLang="ko-KR" sz="1400" b="1" dirty="0"/>
              <a:t>” and the “</a:t>
            </a:r>
            <a:r>
              <a:rPr lang="en-US" altLang="ko-KR" sz="1400" b="1" dirty="0" err="1">
                <a:solidFill>
                  <a:srgbClr val="FF0000"/>
                </a:solidFill>
              </a:rPr>
              <a:t>Dockerfile</a:t>
            </a:r>
            <a:r>
              <a:rPr lang="en-US" altLang="ko-KR" sz="1400" b="1" dirty="0"/>
              <a:t>”</a:t>
            </a:r>
            <a:r>
              <a:rPr lang="en-US" altLang="ko-KR" sz="1400" dirty="0"/>
              <a:t>. The </a:t>
            </a:r>
            <a:r>
              <a:rPr lang="en-US" altLang="ko-KR" sz="1400" b="1" dirty="0" err="1"/>
              <a:t>Dockerfile</a:t>
            </a:r>
            <a:r>
              <a:rPr lang="en-US" altLang="ko-KR" sz="1400" dirty="0"/>
              <a:t> is a recipe for </a:t>
            </a:r>
            <a:r>
              <a:rPr lang="en-US" altLang="ko-KR" sz="1400" b="1" dirty="0"/>
              <a:t>how to build the container image</a:t>
            </a:r>
            <a:r>
              <a:rPr lang="en-US" altLang="ko-KR" sz="1400" dirty="0"/>
              <a:t>, while </a:t>
            </a:r>
            <a:r>
              <a:rPr lang="en-US" altLang="ko-KR" sz="1400" b="1" dirty="0"/>
              <a:t>.</a:t>
            </a:r>
            <a:r>
              <a:rPr lang="en-US" altLang="ko-KR" sz="1400" b="1" dirty="0" err="1"/>
              <a:t>dockerignore</a:t>
            </a:r>
            <a:r>
              <a:rPr lang="en-US" altLang="ko-KR" sz="1400" dirty="0"/>
              <a:t> </a:t>
            </a:r>
            <a:r>
              <a:rPr lang="en-US" altLang="ko-KR" sz="1400" b="1" dirty="0"/>
              <a:t>defines the set of files that should be ignored when copying files into the image</a:t>
            </a:r>
            <a:r>
              <a:rPr lang="en-US" altLang="ko-KR" sz="1400" dirty="0"/>
              <a:t>. A full description of the syntax of the </a:t>
            </a:r>
            <a:r>
              <a:rPr lang="en-US" altLang="ko-KR" sz="1400" b="1" dirty="0" err="1"/>
              <a:t>Dockerfile</a:t>
            </a:r>
            <a:r>
              <a:rPr lang="en-US" altLang="ko-KR" sz="1400" dirty="0"/>
              <a:t> is available on the </a:t>
            </a:r>
            <a:r>
              <a:rPr lang="en-US" altLang="ko-KR" sz="1400" b="1" dirty="0">
                <a:hlinkClick r:id="rId2"/>
              </a:rPr>
              <a:t>Docker website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C59F73A9-DA8A-4392-AD8C-B299D9459429}"/>
              </a:ext>
            </a:extLst>
          </p:cNvPr>
          <p:cNvGrpSpPr/>
          <p:nvPr/>
        </p:nvGrpSpPr>
        <p:grpSpPr>
          <a:xfrm>
            <a:off x="1712495" y="2084754"/>
            <a:ext cx="8767010" cy="4045525"/>
            <a:chOff x="1712490" y="1968987"/>
            <a:chExt cx="8767010" cy="4045525"/>
          </a:xfrm>
        </p:grpSpPr>
        <p:grpSp>
          <p:nvGrpSpPr>
            <p:cNvPr id="13" name="그룹 12">
              <a:extLst>
                <a:ext uri="{FF2B5EF4-FFF2-40B4-BE49-F238E27FC236}">
                  <a16:creationId xmlns:a16="http://schemas.microsoft.com/office/drawing/2014/main" id="{263297A5-2377-49F5-9C11-5D566AE56135}"/>
                </a:ext>
              </a:extLst>
            </p:cNvPr>
            <p:cNvGrpSpPr/>
            <p:nvPr/>
          </p:nvGrpSpPr>
          <p:grpSpPr>
            <a:xfrm>
              <a:off x="3047995" y="1968987"/>
              <a:ext cx="6096001" cy="2564245"/>
              <a:chOff x="3047998" y="2097324"/>
              <a:chExt cx="6096001" cy="2564245"/>
            </a:xfrm>
          </p:grpSpPr>
          <p:grpSp>
            <p:nvGrpSpPr>
              <p:cNvPr id="9" name="그룹 8">
                <a:extLst>
                  <a:ext uri="{FF2B5EF4-FFF2-40B4-BE49-F238E27FC236}">
                    <a16:creationId xmlns:a16="http://schemas.microsoft.com/office/drawing/2014/main" id="{144E03D7-E6B4-4E70-ACAB-9043F70A4158}"/>
                  </a:ext>
                </a:extLst>
              </p:cNvPr>
              <p:cNvGrpSpPr/>
              <p:nvPr/>
            </p:nvGrpSpPr>
            <p:grpSpPr>
              <a:xfrm>
                <a:off x="3047999" y="2097324"/>
                <a:ext cx="6096000" cy="492442"/>
                <a:chOff x="2959768" y="2097324"/>
                <a:chExt cx="6272463" cy="492442"/>
              </a:xfrm>
            </p:grpSpPr>
            <p:sp>
              <p:nvSpPr>
                <p:cNvPr id="4" name="직사각형 3">
                  <a:extLst>
                    <a:ext uri="{FF2B5EF4-FFF2-40B4-BE49-F238E27FC236}">
                      <a16:creationId xmlns:a16="http://schemas.microsoft.com/office/drawing/2014/main" id="{5A219C78-CE93-4242-8ADA-5ACA576A4FEB}"/>
                    </a:ext>
                  </a:extLst>
                </p:cNvPr>
                <p:cNvSpPr/>
                <p:nvPr/>
              </p:nvSpPr>
              <p:spPr>
                <a:xfrm>
                  <a:off x="2959768" y="2097324"/>
                  <a:ext cx="6272463" cy="246221"/>
                </a:xfrm>
                <a:prstGeom prst="rect">
                  <a:avLst/>
                </a:prstGeom>
                <a:ln>
                  <a:solidFill>
                    <a:schemeClr val="bg1">
                      <a:lumMod val="50000"/>
                    </a:schemeClr>
                  </a:solidFill>
                </a:ln>
              </p:spPr>
              <p:txBody>
                <a:bodyPr wrap="square">
                  <a:spAutoFit/>
                </a:bodyPr>
                <a:lstStyle/>
                <a:p>
                  <a:r>
                    <a:rPr lang="en-US" altLang="ko-KR" sz="1000" b="1" dirty="0" err="1">
                      <a:solidFill>
                        <a:srgbClr val="FF0000"/>
                      </a:solidFill>
                    </a:rPr>
                    <a:t>node_modules</a:t>
                  </a:r>
                  <a:endParaRPr lang="ko-KR" altLang="en-US" sz="1000" b="1" dirty="0">
                    <a:solidFill>
                      <a:srgbClr val="FF0000"/>
                    </a:solidFill>
                  </a:endParaRPr>
                </a:p>
              </p:txBody>
            </p:sp>
            <p:sp>
              <p:nvSpPr>
                <p:cNvPr id="8" name="TextBox 7">
                  <a:extLst>
                    <a:ext uri="{FF2B5EF4-FFF2-40B4-BE49-F238E27FC236}">
                      <a16:creationId xmlns:a16="http://schemas.microsoft.com/office/drawing/2014/main" id="{A1EF8C40-16BF-4EA0-97FE-23B216881713}"/>
                    </a:ext>
                  </a:extLst>
                </p:cNvPr>
                <p:cNvSpPr txBox="1"/>
                <p:nvPr/>
              </p:nvSpPr>
              <p:spPr>
                <a:xfrm>
                  <a:off x="5582877" y="2343545"/>
                  <a:ext cx="1026243" cy="246221"/>
                </a:xfrm>
                <a:prstGeom prst="rect">
                  <a:avLst/>
                </a:prstGeom>
                <a:noFill/>
              </p:spPr>
              <p:txBody>
                <a:bodyPr wrap="none" rtlCol="0">
                  <a:spAutoFit/>
                </a:bodyPr>
                <a:lstStyle/>
                <a:p>
                  <a:pPr algn="ctr"/>
                  <a:r>
                    <a:rPr lang="en-US" altLang="ko-KR" sz="1000" b="1" dirty="0"/>
                    <a:t>.</a:t>
                  </a:r>
                  <a:r>
                    <a:rPr lang="en-US" altLang="ko-KR" sz="1000" b="1" dirty="0" err="1"/>
                    <a:t>dockerignore</a:t>
                  </a:r>
                  <a:endParaRPr lang="ko-KR" altLang="en-US" sz="1000" b="1" dirty="0"/>
                </a:p>
              </p:txBody>
            </p:sp>
          </p:grpSp>
          <p:grpSp>
            <p:nvGrpSpPr>
              <p:cNvPr id="12" name="그룹 11">
                <a:extLst>
                  <a:ext uri="{FF2B5EF4-FFF2-40B4-BE49-F238E27FC236}">
                    <a16:creationId xmlns:a16="http://schemas.microsoft.com/office/drawing/2014/main" id="{D1F9D053-058B-4552-8036-35CA40C33CC3}"/>
                  </a:ext>
                </a:extLst>
              </p:cNvPr>
              <p:cNvGrpSpPr/>
              <p:nvPr/>
            </p:nvGrpSpPr>
            <p:grpSpPr>
              <a:xfrm>
                <a:off x="3047998" y="2630244"/>
                <a:ext cx="6096000" cy="2031325"/>
                <a:chOff x="3047998" y="2630244"/>
                <a:chExt cx="6096000" cy="2031325"/>
              </a:xfrm>
            </p:grpSpPr>
            <p:sp>
              <p:nvSpPr>
                <p:cNvPr id="10" name="직사각형 9">
                  <a:extLst>
                    <a:ext uri="{FF2B5EF4-FFF2-40B4-BE49-F238E27FC236}">
                      <a16:creationId xmlns:a16="http://schemas.microsoft.com/office/drawing/2014/main" id="{7024E72C-481C-4126-87FF-BFD8CD576F1C}"/>
                    </a:ext>
                  </a:extLst>
                </p:cNvPr>
                <p:cNvSpPr/>
                <p:nvPr/>
              </p:nvSpPr>
              <p:spPr>
                <a:xfrm>
                  <a:off x="3047998" y="2630244"/>
                  <a:ext cx="6096000" cy="1785104"/>
                </a:xfrm>
                <a:prstGeom prst="rect">
                  <a:avLst/>
                </a:prstGeom>
                <a:ln>
                  <a:solidFill>
                    <a:schemeClr val="bg1">
                      <a:lumMod val="50000"/>
                    </a:schemeClr>
                  </a:solidFill>
                </a:ln>
              </p:spPr>
              <p:txBody>
                <a:bodyPr>
                  <a:spAutoFit/>
                </a:bodyPr>
                <a:lstStyle/>
                <a:p>
                  <a:r>
                    <a:rPr lang="en-US" altLang="ko-KR" sz="1000" b="1" dirty="0"/>
                    <a:t># Start from a Node.js 16.13.2 (LTS) image</a:t>
                  </a:r>
                </a:p>
                <a:p>
                  <a:r>
                    <a:rPr lang="en-US" altLang="ko-KR" sz="1000" b="1" dirty="0"/>
                    <a:t>FROM </a:t>
                  </a:r>
                  <a:r>
                    <a:rPr lang="en-US" altLang="ko-KR" sz="1000" b="1" dirty="0">
                      <a:solidFill>
                        <a:srgbClr val="FF0000"/>
                      </a:solidFill>
                    </a:rPr>
                    <a:t>node:16.13.2</a:t>
                  </a:r>
                </a:p>
                <a:p>
                  <a:r>
                    <a:rPr lang="en-US" altLang="ko-KR" sz="1000" b="1" dirty="0"/>
                    <a:t># Specify the directory inside the image in which all commands will run</a:t>
                  </a:r>
                </a:p>
                <a:p>
                  <a:r>
                    <a:rPr lang="en-US" altLang="ko-KR" sz="1000" b="1" dirty="0"/>
                    <a:t>WORKDIR </a:t>
                  </a:r>
                  <a:r>
                    <a:rPr lang="en-US" altLang="ko-KR" sz="1000" b="1" dirty="0">
                      <a:solidFill>
                        <a:srgbClr val="FF0000"/>
                      </a:solidFill>
                    </a:rPr>
                    <a:t>/</a:t>
                  </a:r>
                  <a:r>
                    <a:rPr lang="en-US" altLang="ko-KR" sz="1000" b="1" dirty="0" err="1">
                      <a:solidFill>
                        <a:srgbClr val="FF0000"/>
                      </a:solidFill>
                    </a:rPr>
                    <a:t>usr</a:t>
                  </a:r>
                  <a:r>
                    <a:rPr lang="en-US" altLang="ko-KR" sz="1000" b="1" dirty="0">
                      <a:solidFill>
                        <a:srgbClr val="FF0000"/>
                      </a:solidFill>
                    </a:rPr>
                    <a:t>/</a:t>
                  </a:r>
                  <a:r>
                    <a:rPr lang="en-US" altLang="ko-KR" sz="1000" b="1" dirty="0" err="1">
                      <a:solidFill>
                        <a:srgbClr val="FF0000"/>
                      </a:solidFill>
                    </a:rPr>
                    <a:t>src</a:t>
                  </a:r>
                  <a:r>
                    <a:rPr lang="en-US" altLang="ko-KR" sz="1000" b="1" dirty="0">
                      <a:solidFill>
                        <a:srgbClr val="FF0000"/>
                      </a:solidFill>
                    </a:rPr>
                    <a:t>/app</a:t>
                  </a:r>
                </a:p>
                <a:p>
                  <a:r>
                    <a:rPr lang="en-US" altLang="ko-KR" sz="1000" b="1" dirty="0"/>
                    <a:t># Copy package files and install dependencies</a:t>
                  </a:r>
                </a:p>
                <a:p>
                  <a:r>
                    <a:rPr lang="en-US" altLang="ko-KR" sz="1000" b="1" dirty="0"/>
                    <a:t>COPY </a:t>
                  </a:r>
                  <a:r>
                    <a:rPr lang="en-US" altLang="ko-KR" sz="1000" b="1" dirty="0">
                      <a:solidFill>
                        <a:srgbClr val="FF0000"/>
                      </a:solidFill>
                    </a:rPr>
                    <a:t>package*.json ./</a:t>
                  </a:r>
                </a:p>
                <a:p>
                  <a:r>
                    <a:rPr lang="en-US" altLang="ko-KR" sz="1000" b="1" dirty="0"/>
                    <a:t>RUN </a:t>
                  </a:r>
                  <a:r>
                    <a:rPr lang="en-US" altLang="ko-KR" sz="1000" b="1" dirty="0" err="1">
                      <a:solidFill>
                        <a:srgbClr val="FF0000"/>
                      </a:solidFill>
                    </a:rPr>
                    <a:t>npm</a:t>
                  </a:r>
                  <a:r>
                    <a:rPr lang="en-US" altLang="ko-KR" sz="1000" b="1" dirty="0">
                      <a:solidFill>
                        <a:srgbClr val="FF0000"/>
                      </a:solidFill>
                    </a:rPr>
                    <a:t> install</a:t>
                  </a:r>
                </a:p>
                <a:p>
                  <a:r>
                    <a:rPr lang="en-US" altLang="ko-KR" sz="1000" b="1" dirty="0"/>
                    <a:t># Copy all of the app files into the image</a:t>
                  </a:r>
                </a:p>
                <a:p>
                  <a:r>
                    <a:rPr lang="en-US" altLang="ko-KR" sz="1000" b="1" dirty="0"/>
                    <a:t>COPY </a:t>
                  </a:r>
                  <a:r>
                    <a:rPr lang="en-US" altLang="ko-KR" sz="1000" b="1" dirty="0">
                      <a:solidFill>
                        <a:srgbClr val="FF0000"/>
                      </a:solidFill>
                    </a:rPr>
                    <a:t>. .</a:t>
                  </a:r>
                </a:p>
                <a:p>
                  <a:r>
                    <a:rPr lang="en-US" altLang="ko-KR" sz="1000" b="1" dirty="0"/>
                    <a:t># The default command to run when starting the container</a:t>
                  </a:r>
                </a:p>
                <a:p>
                  <a:r>
                    <a:rPr lang="en-US" altLang="ko-KR" sz="1000" b="1" dirty="0"/>
                    <a:t>CMD </a:t>
                  </a:r>
                  <a:r>
                    <a:rPr lang="en-US" altLang="ko-KR" sz="1000" b="1" dirty="0">
                      <a:solidFill>
                        <a:srgbClr val="FF0000"/>
                      </a:solidFill>
                    </a:rPr>
                    <a:t>[ "</a:t>
                  </a:r>
                  <a:r>
                    <a:rPr lang="en-US" altLang="ko-KR" sz="1000" b="1" dirty="0" err="1">
                      <a:solidFill>
                        <a:srgbClr val="FF0000"/>
                      </a:solidFill>
                    </a:rPr>
                    <a:t>npm</a:t>
                  </a:r>
                  <a:r>
                    <a:rPr lang="en-US" altLang="ko-KR" sz="1000" b="1" dirty="0">
                      <a:solidFill>
                        <a:srgbClr val="FF0000"/>
                      </a:solidFill>
                    </a:rPr>
                    <a:t>", "start" ]</a:t>
                  </a:r>
                  <a:endParaRPr lang="ko-KR" altLang="en-US" sz="1000" b="1" dirty="0">
                    <a:solidFill>
                      <a:srgbClr val="FF0000"/>
                    </a:solidFill>
                  </a:endParaRPr>
                </a:p>
              </p:txBody>
            </p:sp>
            <p:sp>
              <p:nvSpPr>
                <p:cNvPr id="11" name="TextBox 10">
                  <a:extLst>
                    <a:ext uri="{FF2B5EF4-FFF2-40B4-BE49-F238E27FC236}">
                      <a16:creationId xmlns:a16="http://schemas.microsoft.com/office/drawing/2014/main" id="{FE4B090C-5FF7-47F0-8E40-69AF59A53E27}"/>
                    </a:ext>
                  </a:extLst>
                </p:cNvPr>
                <p:cNvSpPr txBox="1"/>
                <p:nvPr/>
              </p:nvSpPr>
              <p:spPr>
                <a:xfrm>
                  <a:off x="5694287" y="4415348"/>
                  <a:ext cx="803425" cy="246221"/>
                </a:xfrm>
                <a:prstGeom prst="rect">
                  <a:avLst/>
                </a:prstGeom>
                <a:noFill/>
              </p:spPr>
              <p:txBody>
                <a:bodyPr wrap="none" rtlCol="0">
                  <a:spAutoFit/>
                </a:bodyPr>
                <a:lstStyle/>
                <a:p>
                  <a:pPr algn="ctr"/>
                  <a:r>
                    <a:rPr lang="en-US" altLang="ko-KR" sz="1000" b="1" dirty="0" err="1"/>
                    <a:t>Dockerfile</a:t>
                  </a:r>
                  <a:endParaRPr lang="ko-KR" altLang="en-US" sz="1000" b="1" dirty="0"/>
                </a:p>
              </p:txBody>
            </p:sp>
          </p:grpSp>
        </p:grpSp>
        <p:sp>
          <p:nvSpPr>
            <p:cNvPr id="14" name="직사각형 13">
              <a:extLst>
                <a:ext uri="{FF2B5EF4-FFF2-40B4-BE49-F238E27FC236}">
                  <a16:creationId xmlns:a16="http://schemas.microsoft.com/office/drawing/2014/main" id="{27151D54-94F4-485E-9A5C-A6D36E0135BF}"/>
                </a:ext>
              </a:extLst>
            </p:cNvPr>
            <p:cNvSpPr/>
            <p:nvPr/>
          </p:nvSpPr>
          <p:spPr>
            <a:xfrm>
              <a:off x="1712490" y="4537184"/>
              <a:ext cx="8767010" cy="1477328"/>
            </a:xfrm>
            <a:prstGeom prst="rect">
              <a:avLst/>
            </a:prstGeom>
          </p:spPr>
          <p:txBody>
            <a:bodyPr wrap="square">
              <a:spAutoFit/>
            </a:bodyPr>
            <a:lstStyle/>
            <a:p>
              <a:pPr marL="228600" indent="-228600">
                <a:buFont typeface="+mj-lt"/>
                <a:buAutoNum type="arabicPeriod"/>
              </a:pPr>
              <a:r>
                <a:rPr lang="en-US" altLang="ko-KR" sz="1000" b="1" dirty="0"/>
                <a:t>Every </a:t>
              </a:r>
              <a:r>
                <a:rPr lang="en-US" altLang="ko-KR" sz="1000" b="1" dirty="0" err="1"/>
                <a:t>Dockerfile</a:t>
              </a:r>
              <a:r>
                <a:rPr lang="en-US" altLang="ko-KR" sz="1000" b="1" dirty="0"/>
                <a:t> builds on other container images. The “FROM” line specifies that we are starting from the node:16.13.2 image on the Docker Hub. This is a </a:t>
              </a:r>
              <a:r>
                <a:rPr lang="en-US" altLang="ko-KR" sz="1000" b="1" dirty="0">
                  <a:solidFill>
                    <a:srgbClr val="FF0000"/>
                  </a:solidFill>
                </a:rPr>
                <a:t>preconfigured image </a:t>
              </a:r>
              <a:r>
                <a:rPr lang="en-US" altLang="ko-KR" sz="1000" b="1" dirty="0"/>
                <a:t>with Node.js 16.13.2.</a:t>
              </a:r>
            </a:p>
            <a:p>
              <a:pPr marL="228600" indent="-228600">
                <a:buFont typeface="+mj-lt"/>
                <a:buAutoNum type="arabicPeriod"/>
              </a:pPr>
              <a:r>
                <a:rPr lang="en-US" altLang="ko-KR" sz="1000" b="1" dirty="0"/>
                <a:t>The “WORKDIR” line sets the </a:t>
              </a:r>
              <a:r>
                <a:rPr lang="en-US" altLang="ko-KR" sz="1000" b="1" dirty="0">
                  <a:solidFill>
                    <a:srgbClr val="FF0000"/>
                  </a:solidFill>
                </a:rPr>
                <a:t>work directory</a:t>
              </a:r>
              <a:r>
                <a:rPr lang="en-US" altLang="ko-KR" sz="1000" b="1" dirty="0"/>
                <a:t>, in the container image, for all following commands.</a:t>
              </a:r>
            </a:p>
            <a:p>
              <a:pPr marL="228600" indent="-228600">
                <a:buFont typeface="+mj-lt"/>
                <a:buAutoNum type="arabicPeriod"/>
              </a:pPr>
              <a:r>
                <a:rPr lang="en-US" altLang="ko-KR" sz="1000" b="1" dirty="0"/>
                <a:t>The “COPY” and “RUN” lines initialize the dependencies for Node.js. First we </a:t>
              </a:r>
              <a:r>
                <a:rPr lang="en-US" altLang="ko-KR" sz="1000" b="1" dirty="0">
                  <a:solidFill>
                    <a:srgbClr val="FF0000"/>
                  </a:solidFill>
                </a:rPr>
                <a:t>copy the package files into the image</a:t>
              </a:r>
              <a:r>
                <a:rPr lang="en-US" altLang="ko-KR" sz="1000" b="1" dirty="0"/>
                <a:t>. This will include </a:t>
              </a:r>
              <a:r>
                <a:rPr lang="en-US" altLang="ko-KR" sz="1000" b="1" dirty="0" err="1">
                  <a:solidFill>
                    <a:srgbClr val="FF0000"/>
                  </a:solidFill>
                </a:rPr>
                <a:t>package.json</a:t>
              </a:r>
              <a:r>
                <a:rPr lang="en-US" altLang="ko-KR" sz="1000" b="1" dirty="0"/>
                <a:t> and </a:t>
              </a:r>
              <a:r>
                <a:rPr lang="en-US" altLang="ko-KR" sz="1000" b="1" dirty="0">
                  <a:solidFill>
                    <a:srgbClr val="FF0000"/>
                  </a:solidFill>
                </a:rPr>
                <a:t>package-</a:t>
              </a:r>
              <a:r>
                <a:rPr lang="en-US" altLang="ko-KR" sz="1000" b="1" dirty="0" err="1">
                  <a:solidFill>
                    <a:srgbClr val="FF0000"/>
                  </a:solidFill>
                </a:rPr>
                <a:t>lock.json</a:t>
              </a:r>
              <a:r>
                <a:rPr lang="en-US" altLang="ko-KR" sz="1000" b="1" dirty="0"/>
                <a:t>. The RUN command then </a:t>
              </a:r>
              <a:r>
                <a:rPr lang="en-US" altLang="ko-KR" sz="1000" b="1" dirty="0">
                  <a:solidFill>
                    <a:srgbClr val="FF0000"/>
                  </a:solidFill>
                </a:rPr>
                <a:t>runs the correct command in the container </a:t>
              </a:r>
              <a:r>
                <a:rPr lang="en-US" altLang="ko-KR" sz="1000" b="1" dirty="0"/>
                <a:t>to install the necessary dependencies.</a:t>
              </a:r>
            </a:p>
            <a:p>
              <a:pPr marL="228600" indent="-228600">
                <a:buFont typeface="+mj-lt"/>
                <a:buAutoNum type="arabicPeriod"/>
              </a:pPr>
              <a:r>
                <a:rPr lang="en-US" altLang="ko-KR" sz="1000" b="1" dirty="0"/>
                <a:t>In the second “COPY” line, now </a:t>
              </a:r>
              <a:r>
                <a:rPr lang="en-US" altLang="ko-KR" sz="1000" b="1" dirty="0">
                  <a:solidFill>
                    <a:srgbClr val="FF0000"/>
                  </a:solidFill>
                </a:rPr>
                <a:t>we copy the rest of the program files into the image</a:t>
              </a:r>
              <a:r>
                <a:rPr lang="en-US" altLang="ko-KR" sz="1000" b="1" dirty="0"/>
                <a:t>. This will include everything except </a:t>
              </a:r>
              <a:r>
                <a:rPr lang="en-US" altLang="ko-KR" sz="1000" b="1" dirty="0" err="1"/>
                <a:t>node_modules</a:t>
              </a:r>
              <a:r>
                <a:rPr lang="en-US" altLang="ko-KR" sz="1000" b="1" dirty="0"/>
                <a:t>, as that is excluded via the .</a:t>
              </a:r>
              <a:r>
                <a:rPr lang="en-US" altLang="ko-KR" sz="1000" b="1" dirty="0" err="1"/>
                <a:t>dockerignore</a:t>
              </a:r>
              <a:r>
                <a:rPr lang="en-US" altLang="ko-KR" sz="1000" b="1" dirty="0"/>
                <a:t> file. </a:t>
              </a:r>
            </a:p>
            <a:p>
              <a:pPr marL="228600" indent="-228600">
                <a:buFont typeface="+mj-lt"/>
                <a:buAutoNum type="arabicPeriod"/>
              </a:pPr>
              <a:r>
                <a:rPr lang="en-US" altLang="ko-KR" sz="1000" b="1" dirty="0"/>
                <a:t>Finally, we specify </a:t>
              </a:r>
              <a:r>
                <a:rPr lang="en-US" altLang="ko-KR" sz="1000" b="1" dirty="0">
                  <a:solidFill>
                    <a:srgbClr val="FF0000"/>
                  </a:solidFill>
                </a:rPr>
                <a:t>the command that should be run when the container is run</a:t>
              </a:r>
              <a:r>
                <a:rPr lang="en-US" altLang="ko-KR" sz="1000" b="1" dirty="0"/>
                <a:t>.</a:t>
              </a:r>
              <a:endParaRPr lang="ko-KR" altLang="en-US" sz="1000" b="1" dirty="0"/>
            </a:p>
          </p:txBody>
        </p:sp>
      </p:grpSp>
    </p:spTree>
    <p:extLst>
      <p:ext uri="{BB962C8B-B14F-4D97-AF65-F5344CB8AC3E}">
        <p14:creationId xmlns:p14="http://schemas.microsoft.com/office/powerpoint/2010/main" val="3682895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dirty="0"/>
              <a:t>Run the following command to </a:t>
            </a:r>
            <a:r>
              <a:rPr lang="en-US" altLang="ko-KR" sz="1400" b="1" dirty="0"/>
              <a:t>create the “simple-node” Docker image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459EAF5C-BFD1-4B10-B475-733F01D56CAB}"/>
              </a:ext>
            </a:extLst>
          </p:cNvPr>
          <p:cNvGrpSpPr/>
          <p:nvPr/>
        </p:nvGrpSpPr>
        <p:grpSpPr>
          <a:xfrm>
            <a:off x="749824" y="1463048"/>
            <a:ext cx="10692351" cy="4846618"/>
            <a:chOff x="749822" y="1519807"/>
            <a:chExt cx="10692351" cy="4846618"/>
          </a:xfrm>
        </p:grpSpPr>
        <p:sp>
          <p:nvSpPr>
            <p:cNvPr id="4" name="직사각형 3">
              <a:extLst>
                <a:ext uri="{FF2B5EF4-FFF2-40B4-BE49-F238E27FC236}">
                  <a16:creationId xmlns:a16="http://schemas.microsoft.com/office/drawing/2014/main" id="{02064592-C87F-4538-88E9-295EFE2D1BA8}"/>
                </a:ext>
              </a:extLst>
            </p:cNvPr>
            <p:cNvSpPr/>
            <p:nvPr/>
          </p:nvSpPr>
          <p:spPr>
            <a:xfrm>
              <a:off x="4597033" y="1519807"/>
              <a:ext cx="2997937" cy="246221"/>
            </a:xfrm>
            <a:prstGeom prst="rect">
              <a:avLst/>
            </a:prstGeom>
            <a:ln>
              <a:solidFill>
                <a:schemeClr val="bg1">
                  <a:lumMod val="50000"/>
                </a:schemeClr>
              </a:solidFill>
            </a:ln>
          </p:spPr>
          <p:txBody>
            <a:bodyPr wrap="none">
              <a:spAutoFit/>
            </a:bodyPr>
            <a:lstStyle/>
            <a:p>
              <a:pPr algn="ctr"/>
              <a:r>
                <a:rPr lang="en-US" altLang="ko-KR" sz="1000" b="1" dirty="0"/>
                <a:t>docker build -t simple-node </a:t>
              </a:r>
              <a:r>
                <a:rPr lang="en-US" altLang="ko-KR" sz="1000" b="1" dirty="0">
                  <a:solidFill>
                    <a:srgbClr val="FF0000"/>
                  </a:solidFill>
                </a:rPr>
                <a:t>--network=host .</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2357D96-A089-48C9-BEF7-360FEADE2038}"/>
                </a:ext>
              </a:extLst>
            </p:cNvPr>
            <p:cNvSpPr/>
            <p:nvPr/>
          </p:nvSpPr>
          <p:spPr>
            <a:xfrm>
              <a:off x="5895472" y="1777871"/>
              <a:ext cx="401053" cy="28875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 name="그룹 11">
              <a:extLst>
                <a:ext uri="{FF2B5EF4-FFF2-40B4-BE49-F238E27FC236}">
                  <a16:creationId xmlns:a16="http://schemas.microsoft.com/office/drawing/2014/main" id="{0DB7048E-A55A-46BE-AC9D-6DA6C4A3BD2B}"/>
                </a:ext>
              </a:extLst>
            </p:cNvPr>
            <p:cNvGrpSpPr/>
            <p:nvPr/>
          </p:nvGrpSpPr>
          <p:grpSpPr>
            <a:xfrm>
              <a:off x="749822" y="2087587"/>
              <a:ext cx="10692351" cy="4278838"/>
              <a:chOff x="749822" y="2087587"/>
              <a:chExt cx="10692351" cy="4278838"/>
            </a:xfrm>
          </p:grpSpPr>
          <p:pic>
            <p:nvPicPr>
              <p:cNvPr id="10" name="그림 9">
                <a:extLst>
                  <a:ext uri="{FF2B5EF4-FFF2-40B4-BE49-F238E27FC236}">
                    <a16:creationId xmlns:a16="http://schemas.microsoft.com/office/drawing/2014/main" id="{4EBFF38A-8800-4912-A5F8-DC7B114F2C4C}"/>
                  </a:ext>
                </a:extLst>
              </p:cNvPr>
              <p:cNvPicPr>
                <a:picLocks noChangeAspect="1"/>
              </p:cNvPicPr>
              <p:nvPr/>
            </p:nvPicPr>
            <p:blipFill>
              <a:blip r:embed="rId2"/>
              <a:stretch>
                <a:fillRect/>
              </a:stretch>
            </p:blipFill>
            <p:spPr>
              <a:xfrm>
                <a:off x="1624261" y="2087587"/>
                <a:ext cx="8943474" cy="4042692"/>
              </a:xfrm>
              <a:prstGeom prst="rect">
                <a:avLst/>
              </a:prstGeom>
              <a:ln>
                <a:solidFill>
                  <a:schemeClr val="bg1">
                    <a:lumMod val="50000"/>
                  </a:schemeClr>
                </a:solidFill>
              </a:ln>
            </p:spPr>
          </p:pic>
          <p:sp>
            <p:nvSpPr>
              <p:cNvPr id="11" name="TextBox 10">
                <a:extLst>
                  <a:ext uri="{FF2B5EF4-FFF2-40B4-BE49-F238E27FC236}">
                    <a16:creationId xmlns:a16="http://schemas.microsoft.com/office/drawing/2014/main" id="{CF6A00C3-753D-46AB-BC0B-2C616564714A}"/>
                  </a:ext>
                </a:extLst>
              </p:cNvPr>
              <p:cNvSpPr txBox="1"/>
              <p:nvPr/>
            </p:nvSpPr>
            <p:spPr>
              <a:xfrm>
                <a:off x="749822" y="6120204"/>
                <a:ext cx="10692351" cy="246221"/>
              </a:xfrm>
              <a:prstGeom prst="rect">
                <a:avLst/>
              </a:prstGeom>
              <a:noFill/>
            </p:spPr>
            <p:txBody>
              <a:bodyPr wrap="none" rtlCol="0">
                <a:spAutoFit/>
              </a:bodyPr>
              <a:lstStyle/>
              <a:p>
                <a:pPr algn="ctr"/>
                <a:r>
                  <a:rPr lang="en-US" altLang="ko-KR" sz="1000" b="1" dirty="0"/>
                  <a:t>NOTICE!!! You need to specify “network setting” with “</a:t>
                </a:r>
                <a:r>
                  <a:rPr lang="en-US" altLang="ko-KR" sz="1000" b="1" dirty="0">
                    <a:solidFill>
                      <a:srgbClr val="FF0000"/>
                    </a:solidFill>
                  </a:rPr>
                  <a:t>--network=host</a:t>
                </a:r>
                <a:r>
                  <a:rPr lang="en-US" altLang="ko-KR" sz="1000" b="1" dirty="0"/>
                  <a:t>” to build Docker image. It means “</a:t>
                </a:r>
                <a:r>
                  <a:rPr lang="en-US" altLang="ko-KR" sz="1000" b="1" dirty="0">
                    <a:solidFill>
                      <a:srgbClr val="FF0000"/>
                    </a:solidFill>
                  </a:rPr>
                  <a:t>Set the networking mode </a:t>
                </a:r>
                <a:r>
                  <a:rPr lang="en-US" altLang="ko-KR" sz="1000" b="1" dirty="0"/>
                  <a:t>for the </a:t>
                </a:r>
                <a:r>
                  <a:rPr lang="en-US" altLang="ko-KR" sz="1000" b="1" dirty="0">
                    <a:solidFill>
                      <a:srgbClr val="FF0000"/>
                    </a:solidFill>
                  </a:rPr>
                  <a:t>RUN instructions </a:t>
                </a:r>
                <a:r>
                  <a:rPr lang="en-US" altLang="ko-KR" sz="1000" b="1" dirty="0"/>
                  <a:t>during build”.</a:t>
                </a:r>
                <a:endParaRPr lang="ko-KR" altLang="en-US" sz="1000" b="1" dirty="0"/>
              </a:p>
            </p:txBody>
          </p:sp>
        </p:grpSp>
      </p:grpSp>
      <p:sp>
        <p:nvSpPr>
          <p:cNvPr id="14" name="TextBox 13">
            <a:extLst>
              <a:ext uri="{FF2B5EF4-FFF2-40B4-BE49-F238E27FC236}">
                <a16:creationId xmlns:a16="http://schemas.microsoft.com/office/drawing/2014/main" id="{4F8BCC18-A543-454B-B9A6-169B3AB3158F}"/>
              </a:ext>
            </a:extLst>
          </p:cNvPr>
          <p:cNvSpPr txBox="1"/>
          <p:nvPr/>
        </p:nvSpPr>
        <p:spPr>
          <a:xfrm>
            <a:off x="7753739" y="1463048"/>
            <a:ext cx="3600061" cy="400110"/>
          </a:xfrm>
          <a:prstGeom prst="rect">
            <a:avLst/>
          </a:prstGeom>
          <a:noFill/>
        </p:spPr>
        <p:txBody>
          <a:bodyPr wrap="square" rtlCol="0">
            <a:spAutoFit/>
          </a:bodyPr>
          <a:lstStyle/>
          <a:p>
            <a:r>
              <a:rPr lang="en-US" altLang="ko-KR" sz="1000" b="1" dirty="0"/>
              <a:t>In VMware Workstation Pro, you need to add “--network” flag. In VirtualBox, just skip it. </a:t>
            </a:r>
            <a:endParaRPr lang="ko-KR" altLang="en-US" sz="1000" b="1" dirty="0"/>
          </a:p>
        </p:txBody>
      </p:sp>
    </p:spTree>
    <p:extLst>
      <p:ext uri="{BB962C8B-B14F-4D97-AF65-F5344CB8AC3E}">
        <p14:creationId xmlns:p14="http://schemas.microsoft.com/office/powerpoint/2010/main" val="4269336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dirty="0"/>
              <a:t>When you want to run this image, you can do it with the following command. You can navigate to “</a:t>
            </a:r>
            <a:r>
              <a:rPr lang="en-US" altLang="ko-KR" sz="1400" b="1" dirty="0"/>
              <a:t>http://localhost:3000</a:t>
            </a:r>
            <a:r>
              <a:rPr lang="en-US" altLang="ko-KR" sz="1400" dirty="0"/>
              <a:t>” to access the program running in the container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2C497B17-099A-4C2C-B6CE-F8241439576C}"/>
              </a:ext>
            </a:extLst>
          </p:cNvPr>
          <p:cNvGrpSpPr/>
          <p:nvPr/>
        </p:nvGrpSpPr>
        <p:grpSpPr>
          <a:xfrm>
            <a:off x="1500185" y="1680229"/>
            <a:ext cx="9853610" cy="4729612"/>
            <a:chOff x="1500185" y="1680229"/>
            <a:chExt cx="9853610" cy="4729612"/>
          </a:xfrm>
        </p:grpSpPr>
        <p:grpSp>
          <p:nvGrpSpPr>
            <p:cNvPr id="13" name="그룹 12">
              <a:extLst>
                <a:ext uri="{FF2B5EF4-FFF2-40B4-BE49-F238E27FC236}">
                  <a16:creationId xmlns:a16="http://schemas.microsoft.com/office/drawing/2014/main" id="{B6A709E9-31EF-4FA4-9CF3-C08BCD81E5E3}"/>
                </a:ext>
              </a:extLst>
            </p:cNvPr>
            <p:cNvGrpSpPr/>
            <p:nvPr/>
          </p:nvGrpSpPr>
          <p:grpSpPr>
            <a:xfrm>
              <a:off x="1500185" y="1680229"/>
              <a:ext cx="9853610" cy="4728801"/>
              <a:chOff x="1500185" y="1680229"/>
              <a:chExt cx="9853610" cy="4728801"/>
            </a:xfrm>
          </p:grpSpPr>
          <p:sp>
            <p:nvSpPr>
              <p:cNvPr id="4" name="직사각형 3">
                <a:extLst>
                  <a:ext uri="{FF2B5EF4-FFF2-40B4-BE49-F238E27FC236}">
                    <a16:creationId xmlns:a16="http://schemas.microsoft.com/office/drawing/2014/main" id="{56633C39-0F23-48FA-98E4-E02275515576}"/>
                  </a:ext>
                </a:extLst>
              </p:cNvPr>
              <p:cNvSpPr/>
              <p:nvPr/>
            </p:nvSpPr>
            <p:spPr>
              <a:xfrm>
                <a:off x="4685197" y="1680229"/>
                <a:ext cx="2821606" cy="246221"/>
              </a:xfrm>
              <a:prstGeom prst="rect">
                <a:avLst/>
              </a:prstGeom>
              <a:ln>
                <a:solidFill>
                  <a:schemeClr val="bg1">
                    <a:lumMod val="50000"/>
                  </a:schemeClr>
                </a:solidFill>
              </a:ln>
            </p:spPr>
            <p:txBody>
              <a:bodyPr wrap="none">
                <a:spAutoFit/>
              </a:bodyPr>
              <a:lstStyle/>
              <a:p>
                <a:pPr algn="ctr"/>
                <a:r>
                  <a:rPr lang="en-US" altLang="ko-KR" sz="1000" b="1" dirty="0"/>
                  <a:t>docker run --rm -</a:t>
                </a:r>
                <a:r>
                  <a:rPr lang="en-US" altLang="ko-KR" sz="1000" b="1" dirty="0">
                    <a:solidFill>
                      <a:srgbClr val="FF0000"/>
                    </a:solidFill>
                  </a:rPr>
                  <a:t>p 3000:3000 simple-node</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B9084E61-6CDA-4721-AFED-2F5031664BA3}"/>
                  </a:ext>
                </a:extLst>
              </p:cNvPr>
              <p:cNvPicPr>
                <a:picLocks noChangeAspect="1"/>
              </p:cNvPicPr>
              <p:nvPr/>
            </p:nvPicPr>
            <p:blipFill>
              <a:blip r:embed="rId2"/>
              <a:stretch>
                <a:fillRect/>
              </a:stretch>
            </p:blipFill>
            <p:spPr>
              <a:xfrm>
                <a:off x="1500185" y="2236641"/>
                <a:ext cx="9191625" cy="26574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C88BF988-B218-4CC3-9568-EEC4B780CC11}"/>
                  </a:ext>
                </a:extLst>
              </p:cNvPr>
              <p:cNvSpPr/>
              <p:nvPr/>
            </p:nvSpPr>
            <p:spPr>
              <a:xfrm>
                <a:off x="5879430" y="1958435"/>
                <a:ext cx="43313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 name="그룹 11">
                <a:extLst>
                  <a:ext uri="{FF2B5EF4-FFF2-40B4-BE49-F238E27FC236}">
                    <a16:creationId xmlns:a16="http://schemas.microsoft.com/office/drawing/2014/main" id="{DCB2EBC7-73E8-4452-A67D-330789A32EAA}"/>
                  </a:ext>
                </a:extLst>
              </p:cNvPr>
              <p:cNvGrpSpPr/>
              <p:nvPr/>
            </p:nvGrpSpPr>
            <p:grpSpPr>
              <a:xfrm>
                <a:off x="3874164" y="4079184"/>
                <a:ext cx="7479631" cy="2329846"/>
                <a:chOff x="3874164" y="3800433"/>
                <a:chExt cx="7479631" cy="2329846"/>
              </a:xfrm>
            </p:grpSpPr>
            <p:pic>
              <p:nvPicPr>
                <p:cNvPr id="10" name="그림 9">
                  <a:extLst>
                    <a:ext uri="{FF2B5EF4-FFF2-40B4-BE49-F238E27FC236}">
                      <a16:creationId xmlns:a16="http://schemas.microsoft.com/office/drawing/2014/main" id="{EC1FBD49-F590-4D95-BBEA-94678F6A4819}"/>
                    </a:ext>
                  </a:extLst>
                </p:cNvPr>
                <p:cNvPicPr>
                  <a:picLocks noChangeAspect="1"/>
                </p:cNvPicPr>
                <p:nvPr/>
              </p:nvPicPr>
              <p:blipFill>
                <a:blip r:embed="rId3"/>
                <a:stretch>
                  <a:fillRect/>
                </a:stretch>
              </p:blipFill>
              <p:spPr>
                <a:xfrm>
                  <a:off x="4219074" y="3800433"/>
                  <a:ext cx="7134721" cy="2329846"/>
                </a:xfrm>
                <a:prstGeom prst="rect">
                  <a:avLst/>
                </a:prstGeom>
                <a:ln>
                  <a:solidFill>
                    <a:schemeClr val="bg1">
                      <a:lumMod val="50000"/>
                    </a:schemeClr>
                  </a:solidFill>
                </a:ln>
              </p:spPr>
            </p:pic>
            <p:sp>
              <p:nvSpPr>
                <p:cNvPr id="11" name="화살표: 오른쪽 10">
                  <a:extLst>
                    <a:ext uri="{FF2B5EF4-FFF2-40B4-BE49-F238E27FC236}">
                      <a16:creationId xmlns:a16="http://schemas.microsoft.com/office/drawing/2014/main" id="{A37D766B-575F-4131-B0D8-9EC4D44E0158}"/>
                    </a:ext>
                  </a:extLst>
                </p:cNvPr>
                <p:cNvSpPr/>
                <p:nvPr/>
              </p:nvSpPr>
              <p:spPr>
                <a:xfrm>
                  <a:off x="3874164" y="4769477"/>
                  <a:ext cx="344905" cy="391758"/>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4" name="TextBox 13">
              <a:extLst>
                <a:ext uri="{FF2B5EF4-FFF2-40B4-BE49-F238E27FC236}">
                  <a16:creationId xmlns:a16="http://schemas.microsoft.com/office/drawing/2014/main" id="{59E3642C-8334-4496-9243-E3BF6603BED6}"/>
                </a:ext>
              </a:extLst>
            </p:cNvPr>
            <p:cNvSpPr txBox="1"/>
            <p:nvPr/>
          </p:nvSpPr>
          <p:spPr>
            <a:xfrm>
              <a:off x="1500185" y="5855843"/>
              <a:ext cx="2718884" cy="553998"/>
            </a:xfrm>
            <a:prstGeom prst="rect">
              <a:avLst/>
            </a:prstGeom>
            <a:noFill/>
          </p:spPr>
          <p:txBody>
            <a:bodyPr wrap="square" rtlCol="0">
              <a:spAutoFit/>
            </a:bodyPr>
            <a:lstStyle/>
            <a:p>
              <a:r>
                <a:rPr lang="en-US" altLang="ko-KR" sz="1000" b="1" dirty="0"/>
                <a:t>NOTE : If you want to stop “simple-node”, “</a:t>
              </a:r>
              <a:r>
                <a:rPr lang="en-US" altLang="ko-KR" sz="1000" b="1" dirty="0">
                  <a:solidFill>
                    <a:srgbClr val="FF0000"/>
                  </a:solidFill>
                </a:rPr>
                <a:t>docker container rm &lt;Container ID&gt; -f</a:t>
              </a:r>
              <a:r>
                <a:rPr lang="en-US" altLang="ko-KR" sz="1000" b="1" dirty="0"/>
                <a:t>” command.</a:t>
              </a:r>
              <a:endParaRPr lang="ko-KR" altLang="en-US" sz="1000" b="1" dirty="0"/>
            </a:p>
          </p:txBody>
        </p:sp>
      </p:grpSp>
      <p:sp>
        <p:nvSpPr>
          <p:cNvPr id="16" name="TextBox 15">
            <a:extLst>
              <a:ext uri="{FF2B5EF4-FFF2-40B4-BE49-F238E27FC236}">
                <a16:creationId xmlns:a16="http://schemas.microsoft.com/office/drawing/2014/main" id="{08650697-9440-42CD-A50D-4719ABC637D8}"/>
              </a:ext>
            </a:extLst>
          </p:cNvPr>
          <p:cNvSpPr txBox="1"/>
          <p:nvPr/>
        </p:nvSpPr>
        <p:spPr>
          <a:xfrm>
            <a:off x="7506803" y="1681436"/>
            <a:ext cx="2597186" cy="400110"/>
          </a:xfrm>
          <a:prstGeom prst="rect">
            <a:avLst/>
          </a:prstGeom>
          <a:noFill/>
        </p:spPr>
        <p:txBody>
          <a:bodyPr wrap="none" rtlCol="0">
            <a:spAutoFit/>
          </a:bodyPr>
          <a:lstStyle/>
          <a:p>
            <a:pPr marL="171450" indent="-171450">
              <a:buFont typeface="Arial" panose="020B0604020202020204" pitchFamily="34" charset="0"/>
              <a:buChar char="•"/>
            </a:pPr>
            <a:r>
              <a:rPr lang="en-US" altLang="ko-KR" sz="1000" b="1" dirty="0"/>
              <a:t>--rm : clear resources after exit.</a:t>
            </a:r>
          </a:p>
          <a:p>
            <a:pPr marL="171450" indent="-171450">
              <a:buFont typeface="Arial" panose="020B0604020202020204" pitchFamily="34" charset="0"/>
              <a:buChar char="•"/>
            </a:pPr>
            <a:r>
              <a:rPr lang="en-US" altLang="ko-KR" sz="1000" b="1" dirty="0"/>
              <a:t>-p : map host port to container port</a:t>
            </a:r>
            <a:endParaRPr lang="ko-KR" altLang="en-US" sz="1000" b="1" dirty="0"/>
          </a:p>
        </p:txBody>
      </p:sp>
    </p:spTree>
    <p:extLst>
      <p:ext uri="{BB962C8B-B14F-4D97-AF65-F5344CB8AC3E}">
        <p14:creationId xmlns:p14="http://schemas.microsoft.com/office/powerpoint/2010/main" val="30891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a:t>
            </a:r>
            <a:r>
              <a:rPr lang="ko-KR" altLang="en-US" sz="2800" b="1" dirty="0"/>
              <a:t> </a:t>
            </a:r>
            <a:r>
              <a:rPr lang="en-US" altLang="ko-KR" sz="2800" b="1" dirty="0"/>
              <a:t>: Removing NPM Notice Message in Container</a:t>
            </a:r>
            <a:r>
              <a:rPr lang="ko-KR" altLang="en-US" sz="2800" b="1" dirty="0"/>
              <a:t> </a:t>
            </a:r>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 New NPM in the Container Image :</a:t>
            </a:r>
          </a:p>
          <a:p>
            <a:pPr lvl="1">
              <a:buFont typeface="Wingdings" panose="05000000000000000000" pitchFamily="2" charset="2"/>
              <a:buChar char="§"/>
            </a:pPr>
            <a:r>
              <a:rPr lang="en-US" altLang="ko-KR" sz="1400" dirty="0"/>
              <a:t>Use the following “</a:t>
            </a:r>
            <a:r>
              <a:rPr lang="en-US" altLang="ko-KR" sz="1400" b="1" dirty="0" err="1"/>
              <a:t>Dockerfile</a:t>
            </a:r>
            <a:r>
              <a:rPr lang="en-US" altLang="ko-KR" sz="1400" dirty="0"/>
              <a:t>” for removing “</a:t>
            </a:r>
            <a:r>
              <a:rPr lang="en-US" altLang="ko-KR" sz="1400" b="1" dirty="0" err="1">
                <a:solidFill>
                  <a:srgbClr val="FF0000"/>
                </a:solidFill>
              </a:rPr>
              <a:t>npm</a:t>
            </a:r>
            <a:r>
              <a:rPr lang="en-US" altLang="ko-KR" sz="1400" b="1" dirty="0">
                <a:solidFill>
                  <a:srgbClr val="FF0000"/>
                </a:solidFill>
              </a:rPr>
              <a:t> notice</a:t>
            </a:r>
            <a:r>
              <a:rPr lang="en-US" altLang="ko-KR" sz="1400" dirty="0"/>
              <a:t>” message. </a:t>
            </a:r>
            <a:r>
              <a:rPr lang="en-US" altLang="ko-KR" sz="1400" b="1" dirty="0"/>
              <a:t>The latest version of NPM (2022.01.28) is “8.4.0”</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t>
            </a:r>
            <a:r>
              <a:rPr lang="en-US" altLang="ko-KR" sz="1400" b="1" dirty="0"/>
              <a:t>RUN </a:t>
            </a:r>
            <a:r>
              <a:rPr lang="en-US" altLang="ko-KR" sz="1400" b="1" dirty="0" err="1"/>
              <a:t>npm</a:t>
            </a:r>
            <a:r>
              <a:rPr lang="en-US" altLang="ko-KR" sz="1400" b="1" dirty="0"/>
              <a:t> install –g npm@8.4.0</a:t>
            </a:r>
            <a:r>
              <a:rPr lang="en-US" altLang="ko-KR" sz="1400" dirty="0"/>
              <a:t>” will install the new version of </a:t>
            </a:r>
            <a:r>
              <a:rPr lang="en-US" altLang="ko-KR" sz="1400" b="1" dirty="0" err="1"/>
              <a:t>npm</a:t>
            </a:r>
            <a:r>
              <a:rPr lang="en-US" altLang="ko-KR" sz="1400" dirty="0"/>
              <a:t> </a:t>
            </a:r>
            <a:r>
              <a:rPr lang="en-US" altLang="ko-KR" sz="1400" b="1" dirty="0"/>
              <a:t>in the container image</a:t>
            </a:r>
            <a:r>
              <a:rPr lang="en-US" altLang="ko-KR" sz="1400" dirty="0"/>
              <a:t>. When</a:t>
            </a:r>
            <a:r>
              <a:rPr lang="ko-KR" altLang="en-US" sz="1400" dirty="0"/>
              <a:t> </a:t>
            </a:r>
            <a:r>
              <a:rPr lang="en-US" altLang="ko-KR" sz="1400" dirty="0"/>
              <a:t>you</a:t>
            </a:r>
            <a:r>
              <a:rPr lang="ko-KR" altLang="en-US" sz="1400" dirty="0"/>
              <a:t> </a:t>
            </a:r>
            <a:r>
              <a:rPr lang="en-US" altLang="ko-KR" sz="1400" dirty="0"/>
              <a:t>run</a:t>
            </a:r>
            <a:r>
              <a:rPr lang="ko-KR" altLang="en-US" sz="1400" dirty="0"/>
              <a:t> </a:t>
            </a:r>
            <a:r>
              <a:rPr lang="en-US" altLang="ko-KR" sz="1400" dirty="0"/>
              <a:t>“</a:t>
            </a:r>
            <a:r>
              <a:rPr lang="en-US" altLang="ko-KR" sz="1400" b="1" dirty="0" err="1"/>
              <a:t>npm</a:t>
            </a:r>
            <a:r>
              <a:rPr lang="en-US" altLang="ko-KR" sz="1400" dirty="0"/>
              <a:t>”</a:t>
            </a:r>
            <a:r>
              <a:rPr lang="ko-KR" altLang="en-US" sz="1400" dirty="0"/>
              <a:t> </a:t>
            </a:r>
            <a:r>
              <a:rPr lang="en-US" altLang="ko-KR" sz="1400" dirty="0"/>
              <a:t>next,</a:t>
            </a:r>
            <a:r>
              <a:rPr lang="ko-KR" altLang="en-US" sz="1400" dirty="0"/>
              <a:t> </a:t>
            </a:r>
            <a:r>
              <a:rPr lang="en-US" altLang="ko-KR" sz="1400" dirty="0"/>
              <a:t>you</a:t>
            </a:r>
            <a:r>
              <a:rPr lang="ko-KR" altLang="en-US" sz="1400" dirty="0"/>
              <a:t> </a:t>
            </a:r>
            <a:r>
              <a:rPr lang="en-US" altLang="ko-KR" sz="1400" dirty="0"/>
              <a:t>will</a:t>
            </a:r>
            <a:r>
              <a:rPr lang="ko-KR" altLang="en-US" sz="1400" dirty="0"/>
              <a:t> </a:t>
            </a:r>
            <a:r>
              <a:rPr lang="en-US" altLang="ko-KR" sz="1400" dirty="0"/>
              <a:t>not</a:t>
            </a:r>
            <a:r>
              <a:rPr lang="ko-KR" altLang="en-US" sz="1400" dirty="0"/>
              <a:t> </a:t>
            </a:r>
            <a:r>
              <a:rPr lang="en-US" altLang="ko-KR" sz="1400" dirty="0"/>
              <a:t>see</a:t>
            </a:r>
            <a:r>
              <a:rPr lang="ko-KR" altLang="en-US" sz="1400" dirty="0"/>
              <a:t> </a:t>
            </a:r>
            <a:r>
              <a:rPr lang="en-US" altLang="ko-KR" sz="1400" dirty="0"/>
              <a:t>the</a:t>
            </a:r>
            <a:r>
              <a:rPr lang="ko-KR" altLang="en-US" sz="1400" dirty="0"/>
              <a:t> </a:t>
            </a:r>
            <a:r>
              <a:rPr lang="en-US" altLang="ko-KR" sz="1400" dirty="0"/>
              <a:t>“</a:t>
            </a:r>
            <a:r>
              <a:rPr lang="en-US" altLang="ko-KR" sz="1400" b="1" dirty="0"/>
              <a:t>notice message</a:t>
            </a:r>
            <a:r>
              <a:rPr lang="en-US" altLang="ko-KR" sz="1400" dirty="0"/>
              <a:t>”. </a:t>
            </a:r>
          </a:p>
          <a:p>
            <a:pPr lvl="1">
              <a:buFont typeface="Wingdings" panose="05000000000000000000" pitchFamily="2" charset="2"/>
              <a:buChar char="§"/>
            </a:pPr>
            <a:r>
              <a:rPr lang="en-US" altLang="ko-KR" sz="1400" b="1" dirty="0"/>
              <a:t>NOTE : The “</a:t>
            </a:r>
            <a:r>
              <a:rPr lang="en-US" altLang="ko-KR" sz="1400" b="1" dirty="0" err="1"/>
              <a:t>npm</a:t>
            </a:r>
            <a:r>
              <a:rPr lang="en-US" altLang="ko-KR" sz="1400" b="1" dirty="0"/>
              <a:t>(Node Package Manager)” is now can be replace by “</a:t>
            </a:r>
            <a:r>
              <a:rPr lang="en-US" altLang="ko-KR" sz="1400" b="1" dirty="0">
                <a:solidFill>
                  <a:srgbClr val="FF0000"/>
                </a:solidFill>
              </a:rPr>
              <a:t>yarn</a:t>
            </a:r>
            <a:r>
              <a:rPr lang="en-US" altLang="ko-KR" sz="1400" b="1" dirty="0"/>
              <a:t>”. You can install “yarn” with “</a:t>
            </a:r>
            <a:r>
              <a:rPr lang="en-US" altLang="ko-KR" sz="1400" b="1" dirty="0" err="1"/>
              <a:t>sudo</a:t>
            </a:r>
            <a:r>
              <a:rPr lang="en-US" altLang="ko-KR" sz="1400" b="1" dirty="0"/>
              <a:t> apt-get install yarn”.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8F644F6-8ACA-46B4-95DD-CE5FBB50103A}"/>
              </a:ext>
            </a:extLst>
          </p:cNvPr>
          <p:cNvSpPr txBox="1"/>
          <p:nvPr/>
        </p:nvSpPr>
        <p:spPr>
          <a:xfrm>
            <a:off x="3048000" y="1789485"/>
            <a:ext cx="6096000" cy="1938992"/>
          </a:xfrm>
          <a:prstGeom prst="rect">
            <a:avLst/>
          </a:prstGeom>
          <a:noFill/>
          <a:ln>
            <a:solidFill>
              <a:schemeClr val="bg1">
                <a:lumMod val="50000"/>
              </a:schemeClr>
            </a:solidFill>
          </a:ln>
        </p:spPr>
        <p:txBody>
          <a:bodyPr wrap="square">
            <a:spAutoFit/>
          </a:bodyPr>
          <a:lstStyle/>
          <a:p>
            <a:r>
              <a:rPr lang="en-US" altLang="ko-KR" sz="1000" b="1" dirty="0"/>
              <a:t># Start from a Node.js 16.13.2 (LTS) image</a:t>
            </a:r>
          </a:p>
          <a:p>
            <a:r>
              <a:rPr lang="en-US" altLang="ko-KR" sz="1000" b="1" dirty="0"/>
              <a:t>FROM node:16.13.2</a:t>
            </a:r>
          </a:p>
          <a:p>
            <a:r>
              <a:rPr lang="en-US" altLang="ko-KR" sz="1000" b="1" dirty="0"/>
              <a:t># Specify the directory inside the image in which all commands will run</a:t>
            </a:r>
          </a:p>
          <a:p>
            <a:r>
              <a:rPr lang="en-US" altLang="ko-KR" sz="1000" b="1" dirty="0"/>
              <a:t>WORKDIR /</a:t>
            </a:r>
            <a:r>
              <a:rPr lang="en-US" altLang="ko-KR" sz="1000" b="1" dirty="0" err="1"/>
              <a:t>usr</a:t>
            </a:r>
            <a:r>
              <a:rPr lang="en-US" altLang="ko-KR" sz="1000" b="1" dirty="0"/>
              <a:t>/</a:t>
            </a:r>
            <a:r>
              <a:rPr lang="en-US" altLang="ko-KR" sz="1000" b="1" dirty="0" err="1"/>
              <a:t>src</a:t>
            </a:r>
            <a:r>
              <a:rPr lang="en-US" altLang="ko-KR" sz="1000" b="1" dirty="0"/>
              <a:t>/app</a:t>
            </a:r>
          </a:p>
          <a:p>
            <a:r>
              <a:rPr lang="en-US" altLang="ko-KR" sz="1000" b="1" dirty="0"/>
              <a:t># Copy package files and install dependencies</a:t>
            </a:r>
          </a:p>
          <a:p>
            <a:r>
              <a:rPr lang="en-US" altLang="ko-KR" sz="1000" b="1" dirty="0"/>
              <a:t>COPY package*.json ./</a:t>
            </a:r>
          </a:p>
          <a:p>
            <a:r>
              <a:rPr lang="en-US" altLang="ko-KR" sz="1000" b="1" dirty="0">
                <a:solidFill>
                  <a:srgbClr val="FF0000"/>
                </a:solidFill>
              </a:rPr>
              <a:t>RUN </a:t>
            </a:r>
            <a:r>
              <a:rPr lang="en-US" altLang="ko-KR" sz="1000" b="1" dirty="0" err="1">
                <a:solidFill>
                  <a:srgbClr val="FF0000"/>
                </a:solidFill>
              </a:rPr>
              <a:t>npm</a:t>
            </a:r>
            <a:r>
              <a:rPr lang="en-US" altLang="ko-KR" sz="1000" b="1" dirty="0">
                <a:solidFill>
                  <a:srgbClr val="FF0000"/>
                </a:solidFill>
              </a:rPr>
              <a:t> install -g npm@8.4.0</a:t>
            </a:r>
          </a:p>
          <a:p>
            <a:r>
              <a:rPr lang="en-US" altLang="ko-KR" sz="1000" b="1" dirty="0">
                <a:solidFill>
                  <a:srgbClr val="FF0000"/>
                </a:solidFill>
              </a:rPr>
              <a:t>RUN </a:t>
            </a:r>
            <a:r>
              <a:rPr lang="en-US" altLang="ko-KR" sz="1000" b="1" dirty="0" err="1">
                <a:solidFill>
                  <a:srgbClr val="FF0000"/>
                </a:solidFill>
              </a:rPr>
              <a:t>npm</a:t>
            </a:r>
            <a:r>
              <a:rPr lang="en-US" altLang="ko-KR" sz="1000" b="1" dirty="0">
                <a:solidFill>
                  <a:srgbClr val="FF0000"/>
                </a:solidFill>
              </a:rPr>
              <a:t> install</a:t>
            </a:r>
          </a:p>
          <a:p>
            <a:r>
              <a:rPr lang="en-US" altLang="ko-KR" sz="1000" b="1" dirty="0"/>
              <a:t># Copy all of the app files into the image</a:t>
            </a:r>
          </a:p>
          <a:p>
            <a:r>
              <a:rPr lang="en-US" altLang="ko-KR" sz="1000" b="1" dirty="0">
                <a:solidFill>
                  <a:srgbClr val="FF0000"/>
                </a:solidFill>
              </a:rPr>
              <a:t>COPY . .</a:t>
            </a:r>
          </a:p>
          <a:p>
            <a:r>
              <a:rPr lang="en-US" altLang="ko-KR" sz="1000" b="1" dirty="0"/>
              <a:t># The default command to run when starting the container</a:t>
            </a:r>
          </a:p>
          <a:p>
            <a:r>
              <a:rPr lang="en-US" altLang="ko-KR" sz="1000" b="1" dirty="0"/>
              <a:t>CMD [ "</a:t>
            </a:r>
            <a:r>
              <a:rPr lang="en-US" altLang="ko-KR" sz="1000" b="1" dirty="0" err="1">
                <a:solidFill>
                  <a:srgbClr val="FF0000"/>
                </a:solidFill>
              </a:rPr>
              <a:t>npm</a:t>
            </a:r>
            <a:r>
              <a:rPr lang="en-US" altLang="ko-KR" sz="1000" b="1" dirty="0"/>
              <a:t>", "</a:t>
            </a:r>
            <a:r>
              <a:rPr lang="en-US" altLang="ko-KR" sz="1000" b="1" dirty="0">
                <a:solidFill>
                  <a:srgbClr val="FF0000"/>
                </a:solidFill>
              </a:rPr>
              <a:t>start</a:t>
            </a:r>
            <a:r>
              <a:rPr lang="en-US" altLang="ko-KR" sz="1000" b="1" dirty="0"/>
              <a:t>" ]</a:t>
            </a:r>
            <a:endParaRPr lang="ko-KR" altLang="en-US" sz="1000" b="1" dirty="0"/>
          </a:p>
        </p:txBody>
      </p:sp>
    </p:spTree>
    <p:extLst>
      <p:ext uri="{BB962C8B-B14F-4D97-AF65-F5344CB8AC3E}">
        <p14:creationId xmlns:p14="http://schemas.microsoft.com/office/powerpoint/2010/main" val="1681537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Dockerfile</a:t>
            </a:r>
            <a:r>
              <a:rPr lang="en-US" altLang="ko-KR" sz="1800" b="1" dirty="0"/>
              <a:t> Example :</a:t>
            </a:r>
          </a:p>
          <a:p>
            <a:pPr lvl="1">
              <a:buFont typeface="Wingdings" panose="05000000000000000000" pitchFamily="2" charset="2"/>
              <a:buChar char="§"/>
            </a:pPr>
            <a:r>
              <a:rPr lang="en-US" altLang="ko-KR" sz="1400" b="1" dirty="0"/>
              <a:t>At this point our “simple-node” image lives in </a:t>
            </a:r>
            <a:r>
              <a:rPr lang="en-US" altLang="ko-KR" sz="1400" b="1" dirty="0">
                <a:solidFill>
                  <a:srgbClr val="FF0000"/>
                </a:solidFill>
              </a:rPr>
              <a:t>the local Docker registry </a:t>
            </a:r>
            <a:r>
              <a:rPr lang="en-US" altLang="ko-KR" sz="1400" dirty="0"/>
              <a:t>where the image was built and is only accessible to a single machine. </a:t>
            </a:r>
            <a:r>
              <a:rPr lang="en-US" altLang="ko-KR" sz="1400" b="1" dirty="0"/>
              <a:t>The true power of Docker comes from the ability to share images across thousands of machines and the broader Docker community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D17C397E-B23D-4C0E-92ED-802DFF65F07F}"/>
              </a:ext>
            </a:extLst>
          </p:cNvPr>
          <p:cNvGrpSpPr/>
          <p:nvPr/>
        </p:nvGrpSpPr>
        <p:grpSpPr>
          <a:xfrm>
            <a:off x="1814512" y="2093222"/>
            <a:ext cx="8562975" cy="2944312"/>
            <a:chOff x="1814508" y="1924393"/>
            <a:chExt cx="8562975" cy="2944312"/>
          </a:xfrm>
        </p:grpSpPr>
        <p:grpSp>
          <p:nvGrpSpPr>
            <p:cNvPr id="10" name="그룹 9">
              <a:extLst>
                <a:ext uri="{FF2B5EF4-FFF2-40B4-BE49-F238E27FC236}">
                  <a16:creationId xmlns:a16="http://schemas.microsoft.com/office/drawing/2014/main" id="{5A4C9084-9AD3-452B-B0C4-BB3557191575}"/>
                </a:ext>
              </a:extLst>
            </p:cNvPr>
            <p:cNvGrpSpPr/>
            <p:nvPr/>
          </p:nvGrpSpPr>
          <p:grpSpPr>
            <a:xfrm>
              <a:off x="1814508" y="2487455"/>
              <a:ext cx="8562975" cy="2381250"/>
              <a:chOff x="1814512" y="2238375"/>
              <a:chExt cx="8562975" cy="2381250"/>
            </a:xfrm>
          </p:grpSpPr>
          <p:pic>
            <p:nvPicPr>
              <p:cNvPr id="4" name="그림 3">
                <a:extLst>
                  <a:ext uri="{FF2B5EF4-FFF2-40B4-BE49-F238E27FC236}">
                    <a16:creationId xmlns:a16="http://schemas.microsoft.com/office/drawing/2014/main" id="{3A95B350-D13F-4259-A4BB-4722A93C680A}"/>
                  </a:ext>
                </a:extLst>
              </p:cNvPr>
              <p:cNvPicPr>
                <a:picLocks noChangeAspect="1"/>
              </p:cNvPicPr>
              <p:nvPr/>
            </p:nvPicPr>
            <p:blipFill>
              <a:blip r:embed="rId2"/>
              <a:stretch>
                <a:fillRect/>
              </a:stretch>
            </p:blipFill>
            <p:spPr>
              <a:xfrm>
                <a:off x="1814512" y="2238375"/>
                <a:ext cx="8562975" cy="238125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4ABE2126-15F5-4DE0-A0E6-1E27D6676A59}"/>
                  </a:ext>
                </a:extLst>
              </p:cNvPr>
              <p:cNvSpPr/>
              <p:nvPr/>
            </p:nvSpPr>
            <p:spPr>
              <a:xfrm>
                <a:off x="1846596" y="3104147"/>
                <a:ext cx="4810877" cy="3328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D3EC8D47-DC23-446D-863C-2DB53431AD2D}"/>
                </a:ext>
              </a:extLst>
            </p:cNvPr>
            <p:cNvSpPr txBox="1"/>
            <p:nvPr/>
          </p:nvSpPr>
          <p:spPr>
            <a:xfrm>
              <a:off x="5558031" y="1924393"/>
              <a:ext cx="1075936" cy="246221"/>
            </a:xfrm>
            <a:prstGeom prst="rect">
              <a:avLst/>
            </a:prstGeom>
            <a:noFill/>
            <a:ln>
              <a:solidFill>
                <a:schemeClr val="bg1">
                  <a:lumMod val="50000"/>
                </a:schemeClr>
              </a:solidFill>
            </a:ln>
          </p:spPr>
          <p:txBody>
            <a:bodyPr wrap="none" rtlCol="0">
              <a:spAutoFit/>
            </a:bodyPr>
            <a:lstStyle/>
            <a:p>
              <a:pPr algn="ctr"/>
              <a:r>
                <a:rPr lang="en-US" altLang="ko-KR" sz="1000" b="1" dirty="0"/>
                <a:t>docker images</a:t>
              </a:r>
              <a:endParaRPr lang="ko-KR" altLang="en-US" sz="1000" b="1" dirty="0"/>
            </a:p>
          </p:txBody>
        </p:sp>
        <p:sp>
          <p:nvSpPr>
            <p:cNvPr id="12" name="화살표: 아래쪽 11">
              <a:extLst>
                <a:ext uri="{FF2B5EF4-FFF2-40B4-BE49-F238E27FC236}">
                  <a16:creationId xmlns:a16="http://schemas.microsoft.com/office/drawing/2014/main" id="{49242623-97A3-47C5-A7DB-269C71314E19}"/>
                </a:ext>
              </a:extLst>
            </p:cNvPr>
            <p:cNvSpPr/>
            <p:nvPr/>
          </p:nvSpPr>
          <p:spPr>
            <a:xfrm>
              <a:off x="5903491" y="2198749"/>
              <a:ext cx="385011" cy="27014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3292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Optimizing Image Sizes :</a:t>
            </a:r>
          </a:p>
          <a:p>
            <a:pPr lvl="1">
              <a:buFont typeface="Wingdings" panose="05000000000000000000" pitchFamily="2" charset="2"/>
              <a:buChar char="§"/>
            </a:pPr>
            <a:r>
              <a:rPr lang="en-US" altLang="ko-KR" sz="1400" b="1" dirty="0"/>
              <a:t>There are several gotchas that come when people begin to experiment with container images that lead to overly large images</a:t>
            </a:r>
            <a:r>
              <a:rPr lang="en-US" altLang="ko-KR" sz="1400" dirty="0"/>
              <a:t>. </a:t>
            </a:r>
            <a:r>
              <a:rPr lang="en-US" altLang="ko-KR" sz="1400" b="1" dirty="0">
                <a:solidFill>
                  <a:srgbClr val="FF0000"/>
                </a:solidFill>
              </a:rPr>
              <a:t>The first thing to remember is that files that are removed by subsequent layers in the system are actually still present in the images</a:t>
            </a:r>
            <a:r>
              <a:rPr lang="en-US" altLang="ko-KR" sz="1400" dirty="0"/>
              <a:t>; they’re just inaccessible. Consider the following situation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might think that </a:t>
            </a:r>
            <a:r>
              <a:rPr lang="en-US" altLang="ko-KR" sz="1400" dirty="0" err="1"/>
              <a:t>BigFile</a:t>
            </a:r>
            <a:r>
              <a:rPr lang="en-US" altLang="ko-KR" sz="1400" dirty="0"/>
              <a:t> is no longer present in this image. After all, when you run the image, it is no longer accessible. </a:t>
            </a:r>
            <a:r>
              <a:rPr lang="en-US" altLang="ko-KR" sz="1400" b="1" dirty="0"/>
              <a:t>But in fact it is still present in layer A, which means that whenever you push or pull the image, </a:t>
            </a:r>
            <a:r>
              <a:rPr lang="en-US" altLang="ko-KR" sz="1400" b="1" dirty="0" err="1"/>
              <a:t>BigFile</a:t>
            </a:r>
            <a:r>
              <a:rPr lang="en-US" altLang="ko-KR" sz="1400" b="1" dirty="0"/>
              <a:t> is still transmitted through the network, even if you can no longer access it</a:t>
            </a:r>
            <a:r>
              <a:rPr lang="en-US" altLang="ko-KR" sz="1400" dirty="0"/>
              <a:t>. </a:t>
            </a:r>
          </a:p>
          <a:p>
            <a:pPr lvl="1">
              <a:buFont typeface="Wingdings" panose="05000000000000000000" pitchFamily="2" charset="2"/>
              <a:buChar char="§"/>
            </a:pPr>
            <a:r>
              <a:rPr lang="en-US" altLang="ko-KR" sz="1400" b="1" dirty="0"/>
              <a:t>Another pitfall that people fall into revolves around </a:t>
            </a:r>
            <a:r>
              <a:rPr lang="en-US" altLang="ko-KR" sz="1400" b="1" dirty="0">
                <a:solidFill>
                  <a:srgbClr val="FF0000"/>
                </a:solidFill>
              </a:rPr>
              <a:t>image caching </a:t>
            </a:r>
            <a:r>
              <a:rPr lang="en-US" altLang="ko-KR" sz="1400" b="1" dirty="0"/>
              <a:t>and </a:t>
            </a:r>
            <a:r>
              <a:rPr lang="en-US" altLang="ko-KR" sz="1400" b="1" dirty="0">
                <a:solidFill>
                  <a:srgbClr val="FF0000"/>
                </a:solidFill>
              </a:rPr>
              <a:t>building</a:t>
            </a:r>
            <a:r>
              <a:rPr lang="en-US" altLang="ko-KR" sz="1400" dirty="0"/>
              <a:t>. </a:t>
            </a:r>
            <a:r>
              <a:rPr lang="en-US" altLang="ko-KR" sz="1400" b="1" dirty="0"/>
              <a:t>Remember that </a:t>
            </a:r>
            <a:r>
              <a:rPr lang="en-US" altLang="ko-KR" sz="1400" b="1" dirty="0">
                <a:solidFill>
                  <a:srgbClr val="FF0000"/>
                </a:solidFill>
              </a:rPr>
              <a:t>each layer is an independent delta from the layer below it</a:t>
            </a:r>
            <a:r>
              <a:rPr lang="en-US" altLang="ko-KR" sz="1400" dirty="0"/>
              <a:t>. </a:t>
            </a:r>
            <a:r>
              <a:rPr lang="en-US" altLang="ko-KR" sz="1400" b="1" dirty="0">
                <a:solidFill>
                  <a:srgbClr val="FF0000"/>
                </a:solidFill>
              </a:rPr>
              <a:t>Every time you change a layer, it changes every layer that comes after it</a:t>
            </a:r>
            <a:r>
              <a:rPr lang="en-US" altLang="ko-KR" sz="1400" dirty="0"/>
              <a:t>. </a:t>
            </a:r>
            <a:r>
              <a:rPr lang="en-US" altLang="ko-KR" sz="1400" b="1" dirty="0"/>
              <a:t>Changing the preceding layers means that they need to be rebuilt, </a:t>
            </a:r>
            <a:r>
              <a:rPr lang="en-US" altLang="ko-KR" sz="1400" b="1" dirty="0" err="1"/>
              <a:t>repushed</a:t>
            </a:r>
            <a:r>
              <a:rPr lang="en-US" altLang="ko-KR" sz="1400" b="1" dirty="0"/>
              <a:t>, and repulled to deploy your image to development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A8BD3F0B-6FED-4264-83F8-D0B2C9B7E5B8}"/>
              </a:ext>
            </a:extLst>
          </p:cNvPr>
          <p:cNvSpPr/>
          <p:nvPr/>
        </p:nvSpPr>
        <p:spPr>
          <a:xfrm>
            <a:off x="3048000" y="1866309"/>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layer A: contains a large file named '</a:t>
            </a:r>
            <a:r>
              <a:rPr lang="en-US" altLang="ko-KR" sz="1000" b="1" dirty="0" err="1"/>
              <a:t>BigFile</a:t>
            </a:r>
            <a:r>
              <a:rPr lang="en-US" altLang="ko-KR" sz="1000" b="1" dirty="0"/>
              <a:t>’</a:t>
            </a:r>
          </a:p>
          <a:p>
            <a:r>
              <a:rPr lang="en-US" altLang="ko-KR" sz="1000" b="1" dirty="0"/>
              <a:t>       ── layer B: removes '</a:t>
            </a:r>
            <a:r>
              <a:rPr lang="en-US" altLang="ko-KR" sz="1000" b="1" dirty="0" err="1"/>
              <a:t>BigFile</a:t>
            </a:r>
            <a:r>
              <a:rPr lang="en-US" altLang="ko-KR" sz="1000" b="1" dirty="0"/>
              <a:t>’</a:t>
            </a:r>
          </a:p>
          <a:p>
            <a:r>
              <a:rPr lang="en-US" altLang="ko-KR" sz="1000" b="1" dirty="0"/>
              <a:t>             └── layer C: builds on B by adding a static binary</a:t>
            </a:r>
            <a:endParaRPr lang="ko-KR" altLang="en-US" sz="1000" b="1" dirty="0"/>
          </a:p>
        </p:txBody>
      </p:sp>
      <p:pic>
        <p:nvPicPr>
          <p:cNvPr id="8" name="그림 7">
            <a:extLst>
              <a:ext uri="{FF2B5EF4-FFF2-40B4-BE49-F238E27FC236}">
                <a16:creationId xmlns:a16="http://schemas.microsoft.com/office/drawing/2014/main" id="{FBCF081E-720E-4CB2-8CF0-4363F138DFEF}"/>
              </a:ext>
            </a:extLst>
          </p:cNvPr>
          <p:cNvPicPr>
            <a:picLocks noChangeAspect="1"/>
          </p:cNvPicPr>
          <p:nvPr/>
        </p:nvPicPr>
        <p:blipFill>
          <a:blip r:embed="rId2"/>
          <a:stretch>
            <a:fillRect/>
          </a:stretch>
        </p:blipFill>
        <p:spPr>
          <a:xfrm>
            <a:off x="4331869" y="4283806"/>
            <a:ext cx="3528261" cy="2127648"/>
          </a:xfrm>
          <a:prstGeom prst="rect">
            <a:avLst/>
          </a:prstGeom>
        </p:spPr>
      </p:pic>
    </p:spTree>
    <p:extLst>
      <p:ext uri="{BB962C8B-B14F-4D97-AF65-F5344CB8AC3E}">
        <p14:creationId xmlns:p14="http://schemas.microsoft.com/office/powerpoint/2010/main" val="4111900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Optimizing Image Sizes :</a:t>
            </a:r>
          </a:p>
          <a:p>
            <a:pPr lvl="1">
              <a:buFont typeface="Wingdings" panose="05000000000000000000" pitchFamily="2" charset="2"/>
              <a:buChar char="§"/>
            </a:pPr>
            <a:r>
              <a:rPr lang="en-US" altLang="ko-KR" sz="1400" dirty="0"/>
              <a:t>To understand this more fully, consider two images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It seems obvious that both of these images will behave identically, and indeed the first time they are pulled they do</a:t>
            </a:r>
            <a:r>
              <a:rPr lang="en-US" altLang="ko-KR" sz="1400" dirty="0"/>
              <a:t>. However, consider what happens </a:t>
            </a:r>
            <a:r>
              <a:rPr lang="en-US" altLang="ko-KR" sz="1400" b="1" dirty="0"/>
              <a:t>when “server.js” changes</a:t>
            </a:r>
            <a:r>
              <a:rPr lang="en-US" altLang="ko-KR" sz="1400" dirty="0"/>
              <a:t>. In one case, it is only the change that needs to be pulled or pushed, but in the other case, </a:t>
            </a:r>
            <a:r>
              <a:rPr lang="en-US" altLang="ko-KR" sz="1400" b="1" dirty="0"/>
              <a:t>both “server.js” and the layer providing the “node” package need to be pulled and pushed, since the “node” layer is </a:t>
            </a:r>
            <a:r>
              <a:rPr lang="en-US" altLang="ko-KR" sz="1400" b="1" dirty="0">
                <a:solidFill>
                  <a:srgbClr val="FF0000"/>
                </a:solidFill>
              </a:rPr>
              <a:t>dependent</a:t>
            </a:r>
            <a:r>
              <a:rPr lang="en-US" altLang="ko-KR" sz="1400" b="1" dirty="0"/>
              <a:t> on the “server.js” layer</a:t>
            </a:r>
            <a:r>
              <a:rPr lang="en-US" altLang="ko-KR" sz="1400" dirty="0"/>
              <a:t>. </a:t>
            </a:r>
          </a:p>
          <a:p>
            <a:pPr lvl="1">
              <a:buFont typeface="Wingdings" panose="05000000000000000000" pitchFamily="2" charset="2"/>
              <a:buChar char="§"/>
            </a:pPr>
            <a:r>
              <a:rPr lang="en-US" altLang="ko-KR" sz="1400" b="1" dirty="0"/>
              <a:t>In general, you want to </a:t>
            </a:r>
            <a:r>
              <a:rPr lang="en-US" altLang="ko-KR" sz="1400" b="1" dirty="0">
                <a:solidFill>
                  <a:srgbClr val="FF0000"/>
                </a:solidFill>
              </a:rPr>
              <a:t>order your layers from least likely to change to most likely to change in order to optimize the image size for pushing and pulling</a:t>
            </a:r>
            <a:r>
              <a:rPr lang="en-US" altLang="ko-KR" sz="1400" dirty="0"/>
              <a:t>. This is why we copy the “</a:t>
            </a:r>
            <a:r>
              <a:rPr lang="en-US" altLang="ko-KR" sz="1400" b="1" dirty="0"/>
              <a:t>package*.json</a:t>
            </a:r>
            <a:r>
              <a:rPr lang="en-US" altLang="ko-KR" sz="1400" dirty="0"/>
              <a:t>” files and install dependencies before copying the rest of the program files. </a:t>
            </a:r>
            <a:r>
              <a:rPr lang="en-US" altLang="ko-KR" sz="1400" b="1" dirty="0"/>
              <a:t>A developer is going to update and change the program files much more often than the dependencies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B963AA5-6FD8-41A8-A199-36B1F11ADBAA}"/>
              </a:ext>
            </a:extLst>
          </p:cNvPr>
          <p:cNvGrpSpPr/>
          <p:nvPr/>
        </p:nvGrpSpPr>
        <p:grpSpPr>
          <a:xfrm>
            <a:off x="3048000" y="1604131"/>
            <a:ext cx="6096000" cy="1824869"/>
            <a:chOff x="3048000" y="1537446"/>
            <a:chExt cx="6096000" cy="1824869"/>
          </a:xfrm>
        </p:grpSpPr>
        <p:sp>
          <p:nvSpPr>
            <p:cNvPr id="4" name="직사각형 3">
              <a:extLst>
                <a:ext uri="{FF2B5EF4-FFF2-40B4-BE49-F238E27FC236}">
                  <a16:creationId xmlns:a16="http://schemas.microsoft.com/office/drawing/2014/main" id="{761B0636-D9BD-4E70-9B3E-EBF27E0C9A42}"/>
                </a:ext>
              </a:extLst>
            </p:cNvPr>
            <p:cNvSpPr/>
            <p:nvPr/>
          </p:nvSpPr>
          <p:spPr>
            <a:xfrm>
              <a:off x="3048000" y="1537446"/>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layer A: contains a base OS</a:t>
              </a:r>
            </a:p>
            <a:p>
              <a:r>
                <a:rPr lang="en-US" altLang="ko-KR" sz="1000" b="1" dirty="0"/>
                <a:t>         └── layer B: adds source code </a:t>
              </a:r>
              <a:r>
                <a:rPr lang="en-US" altLang="ko-KR" sz="1000" b="1" dirty="0">
                  <a:solidFill>
                    <a:srgbClr val="FF0000"/>
                  </a:solidFill>
                </a:rPr>
                <a:t>server.js</a:t>
              </a:r>
            </a:p>
            <a:p>
              <a:r>
                <a:rPr lang="en-US" altLang="ko-KR" sz="1000" b="1" dirty="0"/>
                <a:t>                  └── layer C: installs the 'node' package</a:t>
              </a:r>
              <a:endParaRPr lang="ko-KR" altLang="en-US" sz="1000" b="1" dirty="0"/>
            </a:p>
          </p:txBody>
        </p:sp>
        <p:sp>
          <p:nvSpPr>
            <p:cNvPr id="8" name="직사각형 7">
              <a:extLst>
                <a:ext uri="{FF2B5EF4-FFF2-40B4-BE49-F238E27FC236}">
                  <a16:creationId xmlns:a16="http://schemas.microsoft.com/office/drawing/2014/main" id="{13D838DC-95F4-4DE2-AA3B-97939AAA19E9}"/>
                </a:ext>
              </a:extLst>
            </p:cNvPr>
            <p:cNvSpPr/>
            <p:nvPr/>
          </p:nvSpPr>
          <p:spPr>
            <a:xfrm>
              <a:off x="3048000" y="2654429"/>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layer A: contains a base OS</a:t>
              </a:r>
            </a:p>
            <a:p>
              <a:r>
                <a:rPr lang="en-US" altLang="ko-KR" sz="1000" b="1" dirty="0"/>
                <a:t>         └── layer B: installs the </a:t>
              </a:r>
              <a:r>
                <a:rPr lang="en-US" altLang="ko-KR" sz="1000" b="1" dirty="0">
                  <a:solidFill>
                    <a:srgbClr val="FF0000"/>
                  </a:solidFill>
                </a:rPr>
                <a:t>'node</a:t>
              </a:r>
              <a:r>
                <a:rPr lang="en-US" altLang="ko-KR" sz="1000" b="1" dirty="0"/>
                <a:t>' package</a:t>
              </a:r>
            </a:p>
            <a:p>
              <a:r>
                <a:rPr lang="en-US" altLang="ko-KR" sz="1000" b="1" dirty="0"/>
                <a:t>                  └── layer C: adds source code </a:t>
              </a:r>
              <a:r>
                <a:rPr lang="en-US" altLang="ko-KR" sz="1000" b="1" dirty="0">
                  <a:solidFill>
                    <a:srgbClr val="FF0000"/>
                  </a:solidFill>
                </a:rPr>
                <a:t>server.js</a:t>
              </a:r>
              <a:endParaRPr lang="ko-KR" altLang="en-US" sz="1000" b="1" dirty="0">
                <a:solidFill>
                  <a:srgbClr val="FF0000"/>
                </a:solidFill>
              </a:endParaRPr>
            </a:p>
          </p:txBody>
        </p:sp>
        <p:sp>
          <p:nvSpPr>
            <p:cNvPr id="9" name="TextBox 8">
              <a:extLst>
                <a:ext uri="{FF2B5EF4-FFF2-40B4-BE49-F238E27FC236}">
                  <a16:creationId xmlns:a16="http://schemas.microsoft.com/office/drawing/2014/main" id="{864495B3-41EF-477E-8AAF-A3B691EB15DE}"/>
                </a:ext>
              </a:extLst>
            </p:cNvPr>
            <p:cNvSpPr txBox="1"/>
            <p:nvPr/>
          </p:nvSpPr>
          <p:spPr>
            <a:xfrm>
              <a:off x="5907486" y="2326770"/>
              <a:ext cx="377027" cy="246221"/>
            </a:xfrm>
            <a:prstGeom prst="rect">
              <a:avLst/>
            </a:prstGeom>
            <a:noFill/>
          </p:spPr>
          <p:txBody>
            <a:bodyPr wrap="none" rtlCol="0">
              <a:spAutoFit/>
            </a:bodyPr>
            <a:lstStyle/>
            <a:p>
              <a:pPr algn="ctr"/>
              <a:r>
                <a:rPr lang="en-US" altLang="ko-KR" sz="1000" b="1" dirty="0"/>
                <a:t>VS.</a:t>
              </a:r>
              <a:endParaRPr lang="ko-KR" altLang="en-US" sz="1000" b="1" dirty="0"/>
            </a:p>
          </p:txBody>
        </p:sp>
      </p:grpSp>
    </p:spTree>
    <p:extLst>
      <p:ext uri="{BB962C8B-B14F-4D97-AF65-F5344CB8AC3E}">
        <p14:creationId xmlns:p14="http://schemas.microsoft.com/office/powerpoint/2010/main" val="3772449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Building Application Images with Docker(9/9)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Image Security :</a:t>
            </a:r>
          </a:p>
          <a:p>
            <a:pPr lvl="1">
              <a:buFont typeface="Wingdings" panose="05000000000000000000" pitchFamily="2" charset="2"/>
              <a:buChar char="§"/>
            </a:pPr>
            <a:r>
              <a:rPr lang="en-US" altLang="ko-KR" sz="1400" b="1" dirty="0"/>
              <a:t>When it comes to security, there are no shortcuts</a:t>
            </a:r>
            <a:r>
              <a:rPr lang="en-US" altLang="ko-KR" sz="1400" dirty="0"/>
              <a:t>. When building images that will ultimately run in a production Kubernetes cluster, </a:t>
            </a:r>
            <a:r>
              <a:rPr lang="en-US" altLang="ko-KR" sz="1400" b="1" dirty="0"/>
              <a:t>be sure to follow best practices for packaging and distributing applications</a:t>
            </a:r>
            <a:r>
              <a:rPr lang="en-US" altLang="ko-KR" sz="1400" dirty="0"/>
              <a:t>. </a:t>
            </a:r>
          </a:p>
          <a:p>
            <a:pPr lvl="1">
              <a:buFont typeface="Wingdings" panose="05000000000000000000" pitchFamily="2" charset="2"/>
              <a:buChar char="§"/>
            </a:pPr>
            <a:r>
              <a:rPr lang="en-US" altLang="ko-KR" sz="1400" b="1" dirty="0"/>
              <a:t>For example, don’t build containers with passwords baked in—and this includes not just in the final layer, but any layers in the image</a:t>
            </a:r>
            <a:r>
              <a:rPr lang="en-US" altLang="ko-KR" sz="1400" dirty="0"/>
              <a:t>. One of the counterintuitive problems introduced by container layers is that </a:t>
            </a:r>
            <a:r>
              <a:rPr lang="en-US" altLang="ko-KR" sz="1400" b="1" dirty="0"/>
              <a:t>deleting a file in one layer doesn’t delete that file from preceding layers</a:t>
            </a:r>
            <a:r>
              <a:rPr lang="en-US" altLang="ko-KR" sz="1400" dirty="0"/>
              <a:t>. </a:t>
            </a:r>
            <a:r>
              <a:rPr lang="en-US" altLang="ko-KR" sz="1400" b="1" dirty="0"/>
              <a:t>It still takes up space, and it can be accessed by anyone with the right tools</a:t>
            </a:r>
            <a:r>
              <a:rPr lang="en-US" altLang="ko-KR" sz="1400" dirty="0"/>
              <a:t>—an enterprising attacker can simply create an image that only consists of the layers that contain the password.</a:t>
            </a:r>
          </a:p>
          <a:p>
            <a:pPr lvl="1">
              <a:buFont typeface="Wingdings" panose="05000000000000000000" pitchFamily="2" charset="2"/>
              <a:buChar char="§"/>
            </a:pPr>
            <a:r>
              <a:rPr lang="en-US" altLang="ko-KR" sz="1400" b="1" dirty="0">
                <a:solidFill>
                  <a:srgbClr val="FF0000"/>
                </a:solidFill>
              </a:rPr>
              <a:t>Secrets and images should never be mixed</a:t>
            </a:r>
            <a:r>
              <a:rPr lang="en-US" altLang="ko-KR" sz="1400" dirty="0"/>
              <a:t>. </a:t>
            </a:r>
            <a:r>
              <a:rPr lang="en-US" altLang="ko-KR" sz="1400" b="1" dirty="0"/>
              <a:t>If you do so, you will be hacked, and you will bring shame to your entire company or department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0D9BC65-F5C2-4CB0-95AB-EEAF05EAC81B}"/>
              </a:ext>
            </a:extLst>
          </p:cNvPr>
          <p:cNvPicPr>
            <a:picLocks noChangeAspect="1"/>
          </p:cNvPicPr>
          <p:nvPr/>
        </p:nvPicPr>
        <p:blipFill>
          <a:blip r:embed="rId2"/>
          <a:stretch>
            <a:fillRect/>
          </a:stretch>
        </p:blipFill>
        <p:spPr>
          <a:xfrm>
            <a:off x="4724399" y="3181128"/>
            <a:ext cx="2743201" cy="3227902"/>
          </a:xfrm>
          <a:prstGeom prst="rect">
            <a:avLst/>
          </a:prstGeom>
        </p:spPr>
      </p:pic>
    </p:spTree>
    <p:extLst>
      <p:ext uri="{BB962C8B-B14F-4D97-AF65-F5344CB8AC3E}">
        <p14:creationId xmlns:p14="http://schemas.microsoft.com/office/powerpoint/2010/main" val="2891612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Multistage Image Builds(1/4)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Light Image :</a:t>
            </a:r>
          </a:p>
          <a:p>
            <a:pPr lvl="1">
              <a:buFont typeface="Wingdings" panose="05000000000000000000" pitchFamily="2" charset="2"/>
              <a:buChar char="§"/>
            </a:pPr>
            <a:r>
              <a:rPr lang="en-US" altLang="ko-KR" sz="1400" b="1" dirty="0"/>
              <a:t>One of the most common ways to accidentally build large images is to </a:t>
            </a:r>
            <a:r>
              <a:rPr lang="en-US" altLang="ko-KR" sz="1400" b="1" dirty="0">
                <a:solidFill>
                  <a:srgbClr val="FF0000"/>
                </a:solidFill>
              </a:rPr>
              <a:t>do the actual program compilation as part of the construction of the application container image</a:t>
            </a:r>
            <a:r>
              <a:rPr lang="en-US" altLang="ko-KR" sz="1400" dirty="0"/>
              <a:t>. Compiling code as part of the image build feels natural, and it is the easiest way to build a container image from your program. The trouble with doing this is that </a:t>
            </a:r>
            <a:r>
              <a:rPr lang="en-US" altLang="ko-KR" sz="1400" b="1" dirty="0"/>
              <a:t>it leaves all of the unnecessary development tools, which are usually quite large, lying around inside of your image and slowing down your deployments</a:t>
            </a:r>
            <a:r>
              <a:rPr lang="en-US" altLang="ko-KR" sz="1400" dirty="0"/>
              <a:t>. </a:t>
            </a:r>
          </a:p>
          <a:p>
            <a:pPr lvl="1">
              <a:buFont typeface="Wingdings" panose="05000000000000000000" pitchFamily="2" charset="2"/>
              <a:buChar char="§"/>
            </a:pPr>
            <a:r>
              <a:rPr lang="en-US" altLang="ko-KR" sz="1400" dirty="0"/>
              <a:t>To resolve this problem, </a:t>
            </a:r>
            <a:r>
              <a:rPr lang="en-US" altLang="ko-KR" sz="1400" b="1" dirty="0"/>
              <a:t>Docker introduced </a:t>
            </a:r>
            <a:r>
              <a:rPr lang="en-US" altLang="ko-KR" sz="1400" b="1" dirty="0">
                <a:solidFill>
                  <a:srgbClr val="FF0000"/>
                </a:solidFill>
              </a:rPr>
              <a:t>multistage builds</a:t>
            </a:r>
            <a:r>
              <a:rPr lang="en-US" altLang="ko-KR" sz="1400" dirty="0"/>
              <a:t>. </a:t>
            </a:r>
            <a:r>
              <a:rPr lang="en-US" altLang="ko-KR" sz="1400" b="1" dirty="0"/>
              <a:t>With multistage builds, rather than producing a single image, a </a:t>
            </a:r>
            <a:r>
              <a:rPr lang="en-US" altLang="ko-KR" sz="1400" b="1" dirty="0">
                <a:solidFill>
                  <a:srgbClr val="FF0000"/>
                </a:solidFill>
              </a:rPr>
              <a:t>Docker file can actually produce multiple images</a:t>
            </a:r>
            <a:r>
              <a:rPr lang="en-US" altLang="ko-KR" sz="1400" dirty="0"/>
              <a:t>. </a:t>
            </a:r>
            <a:r>
              <a:rPr lang="en-US" altLang="ko-KR" sz="1400" b="1" dirty="0"/>
              <a:t>Each image is considered a stage</a:t>
            </a:r>
            <a:r>
              <a:rPr lang="en-US" altLang="ko-KR" sz="1400" dirty="0"/>
              <a:t>. </a:t>
            </a:r>
            <a:r>
              <a:rPr lang="en-US" altLang="ko-KR" sz="1400" b="1" dirty="0"/>
              <a:t>Artifacts can be copied from preceding stages to the current stage</a:t>
            </a:r>
            <a:r>
              <a:rPr lang="en-US" altLang="ko-KR" sz="1400" dirty="0"/>
              <a:t>.</a:t>
            </a:r>
          </a:p>
          <a:p>
            <a:pPr lvl="1">
              <a:buFont typeface="Wingdings" panose="05000000000000000000" pitchFamily="2" charset="2"/>
              <a:buChar char="§"/>
            </a:pPr>
            <a:r>
              <a:rPr lang="en-US" altLang="ko-KR" sz="1400" dirty="0"/>
              <a:t>The example application, </a:t>
            </a:r>
            <a:r>
              <a:rPr lang="en-US" altLang="ko-KR" sz="1400" b="1" dirty="0" err="1"/>
              <a:t>kuard</a:t>
            </a:r>
            <a:r>
              <a:rPr lang="en-US" altLang="ko-KR" sz="1400" dirty="0"/>
              <a:t>, is a somewhat complicated application that involves a </a:t>
            </a:r>
            <a:r>
              <a:rPr lang="en-US" altLang="ko-KR" sz="1400" b="1" dirty="0"/>
              <a:t>React.js frontend </a:t>
            </a:r>
            <a:r>
              <a:rPr lang="en-US" altLang="ko-KR" sz="1400" dirty="0"/>
              <a:t>(with its own build process) that then gets embedded into a </a:t>
            </a:r>
            <a:r>
              <a:rPr lang="en-US" altLang="ko-KR" sz="1400" b="1" dirty="0"/>
              <a:t>Go program</a:t>
            </a:r>
            <a:r>
              <a:rPr lang="en-US" altLang="ko-KR" sz="1400" dirty="0"/>
              <a:t>. </a:t>
            </a:r>
            <a:r>
              <a:rPr lang="en-US" altLang="ko-KR" sz="1400" b="1" dirty="0"/>
              <a:t>The Go program runs a backend API server that the React.js frontend interacts with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B37CE06-9D70-4525-AC1A-DFF7057C9E49}"/>
              </a:ext>
            </a:extLst>
          </p:cNvPr>
          <p:cNvPicPr>
            <a:picLocks noChangeAspect="1"/>
          </p:cNvPicPr>
          <p:nvPr/>
        </p:nvPicPr>
        <p:blipFill>
          <a:blip r:embed="rId2"/>
          <a:stretch>
            <a:fillRect/>
          </a:stretch>
        </p:blipFill>
        <p:spPr>
          <a:xfrm>
            <a:off x="3883443" y="3591718"/>
            <a:ext cx="4425114" cy="2611639"/>
          </a:xfrm>
          <a:prstGeom prst="rect">
            <a:avLst/>
          </a:prstGeom>
        </p:spPr>
      </p:pic>
    </p:spTree>
    <p:extLst>
      <p:ext uri="{BB962C8B-B14F-4D97-AF65-F5344CB8AC3E}">
        <p14:creationId xmlns:p14="http://schemas.microsoft.com/office/powerpoint/2010/main" val="3905982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Multistage Image Builds(2/4)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Light Image :</a:t>
            </a:r>
          </a:p>
          <a:p>
            <a:pPr lvl="1">
              <a:buFont typeface="Wingdings" panose="05000000000000000000" pitchFamily="2" charset="2"/>
              <a:buChar char="§"/>
            </a:pPr>
            <a:r>
              <a:rPr lang="en-US" altLang="ko-KR" sz="1400" b="1" dirty="0"/>
              <a:t>A simple </a:t>
            </a:r>
            <a:r>
              <a:rPr lang="en-US" altLang="ko-KR" sz="1400" b="1" dirty="0" err="1"/>
              <a:t>Dockerfile</a:t>
            </a:r>
            <a:r>
              <a:rPr lang="en-US" altLang="ko-KR" sz="1400" b="1" dirty="0"/>
              <a:t> </a:t>
            </a:r>
            <a:r>
              <a:rPr lang="en-US" altLang="ko-KR" sz="1400" dirty="0"/>
              <a:t>might look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a:t>
            </a:r>
            <a:r>
              <a:rPr lang="en-US" altLang="ko-KR" sz="1400" b="1" dirty="0" err="1"/>
              <a:t>Dockerfile</a:t>
            </a:r>
            <a:r>
              <a:rPr lang="en-US" altLang="ko-KR" sz="1400" b="1" dirty="0"/>
              <a:t> produces a container image containing a static executable</a:t>
            </a:r>
            <a:r>
              <a:rPr lang="en-US" altLang="ko-KR" sz="1400" dirty="0"/>
              <a:t>, but it also </a:t>
            </a:r>
            <a:r>
              <a:rPr lang="en-US" altLang="ko-KR" sz="1400" b="1" dirty="0"/>
              <a:t>contains all of the Go development tools and the tools to build the React.js frontend and the source code for the application</a:t>
            </a:r>
            <a:r>
              <a:rPr lang="en-US" altLang="ko-KR" sz="1400" dirty="0"/>
              <a:t>, neither of which are needed by the final application. </a:t>
            </a:r>
            <a:r>
              <a:rPr lang="en-US" altLang="ko-KR" sz="1400" b="1" dirty="0"/>
              <a:t>The image, across all layers, adds up to over 500 MB</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15CEC3A0-B5A3-407C-9FA5-014BA04CDF75}"/>
              </a:ext>
            </a:extLst>
          </p:cNvPr>
          <p:cNvSpPr/>
          <p:nvPr/>
        </p:nvSpPr>
        <p:spPr>
          <a:xfrm>
            <a:off x="3048000" y="1433699"/>
            <a:ext cx="6096000" cy="4247317"/>
          </a:xfrm>
          <a:prstGeom prst="rect">
            <a:avLst/>
          </a:prstGeom>
          <a:ln>
            <a:solidFill>
              <a:schemeClr val="bg1">
                <a:lumMod val="50000"/>
              </a:schemeClr>
            </a:solidFill>
          </a:ln>
        </p:spPr>
        <p:txBody>
          <a:bodyPr>
            <a:spAutoFit/>
          </a:bodyPr>
          <a:lstStyle/>
          <a:p>
            <a:r>
              <a:rPr lang="en-US" altLang="ko-KR" sz="1000" b="1" dirty="0"/>
              <a:t>FROM </a:t>
            </a:r>
            <a:r>
              <a:rPr lang="en-US" altLang="ko-KR" sz="1000" b="1" dirty="0">
                <a:solidFill>
                  <a:srgbClr val="FF0000"/>
                </a:solidFill>
              </a:rPr>
              <a:t>golang:1.12-alpine</a:t>
            </a:r>
          </a:p>
          <a:p>
            <a:endParaRPr lang="en-US" altLang="ko-KR" sz="1000" b="1" dirty="0"/>
          </a:p>
          <a:p>
            <a:r>
              <a:rPr lang="en-US" altLang="ko-KR" sz="1000" b="1" dirty="0"/>
              <a:t># Install node and </a:t>
            </a:r>
            <a:r>
              <a:rPr lang="en-US" altLang="ko-KR" sz="1000" b="1" dirty="0" err="1"/>
              <a:t>npm</a:t>
            </a:r>
            <a:endParaRPr lang="en-US" altLang="ko-KR" sz="1000" b="1" dirty="0"/>
          </a:p>
          <a:p>
            <a:r>
              <a:rPr lang="en-US" altLang="ko-KR" sz="1000" b="1" dirty="0"/>
              <a:t>RUN </a:t>
            </a:r>
            <a:r>
              <a:rPr lang="en-US" altLang="ko-KR" sz="1000" b="1" dirty="0" err="1"/>
              <a:t>apk</a:t>
            </a:r>
            <a:r>
              <a:rPr lang="en-US" altLang="ko-KR" sz="1000" b="1" dirty="0"/>
              <a:t> update &amp;&amp; </a:t>
            </a:r>
            <a:r>
              <a:rPr lang="en-US" altLang="ko-KR" sz="1000" b="1" dirty="0" err="1"/>
              <a:t>apk</a:t>
            </a:r>
            <a:r>
              <a:rPr lang="en-US" altLang="ko-KR" sz="1000" b="1" dirty="0"/>
              <a:t> upgrade &amp;&amp; </a:t>
            </a:r>
            <a:r>
              <a:rPr lang="en-US" altLang="ko-KR" sz="1000" b="1" dirty="0" err="1"/>
              <a:t>apk</a:t>
            </a:r>
            <a:r>
              <a:rPr lang="en-US" altLang="ko-KR" sz="1000" b="1" dirty="0"/>
              <a:t> add --no-cache git </a:t>
            </a:r>
            <a:r>
              <a:rPr lang="en-US" altLang="ko-KR" sz="1000" b="1" dirty="0" err="1"/>
              <a:t>nodejs</a:t>
            </a:r>
            <a:r>
              <a:rPr lang="en-US" altLang="ko-KR" sz="1000" b="1" dirty="0"/>
              <a:t> bash </a:t>
            </a:r>
            <a:r>
              <a:rPr lang="en-US" altLang="ko-KR" sz="1000" b="1" dirty="0" err="1"/>
              <a:t>npm</a:t>
            </a:r>
            <a:endParaRPr lang="en-US" altLang="ko-KR" sz="1000" b="1" dirty="0"/>
          </a:p>
          <a:p>
            <a:endParaRPr lang="en-US" altLang="ko-KR" sz="1000" b="1" dirty="0"/>
          </a:p>
          <a:p>
            <a:r>
              <a:rPr lang="en-US" altLang="ko-KR" sz="1000" b="1" dirty="0"/>
              <a:t># Get dependencies or go part of the build</a:t>
            </a:r>
          </a:p>
          <a:p>
            <a:r>
              <a:rPr lang="en-US" altLang="ko-KR" sz="1000" b="1" dirty="0"/>
              <a:t>RUN go get -u github.com/</a:t>
            </a:r>
            <a:r>
              <a:rPr lang="en-US" altLang="ko-KR" sz="1000" b="1" dirty="0" err="1"/>
              <a:t>jteeuwen</a:t>
            </a:r>
            <a:r>
              <a:rPr lang="en-US" altLang="ko-KR" sz="1000" b="1" dirty="0"/>
              <a:t>/go-</a:t>
            </a:r>
            <a:r>
              <a:rPr lang="en-US" altLang="ko-KR" sz="1000" b="1" dirty="0" err="1"/>
              <a:t>bindata</a:t>
            </a:r>
            <a:r>
              <a:rPr lang="en-US" altLang="ko-KR" sz="1000" b="1" dirty="0"/>
              <a:t>/...</a:t>
            </a:r>
          </a:p>
          <a:p>
            <a:r>
              <a:rPr lang="en-US" altLang="ko-KR" sz="1000" b="1" dirty="0"/>
              <a:t>RUN go get github.com/tools/</a:t>
            </a:r>
            <a:r>
              <a:rPr lang="en-US" altLang="ko-KR" sz="1000" b="1" dirty="0" err="1"/>
              <a:t>godep</a:t>
            </a:r>
            <a:endParaRPr lang="en-US" altLang="ko-KR" sz="1000" b="1" dirty="0"/>
          </a:p>
          <a:p>
            <a:endParaRPr lang="en-US" altLang="ko-KR" sz="1000" b="1" dirty="0"/>
          </a:p>
          <a:p>
            <a:r>
              <a:rPr lang="en-US" altLang="ko-KR" sz="1000" b="1" dirty="0"/>
              <a:t>WORKDIR </a:t>
            </a:r>
            <a:r>
              <a:rPr lang="en-US" altLang="ko-KR" sz="1000" b="1" dirty="0">
                <a:solidFill>
                  <a:srgbClr val="FF0000"/>
                </a:solidFill>
              </a:rPr>
              <a:t>/go/</a:t>
            </a:r>
            <a:r>
              <a:rPr lang="en-US" altLang="ko-KR" sz="1000" b="1" dirty="0" err="1">
                <a:solidFill>
                  <a:srgbClr val="FF0000"/>
                </a:solidFill>
              </a:rPr>
              <a:t>src</a:t>
            </a:r>
            <a:r>
              <a:rPr lang="en-US" altLang="ko-KR" sz="1000" b="1" dirty="0">
                <a:solidFill>
                  <a:srgbClr val="FF0000"/>
                </a:solidFill>
              </a:rPr>
              <a:t>/github.com/</a:t>
            </a:r>
            <a:r>
              <a:rPr lang="en-US" altLang="ko-KR" sz="1000" b="1" dirty="0" err="1">
                <a:solidFill>
                  <a:srgbClr val="FF0000"/>
                </a:solidFill>
              </a:rPr>
              <a:t>kubernetes</a:t>
            </a:r>
            <a:r>
              <a:rPr lang="en-US" altLang="ko-KR" sz="1000" b="1" dirty="0">
                <a:solidFill>
                  <a:srgbClr val="FF0000"/>
                </a:solidFill>
              </a:rPr>
              <a:t>-up-and-running/</a:t>
            </a:r>
            <a:r>
              <a:rPr lang="en-US" altLang="ko-KR" sz="1000" b="1" dirty="0" err="1">
                <a:solidFill>
                  <a:srgbClr val="FF0000"/>
                </a:solidFill>
              </a:rPr>
              <a:t>kuard</a:t>
            </a:r>
            <a:endParaRPr lang="en-US" altLang="ko-KR" sz="1000" b="1" dirty="0">
              <a:solidFill>
                <a:srgbClr val="FF0000"/>
              </a:solidFill>
            </a:endParaRPr>
          </a:p>
          <a:p>
            <a:endParaRPr lang="en-US" altLang="ko-KR" sz="1000" b="1" dirty="0">
              <a:solidFill>
                <a:srgbClr val="FF0000"/>
              </a:solidFill>
            </a:endParaRPr>
          </a:p>
          <a:p>
            <a:r>
              <a:rPr lang="en-US" altLang="ko-KR" sz="1000" b="1" dirty="0"/>
              <a:t># copy all sources in</a:t>
            </a:r>
          </a:p>
          <a:p>
            <a:r>
              <a:rPr lang="en-US" altLang="ko-KR" sz="1000" b="1" dirty="0"/>
              <a:t>COPY . .</a:t>
            </a:r>
          </a:p>
          <a:p>
            <a:endParaRPr lang="en-US" altLang="ko-KR" sz="1000" b="1" dirty="0"/>
          </a:p>
          <a:p>
            <a:r>
              <a:rPr lang="en-US" altLang="ko-KR" sz="1000" b="1" dirty="0"/>
              <a:t># Set of variables the build script expects</a:t>
            </a:r>
          </a:p>
          <a:p>
            <a:r>
              <a:rPr lang="en-US" altLang="ko-KR" sz="1000" b="1" dirty="0"/>
              <a:t>ENV VERBOSE=0</a:t>
            </a:r>
          </a:p>
          <a:p>
            <a:r>
              <a:rPr lang="en-US" altLang="ko-KR" sz="1000" b="1" dirty="0"/>
              <a:t>ENV PKG=github.com/</a:t>
            </a:r>
            <a:r>
              <a:rPr lang="en-US" altLang="ko-KR" sz="1000" b="1" dirty="0" err="1"/>
              <a:t>kubernetes</a:t>
            </a:r>
            <a:r>
              <a:rPr lang="en-US" altLang="ko-KR" sz="1000" b="1" dirty="0"/>
              <a:t>-up-and-running/</a:t>
            </a:r>
            <a:r>
              <a:rPr lang="en-US" altLang="ko-KR" sz="1000" b="1" dirty="0" err="1"/>
              <a:t>kuard</a:t>
            </a:r>
            <a:endParaRPr lang="en-US" altLang="ko-KR" sz="1000" b="1" dirty="0"/>
          </a:p>
          <a:p>
            <a:r>
              <a:rPr lang="en-US" altLang="ko-KR" sz="1000" b="1" dirty="0"/>
              <a:t>ENV ARCH=amd64</a:t>
            </a:r>
          </a:p>
          <a:p>
            <a:r>
              <a:rPr lang="en-US" altLang="ko-KR" sz="1000" b="1" dirty="0"/>
              <a:t>ENV VERSION=test</a:t>
            </a:r>
          </a:p>
          <a:p>
            <a:endParaRPr lang="en-US" altLang="ko-KR" sz="1000" b="1" dirty="0"/>
          </a:p>
          <a:p>
            <a:r>
              <a:rPr lang="en-US" altLang="ko-KR" sz="1000" b="1" dirty="0"/>
              <a:t># When running on Windows 10, you need to clean up the ^</a:t>
            </a:r>
            <a:r>
              <a:rPr lang="en-US" altLang="ko-KR" sz="1000" b="1" dirty="0" err="1"/>
              <a:t>Ms</a:t>
            </a:r>
            <a:r>
              <a:rPr lang="en-US" altLang="ko-KR" sz="1000" b="1" dirty="0"/>
              <a:t> in the script</a:t>
            </a:r>
          </a:p>
          <a:p>
            <a:r>
              <a:rPr lang="en-US" altLang="ko-KR" sz="1000" b="1" dirty="0">
                <a:solidFill>
                  <a:srgbClr val="FF0000"/>
                </a:solidFill>
              </a:rPr>
              <a:t>RUN dos2unix build/build.sh</a:t>
            </a:r>
          </a:p>
          <a:p>
            <a:endParaRPr lang="en-US" altLang="ko-KR" sz="1000" b="1" dirty="0"/>
          </a:p>
          <a:p>
            <a:r>
              <a:rPr lang="en-US" altLang="ko-KR" sz="1000" b="1" dirty="0"/>
              <a:t># Do the build. The script is part of incoming sources.</a:t>
            </a:r>
          </a:p>
          <a:p>
            <a:r>
              <a:rPr lang="en-US" altLang="ko-KR" sz="1000" b="1" dirty="0">
                <a:solidFill>
                  <a:srgbClr val="FF0000"/>
                </a:solidFill>
              </a:rPr>
              <a:t>RUN build/build.sh</a:t>
            </a:r>
          </a:p>
          <a:p>
            <a:endParaRPr lang="en-US" altLang="ko-KR" sz="1000" b="1" dirty="0"/>
          </a:p>
          <a:p>
            <a:r>
              <a:rPr lang="en-US" altLang="ko-KR" sz="1000" b="1" dirty="0"/>
              <a:t>CMD [ </a:t>
            </a:r>
            <a:r>
              <a:rPr lang="en-US" altLang="ko-KR" sz="1000" b="1" dirty="0">
                <a:solidFill>
                  <a:srgbClr val="FF0000"/>
                </a:solidFill>
              </a:rPr>
              <a:t>"/go/bin/</a:t>
            </a:r>
            <a:r>
              <a:rPr lang="en-US" altLang="ko-KR" sz="1000" b="1" dirty="0" err="1">
                <a:solidFill>
                  <a:srgbClr val="FF0000"/>
                </a:solidFill>
              </a:rPr>
              <a:t>kuard</a:t>
            </a:r>
            <a:r>
              <a:rPr lang="en-US" altLang="ko-KR" sz="1000" b="1" dirty="0">
                <a:solidFill>
                  <a:srgbClr val="FF0000"/>
                </a:solidFill>
              </a:rPr>
              <a:t>" </a:t>
            </a:r>
            <a:r>
              <a:rPr lang="en-US" altLang="ko-KR" sz="1000" b="1" dirty="0"/>
              <a:t>]</a:t>
            </a:r>
            <a:endParaRPr lang="ko-KR" altLang="en-US" sz="1000" b="1" dirty="0"/>
          </a:p>
        </p:txBody>
      </p:sp>
    </p:spTree>
    <p:extLst>
      <p:ext uri="{BB962C8B-B14F-4D97-AF65-F5344CB8AC3E}">
        <p14:creationId xmlns:p14="http://schemas.microsoft.com/office/powerpoint/2010/main" val="4092011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 “</a:t>
            </a:r>
            <a:r>
              <a:rPr lang="en-US" altLang="ko-KR" sz="2800" b="1" dirty="0" err="1"/>
              <a:t>kuard</a:t>
            </a:r>
            <a:r>
              <a:rPr lang="en-US" altLang="ko-KR" sz="2800" b="1" dirty="0"/>
              <a:t>”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Image Build :</a:t>
            </a:r>
          </a:p>
          <a:p>
            <a:pPr lvl="1">
              <a:buFont typeface="Wingdings" panose="05000000000000000000" pitchFamily="2" charset="2"/>
              <a:buChar char="§"/>
            </a:pPr>
            <a:r>
              <a:rPr lang="en-US" altLang="ko-KR" sz="1400" dirty="0"/>
              <a:t>Use the following command to build the previous example image.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78741092-26D4-4DBB-81CC-A9BD25340B0C}"/>
              </a:ext>
            </a:extLst>
          </p:cNvPr>
          <p:cNvGrpSpPr/>
          <p:nvPr/>
        </p:nvGrpSpPr>
        <p:grpSpPr>
          <a:xfrm>
            <a:off x="1333500" y="1948667"/>
            <a:ext cx="9525000" cy="2960665"/>
            <a:chOff x="1333500" y="1948667"/>
            <a:chExt cx="9525000" cy="2960665"/>
          </a:xfrm>
        </p:grpSpPr>
        <p:grpSp>
          <p:nvGrpSpPr>
            <p:cNvPr id="12" name="그룹 11">
              <a:extLst>
                <a:ext uri="{FF2B5EF4-FFF2-40B4-BE49-F238E27FC236}">
                  <a16:creationId xmlns:a16="http://schemas.microsoft.com/office/drawing/2014/main" id="{739609DA-B5C5-441D-B0E7-AAA498267EFC}"/>
                </a:ext>
              </a:extLst>
            </p:cNvPr>
            <p:cNvGrpSpPr/>
            <p:nvPr/>
          </p:nvGrpSpPr>
          <p:grpSpPr>
            <a:xfrm>
              <a:off x="1333500" y="1948667"/>
              <a:ext cx="9525000" cy="2960665"/>
              <a:chOff x="1333498" y="1532021"/>
              <a:chExt cx="9525000" cy="2960665"/>
            </a:xfrm>
          </p:grpSpPr>
          <p:pic>
            <p:nvPicPr>
              <p:cNvPr id="8" name="그림 7">
                <a:extLst>
                  <a:ext uri="{FF2B5EF4-FFF2-40B4-BE49-F238E27FC236}">
                    <a16:creationId xmlns:a16="http://schemas.microsoft.com/office/drawing/2014/main" id="{7687E216-4442-4928-AEBB-11BFAA4D29B8}"/>
                  </a:ext>
                </a:extLst>
              </p:cNvPr>
              <p:cNvPicPr>
                <a:picLocks noChangeAspect="1"/>
              </p:cNvPicPr>
              <p:nvPr/>
            </p:nvPicPr>
            <p:blipFill>
              <a:blip r:embed="rId2"/>
              <a:stretch>
                <a:fillRect/>
              </a:stretch>
            </p:blipFill>
            <p:spPr>
              <a:xfrm>
                <a:off x="1333498" y="2521011"/>
                <a:ext cx="9525000" cy="1971675"/>
              </a:xfrm>
              <a:prstGeom prst="rect">
                <a:avLst/>
              </a:prstGeom>
              <a:ln>
                <a:solidFill>
                  <a:schemeClr val="bg1">
                    <a:lumMod val="50000"/>
                  </a:schemeClr>
                </a:solidFill>
              </a:ln>
            </p:spPr>
          </p:pic>
          <p:sp>
            <p:nvSpPr>
              <p:cNvPr id="10" name="TextBox 9">
                <a:extLst>
                  <a:ext uri="{FF2B5EF4-FFF2-40B4-BE49-F238E27FC236}">
                    <a16:creationId xmlns:a16="http://schemas.microsoft.com/office/drawing/2014/main" id="{F3F0FDC2-130A-4240-9659-1BFEAEB444C3}"/>
                  </a:ext>
                </a:extLst>
              </p:cNvPr>
              <p:cNvSpPr txBox="1"/>
              <p:nvPr/>
            </p:nvSpPr>
            <p:spPr>
              <a:xfrm>
                <a:off x="3380871" y="1532021"/>
                <a:ext cx="5430253" cy="707886"/>
              </a:xfrm>
              <a:prstGeom prst="rect">
                <a:avLst/>
              </a:prstGeom>
              <a:noFill/>
              <a:ln>
                <a:solidFill>
                  <a:schemeClr val="bg1">
                    <a:lumMod val="50000"/>
                  </a:schemeClr>
                </a:solidFill>
              </a:ln>
            </p:spPr>
            <p:txBody>
              <a:bodyPr wrap="square" rtlCol="0">
                <a:spAutoFit/>
              </a:bodyPr>
              <a:lstStyle/>
              <a:p>
                <a:r>
                  <a:rPr lang="en-US" altLang="ko-KR" sz="1000" b="1" dirty="0" err="1"/>
                  <a:t>mkdir</a:t>
                </a:r>
                <a:r>
                  <a:rPr lang="en-US" altLang="ko-KR" sz="1000" b="1" dirty="0"/>
                  <a:t> </a:t>
                </a:r>
                <a:r>
                  <a:rPr lang="en-US" altLang="ko-KR" sz="1000" b="1" dirty="0" err="1"/>
                  <a:t>kuard</a:t>
                </a:r>
                <a:endParaRPr lang="en-US" altLang="ko-KR" sz="1000" b="1" dirty="0"/>
              </a:p>
              <a:p>
                <a:r>
                  <a:rPr lang="en-US" altLang="ko-KR" sz="1000" b="1" dirty="0"/>
                  <a:t>git clone </a:t>
                </a:r>
                <a:r>
                  <a:rPr lang="en-US" altLang="ko-KR" sz="1000" b="1" dirty="0">
                    <a:hlinkClick r:id="rId3"/>
                  </a:rPr>
                  <a:t>https://github.com/kubernetes-up-and-running/kuard.git</a:t>
                </a:r>
                <a:endParaRPr lang="en-US" altLang="ko-KR" sz="1000" b="1" dirty="0"/>
              </a:p>
              <a:p>
                <a:r>
                  <a:rPr lang="en-US" altLang="ko-KR" sz="1000" b="1" dirty="0"/>
                  <a:t>cd </a:t>
                </a:r>
                <a:r>
                  <a:rPr lang="en-US" altLang="ko-KR" sz="1000" b="1" dirty="0" err="1"/>
                  <a:t>kuard</a:t>
                </a:r>
                <a:endParaRPr lang="en-US" altLang="ko-KR" sz="1000" b="1" dirty="0"/>
              </a:p>
              <a:p>
                <a:r>
                  <a:rPr lang="en-US" altLang="ko-KR" sz="1000" b="1" dirty="0"/>
                  <a:t>docker build -t </a:t>
                </a:r>
                <a:r>
                  <a:rPr lang="en-US" altLang="ko-KR" sz="1000" b="1" dirty="0" err="1"/>
                  <a:t>kuard</a:t>
                </a:r>
                <a:r>
                  <a:rPr lang="en-US" altLang="ko-KR" sz="1000" b="1" dirty="0"/>
                  <a:t> . </a:t>
                </a:r>
                <a:endParaRPr lang="ko-KR" altLang="en-US" sz="1000" b="1" dirty="0"/>
              </a:p>
            </p:txBody>
          </p:sp>
          <p:sp>
            <p:nvSpPr>
              <p:cNvPr id="11" name="화살표: 아래쪽 10">
                <a:extLst>
                  <a:ext uri="{FF2B5EF4-FFF2-40B4-BE49-F238E27FC236}">
                    <a16:creationId xmlns:a16="http://schemas.microsoft.com/office/drawing/2014/main" id="{533E7EB3-49E9-45D9-8E29-0757EEF044E3}"/>
                  </a:ext>
                </a:extLst>
              </p:cNvPr>
              <p:cNvSpPr/>
              <p:nvPr/>
            </p:nvSpPr>
            <p:spPr>
              <a:xfrm>
                <a:off x="5911514" y="2248407"/>
                <a:ext cx="368969" cy="26410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597D19D7-4FCE-4F8D-996C-6CCB254468CD}"/>
                </a:ext>
              </a:extLst>
            </p:cNvPr>
            <p:cNvSpPr/>
            <p:nvPr/>
          </p:nvSpPr>
          <p:spPr>
            <a:xfrm>
              <a:off x="1435768" y="3769895"/>
              <a:ext cx="5029200" cy="6978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0320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Multistage Image Builds(3/4)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Light Image :</a:t>
            </a:r>
          </a:p>
          <a:p>
            <a:pPr lvl="1">
              <a:buFont typeface="Wingdings" panose="05000000000000000000" pitchFamily="2" charset="2"/>
              <a:buChar char="§"/>
            </a:pPr>
            <a:r>
              <a:rPr lang="en-US" altLang="ko-KR" sz="1400" dirty="0"/>
              <a:t>To see how we would do this with multistage builds, examine this </a:t>
            </a:r>
            <a:r>
              <a:rPr lang="en-US" altLang="ko-KR" sz="1400" b="1" dirty="0">
                <a:solidFill>
                  <a:srgbClr val="FF0000"/>
                </a:solidFill>
              </a:rPr>
              <a:t>multistage </a:t>
            </a:r>
            <a:r>
              <a:rPr lang="en-US" altLang="ko-KR" sz="1400" b="1" dirty="0" err="1">
                <a:solidFill>
                  <a:srgbClr val="FF0000"/>
                </a:solidFill>
              </a:rPr>
              <a:t>Dockerfile</a:t>
            </a:r>
            <a:r>
              <a:rPr lang="en-US" altLang="ko-KR" sz="1400" b="1" dirty="0">
                <a:solidFill>
                  <a:srgbClr val="FF0000"/>
                </a:solidFill>
              </a:rPr>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Building a container image using multistage builds can reduce your final container image size </a:t>
            </a:r>
            <a:r>
              <a:rPr lang="en-US" altLang="ko-KR" sz="1400" dirty="0"/>
              <a:t>by hundreds of megabytes and thus dramatically speed up your deployment times, since generally, deployment latency is gated on network performance. </a:t>
            </a:r>
            <a:r>
              <a:rPr lang="en-US" altLang="ko-KR" sz="1400" b="1" dirty="0"/>
              <a:t>The final image produced from this </a:t>
            </a:r>
            <a:r>
              <a:rPr lang="en-US" altLang="ko-KR" sz="1400" b="1" dirty="0" err="1"/>
              <a:t>Dockerfile</a:t>
            </a:r>
            <a:r>
              <a:rPr lang="en-US" altLang="ko-KR" sz="1400" b="1" dirty="0"/>
              <a:t> is somewhere around 20 MB(“</a:t>
            </a:r>
            <a:r>
              <a:rPr lang="en-US" altLang="ko-KR" sz="1400" b="1" dirty="0" err="1"/>
              <a:t>kuard</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1347D535-25AB-4300-A80B-6F32F962F7DC}"/>
              </a:ext>
            </a:extLst>
          </p:cNvPr>
          <p:cNvGrpSpPr/>
          <p:nvPr/>
        </p:nvGrpSpPr>
        <p:grpSpPr>
          <a:xfrm>
            <a:off x="970547" y="1531419"/>
            <a:ext cx="10250906" cy="3939540"/>
            <a:chOff x="1612231" y="1459230"/>
            <a:chExt cx="10250906" cy="3939540"/>
          </a:xfrm>
        </p:grpSpPr>
        <p:sp>
          <p:nvSpPr>
            <p:cNvPr id="4" name="직사각형 3">
              <a:extLst>
                <a:ext uri="{FF2B5EF4-FFF2-40B4-BE49-F238E27FC236}">
                  <a16:creationId xmlns:a16="http://schemas.microsoft.com/office/drawing/2014/main" id="{B5D69448-0C3A-4395-B5FB-5429D719C22D}"/>
                </a:ext>
              </a:extLst>
            </p:cNvPr>
            <p:cNvSpPr/>
            <p:nvPr/>
          </p:nvSpPr>
          <p:spPr>
            <a:xfrm>
              <a:off x="1612231" y="1459230"/>
              <a:ext cx="5125453" cy="3939540"/>
            </a:xfrm>
            <a:prstGeom prst="rect">
              <a:avLst/>
            </a:prstGeom>
            <a:ln>
              <a:solidFill>
                <a:schemeClr val="bg1">
                  <a:lumMod val="50000"/>
                </a:schemeClr>
              </a:solidFill>
            </a:ln>
          </p:spPr>
          <p:txBody>
            <a:bodyPr wrap="square">
              <a:spAutoFit/>
            </a:bodyPr>
            <a:lstStyle/>
            <a:p>
              <a:r>
                <a:rPr lang="en-US" altLang="ko-KR" sz="1000" b="1" dirty="0">
                  <a:solidFill>
                    <a:srgbClr val="FF0000"/>
                  </a:solidFill>
                </a:rPr>
                <a:t># STAGE 1: Build</a:t>
              </a:r>
            </a:p>
            <a:p>
              <a:r>
                <a:rPr lang="en-US" altLang="ko-KR" sz="1000" b="1" dirty="0"/>
                <a:t>FROM golang:1.12-alpine AS build</a:t>
              </a:r>
            </a:p>
            <a:p>
              <a:endParaRPr lang="en-US" altLang="ko-KR" sz="1000" b="1" dirty="0"/>
            </a:p>
            <a:p>
              <a:r>
                <a:rPr lang="en-US" altLang="ko-KR" sz="1000" b="1" dirty="0"/>
                <a:t># Install Node and NPM.</a:t>
              </a:r>
            </a:p>
            <a:p>
              <a:r>
                <a:rPr lang="en-US" altLang="ko-KR" sz="1000" b="1" dirty="0"/>
                <a:t>RUN </a:t>
              </a:r>
              <a:r>
                <a:rPr lang="en-US" altLang="ko-KR" sz="1000" b="1" dirty="0" err="1"/>
                <a:t>apk</a:t>
              </a:r>
              <a:r>
                <a:rPr lang="en-US" altLang="ko-KR" sz="1000" b="1" dirty="0"/>
                <a:t> update &amp;&amp; </a:t>
              </a:r>
              <a:r>
                <a:rPr lang="en-US" altLang="ko-KR" sz="1000" b="1" dirty="0" err="1"/>
                <a:t>apk</a:t>
              </a:r>
              <a:r>
                <a:rPr lang="en-US" altLang="ko-KR" sz="1000" b="1" dirty="0"/>
                <a:t> upgrade &amp;&amp; </a:t>
              </a:r>
              <a:r>
                <a:rPr lang="en-US" altLang="ko-KR" sz="1000" b="1" dirty="0" err="1"/>
                <a:t>apk</a:t>
              </a:r>
              <a:r>
                <a:rPr lang="en-US" altLang="ko-KR" sz="1000" b="1" dirty="0"/>
                <a:t> add --no-cache git </a:t>
              </a:r>
              <a:r>
                <a:rPr lang="en-US" altLang="ko-KR" sz="1000" b="1" dirty="0" err="1"/>
                <a:t>nodejs</a:t>
              </a:r>
              <a:r>
                <a:rPr lang="en-US" altLang="ko-KR" sz="1000" b="1" dirty="0"/>
                <a:t> bash </a:t>
              </a:r>
              <a:r>
                <a:rPr lang="en-US" altLang="ko-KR" sz="1000" b="1" dirty="0" err="1"/>
                <a:t>npm</a:t>
              </a:r>
              <a:endParaRPr lang="en-US" altLang="ko-KR" sz="1000" b="1" dirty="0"/>
            </a:p>
            <a:p>
              <a:endParaRPr lang="en-US" altLang="ko-KR" sz="1000" b="1" dirty="0"/>
            </a:p>
            <a:p>
              <a:r>
                <a:rPr lang="en-US" altLang="ko-KR" sz="1000" b="1" dirty="0"/>
                <a:t># Get dependencies for Go part of build</a:t>
              </a:r>
            </a:p>
            <a:p>
              <a:r>
                <a:rPr lang="en-US" altLang="ko-KR" sz="1000" b="1" dirty="0"/>
                <a:t>RUN go get -u github.com/</a:t>
              </a:r>
              <a:r>
                <a:rPr lang="en-US" altLang="ko-KR" sz="1000" b="1" dirty="0" err="1"/>
                <a:t>jteeuwen</a:t>
              </a:r>
              <a:r>
                <a:rPr lang="en-US" altLang="ko-KR" sz="1000" b="1" dirty="0"/>
                <a:t>/go-</a:t>
              </a:r>
              <a:r>
                <a:rPr lang="en-US" altLang="ko-KR" sz="1000" b="1" dirty="0" err="1"/>
                <a:t>bindata</a:t>
              </a:r>
              <a:r>
                <a:rPr lang="en-US" altLang="ko-KR" sz="1000" b="1" dirty="0"/>
                <a:t>/...</a:t>
              </a:r>
            </a:p>
            <a:p>
              <a:endParaRPr lang="en-US" altLang="ko-KR" sz="1000" b="1" dirty="0"/>
            </a:p>
            <a:p>
              <a:r>
                <a:rPr lang="en-US" altLang="ko-KR" sz="1000" b="1" dirty="0"/>
                <a:t>WORKDIR /go/</a:t>
              </a:r>
              <a:r>
                <a:rPr lang="en-US" altLang="ko-KR" sz="1000" b="1" dirty="0" err="1"/>
                <a:t>src</a:t>
              </a:r>
              <a:r>
                <a:rPr lang="en-US" altLang="ko-KR" sz="1000" b="1" dirty="0"/>
                <a:t>/github.com/</a:t>
              </a:r>
              <a:r>
                <a:rPr lang="en-US" altLang="ko-KR" sz="1000" b="1" dirty="0" err="1"/>
                <a:t>kubernetes</a:t>
              </a:r>
              <a:r>
                <a:rPr lang="en-US" altLang="ko-KR" sz="1000" b="1" dirty="0"/>
                <a:t>-up-and-running/</a:t>
              </a:r>
              <a:r>
                <a:rPr lang="en-US" altLang="ko-KR" sz="1000" b="1" dirty="0" err="1"/>
                <a:t>kuard</a:t>
              </a:r>
              <a:endParaRPr lang="en-US" altLang="ko-KR" sz="1000" b="1" dirty="0"/>
            </a:p>
            <a:p>
              <a:endParaRPr lang="en-US" altLang="ko-KR" sz="1000" b="1" dirty="0"/>
            </a:p>
            <a:p>
              <a:r>
                <a:rPr lang="en-US" altLang="ko-KR" sz="1000" b="1" dirty="0"/>
                <a:t># Copy all sources in</a:t>
              </a:r>
            </a:p>
            <a:p>
              <a:r>
                <a:rPr lang="en-US" altLang="ko-KR" sz="1000" b="1" dirty="0"/>
                <a:t>COPY . .</a:t>
              </a:r>
            </a:p>
            <a:p>
              <a:endParaRPr lang="en-US" altLang="ko-KR" sz="1000" b="1" dirty="0"/>
            </a:p>
            <a:p>
              <a:r>
                <a:rPr lang="en-US" altLang="ko-KR" sz="1000" b="1" dirty="0"/>
                <a:t># This is a set of variables that the build script expects</a:t>
              </a:r>
            </a:p>
            <a:p>
              <a:r>
                <a:rPr lang="en-US" altLang="ko-KR" sz="1000" b="1" dirty="0"/>
                <a:t>ENV VERBOSE=0</a:t>
              </a:r>
            </a:p>
            <a:p>
              <a:r>
                <a:rPr lang="en-US" altLang="ko-KR" sz="1000" b="1" dirty="0"/>
                <a:t>ENV PKG=github.com/</a:t>
              </a:r>
              <a:r>
                <a:rPr lang="en-US" altLang="ko-KR" sz="1000" b="1" dirty="0" err="1"/>
                <a:t>kubernetes</a:t>
              </a:r>
              <a:r>
                <a:rPr lang="en-US" altLang="ko-KR" sz="1000" b="1" dirty="0"/>
                <a:t>-up-and-running/</a:t>
              </a:r>
              <a:r>
                <a:rPr lang="en-US" altLang="ko-KR" sz="1000" b="1" dirty="0" err="1"/>
                <a:t>kuard</a:t>
              </a:r>
              <a:endParaRPr lang="en-US" altLang="ko-KR" sz="1000" b="1" dirty="0"/>
            </a:p>
            <a:p>
              <a:r>
                <a:rPr lang="en-US" altLang="ko-KR" sz="1000" b="1" dirty="0"/>
                <a:t>ENV ARCH=amd64</a:t>
              </a:r>
            </a:p>
            <a:p>
              <a:r>
                <a:rPr lang="en-US" altLang="ko-KR" sz="1000" b="1" dirty="0"/>
                <a:t>ENV VERSION=test</a:t>
              </a:r>
            </a:p>
            <a:p>
              <a:endParaRPr lang="en-US" altLang="ko-KR" sz="1000" b="1" dirty="0"/>
            </a:p>
            <a:p>
              <a:r>
                <a:rPr lang="en-US" altLang="ko-KR" sz="1000" b="1" dirty="0"/>
                <a:t># When running on Windows 10, you need to clean up the ^</a:t>
              </a:r>
              <a:r>
                <a:rPr lang="en-US" altLang="ko-KR" sz="1000" b="1" dirty="0" err="1"/>
                <a:t>Ms</a:t>
              </a:r>
              <a:r>
                <a:rPr lang="en-US" altLang="ko-KR" sz="1000" b="1" dirty="0"/>
                <a:t> in the script</a:t>
              </a:r>
            </a:p>
            <a:p>
              <a:r>
                <a:rPr lang="en-US" altLang="ko-KR" sz="1000" b="1" dirty="0"/>
                <a:t>RUN dos2unix build/build.sh</a:t>
              </a:r>
            </a:p>
            <a:p>
              <a:endParaRPr lang="en-US" altLang="ko-KR" sz="1000" b="1" dirty="0"/>
            </a:p>
            <a:p>
              <a:r>
                <a:rPr lang="en-US" altLang="ko-KR" sz="1000" b="1" dirty="0"/>
                <a:t># Do the build. Script is part of incoming sources.</a:t>
              </a:r>
            </a:p>
            <a:p>
              <a:r>
                <a:rPr lang="en-US" altLang="ko-KR" sz="1000" b="1" dirty="0"/>
                <a:t>RUN build/build.sh</a:t>
              </a:r>
            </a:p>
          </p:txBody>
        </p:sp>
        <p:sp>
          <p:nvSpPr>
            <p:cNvPr id="8" name="직사각형 7">
              <a:extLst>
                <a:ext uri="{FF2B5EF4-FFF2-40B4-BE49-F238E27FC236}">
                  <a16:creationId xmlns:a16="http://schemas.microsoft.com/office/drawing/2014/main" id="{C1AA6FF5-F4E8-4B82-8E94-4D00DA314877}"/>
                </a:ext>
              </a:extLst>
            </p:cNvPr>
            <p:cNvSpPr/>
            <p:nvPr/>
          </p:nvSpPr>
          <p:spPr>
            <a:xfrm>
              <a:off x="6737684" y="1459230"/>
              <a:ext cx="5125453" cy="1169551"/>
            </a:xfrm>
            <a:prstGeom prst="rect">
              <a:avLst/>
            </a:prstGeom>
            <a:ln>
              <a:solidFill>
                <a:schemeClr val="bg1">
                  <a:lumMod val="50000"/>
                </a:schemeClr>
              </a:solidFill>
            </a:ln>
          </p:spPr>
          <p:txBody>
            <a:bodyPr wrap="square">
              <a:spAutoFit/>
            </a:bodyPr>
            <a:lstStyle/>
            <a:p>
              <a:pPr lvl="0"/>
              <a:r>
                <a:rPr lang="en-US" altLang="ko-KR" sz="1000" b="1" dirty="0">
                  <a:solidFill>
                    <a:srgbClr val="FF0000"/>
                  </a:solidFill>
                </a:rPr>
                <a:t># STAGE 2: Runtime</a:t>
              </a:r>
            </a:p>
            <a:p>
              <a:pPr lvl="0"/>
              <a:r>
                <a:rPr lang="en-US" altLang="ko-KR" sz="1000" b="1" dirty="0">
                  <a:solidFill>
                    <a:srgbClr val="FF0000"/>
                  </a:solidFill>
                </a:rPr>
                <a:t>FROM alpine</a:t>
              </a:r>
            </a:p>
            <a:p>
              <a:pPr lvl="0"/>
              <a:endParaRPr lang="en-US" altLang="ko-KR" sz="1000" b="1" dirty="0">
                <a:solidFill>
                  <a:prstClr val="black"/>
                </a:solidFill>
              </a:endParaRPr>
            </a:p>
            <a:p>
              <a:pPr lvl="0"/>
              <a:r>
                <a:rPr lang="en-US" altLang="ko-KR" sz="1000" b="1" dirty="0">
                  <a:solidFill>
                    <a:prstClr val="black"/>
                  </a:solidFill>
                </a:rPr>
                <a:t>USER </a:t>
              </a:r>
              <a:r>
                <a:rPr lang="en-US" altLang="ko-KR" sz="1000" b="1" dirty="0" err="1">
                  <a:solidFill>
                    <a:prstClr val="black"/>
                  </a:solidFill>
                </a:rPr>
                <a:t>nobody:nobody</a:t>
              </a:r>
              <a:endParaRPr lang="en-US" altLang="ko-KR" sz="1000" b="1" dirty="0">
                <a:solidFill>
                  <a:prstClr val="black"/>
                </a:solidFill>
              </a:endParaRPr>
            </a:p>
            <a:p>
              <a:pPr lvl="0"/>
              <a:r>
                <a:rPr lang="en-US" altLang="ko-KR" sz="1000" b="1" dirty="0">
                  <a:solidFill>
                    <a:srgbClr val="FF0000"/>
                  </a:solidFill>
                </a:rPr>
                <a:t>COPY --from=build /go/bin/</a:t>
              </a:r>
              <a:r>
                <a:rPr lang="en-US" altLang="ko-KR" sz="1000" b="1" dirty="0" err="1">
                  <a:solidFill>
                    <a:srgbClr val="FF0000"/>
                  </a:solidFill>
                </a:rPr>
                <a:t>kuard</a:t>
              </a:r>
              <a:r>
                <a:rPr lang="en-US" altLang="ko-KR" sz="1000" b="1" dirty="0">
                  <a:solidFill>
                    <a:srgbClr val="FF0000"/>
                  </a:solidFill>
                </a:rPr>
                <a:t> /</a:t>
              </a:r>
              <a:r>
                <a:rPr lang="en-US" altLang="ko-KR" sz="1000" b="1" dirty="0" err="1">
                  <a:solidFill>
                    <a:srgbClr val="FF0000"/>
                  </a:solidFill>
                </a:rPr>
                <a:t>kuard</a:t>
              </a:r>
              <a:endParaRPr lang="en-US" altLang="ko-KR" sz="1000" b="1" dirty="0">
                <a:solidFill>
                  <a:srgbClr val="FF0000"/>
                </a:solidFill>
              </a:endParaRPr>
            </a:p>
            <a:p>
              <a:pPr lvl="0"/>
              <a:endParaRPr lang="en-US" altLang="ko-KR" sz="1000" b="1" dirty="0">
                <a:solidFill>
                  <a:prstClr val="black"/>
                </a:solidFill>
              </a:endParaRPr>
            </a:p>
            <a:p>
              <a:pPr lvl="0"/>
              <a:r>
                <a:rPr lang="en-US" altLang="ko-KR" sz="1000" b="1" dirty="0">
                  <a:solidFill>
                    <a:prstClr val="black"/>
                  </a:solidFill>
                </a:rPr>
                <a:t>CMD [ </a:t>
              </a:r>
              <a:r>
                <a:rPr lang="en-US" altLang="ko-KR" sz="1000" b="1" dirty="0">
                  <a:solidFill>
                    <a:srgbClr val="FF0000"/>
                  </a:solidFill>
                </a:rPr>
                <a:t>"/</a:t>
              </a:r>
              <a:r>
                <a:rPr lang="en-US" altLang="ko-KR" sz="1000" b="1" dirty="0" err="1">
                  <a:solidFill>
                    <a:srgbClr val="FF0000"/>
                  </a:solidFill>
                </a:rPr>
                <a:t>kuard</a:t>
              </a:r>
              <a:r>
                <a:rPr lang="en-US" altLang="ko-KR" sz="1000" b="1" dirty="0">
                  <a:solidFill>
                    <a:srgbClr val="FF0000"/>
                  </a:solidFill>
                </a:rPr>
                <a:t>" </a:t>
              </a:r>
              <a:r>
                <a:rPr lang="en-US" altLang="ko-KR" sz="1000" b="1" dirty="0">
                  <a:solidFill>
                    <a:prstClr val="black"/>
                  </a:solidFill>
                </a:rPr>
                <a:t>]</a:t>
              </a:r>
              <a:endParaRPr lang="ko-KR" altLang="en-US" sz="1000" b="1" dirty="0">
                <a:solidFill>
                  <a:prstClr val="black"/>
                </a:solidFill>
              </a:endParaRPr>
            </a:p>
          </p:txBody>
        </p:sp>
      </p:grpSp>
      <p:sp>
        <p:nvSpPr>
          <p:cNvPr id="10" name="직사각형 9">
            <a:extLst>
              <a:ext uri="{FF2B5EF4-FFF2-40B4-BE49-F238E27FC236}">
                <a16:creationId xmlns:a16="http://schemas.microsoft.com/office/drawing/2014/main" id="{CCCE19E7-484A-407F-A5BE-4C998AA21A25}"/>
              </a:ext>
            </a:extLst>
          </p:cNvPr>
          <p:cNvSpPr/>
          <p:nvPr/>
        </p:nvSpPr>
        <p:spPr>
          <a:xfrm>
            <a:off x="6096000" y="2700970"/>
            <a:ext cx="5125453" cy="707886"/>
          </a:xfrm>
          <a:prstGeom prst="rect">
            <a:avLst/>
          </a:prstGeom>
        </p:spPr>
        <p:txBody>
          <a:bodyPr wrap="square">
            <a:spAutoFit/>
          </a:bodyPr>
          <a:lstStyle/>
          <a:p>
            <a:r>
              <a:rPr lang="en-US" altLang="ko-KR" sz="1000" b="1" dirty="0"/>
              <a:t>This </a:t>
            </a:r>
            <a:r>
              <a:rPr lang="en-US" altLang="ko-KR" sz="1000" b="1" dirty="0" err="1"/>
              <a:t>Dockerfile</a:t>
            </a:r>
            <a:r>
              <a:rPr lang="en-US" altLang="ko-KR" sz="1000" b="1" dirty="0"/>
              <a:t> produces two images. </a:t>
            </a:r>
            <a:r>
              <a:rPr lang="en-US" altLang="ko-KR" sz="1000" b="1" dirty="0">
                <a:solidFill>
                  <a:srgbClr val="FF0000"/>
                </a:solidFill>
              </a:rPr>
              <a:t>The first is the build image</a:t>
            </a:r>
            <a:r>
              <a:rPr lang="en-US" altLang="ko-KR" sz="1000" b="1" dirty="0"/>
              <a:t>, which contains the </a:t>
            </a:r>
            <a:r>
              <a:rPr lang="en-US" altLang="ko-KR" sz="1000" b="1" i="1" dirty="0"/>
              <a:t>Go compiler, React.js toolchain</a:t>
            </a:r>
            <a:r>
              <a:rPr lang="en-US" altLang="ko-KR" sz="1000" b="1" dirty="0"/>
              <a:t>, and </a:t>
            </a:r>
            <a:r>
              <a:rPr lang="en-US" altLang="ko-KR" sz="1000" b="1" i="1" dirty="0"/>
              <a:t>source code </a:t>
            </a:r>
            <a:r>
              <a:rPr lang="en-US" altLang="ko-KR" sz="1000" b="1" dirty="0"/>
              <a:t>for the program. </a:t>
            </a:r>
            <a:r>
              <a:rPr lang="en-US" altLang="ko-KR" sz="1000" b="1" dirty="0">
                <a:solidFill>
                  <a:srgbClr val="FF0000"/>
                </a:solidFill>
              </a:rPr>
              <a:t>The second is the deployment image</a:t>
            </a:r>
            <a:r>
              <a:rPr lang="en-US" altLang="ko-KR" sz="1000" b="1" dirty="0"/>
              <a:t>, which simply contains </a:t>
            </a:r>
            <a:r>
              <a:rPr lang="en-US" altLang="ko-KR" sz="1000" b="1" i="1" dirty="0"/>
              <a:t>the compiled binary</a:t>
            </a:r>
            <a:r>
              <a:rPr lang="en-US" altLang="ko-KR" sz="1000" b="1" dirty="0"/>
              <a:t>. </a:t>
            </a:r>
          </a:p>
        </p:txBody>
      </p:sp>
    </p:spTree>
    <p:extLst>
      <p:ext uri="{BB962C8B-B14F-4D97-AF65-F5344CB8AC3E}">
        <p14:creationId xmlns:p14="http://schemas.microsoft.com/office/powerpoint/2010/main" val="4816239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Multistage Image Builds(4/4)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Light Image :</a:t>
            </a:r>
          </a:p>
          <a:p>
            <a:pPr lvl="1">
              <a:buFont typeface="Wingdings" panose="05000000000000000000" pitchFamily="2" charset="2"/>
              <a:buChar char="§"/>
            </a:pPr>
            <a:r>
              <a:rPr lang="en-US" altLang="ko-KR" sz="1400" dirty="0"/>
              <a:t>You can build and run this image with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1FEDA95-825E-4350-9C22-561E2CE703DD}"/>
              </a:ext>
            </a:extLst>
          </p:cNvPr>
          <p:cNvGrpSpPr/>
          <p:nvPr/>
        </p:nvGrpSpPr>
        <p:grpSpPr>
          <a:xfrm>
            <a:off x="2728161" y="1509646"/>
            <a:ext cx="6735679" cy="4876533"/>
            <a:chOff x="2728161" y="1509646"/>
            <a:chExt cx="6735679" cy="4876533"/>
          </a:xfrm>
        </p:grpSpPr>
        <p:sp>
          <p:nvSpPr>
            <p:cNvPr id="4" name="직사각형 3">
              <a:extLst>
                <a:ext uri="{FF2B5EF4-FFF2-40B4-BE49-F238E27FC236}">
                  <a16:creationId xmlns:a16="http://schemas.microsoft.com/office/drawing/2014/main" id="{BEF1FE0D-E810-4B56-886F-240BAC16203B}"/>
                </a:ext>
              </a:extLst>
            </p:cNvPr>
            <p:cNvSpPr/>
            <p:nvPr/>
          </p:nvSpPr>
          <p:spPr>
            <a:xfrm>
              <a:off x="3048000" y="1509646"/>
              <a:ext cx="6096000" cy="400110"/>
            </a:xfrm>
            <a:prstGeom prst="rect">
              <a:avLst/>
            </a:prstGeom>
            <a:ln>
              <a:solidFill>
                <a:schemeClr val="bg1">
                  <a:lumMod val="50000"/>
                </a:schemeClr>
              </a:solidFill>
            </a:ln>
          </p:spPr>
          <p:txBody>
            <a:bodyPr>
              <a:spAutoFit/>
            </a:bodyPr>
            <a:lstStyle/>
            <a:p>
              <a:r>
                <a:rPr lang="en-US" altLang="ko-KR" sz="1000" b="1" dirty="0"/>
                <a:t>docker build -t </a:t>
              </a:r>
              <a:r>
                <a:rPr lang="en-US" altLang="ko-KR" sz="1000" b="1" dirty="0" err="1">
                  <a:solidFill>
                    <a:srgbClr val="FF0000"/>
                  </a:solidFill>
                </a:rPr>
                <a:t>kuard</a:t>
              </a:r>
              <a:r>
                <a:rPr lang="en-US" altLang="ko-KR" sz="1000" b="1" dirty="0"/>
                <a:t> .</a:t>
              </a:r>
            </a:p>
            <a:p>
              <a:r>
                <a:rPr lang="en-US" altLang="ko-KR" sz="1000" b="1" dirty="0"/>
                <a:t>docker run --rm -p 8080:8080 </a:t>
              </a:r>
              <a:r>
                <a:rPr lang="en-US" altLang="ko-KR" sz="1000" b="1" dirty="0" err="1">
                  <a:solidFill>
                    <a:srgbClr val="FF0000"/>
                  </a:solidFill>
                </a:rPr>
                <a:t>kuard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33397AD-3AB5-499A-996B-B0D7C0C15082}"/>
                </a:ext>
              </a:extLst>
            </p:cNvPr>
            <p:cNvPicPr>
              <a:picLocks noChangeAspect="1"/>
            </p:cNvPicPr>
            <p:nvPr/>
          </p:nvPicPr>
          <p:blipFill>
            <a:blip r:embed="rId2"/>
            <a:stretch>
              <a:fillRect/>
            </a:stretch>
          </p:blipFill>
          <p:spPr>
            <a:xfrm>
              <a:off x="2728161" y="2216793"/>
              <a:ext cx="6735679" cy="416938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9397D12-B188-4089-ABC7-F21782148C3F}"/>
                </a:ext>
              </a:extLst>
            </p:cNvPr>
            <p:cNvSpPr/>
            <p:nvPr/>
          </p:nvSpPr>
          <p:spPr>
            <a:xfrm>
              <a:off x="5907504" y="1938014"/>
              <a:ext cx="376990" cy="25592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2D38A387-A133-4232-9933-FD3D4FA93911}"/>
              </a:ext>
            </a:extLst>
          </p:cNvPr>
          <p:cNvGrpSpPr/>
          <p:nvPr/>
        </p:nvGrpSpPr>
        <p:grpSpPr>
          <a:xfrm>
            <a:off x="6607866" y="3277216"/>
            <a:ext cx="4745934" cy="2853063"/>
            <a:chOff x="6607866" y="3277216"/>
            <a:chExt cx="4745934" cy="2853063"/>
          </a:xfrm>
        </p:grpSpPr>
        <p:pic>
          <p:nvPicPr>
            <p:cNvPr id="11" name="그림 10">
              <a:extLst>
                <a:ext uri="{FF2B5EF4-FFF2-40B4-BE49-F238E27FC236}">
                  <a16:creationId xmlns:a16="http://schemas.microsoft.com/office/drawing/2014/main" id="{D92485B8-1C22-4293-A661-3C8B3B657ACC}"/>
                </a:ext>
              </a:extLst>
            </p:cNvPr>
            <p:cNvPicPr>
              <a:picLocks noChangeAspect="1"/>
            </p:cNvPicPr>
            <p:nvPr/>
          </p:nvPicPr>
          <p:blipFill>
            <a:blip r:embed="rId3"/>
            <a:stretch>
              <a:fillRect/>
            </a:stretch>
          </p:blipFill>
          <p:spPr>
            <a:xfrm>
              <a:off x="6943268" y="3277216"/>
              <a:ext cx="4410532" cy="2853063"/>
            </a:xfrm>
            <a:prstGeom prst="rect">
              <a:avLst/>
            </a:prstGeom>
            <a:ln>
              <a:solidFill>
                <a:schemeClr val="bg1">
                  <a:lumMod val="50000"/>
                </a:schemeClr>
              </a:solidFill>
            </a:ln>
          </p:spPr>
        </p:pic>
        <p:sp>
          <p:nvSpPr>
            <p:cNvPr id="12" name="화살표: 오른쪽 11">
              <a:extLst>
                <a:ext uri="{FF2B5EF4-FFF2-40B4-BE49-F238E27FC236}">
                  <a16:creationId xmlns:a16="http://schemas.microsoft.com/office/drawing/2014/main" id="{0C26FC33-9802-4261-B979-FB9DD40BBEFF}"/>
                </a:ext>
              </a:extLst>
            </p:cNvPr>
            <p:cNvSpPr/>
            <p:nvPr/>
          </p:nvSpPr>
          <p:spPr>
            <a:xfrm>
              <a:off x="6607866" y="4547336"/>
              <a:ext cx="320842" cy="312821"/>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47675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Storing Images in a Remote Registry(1/2)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Private and Public Registries :</a:t>
            </a:r>
          </a:p>
          <a:p>
            <a:pPr lvl="1">
              <a:buFont typeface="Wingdings" panose="05000000000000000000" pitchFamily="2" charset="2"/>
              <a:buChar char="§"/>
            </a:pPr>
            <a:r>
              <a:rPr lang="en-US" altLang="ko-KR" sz="1400" b="1" dirty="0"/>
              <a:t>Kubernetes relies on the fact that images described in a </a:t>
            </a:r>
            <a:r>
              <a:rPr lang="en-US" altLang="ko-KR" sz="1400" b="1" dirty="0">
                <a:solidFill>
                  <a:srgbClr val="FF0000"/>
                </a:solidFill>
              </a:rPr>
              <a:t>Pod manifest </a:t>
            </a:r>
            <a:r>
              <a:rPr lang="en-US" altLang="ko-KR" sz="1400" b="1" dirty="0"/>
              <a:t>are available across every machine in the cluster</a:t>
            </a:r>
            <a:r>
              <a:rPr lang="en-US" altLang="ko-KR" sz="1400" dirty="0"/>
              <a:t>. One option for getting this image to all machines in the cluster would be to </a:t>
            </a:r>
            <a:r>
              <a:rPr lang="en-US" altLang="ko-KR" sz="1400" b="1" dirty="0"/>
              <a:t>export the “</a:t>
            </a:r>
            <a:r>
              <a:rPr lang="en-US" altLang="ko-KR" sz="1400" b="1" dirty="0" err="1"/>
              <a:t>kuard</a:t>
            </a:r>
            <a:r>
              <a:rPr lang="en-US" altLang="ko-KR" sz="1400" b="1" dirty="0"/>
              <a:t>” image and import it on each of them</a:t>
            </a:r>
            <a:r>
              <a:rPr lang="en-US" altLang="ko-KR" sz="1400" dirty="0"/>
              <a:t>. The process of manually importing and exporting Docker images has human error written all over it. </a:t>
            </a:r>
          </a:p>
          <a:p>
            <a:pPr lvl="1">
              <a:buFont typeface="Wingdings" panose="05000000000000000000" pitchFamily="2" charset="2"/>
              <a:buChar char="§"/>
            </a:pPr>
            <a:r>
              <a:rPr lang="en-US" altLang="ko-KR" sz="1400" b="1" dirty="0"/>
              <a:t>The standard within the Docker community is to store Docker images in a remote registry</a:t>
            </a:r>
            <a:r>
              <a:rPr lang="en-US" altLang="ko-KR" sz="1400" dirty="0"/>
              <a:t>. There are tons of options when it comes to Docker registries, and what you choose will be largely based on your needs in terms of security and collaboration features.</a:t>
            </a:r>
          </a:p>
          <a:p>
            <a:pPr lvl="1">
              <a:buFont typeface="Wingdings" panose="05000000000000000000" pitchFamily="2" charset="2"/>
              <a:buChar char="§"/>
            </a:pPr>
            <a:r>
              <a:rPr lang="en-US" altLang="ko-KR" sz="1400" b="1" dirty="0"/>
              <a:t>Generally speaking, the first choice you need to make regarding a registry is whether to use a </a:t>
            </a:r>
            <a:r>
              <a:rPr lang="en-US" altLang="ko-KR" sz="1400" b="1" dirty="0">
                <a:solidFill>
                  <a:srgbClr val="FF0000"/>
                </a:solidFill>
              </a:rPr>
              <a:t>private</a:t>
            </a:r>
            <a:r>
              <a:rPr lang="en-US" altLang="ko-KR" sz="1400" b="1" dirty="0"/>
              <a:t> or a </a:t>
            </a:r>
            <a:r>
              <a:rPr lang="en-US" altLang="ko-KR" sz="1400" b="1" dirty="0">
                <a:solidFill>
                  <a:srgbClr val="FF0000"/>
                </a:solidFill>
              </a:rPr>
              <a:t>public registry</a:t>
            </a:r>
            <a:r>
              <a:rPr lang="en-US" altLang="ko-KR" sz="1400" dirty="0"/>
              <a:t>. </a:t>
            </a:r>
            <a:r>
              <a:rPr lang="en-US" altLang="ko-KR" sz="1400" b="1" dirty="0"/>
              <a:t>Public registries allow anyone to download images stored in the registry, while private registries require authentication to download images</a:t>
            </a:r>
            <a:r>
              <a:rPr lang="en-US" altLang="ko-KR" sz="1400" dirty="0"/>
              <a:t>. In choosing public versus private, it’s helpful to consider your use case.</a:t>
            </a:r>
          </a:p>
          <a:p>
            <a:pPr lvl="1">
              <a:buFont typeface="Wingdings" panose="05000000000000000000" pitchFamily="2" charset="2"/>
              <a:buChar char="§"/>
            </a:pPr>
            <a:r>
              <a:rPr lang="en-US" altLang="ko-KR" sz="1400" b="1" dirty="0"/>
              <a:t>Public registries are great for sharing images with the world</a:t>
            </a:r>
            <a:r>
              <a:rPr lang="en-US" altLang="ko-KR" sz="1400" dirty="0"/>
              <a:t>, because they allow for easy, unauthenticated use of the container images. You can easily distribute your software as a container image and have confidence that users everywhere will have the exact same experience.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C57605A-FEF5-4D0B-93A2-890733597311}"/>
              </a:ext>
            </a:extLst>
          </p:cNvPr>
          <p:cNvPicPr>
            <a:picLocks noChangeAspect="1"/>
          </p:cNvPicPr>
          <p:nvPr/>
        </p:nvPicPr>
        <p:blipFill>
          <a:blip r:embed="rId2"/>
          <a:stretch>
            <a:fillRect/>
          </a:stretch>
        </p:blipFill>
        <p:spPr>
          <a:xfrm>
            <a:off x="3736095" y="3914274"/>
            <a:ext cx="4719809" cy="2494756"/>
          </a:xfrm>
          <a:prstGeom prst="rect">
            <a:avLst/>
          </a:prstGeom>
        </p:spPr>
      </p:pic>
    </p:spTree>
    <p:extLst>
      <p:ext uri="{BB962C8B-B14F-4D97-AF65-F5344CB8AC3E}">
        <p14:creationId xmlns:p14="http://schemas.microsoft.com/office/powerpoint/2010/main" val="31962245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Storing Images in a Remote Registry(2/2)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Private and Public Registries :</a:t>
            </a:r>
          </a:p>
          <a:p>
            <a:pPr lvl="1">
              <a:buFont typeface="Wingdings" panose="05000000000000000000" pitchFamily="2" charset="2"/>
              <a:buChar char="§"/>
            </a:pPr>
            <a:r>
              <a:rPr lang="en-US" altLang="ko-KR" sz="1400" b="1" dirty="0"/>
              <a:t>In contrast, a private registry is best for storing applications that are private to your service</a:t>
            </a:r>
            <a:r>
              <a:rPr lang="en-US" altLang="ko-KR" sz="1400" dirty="0"/>
              <a:t> and that you don’t want the world to use.</a:t>
            </a:r>
            <a:endParaRPr lang="en-US" altLang="ko-KR" sz="1400" b="1" dirty="0"/>
          </a:p>
          <a:p>
            <a:pPr lvl="1">
              <a:buFont typeface="Wingdings" panose="05000000000000000000" pitchFamily="2" charset="2"/>
              <a:buChar char="§"/>
            </a:pPr>
            <a:r>
              <a:rPr lang="en-US" altLang="ko-KR" sz="1400" b="1" dirty="0"/>
              <a:t>Regardless, to push an image, you need to authenticate to the registry</a:t>
            </a:r>
            <a:r>
              <a:rPr lang="en-US" altLang="ko-KR" sz="1400" dirty="0"/>
              <a:t>. You can generally do this with the “</a:t>
            </a:r>
            <a:r>
              <a:rPr lang="en-US" altLang="ko-KR" sz="1400" b="1" dirty="0"/>
              <a:t>docker login</a:t>
            </a:r>
            <a:r>
              <a:rPr lang="en-US" altLang="ko-KR" sz="1400" dirty="0"/>
              <a:t>” command, though there are some differences for certain registries. We can push the image into the </a:t>
            </a:r>
            <a:r>
              <a:rPr lang="en-US" altLang="ko-KR" sz="1400" b="1" dirty="0"/>
              <a:t>Google Cloud Platform registry</a:t>
            </a:r>
            <a:r>
              <a:rPr lang="en-US" altLang="ko-KR" sz="1400" dirty="0"/>
              <a:t>, called the “</a:t>
            </a:r>
            <a:r>
              <a:rPr lang="en-US" altLang="ko-KR" sz="1400" b="1" dirty="0"/>
              <a:t>Google Container Registry (GCR)</a:t>
            </a:r>
            <a:r>
              <a:rPr lang="en-US" altLang="ko-KR" sz="1400" dirty="0"/>
              <a:t>”; other clouds, including “</a:t>
            </a:r>
            <a:r>
              <a:rPr lang="en-US" altLang="ko-KR" sz="1400" b="1" dirty="0"/>
              <a:t>Azure</a:t>
            </a:r>
            <a:r>
              <a:rPr lang="en-US" altLang="ko-KR" sz="1400" dirty="0"/>
              <a:t>” and “</a:t>
            </a:r>
            <a:r>
              <a:rPr lang="en-US" altLang="ko-KR" sz="1400" b="1" dirty="0"/>
              <a:t>Amazon Web Services (AWS)</a:t>
            </a:r>
            <a:r>
              <a:rPr lang="en-US" altLang="ko-KR" sz="1400" dirty="0"/>
              <a:t>”, also have hosted container registries. </a:t>
            </a:r>
            <a:r>
              <a:rPr lang="en-US" altLang="ko-KR" sz="1400" b="1" dirty="0"/>
              <a:t>For new users hosting publicly readable images, the Docker Hub is a great place to start</a:t>
            </a:r>
            <a:r>
              <a:rPr lang="en-US" altLang="ko-KR" sz="1400" dirty="0"/>
              <a:t>.</a:t>
            </a:r>
          </a:p>
          <a:p>
            <a:pPr lvl="1">
              <a:buFont typeface="Wingdings" panose="05000000000000000000" pitchFamily="2" charset="2"/>
              <a:buChar char="§"/>
            </a:pPr>
            <a:r>
              <a:rPr lang="en-US" altLang="ko-KR" sz="1400" b="1" dirty="0"/>
              <a:t>Once you are logged in, you can </a:t>
            </a:r>
            <a:r>
              <a:rPr lang="en-US" altLang="ko-KR" sz="1400" b="1" dirty="0">
                <a:solidFill>
                  <a:srgbClr val="FF0000"/>
                </a:solidFill>
              </a:rPr>
              <a:t>tag</a:t>
            </a:r>
            <a:r>
              <a:rPr lang="en-US" altLang="ko-KR" sz="1400" b="1" dirty="0"/>
              <a:t> the “</a:t>
            </a:r>
            <a:r>
              <a:rPr lang="en-US" altLang="ko-KR" sz="1400" b="1" dirty="0" err="1"/>
              <a:t>kuard</a:t>
            </a:r>
            <a:r>
              <a:rPr lang="en-US" altLang="ko-KR" sz="1400" b="1" dirty="0"/>
              <a:t>” image by prepending the target Docker registry</a:t>
            </a:r>
            <a:r>
              <a:rPr lang="en-US" altLang="ko-KR" sz="1400" dirty="0"/>
              <a:t>. You can also append another identifier that is usually used for the version or variant of that image, separated by a colon (:). Then Then you can </a:t>
            </a:r>
            <a:r>
              <a:rPr lang="en-US" altLang="ko-KR" sz="1400" b="1" dirty="0">
                <a:solidFill>
                  <a:srgbClr val="FF0000"/>
                </a:solidFill>
              </a:rPr>
              <a:t>push</a:t>
            </a:r>
            <a:r>
              <a:rPr lang="en-US" altLang="ko-KR" sz="1400" dirty="0"/>
              <a:t> the “</a:t>
            </a:r>
            <a:r>
              <a:rPr lang="en-US" altLang="ko-KR" sz="1400" b="1" dirty="0" err="1"/>
              <a:t>kuard</a:t>
            </a:r>
            <a:r>
              <a:rPr lang="en-US" altLang="ko-KR" sz="1400" dirty="0"/>
              <a:t>” image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9422AD8-2AAD-4440-A23B-8F8C633E1F0F}"/>
              </a:ext>
            </a:extLst>
          </p:cNvPr>
          <p:cNvSpPr/>
          <p:nvPr/>
        </p:nvSpPr>
        <p:spPr>
          <a:xfrm>
            <a:off x="4337345" y="3305889"/>
            <a:ext cx="4211409" cy="553998"/>
          </a:xfrm>
          <a:prstGeom prst="rect">
            <a:avLst/>
          </a:prstGeom>
          <a:ln>
            <a:solidFill>
              <a:schemeClr val="bg1">
                <a:lumMod val="50000"/>
              </a:schemeClr>
            </a:solidFill>
          </a:ln>
        </p:spPr>
        <p:txBody>
          <a:bodyPr wrap="none">
            <a:spAutoFit/>
          </a:bodyPr>
          <a:lstStyle/>
          <a:p>
            <a:r>
              <a:rPr lang="en-US" altLang="ko-KR" sz="1000" b="1" dirty="0"/>
              <a:t>docker login</a:t>
            </a:r>
          </a:p>
          <a:p>
            <a:r>
              <a:rPr lang="en-US" altLang="ko-KR" sz="1000" b="1" dirty="0"/>
              <a:t>docker tag &lt;IMAGE ID&gt; &lt;USER NAME&gt;/&lt;IMAGE NAME&gt;:&lt;TAG&gt;</a:t>
            </a:r>
          </a:p>
          <a:p>
            <a:r>
              <a:rPr lang="en-US" altLang="ko-KR" sz="1000" b="1" dirty="0"/>
              <a:t>docker push &lt;USER NAME&gt;/&lt;IMAGE NAME&gt;:&lt;TAG&gt;</a:t>
            </a:r>
            <a:endParaRPr lang="ko-KR" altLang="en-US" sz="1000" b="1" dirty="0"/>
          </a:p>
        </p:txBody>
      </p:sp>
      <p:pic>
        <p:nvPicPr>
          <p:cNvPr id="8" name="그림 7">
            <a:extLst>
              <a:ext uri="{FF2B5EF4-FFF2-40B4-BE49-F238E27FC236}">
                <a16:creationId xmlns:a16="http://schemas.microsoft.com/office/drawing/2014/main" id="{C94163CD-5BED-4A29-AF5C-2367C97A8E93}"/>
              </a:ext>
            </a:extLst>
          </p:cNvPr>
          <p:cNvPicPr>
            <a:picLocks noChangeAspect="1"/>
          </p:cNvPicPr>
          <p:nvPr/>
        </p:nvPicPr>
        <p:blipFill>
          <a:blip r:embed="rId2"/>
          <a:stretch>
            <a:fillRect/>
          </a:stretch>
        </p:blipFill>
        <p:spPr>
          <a:xfrm>
            <a:off x="1953420" y="4170947"/>
            <a:ext cx="8285160" cy="2220423"/>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0D0FAAA-4A4F-45AC-83CD-D6EEC37FC7FE}"/>
              </a:ext>
            </a:extLst>
          </p:cNvPr>
          <p:cNvSpPr/>
          <p:nvPr/>
        </p:nvSpPr>
        <p:spPr>
          <a:xfrm>
            <a:off x="5899484" y="3884642"/>
            <a:ext cx="393031" cy="26293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592708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Image Upload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Docker Hub :</a:t>
            </a:r>
          </a:p>
          <a:p>
            <a:pPr lvl="1">
              <a:buFont typeface="Wingdings" panose="05000000000000000000" pitchFamily="2" charset="2"/>
              <a:buChar char="§"/>
            </a:pPr>
            <a:r>
              <a:rPr lang="en-US" altLang="ko-KR" sz="1400" dirty="0"/>
              <a:t>You can “</a:t>
            </a:r>
            <a:r>
              <a:rPr lang="en-US" altLang="ko-KR" sz="1400" b="1" dirty="0"/>
              <a:t>push</a:t>
            </a:r>
            <a:r>
              <a:rPr lang="en-US" altLang="ko-KR" sz="1400" dirty="0"/>
              <a:t>” your docker image into the Docker Hub using the following commands. In this example, I used </a:t>
            </a:r>
            <a:r>
              <a:rPr lang="en-US" altLang="ko-KR" sz="1400" b="1" dirty="0"/>
              <a:t>my login ID, “knix008”, image name, “kuard-shkwon-amd64”, and tag, “1.0”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01E4F50A-6885-420D-B142-6FBD55C325FF}"/>
              </a:ext>
            </a:extLst>
          </p:cNvPr>
          <p:cNvGrpSpPr/>
          <p:nvPr/>
        </p:nvGrpSpPr>
        <p:grpSpPr>
          <a:xfrm>
            <a:off x="1877929" y="1594151"/>
            <a:ext cx="8436142" cy="4814879"/>
            <a:chOff x="1877928" y="1530045"/>
            <a:chExt cx="8436142" cy="4814879"/>
          </a:xfrm>
        </p:grpSpPr>
        <p:sp>
          <p:nvSpPr>
            <p:cNvPr id="8" name="TextBox 7">
              <a:extLst>
                <a:ext uri="{FF2B5EF4-FFF2-40B4-BE49-F238E27FC236}">
                  <a16:creationId xmlns:a16="http://schemas.microsoft.com/office/drawing/2014/main" id="{199D5247-F4C9-4C37-8E18-B296028E1BB6}"/>
                </a:ext>
              </a:extLst>
            </p:cNvPr>
            <p:cNvSpPr txBox="1"/>
            <p:nvPr/>
          </p:nvSpPr>
          <p:spPr>
            <a:xfrm>
              <a:off x="4054363" y="1530045"/>
              <a:ext cx="4083273" cy="553998"/>
            </a:xfrm>
            <a:prstGeom prst="rect">
              <a:avLst/>
            </a:prstGeom>
            <a:noFill/>
            <a:ln>
              <a:solidFill>
                <a:schemeClr val="bg1">
                  <a:lumMod val="50000"/>
                </a:schemeClr>
              </a:solidFill>
            </a:ln>
          </p:spPr>
          <p:txBody>
            <a:bodyPr wrap="square" rtlCol="0">
              <a:spAutoFit/>
            </a:bodyPr>
            <a:lstStyle/>
            <a:p>
              <a:r>
                <a:rPr lang="en-US" altLang="ko-KR" sz="1000" b="1" dirty="0"/>
                <a:t>docker images</a:t>
              </a:r>
            </a:p>
            <a:p>
              <a:r>
                <a:rPr lang="en-US" altLang="ko-KR" sz="1000" b="1" dirty="0"/>
                <a:t>docker tag a0daf20aefbb knix008/kuard-shkwon-amd64:1.0</a:t>
              </a:r>
            </a:p>
            <a:p>
              <a:r>
                <a:rPr lang="en-US" altLang="ko-KR" sz="1000" b="1" dirty="0"/>
                <a:t>docker push knix008/kuard-shkwon-amd64:1.0</a:t>
              </a:r>
              <a:endParaRPr lang="ko-KR" altLang="en-US" sz="1000" b="1" dirty="0"/>
            </a:p>
          </p:txBody>
        </p:sp>
        <p:grpSp>
          <p:nvGrpSpPr>
            <p:cNvPr id="10" name="그룹 9">
              <a:extLst>
                <a:ext uri="{FF2B5EF4-FFF2-40B4-BE49-F238E27FC236}">
                  <a16:creationId xmlns:a16="http://schemas.microsoft.com/office/drawing/2014/main" id="{B67439D2-1142-48CE-9E94-F70F7D189D28}"/>
                </a:ext>
              </a:extLst>
            </p:cNvPr>
            <p:cNvGrpSpPr/>
            <p:nvPr/>
          </p:nvGrpSpPr>
          <p:grpSpPr>
            <a:xfrm>
              <a:off x="1877928" y="2367654"/>
              <a:ext cx="8436142" cy="3977270"/>
              <a:chOff x="1333500" y="2638278"/>
              <a:chExt cx="9525000" cy="5164284"/>
            </a:xfrm>
          </p:grpSpPr>
          <p:pic>
            <p:nvPicPr>
              <p:cNvPr id="4" name="그림 3">
                <a:extLst>
                  <a:ext uri="{FF2B5EF4-FFF2-40B4-BE49-F238E27FC236}">
                    <a16:creationId xmlns:a16="http://schemas.microsoft.com/office/drawing/2014/main" id="{3CC49936-89F7-4155-BB82-356C0980C51B}"/>
                  </a:ext>
                </a:extLst>
              </p:cNvPr>
              <p:cNvPicPr>
                <a:picLocks noChangeAspect="1"/>
              </p:cNvPicPr>
              <p:nvPr/>
            </p:nvPicPr>
            <p:blipFill>
              <a:blip r:embed="rId2"/>
              <a:stretch>
                <a:fillRect/>
              </a:stretch>
            </p:blipFill>
            <p:spPr>
              <a:xfrm>
                <a:off x="1333500" y="2638278"/>
                <a:ext cx="9525000" cy="2971800"/>
              </a:xfrm>
              <a:prstGeom prst="rect">
                <a:avLst/>
              </a:prstGeom>
            </p:spPr>
          </p:pic>
          <p:pic>
            <p:nvPicPr>
              <p:cNvPr id="9" name="그림 8">
                <a:extLst>
                  <a:ext uri="{FF2B5EF4-FFF2-40B4-BE49-F238E27FC236}">
                    <a16:creationId xmlns:a16="http://schemas.microsoft.com/office/drawing/2014/main" id="{997CF446-EB5C-4C1B-99D4-1C3DBF124C5B}"/>
                  </a:ext>
                </a:extLst>
              </p:cNvPr>
              <p:cNvPicPr>
                <a:picLocks noChangeAspect="1"/>
              </p:cNvPicPr>
              <p:nvPr/>
            </p:nvPicPr>
            <p:blipFill>
              <a:blip r:embed="rId3"/>
              <a:stretch>
                <a:fillRect/>
              </a:stretch>
            </p:blipFill>
            <p:spPr>
              <a:xfrm>
                <a:off x="1333500" y="5640387"/>
                <a:ext cx="9525000" cy="2162175"/>
              </a:xfrm>
              <a:prstGeom prst="rect">
                <a:avLst/>
              </a:prstGeom>
            </p:spPr>
          </p:pic>
        </p:grpSp>
        <p:sp>
          <p:nvSpPr>
            <p:cNvPr id="11" name="화살표: 아래쪽 10">
              <a:extLst>
                <a:ext uri="{FF2B5EF4-FFF2-40B4-BE49-F238E27FC236}">
                  <a16:creationId xmlns:a16="http://schemas.microsoft.com/office/drawing/2014/main" id="{BC7EADE5-B4BE-4D92-A793-CF7246CA62A1}"/>
                </a:ext>
              </a:extLst>
            </p:cNvPr>
            <p:cNvSpPr/>
            <p:nvPr/>
          </p:nvSpPr>
          <p:spPr>
            <a:xfrm>
              <a:off x="5911515" y="2107385"/>
              <a:ext cx="368968" cy="25152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9AADB29-B290-4EAC-8B92-8725A3C36651}"/>
              </a:ext>
            </a:extLst>
          </p:cNvPr>
          <p:cNvSpPr/>
          <p:nvPr/>
        </p:nvSpPr>
        <p:spPr>
          <a:xfrm>
            <a:off x="1949116" y="3072063"/>
            <a:ext cx="5245768" cy="184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3E0FCAF-80FA-4D52-A64A-1005D2C846AC}"/>
              </a:ext>
            </a:extLst>
          </p:cNvPr>
          <p:cNvSpPr/>
          <p:nvPr/>
        </p:nvSpPr>
        <p:spPr>
          <a:xfrm>
            <a:off x="1949116" y="5518484"/>
            <a:ext cx="5558589" cy="16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91817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Image Download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Docker Hub :</a:t>
            </a:r>
          </a:p>
          <a:p>
            <a:pPr lvl="1">
              <a:buFont typeface="Wingdings" panose="05000000000000000000" pitchFamily="2" charset="2"/>
              <a:buChar char="§"/>
            </a:pPr>
            <a:r>
              <a:rPr lang="en-US" altLang="ko-KR" sz="1400" dirty="0"/>
              <a:t>Now you can download, </a:t>
            </a:r>
            <a:r>
              <a:rPr lang="en-US" altLang="ko-KR" sz="1400" b="1" dirty="0"/>
              <a:t>pull</a:t>
            </a:r>
            <a:r>
              <a:rPr lang="en-US" altLang="ko-KR" sz="1400" dirty="0"/>
              <a:t>, the Docker image you just pushed from the Docker hub using the following command. Before you do pull, </a:t>
            </a:r>
            <a:r>
              <a:rPr lang="en-US" altLang="ko-KR" sz="1400" b="1" dirty="0"/>
              <a:t>make sure to delete all images on your local machine </a:t>
            </a:r>
            <a:r>
              <a:rPr lang="en-US" altLang="ko-KR" sz="1400" dirty="0"/>
              <a:t>with “</a:t>
            </a:r>
            <a:r>
              <a:rPr lang="en-US" altLang="ko-KR" sz="1400" b="1" dirty="0"/>
              <a:t>docker </a:t>
            </a:r>
            <a:r>
              <a:rPr lang="en-US" altLang="ko-KR" sz="1400" b="1" dirty="0" err="1"/>
              <a:t>rmi</a:t>
            </a:r>
            <a:r>
              <a:rPr lang="en-US" altLang="ko-KR" sz="1400" b="1" dirty="0"/>
              <a:t> -f $(docker images -q)</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C3B6606-10D8-4B80-8BAA-49C24BDA7978}"/>
              </a:ext>
            </a:extLst>
          </p:cNvPr>
          <p:cNvGrpSpPr/>
          <p:nvPr/>
        </p:nvGrpSpPr>
        <p:grpSpPr>
          <a:xfrm>
            <a:off x="1333500" y="1972940"/>
            <a:ext cx="9525000" cy="3799030"/>
            <a:chOff x="1333498" y="1680230"/>
            <a:chExt cx="9525000" cy="3799030"/>
          </a:xfrm>
        </p:grpSpPr>
        <p:sp>
          <p:nvSpPr>
            <p:cNvPr id="4" name="직사각형 3">
              <a:extLst>
                <a:ext uri="{FF2B5EF4-FFF2-40B4-BE49-F238E27FC236}">
                  <a16:creationId xmlns:a16="http://schemas.microsoft.com/office/drawing/2014/main" id="{2E3AB191-31A2-4AAE-B873-D33EA498EDB8}"/>
                </a:ext>
              </a:extLst>
            </p:cNvPr>
            <p:cNvSpPr/>
            <p:nvPr/>
          </p:nvSpPr>
          <p:spPr>
            <a:xfrm>
              <a:off x="3597443" y="1680230"/>
              <a:ext cx="4997113" cy="553998"/>
            </a:xfrm>
            <a:prstGeom prst="rect">
              <a:avLst/>
            </a:prstGeom>
            <a:ln>
              <a:solidFill>
                <a:schemeClr val="bg1">
                  <a:lumMod val="50000"/>
                </a:schemeClr>
              </a:solidFill>
            </a:ln>
          </p:spPr>
          <p:txBody>
            <a:bodyPr wrap="square">
              <a:spAutoFit/>
            </a:bodyPr>
            <a:lstStyle/>
            <a:p>
              <a:r>
                <a:rPr lang="de-DE" altLang="ko-KR" sz="1000" b="1" dirty="0"/>
                <a:t>docker rmi -f $(docker images -q)</a:t>
              </a:r>
            </a:p>
            <a:p>
              <a:r>
                <a:rPr lang="de-DE" altLang="ko-KR" sz="1000" b="1" dirty="0"/>
                <a:t>docker images</a:t>
              </a:r>
            </a:p>
            <a:p>
              <a:r>
                <a:rPr lang="en-US" altLang="ko-KR" sz="1000" b="1" dirty="0"/>
                <a:t>docker pull </a:t>
              </a:r>
              <a:r>
                <a:rPr lang="en-US" altLang="ko-KR" sz="1000" b="1" dirty="0">
                  <a:solidFill>
                    <a:srgbClr val="FF0000"/>
                  </a:solidFill>
                </a:rPr>
                <a:t>knix008/kuard-shkwon-amd64:1.0</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9CE3B487-C718-4E25-917B-BB32A3475F7F}"/>
                </a:ext>
              </a:extLst>
            </p:cNvPr>
            <p:cNvPicPr>
              <a:picLocks noChangeAspect="1"/>
            </p:cNvPicPr>
            <p:nvPr/>
          </p:nvPicPr>
          <p:blipFill>
            <a:blip r:embed="rId2"/>
            <a:stretch>
              <a:fillRect/>
            </a:stretch>
          </p:blipFill>
          <p:spPr>
            <a:xfrm>
              <a:off x="1333498" y="2545560"/>
              <a:ext cx="9525000" cy="293370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A2A9744D-23A5-4DCD-858D-E602A9CD6793}"/>
                </a:ext>
              </a:extLst>
            </p:cNvPr>
            <p:cNvSpPr/>
            <p:nvPr/>
          </p:nvSpPr>
          <p:spPr>
            <a:xfrm>
              <a:off x="5911514" y="2259013"/>
              <a:ext cx="368969" cy="2617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17844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Docker Container Runtime(1/5)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Container Runtime Interface(CRI) :</a:t>
            </a:r>
          </a:p>
          <a:p>
            <a:pPr lvl="1">
              <a:buFont typeface="Wingdings" panose="05000000000000000000" pitchFamily="2" charset="2"/>
              <a:buChar char="§"/>
            </a:pPr>
            <a:r>
              <a:rPr lang="en-US" altLang="ko-KR" sz="1400" b="1" dirty="0">
                <a:solidFill>
                  <a:srgbClr val="FF0000"/>
                </a:solidFill>
              </a:rPr>
              <a:t>Kubernetes provides an API </a:t>
            </a:r>
            <a:r>
              <a:rPr lang="en-US" altLang="ko-KR" sz="1400" b="1" dirty="0"/>
              <a:t>for describing an application deployment, but </a:t>
            </a:r>
            <a:r>
              <a:rPr lang="en-US" altLang="ko-KR" sz="1400" b="1" dirty="0">
                <a:solidFill>
                  <a:srgbClr val="FF0000"/>
                </a:solidFill>
              </a:rPr>
              <a:t>relies on a container runtime </a:t>
            </a:r>
            <a:r>
              <a:rPr lang="en-US" altLang="ko-KR" sz="1400" b="1" dirty="0"/>
              <a:t>to set up an application container using the container-specific APIs native to the target OS</a:t>
            </a:r>
            <a:r>
              <a:rPr lang="en-US" altLang="ko-KR" sz="1400" dirty="0"/>
              <a:t>. On a Linux system that means configuring </a:t>
            </a:r>
            <a:r>
              <a:rPr lang="en-US" altLang="ko-KR" sz="1400" b="1" dirty="0" err="1">
                <a:solidFill>
                  <a:srgbClr val="FF0000"/>
                </a:solidFill>
              </a:rPr>
              <a:t>cgroups</a:t>
            </a:r>
            <a:r>
              <a:rPr lang="en-US" altLang="ko-KR" sz="1400" dirty="0"/>
              <a:t> and </a:t>
            </a:r>
            <a:r>
              <a:rPr lang="en-US" altLang="ko-KR" sz="1400" b="1" dirty="0">
                <a:solidFill>
                  <a:srgbClr val="FF0000"/>
                </a:solidFill>
              </a:rPr>
              <a:t>namespaces</a:t>
            </a:r>
            <a:r>
              <a:rPr lang="en-US" altLang="ko-KR" sz="1400" dirty="0"/>
              <a:t>. </a:t>
            </a:r>
          </a:p>
          <a:p>
            <a:pPr lvl="1">
              <a:buFont typeface="Wingdings" panose="05000000000000000000" pitchFamily="2" charset="2"/>
              <a:buChar char="§"/>
            </a:pPr>
            <a:r>
              <a:rPr lang="en-US" altLang="ko-KR" sz="1400" b="1" dirty="0"/>
              <a:t>The interface to this container runtime is defined by the </a:t>
            </a:r>
            <a:r>
              <a:rPr lang="en-US" altLang="ko-KR" sz="1400" b="1" dirty="0">
                <a:solidFill>
                  <a:srgbClr val="FF0000"/>
                </a:solidFill>
              </a:rPr>
              <a:t>Container Runtime Interface (CRI)</a:t>
            </a:r>
            <a:r>
              <a:rPr lang="en-US" altLang="ko-KR" sz="1400" b="1" dirty="0"/>
              <a:t> standard</a:t>
            </a:r>
            <a:r>
              <a:rPr lang="en-US" altLang="ko-KR" sz="1400" dirty="0"/>
              <a:t>. The </a:t>
            </a:r>
            <a:r>
              <a:rPr lang="en-US" altLang="ko-KR" sz="1400" b="1" dirty="0"/>
              <a:t>CRI API </a:t>
            </a:r>
            <a:r>
              <a:rPr lang="en-US" altLang="ko-KR" sz="1400" dirty="0"/>
              <a:t>is implemented by a number of different programs, including the “</a:t>
            </a:r>
            <a:r>
              <a:rPr lang="en-US" altLang="ko-KR" sz="1400" b="1" dirty="0" err="1"/>
              <a:t>containerd</a:t>
            </a:r>
            <a:r>
              <a:rPr lang="en-US" altLang="ko-KR" sz="1400" b="1" dirty="0"/>
              <a:t>-cri</a:t>
            </a:r>
            <a:r>
              <a:rPr lang="en-US" altLang="ko-KR" sz="1400" dirty="0"/>
              <a:t>” built by Docker and the “</a:t>
            </a:r>
            <a:r>
              <a:rPr lang="en-US" altLang="ko-KR" sz="1400" b="1" dirty="0"/>
              <a:t>cri-o</a:t>
            </a:r>
            <a:r>
              <a:rPr lang="en-US" altLang="ko-KR" sz="1400" dirty="0"/>
              <a:t>” implementation contributed by </a:t>
            </a:r>
            <a:r>
              <a:rPr lang="en-US" altLang="ko-KR" sz="1400" b="1" dirty="0"/>
              <a:t>Red Hat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3DA46B9-953F-4B3E-8771-ECC43E0BFF74}"/>
              </a:ext>
            </a:extLst>
          </p:cNvPr>
          <p:cNvGrpSpPr/>
          <p:nvPr/>
        </p:nvGrpSpPr>
        <p:grpSpPr>
          <a:xfrm>
            <a:off x="2261937" y="2646243"/>
            <a:ext cx="7668126" cy="3191964"/>
            <a:chOff x="2261937" y="2646243"/>
            <a:chExt cx="7668126" cy="3191964"/>
          </a:xfrm>
        </p:grpSpPr>
        <p:pic>
          <p:nvPicPr>
            <p:cNvPr id="4" name="그림 3">
              <a:extLst>
                <a:ext uri="{FF2B5EF4-FFF2-40B4-BE49-F238E27FC236}">
                  <a16:creationId xmlns:a16="http://schemas.microsoft.com/office/drawing/2014/main" id="{D1129642-7177-4491-AD60-985C7CC06A6E}"/>
                </a:ext>
              </a:extLst>
            </p:cNvPr>
            <p:cNvPicPr>
              <a:picLocks noChangeAspect="1"/>
            </p:cNvPicPr>
            <p:nvPr/>
          </p:nvPicPr>
          <p:blipFill>
            <a:blip r:embed="rId2"/>
            <a:stretch>
              <a:fillRect/>
            </a:stretch>
          </p:blipFill>
          <p:spPr>
            <a:xfrm>
              <a:off x="2261937" y="2646243"/>
              <a:ext cx="7668126" cy="3191964"/>
            </a:xfrm>
            <a:prstGeom prst="rect">
              <a:avLst/>
            </a:prstGeom>
          </p:spPr>
        </p:pic>
        <p:sp>
          <p:nvSpPr>
            <p:cNvPr id="8" name="직사각형 7">
              <a:extLst>
                <a:ext uri="{FF2B5EF4-FFF2-40B4-BE49-F238E27FC236}">
                  <a16:creationId xmlns:a16="http://schemas.microsoft.com/office/drawing/2014/main" id="{20B329C9-2D19-4A52-B843-240AC230FEFA}"/>
                </a:ext>
              </a:extLst>
            </p:cNvPr>
            <p:cNvSpPr/>
            <p:nvPr/>
          </p:nvSpPr>
          <p:spPr>
            <a:xfrm>
              <a:off x="3240505" y="3023937"/>
              <a:ext cx="176463" cy="26790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 name="직사각형 8">
            <a:extLst>
              <a:ext uri="{FF2B5EF4-FFF2-40B4-BE49-F238E27FC236}">
                <a16:creationId xmlns:a16="http://schemas.microsoft.com/office/drawing/2014/main" id="{CFE56BA3-3461-4C6A-94D6-95DA473D4C86}"/>
              </a:ext>
            </a:extLst>
          </p:cNvPr>
          <p:cNvSpPr/>
          <p:nvPr/>
        </p:nvSpPr>
        <p:spPr>
          <a:xfrm>
            <a:off x="7636042" y="3023937"/>
            <a:ext cx="176463" cy="26790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650892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Docker Container Runtime(2/5)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Containers with Docker :</a:t>
            </a:r>
          </a:p>
          <a:p>
            <a:pPr lvl="1">
              <a:buFont typeface="Wingdings" panose="05000000000000000000" pitchFamily="2" charset="2"/>
              <a:buChar char="§"/>
            </a:pPr>
            <a:r>
              <a:rPr lang="en-US" altLang="ko-KR" sz="1400" dirty="0"/>
              <a:t>Though generally in Kubernetes containers are launched by a daemon on each node called the </a:t>
            </a:r>
            <a:r>
              <a:rPr lang="en-US" altLang="ko-KR" sz="1400" dirty="0" err="1"/>
              <a:t>kubelet</a:t>
            </a:r>
            <a:r>
              <a:rPr lang="en-US" altLang="ko-KR" sz="1400" dirty="0"/>
              <a:t>, it’s easier to get started with containers using the Docker command-line tool. The Docker CLI tool can be used to deploy containers. To deploy a container from the gcr.io/</a:t>
            </a:r>
            <a:r>
              <a:rPr lang="en-US" altLang="ko-KR" sz="1400" dirty="0" err="1"/>
              <a:t>kuar</a:t>
            </a:r>
            <a:r>
              <a:rPr lang="en-US" altLang="ko-KR" sz="1400" dirty="0"/>
              <a:t>-demo/kuard-amd64:blue image, run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command starts the “</a:t>
            </a:r>
            <a:r>
              <a:rPr lang="en-US" altLang="ko-KR" sz="1400" b="1" dirty="0" err="1"/>
              <a:t>kuard</a:t>
            </a:r>
            <a:r>
              <a:rPr lang="en-US" altLang="ko-KR" sz="1400" dirty="0"/>
              <a:t>” container and </a:t>
            </a:r>
            <a:r>
              <a:rPr lang="en-US" altLang="ko-KR" sz="1400" b="1" dirty="0"/>
              <a:t>maps ports 8080 on your local machine to 8080 in the container</a:t>
            </a:r>
            <a:r>
              <a:rPr lang="en-US" altLang="ko-KR" sz="1400" dirty="0"/>
              <a:t>. The “</a:t>
            </a:r>
            <a:r>
              <a:rPr lang="en-US" altLang="ko-KR" sz="1400" b="1" dirty="0"/>
              <a:t>--publish</a:t>
            </a:r>
            <a:r>
              <a:rPr lang="en-US" altLang="ko-KR" sz="1400" dirty="0"/>
              <a:t>” option can be shortened to “</a:t>
            </a:r>
            <a:r>
              <a:rPr lang="en-US" altLang="ko-KR" sz="1400" b="1" dirty="0"/>
              <a:t>-p</a:t>
            </a:r>
            <a:r>
              <a:rPr lang="en-US" altLang="ko-KR" sz="1400" dirty="0"/>
              <a:t>”. </a:t>
            </a:r>
            <a:r>
              <a:rPr lang="en-US" altLang="ko-KR" sz="1400" b="1" dirty="0"/>
              <a:t>This forwarding is necessary because each container gets its own IP address, so listening on localhost inside the container doesn’t cause you to listen on your machine</a:t>
            </a:r>
            <a:r>
              <a:rPr lang="en-US" altLang="ko-KR" sz="1400" dirty="0"/>
              <a:t>. Without the </a:t>
            </a:r>
            <a:r>
              <a:rPr lang="en-US" altLang="ko-KR" sz="1400" b="1" dirty="0">
                <a:solidFill>
                  <a:srgbClr val="FF0000"/>
                </a:solidFill>
              </a:rPr>
              <a:t>port forwarding</a:t>
            </a:r>
            <a:r>
              <a:rPr lang="en-US" altLang="ko-KR" sz="1400" dirty="0"/>
              <a:t>, connections will be inaccessible to your machine. The “</a:t>
            </a:r>
            <a:r>
              <a:rPr lang="en-US" altLang="ko-KR" sz="1400" b="1" dirty="0"/>
              <a:t>-d</a:t>
            </a:r>
            <a:r>
              <a:rPr lang="en-US" altLang="ko-KR" sz="1400" dirty="0"/>
              <a:t>” option specifies that </a:t>
            </a:r>
            <a:r>
              <a:rPr lang="en-US" altLang="ko-KR" sz="1400" b="1" dirty="0"/>
              <a:t>this should run in the background (daemon or detached)</a:t>
            </a:r>
            <a:r>
              <a:rPr lang="en-US" altLang="ko-KR" sz="1400" dirty="0"/>
              <a:t>, while “</a:t>
            </a:r>
            <a:r>
              <a:rPr lang="en-US" altLang="ko-KR" sz="1400" b="1" dirty="0"/>
              <a:t>--name </a:t>
            </a:r>
            <a:r>
              <a:rPr lang="en-US" altLang="ko-KR" sz="1400" b="1" dirty="0" err="1"/>
              <a:t>kuard</a:t>
            </a:r>
            <a:r>
              <a:rPr lang="en-US" altLang="ko-KR" sz="1400" dirty="0"/>
              <a:t>” </a:t>
            </a:r>
            <a:r>
              <a:rPr lang="en-US" altLang="ko-KR" sz="1400" b="1" dirty="0"/>
              <a:t>gives the container a friendly name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C98F205-24A5-4E5A-828F-604279149766}"/>
              </a:ext>
            </a:extLst>
          </p:cNvPr>
          <p:cNvGrpSpPr/>
          <p:nvPr/>
        </p:nvGrpSpPr>
        <p:grpSpPr>
          <a:xfrm>
            <a:off x="1154405" y="1990909"/>
            <a:ext cx="9883190" cy="2536305"/>
            <a:chOff x="1154405" y="1982888"/>
            <a:chExt cx="9883190" cy="2536305"/>
          </a:xfrm>
        </p:grpSpPr>
        <p:grpSp>
          <p:nvGrpSpPr>
            <p:cNvPr id="10" name="그룹 9">
              <a:extLst>
                <a:ext uri="{FF2B5EF4-FFF2-40B4-BE49-F238E27FC236}">
                  <a16:creationId xmlns:a16="http://schemas.microsoft.com/office/drawing/2014/main" id="{15943EF8-58C1-4638-9E5B-323816F46428}"/>
                </a:ext>
              </a:extLst>
            </p:cNvPr>
            <p:cNvGrpSpPr/>
            <p:nvPr/>
          </p:nvGrpSpPr>
          <p:grpSpPr>
            <a:xfrm>
              <a:off x="1154405" y="1982888"/>
              <a:ext cx="9883190" cy="2536305"/>
              <a:chOff x="1154405" y="1894656"/>
              <a:chExt cx="9883190" cy="2536305"/>
            </a:xfrm>
          </p:grpSpPr>
          <p:sp>
            <p:nvSpPr>
              <p:cNvPr id="4" name="직사각형 3">
                <a:extLst>
                  <a:ext uri="{FF2B5EF4-FFF2-40B4-BE49-F238E27FC236}">
                    <a16:creationId xmlns:a16="http://schemas.microsoft.com/office/drawing/2014/main" id="{7FF1F62F-8210-4CE0-8660-7079106B288E}"/>
                  </a:ext>
                </a:extLst>
              </p:cNvPr>
              <p:cNvSpPr/>
              <p:nvPr/>
            </p:nvSpPr>
            <p:spPr>
              <a:xfrm>
                <a:off x="3048000" y="1894656"/>
                <a:ext cx="6096000" cy="246221"/>
              </a:xfrm>
              <a:prstGeom prst="rect">
                <a:avLst/>
              </a:prstGeom>
              <a:ln>
                <a:solidFill>
                  <a:schemeClr val="bg1">
                    <a:lumMod val="50000"/>
                  </a:schemeClr>
                </a:solidFill>
              </a:ln>
            </p:spPr>
            <p:txBody>
              <a:bodyPr>
                <a:spAutoFit/>
              </a:bodyPr>
              <a:lstStyle/>
              <a:p>
                <a:r>
                  <a:rPr lang="en-US" altLang="ko-KR" sz="1000" b="1" dirty="0"/>
                  <a:t>docker run -d --name </a:t>
                </a:r>
                <a:r>
                  <a:rPr lang="en-US" altLang="ko-KR" sz="1000" b="1" dirty="0" err="1">
                    <a:solidFill>
                      <a:srgbClr val="FF0000"/>
                    </a:solidFill>
                  </a:rPr>
                  <a:t>kuard</a:t>
                </a:r>
                <a:r>
                  <a:rPr lang="en-US" altLang="ko-KR" sz="1000" b="1" dirty="0"/>
                  <a:t> --publish 8080:8080 </a:t>
                </a:r>
                <a:r>
                  <a:rPr lang="en-US" altLang="ko-KR" sz="1000" b="1" dirty="0">
                    <a:solidFill>
                      <a:srgbClr val="FF0000"/>
                    </a:solidFill>
                  </a:rPr>
                  <a:t>knix008/kuard-shkwon-amd64:1.0</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506AD204-31EC-4439-8006-BCBA2509F969}"/>
                  </a:ext>
                </a:extLst>
              </p:cNvPr>
              <p:cNvPicPr>
                <a:picLocks noChangeAspect="1"/>
              </p:cNvPicPr>
              <p:nvPr/>
            </p:nvPicPr>
            <p:blipFill>
              <a:blip r:embed="rId2"/>
              <a:stretch>
                <a:fillRect/>
              </a:stretch>
            </p:blipFill>
            <p:spPr>
              <a:xfrm>
                <a:off x="1154405" y="2427036"/>
                <a:ext cx="9883190" cy="200392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184274E6-DAD0-41A5-824F-8F3781C8D815}"/>
                  </a:ext>
                </a:extLst>
              </p:cNvPr>
              <p:cNvSpPr/>
              <p:nvPr/>
            </p:nvSpPr>
            <p:spPr>
              <a:xfrm>
                <a:off x="5899484" y="2160846"/>
                <a:ext cx="39303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44D73EC-BCDD-49C1-9DAA-D2852792BC3D}"/>
                </a:ext>
              </a:extLst>
            </p:cNvPr>
            <p:cNvSpPr/>
            <p:nvPr/>
          </p:nvSpPr>
          <p:spPr>
            <a:xfrm>
              <a:off x="1251283" y="3280610"/>
              <a:ext cx="2306053" cy="1650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35FD8504-C2A6-4BE4-8F86-313C1AC71F0B}"/>
                </a:ext>
              </a:extLst>
            </p:cNvPr>
            <p:cNvSpPr/>
            <p:nvPr/>
          </p:nvSpPr>
          <p:spPr>
            <a:xfrm>
              <a:off x="8373979" y="3429000"/>
              <a:ext cx="2141621" cy="1650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715553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Docker Container Runtime(3/5)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a:t>
            </a:r>
            <a:r>
              <a:rPr lang="en-US" altLang="ko-KR" sz="1800" b="1" dirty="0" err="1"/>
              <a:t>kuard</a:t>
            </a:r>
            <a:r>
              <a:rPr lang="en-US" altLang="ko-KR" sz="1800" b="1" dirty="0"/>
              <a:t>” Application :</a:t>
            </a:r>
          </a:p>
          <a:p>
            <a:pPr lvl="1">
              <a:buFont typeface="Wingdings" panose="05000000000000000000" pitchFamily="2" charset="2"/>
              <a:buChar char="§"/>
            </a:pPr>
            <a:r>
              <a:rPr lang="en-US" altLang="ko-KR" sz="1400" b="1" dirty="0"/>
              <a:t>“</a:t>
            </a:r>
            <a:r>
              <a:rPr lang="en-US" altLang="ko-KR" sz="1400" b="1" dirty="0" err="1"/>
              <a:t>kuard</a:t>
            </a:r>
            <a:r>
              <a:rPr lang="en-US" altLang="ko-KR" sz="1400" b="1" dirty="0"/>
              <a:t>” </a:t>
            </a:r>
            <a:r>
              <a:rPr lang="en-US" altLang="ko-KR" sz="1400" b="1" dirty="0">
                <a:solidFill>
                  <a:srgbClr val="FF0000"/>
                </a:solidFill>
              </a:rPr>
              <a:t>exposes</a:t>
            </a:r>
            <a:r>
              <a:rPr lang="en-US" altLang="ko-KR" sz="1400" b="1" dirty="0"/>
              <a:t> a simple web interface</a:t>
            </a:r>
            <a:r>
              <a:rPr lang="en-US" altLang="ko-KR" sz="1400" dirty="0"/>
              <a:t>, which you can load by pointing your browser at “http://localhost:8080” or via the command line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75136AE-2BBE-49E6-B2F0-D8294DE32D60}"/>
              </a:ext>
            </a:extLst>
          </p:cNvPr>
          <p:cNvGrpSpPr/>
          <p:nvPr/>
        </p:nvGrpSpPr>
        <p:grpSpPr>
          <a:xfrm>
            <a:off x="2628067" y="1616061"/>
            <a:ext cx="6935865" cy="4792969"/>
            <a:chOff x="2628067" y="1616061"/>
            <a:chExt cx="6935865" cy="4792969"/>
          </a:xfrm>
        </p:grpSpPr>
        <p:sp>
          <p:nvSpPr>
            <p:cNvPr id="4" name="직사각형 3">
              <a:extLst>
                <a:ext uri="{FF2B5EF4-FFF2-40B4-BE49-F238E27FC236}">
                  <a16:creationId xmlns:a16="http://schemas.microsoft.com/office/drawing/2014/main" id="{3472BB68-50E2-4B76-9812-D8E5706271F8}"/>
                </a:ext>
              </a:extLst>
            </p:cNvPr>
            <p:cNvSpPr/>
            <p:nvPr/>
          </p:nvSpPr>
          <p:spPr>
            <a:xfrm>
              <a:off x="5227012" y="1616061"/>
              <a:ext cx="1737976" cy="246221"/>
            </a:xfrm>
            <a:prstGeom prst="rect">
              <a:avLst/>
            </a:prstGeom>
            <a:ln>
              <a:solidFill>
                <a:schemeClr val="bg1">
                  <a:lumMod val="50000"/>
                </a:schemeClr>
              </a:solidFill>
            </a:ln>
          </p:spPr>
          <p:txBody>
            <a:bodyPr wrap="none">
              <a:spAutoFit/>
            </a:bodyPr>
            <a:lstStyle/>
            <a:p>
              <a:pPr algn="ctr"/>
              <a:r>
                <a:rPr lang="en-US" altLang="ko-KR" sz="1000" b="1" dirty="0"/>
                <a:t>curl http://localhost:8080</a:t>
              </a:r>
              <a:endParaRPr lang="ko-KR" altLang="en-US" sz="1000" b="1" dirty="0"/>
            </a:p>
          </p:txBody>
        </p:sp>
        <p:pic>
          <p:nvPicPr>
            <p:cNvPr id="8" name="그림 7">
              <a:extLst>
                <a:ext uri="{FF2B5EF4-FFF2-40B4-BE49-F238E27FC236}">
                  <a16:creationId xmlns:a16="http://schemas.microsoft.com/office/drawing/2014/main" id="{447A2E05-0AEE-4EC1-BD39-3F78B607060A}"/>
                </a:ext>
              </a:extLst>
            </p:cNvPr>
            <p:cNvPicPr>
              <a:picLocks noChangeAspect="1"/>
            </p:cNvPicPr>
            <p:nvPr/>
          </p:nvPicPr>
          <p:blipFill>
            <a:blip r:embed="rId2"/>
            <a:stretch>
              <a:fillRect/>
            </a:stretch>
          </p:blipFill>
          <p:spPr>
            <a:xfrm>
              <a:off x="2628067" y="2157663"/>
              <a:ext cx="6935865" cy="4251367"/>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BF2D6699-74B8-4511-8211-33E6A7D4D217}"/>
                </a:ext>
              </a:extLst>
            </p:cNvPr>
            <p:cNvSpPr/>
            <p:nvPr/>
          </p:nvSpPr>
          <p:spPr>
            <a:xfrm>
              <a:off x="5923546" y="1886862"/>
              <a:ext cx="344905"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31363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Docker Container Runtime(4/5)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Memory Resource : </a:t>
            </a:r>
          </a:p>
          <a:p>
            <a:pPr lvl="1">
              <a:buFont typeface="Wingdings" panose="05000000000000000000" pitchFamily="2" charset="2"/>
              <a:buChar char="§"/>
            </a:pPr>
            <a:r>
              <a:rPr lang="en-US" altLang="ko-KR" sz="1400" b="1" dirty="0"/>
              <a:t>Docker provides the ability to </a:t>
            </a:r>
            <a:r>
              <a:rPr lang="en-US" altLang="ko-KR" sz="1400" b="1" dirty="0">
                <a:solidFill>
                  <a:srgbClr val="FF0000"/>
                </a:solidFill>
              </a:rPr>
              <a:t>limit the amount of resources </a:t>
            </a:r>
            <a:r>
              <a:rPr lang="en-US" altLang="ko-KR" sz="1400" b="1" dirty="0"/>
              <a:t>used by applications by exposing the underlying </a:t>
            </a:r>
            <a:r>
              <a:rPr lang="en-US" altLang="ko-KR" sz="1400" b="1" dirty="0" err="1">
                <a:solidFill>
                  <a:srgbClr val="FF0000"/>
                </a:solidFill>
              </a:rPr>
              <a:t>cgroup</a:t>
            </a:r>
            <a:r>
              <a:rPr lang="en-US" altLang="ko-KR" sz="1400" b="1" dirty="0"/>
              <a:t> technology provided by the “Linux kernel”</a:t>
            </a:r>
            <a:r>
              <a:rPr lang="en-US" altLang="ko-KR" sz="1400" dirty="0"/>
              <a:t>. These capabilities are likewise used by </a:t>
            </a:r>
            <a:r>
              <a:rPr lang="en-US" altLang="ko-KR" sz="1400" b="1" dirty="0"/>
              <a:t>Kubernetes to limit the resources used by each Pod</a:t>
            </a:r>
            <a:r>
              <a:rPr lang="en-US" altLang="ko-KR" sz="1400" dirty="0"/>
              <a:t>.</a:t>
            </a:r>
          </a:p>
          <a:p>
            <a:pPr lvl="1">
              <a:buFont typeface="Wingdings" panose="05000000000000000000" pitchFamily="2" charset="2"/>
              <a:buChar char="§"/>
            </a:pPr>
            <a:r>
              <a:rPr lang="en-US" altLang="ko-KR" sz="1400" b="1" dirty="0"/>
              <a:t>One of the key benefits to running applications within a container is the ability to </a:t>
            </a:r>
            <a:r>
              <a:rPr lang="en-US" altLang="ko-KR" sz="1400" b="1" dirty="0">
                <a:solidFill>
                  <a:srgbClr val="FF0000"/>
                </a:solidFill>
              </a:rPr>
              <a:t>restrict resource utilization</a:t>
            </a:r>
            <a:r>
              <a:rPr lang="en-US" altLang="ko-KR" sz="1400" dirty="0"/>
              <a:t>. This allows multiple applications to coexist on the same hardware and ensures fair usage.</a:t>
            </a:r>
          </a:p>
          <a:p>
            <a:pPr lvl="1">
              <a:buFont typeface="Wingdings" panose="05000000000000000000" pitchFamily="2" charset="2"/>
              <a:buChar char="§"/>
            </a:pPr>
            <a:r>
              <a:rPr lang="en-US" altLang="ko-KR" sz="1400" dirty="0"/>
              <a:t>To limit “</a:t>
            </a:r>
            <a:r>
              <a:rPr lang="en-US" altLang="ko-KR" sz="1400" b="1" dirty="0" err="1"/>
              <a:t>kuard</a:t>
            </a:r>
            <a:r>
              <a:rPr lang="en-US" altLang="ko-KR" sz="1400" dirty="0"/>
              <a:t>” to 200 MB of memory and 1 GB of swap space, use the “</a:t>
            </a:r>
            <a:r>
              <a:rPr lang="en-US" altLang="ko-KR" sz="1400" b="1" dirty="0"/>
              <a:t>--memory</a:t>
            </a:r>
            <a:r>
              <a:rPr lang="en-US" altLang="ko-KR" sz="1400" dirty="0"/>
              <a:t>” and “</a:t>
            </a:r>
            <a:r>
              <a:rPr lang="en-US" altLang="ko-KR" sz="1400" b="1" dirty="0"/>
              <a:t>--memory-swap</a:t>
            </a:r>
            <a:r>
              <a:rPr lang="en-US" altLang="ko-KR" sz="1400" dirty="0"/>
              <a:t>” flags with the “</a:t>
            </a:r>
            <a:r>
              <a:rPr lang="en-US" altLang="ko-KR" sz="1400" b="1" dirty="0"/>
              <a:t>docker run</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A964423-B65D-42E9-A61A-ADE105D36DBB}"/>
              </a:ext>
            </a:extLst>
          </p:cNvPr>
          <p:cNvGrpSpPr/>
          <p:nvPr/>
        </p:nvGrpSpPr>
        <p:grpSpPr>
          <a:xfrm>
            <a:off x="1115115" y="2936519"/>
            <a:ext cx="9961770" cy="3107386"/>
            <a:chOff x="1115114" y="2875002"/>
            <a:chExt cx="9961770" cy="3107386"/>
          </a:xfrm>
        </p:grpSpPr>
        <p:sp>
          <p:nvSpPr>
            <p:cNvPr id="4" name="직사각형 3">
              <a:extLst>
                <a:ext uri="{FF2B5EF4-FFF2-40B4-BE49-F238E27FC236}">
                  <a16:creationId xmlns:a16="http://schemas.microsoft.com/office/drawing/2014/main" id="{03C964B6-A3EB-4CAE-BD0D-43C1491650EF}"/>
                </a:ext>
              </a:extLst>
            </p:cNvPr>
            <p:cNvSpPr/>
            <p:nvPr/>
          </p:nvSpPr>
          <p:spPr>
            <a:xfrm>
              <a:off x="2181726" y="2875002"/>
              <a:ext cx="7828547" cy="553998"/>
            </a:xfrm>
            <a:prstGeom prst="rect">
              <a:avLst/>
            </a:prstGeom>
            <a:ln>
              <a:solidFill>
                <a:schemeClr val="bg1">
                  <a:lumMod val="50000"/>
                </a:schemeClr>
              </a:solidFill>
            </a:ln>
          </p:spPr>
          <p:txBody>
            <a:bodyPr wrap="square">
              <a:spAutoFit/>
            </a:bodyPr>
            <a:lstStyle/>
            <a:p>
              <a:r>
                <a:rPr lang="sv-SE" altLang="ko-KR" sz="1000" b="1" dirty="0"/>
                <a:t>docker stop kuard</a:t>
              </a:r>
            </a:p>
            <a:p>
              <a:r>
                <a:rPr lang="sv-SE" altLang="ko-KR" sz="1000" b="1" dirty="0"/>
                <a:t>docker rm kuard</a:t>
              </a:r>
            </a:p>
            <a:p>
              <a:r>
                <a:rPr lang="en-US" altLang="ko-KR" sz="1000" b="1" dirty="0"/>
                <a:t>docker run -d --name </a:t>
              </a:r>
              <a:r>
                <a:rPr lang="en-US" altLang="ko-KR" sz="1000" b="1" dirty="0" err="1"/>
                <a:t>kuard</a:t>
              </a:r>
              <a:r>
                <a:rPr lang="en-US" altLang="ko-KR" sz="1000" b="1" dirty="0"/>
                <a:t> --publish 8080:8080 </a:t>
              </a:r>
              <a:r>
                <a:rPr lang="en-US" altLang="ko-KR" sz="1000" b="1" dirty="0">
                  <a:solidFill>
                    <a:srgbClr val="FF0000"/>
                  </a:solidFill>
                </a:rPr>
                <a:t>--memory 200m --memory-swap 1G </a:t>
              </a:r>
              <a:r>
                <a:rPr lang="en-US" altLang="ko-KR" sz="1000" b="1" dirty="0"/>
                <a:t>knix008/kuard-shkwon-amd64:1.0</a:t>
              </a:r>
              <a:endParaRPr lang="ko-KR" altLang="en-US" sz="1000" b="1" dirty="0"/>
            </a:p>
          </p:txBody>
        </p:sp>
        <p:pic>
          <p:nvPicPr>
            <p:cNvPr id="8" name="그림 7">
              <a:extLst>
                <a:ext uri="{FF2B5EF4-FFF2-40B4-BE49-F238E27FC236}">
                  <a16:creationId xmlns:a16="http://schemas.microsoft.com/office/drawing/2014/main" id="{B31BCA72-A654-4C24-B55E-840C14522CC0}"/>
                </a:ext>
              </a:extLst>
            </p:cNvPr>
            <p:cNvPicPr>
              <a:picLocks noChangeAspect="1"/>
            </p:cNvPicPr>
            <p:nvPr/>
          </p:nvPicPr>
          <p:blipFill>
            <a:blip r:embed="rId2"/>
            <a:stretch>
              <a:fillRect/>
            </a:stretch>
          </p:blipFill>
          <p:spPr>
            <a:xfrm>
              <a:off x="1115114" y="3754435"/>
              <a:ext cx="9961770" cy="2227953"/>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3938BC57-937E-479A-AFE2-F090E016EDAB}"/>
                </a:ext>
              </a:extLst>
            </p:cNvPr>
            <p:cNvSpPr/>
            <p:nvPr/>
          </p:nvSpPr>
          <p:spPr>
            <a:xfrm>
              <a:off x="5919536" y="3464665"/>
              <a:ext cx="352926" cy="2541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060809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Docker Container Runtime(5/5)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CPU Resources :</a:t>
            </a:r>
          </a:p>
          <a:p>
            <a:pPr lvl="1">
              <a:buFont typeface="Wingdings" panose="05000000000000000000" pitchFamily="2" charset="2"/>
              <a:buChar char="§"/>
            </a:pPr>
            <a:r>
              <a:rPr lang="en-US" altLang="ko-KR" sz="1400" b="1" dirty="0"/>
              <a:t>Another critical resource on a machine is the CPU</a:t>
            </a:r>
            <a:r>
              <a:rPr lang="en-US" altLang="ko-KR" sz="1400" dirty="0"/>
              <a:t>. Restrict CPU utilization using the “</a:t>
            </a:r>
            <a:r>
              <a:rPr lang="en-US" altLang="ko-KR" sz="1400" b="1" dirty="0"/>
              <a:t>--</a:t>
            </a:r>
            <a:r>
              <a:rPr lang="en-US" altLang="ko-KR" sz="1400" b="1" dirty="0" err="1"/>
              <a:t>cpu</a:t>
            </a:r>
            <a:r>
              <a:rPr lang="en-US" altLang="ko-KR" sz="1400" b="1" dirty="0"/>
              <a:t>-shares</a:t>
            </a:r>
            <a:r>
              <a:rPr lang="en-US" altLang="ko-KR" sz="1400" dirty="0"/>
              <a:t>” flag with the “</a:t>
            </a:r>
            <a:r>
              <a:rPr lang="en-US" altLang="ko-KR" sz="1400" b="1" dirty="0"/>
              <a:t>docker run</a:t>
            </a:r>
            <a:r>
              <a:rPr lang="en-US" altLang="ko-KR" sz="1400" dirty="0"/>
              <a:t>”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8627A8B-3F6A-4256-8D6C-A72D5A68B2C3}"/>
              </a:ext>
            </a:extLst>
          </p:cNvPr>
          <p:cNvGrpSpPr/>
          <p:nvPr/>
        </p:nvGrpSpPr>
        <p:grpSpPr>
          <a:xfrm>
            <a:off x="1061662" y="1777838"/>
            <a:ext cx="10068676" cy="3302323"/>
            <a:chOff x="1061662" y="1669521"/>
            <a:chExt cx="10068676" cy="3302323"/>
          </a:xfrm>
        </p:grpSpPr>
        <p:sp>
          <p:nvSpPr>
            <p:cNvPr id="4" name="직사각형 3">
              <a:extLst>
                <a:ext uri="{FF2B5EF4-FFF2-40B4-BE49-F238E27FC236}">
                  <a16:creationId xmlns:a16="http://schemas.microsoft.com/office/drawing/2014/main" id="{C0DF2545-B901-4DE3-9EAE-57E86954D03D}"/>
                </a:ext>
              </a:extLst>
            </p:cNvPr>
            <p:cNvSpPr/>
            <p:nvPr/>
          </p:nvSpPr>
          <p:spPr>
            <a:xfrm>
              <a:off x="3048000" y="1669521"/>
              <a:ext cx="6096000" cy="707886"/>
            </a:xfrm>
            <a:prstGeom prst="rect">
              <a:avLst/>
            </a:prstGeom>
            <a:ln>
              <a:solidFill>
                <a:schemeClr val="bg1">
                  <a:lumMod val="50000"/>
                </a:schemeClr>
              </a:solidFill>
            </a:ln>
          </p:spPr>
          <p:txBody>
            <a:bodyPr>
              <a:spAutoFit/>
            </a:bodyPr>
            <a:lstStyle/>
            <a:p>
              <a:r>
                <a:rPr lang="en-US" altLang="ko-KR" sz="1000" b="1" dirty="0"/>
                <a:t>docker stop </a:t>
              </a:r>
              <a:r>
                <a:rPr lang="en-US" altLang="ko-KR" sz="1000" b="1" dirty="0" err="1"/>
                <a:t>kuard</a:t>
              </a:r>
              <a:endParaRPr lang="en-US" altLang="ko-KR" sz="1000" b="1" dirty="0"/>
            </a:p>
            <a:p>
              <a:r>
                <a:rPr lang="en-US" altLang="ko-KR" sz="1000" b="1" dirty="0"/>
                <a:t>docker rm </a:t>
              </a:r>
              <a:r>
                <a:rPr lang="en-US" altLang="ko-KR" sz="1000" b="1" dirty="0" err="1"/>
                <a:t>kuard</a:t>
              </a:r>
              <a:endParaRPr lang="en-US" altLang="ko-KR" sz="1000" b="1" dirty="0"/>
            </a:p>
            <a:p>
              <a:r>
                <a:rPr lang="en-US" altLang="ko-KR" sz="1000" b="1" dirty="0"/>
                <a:t>docker run -d --name </a:t>
              </a:r>
              <a:r>
                <a:rPr lang="en-US" altLang="ko-KR" sz="1000" b="1" dirty="0" err="1"/>
                <a:t>kuard</a:t>
              </a:r>
              <a:r>
                <a:rPr lang="en-US" altLang="ko-KR" sz="1000" b="1" dirty="0"/>
                <a:t> --publish 8080:8080 --memory 200m --memory-swap 1G \</a:t>
              </a:r>
            </a:p>
            <a:p>
              <a:r>
                <a:rPr lang="en-US" altLang="ko-KR" sz="1000" b="1" dirty="0">
                  <a:solidFill>
                    <a:srgbClr val="FF0000"/>
                  </a:solidFill>
                </a:rPr>
                <a:t>--</a:t>
              </a:r>
              <a:r>
                <a:rPr lang="en-US" altLang="ko-KR" sz="1000" b="1" dirty="0" err="1">
                  <a:solidFill>
                    <a:srgbClr val="FF0000"/>
                  </a:solidFill>
                </a:rPr>
                <a:t>cpu</a:t>
              </a:r>
              <a:r>
                <a:rPr lang="en-US" altLang="ko-KR" sz="1000" b="1" dirty="0">
                  <a:solidFill>
                    <a:srgbClr val="FF0000"/>
                  </a:solidFill>
                </a:rPr>
                <a:t>-shares 1024 </a:t>
              </a:r>
              <a:r>
                <a:rPr lang="en-US" altLang="ko-KR" sz="1000" b="1" dirty="0"/>
                <a:t>knix008/kuard-shkwon-amd64:1.0</a:t>
              </a:r>
              <a:endParaRPr lang="ko-KR" altLang="en-US" sz="1000" b="1" dirty="0"/>
            </a:p>
          </p:txBody>
        </p:sp>
        <p:pic>
          <p:nvPicPr>
            <p:cNvPr id="8" name="그림 7">
              <a:extLst>
                <a:ext uri="{FF2B5EF4-FFF2-40B4-BE49-F238E27FC236}">
                  <a16:creationId xmlns:a16="http://schemas.microsoft.com/office/drawing/2014/main" id="{A68FE6BC-5ADF-42D4-ACD1-7E050BDCC04A}"/>
                </a:ext>
              </a:extLst>
            </p:cNvPr>
            <p:cNvPicPr>
              <a:picLocks noChangeAspect="1"/>
            </p:cNvPicPr>
            <p:nvPr/>
          </p:nvPicPr>
          <p:blipFill>
            <a:blip r:embed="rId2"/>
            <a:stretch>
              <a:fillRect/>
            </a:stretch>
          </p:blipFill>
          <p:spPr>
            <a:xfrm>
              <a:off x="1061662" y="2701878"/>
              <a:ext cx="10068676" cy="226996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640314C-2972-4187-8E67-6A3E4E1ED494}"/>
                </a:ext>
              </a:extLst>
            </p:cNvPr>
            <p:cNvSpPr/>
            <p:nvPr/>
          </p:nvSpPr>
          <p:spPr>
            <a:xfrm>
              <a:off x="5899484" y="2392841"/>
              <a:ext cx="393031" cy="29360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788092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Remove Image :</a:t>
            </a:r>
          </a:p>
          <a:p>
            <a:pPr lvl="1">
              <a:buFont typeface="Wingdings" panose="05000000000000000000" pitchFamily="2" charset="2"/>
              <a:buChar char="§"/>
            </a:pPr>
            <a:r>
              <a:rPr lang="en-US" altLang="ko-KR" sz="1400" dirty="0"/>
              <a:t>Once you are done building an image, you can </a:t>
            </a:r>
            <a:r>
              <a:rPr lang="en-US" altLang="ko-KR" sz="1400" b="1" dirty="0"/>
              <a:t>delete it with the </a:t>
            </a:r>
            <a:r>
              <a:rPr lang="en-US" altLang="ko-KR" sz="1400" dirty="0"/>
              <a:t>“</a:t>
            </a:r>
            <a:r>
              <a:rPr lang="en-US" altLang="ko-KR" sz="1400" b="1" dirty="0"/>
              <a:t>docker </a:t>
            </a:r>
            <a:r>
              <a:rPr lang="en-US" altLang="ko-KR" sz="1400" b="1" dirty="0" err="1"/>
              <a:t>rmi</a:t>
            </a:r>
            <a:r>
              <a:rPr lang="en-US" altLang="ko-KR" sz="1400" dirty="0"/>
              <a:t>”(</a:t>
            </a:r>
            <a:r>
              <a:rPr lang="en-US" altLang="ko-KR" sz="1400" b="1" dirty="0"/>
              <a:t>Remove Image</a:t>
            </a:r>
            <a:r>
              <a:rPr lang="en-US" altLang="ko-KR" sz="1400" dirty="0"/>
              <a:t>)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Images can either be deleted via their tag name (e.g., “knix008/kuard-shkwon-0amd64:1.0”) or via their image ID</a:t>
            </a:r>
            <a:r>
              <a:rPr lang="en-US" altLang="ko-KR" sz="1400" dirty="0"/>
              <a:t>. As with all ID values in the docker tool, the image ID can be shortened as long as it remains unique. Generally only three or four characters of the ID are necessary.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95A4E9D-1D5D-40E2-85E4-8801CA62C39B}"/>
              </a:ext>
            </a:extLst>
          </p:cNvPr>
          <p:cNvGrpSpPr/>
          <p:nvPr/>
        </p:nvGrpSpPr>
        <p:grpSpPr>
          <a:xfrm>
            <a:off x="1627373" y="1654251"/>
            <a:ext cx="8937253" cy="3549498"/>
            <a:chOff x="1627373" y="1447618"/>
            <a:chExt cx="8937253" cy="3549498"/>
          </a:xfrm>
        </p:grpSpPr>
        <p:sp>
          <p:nvSpPr>
            <p:cNvPr id="4" name="직사각형 3">
              <a:extLst>
                <a:ext uri="{FF2B5EF4-FFF2-40B4-BE49-F238E27FC236}">
                  <a16:creationId xmlns:a16="http://schemas.microsoft.com/office/drawing/2014/main" id="{3004DC7A-61C5-47C1-836F-0E723C211045}"/>
                </a:ext>
              </a:extLst>
            </p:cNvPr>
            <p:cNvSpPr/>
            <p:nvPr/>
          </p:nvSpPr>
          <p:spPr>
            <a:xfrm>
              <a:off x="4165910" y="1447618"/>
              <a:ext cx="3860179" cy="553998"/>
            </a:xfrm>
            <a:prstGeom prst="rect">
              <a:avLst/>
            </a:prstGeom>
            <a:ln>
              <a:solidFill>
                <a:schemeClr val="bg1">
                  <a:lumMod val="50000"/>
                </a:schemeClr>
              </a:solidFill>
            </a:ln>
          </p:spPr>
          <p:txBody>
            <a:bodyPr wrap="square">
              <a:spAutoFit/>
            </a:bodyPr>
            <a:lstStyle/>
            <a:p>
              <a:r>
                <a:rPr lang="en-US" altLang="ko-KR" sz="1000" b="1" dirty="0"/>
                <a:t>docker </a:t>
              </a:r>
              <a:r>
                <a:rPr lang="en-US" altLang="ko-KR" sz="1000" b="1" dirty="0" err="1"/>
                <a:t>rmi</a:t>
              </a:r>
              <a:r>
                <a:rPr lang="en-US" altLang="ko-KR" sz="1000" b="1" dirty="0"/>
                <a:t> </a:t>
              </a:r>
              <a:r>
                <a:rPr lang="en-US" altLang="ko-KR" sz="1000" b="1" dirty="0">
                  <a:solidFill>
                    <a:srgbClr val="FF0000"/>
                  </a:solidFill>
                </a:rPr>
                <a:t>&lt;tag-name&gt;</a:t>
              </a:r>
            </a:p>
            <a:p>
              <a:r>
                <a:rPr lang="en-US" altLang="ko-KR" sz="1000" b="1" dirty="0"/>
                <a:t>or:</a:t>
              </a:r>
            </a:p>
            <a:p>
              <a:r>
                <a:rPr lang="en-US" altLang="ko-KR" sz="1000" b="1" dirty="0"/>
                <a:t>docker </a:t>
              </a:r>
              <a:r>
                <a:rPr lang="en-US" altLang="ko-KR" sz="1000" b="1" dirty="0" err="1"/>
                <a:t>rmi</a:t>
              </a:r>
              <a:r>
                <a:rPr lang="en-US" altLang="ko-KR" sz="1000" b="1" dirty="0"/>
                <a:t> </a:t>
              </a:r>
              <a:r>
                <a:rPr lang="en-US" altLang="ko-KR" sz="1000" b="1" dirty="0">
                  <a:solidFill>
                    <a:srgbClr val="FF0000"/>
                  </a:solidFill>
                </a:rPr>
                <a:t>&lt;image-id&gt;</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3252700D-C688-4E3C-874C-0AC948C1BAB1}"/>
                </a:ext>
              </a:extLst>
            </p:cNvPr>
            <p:cNvPicPr>
              <a:picLocks noChangeAspect="1"/>
            </p:cNvPicPr>
            <p:nvPr/>
          </p:nvPicPr>
          <p:blipFill>
            <a:blip r:embed="rId2"/>
            <a:stretch>
              <a:fillRect/>
            </a:stretch>
          </p:blipFill>
          <p:spPr>
            <a:xfrm>
              <a:off x="1627373" y="2341126"/>
              <a:ext cx="8937253" cy="2655990"/>
            </a:xfrm>
            <a:prstGeom prst="rect">
              <a:avLst/>
            </a:prstGeom>
          </p:spPr>
        </p:pic>
        <p:sp>
          <p:nvSpPr>
            <p:cNvPr id="9" name="화살표: 아래쪽 8">
              <a:extLst>
                <a:ext uri="{FF2B5EF4-FFF2-40B4-BE49-F238E27FC236}">
                  <a16:creationId xmlns:a16="http://schemas.microsoft.com/office/drawing/2014/main" id="{8378183F-8150-4555-A607-640D0D225040}"/>
                </a:ext>
              </a:extLst>
            </p:cNvPr>
            <p:cNvSpPr/>
            <p:nvPr/>
          </p:nvSpPr>
          <p:spPr>
            <a:xfrm>
              <a:off x="5887453" y="2048300"/>
              <a:ext cx="417094" cy="2537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55470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Remove Image :</a:t>
            </a:r>
          </a:p>
          <a:p>
            <a:pPr lvl="1">
              <a:buFont typeface="Wingdings" panose="05000000000000000000" pitchFamily="2" charset="2"/>
              <a:buChar char="§"/>
            </a:pPr>
            <a:r>
              <a:rPr lang="en-US" altLang="ko-KR" sz="1400" b="1" dirty="0"/>
              <a:t>It’s important to note that unless you explicitly delete an image it will live on your system forever, even if you build a new image with an identical name</a:t>
            </a:r>
            <a:r>
              <a:rPr lang="en-US" altLang="ko-KR" sz="1400" dirty="0"/>
              <a:t>. </a:t>
            </a:r>
            <a:r>
              <a:rPr lang="en-US" altLang="ko-KR" sz="1400" b="1" dirty="0">
                <a:solidFill>
                  <a:srgbClr val="FF0000"/>
                </a:solidFill>
              </a:rPr>
              <a:t>Building this new image simply moves the tag to the new image</a:t>
            </a:r>
            <a:r>
              <a:rPr lang="en-US" altLang="ko-KR" sz="1400" dirty="0"/>
              <a:t>; it doesn’t delete or replace the old image.</a:t>
            </a:r>
          </a:p>
          <a:p>
            <a:pPr lvl="1">
              <a:buFont typeface="Wingdings" panose="05000000000000000000" pitchFamily="2" charset="2"/>
              <a:buChar char="§"/>
            </a:pPr>
            <a:r>
              <a:rPr lang="en-US" altLang="ko-KR" sz="1400" b="1" dirty="0"/>
              <a:t>Consequently, as you iterate while you are creating a new image, you will often create many, many different images</a:t>
            </a:r>
            <a:r>
              <a:rPr lang="en-US" altLang="ko-KR" sz="1400" dirty="0"/>
              <a:t> that end up taking up unnecessary space on your computer.</a:t>
            </a:r>
          </a:p>
          <a:p>
            <a:pPr lvl="1">
              <a:buFont typeface="Wingdings" panose="05000000000000000000" pitchFamily="2" charset="2"/>
              <a:buChar char="§"/>
            </a:pPr>
            <a:r>
              <a:rPr lang="en-US" altLang="ko-KR" sz="1400" b="1" dirty="0"/>
              <a:t>NOTE : To remove all images, you can use “</a:t>
            </a:r>
            <a:r>
              <a:rPr lang="en-US" altLang="ko-KR" sz="1400" b="1" dirty="0">
                <a:solidFill>
                  <a:srgbClr val="FF0000"/>
                </a:solidFill>
              </a:rPr>
              <a:t>docker </a:t>
            </a:r>
            <a:r>
              <a:rPr lang="en-US" altLang="ko-KR" sz="1400" b="1" dirty="0" err="1">
                <a:solidFill>
                  <a:srgbClr val="FF0000"/>
                </a:solidFill>
              </a:rPr>
              <a:t>rmi</a:t>
            </a:r>
            <a:r>
              <a:rPr lang="en-US" altLang="ko-KR" sz="1400" b="1" dirty="0">
                <a:solidFill>
                  <a:srgbClr val="FF0000"/>
                </a:solidFill>
              </a:rPr>
              <a:t> -f $(docker images -q)</a:t>
            </a:r>
            <a:r>
              <a:rPr lang="en-US" altLang="ko-KR" sz="1400" b="1" dirty="0"/>
              <a:t>” command</a:t>
            </a:r>
            <a:r>
              <a:rPr lang="en-US" altLang="ko-KR" sz="1400" dirty="0"/>
              <a:t>.</a:t>
            </a:r>
          </a:p>
          <a:p>
            <a:pPr lvl="1">
              <a:buFont typeface="Wingdings" panose="05000000000000000000" pitchFamily="2" charset="2"/>
              <a:buChar char="§"/>
            </a:pPr>
            <a:r>
              <a:rPr lang="en-US" altLang="ko-KR" sz="1400" b="1" dirty="0"/>
              <a:t>NOTE : To clean up your local machine, you can use “</a:t>
            </a:r>
            <a:r>
              <a:rPr lang="en-US" altLang="ko-KR" sz="1400" b="1" dirty="0">
                <a:solidFill>
                  <a:srgbClr val="FF0000"/>
                </a:solidFill>
              </a:rPr>
              <a:t>docker system prune</a:t>
            </a:r>
            <a:r>
              <a:rPr lang="en-US" altLang="ko-KR" sz="1400" b="1" dirty="0"/>
              <a:t>” command. This command will delete, images, volumes, networks, and other resources used by Docker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FEBEF167-CF76-44AE-9FFB-3F591754E366}"/>
              </a:ext>
            </a:extLst>
          </p:cNvPr>
          <p:cNvGrpSpPr/>
          <p:nvPr/>
        </p:nvGrpSpPr>
        <p:grpSpPr>
          <a:xfrm>
            <a:off x="1210051" y="3193473"/>
            <a:ext cx="9771897" cy="2661585"/>
            <a:chOff x="1210051" y="3033052"/>
            <a:chExt cx="9771897" cy="2661585"/>
          </a:xfrm>
        </p:grpSpPr>
        <p:sp>
          <p:nvSpPr>
            <p:cNvPr id="8" name="TextBox 7">
              <a:extLst>
                <a:ext uri="{FF2B5EF4-FFF2-40B4-BE49-F238E27FC236}">
                  <a16:creationId xmlns:a16="http://schemas.microsoft.com/office/drawing/2014/main" id="{58F22758-5D32-4BD2-A624-27FC039E0C2C}"/>
                </a:ext>
              </a:extLst>
            </p:cNvPr>
            <p:cNvSpPr txBox="1"/>
            <p:nvPr/>
          </p:nvSpPr>
          <p:spPr>
            <a:xfrm>
              <a:off x="5360060" y="3033052"/>
              <a:ext cx="1471878" cy="246221"/>
            </a:xfrm>
            <a:prstGeom prst="rect">
              <a:avLst/>
            </a:prstGeom>
            <a:noFill/>
            <a:ln>
              <a:solidFill>
                <a:schemeClr val="bg1">
                  <a:lumMod val="50000"/>
                </a:schemeClr>
              </a:solidFill>
            </a:ln>
          </p:spPr>
          <p:txBody>
            <a:bodyPr wrap="none" rtlCol="0">
              <a:spAutoFit/>
            </a:bodyPr>
            <a:lstStyle/>
            <a:p>
              <a:pPr algn="ctr"/>
              <a:r>
                <a:rPr lang="en-US" altLang="ko-KR" sz="1000" b="1" dirty="0"/>
                <a:t>docker system prune</a:t>
              </a:r>
              <a:endParaRPr lang="ko-KR" altLang="en-US" sz="1000" b="1" dirty="0"/>
            </a:p>
          </p:txBody>
        </p:sp>
        <p:grpSp>
          <p:nvGrpSpPr>
            <p:cNvPr id="10" name="그룹 9">
              <a:extLst>
                <a:ext uri="{FF2B5EF4-FFF2-40B4-BE49-F238E27FC236}">
                  <a16:creationId xmlns:a16="http://schemas.microsoft.com/office/drawing/2014/main" id="{8AEF260C-497F-4833-BA63-94CB94AC1BCB}"/>
                </a:ext>
              </a:extLst>
            </p:cNvPr>
            <p:cNvGrpSpPr/>
            <p:nvPr/>
          </p:nvGrpSpPr>
          <p:grpSpPr>
            <a:xfrm>
              <a:off x="1210051" y="3312967"/>
              <a:ext cx="9771897" cy="2381670"/>
              <a:chOff x="1210051" y="3312967"/>
              <a:chExt cx="9771897" cy="2381670"/>
            </a:xfrm>
          </p:grpSpPr>
          <p:pic>
            <p:nvPicPr>
              <p:cNvPr id="4" name="그림 3">
                <a:extLst>
                  <a:ext uri="{FF2B5EF4-FFF2-40B4-BE49-F238E27FC236}">
                    <a16:creationId xmlns:a16="http://schemas.microsoft.com/office/drawing/2014/main" id="{1B1C7CED-687F-42B4-981D-978B843D7EEB}"/>
                  </a:ext>
                </a:extLst>
              </p:cNvPr>
              <p:cNvPicPr>
                <a:picLocks noChangeAspect="1"/>
              </p:cNvPicPr>
              <p:nvPr/>
            </p:nvPicPr>
            <p:blipFill>
              <a:blip r:embed="rId2"/>
              <a:stretch>
                <a:fillRect/>
              </a:stretch>
            </p:blipFill>
            <p:spPr>
              <a:xfrm>
                <a:off x="1210051" y="3591718"/>
                <a:ext cx="9771897" cy="2102919"/>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E05400B2-4EA5-432E-81EE-EAE22C6E0698}"/>
                  </a:ext>
                </a:extLst>
              </p:cNvPr>
              <p:cNvSpPr/>
              <p:nvPr/>
            </p:nvSpPr>
            <p:spPr>
              <a:xfrm>
                <a:off x="5903493" y="3312967"/>
                <a:ext cx="385011"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212021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Remove Image :</a:t>
            </a:r>
          </a:p>
          <a:p>
            <a:pPr lvl="1">
              <a:buFont typeface="Wingdings" panose="05000000000000000000" pitchFamily="2" charset="2"/>
              <a:buChar char="§"/>
            </a:pPr>
            <a:r>
              <a:rPr lang="en-US" altLang="ko-KR" sz="1400" dirty="0"/>
              <a:t>To see the images currently on your machine, you can use the “</a:t>
            </a:r>
            <a:r>
              <a:rPr lang="en-US" altLang="ko-KR" sz="1400" b="1" dirty="0"/>
              <a:t>docker images</a:t>
            </a:r>
            <a:r>
              <a:rPr lang="en-US" altLang="ko-KR" sz="1400" dirty="0"/>
              <a:t>” command. You can then delete tags you are no longer using. </a:t>
            </a:r>
          </a:p>
          <a:p>
            <a:pPr lvl="1">
              <a:buFont typeface="Wingdings" panose="05000000000000000000" pitchFamily="2" charset="2"/>
              <a:buChar char="§"/>
            </a:pPr>
            <a:r>
              <a:rPr lang="en-US" altLang="ko-KR" sz="1400" dirty="0"/>
              <a:t>Docker provides a tool called “</a:t>
            </a:r>
            <a:r>
              <a:rPr lang="en-US" altLang="ko-KR" sz="1400" b="1" dirty="0"/>
              <a:t>docker system prune</a:t>
            </a:r>
            <a:r>
              <a:rPr lang="en-US" altLang="ko-KR" sz="1400" dirty="0"/>
              <a:t>” for doing general cleanup. </a:t>
            </a:r>
            <a:r>
              <a:rPr lang="en-US" altLang="ko-KR" sz="1400" b="1" dirty="0"/>
              <a:t>This will remove all stopped containers, all untagged images, and all unused image layers cached as part of the build process. Use it carefully</a:t>
            </a:r>
            <a:r>
              <a:rPr lang="en-US" altLang="ko-KR" sz="1400" dirty="0"/>
              <a:t>.</a:t>
            </a:r>
          </a:p>
          <a:p>
            <a:pPr lvl="1">
              <a:buFont typeface="Wingdings" panose="05000000000000000000" pitchFamily="2" charset="2"/>
              <a:buChar char="§"/>
            </a:pPr>
            <a:r>
              <a:rPr lang="en-US" altLang="ko-KR" sz="1400" b="1" dirty="0"/>
              <a:t>A slightly more sophisticated approach is to set up a </a:t>
            </a:r>
            <a:r>
              <a:rPr lang="en-US" altLang="ko-KR" sz="1400" b="1" dirty="0" err="1"/>
              <a:t>cron</a:t>
            </a:r>
            <a:r>
              <a:rPr lang="en-US" altLang="ko-KR" sz="1400" b="1" dirty="0"/>
              <a:t> job to run an image garbage collector</a:t>
            </a:r>
            <a:r>
              <a:rPr lang="en-US" altLang="ko-KR" sz="1400" dirty="0"/>
              <a:t>. For example, the “</a:t>
            </a:r>
            <a:r>
              <a:rPr lang="en-US" altLang="ko-KR" sz="1400" b="1" dirty="0">
                <a:solidFill>
                  <a:srgbClr val="FF0000"/>
                </a:solidFill>
                <a:hlinkClick r:id="rId2"/>
              </a:rPr>
              <a:t>docker-</a:t>
            </a:r>
            <a:r>
              <a:rPr lang="en-US" altLang="ko-KR" sz="1400" b="1" dirty="0" err="1">
                <a:solidFill>
                  <a:srgbClr val="FF0000"/>
                </a:solidFill>
                <a:hlinkClick r:id="rId2"/>
              </a:rPr>
              <a:t>gc</a:t>
            </a:r>
            <a:r>
              <a:rPr lang="en-US" altLang="ko-KR" sz="1400" b="1" dirty="0">
                <a:solidFill>
                  <a:srgbClr val="FF0000"/>
                </a:solidFill>
                <a:hlinkClick r:id="rId2"/>
              </a:rPr>
              <a:t> tool</a:t>
            </a:r>
            <a:r>
              <a:rPr lang="en-US" altLang="ko-KR" sz="1400" dirty="0"/>
              <a:t>” is </a:t>
            </a:r>
            <a:r>
              <a:rPr lang="en-US" altLang="ko-KR" sz="1400" b="1" dirty="0"/>
              <a:t>a commonly used image garbage collector </a:t>
            </a:r>
            <a:r>
              <a:rPr lang="en-US" altLang="ko-KR" sz="1400" dirty="0"/>
              <a:t>that can easily run as a recurring “</a:t>
            </a:r>
            <a:r>
              <a:rPr lang="en-US" altLang="ko-KR" sz="1400" b="1" dirty="0" err="1"/>
              <a:t>cron</a:t>
            </a:r>
            <a:r>
              <a:rPr lang="en-US" altLang="ko-KR" sz="1400" dirty="0"/>
              <a:t>” job, once per day or once per hour, depending on how many images you are creating.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2F4FC75-9633-4D07-B7D5-732D3974BE3D}"/>
              </a:ext>
            </a:extLst>
          </p:cNvPr>
          <p:cNvPicPr>
            <a:picLocks noChangeAspect="1"/>
          </p:cNvPicPr>
          <p:nvPr/>
        </p:nvPicPr>
        <p:blipFill>
          <a:blip r:embed="rId3"/>
          <a:stretch>
            <a:fillRect/>
          </a:stretch>
        </p:blipFill>
        <p:spPr>
          <a:xfrm>
            <a:off x="3048000" y="3208630"/>
            <a:ext cx="6096000" cy="3200400"/>
          </a:xfrm>
          <a:prstGeom prst="rect">
            <a:avLst/>
          </a:prstGeom>
        </p:spPr>
      </p:pic>
    </p:spTree>
    <p:extLst>
      <p:ext uri="{BB962C8B-B14F-4D97-AF65-F5344CB8AC3E}">
        <p14:creationId xmlns:p14="http://schemas.microsoft.com/office/powerpoint/2010/main" val="38220110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a:t>
            </a:r>
            <a:r>
              <a:rPr lang="ko-KR" altLang="en-US" sz="2800" b="1" dirty="0"/>
              <a:t> </a:t>
            </a:r>
            <a:r>
              <a:rPr lang="en-US" altLang="ko-KR" sz="2800" b="1" dirty="0"/>
              <a:t>:</a:t>
            </a:r>
            <a:r>
              <a:rPr lang="ko-KR" altLang="en-US" sz="2800" b="1" dirty="0"/>
              <a:t> </a:t>
            </a:r>
            <a:r>
              <a:rPr lang="en-US" altLang="ko-KR" sz="2800" b="1" dirty="0"/>
              <a:t>Docker</a:t>
            </a:r>
            <a:r>
              <a:rPr lang="ko-KR" altLang="en-US" sz="2800" b="1" dirty="0"/>
              <a:t> </a:t>
            </a:r>
            <a:r>
              <a:rPr lang="en-US" altLang="ko-KR" sz="2800" b="1" dirty="0"/>
              <a:t>Hub</a:t>
            </a:r>
            <a:r>
              <a:rPr lang="ko-KR" altLang="en-US" sz="2800" b="1" dirty="0"/>
              <a:t> </a:t>
            </a:r>
            <a:r>
              <a:rPr lang="en-US" altLang="ko-KR" sz="2800" b="1" dirty="0"/>
              <a:t>Repository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Pushing Image :</a:t>
            </a:r>
          </a:p>
          <a:p>
            <a:pPr lvl="1">
              <a:buFont typeface="Wingdings" panose="05000000000000000000" pitchFamily="2" charset="2"/>
              <a:buChar char="§"/>
            </a:pPr>
            <a:r>
              <a:rPr lang="en-US" altLang="ko-KR" sz="1400" dirty="0"/>
              <a:t>After pushing your Docker image, you can check your repository in </a:t>
            </a:r>
            <a:r>
              <a:rPr lang="en-US" altLang="ko-KR" sz="1400" b="1" dirty="0">
                <a:hlinkClick r:id="rId2"/>
              </a:rPr>
              <a:t>Docker Hub</a:t>
            </a:r>
            <a:r>
              <a:rPr lang="en-US" altLang="ko-KR" sz="1400" dirty="0"/>
              <a:t>. Sign in </a:t>
            </a:r>
            <a:r>
              <a:rPr lang="en-US" altLang="ko-KR" sz="1400" b="1" dirty="0"/>
              <a:t>Docker Hub </a:t>
            </a:r>
            <a:r>
              <a:rPr lang="en-US" altLang="ko-KR" sz="1400" dirty="0"/>
              <a:t>and find your pushed image.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3A362055-A65C-4A70-8825-9A8135BF5374}"/>
              </a:ext>
            </a:extLst>
          </p:cNvPr>
          <p:cNvGrpSpPr/>
          <p:nvPr/>
        </p:nvGrpSpPr>
        <p:grpSpPr>
          <a:xfrm>
            <a:off x="1509963" y="1692442"/>
            <a:ext cx="9172073" cy="4716588"/>
            <a:chOff x="1509963" y="1692442"/>
            <a:chExt cx="9172073" cy="4716588"/>
          </a:xfrm>
        </p:grpSpPr>
        <p:grpSp>
          <p:nvGrpSpPr>
            <p:cNvPr id="13" name="그룹 12">
              <a:extLst>
                <a:ext uri="{FF2B5EF4-FFF2-40B4-BE49-F238E27FC236}">
                  <a16:creationId xmlns:a16="http://schemas.microsoft.com/office/drawing/2014/main" id="{3CF65DCA-B0EE-4348-A504-DBA144ED7718}"/>
                </a:ext>
              </a:extLst>
            </p:cNvPr>
            <p:cNvGrpSpPr/>
            <p:nvPr/>
          </p:nvGrpSpPr>
          <p:grpSpPr>
            <a:xfrm>
              <a:off x="1509963" y="1692442"/>
              <a:ext cx="9172073" cy="4716588"/>
              <a:chOff x="1455821" y="1915853"/>
              <a:chExt cx="10415337" cy="5770454"/>
            </a:xfrm>
          </p:grpSpPr>
          <p:grpSp>
            <p:nvGrpSpPr>
              <p:cNvPr id="10" name="그룹 9">
                <a:extLst>
                  <a:ext uri="{FF2B5EF4-FFF2-40B4-BE49-F238E27FC236}">
                    <a16:creationId xmlns:a16="http://schemas.microsoft.com/office/drawing/2014/main" id="{CE9DAC7F-4DFA-4163-976D-F68A3BF5A7FA}"/>
                  </a:ext>
                </a:extLst>
              </p:cNvPr>
              <p:cNvGrpSpPr/>
              <p:nvPr/>
            </p:nvGrpSpPr>
            <p:grpSpPr>
              <a:xfrm>
                <a:off x="1455821" y="1915853"/>
                <a:ext cx="9280358" cy="3638436"/>
                <a:chOff x="1455821" y="1915853"/>
                <a:chExt cx="9280358" cy="3638436"/>
              </a:xfrm>
            </p:grpSpPr>
            <p:pic>
              <p:nvPicPr>
                <p:cNvPr id="8" name="그림 7">
                  <a:extLst>
                    <a:ext uri="{FF2B5EF4-FFF2-40B4-BE49-F238E27FC236}">
                      <a16:creationId xmlns:a16="http://schemas.microsoft.com/office/drawing/2014/main" id="{C03B57D9-9CC7-43DE-BC7E-ED89BD6F318B}"/>
                    </a:ext>
                  </a:extLst>
                </p:cNvPr>
                <p:cNvPicPr>
                  <a:picLocks noChangeAspect="1"/>
                </p:cNvPicPr>
                <p:nvPr/>
              </p:nvPicPr>
              <p:blipFill>
                <a:blip r:embed="rId3"/>
                <a:stretch>
                  <a:fillRect/>
                </a:stretch>
              </p:blipFill>
              <p:spPr>
                <a:xfrm>
                  <a:off x="1455821" y="1915853"/>
                  <a:ext cx="9280358" cy="3638436"/>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B202A051-71AC-4857-A20C-BC7E85184343}"/>
                    </a:ext>
                  </a:extLst>
                </p:cNvPr>
                <p:cNvSpPr/>
                <p:nvPr/>
              </p:nvSpPr>
              <p:spPr>
                <a:xfrm>
                  <a:off x="1828800" y="3429000"/>
                  <a:ext cx="6224337" cy="549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6A113AE8-08A6-4E37-B393-873AFB7DBDB5}"/>
                  </a:ext>
                </a:extLst>
              </p:cNvPr>
              <p:cNvPicPr>
                <a:picLocks noChangeAspect="1"/>
              </p:cNvPicPr>
              <p:nvPr/>
            </p:nvPicPr>
            <p:blipFill>
              <a:blip r:embed="rId4"/>
              <a:stretch>
                <a:fillRect/>
              </a:stretch>
            </p:blipFill>
            <p:spPr>
              <a:xfrm>
                <a:off x="2590799" y="4047870"/>
                <a:ext cx="9280359" cy="3638437"/>
              </a:xfrm>
              <a:prstGeom prst="rect">
                <a:avLst/>
              </a:prstGeom>
              <a:ln>
                <a:solidFill>
                  <a:schemeClr val="bg1">
                    <a:lumMod val="50000"/>
                  </a:schemeClr>
                </a:solidFill>
              </a:ln>
            </p:spPr>
          </p:pic>
        </p:grpSp>
        <p:sp>
          <p:nvSpPr>
            <p:cNvPr id="14" name="직사각형 13">
              <a:extLst>
                <a:ext uri="{FF2B5EF4-FFF2-40B4-BE49-F238E27FC236}">
                  <a16:creationId xmlns:a16="http://schemas.microsoft.com/office/drawing/2014/main" id="{4757A3CE-5194-4519-8E59-CEEDAF9CC2FD}"/>
                </a:ext>
              </a:extLst>
            </p:cNvPr>
            <p:cNvSpPr/>
            <p:nvPr/>
          </p:nvSpPr>
          <p:spPr>
            <a:xfrm>
              <a:off x="7319767" y="5959642"/>
              <a:ext cx="2743200" cy="2406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456782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Deploying a </a:t>
            </a:r>
            <a:r>
              <a:rPr lang="en-US" altLang="ko-KR" sz="4400" b="1"/>
              <a:t>Kubernetes Cluster</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9945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 Cluster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Cluster :</a:t>
            </a:r>
          </a:p>
          <a:p>
            <a:pPr lvl="1">
              <a:buFont typeface="Wingdings" panose="05000000000000000000" pitchFamily="2" charset="2"/>
              <a:buChar char="§"/>
            </a:pPr>
            <a:r>
              <a:rPr lang="en-US" altLang="ko-KR" sz="1400" b="1" dirty="0"/>
              <a:t>Now that you have successfully built an application container, the next step is to learn how to transform it into a complete, reliable, scalable distributed system</a:t>
            </a:r>
            <a:r>
              <a:rPr lang="en-US" altLang="ko-KR" sz="1400" dirty="0"/>
              <a:t>. To do that, you need a working </a:t>
            </a:r>
            <a:r>
              <a:rPr lang="en-US" altLang="ko-KR" sz="1400" b="1" dirty="0">
                <a:solidFill>
                  <a:srgbClr val="FF0000"/>
                </a:solidFill>
              </a:rPr>
              <a:t>Kubernetes cluster</a:t>
            </a:r>
            <a:r>
              <a:rPr lang="en-US" altLang="ko-KR" sz="1400" dirty="0"/>
              <a:t>. At this point, there are </a:t>
            </a:r>
            <a:r>
              <a:rPr lang="en-US" altLang="ko-KR" sz="1400" b="1" dirty="0"/>
              <a:t>cloud-based Kubernetes services </a:t>
            </a:r>
            <a:r>
              <a:rPr lang="en-US" altLang="ko-KR" sz="1400" dirty="0"/>
              <a:t>in most public clouds that make it easy to create a cluster with a few command-line instructions. We highly recommend this approach if you are just getting started with Kubernetes. Even if you are ultimately planning on running Kubernetes on bare metal, it’s a good way to quickly get started with Kubernetes, learn about Kubernetes itself, and then learn how to install it on physical machines. </a:t>
            </a:r>
            <a:r>
              <a:rPr lang="en-US" altLang="ko-KR" sz="1400" b="1" dirty="0"/>
              <a:t>Furthermore, managing a Kubernetes cluster is a complicated task in itself, and for most people it makes sense to defer this management to the cloud—especially when in most clouds the management service is free</a:t>
            </a:r>
            <a:r>
              <a:rPr lang="en-US" altLang="ko-KR" sz="1400" dirty="0"/>
              <a:t>.</a:t>
            </a:r>
          </a:p>
          <a:p>
            <a:pPr lvl="1">
              <a:buFont typeface="Wingdings" panose="05000000000000000000" pitchFamily="2" charset="2"/>
              <a:buChar char="§"/>
            </a:pPr>
            <a:r>
              <a:rPr lang="en-US" altLang="ko-KR" sz="1400" b="1" dirty="0"/>
              <a:t>Of course, using a cloud-based solution requires paying for those cloud-based resources as well as having an active network connection to the cloud</a:t>
            </a:r>
            <a:r>
              <a:rPr lang="en-US" altLang="ko-KR" sz="1400" dirty="0"/>
              <a:t>. For these reasons, </a:t>
            </a:r>
            <a:r>
              <a:rPr lang="en-US" altLang="ko-KR" sz="1400" b="1" dirty="0"/>
              <a:t>local development </a:t>
            </a:r>
            <a:r>
              <a:rPr lang="en-US" altLang="ko-KR" sz="1400" dirty="0"/>
              <a:t>can be more attractive, and in that case the </a:t>
            </a:r>
            <a:r>
              <a:rPr lang="en-US" altLang="ko-KR" sz="1400" b="1" dirty="0" err="1">
                <a:solidFill>
                  <a:srgbClr val="FF0000"/>
                </a:solidFill>
              </a:rPr>
              <a:t>minikube</a:t>
            </a:r>
            <a:r>
              <a:rPr lang="en-US" altLang="ko-KR" sz="1400" dirty="0"/>
              <a:t> </a:t>
            </a:r>
            <a:r>
              <a:rPr lang="en-US" altLang="ko-KR" sz="1400" b="1" dirty="0"/>
              <a:t>tool provides an easy-to-use way to get a local Kubernetes cluster up running in a VM on your local laptop or desktop</a:t>
            </a:r>
            <a:r>
              <a:rPr lang="en-US" altLang="ko-KR" sz="1400" dirty="0"/>
              <a:t>. Though this is a nice option, </a:t>
            </a:r>
            <a:r>
              <a:rPr lang="en-US" altLang="ko-KR" sz="1400" b="1" dirty="0" err="1"/>
              <a:t>minikube</a:t>
            </a:r>
            <a:r>
              <a:rPr lang="en-US" altLang="ko-KR" sz="1400" dirty="0"/>
              <a:t> </a:t>
            </a:r>
            <a:r>
              <a:rPr lang="en-US" altLang="ko-KR" sz="1400" b="1" dirty="0"/>
              <a:t>only creates a single-node cluster</a:t>
            </a:r>
            <a:r>
              <a:rPr lang="en-US" altLang="ko-KR" sz="1400" dirty="0"/>
              <a:t>, which doesn’t quite demonstrate all of the aspects of a complete Kubernetes cluster. For that reason, we recommend people start with a cloud-based solution, unless it really doesn’t work for their situation. </a:t>
            </a:r>
            <a:r>
              <a:rPr lang="en-US" altLang="ko-KR" sz="1400" b="1" dirty="0"/>
              <a:t>A more recent alternative is to run a </a:t>
            </a:r>
            <a:r>
              <a:rPr lang="en-US" altLang="ko-KR" sz="1400" b="1" dirty="0">
                <a:solidFill>
                  <a:srgbClr val="FF0000"/>
                </a:solidFill>
              </a:rPr>
              <a:t>Docker-in-Docker cluster</a:t>
            </a:r>
            <a:r>
              <a:rPr lang="en-US" altLang="ko-KR" sz="1400" dirty="0"/>
              <a:t>, </a:t>
            </a:r>
            <a:r>
              <a:rPr lang="en-US" altLang="ko-KR" sz="1400" b="1" dirty="0"/>
              <a:t>which can spin up a multi-node cluster on a single machine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CBC7E94-788D-4F8D-BCFC-0C8353582519}"/>
              </a:ext>
            </a:extLst>
          </p:cNvPr>
          <p:cNvPicPr>
            <a:picLocks noChangeAspect="1"/>
          </p:cNvPicPr>
          <p:nvPr/>
        </p:nvPicPr>
        <p:blipFill>
          <a:blip r:embed="rId2"/>
          <a:stretch>
            <a:fillRect/>
          </a:stretch>
        </p:blipFill>
        <p:spPr>
          <a:xfrm>
            <a:off x="4132681" y="4170947"/>
            <a:ext cx="3926637" cy="2238083"/>
          </a:xfrm>
          <a:prstGeom prst="rect">
            <a:avLst/>
          </a:prstGeom>
          <a:ln>
            <a:noFill/>
          </a:ln>
        </p:spPr>
      </p:pic>
    </p:spTree>
    <p:extLst>
      <p:ext uri="{BB962C8B-B14F-4D97-AF65-F5344CB8AC3E}">
        <p14:creationId xmlns:p14="http://schemas.microsoft.com/office/powerpoint/2010/main" val="4434862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on a Public Cloud Provider(1/4)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Google Kubernetes Engine :</a:t>
            </a:r>
          </a:p>
          <a:p>
            <a:pPr lvl="1">
              <a:buFont typeface="Wingdings" panose="05000000000000000000" pitchFamily="2" charset="2"/>
              <a:buChar char="§"/>
            </a:pPr>
            <a:r>
              <a:rPr lang="en-US" altLang="ko-KR" sz="1400" b="1" dirty="0"/>
              <a:t>The Google Cloud Platform offers a hosted </a:t>
            </a:r>
            <a:r>
              <a:rPr lang="en-US" altLang="ko-KR" sz="1400" b="1" dirty="0">
                <a:solidFill>
                  <a:srgbClr val="FF0000"/>
                </a:solidFill>
              </a:rPr>
              <a:t>Kubernetes-as-a-Service</a:t>
            </a:r>
            <a:r>
              <a:rPr lang="en-US" altLang="ko-KR" sz="1400" b="1" dirty="0"/>
              <a:t> called </a:t>
            </a:r>
            <a:r>
              <a:rPr lang="en-US" altLang="ko-KR" sz="1400" b="1" dirty="0">
                <a:solidFill>
                  <a:srgbClr val="FF0000"/>
                </a:solidFill>
              </a:rPr>
              <a:t>Google Kubernetes Engine (GKE)</a:t>
            </a:r>
            <a:r>
              <a:rPr lang="en-US" altLang="ko-KR" sz="1400" dirty="0"/>
              <a:t>. To get started with GKE, you need a Google Cloud Platform account with billing enabled and the </a:t>
            </a:r>
            <a:r>
              <a:rPr lang="en-US" altLang="ko-KR" sz="1400" b="1" dirty="0" err="1">
                <a:hlinkClick r:id="rId2"/>
              </a:rPr>
              <a:t>gcloud</a:t>
            </a:r>
            <a:r>
              <a:rPr lang="en-US" altLang="ko-KR" sz="1400" b="1" dirty="0">
                <a:hlinkClick r:id="rId2"/>
              </a:rPr>
              <a:t> tool</a:t>
            </a:r>
            <a:r>
              <a:rPr lang="en-US" altLang="ko-KR" sz="1400" dirty="0">
                <a:hlinkClick r:id="rId2"/>
              </a:rPr>
              <a:t> </a:t>
            </a:r>
            <a:r>
              <a:rPr lang="en-US" altLang="ko-KR" sz="1400" dirty="0"/>
              <a:t>installed.</a:t>
            </a:r>
          </a:p>
          <a:p>
            <a:pPr lvl="1">
              <a:buFont typeface="Wingdings" panose="05000000000000000000" pitchFamily="2" charset="2"/>
              <a:buChar char="§"/>
            </a:pPr>
            <a:r>
              <a:rPr lang="en-US" altLang="ko-KR" sz="1400" dirty="0"/>
              <a:t>Once you have </a:t>
            </a:r>
            <a:r>
              <a:rPr lang="en-US" altLang="ko-KR" sz="1400" b="1" dirty="0" err="1"/>
              <a:t>gcloud</a:t>
            </a:r>
            <a:r>
              <a:rPr lang="en-US" altLang="ko-KR" sz="1400" dirty="0"/>
              <a:t> installed, first </a:t>
            </a:r>
            <a:r>
              <a:rPr lang="en-US" altLang="ko-KR" sz="1400" b="1" dirty="0"/>
              <a:t>set a default zone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you can </a:t>
            </a:r>
            <a:r>
              <a:rPr lang="en-US" altLang="ko-KR" sz="1400" b="1" dirty="0"/>
              <a:t>create a cluster </a:t>
            </a:r>
            <a:r>
              <a:rPr lang="en-US" altLang="ko-KR" sz="1400" dirty="0"/>
              <a:t>:</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This will take a few minutes. When the cluster is ready you can </a:t>
            </a:r>
            <a:r>
              <a:rPr lang="en-US" altLang="ko-KR" sz="1400" b="1" dirty="0"/>
              <a:t>get credentials for the cluster </a:t>
            </a:r>
            <a:r>
              <a:rPr lang="en-US" altLang="ko-KR" sz="1400" dirty="0"/>
              <a:t>using :</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If you run into trouble, you can find the complete instructions for creating a GKE cluster in the </a:t>
            </a:r>
            <a:r>
              <a:rPr lang="en-US" altLang="ko-KR" sz="1400" b="1" dirty="0">
                <a:hlinkClick r:id="rId3"/>
              </a:rPr>
              <a:t>Google Cloud Platform documentation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79FA1A1-75B5-4F82-8BCB-A9888476DB6D}"/>
              </a:ext>
            </a:extLst>
          </p:cNvPr>
          <p:cNvSpPr/>
          <p:nvPr/>
        </p:nvSpPr>
        <p:spPr>
          <a:xfrm>
            <a:off x="3906718" y="1977008"/>
            <a:ext cx="4378562" cy="246221"/>
          </a:xfrm>
          <a:prstGeom prst="rect">
            <a:avLst/>
          </a:prstGeom>
          <a:ln>
            <a:solidFill>
              <a:schemeClr val="bg1">
                <a:lumMod val="50000"/>
              </a:schemeClr>
            </a:solidFill>
          </a:ln>
        </p:spPr>
        <p:txBody>
          <a:bodyPr wrap="square">
            <a:spAutoFit/>
          </a:bodyPr>
          <a:lstStyle/>
          <a:p>
            <a:r>
              <a:rPr lang="en-US" altLang="ko-KR" sz="1000" b="1" dirty="0" err="1"/>
              <a:t>gcloud</a:t>
            </a:r>
            <a:r>
              <a:rPr lang="en-US" altLang="ko-KR" sz="1000" b="1" dirty="0"/>
              <a:t> config set </a:t>
            </a:r>
            <a:r>
              <a:rPr lang="en-US" altLang="ko-KR" sz="1000" b="1" dirty="0">
                <a:solidFill>
                  <a:srgbClr val="FF0000"/>
                </a:solidFill>
              </a:rPr>
              <a:t>compute/zone us-west1-a</a:t>
            </a:r>
          </a:p>
        </p:txBody>
      </p:sp>
      <p:sp>
        <p:nvSpPr>
          <p:cNvPr id="8" name="직사각형 7">
            <a:extLst>
              <a:ext uri="{FF2B5EF4-FFF2-40B4-BE49-F238E27FC236}">
                <a16:creationId xmlns:a16="http://schemas.microsoft.com/office/drawing/2014/main" id="{6AA36E28-123C-4B8F-AF66-B9DB3C5528F1}"/>
              </a:ext>
            </a:extLst>
          </p:cNvPr>
          <p:cNvSpPr/>
          <p:nvPr/>
        </p:nvSpPr>
        <p:spPr>
          <a:xfrm>
            <a:off x="3906718" y="2697512"/>
            <a:ext cx="4378562" cy="246221"/>
          </a:xfrm>
          <a:prstGeom prst="rect">
            <a:avLst/>
          </a:prstGeom>
          <a:ln>
            <a:solidFill>
              <a:schemeClr val="bg1">
                <a:lumMod val="50000"/>
              </a:schemeClr>
            </a:solidFill>
          </a:ln>
        </p:spPr>
        <p:txBody>
          <a:bodyPr wrap="square">
            <a:spAutoFit/>
          </a:bodyPr>
          <a:lstStyle/>
          <a:p>
            <a:r>
              <a:rPr lang="en-US" altLang="ko-KR" sz="1000" b="1" dirty="0" err="1"/>
              <a:t>gcloud</a:t>
            </a:r>
            <a:r>
              <a:rPr lang="en-US" altLang="ko-KR" sz="1000" b="1" dirty="0"/>
              <a:t> container clusters create </a:t>
            </a:r>
            <a:r>
              <a:rPr lang="en-US" altLang="ko-KR" sz="1000" b="1" dirty="0" err="1">
                <a:solidFill>
                  <a:srgbClr val="FF0000"/>
                </a:solidFill>
              </a:rPr>
              <a:t>kuar</a:t>
            </a:r>
            <a:r>
              <a:rPr lang="en-US" altLang="ko-KR" sz="1000" b="1" dirty="0">
                <a:solidFill>
                  <a:srgbClr val="FF0000"/>
                </a:solidFill>
              </a:rPr>
              <a:t>-cluster</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DCF853A1-B188-486D-8BA2-BF2EDF1EED59}"/>
              </a:ext>
            </a:extLst>
          </p:cNvPr>
          <p:cNvSpPr/>
          <p:nvPr/>
        </p:nvSpPr>
        <p:spPr>
          <a:xfrm>
            <a:off x="3906718" y="3468607"/>
            <a:ext cx="4378562" cy="246221"/>
          </a:xfrm>
          <a:prstGeom prst="rect">
            <a:avLst/>
          </a:prstGeom>
          <a:ln>
            <a:solidFill>
              <a:schemeClr val="bg1">
                <a:lumMod val="50000"/>
              </a:schemeClr>
            </a:solidFill>
          </a:ln>
        </p:spPr>
        <p:txBody>
          <a:bodyPr wrap="square">
            <a:spAutoFit/>
          </a:bodyPr>
          <a:lstStyle/>
          <a:p>
            <a:r>
              <a:rPr lang="en-US" altLang="ko-KR" sz="1000" b="1" dirty="0" err="1"/>
              <a:t>gcloud</a:t>
            </a:r>
            <a:r>
              <a:rPr lang="en-US" altLang="ko-KR" sz="1000" b="1" dirty="0"/>
              <a:t> auth application-default login</a:t>
            </a:r>
            <a:endParaRPr lang="ko-KR" altLang="en-US" sz="1000" b="1" dirty="0"/>
          </a:p>
        </p:txBody>
      </p:sp>
      <p:pic>
        <p:nvPicPr>
          <p:cNvPr id="10" name="그림 9">
            <a:extLst>
              <a:ext uri="{FF2B5EF4-FFF2-40B4-BE49-F238E27FC236}">
                <a16:creationId xmlns:a16="http://schemas.microsoft.com/office/drawing/2014/main" id="{50028038-1293-431A-A9F3-6310B77AF3C0}"/>
              </a:ext>
            </a:extLst>
          </p:cNvPr>
          <p:cNvPicPr>
            <a:picLocks noChangeAspect="1"/>
          </p:cNvPicPr>
          <p:nvPr/>
        </p:nvPicPr>
        <p:blipFill>
          <a:blip r:embed="rId4"/>
          <a:stretch>
            <a:fillRect/>
          </a:stretch>
        </p:blipFill>
        <p:spPr>
          <a:xfrm>
            <a:off x="3843336" y="4432592"/>
            <a:ext cx="4505325" cy="1976438"/>
          </a:xfrm>
          <a:prstGeom prst="rect">
            <a:avLst/>
          </a:prstGeom>
          <a:ln>
            <a:solidFill>
              <a:schemeClr val="bg1">
                <a:lumMod val="50000"/>
              </a:schemeClr>
            </a:solidFill>
          </a:ln>
        </p:spPr>
      </p:pic>
    </p:spTree>
    <p:extLst>
      <p:ext uri="{BB962C8B-B14F-4D97-AF65-F5344CB8AC3E}">
        <p14:creationId xmlns:p14="http://schemas.microsoft.com/office/powerpoint/2010/main" val="41261824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on a Public Cloud Provider(2/4)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Kubernetes with Azure Kubernetes Service :</a:t>
            </a:r>
          </a:p>
          <a:p>
            <a:pPr lvl="1">
              <a:buFont typeface="Wingdings" panose="05000000000000000000" pitchFamily="2" charset="2"/>
              <a:buChar char="§"/>
            </a:pPr>
            <a:r>
              <a:rPr lang="en-US" altLang="ko-KR" sz="1400" b="1" dirty="0"/>
              <a:t>Microsoft Azure offers a hosted Kubernetes-as-a-Service as part of the </a:t>
            </a:r>
            <a:r>
              <a:rPr lang="en-US" altLang="ko-KR" sz="1400" b="1" dirty="0">
                <a:solidFill>
                  <a:srgbClr val="FF0000"/>
                </a:solidFill>
              </a:rPr>
              <a:t>Azure Container Service</a:t>
            </a:r>
            <a:r>
              <a:rPr lang="en-US" altLang="ko-KR" sz="1400" dirty="0"/>
              <a:t>. The easiest way to get started with Azure Container Service is to use the </a:t>
            </a:r>
            <a:r>
              <a:rPr lang="en-US" altLang="ko-KR" sz="1400" b="1" dirty="0"/>
              <a:t>built-in </a:t>
            </a:r>
            <a:r>
              <a:rPr lang="en-US" altLang="ko-KR" sz="1400" b="1" dirty="0">
                <a:solidFill>
                  <a:srgbClr val="FF0000"/>
                </a:solidFill>
              </a:rPr>
              <a:t>Azure Cloud Shell </a:t>
            </a:r>
            <a:r>
              <a:rPr lang="en-US" altLang="ko-KR" sz="1400" b="1" dirty="0"/>
              <a:t>in the Azure portal</a:t>
            </a:r>
            <a:r>
              <a:rPr lang="en-US" altLang="ko-KR" sz="1400" dirty="0"/>
              <a:t>. You can activate the shell by clicking the shell icon in the upper-right toolbar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shell has the </a:t>
            </a:r>
            <a:r>
              <a:rPr lang="en-US" altLang="ko-KR" sz="1400" b="1" dirty="0" err="1"/>
              <a:t>az</a:t>
            </a:r>
            <a:r>
              <a:rPr lang="en-US" altLang="ko-KR" sz="1400" b="1" dirty="0"/>
              <a:t> tool automatically installed and configured to work with your Azure environment</a:t>
            </a:r>
            <a:r>
              <a:rPr lang="en-US" altLang="ko-KR" sz="1400" dirty="0"/>
              <a:t>. Alternatively, you can install the </a:t>
            </a:r>
            <a:r>
              <a:rPr lang="en-US" altLang="ko-KR" sz="1400" b="1" dirty="0" err="1">
                <a:hlinkClick r:id="rId2"/>
              </a:rPr>
              <a:t>az</a:t>
            </a:r>
            <a:r>
              <a:rPr lang="en-US" altLang="ko-KR" sz="1400" b="1" dirty="0">
                <a:hlinkClick r:id="rId2"/>
              </a:rPr>
              <a:t> command-line interface (CLI)</a:t>
            </a:r>
            <a:r>
              <a:rPr lang="en-US" altLang="ko-KR" sz="1400" b="1" dirty="0"/>
              <a:t> </a:t>
            </a:r>
            <a:r>
              <a:rPr lang="en-US" altLang="ko-KR" sz="1400" dirty="0"/>
              <a:t>on your local machine.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A4DC363-79A6-47FF-B51E-90F4E253F66A}"/>
              </a:ext>
            </a:extLst>
          </p:cNvPr>
          <p:cNvPicPr>
            <a:picLocks noChangeAspect="1"/>
          </p:cNvPicPr>
          <p:nvPr/>
        </p:nvPicPr>
        <p:blipFill>
          <a:blip r:embed="rId3"/>
          <a:stretch>
            <a:fillRect/>
          </a:stretch>
        </p:blipFill>
        <p:spPr>
          <a:xfrm>
            <a:off x="5944745" y="1877863"/>
            <a:ext cx="302508" cy="261257"/>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F3740B1D-65CA-4110-985F-8C56B113F563}"/>
              </a:ext>
            </a:extLst>
          </p:cNvPr>
          <p:cNvPicPr>
            <a:picLocks noChangeAspect="1"/>
          </p:cNvPicPr>
          <p:nvPr/>
        </p:nvPicPr>
        <p:blipFill>
          <a:blip r:embed="rId4"/>
          <a:stretch>
            <a:fillRect/>
          </a:stretch>
        </p:blipFill>
        <p:spPr>
          <a:xfrm>
            <a:off x="3745830" y="3017987"/>
            <a:ext cx="4700337" cy="2643940"/>
          </a:xfrm>
          <a:prstGeom prst="rect">
            <a:avLst/>
          </a:prstGeom>
        </p:spPr>
      </p:pic>
    </p:spTree>
    <p:extLst>
      <p:ext uri="{BB962C8B-B14F-4D97-AF65-F5344CB8AC3E}">
        <p14:creationId xmlns:p14="http://schemas.microsoft.com/office/powerpoint/2010/main" val="11656099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on a Public Cloud Provider(3/4)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Kubernetes with Azure Kubernetes Service :</a:t>
            </a:r>
          </a:p>
          <a:p>
            <a:pPr lvl="1">
              <a:buFont typeface="Wingdings" panose="05000000000000000000" pitchFamily="2" charset="2"/>
              <a:buChar char="§"/>
            </a:pPr>
            <a:r>
              <a:rPr lang="en-US" altLang="ko-KR" sz="1400" dirty="0"/>
              <a:t>When you have the shell up and working,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Once the </a:t>
            </a:r>
            <a:r>
              <a:rPr lang="en-US" altLang="ko-KR" sz="1400" b="1" dirty="0"/>
              <a:t>resource group</a:t>
            </a:r>
            <a:r>
              <a:rPr lang="en-US" altLang="ko-KR" sz="1400" dirty="0"/>
              <a:t> is created, you can </a:t>
            </a:r>
            <a:r>
              <a:rPr lang="en-US" altLang="ko-KR" sz="1400" b="1" dirty="0"/>
              <a:t>create a cluster </a:t>
            </a:r>
            <a:r>
              <a:rPr lang="en-US" altLang="ko-KR" sz="1400" dirty="0"/>
              <a:t>using :</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This will take a few minutes. Once the cluster is created, you can </a:t>
            </a:r>
            <a:r>
              <a:rPr lang="en-US" altLang="ko-KR" sz="1400" b="1" dirty="0"/>
              <a:t>get credentials for the cluster</a:t>
            </a:r>
            <a:r>
              <a:rPr lang="en-US" altLang="ko-KR" sz="1400" dirty="0"/>
              <a:t> with :</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If you don’t already have the </a:t>
            </a:r>
            <a:r>
              <a:rPr lang="en-US" altLang="ko-KR" sz="1400" b="1" dirty="0" err="1"/>
              <a:t>kubectl</a:t>
            </a:r>
            <a:r>
              <a:rPr lang="en-US" altLang="ko-KR" sz="1400" dirty="0"/>
              <a:t> tool installed, you can install it using :</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You can find complete instructions for </a:t>
            </a:r>
            <a:r>
              <a:rPr lang="en-US" altLang="ko-KR" sz="1400" b="1" dirty="0">
                <a:hlinkClick r:id="rId2"/>
              </a:rPr>
              <a:t>installing Kubernetes on Azure in the Azure documentation</a:t>
            </a:r>
            <a:r>
              <a:rPr lang="en-US" altLang="ko-KR" sz="1400" dirty="0"/>
              <a:t>.</a:t>
            </a:r>
          </a:p>
          <a:p>
            <a:pPr lvl="1">
              <a:buFont typeface="Wingdings" panose="05000000000000000000" pitchFamily="2" charset="2"/>
              <a:buChar char="§"/>
            </a:pPr>
            <a:r>
              <a:rPr lang="en-US" altLang="ko-KR" sz="1400" dirty="0"/>
              <a:t>For more information about </a:t>
            </a:r>
            <a:r>
              <a:rPr lang="en-US" altLang="ko-KR" sz="1400" b="1" dirty="0"/>
              <a:t>azure-cli commands</a:t>
            </a:r>
            <a:r>
              <a:rPr lang="en-US" altLang="ko-KR" sz="1400" dirty="0"/>
              <a:t>, please refer to </a:t>
            </a:r>
            <a:r>
              <a:rPr lang="en-US" altLang="ko-KR" sz="1400" b="1" dirty="0">
                <a:hlinkClick r:id="rId3"/>
              </a:rPr>
              <a:t>https://docs.microsoft.com/ko-kr/cli/azure/group?view=azure-cli-latest</a:t>
            </a:r>
            <a:r>
              <a:rPr lang="en-US" altLang="ko-KR" sz="1400" b="1" dirty="0"/>
              <a: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8992705-C4B6-4374-8AB3-247094F0537B}"/>
              </a:ext>
            </a:extLst>
          </p:cNvPr>
          <p:cNvSpPr/>
          <p:nvPr/>
        </p:nvSpPr>
        <p:spPr>
          <a:xfrm>
            <a:off x="3775910" y="1463661"/>
            <a:ext cx="4640179" cy="246221"/>
          </a:xfrm>
          <a:prstGeom prst="rect">
            <a:avLst/>
          </a:prstGeom>
          <a:ln>
            <a:solidFill>
              <a:schemeClr val="bg1">
                <a:lumMod val="50000"/>
              </a:schemeClr>
            </a:solidFill>
          </a:ln>
        </p:spPr>
        <p:txBody>
          <a:bodyPr wrap="square">
            <a:spAutoFit/>
          </a:bodyPr>
          <a:lstStyle/>
          <a:p>
            <a:r>
              <a:rPr lang="en-US" altLang="ko-KR" sz="1000" b="1" dirty="0" err="1"/>
              <a:t>az</a:t>
            </a:r>
            <a:r>
              <a:rPr lang="en-US" altLang="ko-KR" sz="1000" b="1" dirty="0"/>
              <a:t> group create --name=</a:t>
            </a:r>
            <a:r>
              <a:rPr lang="en-US" altLang="ko-KR" sz="1000" b="1" dirty="0" err="1">
                <a:solidFill>
                  <a:srgbClr val="FF0000"/>
                </a:solidFill>
              </a:rPr>
              <a:t>shkwon</a:t>
            </a:r>
            <a:r>
              <a:rPr lang="en-US" altLang="ko-KR" sz="1000" b="1" dirty="0"/>
              <a:t> --location=</a:t>
            </a:r>
            <a:r>
              <a:rPr lang="en-US" altLang="ko-KR" sz="1000" b="1" dirty="0" err="1"/>
              <a:t>westus</a:t>
            </a:r>
            <a:endParaRPr lang="ko-KR" altLang="en-US" sz="1000" b="1" dirty="0"/>
          </a:p>
        </p:txBody>
      </p:sp>
      <p:sp>
        <p:nvSpPr>
          <p:cNvPr id="8" name="직사각형 7">
            <a:extLst>
              <a:ext uri="{FF2B5EF4-FFF2-40B4-BE49-F238E27FC236}">
                <a16:creationId xmlns:a16="http://schemas.microsoft.com/office/drawing/2014/main" id="{34052294-7310-4869-9E1E-CD946719BC09}"/>
              </a:ext>
            </a:extLst>
          </p:cNvPr>
          <p:cNvSpPr/>
          <p:nvPr/>
        </p:nvSpPr>
        <p:spPr>
          <a:xfrm>
            <a:off x="3775910" y="2259984"/>
            <a:ext cx="4640179" cy="246221"/>
          </a:xfrm>
          <a:prstGeom prst="rect">
            <a:avLst/>
          </a:prstGeom>
          <a:ln>
            <a:solidFill>
              <a:schemeClr val="bg1">
                <a:lumMod val="50000"/>
              </a:schemeClr>
            </a:solidFill>
          </a:ln>
        </p:spPr>
        <p:txBody>
          <a:bodyPr wrap="square">
            <a:spAutoFit/>
          </a:bodyPr>
          <a:lstStyle/>
          <a:p>
            <a:r>
              <a:rPr lang="en-US" altLang="ko-KR" sz="1000" b="1" dirty="0" err="1"/>
              <a:t>az</a:t>
            </a:r>
            <a:r>
              <a:rPr lang="en-US" altLang="ko-KR" sz="1000" b="1" dirty="0"/>
              <a:t> </a:t>
            </a:r>
            <a:r>
              <a:rPr lang="en-US" altLang="ko-KR" sz="1000" b="1" dirty="0" err="1"/>
              <a:t>aks</a:t>
            </a:r>
            <a:r>
              <a:rPr lang="en-US" altLang="ko-KR" sz="1000" b="1" dirty="0"/>
              <a:t> create --resource-group=</a:t>
            </a:r>
            <a:r>
              <a:rPr lang="en-US" altLang="ko-KR" sz="1000" b="1" dirty="0" err="1">
                <a:solidFill>
                  <a:srgbClr val="FF0000"/>
                </a:solidFill>
              </a:rPr>
              <a:t>shkwon</a:t>
            </a:r>
            <a:r>
              <a:rPr lang="en-US" altLang="ko-KR" sz="1000" b="1" dirty="0"/>
              <a:t> --name=</a:t>
            </a:r>
            <a:r>
              <a:rPr lang="en-US" altLang="ko-KR" sz="1000" b="1" dirty="0" err="1">
                <a:solidFill>
                  <a:srgbClr val="FF0000"/>
                </a:solidFill>
              </a:rPr>
              <a:t>shkwon</a:t>
            </a:r>
            <a:r>
              <a:rPr lang="en-US" altLang="ko-KR" sz="1000" b="1" dirty="0">
                <a:solidFill>
                  <a:srgbClr val="FF0000"/>
                </a:solidFill>
              </a:rPr>
              <a:t>-cluster</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13494EEC-D1A7-4209-B4E5-B938D1CD9D97}"/>
              </a:ext>
            </a:extLst>
          </p:cNvPr>
          <p:cNvSpPr/>
          <p:nvPr/>
        </p:nvSpPr>
        <p:spPr>
          <a:xfrm>
            <a:off x="3775910" y="3000160"/>
            <a:ext cx="4640179" cy="246221"/>
          </a:xfrm>
          <a:prstGeom prst="rect">
            <a:avLst/>
          </a:prstGeom>
          <a:ln>
            <a:solidFill>
              <a:schemeClr val="bg1">
                <a:lumMod val="50000"/>
              </a:schemeClr>
            </a:solidFill>
          </a:ln>
        </p:spPr>
        <p:txBody>
          <a:bodyPr wrap="square">
            <a:spAutoFit/>
          </a:bodyPr>
          <a:lstStyle/>
          <a:p>
            <a:r>
              <a:rPr lang="en-US" altLang="ko-KR" sz="1000" b="1" dirty="0" err="1"/>
              <a:t>az</a:t>
            </a:r>
            <a:r>
              <a:rPr lang="en-US" altLang="ko-KR" sz="1000" b="1" dirty="0"/>
              <a:t> </a:t>
            </a:r>
            <a:r>
              <a:rPr lang="en-US" altLang="ko-KR" sz="1000" b="1" dirty="0" err="1"/>
              <a:t>aks</a:t>
            </a:r>
            <a:r>
              <a:rPr lang="en-US" altLang="ko-KR" sz="1000" b="1" dirty="0"/>
              <a:t> get-credentials --resource-group=</a:t>
            </a:r>
            <a:r>
              <a:rPr lang="en-US" altLang="ko-KR" sz="1000" b="1" dirty="0" err="1">
                <a:solidFill>
                  <a:srgbClr val="FF0000"/>
                </a:solidFill>
              </a:rPr>
              <a:t>shkwon</a:t>
            </a:r>
            <a:r>
              <a:rPr lang="en-US" altLang="ko-KR" sz="1000" b="1" dirty="0"/>
              <a:t> --name=</a:t>
            </a:r>
            <a:r>
              <a:rPr lang="en-US" altLang="ko-KR" sz="1000" b="1" dirty="0" err="1">
                <a:solidFill>
                  <a:srgbClr val="FF0000"/>
                </a:solidFill>
              </a:rPr>
              <a:t>shkwon</a:t>
            </a:r>
            <a:r>
              <a:rPr lang="en-US" altLang="ko-KR" sz="1000" b="1" dirty="0">
                <a:solidFill>
                  <a:srgbClr val="FF0000"/>
                </a:solidFill>
              </a:rPr>
              <a:t>-cluster</a:t>
            </a:r>
            <a:endParaRPr lang="ko-KR" altLang="en-US" sz="1000" b="1" dirty="0">
              <a:solidFill>
                <a:srgbClr val="FF0000"/>
              </a:solidFill>
            </a:endParaRPr>
          </a:p>
        </p:txBody>
      </p:sp>
      <p:sp>
        <p:nvSpPr>
          <p:cNvPr id="10" name="직사각형 9">
            <a:extLst>
              <a:ext uri="{FF2B5EF4-FFF2-40B4-BE49-F238E27FC236}">
                <a16:creationId xmlns:a16="http://schemas.microsoft.com/office/drawing/2014/main" id="{2B2588DD-76FC-43C7-AC54-276A547D54AF}"/>
              </a:ext>
            </a:extLst>
          </p:cNvPr>
          <p:cNvSpPr/>
          <p:nvPr/>
        </p:nvSpPr>
        <p:spPr>
          <a:xfrm>
            <a:off x="3775910" y="3784891"/>
            <a:ext cx="4640179" cy="246221"/>
          </a:xfrm>
          <a:prstGeom prst="rect">
            <a:avLst/>
          </a:prstGeom>
          <a:ln>
            <a:solidFill>
              <a:schemeClr val="bg1">
                <a:lumMod val="50000"/>
              </a:schemeClr>
            </a:solidFill>
          </a:ln>
        </p:spPr>
        <p:txBody>
          <a:bodyPr wrap="square">
            <a:spAutoFit/>
          </a:bodyPr>
          <a:lstStyle/>
          <a:p>
            <a:r>
              <a:rPr lang="en-US" altLang="ko-KR" sz="1000" b="1" dirty="0" err="1"/>
              <a:t>az</a:t>
            </a:r>
            <a:r>
              <a:rPr lang="en-US" altLang="ko-KR" sz="1000" b="1" dirty="0"/>
              <a:t> </a:t>
            </a:r>
            <a:r>
              <a:rPr lang="en-US" altLang="ko-KR" sz="1000" b="1" dirty="0" err="1"/>
              <a:t>aks</a:t>
            </a:r>
            <a:r>
              <a:rPr lang="en-US" altLang="ko-KR" sz="1000" b="1" dirty="0"/>
              <a:t> install-cli</a:t>
            </a:r>
            <a:endParaRPr lang="ko-KR" altLang="en-US" sz="1000" b="1" dirty="0"/>
          </a:p>
        </p:txBody>
      </p:sp>
      <p:pic>
        <p:nvPicPr>
          <p:cNvPr id="12" name="그림 11">
            <a:extLst>
              <a:ext uri="{FF2B5EF4-FFF2-40B4-BE49-F238E27FC236}">
                <a16:creationId xmlns:a16="http://schemas.microsoft.com/office/drawing/2014/main" id="{0BB778B7-D286-4021-BA92-8A8CB01138A0}"/>
              </a:ext>
            </a:extLst>
          </p:cNvPr>
          <p:cNvPicPr>
            <a:picLocks noChangeAspect="1"/>
          </p:cNvPicPr>
          <p:nvPr/>
        </p:nvPicPr>
        <p:blipFill>
          <a:blip r:embed="rId4"/>
          <a:stretch>
            <a:fillRect/>
          </a:stretch>
        </p:blipFill>
        <p:spPr>
          <a:xfrm>
            <a:off x="9772507" y="5288374"/>
            <a:ext cx="1581293" cy="1120656"/>
          </a:xfrm>
          <a:prstGeom prst="rect">
            <a:avLst/>
          </a:prstGeom>
        </p:spPr>
      </p:pic>
    </p:spTree>
    <p:extLst>
      <p:ext uri="{BB962C8B-B14F-4D97-AF65-F5344CB8AC3E}">
        <p14:creationId xmlns:p14="http://schemas.microsoft.com/office/powerpoint/2010/main" val="21366842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on a Public Cloud Provider(4/4)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Kubernetes on Amazon Web Services :</a:t>
            </a:r>
          </a:p>
          <a:p>
            <a:pPr lvl="1">
              <a:buFont typeface="Wingdings" panose="05000000000000000000" pitchFamily="2" charset="2"/>
              <a:buChar char="§"/>
            </a:pPr>
            <a:r>
              <a:rPr lang="en-US" altLang="ko-KR" sz="1400" b="1" dirty="0"/>
              <a:t>Amazon offers a managed Kubernetes service called </a:t>
            </a:r>
            <a:r>
              <a:rPr lang="en-US" altLang="ko-KR" sz="1400" b="1" dirty="0">
                <a:solidFill>
                  <a:srgbClr val="FF0000"/>
                </a:solidFill>
              </a:rPr>
              <a:t>Elastic Kubernetes Service (EKS)</a:t>
            </a:r>
            <a:r>
              <a:rPr lang="en-US" altLang="ko-KR" sz="1400" dirty="0"/>
              <a:t>. The easiest way to create an EKS cluster is via the </a:t>
            </a:r>
            <a:r>
              <a:rPr lang="en-US" altLang="ko-KR" sz="1400" b="1" dirty="0">
                <a:hlinkClick r:id="rId2"/>
              </a:rPr>
              <a:t>open source </a:t>
            </a:r>
            <a:r>
              <a:rPr lang="en-US" altLang="ko-KR" sz="1400" b="1" dirty="0" err="1">
                <a:hlinkClick r:id="rId2"/>
              </a:rPr>
              <a:t>eksctl</a:t>
            </a:r>
            <a:r>
              <a:rPr lang="en-US" altLang="ko-KR" sz="1400" b="1" dirty="0">
                <a:hlinkClick r:id="rId2"/>
              </a:rPr>
              <a:t> command-line tool</a:t>
            </a:r>
            <a:r>
              <a:rPr lang="en-US" altLang="ko-KR" sz="1400" dirty="0"/>
              <a:t>.</a:t>
            </a:r>
          </a:p>
          <a:p>
            <a:pPr lvl="1">
              <a:buFont typeface="Wingdings" panose="05000000000000000000" pitchFamily="2" charset="2"/>
              <a:buChar char="§"/>
            </a:pPr>
            <a:r>
              <a:rPr lang="en-US" altLang="ko-KR" sz="1400" dirty="0"/>
              <a:t>Once you have </a:t>
            </a:r>
            <a:r>
              <a:rPr lang="en-US" altLang="ko-KR" sz="1400" b="1" dirty="0" err="1"/>
              <a:t>eksctl</a:t>
            </a:r>
            <a:r>
              <a:rPr lang="en-US" altLang="ko-KR" sz="1400" dirty="0"/>
              <a:t> installed and in your path, you can run the following command to </a:t>
            </a:r>
            <a:r>
              <a:rPr lang="en-US" altLang="ko-KR" sz="1400" b="1" dirty="0"/>
              <a:t>create a cluster </a:t>
            </a:r>
            <a:r>
              <a:rPr lang="en-US" altLang="ko-KR" sz="1400" dirty="0"/>
              <a:t>:</a:t>
            </a:r>
          </a:p>
          <a:p>
            <a:pPr marL="457200" lvl="1" indent="0">
              <a:buNone/>
            </a:pP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For more details on installation options (such as node size and more), view the help using this command:</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The cluster installation includes the right configuration for the </a:t>
            </a:r>
            <a:r>
              <a:rPr lang="en-US" altLang="ko-KR" sz="1400" b="1" dirty="0" err="1"/>
              <a:t>kubectl</a:t>
            </a:r>
            <a:r>
              <a:rPr lang="en-US" altLang="ko-KR" sz="1400" dirty="0"/>
              <a:t> </a:t>
            </a:r>
            <a:r>
              <a:rPr lang="en-US" altLang="ko-KR" sz="1400" b="1" dirty="0"/>
              <a:t>command-line tool</a:t>
            </a:r>
            <a:r>
              <a:rPr lang="en-US" altLang="ko-KR" sz="1400" dirty="0"/>
              <a:t>. If you don’t already have </a:t>
            </a:r>
            <a:r>
              <a:rPr lang="en-US" altLang="ko-KR" sz="1400" b="1" dirty="0" err="1"/>
              <a:t>kubectl</a:t>
            </a:r>
            <a:r>
              <a:rPr lang="en-US" altLang="ko-KR" sz="1400" dirty="0"/>
              <a:t> installed, you can follow </a:t>
            </a:r>
            <a:r>
              <a:rPr lang="en-US" altLang="ko-KR" sz="1400" b="1" dirty="0">
                <a:hlinkClick r:id="rId3"/>
              </a:rPr>
              <a:t>the instructions in the documentation</a:t>
            </a:r>
            <a:r>
              <a:rPr lang="en-US" altLang="ko-KR" sz="1400" b="1" dirty="0"/>
              <a:t>(The Kubernetes Official Site)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63E7227A-7DD5-4DC6-824C-34E76DAAB270}"/>
              </a:ext>
            </a:extLst>
          </p:cNvPr>
          <p:cNvSpPr/>
          <p:nvPr/>
        </p:nvSpPr>
        <p:spPr>
          <a:xfrm>
            <a:off x="3681812" y="1912840"/>
            <a:ext cx="4828375" cy="246221"/>
          </a:xfrm>
          <a:prstGeom prst="rect">
            <a:avLst/>
          </a:prstGeom>
          <a:ln>
            <a:solidFill>
              <a:schemeClr val="bg1">
                <a:lumMod val="50000"/>
              </a:schemeClr>
            </a:solidFill>
          </a:ln>
        </p:spPr>
        <p:txBody>
          <a:bodyPr wrap="square">
            <a:spAutoFit/>
          </a:bodyPr>
          <a:lstStyle/>
          <a:p>
            <a:r>
              <a:rPr lang="en-US" altLang="ko-KR" sz="1000" b="1" dirty="0" err="1"/>
              <a:t>eksctl</a:t>
            </a:r>
            <a:r>
              <a:rPr lang="en-US" altLang="ko-KR" sz="1000" b="1" dirty="0"/>
              <a:t> create cluster --name </a:t>
            </a:r>
            <a:r>
              <a:rPr lang="en-US" altLang="ko-KR" sz="1000" b="1" dirty="0" err="1">
                <a:solidFill>
                  <a:srgbClr val="FF0000"/>
                </a:solidFill>
              </a:rPr>
              <a:t>shkwon</a:t>
            </a:r>
            <a:r>
              <a:rPr lang="en-US" altLang="ko-KR" sz="1000" b="1" dirty="0">
                <a:solidFill>
                  <a:srgbClr val="FF0000"/>
                </a:solidFill>
              </a:rPr>
              <a:t>-cluster</a:t>
            </a:r>
            <a:r>
              <a:rPr lang="en-US" altLang="ko-KR" sz="1000" b="1" dirty="0"/>
              <a:t> ...</a:t>
            </a:r>
          </a:p>
        </p:txBody>
      </p:sp>
      <p:sp>
        <p:nvSpPr>
          <p:cNvPr id="8" name="직사각형 7">
            <a:extLst>
              <a:ext uri="{FF2B5EF4-FFF2-40B4-BE49-F238E27FC236}">
                <a16:creationId xmlns:a16="http://schemas.microsoft.com/office/drawing/2014/main" id="{4586FBEB-60A9-4945-AAB7-80D6CEBFFB58}"/>
              </a:ext>
            </a:extLst>
          </p:cNvPr>
          <p:cNvSpPr/>
          <p:nvPr/>
        </p:nvSpPr>
        <p:spPr>
          <a:xfrm>
            <a:off x="3681812" y="2697424"/>
            <a:ext cx="4828375" cy="246221"/>
          </a:xfrm>
          <a:prstGeom prst="rect">
            <a:avLst/>
          </a:prstGeom>
          <a:ln>
            <a:solidFill>
              <a:schemeClr val="bg1">
                <a:lumMod val="50000"/>
              </a:schemeClr>
            </a:solidFill>
          </a:ln>
        </p:spPr>
        <p:txBody>
          <a:bodyPr wrap="square">
            <a:spAutoFit/>
          </a:bodyPr>
          <a:lstStyle/>
          <a:p>
            <a:r>
              <a:rPr lang="en-US" altLang="ko-KR" sz="1000" b="1" dirty="0" err="1"/>
              <a:t>eksctl</a:t>
            </a:r>
            <a:r>
              <a:rPr lang="en-US" altLang="ko-KR" sz="1000" b="1" dirty="0"/>
              <a:t> create cluster --help</a:t>
            </a:r>
            <a:endParaRPr lang="ko-KR" altLang="en-US" sz="1000" b="1" dirty="0"/>
          </a:p>
        </p:txBody>
      </p:sp>
      <p:pic>
        <p:nvPicPr>
          <p:cNvPr id="9" name="그림 8">
            <a:extLst>
              <a:ext uri="{FF2B5EF4-FFF2-40B4-BE49-F238E27FC236}">
                <a16:creationId xmlns:a16="http://schemas.microsoft.com/office/drawing/2014/main" id="{B3A76B08-B846-41E1-9354-2B7C617A9818}"/>
              </a:ext>
            </a:extLst>
          </p:cNvPr>
          <p:cNvPicPr>
            <a:picLocks noChangeAspect="1"/>
          </p:cNvPicPr>
          <p:nvPr/>
        </p:nvPicPr>
        <p:blipFill>
          <a:blip r:embed="rId4"/>
          <a:stretch>
            <a:fillRect/>
          </a:stretch>
        </p:blipFill>
        <p:spPr>
          <a:xfrm>
            <a:off x="3481136" y="4109847"/>
            <a:ext cx="5229726" cy="1712243"/>
          </a:xfrm>
          <a:prstGeom prst="rect">
            <a:avLst/>
          </a:prstGeom>
        </p:spPr>
      </p:pic>
    </p:spTree>
    <p:extLst>
      <p:ext uri="{BB962C8B-B14F-4D97-AF65-F5344CB8AC3E}">
        <p14:creationId xmlns:p14="http://schemas.microsoft.com/office/powerpoint/2010/main" val="5318691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Locally(1/4)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minikube</a:t>
            </a:r>
            <a:r>
              <a:rPr lang="en-US" altLang="ko-KR" sz="1800" b="1" dirty="0"/>
              <a:t>” :</a:t>
            </a:r>
          </a:p>
          <a:p>
            <a:pPr lvl="1">
              <a:buFont typeface="Wingdings" panose="05000000000000000000" pitchFamily="2" charset="2"/>
              <a:buChar char="§"/>
            </a:pPr>
            <a:r>
              <a:rPr lang="en-US" altLang="ko-KR" sz="1400" dirty="0"/>
              <a:t>If you need a </a:t>
            </a:r>
            <a:r>
              <a:rPr lang="en-US" altLang="ko-KR" sz="1400" b="1" dirty="0"/>
              <a:t>local development </a:t>
            </a:r>
            <a:r>
              <a:rPr lang="en-US" altLang="ko-KR" sz="1400" dirty="0"/>
              <a:t>experience, or you don’t want to pay for cloud resources, you can install a simple </a:t>
            </a:r>
            <a:r>
              <a:rPr lang="en-US" altLang="ko-KR" sz="1400" b="1" dirty="0"/>
              <a:t>single-node cluster using </a:t>
            </a:r>
            <a:r>
              <a:rPr lang="en-US" altLang="ko-KR" sz="1400" b="1" dirty="0" err="1">
                <a:solidFill>
                  <a:srgbClr val="FF0000"/>
                </a:solidFill>
              </a:rPr>
              <a:t>minikube</a:t>
            </a:r>
            <a:r>
              <a:rPr lang="en-US" altLang="ko-KR" sz="1400" dirty="0"/>
              <a:t>. Alternatively, if you have already installed </a:t>
            </a:r>
            <a:r>
              <a:rPr lang="en-US" altLang="ko-KR" sz="1400" b="1" dirty="0"/>
              <a:t>Docker Desktop</a:t>
            </a:r>
            <a:r>
              <a:rPr lang="en-US" altLang="ko-KR" sz="1400" dirty="0"/>
              <a:t>, </a:t>
            </a:r>
            <a:r>
              <a:rPr lang="en-US" altLang="ko-KR" sz="1400" b="1" dirty="0"/>
              <a:t>it comes bundled with a single-machine installation of Kubernetes</a:t>
            </a:r>
            <a:r>
              <a:rPr lang="en-US" altLang="ko-KR" sz="1400" dirty="0"/>
              <a:t>. </a:t>
            </a:r>
          </a:p>
          <a:p>
            <a:pPr lvl="1">
              <a:buFont typeface="Wingdings" panose="05000000000000000000" pitchFamily="2" charset="2"/>
              <a:buChar char="§"/>
            </a:pPr>
            <a:r>
              <a:rPr lang="en-US" altLang="ko-KR" sz="1400" b="1" dirty="0"/>
              <a:t>While </a:t>
            </a:r>
            <a:r>
              <a:rPr lang="en-US" altLang="ko-KR" sz="1400" b="1" dirty="0" err="1"/>
              <a:t>minikube</a:t>
            </a:r>
            <a:r>
              <a:rPr lang="en-US" altLang="ko-KR" sz="1400" b="1" dirty="0"/>
              <a:t> (or </a:t>
            </a:r>
            <a:r>
              <a:rPr lang="en-US" altLang="ko-KR" sz="1400" b="1" dirty="0">
                <a:solidFill>
                  <a:srgbClr val="FF0000"/>
                </a:solidFill>
              </a:rPr>
              <a:t>Docker Desktop for Windows and MacOS</a:t>
            </a:r>
            <a:r>
              <a:rPr lang="en-US" altLang="ko-KR" sz="1400" b="1" dirty="0"/>
              <a:t>) is a good simulation of a Kubernetes cluster, it’s really intended for local development, learning, and experimentation</a:t>
            </a:r>
            <a:r>
              <a:rPr lang="en-US" altLang="ko-KR" sz="1400" dirty="0"/>
              <a:t>. Because it only </a:t>
            </a:r>
            <a:r>
              <a:rPr lang="en-US" altLang="ko-KR" sz="1400" b="1" dirty="0"/>
              <a:t>runs in a </a:t>
            </a:r>
            <a:r>
              <a:rPr lang="en-US" altLang="ko-KR" sz="1400" b="1" dirty="0">
                <a:solidFill>
                  <a:srgbClr val="FF0000"/>
                </a:solidFill>
              </a:rPr>
              <a:t>VM on a single node</a:t>
            </a:r>
            <a:r>
              <a:rPr lang="en-US" altLang="ko-KR" sz="1400" dirty="0"/>
              <a:t>, </a:t>
            </a:r>
            <a:r>
              <a:rPr lang="en-US" altLang="ko-KR" sz="1400" b="1" dirty="0"/>
              <a:t>it doesn’t provide the reliability of a distributed Kubernetes cluster</a:t>
            </a:r>
            <a:r>
              <a:rPr lang="en-US" altLang="ko-KR" sz="1400" dirty="0"/>
              <a:t>. In addition, certain features require integration with a cloud provider. These features are either </a:t>
            </a:r>
            <a:r>
              <a:rPr lang="en-US" altLang="ko-KR" sz="1400" b="1" dirty="0"/>
              <a:t>not available or work in a limited way with </a:t>
            </a:r>
            <a:r>
              <a:rPr lang="en-US" altLang="ko-KR" sz="1400" b="1" dirty="0" err="1"/>
              <a:t>minikube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9FFF46AD-B42D-4B84-9CBD-49AFB3942A53}"/>
              </a:ext>
            </a:extLst>
          </p:cNvPr>
          <p:cNvSpPr/>
          <p:nvPr/>
        </p:nvSpPr>
        <p:spPr>
          <a:xfrm>
            <a:off x="1656347" y="2810833"/>
            <a:ext cx="8879305" cy="400110"/>
          </a:xfrm>
          <a:prstGeom prst="rect">
            <a:avLst/>
          </a:prstGeom>
          <a:ln>
            <a:solidFill>
              <a:schemeClr val="bg1">
                <a:lumMod val="50000"/>
              </a:schemeClr>
            </a:solidFill>
          </a:ln>
        </p:spPr>
        <p:txBody>
          <a:bodyPr wrap="square">
            <a:spAutoFit/>
          </a:bodyPr>
          <a:lstStyle/>
          <a:p>
            <a:r>
              <a:rPr lang="en-US" altLang="ko-KR" sz="1000" b="1" dirty="0"/>
              <a:t>NOTE - You need to have a </a:t>
            </a:r>
            <a:r>
              <a:rPr lang="en-US" altLang="ko-KR" sz="1000" b="1" dirty="0">
                <a:solidFill>
                  <a:srgbClr val="FF0000"/>
                </a:solidFill>
              </a:rPr>
              <a:t>hypervisor</a:t>
            </a:r>
            <a:r>
              <a:rPr lang="en-US" altLang="ko-KR" sz="1000" b="1" dirty="0"/>
              <a:t> installed on your machine to use </a:t>
            </a:r>
            <a:r>
              <a:rPr lang="en-US" altLang="ko-KR" sz="1000" b="1" dirty="0" err="1"/>
              <a:t>minikube</a:t>
            </a:r>
            <a:r>
              <a:rPr lang="en-US" altLang="ko-KR" sz="1000" b="1" dirty="0"/>
              <a:t>. For Linux and macOS, this is generally </a:t>
            </a:r>
            <a:r>
              <a:rPr lang="en-US" altLang="ko-KR" sz="1000" b="1" dirty="0" err="1">
                <a:solidFill>
                  <a:srgbClr val="FF0000"/>
                </a:solidFill>
              </a:rPr>
              <a:t>virtualbox</a:t>
            </a:r>
            <a:r>
              <a:rPr lang="en-US" altLang="ko-KR" sz="1000" b="1" dirty="0"/>
              <a:t>. On Windows, the </a:t>
            </a:r>
            <a:r>
              <a:rPr lang="en-US" altLang="ko-KR" sz="1000" b="1" dirty="0">
                <a:solidFill>
                  <a:srgbClr val="FF0000"/>
                </a:solidFill>
              </a:rPr>
              <a:t>Hyper-V</a:t>
            </a:r>
            <a:r>
              <a:rPr lang="en-US" altLang="ko-KR" sz="1000" b="1" dirty="0"/>
              <a:t> hypervisor is the default option. Make sure you install the hypervisor before using </a:t>
            </a:r>
            <a:r>
              <a:rPr lang="en-US" altLang="ko-KR" sz="1000" b="1" dirty="0" err="1"/>
              <a:t>minikube</a:t>
            </a:r>
            <a:r>
              <a:rPr lang="en-US" altLang="ko-KR" sz="1000" b="1" dirty="0"/>
              <a:t>.</a:t>
            </a:r>
            <a:endParaRPr lang="ko-KR" altLang="en-US" sz="1000" b="1" dirty="0"/>
          </a:p>
        </p:txBody>
      </p:sp>
      <p:pic>
        <p:nvPicPr>
          <p:cNvPr id="8" name="그림 7">
            <a:extLst>
              <a:ext uri="{FF2B5EF4-FFF2-40B4-BE49-F238E27FC236}">
                <a16:creationId xmlns:a16="http://schemas.microsoft.com/office/drawing/2014/main" id="{FC05357E-477B-465F-B4BA-D1590D66F0F1}"/>
              </a:ext>
            </a:extLst>
          </p:cNvPr>
          <p:cNvPicPr>
            <a:picLocks noChangeAspect="1"/>
          </p:cNvPicPr>
          <p:nvPr/>
        </p:nvPicPr>
        <p:blipFill>
          <a:blip r:embed="rId2"/>
          <a:stretch>
            <a:fillRect/>
          </a:stretch>
        </p:blipFill>
        <p:spPr>
          <a:xfrm>
            <a:off x="4058652" y="3698122"/>
            <a:ext cx="4074694" cy="2171048"/>
          </a:xfrm>
          <a:prstGeom prst="rect">
            <a:avLst/>
          </a:prstGeom>
        </p:spPr>
      </p:pic>
    </p:spTree>
    <p:extLst>
      <p:ext uri="{BB962C8B-B14F-4D97-AF65-F5344CB8AC3E}">
        <p14:creationId xmlns:p14="http://schemas.microsoft.com/office/powerpoint/2010/main" val="27522057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Locally(2/4)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Minikube</a:t>
            </a:r>
            <a:r>
              <a:rPr lang="en-US" altLang="ko-KR" sz="1800" b="1" dirty="0"/>
              <a:t> :</a:t>
            </a:r>
          </a:p>
          <a:p>
            <a:pPr lvl="1">
              <a:buFont typeface="Wingdings" panose="05000000000000000000" pitchFamily="2" charset="2"/>
              <a:buChar char="§"/>
            </a:pPr>
            <a:r>
              <a:rPr lang="en-US" altLang="ko-KR" sz="1400" dirty="0"/>
              <a:t>You can find </a:t>
            </a:r>
            <a:r>
              <a:rPr lang="en-US" altLang="ko-KR" sz="1400" b="1" dirty="0">
                <a:hlinkClick r:id="rId2"/>
              </a:rPr>
              <a:t>the </a:t>
            </a:r>
            <a:r>
              <a:rPr lang="en-US" altLang="ko-KR" sz="1400" b="1" dirty="0" err="1">
                <a:hlinkClick r:id="rId2"/>
              </a:rPr>
              <a:t>minikube</a:t>
            </a:r>
            <a:r>
              <a:rPr lang="en-US" altLang="ko-KR" sz="1400" b="1" dirty="0">
                <a:hlinkClick r:id="rId2"/>
              </a:rPr>
              <a:t> tool on GitHub</a:t>
            </a:r>
            <a:r>
              <a:rPr lang="en-US" altLang="ko-KR" sz="1400" dirty="0"/>
              <a:t>. There are binaries for Linux, macOS, and Windows that you can download. Once you have the </a:t>
            </a:r>
            <a:r>
              <a:rPr lang="en-US" altLang="ko-KR" sz="1400" b="1" dirty="0" err="1"/>
              <a:t>minikube</a:t>
            </a:r>
            <a:r>
              <a:rPr lang="en-US" altLang="ko-KR" sz="1400" dirty="0"/>
              <a:t> tool installed, you can create a local cluster using :</a:t>
            </a:r>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This will </a:t>
            </a:r>
            <a:r>
              <a:rPr lang="en-US" altLang="ko-KR" sz="1400" b="1" dirty="0"/>
              <a:t>create a local VM</a:t>
            </a:r>
            <a:r>
              <a:rPr lang="en-US" altLang="ko-KR" sz="1400" dirty="0"/>
              <a:t>, </a:t>
            </a:r>
            <a:r>
              <a:rPr lang="en-US" altLang="ko-KR" sz="1400" b="1" dirty="0"/>
              <a:t>provision Kubernetes</a:t>
            </a:r>
            <a:r>
              <a:rPr lang="en-US" altLang="ko-KR" sz="1400" dirty="0"/>
              <a:t>, and </a:t>
            </a:r>
            <a:r>
              <a:rPr lang="en-US" altLang="ko-KR" sz="1400" b="1" dirty="0"/>
              <a:t>create a local </a:t>
            </a:r>
            <a:r>
              <a:rPr lang="en-US" altLang="ko-KR" sz="1400" b="1" dirty="0" err="1">
                <a:solidFill>
                  <a:srgbClr val="FF0000"/>
                </a:solidFill>
              </a:rPr>
              <a:t>kubectl</a:t>
            </a:r>
            <a:r>
              <a:rPr lang="en-US" altLang="ko-KR" sz="1400" b="1" dirty="0"/>
              <a:t> configuration </a:t>
            </a:r>
            <a:r>
              <a:rPr lang="en-US" altLang="ko-KR" sz="1400" dirty="0"/>
              <a:t>that points to that cluster.</a:t>
            </a:r>
          </a:p>
          <a:p>
            <a:pPr lvl="1">
              <a:buFont typeface="Wingdings" panose="05000000000000000000" pitchFamily="2" charset="2"/>
              <a:buChar char="§"/>
            </a:pPr>
            <a:r>
              <a:rPr lang="en-US" altLang="ko-KR" sz="1400" dirty="0"/>
              <a:t>When you are done with your cluster, you can </a:t>
            </a:r>
            <a:r>
              <a:rPr lang="en-US" altLang="ko-KR" sz="1400" b="1" dirty="0"/>
              <a:t>stop the VM with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want to </a:t>
            </a:r>
            <a:r>
              <a:rPr lang="en-US" altLang="ko-KR" sz="1400" b="1" dirty="0"/>
              <a:t>remove the cluster</a:t>
            </a:r>
            <a:r>
              <a:rPr lang="en-US" altLang="ko-KR" sz="1400" dirty="0"/>
              <a:t>, you can run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553C7DD-CA46-469E-BB93-BFDCB1C6ECD9}"/>
              </a:ext>
            </a:extLst>
          </p:cNvPr>
          <p:cNvSpPr/>
          <p:nvPr/>
        </p:nvSpPr>
        <p:spPr>
          <a:xfrm>
            <a:off x="3910263" y="1656166"/>
            <a:ext cx="4371473" cy="246221"/>
          </a:xfrm>
          <a:prstGeom prst="rect">
            <a:avLst/>
          </a:prstGeom>
          <a:ln>
            <a:solidFill>
              <a:schemeClr val="bg1">
                <a:lumMod val="50000"/>
              </a:schemeClr>
            </a:solidFill>
          </a:ln>
        </p:spPr>
        <p:txBody>
          <a:bodyPr wrap="square">
            <a:spAutoFit/>
          </a:bodyPr>
          <a:lstStyle/>
          <a:p>
            <a:r>
              <a:rPr lang="en-US" altLang="ko-KR" sz="1000" b="1" dirty="0" err="1"/>
              <a:t>minikube</a:t>
            </a:r>
            <a:r>
              <a:rPr lang="en-US" altLang="ko-KR" sz="1000" b="1" dirty="0"/>
              <a:t> start</a:t>
            </a:r>
            <a:endParaRPr lang="ko-KR" altLang="en-US" sz="1000" b="1" dirty="0"/>
          </a:p>
        </p:txBody>
      </p:sp>
      <p:sp>
        <p:nvSpPr>
          <p:cNvPr id="8" name="직사각형 7">
            <a:extLst>
              <a:ext uri="{FF2B5EF4-FFF2-40B4-BE49-F238E27FC236}">
                <a16:creationId xmlns:a16="http://schemas.microsoft.com/office/drawing/2014/main" id="{B3207A63-11B4-4C54-A1B7-EE54A3834418}"/>
              </a:ext>
            </a:extLst>
          </p:cNvPr>
          <p:cNvSpPr/>
          <p:nvPr/>
        </p:nvSpPr>
        <p:spPr>
          <a:xfrm>
            <a:off x="3910263" y="2887047"/>
            <a:ext cx="4371473" cy="246221"/>
          </a:xfrm>
          <a:prstGeom prst="rect">
            <a:avLst/>
          </a:prstGeom>
          <a:ln>
            <a:solidFill>
              <a:schemeClr val="bg1">
                <a:lumMod val="50000"/>
              </a:schemeClr>
            </a:solidFill>
          </a:ln>
        </p:spPr>
        <p:txBody>
          <a:bodyPr wrap="square">
            <a:spAutoFit/>
          </a:bodyPr>
          <a:lstStyle/>
          <a:p>
            <a:r>
              <a:rPr lang="en-US" altLang="ko-KR" sz="1000" b="1" dirty="0" err="1"/>
              <a:t>minikube</a:t>
            </a:r>
            <a:r>
              <a:rPr lang="en-US" altLang="ko-KR" sz="1000" b="1" dirty="0"/>
              <a:t> stop</a:t>
            </a:r>
            <a:endParaRPr lang="ko-KR" altLang="en-US" sz="1000" b="1" dirty="0"/>
          </a:p>
        </p:txBody>
      </p:sp>
      <p:sp>
        <p:nvSpPr>
          <p:cNvPr id="9" name="직사각형 8">
            <a:extLst>
              <a:ext uri="{FF2B5EF4-FFF2-40B4-BE49-F238E27FC236}">
                <a16:creationId xmlns:a16="http://schemas.microsoft.com/office/drawing/2014/main" id="{DFF95365-361A-436E-AB0C-D34067C6E18D}"/>
              </a:ext>
            </a:extLst>
          </p:cNvPr>
          <p:cNvSpPr/>
          <p:nvPr/>
        </p:nvSpPr>
        <p:spPr>
          <a:xfrm>
            <a:off x="3910263" y="3724733"/>
            <a:ext cx="4371473" cy="246221"/>
          </a:xfrm>
          <a:prstGeom prst="rect">
            <a:avLst/>
          </a:prstGeom>
          <a:ln>
            <a:solidFill>
              <a:schemeClr val="bg1">
                <a:lumMod val="50000"/>
              </a:schemeClr>
            </a:solidFill>
          </a:ln>
        </p:spPr>
        <p:txBody>
          <a:bodyPr wrap="square">
            <a:spAutoFit/>
          </a:bodyPr>
          <a:lstStyle/>
          <a:p>
            <a:r>
              <a:rPr lang="en-US" altLang="ko-KR" sz="1000" b="1" dirty="0" err="1"/>
              <a:t>minikube</a:t>
            </a:r>
            <a:r>
              <a:rPr lang="en-US" altLang="ko-KR" sz="1000" b="1" dirty="0"/>
              <a:t> delete</a:t>
            </a:r>
            <a:endParaRPr lang="ko-KR" altLang="en-US" sz="1000" b="1" dirty="0"/>
          </a:p>
        </p:txBody>
      </p:sp>
      <p:pic>
        <p:nvPicPr>
          <p:cNvPr id="10" name="그림 9">
            <a:extLst>
              <a:ext uri="{FF2B5EF4-FFF2-40B4-BE49-F238E27FC236}">
                <a16:creationId xmlns:a16="http://schemas.microsoft.com/office/drawing/2014/main" id="{CD566E0C-F926-4AB7-9A02-4DDAB6C47840}"/>
              </a:ext>
            </a:extLst>
          </p:cNvPr>
          <p:cNvPicPr>
            <a:picLocks noChangeAspect="1"/>
          </p:cNvPicPr>
          <p:nvPr/>
        </p:nvPicPr>
        <p:blipFill>
          <a:blip r:embed="rId3"/>
          <a:stretch>
            <a:fillRect/>
          </a:stretch>
        </p:blipFill>
        <p:spPr>
          <a:xfrm>
            <a:off x="2983832" y="4117928"/>
            <a:ext cx="6224337" cy="2293614"/>
          </a:xfrm>
          <a:prstGeom prst="rect">
            <a:avLst/>
          </a:prstGeom>
        </p:spPr>
      </p:pic>
    </p:spTree>
    <p:extLst>
      <p:ext uri="{BB962C8B-B14F-4D97-AF65-F5344CB8AC3E}">
        <p14:creationId xmlns:p14="http://schemas.microsoft.com/office/powerpoint/2010/main" val="3755044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Minimum Requirements :</a:t>
            </a:r>
          </a:p>
          <a:p>
            <a:pPr lvl="1">
              <a:buFont typeface="Wingdings" panose="05000000000000000000" pitchFamily="2" charset="2"/>
              <a:buChar char="§"/>
            </a:pPr>
            <a:r>
              <a:rPr lang="en-US" altLang="ko-KR" sz="1400" b="1" dirty="0"/>
              <a:t>2 Core CPU, 4GB RAM, Enabled Local Host Virtual Machine, Server Root Password</a:t>
            </a:r>
            <a:r>
              <a:rPr lang="en-US" altLang="ko-KR" sz="1400" dirty="0"/>
              <a:t>.</a:t>
            </a:r>
          </a:p>
          <a:p>
            <a:pPr lvl="1">
              <a:buFont typeface="Wingdings" panose="05000000000000000000" pitchFamily="2" charset="2"/>
              <a:buChar char="§"/>
            </a:pPr>
            <a:r>
              <a:rPr lang="en-US" altLang="ko-KR" sz="1400" dirty="0"/>
              <a:t>We will use </a:t>
            </a:r>
            <a:r>
              <a:rPr lang="en-US" altLang="ko-KR" sz="1400" b="1" dirty="0"/>
              <a:t>Ubuntu 20.04 </a:t>
            </a:r>
            <a:r>
              <a:rPr lang="en-US" altLang="ko-KR" sz="1400" dirty="0"/>
              <a:t>for </a:t>
            </a:r>
            <a:r>
              <a:rPr lang="en-US" altLang="ko-KR" sz="1400" dirty="0" err="1"/>
              <a:t>Minikube</a:t>
            </a:r>
            <a:r>
              <a:rPr lang="en-US" altLang="ko-KR" sz="1400" dirty="0"/>
              <a:t> install.</a:t>
            </a:r>
          </a:p>
          <a:p>
            <a:pPr>
              <a:buFont typeface="Wingdings" panose="05000000000000000000" pitchFamily="2" charset="2"/>
              <a:buChar char="§"/>
            </a:pPr>
            <a:r>
              <a:rPr lang="en-US" altLang="ko-KR" sz="1800" b="1" dirty="0"/>
              <a:t>Installation</a:t>
            </a:r>
            <a:r>
              <a:rPr lang="en-US" altLang="ko-KR" sz="1800" dirty="0"/>
              <a:t> : </a:t>
            </a:r>
          </a:p>
          <a:p>
            <a:pPr lvl="1">
              <a:buFont typeface="Wingdings" panose="05000000000000000000" pitchFamily="2" charset="2"/>
              <a:buChar char="§"/>
            </a:pPr>
            <a:r>
              <a:rPr lang="en-US" altLang="ko-KR" sz="1400" b="1" dirty="0"/>
              <a:t>Step 01</a:t>
            </a:r>
            <a:r>
              <a:rPr lang="en-US" altLang="ko-KR" sz="1400" dirty="0"/>
              <a:t>. Before we start to install </a:t>
            </a:r>
            <a:r>
              <a:rPr lang="en-US" altLang="ko-KR" sz="1400" b="1" dirty="0" err="1"/>
              <a:t>minikube</a:t>
            </a:r>
            <a:r>
              <a:rPr lang="en-US" altLang="ko-KR" sz="1400" dirty="0"/>
              <a:t>, update all packages with “</a:t>
            </a:r>
            <a:r>
              <a:rPr lang="en-US" altLang="ko-KR" sz="1400" b="1" dirty="0"/>
              <a:t>apt-get update -y</a:t>
            </a:r>
            <a:r>
              <a:rPr lang="en-US" altLang="ko-KR" sz="1400" dirty="0"/>
              <a:t>” command and install “</a:t>
            </a:r>
            <a:r>
              <a:rPr lang="en-US" altLang="ko-KR" sz="1400" b="1" dirty="0"/>
              <a:t>curl, </a:t>
            </a:r>
            <a:r>
              <a:rPr lang="en-US" altLang="ko-KR" sz="1400" b="1" dirty="0" err="1"/>
              <a:t>wget</a:t>
            </a:r>
            <a:r>
              <a:rPr lang="en-US" altLang="ko-KR" sz="1400" b="1" dirty="0"/>
              <a:t>, apt-transport-https </a:t>
            </a:r>
            <a:r>
              <a:rPr lang="en-US" altLang="ko-KR" sz="1400" b="1" dirty="0" err="1"/>
              <a:t>virtualbox</a:t>
            </a:r>
            <a:r>
              <a:rPr lang="en-US" altLang="ko-KR" sz="1400" b="1" dirty="0"/>
              <a:t> </a:t>
            </a:r>
            <a:r>
              <a:rPr lang="en-US" altLang="ko-KR" sz="1400" b="1" dirty="0" err="1"/>
              <a:t>virtualbox</a:t>
            </a:r>
            <a:r>
              <a:rPr lang="en-US" altLang="ko-KR" sz="1400" b="1" dirty="0"/>
              <a:t>-</a:t>
            </a:r>
            <a:r>
              <a:rPr lang="en-US" altLang="ko-KR" sz="1400" b="1" dirty="0" err="1"/>
              <a:t>ext</a:t>
            </a:r>
            <a:r>
              <a:rPr lang="en-US" altLang="ko-KR" sz="1400" b="1" dirty="0"/>
              <a:t>-pack</a:t>
            </a:r>
            <a:r>
              <a:rPr lang="en-US" altLang="ko-KR" sz="1400" dirty="0"/>
              <a:t>” with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9D38BAF7-6F83-4285-8886-6DB1B351805A}"/>
              </a:ext>
            </a:extLst>
          </p:cNvPr>
          <p:cNvGrpSpPr/>
          <p:nvPr/>
        </p:nvGrpSpPr>
        <p:grpSpPr>
          <a:xfrm>
            <a:off x="2559274" y="2690489"/>
            <a:ext cx="7073451" cy="3722105"/>
            <a:chOff x="2559274" y="2690489"/>
            <a:chExt cx="7073451" cy="3722105"/>
          </a:xfrm>
        </p:grpSpPr>
        <p:sp>
          <p:nvSpPr>
            <p:cNvPr id="4" name="TextBox 3">
              <a:extLst>
                <a:ext uri="{FF2B5EF4-FFF2-40B4-BE49-F238E27FC236}">
                  <a16:creationId xmlns:a16="http://schemas.microsoft.com/office/drawing/2014/main" id="{60757BF9-E9A9-452C-A1C6-129507DE78ED}"/>
                </a:ext>
              </a:extLst>
            </p:cNvPr>
            <p:cNvSpPr txBox="1"/>
            <p:nvPr/>
          </p:nvSpPr>
          <p:spPr>
            <a:xfrm>
              <a:off x="3444473" y="2690489"/>
              <a:ext cx="5303055" cy="400110"/>
            </a:xfrm>
            <a:prstGeom prst="rect">
              <a:avLst/>
            </a:prstGeom>
            <a:noFill/>
            <a:ln>
              <a:solidFill>
                <a:schemeClr val="bg1">
                  <a:lumMod val="50000"/>
                </a:schemeClr>
              </a:solidFill>
            </a:ln>
          </p:spPr>
          <p:txBody>
            <a:bodyPr wrap="none" rtlCol="0">
              <a:spAutoFit/>
            </a:bodyPr>
            <a:lstStyle/>
            <a:p>
              <a:r>
                <a:rPr lang="en-US" altLang="ko-KR" sz="1000" b="1" dirty="0" err="1"/>
                <a:t>sudo</a:t>
              </a:r>
              <a:r>
                <a:rPr lang="en-US" altLang="ko-KR" sz="1000" b="1" dirty="0"/>
                <a:t> apt-get update -y</a:t>
              </a:r>
            </a:p>
            <a:p>
              <a:r>
                <a:rPr lang="en-US" altLang="ko-KR" sz="1000" b="1" dirty="0" err="1"/>
                <a:t>sudo</a:t>
              </a:r>
              <a:r>
                <a:rPr lang="en-US" altLang="ko-KR" sz="1000" b="1" dirty="0"/>
                <a:t> apt-get install </a:t>
              </a:r>
              <a:r>
                <a:rPr lang="en-US" altLang="ko-KR" sz="1000" b="1" dirty="0">
                  <a:solidFill>
                    <a:srgbClr val="FF0000"/>
                  </a:solidFill>
                </a:rPr>
                <a:t>curl </a:t>
              </a:r>
              <a:r>
                <a:rPr lang="en-US" altLang="ko-KR" sz="1000" b="1" dirty="0" err="1">
                  <a:solidFill>
                    <a:srgbClr val="FF0000"/>
                  </a:solidFill>
                </a:rPr>
                <a:t>wget</a:t>
              </a:r>
              <a:r>
                <a:rPr lang="en-US" altLang="ko-KR" sz="1000" b="1" dirty="0">
                  <a:solidFill>
                    <a:srgbClr val="FF0000"/>
                  </a:solidFill>
                </a:rPr>
                <a:t> apt-transport-https </a:t>
              </a:r>
              <a:r>
                <a:rPr lang="en-US" altLang="ko-KR" sz="1000" b="1" dirty="0" err="1">
                  <a:solidFill>
                    <a:srgbClr val="FF0000"/>
                  </a:solidFill>
                </a:rPr>
                <a:t>virtualbox</a:t>
              </a:r>
              <a:r>
                <a:rPr lang="en-US" altLang="ko-KR" sz="1000" b="1" dirty="0">
                  <a:solidFill>
                    <a:srgbClr val="FF0000"/>
                  </a:solidFill>
                </a:rPr>
                <a:t> </a:t>
              </a:r>
              <a:r>
                <a:rPr lang="en-US" altLang="ko-KR" sz="1000" b="1" dirty="0" err="1">
                  <a:solidFill>
                    <a:srgbClr val="FF0000"/>
                  </a:solidFill>
                </a:rPr>
                <a:t>virtualbox</a:t>
              </a:r>
              <a:r>
                <a:rPr lang="en-US" altLang="ko-KR" sz="1000" b="1" dirty="0">
                  <a:solidFill>
                    <a:srgbClr val="FF0000"/>
                  </a:solidFill>
                </a:rPr>
                <a:t>-</a:t>
              </a:r>
              <a:r>
                <a:rPr lang="en-US" altLang="ko-KR" sz="1000" b="1" dirty="0" err="1">
                  <a:solidFill>
                    <a:srgbClr val="FF0000"/>
                  </a:solidFill>
                </a:rPr>
                <a:t>ext</a:t>
              </a:r>
              <a:r>
                <a:rPr lang="en-US" altLang="ko-KR" sz="1000" b="1" dirty="0">
                  <a:solidFill>
                    <a:srgbClr val="FF0000"/>
                  </a:solidFill>
                </a:rPr>
                <a:t>-pack </a:t>
              </a:r>
              <a:r>
                <a:rPr lang="en-US" altLang="ko-KR" sz="1000" b="1" dirty="0"/>
                <a:t>-y</a:t>
              </a:r>
              <a:endParaRPr lang="ko-KR" altLang="en-US" sz="1000" b="1" dirty="0"/>
            </a:p>
          </p:txBody>
        </p:sp>
        <p:sp>
          <p:nvSpPr>
            <p:cNvPr id="11" name="화살표: 아래쪽 10">
              <a:extLst>
                <a:ext uri="{FF2B5EF4-FFF2-40B4-BE49-F238E27FC236}">
                  <a16:creationId xmlns:a16="http://schemas.microsoft.com/office/drawing/2014/main" id="{73543B11-4898-42CA-98B5-4F66BFF0F2E9}"/>
                </a:ext>
              </a:extLst>
            </p:cNvPr>
            <p:cNvSpPr/>
            <p:nvPr/>
          </p:nvSpPr>
          <p:spPr>
            <a:xfrm>
              <a:off x="5919538" y="3129086"/>
              <a:ext cx="352926" cy="23355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5133851D-58BC-447A-9E58-67D15E5165E0}"/>
                </a:ext>
              </a:extLst>
            </p:cNvPr>
            <p:cNvGrpSpPr/>
            <p:nvPr/>
          </p:nvGrpSpPr>
          <p:grpSpPr>
            <a:xfrm>
              <a:off x="2559274" y="3423760"/>
              <a:ext cx="7073451" cy="2988834"/>
              <a:chOff x="2735179" y="3391417"/>
              <a:chExt cx="7073451" cy="2988834"/>
            </a:xfrm>
          </p:grpSpPr>
          <p:pic>
            <p:nvPicPr>
              <p:cNvPr id="14" name="그림 13">
                <a:extLst>
                  <a:ext uri="{FF2B5EF4-FFF2-40B4-BE49-F238E27FC236}">
                    <a16:creationId xmlns:a16="http://schemas.microsoft.com/office/drawing/2014/main" id="{1168E905-BD4B-4508-BBD7-3E83C8D78246}"/>
                  </a:ext>
                </a:extLst>
              </p:cNvPr>
              <p:cNvPicPr>
                <a:picLocks noChangeAspect="1"/>
              </p:cNvPicPr>
              <p:nvPr/>
            </p:nvPicPr>
            <p:blipFill>
              <a:blip r:embed="rId2"/>
              <a:stretch>
                <a:fillRect/>
              </a:stretch>
            </p:blipFill>
            <p:spPr>
              <a:xfrm>
                <a:off x="5089443" y="4468980"/>
                <a:ext cx="4719187" cy="1911271"/>
              </a:xfrm>
              <a:prstGeom prst="rect">
                <a:avLst/>
              </a:prstGeom>
              <a:ln>
                <a:solidFill>
                  <a:schemeClr val="bg1">
                    <a:lumMod val="50000"/>
                  </a:schemeClr>
                </a:solidFill>
              </a:ln>
            </p:spPr>
          </p:pic>
          <p:grpSp>
            <p:nvGrpSpPr>
              <p:cNvPr id="10" name="그룹 9">
                <a:extLst>
                  <a:ext uri="{FF2B5EF4-FFF2-40B4-BE49-F238E27FC236}">
                    <a16:creationId xmlns:a16="http://schemas.microsoft.com/office/drawing/2014/main" id="{54E41F63-414F-442E-9ADA-9AB3EE4DF4B9}"/>
                  </a:ext>
                </a:extLst>
              </p:cNvPr>
              <p:cNvGrpSpPr/>
              <p:nvPr/>
            </p:nvGrpSpPr>
            <p:grpSpPr>
              <a:xfrm>
                <a:off x="2735179" y="3391417"/>
                <a:ext cx="6071938" cy="2443062"/>
                <a:chOff x="3089769" y="3101476"/>
                <a:chExt cx="7132247" cy="2930755"/>
              </a:xfrm>
            </p:grpSpPr>
            <p:pic>
              <p:nvPicPr>
                <p:cNvPr id="8" name="그림 7">
                  <a:extLst>
                    <a:ext uri="{FF2B5EF4-FFF2-40B4-BE49-F238E27FC236}">
                      <a16:creationId xmlns:a16="http://schemas.microsoft.com/office/drawing/2014/main" id="{51AE3BFB-6B02-4A75-BCCE-EDBCDEEA7F27}"/>
                    </a:ext>
                  </a:extLst>
                </p:cNvPr>
                <p:cNvPicPr>
                  <a:picLocks noChangeAspect="1"/>
                </p:cNvPicPr>
                <p:nvPr/>
              </p:nvPicPr>
              <p:blipFill>
                <a:blip r:embed="rId3"/>
                <a:stretch>
                  <a:fillRect/>
                </a:stretch>
              </p:blipFill>
              <p:spPr>
                <a:xfrm>
                  <a:off x="3089769" y="3101476"/>
                  <a:ext cx="5776689" cy="2339559"/>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4D7CAFDF-8714-4D69-8DAD-3F6FCC8E1E29}"/>
                    </a:ext>
                  </a:extLst>
                </p:cNvPr>
                <p:cNvPicPr>
                  <a:picLocks noChangeAspect="1"/>
                </p:cNvPicPr>
                <p:nvPr/>
              </p:nvPicPr>
              <p:blipFill>
                <a:blip r:embed="rId4"/>
                <a:stretch>
                  <a:fillRect/>
                </a:stretch>
              </p:blipFill>
              <p:spPr>
                <a:xfrm>
                  <a:off x="4560768" y="3739425"/>
                  <a:ext cx="5661248" cy="2292806"/>
                </a:xfrm>
                <a:prstGeom prst="rect">
                  <a:avLst/>
                </a:prstGeom>
                <a:ln>
                  <a:solidFill>
                    <a:schemeClr val="bg1">
                      <a:lumMod val="50000"/>
                    </a:schemeClr>
                  </a:solidFill>
                </a:ln>
              </p:spPr>
            </p:pic>
          </p:grpSp>
        </p:grpSp>
      </p:grpSp>
    </p:spTree>
    <p:extLst>
      <p:ext uri="{BB962C8B-B14F-4D97-AF65-F5344CB8AC3E}">
        <p14:creationId xmlns:p14="http://schemas.microsoft.com/office/powerpoint/2010/main" val="23298774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a:t>
            </a:r>
          </a:p>
          <a:p>
            <a:pPr lvl="1">
              <a:buFont typeface="Wingdings" panose="05000000000000000000" pitchFamily="2" charset="2"/>
              <a:buChar char="§"/>
            </a:pPr>
            <a:r>
              <a:rPr lang="en-US" altLang="ko-KR" sz="1400" b="1" dirty="0"/>
              <a:t>Step 02</a:t>
            </a:r>
            <a:r>
              <a:rPr lang="en-US" altLang="ko-KR" sz="1400" dirty="0"/>
              <a:t>. </a:t>
            </a:r>
            <a:r>
              <a:rPr lang="en-US" altLang="ko-KR" sz="1400" b="1" dirty="0"/>
              <a:t>Install Docker</a:t>
            </a:r>
            <a:r>
              <a:rPr lang="en-US" altLang="ko-KR" sz="1400" dirty="0"/>
              <a:t>. We assume that you already installed Docker. Just find out the Docker version with “</a:t>
            </a:r>
            <a:r>
              <a:rPr lang="en-US" altLang="ko-KR" sz="1400" b="1" dirty="0"/>
              <a:t>docker --version</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a:t>
            </a:r>
            <a:r>
              <a:rPr lang="en-US" altLang="ko-KR" sz="1400" dirty="0"/>
              <a:t> : You need to </a:t>
            </a:r>
            <a:r>
              <a:rPr lang="en-US" altLang="ko-KR" sz="1400" b="1" dirty="0"/>
              <a:t>enable docker daemon and </a:t>
            </a:r>
            <a:r>
              <a:rPr lang="en-US" altLang="ko-KR" sz="1400" b="1" dirty="0" err="1"/>
              <a:t>containerd</a:t>
            </a:r>
            <a:r>
              <a:rPr lang="en-US" altLang="ko-KR" sz="1400" b="1" dirty="0"/>
              <a:t> service </a:t>
            </a:r>
            <a:r>
              <a:rPr lang="en-US" altLang="ko-KR" sz="1400" dirty="0"/>
              <a:t>with “</a:t>
            </a:r>
            <a:r>
              <a:rPr lang="en-US" altLang="ko-KR" sz="1400" b="1" dirty="0" err="1"/>
              <a:t>sudo</a:t>
            </a:r>
            <a:r>
              <a:rPr lang="en-US" altLang="ko-KR" sz="1400" b="1" dirty="0"/>
              <a:t> </a:t>
            </a:r>
            <a:r>
              <a:rPr lang="en-US" altLang="ko-KR" sz="1400" b="1" dirty="0" err="1"/>
              <a:t>systemctl</a:t>
            </a:r>
            <a:r>
              <a:rPr lang="en-US" altLang="ko-KR" sz="1400" b="1" dirty="0"/>
              <a:t> enable docker</a:t>
            </a:r>
            <a:r>
              <a:rPr lang="en-US" altLang="ko-KR" sz="1400" dirty="0"/>
              <a:t>” and “</a:t>
            </a:r>
            <a:r>
              <a:rPr lang="en-US" altLang="ko-KR" sz="1400" b="1" dirty="0" err="1"/>
              <a:t>sudo</a:t>
            </a:r>
            <a:r>
              <a:rPr lang="en-US" altLang="ko-KR" sz="1400" b="1" dirty="0"/>
              <a:t> </a:t>
            </a:r>
            <a:r>
              <a:rPr lang="en-US" altLang="ko-KR" sz="1400" b="1" dirty="0" err="1"/>
              <a:t>systemctl</a:t>
            </a:r>
            <a:r>
              <a:rPr lang="en-US" altLang="ko-KR" sz="1400" b="1" dirty="0"/>
              <a:t> enable </a:t>
            </a:r>
            <a:r>
              <a:rPr lang="en-US" altLang="ko-KR" sz="1400" b="1" dirty="0" err="1"/>
              <a:t>containerd</a:t>
            </a:r>
            <a:r>
              <a:rPr lang="en-US" altLang="ko-KR" sz="1400" dirty="0"/>
              <a:t>” commands. Then start the Docker service with “</a:t>
            </a:r>
            <a:r>
              <a:rPr lang="en-US" altLang="ko-KR" sz="1400" b="1" dirty="0" err="1"/>
              <a:t>sudo</a:t>
            </a:r>
            <a:r>
              <a:rPr lang="en-US" altLang="ko-KR" sz="1400" b="1" dirty="0"/>
              <a:t> </a:t>
            </a:r>
            <a:r>
              <a:rPr lang="en-US" altLang="ko-KR" sz="1400" b="1" dirty="0" err="1"/>
              <a:t>systemctl</a:t>
            </a:r>
            <a:r>
              <a:rPr lang="en-US" altLang="ko-KR" sz="1400" b="1" dirty="0"/>
              <a:t> start docker</a:t>
            </a:r>
            <a:r>
              <a:rPr lang="en-US" altLang="ko-KR" sz="1400" dirty="0"/>
              <a:t>” and “</a:t>
            </a:r>
            <a:r>
              <a:rPr lang="en-US" altLang="ko-KR" sz="1400" b="1" dirty="0" err="1"/>
              <a:t>sudo</a:t>
            </a:r>
            <a:r>
              <a:rPr lang="en-US" altLang="ko-KR" sz="1400" b="1" dirty="0"/>
              <a:t> </a:t>
            </a:r>
            <a:r>
              <a:rPr lang="en-US" altLang="ko-KR" sz="1400" b="1" dirty="0" err="1"/>
              <a:t>systemctl</a:t>
            </a:r>
            <a:r>
              <a:rPr lang="en-US" altLang="ko-KR" sz="1400" b="1" dirty="0"/>
              <a:t> start </a:t>
            </a:r>
            <a:r>
              <a:rPr lang="en-US" altLang="ko-KR" sz="1400" b="1" dirty="0" err="1"/>
              <a:t>containerd</a:t>
            </a:r>
            <a:r>
              <a:rPr lang="en-US" altLang="ko-KR" sz="1400" dirty="0"/>
              <a:t>” commands. To see the daemon status, use “</a:t>
            </a:r>
            <a:r>
              <a:rPr lang="en-US" altLang="ko-KR" sz="1400" b="1" dirty="0" err="1"/>
              <a:t>sudo</a:t>
            </a:r>
            <a:r>
              <a:rPr lang="en-US" altLang="ko-KR" sz="1400" b="1" dirty="0"/>
              <a:t> service docker status</a:t>
            </a:r>
            <a:r>
              <a:rPr lang="en-US" altLang="ko-KR" sz="1400" dirty="0"/>
              <a:t>” and “</a:t>
            </a:r>
            <a:r>
              <a:rPr lang="en-US" altLang="ko-KR" sz="1400" b="1" dirty="0" err="1"/>
              <a:t>sudo</a:t>
            </a:r>
            <a:r>
              <a:rPr lang="en-US" altLang="ko-KR" sz="1400" b="1" dirty="0"/>
              <a:t> service </a:t>
            </a:r>
            <a:r>
              <a:rPr lang="en-US" altLang="ko-KR" sz="1400" b="1" dirty="0" err="1"/>
              <a:t>containerd</a:t>
            </a:r>
            <a:r>
              <a:rPr lang="en-US" altLang="ko-KR" sz="1400" b="1" dirty="0"/>
              <a:t> status</a:t>
            </a:r>
            <a:r>
              <a:rPr lang="en-US" altLang="ko-KR" sz="1400" dirty="0"/>
              <a:t>”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86B37C2-4E3A-46C3-A7B8-99CAF015A6D8}"/>
              </a:ext>
            </a:extLst>
          </p:cNvPr>
          <p:cNvGrpSpPr/>
          <p:nvPr/>
        </p:nvGrpSpPr>
        <p:grpSpPr>
          <a:xfrm>
            <a:off x="2282993" y="1718511"/>
            <a:ext cx="7626014" cy="1993522"/>
            <a:chOff x="2282993" y="1580147"/>
            <a:chExt cx="7626014" cy="1993522"/>
          </a:xfrm>
        </p:grpSpPr>
        <p:sp>
          <p:nvSpPr>
            <p:cNvPr id="4" name="TextBox 3">
              <a:extLst>
                <a:ext uri="{FF2B5EF4-FFF2-40B4-BE49-F238E27FC236}">
                  <a16:creationId xmlns:a16="http://schemas.microsoft.com/office/drawing/2014/main" id="{B4DCEA98-FCF2-4471-9AD5-F84CA255606B}"/>
                </a:ext>
              </a:extLst>
            </p:cNvPr>
            <p:cNvSpPr txBox="1"/>
            <p:nvPr/>
          </p:nvSpPr>
          <p:spPr>
            <a:xfrm>
              <a:off x="5500323" y="1580147"/>
              <a:ext cx="1191353" cy="246221"/>
            </a:xfrm>
            <a:prstGeom prst="rect">
              <a:avLst/>
            </a:prstGeom>
            <a:noFill/>
            <a:ln>
              <a:solidFill>
                <a:schemeClr val="bg1">
                  <a:lumMod val="50000"/>
                </a:schemeClr>
              </a:solidFill>
            </a:ln>
          </p:spPr>
          <p:txBody>
            <a:bodyPr wrap="none" rtlCol="0">
              <a:spAutoFit/>
            </a:bodyPr>
            <a:lstStyle/>
            <a:p>
              <a:pPr algn="ctr"/>
              <a:r>
                <a:rPr lang="en-US" altLang="ko-KR" sz="1000" b="1" dirty="0"/>
                <a:t>docker --version</a:t>
              </a:r>
              <a:endParaRPr lang="ko-KR" altLang="en-US" sz="1000" b="1" dirty="0"/>
            </a:p>
          </p:txBody>
        </p:sp>
        <p:sp>
          <p:nvSpPr>
            <p:cNvPr id="8" name="화살표: 아래쪽 7">
              <a:extLst>
                <a:ext uri="{FF2B5EF4-FFF2-40B4-BE49-F238E27FC236}">
                  <a16:creationId xmlns:a16="http://schemas.microsoft.com/office/drawing/2014/main" id="{CE7FA21D-EEA4-412C-AB88-10DA7B36DC40}"/>
                </a:ext>
              </a:extLst>
            </p:cNvPr>
            <p:cNvSpPr/>
            <p:nvPr/>
          </p:nvSpPr>
          <p:spPr>
            <a:xfrm>
              <a:off x="5903493" y="1826368"/>
              <a:ext cx="385011" cy="26469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6BB3D6A-5DEE-4930-AF75-1CAA7A82157A}"/>
                </a:ext>
              </a:extLst>
            </p:cNvPr>
            <p:cNvPicPr>
              <a:picLocks noChangeAspect="1"/>
            </p:cNvPicPr>
            <p:nvPr/>
          </p:nvPicPr>
          <p:blipFill>
            <a:blip r:embed="rId2"/>
            <a:stretch>
              <a:fillRect/>
            </a:stretch>
          </p:blipFill>
          <p:spPr>
            <a:xfrm>
              <a:off x="2282993" y="2124726"/>
              <a:ext cx="7626014" cy="1448943"/>
            </a:xfrm>
            <a:prstGeom prst="rect">
              <a:avLst/>
            </a:prstGeom>
            <a:ln>
              <a:solidFill>
                <a:schemeClr val="bg1">
                  <a:lumMod val="50000"/>
                </a:schemeClr>
              </a:solidFill>
            </a:ln>
          </p:spPr>
        </p:pic>
      </p:grpSp>
    </p:spTree>
    <p:extLst>
      <p:ext uri="{BB962C8B-B14F-4D97-AF65-F5344CB8AC3E}">
        <p14:creationId xmlns:p14="http://schemas.microsoft.com/office/powerpoint/2010/main" val="1496864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a:t>
            </a:r>
          </a:p>
          <a:p>
            <a:pPr lvl="1">
              <a:buFont typeface="Wingdings" panose="05000000000000000000" pitchFamily="2" charset="2"/>
              <a:buChar char="§"/>
            </a:pPr>
            <a:r>
              <a:rPr lang="en-US" altLang="ko-KR" sz="1400" b="1" dirty="0"/>
              <a:t>Step 03. To install </a:t>
            </a:r>
            <a:r>
              <a:rPr lang="en-US" altLang="ko-KR" sz="1400" b="1" dirty="0" err="1"/>
              <a:t>minikube</a:t>
            </a:r>
            <a:r>
              <a:rPr lang="en-US" altLang="ko-KR" sz="1400" b="1" dirty="0"/>
              <a:t>,</a:t>
            </a:r>
            <a:r>
              <a:rPr lang="en-US" altLang="ko-KR" sz="1400" dirty="0"/>
              <a:t> you need to download the “</a:t>
            </a:r>
            <a:r>
              <a:rPr lang="en-US" altLang="ko-KR" sz="1400" b="1" dirty="0" err="1"/>
              <a:t>minikube</a:t>
            </a:r>
            <a:r>
              <a:rPr lang="en-US" altLang="ko-KR" sz="1400" b="1" dirty="0"/>
              <a:t>” package</a:t>
            </a:r>
            <a:r>
              <a:rPr lang="en-US" altLang="ko-KR" sz="1400" dirty="0"/>
              <a:t>. Use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C680BB8-532D-499E-A6C5-1865013638BF}"/>
              </a:ext>
            </a:extLst>
          </p:cNvPr>
          <p:cNvGrpSpPr/>
          <p:nvPr/>
        </p:nvGrpSpPr>
        <p:grpSpPr>
          <a:xfrm>
            <a:off x="1697455" y="1716762"/>
            <a:ext cx="8797089" cy="3232327"/>
            <a:chOff x="1697454" y="1587714"/>
            <a:chExt cx="8797089" cy="3232327"/>
          </a:xfrm>
        </p:grpSpPr>
        <p:sp>
          <p:nvSpPr>
            <p:cNvPr id="4" name="직사각형 3">
              <a:extLst>
                <a:ext uri="{FF2B5EF4-FFF2-40B4-BE49-F238E27FC236}">
                  <a16:creationId xmlns:a16="http://schemas.microsoft.com/office/drawing/2014/main" id="{C50B4CF7-F175-4C5F-BDB0-65B8AC64CF50}"/>
                </a:ext>
              </a:extLst>
            </p:cNvPr>
            <p:cNvSpPr/>
            <p:nvPr/>
          </p:nvSpPr>
          <p:spPr>
            <a:xfrm>
              <a:off x="3048000" y="1587714"/>
              <a:ext cx="6096000" cy="246221"/>
            </a:xfrm>
            <a:prstGeom prst="rect">
              <a:avLst/>
            </a:prstGeom>
            <a:ln>
              <a:solidFill>
                <a:schemeClr val="bg1">
                  <a:lumMod val="50000"/>
                </a:schemeClr>
              </a:solidFill>
            </a:ln>
          </p:spPr>
          <p:txBody>
            <a:bodyPr>
              <a:spAutoFit/>
            </a:bodyPr>
            <a:lstStyle/>
            <a:p>
              <a:r>
                <a:rPr lang="da-DK" altLang="ko-KR" sz="1000" b="1" dirty="0"/>
                <a:t>wget https://storage.googleapis.com/minikube/releases/latest/minikube-linux-amd64</a:t>
              </a:r>
              <a:endParaRPr lang="ko-KR" altLang="en-US" sz="1000" b="1" dirty="0"/>
            </a:p>
          </p:txBody>
        </p:sp>
        <p:pic>
          <p:nvPicPr>
            <p:cNvPr id="8" name="그림 7">
              <a:extLst>
                <a:ext uri="{FF2B5EF4-FFF2-40B4-BE49-F238E27FC236}">
                  <a16:creationId xmlns:a16="http://schemas.microsoft.com/office/drawing/2014/main" id="{CB5B68E7-79CB-4A9D-8FDF-24413C0F30F2}"/>
                </a:ext>
              </a:extLst>
            </p:cNvPr>
            <p:cNvPicPr>
              <a:picLocks noChangeAspect="1"/>
            </p:cNvPicPr>
            <p:nvPr/>
          </p:nvPicPr>
          <p:blipFill>
            <a:blip r:embed="rId2"/>
            <a:stretch>
              <a:fillRect/>
            </a:stretch>
          </p:blipFill>
          <p:spPr>
            <a:xfrm>
              <a:off x="1697454" y="2145726"/>
              <a:ext cx="8797089" cy="267431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5FC1B8E-75CF-45AB-9A8F-1E5CA75559FF}"/>
                </a:ext>
              </a:extLst>
            </p:cNvPr>
            <p:cNvSpPr/>
            <p:nvPr/>
          </p:nvSpPr>
          <p:spPr>
            <a:xfrm>
              <a:off x="5895473" y="1852821"/>
              <a:ext cx="40105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53491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a:t>
            </a:r>
          </a:p>
          <a:p>
            <a:pPr lvl="1">
              <a:buFont typeface="Wingdings" panose="05000000000000000000" pitchFamily="2" charset="2"/>
              <a:buChar char="§"/>
            </a:pPr>
            <a:r>
              <a:rPr lang="en-US" altLang="ko-KR" sz="1400" b="1" dirty="0"/>
              <a:t>Step 04. Copy the downloaded </a:t>
            </a:r>
            <a:r>
              <a:rPr lang="en-US" altLang="ko-KR" sz="1400" b="1" dirty="0" err="1"/>
              <a:t>minikube</a:t>
            </a:r>
            <a:r>
              <a:rPr lang="en-US" altLang="ko-KR" sz="1400" b="1" dirty="0"/>
              <a:t> into “/</a:t>
            </a:r>
            <a:r>
              <a:rPr lang="en-US" altLang="ko-KR" sz="1400" b="1" dirty="0" err="1"/>
              <a:t>usr</a:t>
            </a:r>
            <a:r>
              <a:rPr lang="en-US" altLang="ko-KR" sz="1400" b="1" dirty="0"/>
              <a:t>/local/bin” directory and change the </a:t>
            </a:r>
            <a:r>
              <a:rPr lang="en-US" altLang="ko-KR" sz="1400" b="1" dirty="0" err="1"/>
              <a:t>persmission</a:t>
            </a:r>
            <a:r>
              <a:rPr lang="en-US" altLang="ko-KR" sz="1400" dirty="0"/>
              <a:t>. Use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59A9507-8D3B-4E27-9DE9-3E23DE3E5CBF}"/>
              </a:ext>
            </a:extLst>
          </p:cNvPr>
          <p:cNvGrpSpPr/>
          <p:nvPr/>
        </p:nvGrpSpPr>
        <p:grpSpPr>
          <a:xfrm>
            <a:off x="1725529" y="1831938"/>
            <a:ext cx="8740942" cy="2636542"/>
            <a:chOff x="1725529" y="1711622"/>
            <a:chExt cx="8740942" cy="2636542"/>
          </a:xfrm>
        </p:grpSpPr>
        <p:sp>
          <p:nvSpPr>
            <p:cNvPr id="8" name="직사각형 7">
              <a:extLst>
                <a:ext uri="{FF2B5EF4-FFF2-40B4-BE49-F238E27FC236}">
                  <a16:creationId xmlns:a16="http://schemas.microsoft.com/office/drawing/2014/main" id="{74F02DA0-E8BA-4203-8FA8-A2B044216FD4}"/>
                </a:ext>
              </a:extLst>
            </p:cNvPr>
            <p:cNvSpPr/>
            <p:nvPr/>
          </p:nvSpPr>
          <p:spPr>
            <a:xfrm>
              <a:off x="3048000" y="1711622"/>
              <a:ext cx="6096000" cy="553998"/>
            </a:xfrm>
            <a:prstGeom prst="rect">
              <a:avLst/>
            </a:prstGeom>
            <a:ln>
              <a:solidFill>
                <a:schemeClr val="bg1">
                  <a:lumMod val="50000"/>
                </a:schemeClr>
              </a:solidFill>
            </a:ln>
          </p:spPr>
          <p:txBody>
            <a:bodyPr wrap="square">
              <a:spAutoFit/>
            </a:bodyPr>
            <a:lstStyle/>
            <a:p>
              <a:r>
                <a:rPr lang="en-US" altLang="ko-KR" sz="1000" b="1" dirty="0" err="1"/>
                <a:t>sudo</a:t>
              </a:r>
              <a:r>
                <a:rPr lang="en-US" altLang="ko-KR" sz="1000" b="1" dirty="0"/>
                <a:t> cp minikube-linux-amd64 /</a:t>
              </a:r>
              <a:r>
                <a:rPr lang="en-US" altLang="ko-KR" sz="1000" b="1" dirty="0" err="1"/>
                <a:t>usr</a:t>
              </a:r>
              <a:r>
                <a:rPr lang="en-US" altLang="ko-KR" sz="1000" b="1" dirty="0"/>
                <a:t>/local/bin/</a:t>
              </a:r>
              <a:r>
                <a:rPr lang="en-US" altLang="ko-KR" sz="1000" b="1" dirty="0" err="1"/>
                <a:t>minikube</a:t>
              </a:r>
              <a:endParaRPr lang="en-US" altLang="ko-KR" sz="1000" b="1" dirty="0"/>
            </a:p>
            <a:p>
              <a:r>
                <a:rPr lang="de-DE" altLang="ko-KR" sz="1000" b="1" dirty="0"/>
                <a:t>sudo chmod 755 /usr/local/bin/minikube</a:t>
              </a:r>
            </a:p>
            <a:p>
              <a:r>
                <a:rPr lang="de-DE" altLang="ko-KR" sz="1000" b="1" dirty="0"/>
                <a:t>minikube version</a:t>
              </a:r>
              <a:endParaRPr lang="ko-KR" altLang="en-US" sz="1000" b="1" dirty="0"/>
            </a:p>
          </p:txBody>
        </p:sp>
        <p:pic>
          <p:nvPicPr>
            <p:cNvPr id="4" name="그림 3">
              <a:extLst>
                <a:ext uri="{FF2B5EF4-FFF2-40B4-BE49-F238E27FC236}">
                  <a16:creationId xmlns:a16="http://schemas.microsoft.com/office/drawing/2014/main" id="{A2607A50-B8FF-4B0E-A667-75B7B0CA9CB6}"/>
                </a:ext>
              </a:extLst>
            </p:cNvPr>
            <p:cNvPicPr>
              <a:picLocks noChangeAspect="1"/>
            </p:cNvPicPr>
            <p:nvPr/>
          </p:nvPicPr>
          <p:blipFill>
            <a:blip r:embed="rId2"/>
            <a:stretch>
              <a:fillRect/>
            </a:stretch>
          </p:blipFill>
          <p:spPr>
            <a:xfrm>
              <a:off x="1725529" y="2556271"/>
              <a:ext cx="8740942" cy="1791893"/>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93E5986C-5291-4EB7-98A7-615F1C79F518}"/>
                </a:ext>
              </a:extLst>
            </p:cNvPr>
            <p:cNvSpPr/>
            <p:nvPr/>
          </p:nvSpPr>
          <p:spPr>
            <a:xfrm>
              <a:off x="5903495" y="2275708"/>
              <a:ext cx="417094" cy="27047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683926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a:t>
            </a:r>
          </a:p>
          <a:p>
            <a:pPr lvl="1">
              <a:buFont typeface="Wingdings" panose="05000000000000000000" pitchFamily="2" charset="2"/>
              <a:buChar char="§"/>
            </a:pPr>
            <a:r>
              <a:rPr lang="en-US" altLang="ko-KR" sz="1400" b="1" dirty="0"/>
              <a:t>Step 05</a:t>
            </a:r>
            <a:r>
              <a:rPr lang="en-US" altLang="ko-KR" sz="1400" dirty="0"/>
              <a:t>. </a:t>
            </a:r>
            <a:r>
              <a:rPr lang="en-US" altLang="ko-KR" sz="1400" b="1" dirty="0"/>
              <a:t>Install </a:t>
            </a:r>
            <a:r>
              <a:rPr lang="en-US" altLang="ko-KR" sz="1400" b="1" dirty="0" err="1"/>
              <a:t>kubectl</a:t>
            </a:r>
            <a:r>
              <a:rPr lang="en-US" altLang="ko-KR" sz="1400" dirty="0"/>
              <a:t>. To manage applications, you need to </a:t>
            </a:r>
            <a:r>
              <a:rPr lang="en-US" altLang="ko-KR" sz="1400" b="1" dirty="0"/>
              <a:t>install </a:t>
            </a:r>
            <a:r>
              <a:rPr lang="en-US" altLang="ko-KR" sz="1400" b="1" dirty="0" err="1"/>
              <a:t>kubectl</a:t>
            </a:r>
            <a:r>
              <a:rPr lang="en-US" altLang="ko-KR" sz="1400" b="1" dirty="0"/>
              <a:t> and other tools</a:t>
            </a:r>
            <a:r>
              <a:rPr lang="en-US" altLang="ko-KR" sz="1400" dirty="0"/>
              <a:t>. </a:t>
            </a:r>
            <a:r>
              <a:rPr lang="en-US" altLang="ko-KR" sz="1400" b="1" dirty="0"/>
              <a:t>Add the GPG key </a:t>
            </a:r>
            <a:r>
              <a:rPr lang="en-US" altLang="ko-KR" sz="1400" dirty="0"/>
              <a:t>first and </a:t>
            </a:r>
            <a:r>
              <a:rPr lang="en-US" altLang="ko-KR" sz="1400" b="1" dirty="0"/>
              <a:t>add </a:t>
            </a:r>
            <a:r>
              <a:rPr lang="en-US" altLang="ko-KR" sz="1400" b="1" dirty="0" err="1"/>
              <a:t>kubenetes</a:t>
            </a:r>
            <a:r>
              <a:rPr lang="en-US" altLang="ko-KR" sz="1400" b="1" dirty="0"/>
              <a:t> repository </a:t>
            </a:r>
            <a:r>
              <a:rPr lang="en-US" altLang="ko-KR" sz="1400" dirty="0"/>
              <a:t>using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4BE7E6A6-AA0C-457D-900A-63F139027505}"/>
              </a:ext>
            </a:extLst>
          </p:cNvPr>
          <p:cNvGrpSpPr/>
          <p:nvPr/>
        </p:nvGrpSpPr>
        <p:grpSpPr>
          <a:xfrm>
            <a:off x="1527631" y="1846530"/>
            <a:ext cx="9136738" cy="2691355"/>
            <a:chOff x="1527631" y="1734235"/>
            <a:chExt cx="9136738" cy="2691355"/>
          </a:xfrm>
        </p:grpSpPr>
        <p:sp>
          <p:nvSpPr>
            <p:cNvPr id="4" name="직사각형 3">
              <a:extLst>
                <a:ext uri="{FF2B5EF4-FFF2-40B4-BE49-F238E27FC236}">
                  <a16:creationId xmlns:a16="http://schemas.microsoft.com/office/drawing/2014/main" id="{D55B35CA-13AE-480D-B0FD-02A36BEC4929}"/>
                </a:ext>
              </a:extLst>
            </p:cNvPr>
            <p:cNvSpPr/>
            <p:nvPr/>
          </p:nvSpPr>
          <p:spPr>
            <a:xfrm>
              <a:off x="2526631" y="1734235"/>
              <a:ext cx="7138737" cy="400110"/>
            </a:xfrm>
            <a:prstGeom prst="rect">
              <a:avLst/>
            </a:prstGeom>
            <a:ln>
              <a:solidFill>
                <a:schemeClr val="bg1">
                  <a:lumMod val="50000"/>
                </a:schemeClr>
              </a:solidFill>
            </a:ln>
          </p:spPr>
          <p:txBody>
            <a:bodyPr wrap="square">
              <a:spAutoFit/>
            </a:bodyPr>
            <a:lstStyle/>
            <a:p>
              <a:r>
                <a:rPr lang="en-US" altLang="ko-KR" sz="1000" b="1" dirty="0"/>
                <a:t>curl -s https://packages.cloud.google.com/apt/doc/apt-key.gpg | </a:t>
              </a:r>
              <a:r>
                <a:rPr lang="en-US" altLang="ko-KR" sz="1000" b="1" dirty="0" err="1"/>
                <a:t>sudo</a:t>
              </a:r>
              <a:r>
                <a:rPr lang="en-US" altLang="ko-KR" sz="1000" b="1" dirty="0"/>
                <a:t> apt-key add -</a:t>
              </a:r>
            </a:p>
            <a:p>
              <a:r>
                <a:rPr lang="en-US" altLang="ko-KR" sz="1000" b="1" dirty="0"/>
                <a:t>echo "deb http://apt.kubernetes.io/ </a:t>
              </a:r>
              <a:r>
                <a:rPr lang="en-US" altLang="ko-KR" sz="1000" b="1" dirty="0" err="1"/>
                <a:t>kubernetes-xenial</a:t>
              </a:r>
              <a:r>
                <a:rPr lang="en-US" altLang="ko-KR" sz="1000" b="1" dirty="0"/>
                <a:t> main" | </a:t>
              </a:r>
              <a:r>
                <a:rPr lang="en-US" altLang="ko-KR" sz="1000" b="1" dirty="0" err="1"/>
                <a:t>sudo</a:t>
              </a:r>
              <a:r>
                <a:rPr lang="en-US" altLang="ko-KR" sz="1000" b="1" dirty="0"/>
                <a:t> tee /</a:t>
              </a:r>
              <a:r>
                <a:rPr lang="en-US" altLang="ko-KR" sz="1000" b="1" dirty="0" err="1"/>
                <a:t>etc</a:t>
              </a:r>
              <a:r>
                <a:rPr lang="en-US" altLang="ko-KR" sz="1000" b="1" dirty="0"/>
                <a:t>/apt/</a:t>
              </a:r>
              <a:r>
                <a:rPr lang="en-US" altLang="ko-KR" sz="1000" b="1" dirty="0" err="1"/>
                <a:t>sources.list.d</a:t>
              </a:r>
              <a:r>
                <a:rPr lang="en-US" altLang="ko-KR" sz="1000" b="1" dirty="0"/>
                <a:t>/</a:t>
              </a:r>
              <a:r>
                <a:rPr lang="en-US" altLang="ko-KR" sz="1000" b="1" dirty="0" err="1"/>
                <a:t>kubernetes.list</a:t>
              </a:r>
              <a:endParaRPr lang="en-US" altLang="ko-KR" sz="1000" b="1" dirty="0"/>
            </a:p>
          </p:txBody>
        </p:sp>
        <p:pic>
          <p:nvPicPr>
            <p:cNvPr id="9" name="그림 8">
              <a:extLst>
                <a:ext uri="{FF2B5EF4-FFF2-40B4-BE49-F238E27FC236}">
                  <a16:creationId xmlns:a16="http://schemas.microsoft.com/office/drawing/2014/main" id="{51D19CB8-D47E-40F8-A032-35EC5214F26C}"/>
                </a:ext>
              </a:extLst>
            </p:cNvPr>
            <p:cNvPicPr>
              <a:picLocks noChangeAspect="1"/>
            </p:cNvPicPr>
            <p:nvPr/>
          </p:nvPicPr>
          <p:blipFill>
            <a:blip r:embed="rId2"/>
            <a:stretch>
              <a:fillRect/>
            </a:stretch>
          </p:blipFill>
          <p:spPr>
            <a:xfrm>
              <a:off x="1527631" y="2432410"/>
              <a:ext cx="9136738" cy="199318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0253E11C-354C-4DA8-874C-E014A72D403B}"/>
                </a:ext>
              </a:extLst>
            </p:cNvPr>
            <p:cNvSpPr/>
            <p:nvPr/>
          </p:nvSpPr>
          <p:spPr>
            <a:xfrm>
              <a:off x="5895473" y="2155302"/>
              <a:ext cx="401052" cy="25737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045414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a:t>
            </a:r>
            <a:r>
              <a:rPr lang="en-US" altLang="ko-KR" sz="2800" b="1" dirty="0" err="1"/>
              <a:t>Minikube</a:t>
            </a:r>
            <a:r>
              <a:rPr lang="en-US" altLang="ko-KR" sz="2800" b="1" dirty="0"/>
              <a:t> on Linux Ubuntu 20.04(6/6)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Installation :</a:t>
            </a:r>
          </a:p>
          <a:p>
            <a:pPr lvl="1">
              <a:buFont typeface="Wingdings" panose="05000000000000000000" pitchFamily="2" charset="2"/>
              <a:buChar char="§"/>
            </a:pPr>
            <a:r>
              <a:rPr lang="en-US" altLang="ko-KR" sz="1400" b="1" dirty="0"/>
              <a:t>Step 06. Now it’s time to update your repository cache and install </a:t>
            </a:r>
            <a:r>
              <a:rPr lang="en-US" altLang="ko-KR" sz="1400" b="1" dirty="0" err="1"/>
              <a:t>kubectl</a:t>
            </a:r>
            <a:r>
              <a:rPr lang="en-US" altLang="ko-KR" sz="1400" dirty="0"/>
              <a:t>.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BB2DC22-99F8-439B-943B-1A6DBB89ABEF}"/>
              </a:ext>
            </a:extLst>
          </p:cNvPr>
          <p:cNvGrpSpPr/>
          <p:nvPr/>
        </p:nvGrpSpPr>
        <p:grpSpPr>
          <a:xfrm>
            <a:off x="1424865" y="1662046"/>
            <a:ext cx="9342270" cy="3155986"/>
            <a:chOff x="1424865" y="1573814"/>
            <a:chExt cx="9342270" cy="3155986"/>
          </a:xfrm>
        </p:grpSpPr>
        <p:sp>
          <p:nvSpPr>
            <p:cNvPr id="4" name="직사각형 3">
              <a:extLst>
                <a:ext uri="{FF2B5EF4-FFF2-40B4-BE49-F238E27FC236}">
                  <a16:creationId xmlns:a16="http://schemas.microsoft.com/office/drawing/2014/main" id="{886ED7F3-941A-4E30-8A18-8C5D5DF0521B}"/>
                </a:ext>
              </a:extLst>
            </p:cNvPr>
            <p:cNvSpPr/>
            <p:nvPr/>
          </p:nvSpPr>
          <p:spPr>
            <a:xfrm>
              <a:off x="3048000" y="1573814"/>
              <a:ext cx="6096000" cy="400110"/>
            </a:xfrm>
            <a:prstGeom prst="rect">
              <a:avLst/>
            </a:prstGeom>
            <a:ln>
              <a:solidFill>
                <a:schemeClr val="bg1">
                  <a:lumMod val="50000"/>
                </a:schemeClr>
              </a:solidFill>
            </a:ln>
          </p:spPr>
          <p:txBody>
            <a:bodyPr>
              <a:spAutoFit/>
            </a:bodyPr>
            <a:lstStyle/>
            <a:p>
              <a:r>
                <a:rPr lang="en-US" altLang="ko-KR" sz="1000" b="1" dirty="0" err="1"/>
                <a:t>sudo</a:t>
              </a:r>
              <a:r>
                <a:rPr lang="en-US" altLang="ko-KR" sz="1000" b="1" dirty="0"/>
                <a:t> apt-get update -y</a:t>
              </a:r>
            </a:p>
            <a:p>
              <a:r>
                <a:rPr lang="en-US" altLang="ko-KR" sz="1000" b="1" dirty="0" err="1"/>
                <a:t>sudo</a:t>
              </a:r>
              <a:r>
                <a:rPr lang="en-US" altLang="ko-KR" sz="1000" b="1" dirty="0"/>
                <a:t> apt-get install </a:t>
              </a:r>
              <a:r>
                <a:rPr lang="en-US" altLang="ko-KR" sz="1000" b="1" dirty="0" err="1"/>
                <a:t>kubelet</a:t>
              </a:r>
              <a:r>
                <a:rPr lang="en-US" altLang="ko-KR" sz="1000" b="1" dirty="0"/>
                <a:t> </a:t>
              </a:r>
              <a:r>
                <a:rPr lang="en-US" altLang="ko-KR" sz="1000" b="1" dirty="0" err="1"/>
                <a:t>kubeadm</a:t>
              </a:r>
              <a:r>
                <a:rPr lang="en-US" altLang="ko-KR" sz="1000" b="1" dirty="0"/>
                <a:t> </a:t>
              </a:r>
              <a:r>
                <a:rPr lang="en-US" altLang="ko-KR" sz="1000" b="1" dirty="0" err="1"/>
                <a:t>kubectl</a:t>
              </a:r>
              <a:r>
                <a:rPr lang="en-US" altLang="ko-KR" sz="1000" b="1" dirty="0"/>
                <a:t> -y</a:t>
              </a:r>
              <a:endParaRPr lang="ko-KR" altLang="en-US" sz="1000" b="1" dirty="0"/>
            </a:p>
          </p:txBody>
        </p:sp>
        <p:pic>
          <p:nvPicPr>
            <p:cNvPr id="8" name="그림 7">
              <a:extLst>
                <a:ext uri="{FF2B5EF4-FFF2-40B4-BE49-F238E27FC236}">
                  <a16:creationId xmlns:a16="http://schemas.microsoft.com/office/drawing/2014/main" id="{B2590CB6-9BC7-46C8-A0B2-4A2F7AB29208}"/>
                </a:ext>
              </a:extLst>
            </p:cNvPr>
            <p:cNvPicPr>
              <a:picLocks noChangeAspect="1"/>
            </p:cNvPicPr>
            <p:nvPr/>
          </p:nvPicPr>
          <p:blipFill>
            <a:blip r:embed="rId2"/>
            <a:stretch>
              <a:fillRect/>
            </a:stretch>
          </p:blipFill>
          <p:spPr>
            <a:xfrm>
              <a:off x="1424865" y="2324940"/>
              <a:ext cx="9342270" cy="240486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79827610-C694-41B2-BF61-248DDAD74568}"/>
                </a:ext>
              </a:extLst>
            </p:cNvPr>
            <p:cNvSpPr/>
            <p:nvPr/>
          </p:nvSpPr>
          <p:spPr>
            <a:xfrm>
              <a:off x="5853683" y="1997109"/>
              <a:ext cx="484632" cy="3046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906103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Locally(3/4)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Minikube</a:t>
            </a:r>
            <a:r>
              <a:rPr lang="en-US" altLang="ko-KR" sz="1800" b="1" dirty="0"/>
              <a:t> :</a:t>
            </a:r>
          </a:p>
          <a:p>
            <a:pPr lvl="1">
              <a:buFont typeface="Wingdings" panose="05000000000000000000" pitchFamily="2" charset="2"/>
              <a:buChar char="§"/>
            </a:pPr>
            <a:r>
              <a:rPr lang="en-US" altLang="ko-KR" sz="1400" dirty="0"/>
              <a:t>Once you have the </a:t>
            </a:r>
            <a:r>
              <a:rPr lang="en-US" altLang="ko-KR" sz="1400" b="1" dirty="0" err="1"/>
              <a:t>minikube</a:t>
            </a:r>
            <a:r>
              <a:rPr lang="en-US" altLang="ko-KR" sz="1400" b="1" dirty="0"/>
              <a:t> tool </a:t>
            </a:r>
            <a:r>
              <a:rPr lang="en-US" altLang="ko-KR" sz="1400" dirty="0"/>
              <a:t>installed, </a:t>
            </a:r>
            <a:r>
              <a:rPr lang="en-US" altLang="ko-KR" sz="1400" b="1" dirty="0"/>
              <a:t>you can create a local cluster </a:t>
            </a:r>
            <a:r>
              <a:rPr lang="en-US" altLang="ko-KR" sz="1400" dirty="0"/>
              <a:t>using the following command. This will </a:t>
            </a:r>
            <a:r>
              <a:rPr lang="en-US" altLang="ko-KR" sz="1400" b="1" dirty="0"/>
              <a:t>create </a:t>
            </a:r>
            <a:r>
              <a:rPr lang="en-US" altLang="ko-KR" sz="1400" b="1" dirty="0">
                <a:solidFill>
                  <a:srgbClr val="FF0000"/>
                </a:solidFill>
              </a:rPr>
              <a:t>a local VM</a:t>
            </a:r>
            <a:r>
              <a:rPr lang="en-US" altLang="ko-KR" sz="1400" b="1" dirty="0"/>
              <a:t>, </a:t>
            </a:r>
            <a:r>
              <a:rPr lang="en-US" altLang="ko-KR" sz="1400" b="1" dirty="0">
                <a:solidFill>
                  <a:srgbClr val="FF0000"/>
                </a:solidFill>
              </a:rPr>
              <a:t>provision Kubernetes</a:t>
            </a:r>
            <a:r>
              <a:rPr lang="en-US" altLang="ko-KR" sz="1400" b="1" dirty="0"/>
              <a:t>, and create </a:t>
            </a:r>
            <a:r>
              <a:rPr lang="en-US" altLang="ko-KR" sz="1400" b="1" dirty="0">
                <a:solidFill>
                  <a:srgbClr val="FF0000"/>
                </a:solidFill>
              </a:rPr>
              <a:t>a local </a:t>
            </a:r>
            <a:r>
              <a:rPr lang="en-US" altLang="ko-KR" sz="1400" b="1" dirty="0" err="1">
                <a:solidFill>
                  <a:srgbClr val="FF0000"/>
                </a:solidFill>
              </a:rPr>
              <a:t>kubectl</a:t>
            </a:r>
            <a:r>
              <a:rPr lang="en-US" altLang="ko-KR" sz="1400" b="1" dirty="0">
                <a:solidFill>
                  <a:srgbClr val="FF0000"/>
                </a:solidFill>
              </a:rPr>
              <a:t> configuration </a:t>
            </a:r>
            <a:r>
              <a:rPr lang="en-US" altLang="ko-KR" sz="1400" b="1" dirty="0"/>
              <a:t>that points to that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1BA3360-63A7-46B6-B73A-7CABE8A92055}"/>
              </a:ext>
            </a:extLst>
          </p:cNvPr>
          <p:cNvGrpSpPr/>
          <p:nvPr/>
        </p:nvGrpSpPr>
        <p:grpSpPr>
          <a:xfrm>
            <a:off x="1333500" y="1780014"/>
            <a:ext cx="9525000" cy="4263891"/>
            <a:chOff x="1333500" y="1458879"/>
            <a:chExt cx="9525000" cy="4263891"/>
          </a:xfrm>
        </p:grpSpPr>
        <p:pic>
          <p:nvPicPr>
            <p:cNvPr id="4" name="그림 3">
              <a:extLst>
                <a:ext uri="{FF2B5EF4-FFF2-40B4-BE49-F238E27FC236}">
                  <a16:creationId xmlns:a16="http://schemas.microsoft.com/office/drawing/2014/main" id="{4964CCF8-AF0E-4C41-A13F-B9D0D59EE773}"/>
                </a:ext>
              </a:extLst>
            </p:cNvPr>
            <p:cNvPicPr>
              <a:picLocks noChangeAspect="1"/>
            </p:cNvPicPr>
            <p:nvPr/>
          </p:nvPicPr>
          <p:blipFill>
            <a:blip r:embed="rId2"/>
            <a:stretch>
              <a:fillRect/>
            </a:stretch>
          </p:blipFill>
          <p:spPr>
            <a:xfrm>
              <a:off x="1333500" y="2017545"/>
              <a:ext cx="9525000" cy="3705225"/>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D0E6BC70-B52B-4B52-BBDE-2EE149EB5A88}"/>
                </a:ext>
              </a:extLst>
            </p:cNvPr>
            <p:cNvSpPr/>
            <p:nvPr/>
          </p:nvSpPr>
          <p:spPr>
            <a:xfrm>
              <a:off x="5558834" y="1458879"/>
              <a:ext cx="1074332" cy="246221"/>
            </a:xfrm>
            <a:prstGeom prst="rect">
              <a:avLst/>
            </a:prstGeom>
            <a:ln>
              <a:solidFill>
                <a:schemeClr val="bg1">
                  <a:lumMod val="50000"/>
                </a:schemeClr>
              </a:solidFill>
            </a:ln>
          </p:spPr>
          <p:txBody>
            <a:bodyPr wrap="none">
              <a:spAutoFit/>
            </a:bodyPr>
            <a:lstStyle/>
            <a:p>
              <a:pPr algn="ctr"/>
              <a:r>
                <a:rPr lang="en-US" altLang="ko-KR" sz="1000" b="1" dirty="0" err="1"/>
                <a:t>minikube</a:t>
              </a:r>
              <a:r>
                <a:rPr lang="en-US" altLang="ko-KR" sz="1000" b="1" dirty="0"/>
                <a:t> start</a:t>
              </a:r>
              <a:endParaRPr lang="ko-KR" altLang="en-US" sz="1000" b="1" dirty="0"/>
            </a:p>
          </p:txBody>
        </p:sp>
        <p:sp>
          <p:nvSpPr>
            <p:cNvPr id="9" name="화살표: 아래쪽 8">
              <a:extLst>
                <a:ext uri="{FF2B5EF4-FFF2-40B4-BE49-F238E27FC236}">
                  <a16:creationId xmlns:a16="http://schemas.microsoft.com/office/drawing/2014/main" id="{301ABAAD-D994-4B6C-8BD1-5D6B288C342D}"/>
                </a:ext>
              </a:extLst>
            </p:cNvPr>
            <p:cNvSpPr/>
            <p:nvPr/>
          </p:nvSpPr>
          <p:spPr>
            <a:xfrm>
              <a:off x="5887453" y="1705100"/>
              <a:ext cx="417094"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689981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Kubernetes Locally(4/4)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Minikube</a:t>
            </a:r>
            <a:r>
              <a:rPr lang="en-US" altLang="ko-KR" sz="1800" b="1" dirty="0"/>
              <a:t> :</a:t>
            </a:r>
          </a:p>
          <a:p>
            <a:pPr lvl="1">
              <a:buFont typeface="Wingdings" panose="05000000000000000000" pitchFamily="2" charset="2"/>
              <a:buChar char="§"/>
            </a:pPr>
            <a:r>
              <a:rPr lang="en-US" altLang="ko-KR" sz="1400" dirty="0"/>
              <a:t>When you are done with your cluster, </a:t>
            </a:r>
            <a:r>
              <a:rPr lang="en-US" altLang="ko-KR" sz="1400" b="1" dirty="0"/>
              <a:t>you can stop the VM </a:t>
            </a:r>
            <a:r>
              <a:rPr lang="en-US" altLang="ko-KR" sz="1400" dirty="0"/>
              <a:t>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want to </a:t>
            </a:r>
            <a:r>
              <a:rPr lang="en-US" altLang="ko-KR" sz="1400" b="1" dirty="0"/>
              <a:t>remove the cluster</a:t>
            </a:r>
            <a:r>
              <a:rPr lang="en-US" altLang="ko-KR" sz="1400" dirty="0"/>
              <a:t>, you can run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4D924E0-2FDC-4A95-87F1-CDB3C396499E}"/>
              </a:ext>
            </a:extLst>
          </p:cNvPr>
          <p:cNvGrpSpPr/>
          <p:nvPr/>
        </p:nvGrpSpPr>
        <p:grpSpPr>
          <a:xfrm>
            <a:off x="1849856" y="1432650"/>
            <a:ext cx="8492287" cy="2192039"/>
            <a:chOff x="1849858" y="1608039"/>
            <a:chExt cx="8492287" cy="2192039"/>
          </a:xfrm>
        </p:grpSpPr>
        <p:sp>
          <p:nvSpPr>
            <p:cNvPr id="4" name="직사각형 3">
              <a:extLst>
                <a:ext uri="{FF2B5EF4-FFF2-40B4-BE49-F238E27FC236}">
                  <a16:creationId xmlns:a16="http://schemas.microsoft.com/office/drawing/2014/main" id="{51BB41D9-5564-48C4-A7B0-F9B28A65537C}"/>
                </a:ext>
              </a:extLst>
            </p:cNvPr>
            <p:cNvSpPr/>
            <p:nvPr/>
          </p:nvSpPr>
          <p:spPr>
            <a:xfrm>
              <a:off x="5562841" y="1608039"/>
              <a:ext cx="1066318" cy="246221"/>
            </a:xfrm>
            <a:prstGeom prst="rect">
              <a:avLst/>
            </a:prstGeom>
            <a:ln>
              <a:solidFill>
                <a:schemeClr val="bg1">
                  <a:lumMod val="50000"/>
                </a:schemeClr>
              </a:solidFill>
            </a:ln>
          </p:spPr>
          <p:txBody>
            <a:bodyPr wrap="none">
              <a:spAutoFit/>
            </a:bodyPr>
            <a:lstStyle/>
            <a:p>
              <a:pPr algn="ctr"/>
              <a:r>
                <a:rPr lang="en-US" altLang="ko-KR" sz="1000" b="1" dirty="0" err="1"/>
                <a:t>minikube</a:t>
              </a:r>
              <a:r>
                <a:rPr lang="en-US" altLang="ko-KR" sz="1000" b="1" dirty="0"/>
                <a:t> stop</a:t>
              </a:r>
              <a:endParaRPr lang="ko-KR" altLang="en-US" sz="1000" b="1" dirty="0"/>
            </a:p>
          </p:txBody>
        </p:sp>
        <p:sp>
          <p:nvSpPr>
            <p:cNvPr id="8" name="화살표: 아래쪽 7">
              <a:extLst>
                <a:ext uri="{FF2B5EF4-FFF2-40B4-BE49-F238E27FC236}">
                  <a16:creationId xmlns:a16="http://schemas.microsoft.com/office/drawing/2014/main" id="{F544A080-A795-4B35-B4FF-E1F38287C7BD}"/>
                </a:ext>
              </a:extLst>
            </p:cNvPr>
            <p:cNvSpPr/>
            <p:nvPr/>
          </p:nvSpPr>
          <p:spPr>
            <a:xfrm>
              <a:off x="5891463" y="1871291"/>
              <a:ext cx="409074" cy="298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255DD29A-4E3F-4A17-BD7C-957E3C787B81}"/>
                </a:ext>
              </a:extLst>
            </p:cNvPr>
            <p:cNvPicPr>
              <a:picLocks noChangeAspect="1"/>
            </p:cNvPicPr>
            <p:nvPr/>
          </p:nvPicPr>
          <p:blipFill>
            <a:blip r:embed="rId2"/>
            <a:stretch>
              <a:fillRect/>
            </a:stretch>
          </p:blipFill>
          <p:spPr>
            <a:xfrm>
              <a:off x="1849858" y="2186543"/>
              <a:ext cx="8492287" cy="1613535"/>
            </a:xfrm>
            <a:prstGeom prst="rect">
              <a:avLst/>
            </a:prstGeom>
            <a:ln>
              <a:solidFill>
                <a:schemeClr val="bg1">
                  <a:lumMod val="50000"/>
                </a:schemeClr>
              </a:solidFill>
            </a:ln>
          </p:spPr>
        </p:pic>
      </p:grpSp>
      <p:grpSp>
        <p:nvGrpSpPr>
          <p:cNvPr id="14" name="그룹 13">
            <a:extLst>
              <a:ext uri="{FF2B5EF4-FFF2-40B4-BE49-F238E27FC236}">
                <a16:creationId xmlns:a16="http://schemas.microsoft.com/office/drawing/2014/main" id="{56F746A6-8A9E-4BB2-9A08-432469BA5406}"/>
              </a:ext>
            </a:extLst>
          </p:cNvPr>
          <p:cNvGrpSpPr/>
          <p:nvPr/>
        </p:nvGrpSpPr>
        <p:grpSpPr>
          <a:xfrm>
            <a:off x="1849857" y="4241323"/>
            <a:ext cx="8492287" cy="2165089"/>
            <a:chOff x="1849857" y="4241323"/>
            <a:chExt cx="8492287" cy="2165089"/>
          </a:xfrm>
        </p:grpSpPr>
        <p:sp>
          <p:nvSpPr>
            <p:cNvPr id="11" name="직사각형 10">
              <a:extLst>
                <a:ext uri="{FF2B5EF4-FFF2-40B4-BE49-F238E27FC236}">
                  <a16:creationId xmlns:a16="http://schemas.microsoft.com/office/drawing/2014/main" id="{A2D438C4-B1FC-4B35-90EC-910D5D044846}"/>
                </a:ext>
              </a:extLst>
            </p:cNvPr>
            <p:cNvSpPr/>
            <p:nvPr/>
          </p:nvSpPr>
          <p:spPr>
            <a:xfrm>
              <a:off x="5509139" y="4241323"/>
              <a:ext cx="1173718" cy="246221"/>
            </a:xfrm>
            <a:prstGeom prst="rect">
              <a:avLst/>
            </a:prstGeom>
            <a:ln>
              <a:solidFill>
                <a:schemeClr val="bg1">
                  <a:lumMod val="50000"/>
                </a:schemeClr>
              </a:solidFill>
            </a:ln>
          </p:spPr>
          <p:txBody>
            <a:bodyPr wrap="none">
              <a:spAutoFit/>
            </a:bodyPr>
            <a:lstStyle/>
            <a:p>
              <a:pPr algn="ctr"/>
              <a:r>
                <a:rPr lang="en-US" altLang="ko-KR" sz="1000" b="1" dirty="0" err="1"/>
                <a:t>minikube</a:t>
              </a:r>
              <a:r>
                <a:rPr lang="en-US" altLang="ko-KR" sz="1000" b="1" dirty="0"/>
                <a:t> delete</a:t>
              </a:r>
              <a:endParaRPr lang="ko-KR" altLang="en-US" sz="1000" b="1" dirty="0"/>
            </a:p>
          </p:txBody>
        </p:sp>
        <p:sp>
          <p:nvSpPr>
            <p:cNvPr id="12" name="화살표: 아래쪽 11">
              <a:extLst>
                <a:ext uri="{FF2B5EF4-FFF2-40B4-BE49-F238E27FC236}">
                  <a16:creationId xmlns:a16="http://schemas.microsoft.com/office/drawing/2014/main" id="{13B85B08-C036-4F89-A8B5-C562F7F54838}"/>
                </a:ext>
              </a:extLst>
            </p:cNvPr>
            <p:cNvSpPr/>
            <p:nvPr/>
          </p:nvSpPr>
          <p:spPr>
            <a:xfrm>
              <a:off x="5891461" y="4494656"/>
              <a:ext cx="409074" cy="298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4F96DAB9-2336-45DD-96F4-76D01CFD6CB9}"/>
                </a:ext>
              </a:extLst>
            </p:cNvPr>
            <p:cNvPicPr>
              <a:picLocks noChangeAspect="1"/>
            </p:cNvPicPr>
            <p:nvPr/>
          </p:nvPicPr>
          <p:blipFill>
            <a:blip r:embed="rId3"/>
            <a:stretch>
              <a:fillRect/>
            </a:stretch>
          </p:blipFill>
          <p:spPr>
            <a:xfrm>
              <a:off x="1849857" y="4792877"/>
              <a:ext cx="8492287" cy="1613535"/>
            </a:xfrm>
            <a:prstGeom prst="rect">
              <a:avLst/>
            </a:prstGeom>
            <a:ln>
              <a:solidFill>
                <a:schemeClr val="bg1">
                  <a:lumMod val="50000"/>
                </a:schemeClr>
              </a:solidFill>
            </a:ln>
          </p:spPr>
        </p:pic>
      </p:grpSp>
    </p:spTree>
    <p:extLst>
      <p:ext uri="{BB962C8B-B14F-4D97-AF65-F5344CB8AC3E}">
        <p14:creationId xmlns:p14="http://schemas.microsoft.com/office/powerpoint/2010/main" val="1146977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Disable Swapping in Linux Ubuntu 20.04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Swapping :</a:t>
            </a:r>
          </a:p>
          <a:p>
            <a:pPr lvl="1">
              <a:buFont typeface="Wingdings" panose="05000000000000000000" pitchFamily="2" charset="2"/>
              <a:buChar char="§"/>
            </a:pPr>
            <a:r>
              <a:rPr lang="en-US" altLang="ko-KR" sz="1400" b="1" dirty="0"/>
              <a:t>Swapping in Linux will make a system slow when you run “</a:t>
            </a:r>
            <a:r>
              <a:rPr lang="en-US" altLang="ko-KR" sz="1400" b="1" dirty="0" err="1"/>
              <a:t>minikube</a:t>
            </a:r>
            <a:r>
              <a:rPr lang="en-US" altLang="ko-KR" sz="1400" b="1" dirty="0"/>
              <a:t>”</a:t>
            </a:r>
            <a:r>
              <a:rPr lang="en-US" altLang="ko-KR" sz="1400" dirty="0"/>
              <a:t>. If you want to disable swapping in Linux Ubuntu 20.04, follow the next steps.</a:t>
            </a:r>
          </a:p>
          <a:p>
            <a:pPr lvl="1">
              <a:buFont typeface="Wingdings" panose="05000000000000000000" pitchFamily="2" charset="2"/>
              <a:buChar char="§"/>
            </a:pPr>
            <a:r>
              <a:rPr lang="en-US" altLang="ko-KR" sz="1400" b="1" dirty="0"/>
              <a:t>Step 01. Check the swapping and disable it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Step 02. Comment out the “/</a:t>
            </a:r>
            <a:r>
              <a:rPr lang="en-US" altLang="ko-KR" sz="1400" b="1" dirty="0" err="1"/>
              <a:t>swapfile</a:t>
            </a:r>
            <a:r>
              <a:rPr lang="en-US" altLang="ko-KR" sz="1400" b="1" dirty="0"/>
              <a:t> xxx” line in the “/</a:t>
            </a:r>
            <a:r>
              <a:rPr lang="en-US" altLang="ko-KR" sz="1400" b="1" dirty="0" err="1"/>
              <a:t>etc</a:t>
            </a:r>
            <a:r>
              <a:rPr lang="en-US" altLang="ko-KR" sz="1400" b="1" dirty="0"/>
              <a:t>/</a:t>
            </a:r>
            <a:r>
              <a:rPr lang="en-US" altLang="ko-KR" sz="1400" b="1" dirty="0" err="1"/>
              <a:t>fstab</a:t>
            </a:r>
            <a:r>
              <a:rPr lang="en-US" altLang="ko-KR" sz="1400" b="1" dirty="0"/>
              <a:t>” file</a:t>
            </a:r>
            <a:r>
              <a:rPr lang="en-US" altLang="ko-KR" sz="1400" dirty="0"/>
              <a:t>. This will make a change permanent for rebooting.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9A05B0C-BF6E-4579-A74D-4410F5D14B77}"/>
              </a:ext>
            </a:extLst>
          </p:cNvPr>
          <p:cNvGrpSpPr/>
          <p:nvPr/>
        </p:nvGrpSpPr>
        <p:grpSpPr>
          <a:xfrm>
            <a:off x="3676354" y="1861993"/>
            <a:ext cx="4839291" cy="2091810"/>
            <a:chOff x="3676354" y="1861993"/>
            <a:chExt cx="4839291" cy="2091810"/>
          </a:xfrm>
        </p:grpSpPr>
        <p:pic>
          <p:nvPicPr>
            <p:cNvPr id="11" name="그림 10">
              <a:extLst>
                <a:ext uri="{FF2B5EF4-FFF2-40B4-BE49-F238E27FC236}">
                  <a16:creationId xmlns:a16="http://schemas.microsoft.com/office/drawing/2014/main" id="{209AC876-B583-4A53-A6E2-28025EFD7519}"/>
                </a:ext>
              </a:extLst>
            </p:cNvPr>
            <p:cNvPicPr>
              <a:picLocks noChangeAspect="1"/>
            </p:cNvPicPr>
            <p:nvPr/>
          </p:nvPicPr>
          <p:blipFill>
            <a:blip r:embed="rId2"/>
            <a:stretch>
              <a:fillRect/>
            </a:stretch>
          </p:blipFill>
          <p:spPr>
            <a:xfrm>
              <a:off x="3676354" y="2617371"/>
              <a:ext cx="4839291" cy="1336432"/>
            </a:xfrm>
            <a:prstGeom prst="rect">
              <a:avLst/>
            </a:prstGeom>
            <a:ln>
              <a:solidFill>
                <a:schemeClr val="bg1">
                  <a:lumMod val="50000"/>
                </a:schemeClr>
              </a:solidFill>
            </a:ln>
          </p:spPr>
        </p:pic>
        <p:sp>
          <p:nvSpPr>
            <p:cNvPr id="12" name="TextBox 11">
              <a:extLst>
                <a:ext uri="{FF2B5EF4-FFF2-40B4-BE49-F238E27FC236}">
                  <a16:creationId xmlns:a16="http://schemas.microsoft.com/office/drawing/2014/main" id="{D5BEB95E-D71D-4B42-9108-2475A55E43A1}"/>
                </a:ext>
              </a:extLst>
            </p:cNvPr>
            <p:cNvSpPr txBox="1"/>
            <p:nvPr/>
          </p:nvSpPr>
          <p:spPr>
            <a:xfrm>
              <a:off x="4533309" y="1861993"/>
              <a:ext cx="3125382" cy="400110"/>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sudo</a:t>
              </a:r>
              <a:r>
                <a:rPr lang="en-US" altLang="ko-KR" sz="1000" b="1" dirty="0"/>
                <a:t> </a:t>
              </a:r>
              <a:r>
                <a:rPr lang="en-US" altLang="ko-KR" sz="1000" b="1" dirty="0" err="1"/>
                <a:t>swapon</a:t>
              </a:r>
              <a:r>
                <a:rPr lang="en-US" altLang="ko-KR" sz="1000" b="1" dirty="0"/>
                <a:t> -show</a:t>
              </a:r>
            </a:p>
            <a:p>
              <a:r>
                <a:rPr lang="en-US" altLang="ko-KR" sz="1000" b="1" dirty="0"/>
                <a:t>$ </a:t>
              </a:r>
              <a:r>
                <a:rPr lang="en-US" altLang="ko-KR" sz="1000" b="1" dirty="0" err="1"/>
                <a:t>sudo</a:t>
              </a:r>
              <a:r>
                <a:rPr lang="en-US" altLang="ko-KR" sz="1000" b="1" dirty="0"/>
                <a:t> </a:t>
              </a:r>
              <a:r>
                <a:rPr lang="en-US" altLang="ko-KR" sz="1000" b="1" dirty="0" err="1"/>
                <a:t>swapoff</a:t>
              </a:r>
              <a:r>
                <a:rPr lang="en-US" altLang="ko-KR" sz="1000" b="1" dirty="0"/>
                <a:t> -a</a:t>
              </a:r>
              <a:endParaRPr lang="ko-KR" altLang="en-US" sz="1000" b="1" dirty="0"/>
            </a:p>
          </p:txBody>
        </p:sp>
        <p:sp>
          <p:nvSpPr>
            <p:cNvPr id="13" name="화살표: 아래쪽 12">
              <a:extLst>
                <a:ext uri="{FF2B5EF4-FFF2-40B4-BE49-F238E27FC236}">
                  <a16:creationId xmlns:a16="http://schemas.microsoft.com/office/drawing/2014/main" id="{B3C0371D-0C82-421E-84F8-74D1FE983977}"/>
                </a:ext>
              </a:extLst>
            </p:cNvPr>
            <p:cNvSpPr/>
            <p:nvPr/>
          </p:nvSpPr>
          <p:spPr>
            <a:xfrm>
              <a:off x="5887453" y="2286000"/>
              <a:ext cx="417094" cy="30747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477C88A2-A9B8-49C3-B28D-56EBE65CB7A2}"/>
              </a:ext>
            </a:extLst>
          </p:cNvPr>
          <p:cNvGrpSpPr/>
          <p:nvPr/>
        </p:nvGrpSpPr>
        <p:grpSpPr>
          <a:xfrm>
            <a:off x="3454382" y="4580021"/>
            <a:ext cx="5283234" cy="1829009"/>
            <a:chOff x="3411588" y="4436439"/>
            <a:chExt cx="5368825" cy="1972591"/>
          </a:xfrm>
        </p:grpSpPr>
        <p:pic>
          <p:nvPicPr>
            <p:cNvPr id="15" name="그림 14">
              <a:extLst>
                <a:ext uri="{FF2B5EF4-FFF2-40B4-BE49-F238E27FC236}">
                  <a16:creationId xmlns:a16="http://schemas.microsoft.com/office/drawing/2014/main" id="{61932A35-CF90-4F6B-B77A-7D304A688688}"/>
                </a:ext>
              </a:extLst>
            </p:cNvPr>
            <p:cNvPicPr>
              <a:picLocks noChangeAspect="1"/>
            </p:cNvPicPr>
            <p:nvPr/>
          </p:nvPicPr>
          <p:blipFill>
            <a:blip r:embed="rId3"/>
            <a:stretch>
              <a:fillRect/>
            </a:stretch>
          </p:blipFill>
          <p:spPr>
            <a:xfrm>
              <a:off x="3411588" y="4436439"/>
              <a:ext cx="5368825" cy="1972591"/>
            </a:xfrm>
            <a:prstGeom prst="rect">
              <a:avLst/>
            </a:prstGeom>
            <a:ln>
              <a:solidFill>
                <a:schemeClr val="bg1">
                  <a:lumMod val="50000"/>
                </a:schemeClr>
              </a:solidFill>
            </a:ln>
          </p:spPr>
        </p:pic>
        <p:sp>
          <p:nvSpPr>
            <p:cNvPr id="16" name="직사각형 15">
              <a:extLst>
                <a:ext uri="{FF2B5EF4-FFF2-40B4-BE49-F238E27FC236}">
                  <a16:creationId xmlns:a16="http://schemas.microsoft.com/office/drawing/2014/main" id="{791D668D-96CA-4AA4-9128-08832AFE7FB0}"/>
                </a:ext>
              </a:extLst>
            </p:cNvPr>
            <p:cNvSpPr/>
            <p:nvPr/>
          </p:nvSpPr>
          <p:spPr>
            <a:xfrm>
              <a:off x="3473116" y="5887453"/>
              <a:ext cx="4612105" cy="1564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61792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Kubernetes in Docker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KIND(Kubernetes IN Docker) :</a:t>
            </a:r>
          </a:p>
          <a:p>
            <a:pPr lvl="1">
              <a:buFont typeface="Wingdings" panose="05000000000000000000" pitchFamily="2" charset="2"/>
              <a:buChar char="§"/>
            </a:pPr>
            <a:r>
              <a:rPr lang="en-US" altLang="ko-KR" sz="1400" b="1" dirty="0"/>
              <a:t>A different approach to running a Kubernetes cluster has been developed more recently, which uses Docker containers to simulate multiple Kubernetes nodes instead of running everything in a virtual machine</a:t>
            </a:r>
            <a:r>
              <a:rPr lang="en-US" altLang="ko-KR" sz="1400" dirty="0"/>
              <a:t>. The kind project provides a great experience for launching and managing test clusters in Docker. (“</a:t>
            </a:r>
            <a:r>
              <a:rPr lang="en-US" altLang="ko-KR" sz="1400" b="1" dirty="0">
                <a:solidFill>
                  <a:srgbClr val="FF0000"/>
                </a:solidFill>
              </a:rPr>
              <a:t>kind</a:t>
            </a:r>
            <a:r>
              <a:rPr lang="en-US" altLang="ko-KR" sz="1400" dirty="0"/>
              <a:t>“ stands for </a:t>
            </a:r>
            <a:r>
              <a:rPr lang="en-US" altLang="ko-KR" sz="1400" b="1" dirty="0">
                <a:hlinkClick r:id="rId2"/>
              </a:rPr>
              <a:t>Kubernetes IN Docker</a:t>
            </a:r>
            <a:r>
              <a:rPr lang="en-US" altLang="ko-KR" sz="1400" dirty="0"/>
              <a:t>.) kind is still a work in progress (pre 1.0), but is widely used by those building Kubernetes for fast and easy testing.</a:t>
            </a:r>
          </a:p>
          <a:p>
            <a:pPr lvl="1">
              <a:buFont typeface="Wingdings" panose="05000000000000000000" pitchFamily="2" charset="2"/>
              <a:buChar char="§"/>
            </a:pPr>
            <a:r>
              <a:rPr lang="en-US" altLang="ko-KR" sz="1400" b="1" dirty="0"/>
              <a:t>Installation instructions for your platform can be found at </a:t>
            </a:r>
            <a:r>
              <a:rPr lang="en-US" altLang="ko-KR" sz="1400" b="1" dirty="0">
                <a:hlinkClick r:id="rId3"/>
              </a:rPr>
              <a:t>the kind site</a:t>
            </a:r>
            <a:r>
              <a:rPr lang="en-US" altLang="ko-KR" sz="1400" dirty="0"/>
              <a:t>. Once you get it installed, creating a cluster is as easy as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EE58243-D641-48A8-82B6-1702C4E2633D}"/>
              </a:ext>
            </a:extLst>
          </p:cNvPr>
          <p:cNvSpPr/>
          <p:nvPr/>
        </p:nvSpPr>
        <p:spPr>
          <a:xfrm>
            <a:off x="3048000" y="2721114"/>
            <a:ext cx="6096000" cy="707886"/>
          </a:xfrm>
          <a:prstGeom prst="rect">
            <a:avLst/>
          </a:prstGeom>
          <a:ln>
            <a:solidFill>
              <a:schemeClr val="bg1">
                <a:lumMod val="50000"/>
              </a:schemeClr>
            </a:solidFill>
          </a:ln>
        </p:spPr>
        <p:txBody>
          <a:bodyPr>
            <a:spAutoFit/>
          </a:bodyPr>
          <a:lstStyle/>
          <a:p>
            <a:r>
              <a:rPr lang="en-US" altLang="ko-KR" sz="1000" b="1" dirty="0"/>
              <a:t>kind create cluster --wait 5m \</a:t>
            </a:r>
          </a:p>
          <a:p>
            <a:r>
              <a:rPr lang="en-US" altLang="ko-KR" sz="1000" b="1" dirty="0"/>
              <a:t>export KUBECONFIG="$(kind get </a:t>
            </a:r>
            <a:r>
              <a:rPr lang="en-US" altLang="ko-KR" sz="1000" b="1" dirty="0" err="1"/>
              <a:t>kubeconfig</a:t>
            </a:r>
            <a:r>
              <a:rPr lang="en-US" altLang="ko-KR" sz="1000" b="1" dirty="0"/>
              <a:t>-path)"</a:t>
            </a:r>
          </a:p>
          <a:p>
            <a:r>
              <a:rPr lang="en-US" altLang="ko-KR" sz="1000" b="1" dirty="0" err="1"/>
              <a:t>kubectl</a:t>
            </a:r>
            <a:r>
              <a:rPr lang="en-US" altLang="ko-KR" sz="1000" b="1" dirty="0"/>
              <a:t> cluster-info</a:t>
            </a:r>
          </a:p>
          <a:p>
            <a:r>
              <a:rPr lang="en-US" altLang="ko-KR" sz="1000" b="1" dirty="0"/>
              <a:t>kind delete cluster</a:t>
            </a:r>
            <a:endParaRPr lang="ko-KR" altLang="en-US" sz="1000" b="1" dirty="0"/>
          </a:p>
        </p:txBody>
      </p:sp>
      <p:pic>
        <p:nvPicPr>
          <p:cNvPr id="8" name="그림 7">
            <a:extLst>
              <a:ext uri="{FF2B5EF4-FFF2-40B4-BE49-F238E27FC236}">
                <a16:creationId xmlns:a16="http://schemas.microsoft.com/office/drawing/2014/main" id="{D56DCFB0-FA49-495F-93D4-77B48A73BF5F}"/>
              </a:ext>
            </a:extLst>
          </p:cNvPr>
          <p:cNvPicPr>
            <a:picLocks noChangeAspect="1"/>
          </p:cNvPicPr>
          <p:nvPr/>
        </p:nvPicPr>
        <p:blipFill>
          <a:blip r:embed="rId4"/>
          <a:stretch>
            <a:fillRect/>
          </a:stretch>
        </p:blipFill>
        <p:spPr>
          <a:xfrm>
            <a:off x="4219700" y="3867290"/>
            <a:ext cx="3752599" cy="2262989"/>
          </a:xfrm>
          <a:prstGeom prst="rect">
            <a:avLst/>
          </a:prstGeom>
        </p:spPr>
      </p:pic>
    </p:spTree>
    <p:extLst>
      <p:ext uri="{BB962C8B-B14F-4D97-AF65-F5344CB8AC3E}">
        <p14:creationId xmlns:p14="http://schemas.microsoft.com/office/powerpoint/2010/main" val="24376341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The official Kubernetes client is </a:t>
            </a:r>
            <a:r>
              <a:rPr lang="en-US" altLang="ko-KR" sz="1400" b="1" dirty="0" err="1">
                <a:solidFill>
                  <a:srgbClr val="FF0000"/>
                </a:solidFill>
              </a:rPr>
              <a:t>kubectl</a:t>
            </a:r>
            <a:r>
              <a:rPr lang="en-US" altLang="ko-KR" sz="1400" b="1" dirty="0"/>
              <a:t> </a:t>
            </a:r>
            <a:r>
              <a:rPr lang="en-US" altLang="ko-KR" sz="1400" dirty="0"/>
              <a:t>: </a:t>
            </a:r>
            <a:r>
              <a:rPr lang="en-US" altLang="ko-KR" sz="1400" b="1" dirty="0"/>
              <a:t>a command-line tool for interacting with the Kubernetes API</a:t>
            </a:r>
            <a:r>
              <a:rPr lang="en-US" altLang="ko-KR" sz="1400" dirty="0"/>
              <a:t>. </a:t>
            </a:r>
            <a:r>
              <a:rPr lang="en-US" altLang="ko-KR" sz="1400" b="1" dirty="0" err="1"/>
              <a:t>kubectl</a:t>
            </a:r>
            <a:r>
              <a:rPr lang="en-US" altLang="ko-KR" sz="1400" dirty="0"/>
              <a:t> can be used to manage most Kubernetes objects, such as </a:t>
            </a:r>
            <a:r>
              <a:rPr lang="en-US" altLang="ko-KR" sz="1400" b="1" dirty="0"/>
              <a:t>Pods</a:t>
            </a:r>
            <a:r>
              <a:rPr lang="en-US" altLang="ko-KR" sz="1400" dirty="0"/>
              <a:t>, </a:t>
            </a:r>
            <a:r>
              <a:rPr lang="en-US" altLang="ko-KR" sz="1400" b="1" dirty="0" err="1"/>
              <a:t>ReplicaSets</a:t>
            </a:r>
            <a:r>
              <a:rPr lang="en-US" altLang="ko-KR" sz="1400" dirty="0"/>
              <a:t>, and </a:t>
            </a:r>
            <a:r>
              <a:rPr lang="en-US" altLang="ko-KR" sz="1400" b="1" dirty="0"/>
              <a:t>Services</a:t>
            </a:r>
            <a:r>
              <a:rPr lang="en-US" altLang="ko-KR" sz="1400" dirty="0"/>
              <a:t>. </a:t>
            </a:r>
            <a:r>
              <a:rPr lang="en-US" altLang="ko-KR" sz="1400" b="1" dirty="0" err="1"/>
              <a:t>kubectl</a:t>
            </a:r>
            <a:r>
              <a:rPr lang="en-US" altLang="ko-KR" sz="1400" dirty="0"/>
              <a:t> can also be used to </a:t>
            </a:r>
            <a:r>
              <a:rPr lang="en-US" altLang="ko-KR" sz="1400" b="1" dirty="0"/>
              <a:t>explore and verify the overall health of the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B2B7CD2-A1C5-42A4-A737-D2F46B09800A}"/>
              </a:ext>
            </a:extLst>
          </p:cNvPr>
          <p:cNvPicPr>
            <a:picLocks noChangeAspect="1"/>
          </p:cNvPicPr>
          <p:nvPr/>
        </p:nvPicPr>
        <p:blipFill>
          <a:blip r:embed="rId2"/>
          <a:stretch>
            <a:fillRect/>
          </a:stretch>
        </p:blipFill>
        <p:spPr>
          <a:xfrm>
            <a:off x="3291038" y="2138828"/>
            <a:ext cx="5609924" cy="3756646"/>
          </a:xfrm>
          <a:prstGeom prst="rect">
            <a:avLst/>
          </a:prstGeom>
        </p:spPr>
      </p:pic>
    </p:spTree>
    <p:extLst>
      <p:ext uri="{BB962C8B-B14F-4D97-AF65-F5344CB8AC3E}">
        <p14:creationId xmlns:p14="http://schemas.microsoft.com/office/powerpoint/2010/main" val="40826160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Cluster Status :</a:t>
            </a:r>
          </a:p>
          <a:p>
            <a:pPr lvl="1">
              <a:buFont typeface="Wingdings" panose="05000000000000000000" pitchFamily="2" charset="2"/>
              <a:buChar char="§"/>
            </a:pPr>
            <a:r>
              <a:rPr lang="en-US" altLang="ko-KR" sz="1400" dirty="0"/>
              <a:t>The first thing you can do is check the version of the cluster that you are running 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5DCA844-9004-4BEB-808A-3AA786F99D56}"/>
              </a:ext>
            </a:extLst>
          </p:cNvPr>
          <p:cNvGrpSpPr/>
          <p:nvPr/>
        </p:nvGrpSpPr>
        <p:grpSpPr>
          <a:xfrm>
            <a:off x="1950116" y="1471681"/>
            <a:ext cx="8291763" cy="4937349"/>
            <a:chOff x="1950116" y="1471681"/>
            <a:chExt cx="8291763" cy="4937349"/>
          </a:xfrm>
        </p:grpSpPr>
        <p:grpSp>
          <p:nvGrpSpPr>
            <p:cNvPr id="11" name="그룹 10">
              <a:extLst>
                <a:ext uri="{FF2B5EF4-FFF2-40B4-BE49-F238E27FC236}">
                  <a16:creationId xmlns:a16="http://schemas.microsoft.com/office/drawing/2014/main" id="{8E9E69B7-E29A-4A5E-AC47-8529E9791F0D}"/>
                </a:ext>
              </a:extLst>
            </p:cNvPr>
            <p:cNvGrpSpPr/>
            <p:nvPr/>
          </p:nvGrpSpPr>
          <p:grpSpPr>
            <a:xfrm>
              <a:off x="1950116" y="1471681"/>
              <a:ext cx="8291763" cy="4937349"/>
              <a:chOff x="1950116" y="1471681"/>
              <a:chExt cx="8291763" cy="4937349"/>
            </a:xfrm>
          </p:grpSpPr>
          <p:grpSp>
            <p:nvGrpSpPr>
              <p:cNvPr id="9" name="그룹 8">
                <a:extLst>
                  <a:ext uri="{FF2B5EF4-FFF2-40B4-BE49-F238E27FC236}">
                    <a16:creationId xmlns:a16="http://schemas.microsoft.com/office/drawing/2014/main" id="{BD9C3C09-B7D9-46C9-B5DC-4C7B177D8BFE}"/>
                  </a:ext>
                </a:extLst>
              </p:cNvPr>
              <p:cNvGrpSpPr/>
              <p:nvPr/>
            </p:nvGrpSpPr>
            <p:grpSpPr>
              <a:xfrm>
                <a:off x="5536391" y="1471681"/>
                <a:ext cx="1119217" cy="550833"/>
                <a:chOff x="5536391" y="1471681"/>
                <a:chExt cx="1119217" cy="550833"/>
              </a:xfrm>
            </p:grpSpPr>
            <p:sp>
              <p:nvSpPr>
                <p:cNvPr id="4" name="직사각형 3">
                  <a:extLst>
                    <a:ext uri="{FF2B5EF4-FFF2-40B4-BE49-F238E27FC236}">
                      <a16:creationId xmlns:a16="http://schemas.microsoft.com/office/drawing/2014/main" id="{EEEA5D72-DA9D-47CA-BA4E-BA55B935A59E}"/>
                    </a:ext>
                  </a:extLst>
                </p:cNvPr>
                <p:cNvSpPr/>
                <p:nvPr/>
              </p:nvSpPr>
              <p:spPr>
                <a:xfrm>
                  <a:off x="5536391" y="1471681"/>
                  <a:ext cx="1119217" cy="246221"/>
                </a:xfrm>
                <a:prstGeom prst="rect">
                  <a:avLst/>
                </a:prstGeom>
                <a:ln>
                  <a:solidFill>
                    <a:schemeClr val="bg1">
                      <a:lumMod val="50000"/>
                    </a:schemeClr>
                  </a:solidFill>
                </a:ln>
              </p:spPr>
              <p:txBody>
                <a:bodyPr wrap="none">
                  <a:spAutoFit/>
                </a:bodyPr>
                <a:lstStyle/>
                <a:p>
                  <a:pPr algn="ctr"/>
                  <a:r>
                    <a:rPr lang="en-US" altLang="ko-KR" sz="1000" b="1" dirty="0" err="1"/>
                    <a:t>kubectl</a:t>
                  </a:r>
                  <a:r>
                    <a:rPr lang="en-US" altLang="ko-KR" sz="1000" b="1" dirty="0"/>
                    <a:t> version</a:t>
                  </a:r>
                  <a:endParaRPr lang="ko-KR" altLang="en-US" sz="1000" b="1" dirty="0"/>
                </a:p>
              </p:txBody>
            </p:sp>
            <p:sp>
              <p:nvSpPr>
                <p:cNvPr id="8" name="화살표: 아래쪽 7">
                  <a:extLst>
                    <a:ext uri="{FF2B5EF4-FFF2-40B4-BE49-F238E27FC236}">
                      <a16:creationId xmlns:a16="http://schemas.microsoft.com/office/drawing/2014/main" id="{C04C8181-FD15-4BBC-8229-E4F3F362E31C}"/>
                    </a:ext>
                  </a:extLst>
                </p:cNvPr>
                <p:cNvSpPr/>
                <p:nvPr/>
              </p:nvSpPr>
              <p:spPr>
                <a:xfrm>
                  <a:off x="5879430" y="1725735"/>
                  <a:ext cx="433137" cy="296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CE2EE418-E6C2-4F74-993A-C6122F9C7060}"/>
                  </a:ext>
                </a:extLst>
              </p:cNvPr>
              <p:cNvPicPr>
                <a:picLocks noChangeAspect="1"/>
              </p:cNvPicPr>
              <p:nvPr/>
            </p:nvPicPr>
            <p:blipFill>
              <a:blip r:embed="rId2"/>
              <a:stretch>
                <a:fillRect/>
              </a:stretch>
            </p:blipFill>
            <p:spPr>
              <a:xfrm>
                <a:off x="1950116" y="2039271"/>
                <a:ext cx="8291763" cy="4369759"/>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E22E9756-4FF7-4AF7-A5CA-ABAA205A2B85}"/>
                </a:ext>
              </a:extLst>
            </p:cNvPr>
            <p:cNvSpPr/>
            <p:nvPr/>
          </p:nvSpPr>
          <p:spPr>
            <a:xfrm>
              <a:off x="3344779" y="2494547"/>
              <a:ext cx="1082842" cy="1764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1C3C66B4-BA20-4B43-B6FF-86D782C7F067}"/>
                </a:ext>
              </a:extLst>
            </p:cNvPr>
            <p:cNvSpPr/>
            <p:nvPr/>
          </p:nvSpPr>
          <p:spPr>
            <a:xfrm>
              <a:off x="3376863" y="5036780"/>
              <a:ext cx="1082842" cy="1764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332266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Cluster Status :</a:t>
            </a:r>
          </a:p>
          <a:p>
            <a:pPr lvl="1">
              <a:buFont typeface="Wingdings" panose="05000000000000000000" pitchFamily="2" charset="2"/>
              <a:buChar char="§"/>
            </a:pPr>
            <a:r>
              <a:rPr lang="en-US" altLang="ko-KR" sz="1400" dirty="0"/>
              <a:t>The “</a:t>
            </a:r>
            <a:r>
              <a:rPr lang="en-US" altLang="ko-KR" sz="1400" b="1" dirty="0" err="1">
                <a:solidFill>
                  <a:srgbClr val="FF0000"/>
                </a:solidFill>
              </a:rPr>
              <a:t>kubectl</a:t>
            </a:r>
            <a:r>
              <a:rPr lang="en-US" altLang="ko-KR" sz="1400" b="1" dirty="0"/>
              <a:t> version</a:t>
            </a:r>
            <a:r>
              <a:rPr lang="en-US" altLang="ko-KR" sz="1400" dirty="0"/>
              <a:t>” command will display two different versions : </a:t>
            </a:r>
            <a:r>
              <a:rPr lang="en-US" altLang="ko-KR" sz="1400" b="1" dirty="0"/>
              <a:t>the version of the local </a:t>
            </a:r>
            <a:r>
              <a:rPr lang="en-US" altLang="ko-KR" sz="1400" b="1" dirty="0" err="1"/>
              <a:t>kubectl</a:t>
            </a:r>
            <a:r>
              <a:rPr lang="en-US" altLang="ko-KR" sz="1400" b="1" dirty="0"/>
              <a:t> tool</a:t>
            </a:r>
            <a:r>
              <a:rPr lang="en-US" altLang="ko-KR" sz="1400" dirty="0"/>
              <a:t>, as well as </a:t>
            </a:r>
            <a:r>
              <a:rPr lang="en-US" altLang="ko-KR" sz="1400" b="1" dirty="0"/>
              <a:t>the version of the Kubernetes API server</a:t>
            </a:r>
            <a:r>
              <a:rPr lang="en-US" altLang="ko-KR" sz="1400" dirty="0"/>
              <a:t>.</a:t>
            </a:r>
          </a:p>
          <a:p>
            <a:pPr lvl="1">
              <a:buFont typeface="Wingdings" panose="05000000000000000000" pitchFamily="2" charset="2"/>
              <a:buChar char="§"/>
            </a:pPr>
            <a:r>
              <a:rPr lang="en-US" altLang="ko-KR" sz="1400" b="1" dirty="0"/>
              <a:t>NOTE : Don’t worry if these versions are different</a:t>
            </a:r>
            <a:r>
              <a:rPr lang="en-US" altLang="ko-KR" sz="1400" dirty="0"/>
              <a:t>. </a:t>
            </a:r>
            <a:r>
              <a:rPr lang="en-US" altLang="ko-KR" sz="1400" b="1" dirty="0"/>
              <a:t>The Kubernetes tools are backward- and forward-compatible with different versions of the Kubernetes API</a:t>
            </a:r>
            <a:r>
              <a:rPr lang="en-US" altLang="ko-KR" sz="1400" dirty="0"/>
              <a:t>, so long as you stay within two minor versions for both the tools and the cluster and don’t try to use newer features on an older cluster. </a:t>
            </a:r>
            <a:r>
              <a:rPr lang="en-US" altLang="ko-KR" sz="1400" b="1" dirty="0"/>
              <a:t>Kubernetes follows the semantic versioning specification, where the minor version is the middle number </a:t>
            </a:r>
            <a:r>
              <a:rPr lang="en-US" altLang="ko-KR" sz="1400" dirty="0"/>
              <a:t>(e.g., the </a:t>
            </a:r>
            <a:r>
              <a:rPr lang="en-US" altLang="ko-KR" sz="1400" b="1" dirty="0"/>
              <a:t>5</a:t>
            </a:r>
            <a:r>
              <a:rPr lang="en-US" altLang="ko-KR" sz="1400" dirty="0"/>
              <a:t> in </a:t>
            </a:r>
            <a:r>
              <a:rPr lang="en-US" altLang="ko-KR" sz="1400" b="1" dirty="0"/>
              <a:t>1.5.2</a:t>
            </a:r>
            <a:r>
              <a:rPr lang="en-US" altLang="ko-KR" sz="1400" dirty="0"/>
              <a:t>).</a:t>
            </a:r>
          </a:p>
          <a:p>
            <a:pPr lvl="1">
              <a:buFont typeface="Wingdings" panose="05000000000000000000" pitchFamily="2" charset="2"/>
              <a:buChar char="§"/>
            </a:pPr>
            <a:r>
              <a:rPr lang="en-US" altLang="ko-KR" sz="1400" dirty="0"/>
              <a:t>If you can see the correct result of the “</a:t>
            </a:r>
            <a:r>
              <a:rPr lang="en-US" altLang="ko-KR" sz="1400" b="1" dirty="0" err="1"/>
              <a:t>kubectl</a:t>
            </a:r>
            <a:r>
              <a:rPr lang="en-US" altLang="ko-KR" sz="1400" b="1" dirty="0"/>
              <a:t> version</a:t>
            </a:r>
            <a:r>
              <a:rPr lang="en-US" altLang="ko-KR" sz="1400" dirty="0"/>
              <a:t>” command, </a:t>
            </a:r>
            <a:r>
              <a:rPr lang="en-US" altLang="ko-KR" sz="1400" b="1" dirty="0"/>
              <a:t>you have established that </a:t>
            </a:r>
            <a:r>
              <a:rPr lang="en-US" altLang="ko-KR" sz="1400" b="1" dirty="0">
                <a:solidFill>
                  <a:srgbClr val="FF0000"/>
                </a:solidFill>
              </a:rPr>
              <a:t>you can communicate with your Kubernetes cluster</a:t>
            </a:r>
            <a:r>
              <a:rPr lang="en-US" altLang="ko-KR" sz="1400" dirty="0"/>
              <a:t>.</a:t>
            </a:r>
          </a:p>
          <a:p>
            <a:pPr lvl="1">
              <a:buFont typeface="Wingdings" panose="05000000000000000000" pitchFamily="2" charset="2"/>
              <a:buChar char="§"/>
            </a:pPr>
            <a:r>
              <a:rPr lang="en-US" altLang="ko-KR" sz="1400" dirty="0"/>
              <a:t>First, you can get </a:t>
            </a:r>
            <a:r>
              <a:rPr lang="en-US" altLang="ko-KR" sz="1400" b="1" dirty="0"/>
              <a:t>a simple diagnostic for the cluster</a:t>
            </a:r>
            <a:r>
              <a:rPr lang="en-US" altLang="ko-KR" sz="1400" dirty="0"/>
              <a:t>. This is a good way to </a:t>
            </a:r>
            <a:r>
              <a:rPr lang="en-US" altLang="ko-KR" sz="1400" b="1" dirty="0"/>
              <a:t>verify that your cluster is generally healthy</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DC944BC-5D73-4B76-BB0E-E0B42D88C867}"/>
              </a:ext>
            </a:extLst>
          </p:cNvPr>
          <p:cNvGrpSpPr/>
          <p:nvPr/>
        </p:nvGrpSpPr>
        <p:grpSpPr>
          <a:xfrm>
            <a:off x="1657350" y="3587796"/>
            <a:ext cx="8877299" cy="2289926"/>
            <a:chOff x="1657350" y="3305889"/>
            <a:chExt cx="8877299" cy="2289926"/>
          </a:xfrm>
        </p:grpSpPr>
        <p:grpSp>
          <p:nvGrpSpPr>
            <p:cNvPr id="9" name="그룹 8">
              <a:extLst>
                <a:ext uri="{FF2B5EF4-FFF2-40B4-BE49-F238E27FC236}">
                  <a16:creationId xmlns:a16="http://schemas.microsoft.com/office/drawing/2014/main" id="{78184E56-B9C6-479F-9355-B61D433F0645}"/>
                </a:ext>
              </a:extLst>
            </p:cNvPr>
            <p:cNvGrpSpPr/>
            <p:nvPr/>
          </p:nvGrpSpPr>
          <p:grpSpPr>
            <a:xfrm>
              <a:off x="5037857" y="3305889"/>
              <a:ext cx="2116285" cy="538801"/>
              <a:chOff x="5037857" y="3305889"/>
              <a:chExt cx="2116285" cy="538801"/>
            </a:xfrm>
          </p:grpSpPr>
          <p:sp>
            <p:nvSpPr>
              <p:cNvPr id="4" name="직사각형 3">
                <a:extLst>
                  <a:ext uri="{FF2B5EF4-FFF2-40B4-BE49-F238E27FC236}">
                    <a16:creationId xmlns:a16="http://schemas.microsoft.com/office/drawing/2014/main" id="{03D4AC29-202C-4BB3-8A4C-4A5E8EBF62BC}"/>
                  </a:ext>
                </a:extLst>
              </p:cNvPr>
              <p:cNvSpPr/>
              <p:nvPr/>
            </p:nvSpPr>
            <p:spPr>
              <a:xfrm>
                <a:off x="5037857" y="3305889"/>
                <a:ext cx="2116285" cy="246221"/>
              </a:xfrm>
              <a:prstGeom prst="rect">
                <a:avLst/>
              </a:prstGeom>
              <a:ln>
                <a:solidFill>
                  <a:schemeClr val="bg1">
                    <a:lumMod val="50000"/>
                  </a:schemeClr>
                </a:solidFill>
              </a:ln>
            </p:spPr>
            <p:txBody>
              <a:bodyPr wrap="none">
                <a:spAutoFit/>
              </a:bodyPr>
              <a:lstStyle/>
              <a:p>
                <a:pPr algn="ctr"/>
                <a:r>
                  <a:rPr lang="en-US" altLang="ko-KR" sz="1000" b="1" dirty="0" err="1"/>
                  <a:t>kubectl</a:t>
                </a:r>
                <a:r>
                  <a:rPr lang="en-US" altLang="ko-KR" sz="1000" b="1" dirty="0"/>
                  <a:t> get </a:t>
                </a:r>
                <a:r>
                  <a:rPr lang="en-US" altLang="ko-KR" sz="1000" b="1" dirty="0" err="1"/>
                  <a:t>componentstatuses</a:t>
                </a:r>
                <a:endParaRPr lang="ko-KR" altLang="en-US" sz="1000" b="1" dirty="0"/>
              </a:p>
            </p:txBody>
          </p:sp>
          <p:sp>
            <p:nvSpPr>
              <p:cNvPr id="8" name="화살표: 아래쪽 7">
                <a:extLst>
                  <a:ext uri="{FF2B5EF4-FFF2-40B4-BE49-F238E27FC236}">
                    <a16:creationId xmlns:a16="http://schemas.microsoft.com/office/drawing/2014/main" id="{1E5E10D6-8293-4935-B856-40898BEE56A7}"/>
                  </a:ext>
                </a:extLst>
              </p:cNvPr>
              <p:cNvSpPr/>
              <p:nvPr/>
            </p:nvSpPr>
            <p:spPr>
              <a:xfrm>
                <a:off x="5899483" y="3571974"/>
                <a:ext cx="393032" cy="27271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9449FD8C-B918-4589-A557-2EC7E25E1BC7}"/>
                </a:ext>
              </a:extLst>
            </p:cNvPr>
            <p:cNvPicPr>
              <a:picLocks noChangeAspect="1"/>
            </p:cNvPicPr>
            <p:nvPr/>
          </p:nvPicPr>
          <p:blipFill>
            <a:blip r:embed="rId2"/>
            <a:stretch>
              <a:fillRect/>
            </a:stretch>
          </p:blipFill>
          <p:spPr>
            <a:xfrm>
              <a:off x="1657350" y="3891374"/>
              <a:ext cx="8877299" cy="1704441"/>
            </a:xfrm>
            <a:prstGeom prst="rect">
              <a:avLst/>
            </a:prstGeom>
            <a:ln>
              <a:solidFill>
                <a:schemeClr val="bg1">
                  <a:lumMod val="50000"/>
                </a:schemeClr>
              </a:solidFill>
            </a:ln>
          </p:spPr>
        </p:pic>
      </p:grpSp>
    </p:spTree>
    <p:extLst>
      <p:ext uri="{BB962C8B-B14F-4D97-AF65-F5344CB8AC3E}">
        <p14:creationId xmlns:p14="http://schemas.microsoft.com/office/powerpoint/2010/main" val="24027055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Cluster Status :</a:t>
            </a:r>
          </a:p>
          <a:p>
            <a:pPr lvl="1">
              <a:buFont typeface="Wingdings" panose="05000000000000000000" pitchFamily="2" charset="2"/>
              <a:buChar char="§"/>
            </a:pPr>
            <a:r>
              <a:rPr lang="en-US" altLang="ko-KR" sz="1400" b="1" dirty="0"/>
              <a:t>You can see the components that make up the Kubernetes cluster</a:t>
            </a:r>
            <a:r>
              <a:rPr lang="en-US" altLang="ko-KR" sz="1400" dirty="0"/>
              <a:t>. </a:t>
            </a:r>
            <a:r>
              <a:rPr lang="en-US" altLang="ko-KR" sz="1400" b="1" dirty="0"/>
              <a:t>The </a:t>
            </a:r>
            <a:r>
              <a:rPr lang="en-US" altLang="ko-KR" sz="1400" b="1" dirty="0">
                <a:solidFill>
                  <a:srgbClr val="FF0000"/>
                </a:solidFill>
              </a:rPr>
              <a:t>controller-manager</a:t>
            </a:r>
            <a:r>
              <a:rPr lang="en-US" altLang="ko-KR" sz="1400" b="1" dirty="0"/>
              <a:t> is responsible for running various controllers that </a:t>
            </a:r>
            <a:r>
              <a:rPr lang="en-US" altLang="ko-KR" sz="1400" b="1" dirty="0">
                <a:solidFill>
                  <a:srgbClr val="FF0000"/>
                </a:solidFill>
              </a:rPr>
              <a:t>regulate behavior</a:t>
            </a:r>
            <a:r>
              <a:rPr lang="en-US" altLang="ko-KR" sz="1400" b="1" dirty="0"/>
              <a:t> in the cluster</a:t>
            </a:r>
            <a:r>
              <a:rPr lang="en-US" altLang="ko-KR" sz="1400" dirty="0"/>
              <a:t>; for example, ensuring that all of the replicas of a service are </a:t>
            </a:r>
            <a:r>
              <a:rPr lang="en-US" altLang="ko-KR" sz="1400" b="1" dirty="0"/>
              <a:t>available</a:t>
            </a:r>
            <a:r>
              <a:rPr lang="en-US" altLang="ko-KR" sz="1400" dirty="0"/>
              <a:t> and </a:t>
            </a:r>
            <a:r>
              <a:rPr lang="en-US" altLang="ko-KR" sz="1400" b="1" dirty="0"/>
              <a:t>healthy</a:t>
            </a:r>
            <a:r>
              <a:rPr lang="en-US" altLang="ko-KR" sz="1400" dirty="0"/>
              <a:t>. </a:t>
            </a:r>
            <a:r>
              <a:rPr lang="en-US" altLang="ko-KR" sz="1400" b="1" dirty="0"/>
              <a:t>The </a:t>
            </a:r>
            <a:r>
              <a:rPr lang="en-US" altLang="ko-KR" sz="1400" b="1" dirty="0">
                <a:solidFill>
                  <a:srgbClr val="FF0000"/>
                </a:solidFill>
              </a:rPr>
              <a:t>scheduler</a:t>
            </a:r>
            <a:r>
              <a:rPr lang="en-US" altLang="ko-KR" sz="1400" b="1" dirty="0"/>
              <a:t> is responsible for placing different Pods onto different nodes in the cluster</a:t>
            </a:r>
            <a:r>
              <a:rPr lang="en-US" altLang="ko-KR" sz="1400" dirty="0"/>
              <a:t>. Finally, </a:t>
            </a:r>
            <a:r>
              <a:rPr lang="en-US" altLang="ko-KR" sz="1400" b="1" dirty="0"/>
              <a:t>the </a:t>
            </a:r>
            <a:r>
              <a:rPr lang="en-US" altLang="ko-KR" sz="1400" b="1" dirty="0" err="1">
                <a:solidFill>
                  <a:srgbClr val="FF0000"/>
                </a:solidFill>
              </a:rPr>
              <a:t>etcd</a:t>
            </a:r>
            <a:r>
              <a:rPr lang="en-US" altLang="ko-KR" sz="1400" b="1" dirty="0"/>
              <a:t> server is the storage for the cluster </a:t>
            </a:r>
            <a:r>
              <a:rPr lang="en-US" altLang="ko-KR" sz="1400" dirty="0"/>
              <a:t>where all of the API objects are stored.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80C5AB8-235D-4E02-9710-A3717DDF5FBC}"/>
              </a:ext>
            </a:extLst>
          </p:cNvPr>
          <p:cNvPicPr>
            <a:picLocks noChangeAspect="1"/>
          </p:cNvPicPr>
          <p:nvPr/>
        </p:nvPicPr>
        <p:blipFill>
          <a:blip r:embed="rId2"/>
          <a:stretch>
            <a:fillRect/>
          </a:stretch>
        </p:blipFill>
        <p:spPr>
          <a:xfrm>
            <a:off x="3761567" y="2153988"/>
            <a:ext cx="4668866" cy="4255042"/>
          </a:xfrm>
          <a:prstGeom prst="rect">
            <a:avLst/>
          </a:prstGeom>
          <a:ln>
            <a:solidFill>
              <a:schemeClr val="bg1">
                <a:lumMod val="50000"/>
              </a:schemeClr>
            </a:solidFill>
          </a:ln>
        </p:spPr>
      </p:pic>
    </p:spTree>
    <p:extLst>
      <p:ext uri="{BB962C8B-B14F-4D97-AF65-F5344CB8AC3E}">
        <p14:creationId xmlns:p14="http://schemas.microsoft.com/office/powerpoint/2010/main" val="3346774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You can list out all of the nodes in your cluster with “</a:t>
            </a:r>
            <a:r>
              <a:rPr lang="en-US" altLang="ko-KR" sz="1400" b="1" dirty="0" err="1"/>
              <a:t>kubectl</a:t>
            </a:r>
            <a:r>
              <a:rPr lang="en-US" altLang="ko-KR" sz="1400" b="1" dirty="0"/>
              <a:t> get nodes</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see that there is one node cluster that’s been up for 18 hours. </a:t>
            </a:r>
            <a:r>
              <a:rPr lang="en-US" altLang="ko-KR" sz="1400" b="1" dirty="0"/>
              <a:t>In Kubernetes, nodes are separated into </a:t>
            </a:r>
            <a:r>
              <a:rPr lang="en-US" altLang="ko-KR" sz="1400" b="1" dirty="0">
                <a:solidFill>
                  <a:srgbClr val="FF0000"/>
                </a:solidFill>
              </a:rPr>
              <a:t>master nodes </a:t>
            </a:r>
            <a:r>
              <a:rPr lang="en-US" altLang="ko-KR" sz="1400" b="1" dirty="0"/>
              <a:t>that contain containers like the API server, scheduler, etc., which manage the cluster, and </a:t>
            </a:r>
            <a:r>
              <a:rPr lang="en-US" altLang="ko-KR" sz="1400" b="1" dirty="0">
                <a:solidFill>
                  <a:srgbClr val="FF0000"/>
                </a:solidFill>
              </a:rPr>
              <a:t>worker nodes </a:t>
            </a:r>
            <a:r>
              <a:rPr lang="en-US" altLang="ko-KR" sz="1400" b="1" dirty="0"/>
              <a:t>where your containers will run</a:t>
            </a:r>
            <a:r>
              <a:rPr lang="en-US" altLang="ko-KR" sz="1400" dirty="0"/>
              <a:t>. </a:t>
            </a:r>
          </a:p>
          <a:p>
            <a:pPr lvl="1">
              <a:buFont typeface="Wingdings" panose="05000000000000000000" pitchFamily="2" charset="2"/>
              <a:buChar char="§"/>
            </a:pPr>
            <a:r>
              <a:rPr lang="en-US" altLang="ko-KR" sz="1400" b="1" dirty="0"/>
              <a:t>Kubernetes won’t generally schedule work onto master nodes to ensure that user workloads don’t harm the overall operation of the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2FDF722-CAD4-49FD-83AF-25F94BB5CED3}"/>
              </a:ext>
            </a:extLst>
          </p:cNvPr>
          <p:cNvGrpSpPr/>
          <p:nvPr/>
        </p:nvGrpSpPr>
        <p:grpSpPr>
          <a:xfrm>
            <a:off x="1333499" y="1443790"/>
            <a:ext cx="9525000" cy="2322033"/>
            <a:chOff x="1333499" y="1443790"/>
            <a:chExt cx="9525000" cy="2322033"/>
          </a:xfrm>
        </p:grpSpPr>
        <p:sp>
          <p:nvSpPr>
            <p:cNvPr id="4" name="TextBox 3">
              <a:extLst>
                <a:ext uri="{FF2B5EF4-FFF2-40B4-BE49-F238E27FC236}">
                  <a16:creationId xmlns:a16="http://schemas.microsoft.com/office/drawing/2014/main" id="{E1A38183-DEE5-403C-BBDA-7ADD6F1C8204}"/>
                </a:ext>
              </a:extLst>
            </p:cNvPr>
            <p:cNvSpPr txBox="1"/>
            <p:nvPr/>
          </p:nvSpPr>
          <p:spPr>
            <a:xfrm>
              <a:off x="5450630" y="1443790"/>
              <a:ext cx="1290739" cy="246221"/>
            </a:xfrm>
            <a:prstGeom prst="rect">
              <a:avLst/>
            </a:prstGeom>
            <a:noFill/>
            <a:ln>
              <a:solidFill>
                <a:schemeClr val="bg1">
                  <a:lumMod val="50000"/>
                </a:schemeClr>
              </a:solidFill>
            </a:ln>
          </p:spPr>
          <p:txBody>
            <a:bodyPr wrap="none" rtlCol="0">
              <a:spAutoFit/>
            </a:bodyPr>
            <a:lstStyle/>
            <a:p>
              <a:pPr algn="ctr"/>
              <a:r>
                <a:rPr lang="en-US" altLang="ko-KR" sz="1000" b="1" dirty="0" err="1"/>
                <a:t>kubectl</a:t>
              </a:r>
              <a:r>
                <a:rPr lang="en-US" altLang="ko-KR" sz="1000" b="1" dirty="0"/>
                <a:t> get nodes</a:t>
              </a:r>
              <a:endParaRPr lang="ko-KR" altLang="en-US" sz="1000" b="1" dirty="0"/>
            </a:p>
          </p:txBody>
        </p:sp>
        <p:pic>
          <p:nvPicPr>
            <p:cNvPr id="8" name="그림 7">
              <a:extLst>
                <a:ext uri="{FF2B5EF4-FFF2-40B4-BE49-F238E27FC236}">
                  <a16:creationId xmlns:a16="http://schemas.microsoft.com/office/drawing/2014/main" id="{0583945A-60D2-4FD1-B232-9DDD9B73023F}"/>
                </a:ext>
              </a:extLst>
            </p:cNvPr>
            <p:cNvPicPr>
              <a:picLocks noChangeAspect="1"/>
            </p:cNvPicPr>
            <p:nvPr/>
          </p:nvPicPr>
          <p:blipFill>
            <a:blip r:embed="rId2"/>
            <a:stretch>
              <a:fillRect/>
            </a:stretch>
          </p:blipFill>
          <p:spPr>
            <a:xfrm>
              <a:off x="1333499" y="1956073"/>
              <a:ext cx="9525000"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FA63E1B-4155-4B49-946E-2290AF51A9C8}"/>
                </a:ext>
              </a:extLst>
            </p:cNvPr>
            <p:cNvSpPr/>
            <p:nvPr/>
          </p:nvSpPr>
          <p:spPr>
            <a:xfrm>
              <a:off x="5879431" y="1709852"/>
              <a:ext cx="43313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45DE9866-D474-4F48-A3DF-755A348AEA8D}"/>
              </a:ext>
            </a:extLst>
          </p:cNvPr>
          <p:cNvPicPr>
            <a:picLocks noChangeAspect="1"/>
          </p:cNvPicPr>
          <p:nvPr/>
        </p:nvPicPr>
        <p:blipFill>
          <a:blip r:embed="rId3"/>
          <a:stretch>
            <a:fillRect/>
          </a:stretch>
        </p:blipFill>
        <p:spPr>
          <a:xfrm>
            <a:off x="4349385" y="5148148"/>
            <a:ext cx="3493227" cy="1164410"/>
          </a:xfrm>
          <a:prstGeom prst="rect">
            <a:avLst/>
          </a:prstGeom>
          <a:ln>
            <a:solidFill>
              <a:schemeClr val="bg1">
                <a:lumMod val="50000"/>
              </a:schemeClr>
            </a:solidFill>
          </a:ln>
        </p:spPr>
      </p:pic>
    </p:spTree>
    <p:extLst>
      <p:ext uri="{BB962C8B-B14F-4D97-AF65-F5344CB8AC3E}">
        <p14:creationId xmlns:p14="http://schemas.microsoft.com/office/powerpoint/2010/main" val="38193513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You can use the “</a:t>
            </a:r>
            <a:r>
              <a:rPr lang="en-US" altLang="ko-KR" sz="1400" b="1" dirty="0" err="1"/>
              <a:t>kubectl</a:t>
            </a:r>
            <a:r>
              <a:rPr lang="en-US" altLang="ko-KR" sz="1400" b="1" dirty="0"/>
              <a:t> describe nodes</a:t>
            </a:r>
            <a:r>
              <a:rPr lang="en-US" altLang="ko-KR" sz="1400" dirty="0"/>
              <a:t>” command to </a:t>
            </a:r>
            <a:r>
              <a:rPr lang="en-US" altLang="ko-KR" sz="1400" b="1" dirty="0"/>
              <a:t>get more information about a specific node </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30695F46-4042-4D98-89C9-30E681ED12E5}"/>
              </a:ext>
            </a:extLst>
          </p:cNvPr>
          <p:cNvGrpSpPr/>
          <p:nvPr/>
        </p:nvGrpSpPr>
        <p:grpSpPr>
          <a:xfrm>
            <a:off x="1334478" y="1450520"/>
            <a:ext cx="9523044" cy="4958510"/>
            <a:chOff x="1334478" y="1450520"/>
            <a:chExt cx="9523044" cy="4958510"/>
          </a:xfrm>
        </p:grpSpPr>
        <p:grpSp>
          <p:nvGrpSpPr>
            <p:cNvPr id="15" name="그룹 14">
              <a:extLst>
                <a:ext uri="{FF2B5EF4-FFF2-40B4-BE49-F238E27FC236}">
                  <a16:creationId xmlns:a16="http://schemas.microsoft.com/office/drawing/2014/main" id="{5654B07E-E644-4D2F-8430-B0BC6BD165A6}"/>
                </a:ext>
              </a:extLst>
            </p:cNvPr>
            <p:cNvGrpSpPr/>
            <p:nvPr/>
          </p:nvGrpSpPr>
          <p:grpSpPr>
            <a:xfrm>
              <a:off x="1334478" y="1450520"/>
              <a:ext cx="9523044" cy="4958510"/>
              <a:chOff x="1334478" y="1463660"/>
              <a:chExt cx="9523044" cy="4958510"/>
            </a:xfrm>
          </p:grpSpPr>
          <p:grpSp>
            <p:nvGrpSpPr>
              <p:cNvPr id="9" name="그룹 8">
                <a:extLst>
                  <a:ext uri="{FF2B5EF4-FFF2-40B4-BE49-F238E27FC236}">
                    <a16:creationId xmlns:a16="http://schemas.microsoft.com/office/drawing/2014/main" id="{11AE5253-469B-409F-8281-B3669384046A}"/>
                  </a:ext>
                </a:extLst>
              </p:cNvPr>
              <p:cNvGrpSpPr/>
              <p:nvPr/>
            </p:nvGrpSpPr>
            <p:grpSpPr>
              <a:xfrm>
                <a:off x="4990566" y="1463660"/>
                <a:ext cx="2210863" cy="526958"/>
                <a:chOff x="4990566" y="1463660"/>
                <a:chExt cx="2210863" cy="526958"/>
              </a:xfrm>
            </p:grpSpPr>
            <p:sp>
              <p:nvSpPr>
                <p:cNvPr id="4" name="직사각형 3">
                  <a:extLst>
                    <a:ext uri="{FF2B5EF4-FFF2-40B4-BE49-F238E27FC236}">
                      <a16:creationId xmlns:a16="http://schemas.microsoft.com/office/drawing/2014/main" id="{E2F4AF32-4493-4D40-8FA2-2BCC65F6D8AA}"/>
                    </a:ext>
                  </a:extLst>
                </p:cNvPr>
                <p:cNvSpPr/>
                <p:nvPr/>
              </p:nvSpPr>
              <p:spPr>
                <a:xfrm>
                  <a:off x="4990566" y="1463660"/>
                  <a:ext cx="2210863" cy="246221"/>
                </a:xfrm>
                <a:prstGeom prst="rect">
                  <a:avLst/>
                </a:prstGeom>
                <a:ln>
                  <a:solidFill>
                    <a:schemeClr val="bg1">
                      <a:lumMod val="50000"/>
                    </a:schemeClr>
                  </a:solidFill>
                </a:ln>
              </p:spPr>
              <p:txBody>
                <a:bodyPr wrap="none">
                  <a:spAutoFit/>
                </a:bodyPr>
                <a:lstStyle/>
                <a:p>
                  <a:pPr algn="ctr"/>
                  <a:r>
                    <a:rPr lang="en-US" altLang="ko-KR" sz="1000" b="1" dirty="0" err="1"/>
                    <a:t>kubectl</a:t>
                  </a:r>
                  <a:r>
                    <a:rPr lang="en-US" altLang="ko-KR" sz="1000" b="1" dirty="0"/>
                    <a:t> describe nodes </a:t>
                  </a:r>
                  <a:r>
                    <a:rPr lang="en-US" altLang="ko-KR" sz="1000" b="1" dirty="0" err="1">
                      <a:solidFill>
                        <a:srgbClr val="FF0000"/>
                      </a:solidFill>
                    </a:rPr>
                    <a:t>minikube</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8FDAD1E6-10CC-4A76-91C8-4331B4074ACB}"/>
                    </a:ext>
                  </a:extLst>
                </p:cNvPr>
                <p:cNvSpPr/>
                <p:nvPr/>
              </p:nvSpPr>
              <p:spPr>
                <a:xfrm>
                  <a:off x="5891461" y="1709881"/>
                  <a:ext cx="409074" cy="2807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88E68BAA-7C7F-45D5-BD8A-9994CE0EDB2C}"/>
                  </a:ext>
                </a:extLst>
              </p:cNvPr>
              <p:cNvPicPr>
                <a:picLocks noChangeAspect="1"/>
              </p:cNvPicPr>
              <p:nvPr/>
            </p:nvPicPr>
            <p:blipFill>
              <a:blip r:embed="rId2"/>
              <a:stretch>
                <a:fillRect/>
              </a:stretch>
            </p:blipFill>
            <p:spPr>
              <a:xfrm>
                <a:off x="1334478" y="2003758"/>
                <a:ext cx="9523044" cy="4418412"/>
              </a:xfrm>
              <a:prstGeom prst="rect">
                <a:avLst/>
              </a:prstGeom>
              <a:ln>
                <a:solidFill>
                  <a:schemeClr val="bg1">
                    <a:lumMod val="50000"/>
                  </a:schemeClr>
                </a:solidFill>
              </a:ln>
            </p:spPr>
          </p:pic>
        </p:grpSp>
        <p:sp>
          <p:nvSpPr>
            <p:cNvPr id="16" name="직사각형 15">
              <a:extLst>
                <a:ext uri="{FF2B5EF4-FFF2-40B4-BE49-F238E27FC236}">
                  <a16:creationId xmlns:a16="http://schemas.microsoft.com/office/drawing/2014/main" id="{E3ED07EC-AD67-4FC4-9B86-DCD8B19C38BF}"/>
                </a:ext>
              </a:extLst>
            </p:cNvPr>
            <p:cNvSpPr/>
            <p:nvPr/>
          </p:nvSpPr>
          <p:spPr>
            <a:xfrm>
              <a:off x="2550695" y="2751221"/>
              <a:ext cx="1812758" cy="1203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3A26DA1F-8CFD-4A12-955B-97F084091645}"/>
                </a:ext>
              </a:extLst>
            </p:cNvPr>
            <p:cNvSpPr/>
            <p:nvPr/>
          </p:nvSpPr>
          <p:spPr>
            <a:xfrm>
              <a:off x="1342499" y="2622884"/>
              <a:ext cx="638701" cy="1203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754545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You can see that the node is running the </a:t>
            </a:r>
            <a:r>
              <a:rPr lang="en-US" altLang="ko-KR" sz="1400" b="1" dirty="0"/>
              <a:t>Linux OS </a:t>
            </a:r>
            <a:r>
              <a:rPr lang="en-US" altLang="ko-KR" sz="1400" dirty="0"/>
              <a:t>and is running on an </a:t>
            </a:r>
            <a:r>
              <a:rPr lang="en-US" altLang="ko-KR" sz="1400" b="1" dirty="0"/>
              <a:t>AMD64</a:t>
            </a:r>
            <a:r>
              <a:rPr lang="en-US" altLang="ko-KR" sz="1400" dirty="0"/>
              <a:t> processor. You can also see information about </a:t>
            </a:r>
            <a:r>
              <a:rPr lang="en-US" altLang="ko-KR" sz="1400" b="1" dirty="0"/>
              <a:t>the operation of node </a:t>
            </a:r>
            <a:r>
              <a:rPr lang="en-US" altLang="ko-KR" sz="1400" dirty="0"/>
              <a:t>itself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These statuses(</a:t>
            </a:r>
            <a:r>
              <a:rPr lang="en-US" altLang="ko-KR" sz="1400" b="1" dirty="0"/>
              <a:t>Conditions</a:t>
            </a:r>
            <a:r>
              <a:rPr lang="en-US" altLang="ko-KR" sz="1400" dirty="0"/>
              <a:t>) show that the node has </a:t>
            </a:r>
            <a:r>
              <a:rPr lang="en-US" altLang="ko-KR" sz="1400" b="1" dirty="0"/>
              <a:t>sufficient disk and memory space </a:t>
            </a:r>
            <a:r>
              <a:rPr lang="en-US" altLang="ko-KR" sz="1400" dirty="0"/>
              <a:t>and is </a:t>
            </a:r>
            <a:r>
              <a:rPr lang="en-US" altLang="ko-KR" sz="1400" b="1" dirty="0"/>
              <a:t>reporting that it is healthy to the Kubernetes master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9727CA4-BE93-40F2-98C4-76905E4A2B67}"/>
              </a:ext>
            </a:extLst>
          </p:cNvPr>
          <p:cNvGrpSpPr/>
          <p:nvPr/>
        </p:nvGrpSpPr>
        <p:grpSpPr>
          <a:xfrm>
            <a:off x="971220" y="2038527"/>
            <a:ext cx="10249559" cy="2780946"/>
            <a:chOff x="971220" y="1780674"/>
            <a:chExt cx="10249559" cy="2780946"/>
          </a:xfrm>
        </p:grpSpPr>
        <p:pic>
          <p:nvPicPr>
            <p:cNvPr id="4" name="그림 3">
              <a:extLst>
                <a:ext uri="{FF2B5EF4-FFF2-40B4-BE49-F238E27FC236}">
                  <a16:creationId xmlns:a16="http://schemas.microsoft.com/office/drawing/2014/main" id="{DD60B59B-C31D-4938-8653-04D504DC10B3}"/>
                </a:ext>
              </a:extLst>
            </p:cNvPr>
            <p:cNvPicPr>
              <a:picLocks noChangeAspect="1"/>
            </p:cNvPicPr>
            <p:nvPr/>
          </p:nvPicPr>
          <p:blipFill>
            <a:blip r:embed="rId2"/>
            <a:stretch>
              <a:fillRect/>
            </a:stretch>
          </p:blipFill>
          <p:spPr>
            <a:xfrm>
              <a:off x="971220" y="1780674"/>
              <a:ext cx="10249559" cy="2780946"/>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80551AAC-1D0F-4038-A5E7-2D424FA7DE0C}"/>
                </a:ext>
              </a:extLst>
            </p:cNvPr>
            <p:cNvSpPr/>
            <p:nvPr/>
          </p:nvSpPr>
          <p:spPr>
            <a:xfrm>
              <a:off x="1086851" y="2177736"/>
              <a:ext cx="10018295" cy="9613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725080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There is information about </a:t>
            </a:r>
            <a:r>
              <a:rPr lang="en-US" altLang="ko-KR" sz="1400" b="1" dirty="0"/>
              <a:t>the capacity of the machine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there is information about </a:t>
            </a:r>
            <a:r>
              <a:rPr lang="en-US" altLang="ko-KR" sz="1400" b="1" dirty="0"/>
              <a:t>the software on the node</a:t>
            </a:r>
            <a:r>
              <a:rPr lang="en-US" altLang="ko-KR" sz="1400" dirty="0"/>
              <a:t>, including </a:t>
            </a:r>
            <a:r>
              <a:rPr lang="en-US" altLang="ko-KR" sz="1400" b="1" dirty="0"/>
              <a:t>the version of Docker </a:t>
            </a:r>
            <a:r>
              <a:rPr lang="en-US" altLang="ko-KR" sz="1400" dirty="0"/>
              <a:t>that is running, </a:t>
            </a:r>
            <a:r>
              <a:rPr lang="en-US" altLang="ko-KR" sz="1400" b="1" dirty="0"/>
              <a:t>the versions of Kubernetes</a:t>
            </a:r>
            <a:r>
              <a:rPr lang="en-US" altLang="ko-KR" sz="1400" dirty="0"/>
              <a:t> and </a:t>
            </a:r>
            <a:r>
              <a:rPr lang="en-US" altLang="ko-KR" sz="1400" b="1" dirty="0"/>
              <a:t>the Linux kernel</a:t>
            </a:r>
            <a:r>
              <a:rPr lang="en-US" altLang="ko-KR" sz="1400" dirty="0"/>
              <a:t>, and more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17A6215-45D7-4589-A528-3E2DAC0E8908}"/>
              </a:ext>
            </a:extLst>
          </p:cNvPr>
          <p:cNvGrpSpPr/>
          <p:nvPr/>
        </p:nvGrpSpPr>
        <p:grpSpPr>
          <a:xfrm>
            <a:off x="2226343" y="1401985"/>
            <a:ext cx="7755857" cy="2235597"/>
            <a:chOff x="1805238" y="1502214"/>
            <a:chExt cx="8581524" cy="2720343"/>
          </a:xfrm>
        </p:grpSpPr>
        <p:pic>
          <p:nvPicPr>
            <p:cNvPr id="4" name="그림 3">
              <a:extLst>
                <a:ext uri="{FF2B5EF4-FFF2-40B4-BE49-F238E27FC236}">
                  <a16:creationId xmlns:a16="http://schemas.microsoft.com/office/drawing/2014/main" id="{D3CA9686-5039-4BFE-A156-E40412F948E7}"/>
                </a:ext>
              </a:extLst>
            </p:cNvPr>
            <p:cNvPicPr>
              <a:picLocks noChangeAspect="1"/>
            </p:cNvPicPr>
            <p:nvPr/>
          </p:nvPicPr>
          <p:blipFill>
            <a:blip r:embed="rId2"/>
            <a:stretch>
              <a:fillRect/>
            </a:stretch>
          </p:blipFill>
          <p:spPr>
            <a:xfrm>
              <a:off x="1805238" y="1502214"/>
              <a:ext cx="8581524" cy="2720343"/>
            </a:xfrm>
            <a:prstGeom prst="rect">
              <a:avLst/>
            </a:prstGeom>
            <a:solidFill>
              <a:schemeClr val="accent2"/>
            </a:solidFill>
            <a:ln>
              <a:solidFill>
                <a:schemeClr val="bg1">
                  <a:lumMod val="50000"/>
                </a:schemeClr>
              </a:solidFill>
            </a:ln>
          </p:spPr>
        </p:pic>
        <p:sp>
          <p:nvSpPr>
            <p:cNvPr id="8" name="직사각형 7">
              <a:extLst>
                <a:ext uri="{FF2B5EF4-FFF2-40B4-BE49-F238E27FC236}">
                  <a16:creationId xmlns:a16="http://schemas.microsoft.com/office/drawing/2014/main" id="{8A8516FB-1677-4459-B8DC-9F017DF8207E}"/>
                </a:ext>
              </a:extLst>
            </p:cNvPr>
            <p:cNvSpPr/>
            <p:nvPr/>
          </p:nvSpPr>
          <p:spPr>
            <a:xfrm>
              <a:off x="1860884" y="1973179"/>
              <a:ext cx="778042" cy="1764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05C014B5-20C1-4BA1-BA98-E24A7F378BFE}"/>
                </a:ext>
              </a:extLst>
            </p:cNvPr>
            <p:cNvSpPr/>
            <p:nvPr/>
          </p:nvSpPr>
          <p:spPr>
            <a:xfrm>
              <a:off x="1860884" y="2999874"/>
              <a:ext cx="970548" cy="1764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7B74720C-8F74-4A8B-BE0E-63C9CD7A610B}"/>
              </a:ext>
            </a:extLst>
          </p:cNvPr>
          <p:cNvGrpSpPr/>
          <p:nvPr/>
        </p:nvGrpSpPr>
        <p:grpSpPr>
          <a:xfrm>
            <a:off x="2209800" y="4187750"/>
            <a:ext cx="7772400" cy="2075231"/>
            <a:chOff x="2209800" y="4187750"/>
            <a:chExt cx="7772400" cy="2075231"/>
          </a:xfrm>
        </p:grpSpPr>
        <p:pic>
          <p:nvPicPr>
            <p:cNvPr id="11" name="그림 10">
              <a:extLst>
                <a:ext uri="{FF2B5EF4-FFF2-40B4-BE49-F238E27FC236}">
                  <a16:creationId xmlns:a16="http://schemas.microsoft.com/office/drawing/2014/main" id="{F25E7166-2BBE-45ED-9EC0-BF083A5DF461}"/>
                </a:ext>
              </a:extLst>
            </p:cNvPr>
            <p:cNvPicPr>
              <a:picLocks noChangeAspect="1"/>
            </p:cNvPicPr>
            <p:nvPr/>
          </p:nvPicPr>
          <p:blipFill>
            <a:blip r:embed="rId3"/>
            <a:stretch>
              <a:fillRect/>
            </a:stretch>
          </p:blipFill>
          <p:spPr>
            <a:xfrm>
              <a:off x="2209800" y="4187750"/>
              <a:ext cx="7772400" cy="2075231"/>
            </a:xfrm>
            <a:prstGeom prst="rect">
              <a:avLst/>
            </a:prstGeom>
            <a:ln>
              <a:solidFill>
                <a:schemeClr val="bg1">
                  <a:lumMod val="50000"/>
                </a:schemeClr>
              </a:solidFill>
            </a:ln>
          </p:spPr>
        </p:pic>
        <p:sp>
          <p:nvSpPr>
            <p:cNvPr id="12" name="직사각형 11">
              <a:extLst>
                <a:ext uri="{FF2B5EF4-FFF2-40B4-BE49-F238E27FC236}">
                  <a16:creationId xmlns:a16="http://schemas.microsoft.com/office/drawing/2014/main" id="{6A993FF9-847B-43FC-98E6-B8D30B2550A6}"/>
                </a:ext>
              </a:extLst>
            </p:cNvPr>
            <p:cNvSpPr/>
            <p:nvPr/>
          </p:nvSpPr>
          <p:spPr>
            <a:xfrm>
              <a:off x="2430379" y="5157537"/>
              <a:ext cx="986589"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15B8245-AB3E-4CEA-81F0-4CFBECEFA192}"/>
                </a:ext>
              </a:extLst>
            </p:cNvPr>
            <p:cNvSpPr/>
            <p:nvPr/>
          </p:nvSpPr>
          <p:spPr>
            <a:xfrm>
              <a:off x="2430379" y="5702967"/>
              <a:ext cx="2887579" cy="2457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99388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Finally, there is information about </a:t>
            </a:r>
            <a:r>
              <a:rPr lang="en-US" altLang="ko-KR" sz="1400" b="1" dirty="0"/>
              <a:t>the Pods that are currently running on this node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DD83144-9F2F-47B5-AF84-28F4DBEFDA89}"/>
              </a:ext>
            </a:extLst>
          </p:cNvPr>
          <p:cNvGrpSpPr/>
          <p:nvPr/>
        </p:nvGrpSpPr>
        <p:grpSpPr>
          <a:xfrm>
            <a:off x="1338388" y="1622712"/>
            <a:ext cx="9515224" cy="4142442"/>
            <a:chOff x="1338388" y="1622712"/>
            <a:chExt cx="9515224" cy="4142442"/>
          </a:xfrm>
        </p:grpSpPr>
        <p:pic>
          <p:nvPicPr>
            <p:cNvPr id="8" name="그림 7">
              <a:extLst>
                <a:ext uri="{FF2B5EF4-FFF2-40B4-BE49-F238E27FC236}">
                  <a16:creationId xmlns:a16="http://schemas.microsoft.com/office/drawing/2014/main" id="{037FDFB9-ED55-455A-8D02-62ABC6899B0C}"/>
                </a:ext>
              </a:extLst>
            </p:cNvPr>
            <p:cNvPicPr>
              <a:picLocks noChangeAspect="1"/>
            </p:cNvPicPr>
            <p:nvPr/>
          </p:nvPicPr>
          <p:blipFill>
            <a:blip r:embed="rId2"/>
            <a:stretch>
              <a:fillRect/>
            </a:stretch>
          </p:blipFill>
          <p:spPr>
            <a:xfrm>
              <a:off x="1338388" y="1622712"/>
              <a:ext cx="9515224" cy="4142442"/>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2FEA5BE4-BD24-4010-98CA-6704BEFB7029}"/>
                </a:ext>
              </a:extLst>
            </p:cNvPr>
            <p:cNvSpPr/>
            <p:nvPr/>
          </p:nvSpPr>
          <p:spPr>
            <a:xfrm>
              <a:off x="1427747" y="2422358"/>
              <a:ext cx="3080085" cy="160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897240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Kubernetes Client(10/10)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Kubernetes Worker Nodes :</a:t>
            </a:r>
          </a:p>
          <a:p>
            <a:pPr lvl="1">
              <a:buFont typeface="Wingdings" panose="05000000000000000000" pitchFamily="2" charset="2"/>
              <a:buChar char="§"/>
            </a:pPr>
            <a:r>
              <a:rPr lang="en-US" altLang="ko-KR" sz="1400" dirty="0"/>
              <a:t>From the previous output(about Pods) you can see </a:t>
            </a:r>
            <a:r>
              <a:rPr lang="en-US" altLang="ko-KR" sz="1400" b="1" dirty="0"/>
              <a:t>the Pods </a:t>
            </a:r>
            <a:r>
              <a:rPr lang="en-US" altLang="ko-KR" sz="1400" dirty="0"/>
              <a:t>on the node, </a:t>
            </a:r>
            <a:r>
              <a:rPr lang="en-US" altLang="ko-KR" sz="1400" b="1" dirty="0"/>
              <a:t>the CPU and memory </a:t>
            </a:r>
            <a:r>
              <a:rPr lang="en-US" altLang="ko-KR" sz="1400" dirty="0"/>
              <a:t>that each Pod is requesting from the node, as well as </a:t>
            </a:r>
            <a:r>
              <a:rPr lang="en-US" altLang="ko-KR" sz="1400" b="1" dirty="0"/>
              <a:t>the total resources requested</a:t>
            </a:r>
            <a:r>
              <a:rPr lang="en-US" altLang="ko-KR" sz="1400" dirty="0"/>
              <a:t>. It’s worth noting here that </a:t>
            </a:r>
            <a:r>
              <a:rPr lang="en-US" altLang="ko-KR" sz="1400" b="1" dirty="0">
                <a:solidFill>
                  <a:srgbClr val="FF0000"/>
                </a:solidFill>
              </a:rPr>
              <a:t>Kubernetes tracks both the requests and upper limits for resources for each Pod that runs on a machine</a:t>
            </a:r>
            <a:r>
              <a:rPr lang="en-US" altLang="ko-KR" sz="1400" dirty="0"/>
              <a:t>. The difference between requests and limits is that </a:t>
            </a:r>
            <a:r>
              <a:rPr lang="en-US" altLang="ko-KR" sz="1400" b="1" dirty="0"/>
              <a:t>resources requested by a Pod are guaranteed to be present on the node</a:t>
            </a:r>
            <a:r>
              <a:rPr lang="en-US" altLang="ko-KR" sz="1400" dirty="0"/>
              <a:t>, while </a:t>
            </a:r>
            <a:r>
              <a:rPr lang="en-US" altLang="ko-KR" sz="1400" b="1" dirty="0"/>
              <a:t>a Pod’s limit is the maximum amount of a given resource that a Pod can consume</a:t>
            </a:r>
            <a:r>
              <a:rPr lang="en-US" altLang="ko-KR" sz="1400" dirty="0"/>
              <a:t>. </a:t>
            </a:r>
            <a:r>
              <a:rPr lang="en-US" altLang="ko-KR" sz="1400" b="1" dirty="0"/>
              <a:t>A Pod’s limit can be higher than its request, in which case the extra resources are supplied on a </a:t>
            </a:r>
            <a:r>
              <a:rPr lang="en-US" altLang="ko-KR" sz="1400" b="1" dirty="0">
                <a:solidFill>
                  <a:srgbClr val="FF0000"/>
                </a:solidFill>
              </a:rPr>
              <a:t>best-effort basis</a:t>
            </a:r>
            <a:r>
              <a:rPr lang="en-US" altLang="ko-KR" sz="1400" b="1" dirty="0"/>
              <a:t>. They are not guaranteed to be present on the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E08AF32-A83A-4009-BD9A-CC6FE02CBA67}"/>
              </a:ext>
            </a:extLst>
          </p:cNvPr>
          <p:cNvPicPr>
            <a:picLocks noChangeAspect="1"/>
          </p:cNvPicPr>
          <p:nvPr/>
        </p:nvPicPr>
        <p:blipFill>
          <a:blip r:embed="rId2"/>
          <a:stretch>
            <a:fillRect/>
          </a:stretch>
        </p:blipFill>
        <p:spPr>
          <a:xfrm>
            <a:off x="2919663" y="3155808"/>
            <a:ext cx="6352673" cy="2690404"/>
          </a:xfrm>
          <a:prstGeom prst="rect">
            <a:avLst/>
          </a:prstGeom>
        </p:spPr>
      </p:pic>
    </p:spTree>
    <p:extLst>
      <p:ext uri="{BB962C8B-B14F-4D97-AF65-F5344CB8AC3E}">
        <p14:creationId xmlns:p14="http://schemas.microsoft.com/office/powerpoint/2010/main" val="36167824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Cluster Components(1/5)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Components :</a:t>
            </a:r>
          </a:p>
          <a:p>
            <a:pPr lvl="1">
              <a:buFont typeface="Wingdings" panose="05000000000000000000" pitchFamily="2" charset="2"/>
              <a:buChar char="§"/>
            </a:pPr>
            <a:r>
              <a:rPr lang="en-US" altLang="ko-KR" sz="1400" dirty="0"/>
              <a:t>One of the interesting aspects of Kubernetes is that many of the components that make up the Kubernetes cluster are actually deployed using Kubernetes itself. </a:t>
            </a:r>
            <a:r>
              <a:rPr lang="en-US" altLang="ko-KR" sz="1400" b="1" dirty="0"/>
              <a:t>All of these components run in the </a:t>
            </a:r>
            <a:r>
              <a:rPr lang="en-US" altLang="ko-KR" sz="1400" b="1" dirty="0" err="1">
                <a:solidFill>
                  <a:srgbClr val="FF0000"/>
                </a:solidFill>
              </a:rPr>
              <a:t>kube</a:t>
            </a:r>
            <a:r>
              <a:rPr lang="en-US" altLang="ko-KR" sz="1400" b="1" dirty="0">
                <a:solidFill>
                  <a:srgbClr val="FF0000"/>
                </a:solidFill>
              </a:rPr>
              <a:t>-system</a:t>
            </a:r>
            <a:r>
              <a:rPr lang="en-US" altLang="ko-KR" sz="1400" b="1" dirty="0"/>
              <a:t> namespace</a:t>
            </a:r>
            <a:r>
              <a:rPr lang="en-US" altLang="ko-KR" sz="1400" dirty="0"/>
              <a:t>.</a:t>
            </a:r>
          </a:p>
          <a:p>
            <a:pPr>
              <a:buFont typeface="Wingdings" panose="05000000000000000000" pitchFamily="2" charset="2"/>
              <a:buChar char="§"/>
            </a:pPr>
            <a:r>
              <a:rPr lang="en-US" altLang="ko-KR" sz="1800" b="1" dirty="0"/>
              <a:t>Kubernetes Proxy </a:t>
            </a:r>
            <a:r>
              <a:rPr lang="en-US" altLang="ko-KR" sz="1800" dirty="0"/>
              <a:t>: </a:t>
            </a:r>
          </a:p>
          <a:p>
            <a:pPr lvl="1">
              <a:buFont typeface="Wingdings" panose="05000000000000000000" pitchFamily="2" charset="2"/>
              <a:buChar char="§"/>
            </a:pPr>
            <a:r>
              <a:rPr lang="en-US" altLang="ko-KR" sz="1400" b="1" dirty="0"/>
              <a:t>The Kubernetes proxy is responsible for </a:t>
            </a:r>
            <a:r>
              <a:rPr lang="en-US" altLang="ko-KR" sz="1400" b="1" dirty="0">
                <a:solidFill>
                  <a:srgbClr val="FF0000"/>
                </a:solidFill>
              </a:rPr>
              <a:t>routing network traffic to load-balanced services </a:t>
            </a:r>
            <a:r>
              <a:rPr lang="en-US" altLang="ko-KR" sz="1400" b="1" dirty="0"/>
              <a:t>in the Kubernetes cluster</a:t>
            </a:r>
            <a:r>
              <a:rPr lang="en-US" altLang="ko-KR" sz="1400" dirty="0"/>
              <a:t>. To do its job, </a:t>
            </a:r>
            <a:r>
              <a:rPr lang="en-US" altLang="ko-KR" sz="1400" b="1" dirty="0"/>
              <a:t>the proxy must be present on every node in the cluster</a:t>
            </a:r>
            <a:r>
              <a:rPr lang="en-US" altLang="ko-KR" sz="1400" dirty="0"/>
              <a:t>. Kubernetes has an </a:t>
            </a:r>
            <a:r>
              <a:rPr lang="en-US" altLang="ko-KR" sz="1400" b="1" dirty="0"/>
              <a:t>API object named </a:t>
            </a:r>
            <a:r>
              <a:rPr lang="en-US" altLang="ko-KR" sz="1400" b="1" dirty="0" err="1">
                <a:solidFill>
                  <a:srgbClr val="FF0000"/>
                </a:solidFill>
              </a:rPr>
              <a:t>DaemonSet</a:t>
            </a:r>
            <a:r>
              <a:rPr lang="en-US" altLang="ko-KR" sz="1400" b="1" dirty="0">
                <a:solidFill>
                  <a:srgbClr val="FF0000"/>
                </a:solidFill>
              </a:rPr>
              <a:t> </a:t>
            </a:r>
            <a:r>
              <a:rPr lang="en-US" altLang="ko-KR" sz="1400" dirty="0"/>
              <a:t>that is used in many clusters to accomplish this. If your </a:t>
            </a:r>
            <a:r>
              <a:rPr lang="en-US" altLang="ko-KR" sz="1400" b="1" dirty="0"/>
              <a:t>cluster runs the Kubernetes proxy with a </a:t>
            </a:r>
            <a:r>
              <a:rPr lang="en-US" altLang="ko-KR" sz="1400" b="1" dirty="0" err="1"/>
              <a:t>DaemonSet</a:t>
            </a:r>
            <a:r>
              <a:rPr lang="en-US" altLang="ko-KR" sz="1400" dirty="0"/>
              <a:t>, you can see the proxies 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Depending on how your cluster is set up, the </a:t>
            </a:r>
            <a:r>
              <a:rPr lang="en-US" altLang="ko-KR" sz="1400" b="1" dirty="0" err="1"/>
              <a:t>DaemonSet</a:t>
            </a:r>
            <a:r>
              <a:rPr lang="en-US" altLang="ko-KR" sz="1400" dirty="0"/>
              <a:t> for the </a:t>
            </a:r>
            <a:r>
              <a:rPr lang="en-US" altLang="ko-KR" sz="1400" b="1" dirty="0" err="1"/>
              <a:t>kube</a:t>
            </a:r>
            <a:r>
              <a:rPr lang="en-US" altLang="ko-KR" sz="1400" b="1" dirty="0"/>
              <a:t>-proxy</a:t>
            </a:r>
            <a:r>
              <a:rPr lang="en-US" altLang="ko-KR" sz="1400" dirty="0"/>
              <a:t> may be named something else, or its possible that it won’t use a </a:t>
            </a:r>
            <a:r>
              <a:rPr lang="en-US" altLang="ko-KR" sz="1400" b="1" dirty="0" err="1"/>
              <a:t>DaemonSet</a:t>
            </a:r>
            <a:r>
              <a:rPr lang="en-US" altLang="ko-KR" sz="1400" dirty="0"/>
              <a:t> at all. Regardless, </a:t>
            </a:r>
            <a:r>
              <a:rPr lang="en-US" altLang="ko-KR" sz="1400" b="1" dirty="0"/>
              <a:t>the </a:t>
            </a:r>
            <a:r>
              <a:rPr lang="en-US" altLang="ko-KR" sz="1400" b="1" dirty="0" err="1"/>
              <a:t>kube</a:t>
            </a:r>
            <a:r>
              <a:rPr lang="en-US" altLang="ko-KR" sz="1400" b="1" dirty="0"/>
              <a:t>-proxy container should be running on all nodes in a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9273DFD-1167-4C45-B565-9D0DBB45D2A5}"/>
              </a:ext>
            </a:extLst>
          </p:cNvPr>
          <p:cNvGrpSpPr/>
          <p:nvPr/>
        </p:nvGrpSpPr>
        <p:grpSpPr>
          <a:xfrm>
            <a:off x="1333500" y="2889266"/>
            <a:ext cx="9525000" cy="2362120"/>
            <a:chOff x="1333500" y="3105835"/>
            <a:chExt cx="9525000" cy="2362120"/>
          </a:xfrm>
        </p:grpSpPr>
        <p:sp>
          <p:nvSpPr>
            <p:cNvPr id="4" name="직사각형 3">
              <a:extLst>
                <a:ext uri="{FF2B5EF4-FFF2-40B4-BE49-F238E27FC236}">
                  <a16:creationId xmlns:a16="http://schemas.microsoft.com/office/drawing/2014/main" id="{99C85ACA-9753-4D0F-A7C8-C078685AD165}"/>
                </a:ext>
              </a:extLst>
            </p:cNvPr>
            <p:cNvSpPr/>
            <p:nvPr/>
          </p:nvSpPr>
          <p:spPr>
            <a:xfrm>
              <a:off x="3048000" y="3105835"/>
              <a:ext cx="6096000" cy="246221"/>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err="1">
                  <a:solidFill>
                    <a:srgbClr val="FF0000"/>
                  </a:solidFill>
                </a:rPr>
                <a:t>daemonSets</a:t>
              </a:r>
              <a:r>
                <a:rPr lang="en-US" altLang="ko-KR" sz="1000" b="1" dirty="0"/>
                <a:t> --namespace=</a:t>
              </a:r>
              <a:r>
                <a:rPr lang="en-US" altLang="ko-KR" sz="1000" b="1" dirty="0" err="1"/>
                <a:t>kube</a:t>
              </a:r>
              <a:r>
                <a:rPr lang="en-US" altLang="ko-KR" sz="1000" b="1" dirty="0"/>
                <a:t>-system </a:t>
              </a:r>
              <a:r>
                <a:rPr lang="en-US" altLang="ko-KR" sz="1000" b="1" dirty="0" err="1"/>
                <a:t>kube</a:t>
              </a:r>
              <a:r>
                <a:rPr lang="en-US" altLang="ko-KR" sz="1000" b="1" dirty="0"/>
                <a:t>-proxy</a:t>
              </a:r>
              <a:endParaRPr lang="ko-KR" altLang="en-US" sz="1000" b="1" dirty="0"/>
            </a:p>
          </p:txBody>
        </p:sp>
        <p:pic>
          <p:nvPicPr>
            <p:cNvPr id="8" name="그림 7">
              <a:extLst>
                <a:ext uri="{FF2B5EF4-FFF2-40B4-BE49-F238E27FC236}">
                  <a16:creationId xmlns:a16="http://schemas.microsoft.com/office/drawing/2014/main" id="{0BE2C93C-C2BB-455C-8C0D-271641976D2D}"/>
                </a:ext>
              </a:extLst>
            </p:cNvPr>
            <p:cNvPicPr>
              <a:picLocks noChangeAspect="1"/>
            </p:cNvPicPr>
            <p:nvPr/>
          </p:nvPicPr>
          <p:blipFill>
            <a:blip r:embed="rId2"/>
            <a:stretch>
              <a:fillRect/>
            </a:stretch>
          </p:blipFill>
          <p:spPr>
            <a:xfrm>
              <a:off x="1333500" y="3658205"/>
              <a:ext cx="9525000"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F272808-DD36-4EFD-9ADB-C5B0F6942F6A}"/>
                </a:ext>
              </a:extLst>
            </p:cNvPr>
            <p:cNvSpPr/>
            <p:nvPr/>
          </p:nvSpPr>
          <p:spPr>
            <a:xfrm>
              <a:off x="5911516" y="3382020"/>
              <a:ext cx="40105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258363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Cluster Components(2/5)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DNS(Domain Name Service) :</a:t>
            </a:r>
          </a:p>
          <a:p>
            <a:pPr lvl="1">
              <a:buFont typeface="Wingdings" panose="05000000000000000000" pitchFamily="2" charset="2"/>
              <a:buChar char="§"/>
            </a:pPr>
            <a:r>
              <a:rPr lang="en-US" altLang="ko-KR" sz="1400" b="1" dirty="0"/>
              <a:t>Kubernetes also runs a DNS server</a:t>
            </a:r>
            <a:r>
              <a:rPr lang="en-US" altLang="ko-KR" sz="1400" dirty="0"/>
              <a:t>, which provides </a:t>
            </a:r>
            <a:r>
              <a:rPr lang="en-US" altLang="ko-KR" sz="1400" b="1" dirty="0"/>
              <a:t>naming and discovery for the services </a:t>
            </a:r>
            <a:r>
              <a:rPr lang="en-US" altLang="ko-KR" sz="1400" dirty="0"/>
              <a:t>that are defined in the cluster. </a:t>
            </a:r>
            <a:r>
              <a:rPr lang="en-US" altLang="ko-KR" sz="1400" b="1" dirty="0"/>
              <a:t>This DNS server also runs as a replicated service on the cluster</a:t>
            </a:r>
            <a:r>
              <a:rPr lang="en-US" altLang="ko-KR" sz="1400" dirty="0"/>
              <a:t>. Depending on the size of your cluster, you may see one or more DNS servers running in your cluster. </a:t>
            </a:r>
            <a:r>
              <a:rPr lang="en-US" altLang="ko-KR" sz="1400" b="1" dirty="0"/>
              <a:t>The DNS service is run as a Kubernetes deployment</a:t>
            </a:r>
            <a:r>
              <a:rPr lang="en-US" altLang="ko-KR" sz="1400" dirty="0"/>
              <a:t>, which manages these replicas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DF28999-5274-4158-9B16-4CE33C2EDE9E}"/>
              </a:ext>
            </a:extLst>
          </p:cNvPr>
          <p:cNvGrpSpPr/>
          <p:nvPr/>
        </p:nvGrpSpPr>
        <p:grpSpPr>
          <a:xfrm>
            <a:off x="1333500" y="2244509"/>
            <a:ext cx="9525000" cy="2368982"/>
            <a:chOff x="1333499" y="2022993"/>
            <a:chExt cx="9525000" cy="2368982"/>
          </a:xfrm>
        </p:grpSpPr>
        <p:sp>
          <p:nvSpPr>
            <p:cNvPr id="4" name="직사각형 3">
              <a:extLst>
                <a:ext uri="{FF2B5EF4-FFF2-40B4-BE49-F238E27FC236}">
                  <a16:creationId xmlns:a16="http://schemas.microsoft.com/office/drawing/2014/main" id="{E61BCF2A-95F4-46E5-B41D-B7AF74E32D0A}"/>
                </a:ext>
              </a:extLst>
            </p:cNvPr>
            <p:cNvSpPr/>
            <p:nvPr/>
          </p:nvSpPr>
          <p:spPr>
            <a:xfrm>
              <a:off x="3048000" y="2022993"/>
              <a:ext cx="6096000" cy="246221"/>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a:solidFill>
                    <a:srgbClr val="FF0000"/>
                  </a:solidFill>
                </a:rPr>
                <a:t>deployments</a:t>
              </a:r>
              <a:r>
                <a:rPr lang="en-US" altLang="ko-KR" sz="1000" b="1" dirty="0"/>
                <a:t> --namespace=</a:t>
              </a:r>
              <a:r>
                <a:rPr lang="en-US" altLang="ko-KR" sz="1000" b="1" dirty="0" err="1"/>
                <a:t>kube</a:t>
              </a:r>
              <a:r>
                <a:rPr lang="en-US" altLang="ko-KR" sz="1000" b="1" dirty="0"/>
                <a:t>-system</a:t>
              </a:r>
              <a:endParaRPr lang="ko-KR" altLang="en-US" sz="1000" b="1" dirty="0"/>
            </a:p>
          </p:txBody>
        </p:sp>
        <p:sp>
          <p:nvSpPr>
            <p:cNvPr id="8" name="화살표: 아래쪽 7">
              <a:extLst>
                <a:ext uri="{FF2B5EF4-FFF2-40B4-BE49-F238E27FC236}">
                  <a16:creationId xmlns:a16="http://schemas.microsoft.com/office/drawing/2014/main" id="{75C50803-98B9-4CCA-9881-268BA4DB4941}"/>
                </a:ext>
              </a:extLst>
            </p:cNvPr>
            <p:cNvSpPr/>
            <p:nvPr/>
          </p:nvSpPr>
          <p:spPr>
            <a:xfrm>
              <a:off x="5879431" y="2285351"/>
              <a:ext cx="433137" cy="2807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D1F5EBF-C9BD-4C62-8FC2-378B62923963}"/>
                </a:ext>
              </a:extLst>
            </p:cNvPr>
            <p:cNvPicPr>
              <a:picLocks noChangeAspect="1"/>
            </p:cNvPicPr>
            <p:nvPr/>
          </p:nvPicPr>
          <p:blipFill>
            <a:blip r:embed="rId2"/>
            <a:stretch>
              <a:fillRect/>
            </a:stretch>
          </p:blipFill>
          <p:spPr>
            <a:xfrm>
              <a:off x="1333499" y="2582225"/>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21566765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Cluster Components(3/5)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DNS(Domain Name Service) :</a:t>
            </a:r>
          </a:p>
          <a:p>
            <a:pPr lvl="1">
              <a:buFont typeface="Wingdings" panose="05000000000000000000" pitchFamily="2" charset="2"/>
              <a:buChar char="§"/>
            </a:pPr>
            <a:r>
              <a:rPr lang="en-US" altLang="ko-KR" sz="1400" dirty="0"/>
              <a:t>There is also </a:t>
            </a:r>
            <a:r>
              <a:rPr lang="en-US" altLang="ko-KR" sz="1400" b="1" dirty="0"/>
              <a:t>a Kubernetes service that performs load balancing </a:t>
            </a:r>
            <a:r>
              <a:rPr lang="en-US" altLang="ko-KR" sz="1400" dirty="0"/>
              <a:t>for the DNS server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shows that </a:t>
            </a:r>
            <a:r>
              <a:rPr lang="en-US" altLang="ko-KR" sz="1400" b="1" dirty="0"/>
              <a:t>the DNS service for the cluster has the address “10.96.0.10”</a:t>
            </a:r>
            <a:r>
              <a:rPr lang="en-US" altLang="ko-KR" sz="1400" dirty="0"/>
              <a:t>. If you log in to a container in the cluster, you’ll see that this has been populated into the “</a:t>
            </a:r>
            <a:r>
              <a:rPr lang="en-US" altLang="ko-KR" sz="1400" b="1" dirty="0"/>
              <a:t>/</a:t>
            </a:r>
            <a:r>
              <a:rPr lang="en-US" altLang="ko-KR" sz="1400" b="1" dirty="0" err="1"/>
              <a:t>etc</a:t>
            </a:r>
            <a:r>
              <a:rPr lang="en-US" altLang="ko-KR" sz="1400" b="1" dirty="0"/>
              <a:t>/</a:t>
            </a:r>
            <a:r>
              <a:rPr lang="en-US" altLang="ko-KR" sz="1400" b="1" dirty="0" err="1"/>
              <a:t>resolv.conf</a:t>
            </a:r>
            <a:r>
              <a:rPr lang="en-US" altLang="ko-KR" sz="1400" dirty="0"/>
              <a:t>” file for the container.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97561A9-A139-4B0D-8766-FEF24056DF12}"/>
              </a:ext>
            </a:extLst>
          </p:cNvPr>
          <p:cNvGrpSpPr/>
          <p:nvPr/>
        </p:nvGrpSpPr>
        <p:grpSpPr>
          <a:xfrm>
            <a:off x="1333500" y="1477561"/>
            <a:ext cx="9525000" cy="2392855"/>
            <a:chOff x="1333500" y="1477561"/>
            <a:chExt cx="9525000" cy="2392855"/>
          </a:xfrm>
        </p:grpSpPr>
        <p:sp>
          <p:nvSpPr>
            <p:cNvPr id="4" name="직사각형 3">
              <a:extLst>
                <a:ext uri="{FF2B5EF4-FFF2-40B4-BE49-F238E27FC236}">
                  <a16:creationId xmlns:a16="http://schemas.microsoft.com/office/drawing/2014/main" id="{61CA50CD-5FC5-48D3-AAA4-C8E2A10E512A}"/>
                </a:ext>
              </a:extLst>
            </p:cNvPr>
            <p:cNvSpPr/>
            <p:nvPr/>
          </p:nvSpPr>
          <p:spPr>
            <a:xfrm>
              <a:off x="3048000" y="1477561"/>
              <a:ext cx="6096000" cy="246221"/>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a:solidFill>
                    <a:srgbClr val="FF0000"/>
                  </a:solidFill>
                </a:rPr>
                <a:t>services</a:t>
              </a:r>
              <a:r>
                <a:rPr lang="en-US" altLang="ko-KR" sz="1000" b="1" dirty="0"/>
                <a:t> --namespace=</a:t>
              </a:r>
              <a:r>
                <a:rPr lang="en-US" altLang="ko-KR" sz="1000" b="1" dirty="0" err="1"/>
                <a:t>kube</a:t>
              </a:r>
              <a:r>
                <a:rPr lang="en-US" altLang="ko-KR" sz="1000" b="1" dirty="0"/>
                <a:t>-system</a:t>
              </a:r>
              <a:endParaRPr lang="ko-KR" altLang="en-US" sz="1000" b="1" dirty="0"/>
            </a:p>
          </p:txBody>
        </p:sp>
        <p:sp>
          <p:nvSpPr>
            <p:cNvPr id="8" name="화살표: 아래쪽 7">
              <a:extLst>
                <a:ext uri="{FF2B5EF4-FFF2-40B4-BE49-F238E27FC236}">
                  <a16:creationId xmlns:a16="http://schemas.microsoft.com/office/drawing/2014/main" id="{EEBA9409-9F16-487F-B572-6E12174E143D}"/>
                </a:ext>
              </a:extLst>
            </p:cNvPr>
            <p:cNvSpPr/>
            <p:nvPr/>
          </p:nvSpPr>
          <p:spPr>
            <a:xfrm>
              <a:off x="5823284" y="1739824"/>
              <a:ext cx="425116"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EE5C1525-ABE0-4FE0-9BFC-54A5F954E737}"/>
                </a:ext>
              </a:extLst>
            </p:cNvPr>
            <p:cNvPicPr>
              <a:picLocks noChangeAspect="1"/>
            </p:cNvPicPr>
            <p:nvPr/>
          </p:nvPicPr>
          <p:blipFill>
            <a:blip r:embed="rId2"/>
            <a:stretch>
              <a:fillRect/>
            </a:stretch>
          </p:blipFill>
          <p:spPr>
            <a:xfrm>
              <a:off x="1333500" y="2060666"/>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4399639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Cluster Components(4/5)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UI :</a:t>
            </a:r>
          </a:p>
          <a:p>
            <a:pPr lvl="1">
              <a:buFont typeface="Wingdings" panose="05000000000000000000" pitchFamily="2" charset="2"/>
              <a:buChar char="§"/>
            </a:pPr>
            <a:r>
              <a:rPr lang="en-US" altLang="ko-KR" sz="1400" b="1" dirty="0"/>
              <a:t>The final Kubernetes component is a GUI</a:t>
            </a:r>
            <a:r>
              <a:rPr lang="en-US" altLang="ko-KR" sz="1400" dirty="0"/>
              <a:t>. </a:t>
            </a:r>
            <a:r>
              <a:rPr lang="en-US" altLang="ko-KR" sz="1400" b="1" dirty="0"/>
              <a:t>The UI is run as a single replica</a:t>
            </a:r>
            <a:r>
              <a:rPr lang="en-US" altLang="ko-KR" sz="1400" dirty="0"/>
              <a:t>, but it is still managed by a Kubernetes deployment for reliability and upgrades. You can see this UI server using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NOTE : You can get the name space with “</a:t>
            </a:r>
            <a:r>
              <a:rPr lang="en-US" altLang="ko-KR" sz="1400" b="1" dirty="0" err="1"/>
              <a:t>kubectl</a:t>
            </a:r>
            <a:r>
              <a:rPr lang="en-US" altLang="ko-KR" sz="1400" b="1" dirty="0"/>
              <a:t> describe node &lt;NODE NAME&gt;</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B10B0990-BC9F-4751-AF2A-C5D7641D56AA}"/>
              </a:ext>
            </a:extLst>
          </p:cNvPr>
          <p:cNvGrpSpPr/>
          <p:nvPr/>
        </p:nvGrpSpPr>
        <p:grpSpPr>
          <a:xfrm>
            <a:off x="1731043" y="1637982"/>
            <a:ext cx="8729912" cy="2152950"/>
            <a:chOff x="1731044" y="1686109"/>
            <a:chExt cx="8729912" cy="2152950"/>
          </a:xfrm>
        </p:grpSpPr>
        <p:sp>
          <p:nvSpPr>
            <p:cNvPr id="4" name="직사각형 3">
              <a:extLst>
                <a:ext uri="{FF2B5EF4-FFF2-40B4-BE49-F238E27FC236}">
                  <a16:creationId xmlns:a16="http://schemas.microsoft.com/office/drawing/2014/main" id="{ADB43257-34E6-490E-BA01-3E7A5074BF60}"/>
                </a:ext>
              </a:extLst>
            </p:cNvPr>
            <p:cNvSpPr/>
            <p:nvPr/>
          </p:nvSpPr>
          <p:spPr>
            <a:xfrm>
              <a:off x="3048000" y="1686109"/>
              <a:ext cx="6096000" cy="246221"/>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a:solidFill>
                    <a:srgbClr val="FF0000"/>
                  </a:solidFill>
                </a:rPr>
                <a:t>deployments</a:t>
              </a:r>
              <a:r>
                <a:rPr lang="en-US" altLang="ko-KR" sz="1000" b="1" dirty="0"/>
                <a:t> --namespace=</a:t>
              </a:r>
              <a:r>
                <a:rPr lang="en-US" altLang="ko-KR" sz="1000" b="1" dirty="0" err="1"/>
                <a:t>kubernetes</a:t>
              </a:r>
              <a:r>
                <a:rPr lang="en-US" altLang="ko-KR" sz="1000" b="1" dirty="0"/>
                <a:t>-dashboard</a:t>
              </a:r>
              <a:endParaRPr lang="ko-KR" altLang="en-US" sz="1000" b="1" dirty="0"/>
            </a:p>
          </p:txBody>
        </p:sp>
        <p:sp>
          <p:nvSpPr>
            <p:cNvPr id="9" name="화살표: 아래쪽 8">
              <a:extLst>
                <a:ext uri="{FF2B5EF4-FFF2-40B4-BE49-F238E27FC236}">
                  <a16:creationId xmlns:a16="http://schemas.microsoft.com/office/drawing/2014/main" id="{385FA07D-8BC7-4797-845A-68CE2EED027D}"/>
                </a:ext>
              </a:extLst>
            </p:cNvPr>
            <p:cNvSpPr/>
            <p:nvPr/>
          </p:nvSpPr>
          <p:spPr>
            <a:xfrm>
              <a:off x="5899484" y="1942462"/>
              <a:ext cx="393031"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97441BCC-B0F0-438D-A62E-D8A7F0EDDD1B}"/>
                </a:ext>
              </a:extLst>
            </p:cNvPr>
            <p:cNvGrpSpPr/>
            <p:nvPr/>
          </p:nvGrpSpPr>
          <p:grpSpPr>
            <a:xfrm>
              <a:off x="1731044" y="2198815"/>
              <a:ext cx="8729912" cy="1640244"/>
              <a:chOff x="1352549" y="2188683"/>
              <a:chExt cx="9486900" cy="1809750"/>
            </a:xfrm>
          </p:grpSpPr>
          <p:pic>
            <p:nvPicPr>
              <p:cNvPr id="8" name="그림 7">
                <a:extLst>
                  <a:ext uri="{FF2B5EF4-FFF2-40B4-BE49-F238E27FC236}">
                    <a16:creationId xmlns:a16="http://schemas.microsoft.com/office/drawing/2014/main" id="{EF63DAC2-F072-4499-9A2C-8EC89ABA6A4A}"/>
                  </a:ext>
                </a:extLst>
              </p:cNvPr>
              <p:cNvPicPr>
                <a:picLocks noChangeAspect="1"/>
              </p:cNvPicPr>
              <p:nvPr/>
            </p:nvPicPr>
            <p:blipFill>
              <a:blip r:embed="rId2"/>
              <a:stretch>
                <a:fillRect/>
              </a:stretch>
            </p:blipFill>
            <p:spPr>
              <a:xfrm>
                <a:off x="1352549" y="2188683"/>
                <a:ext cx="9486900" cy="1809750"/>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FEB51AB7-6D00-480B-B4DE-CF71F14DCB47}"/>
                  </a:ext>
                </a:extLst>
              </p:cNvPr>
              <p:cNvSpPr/>
              <p:nvPr/>
            </p:nvSpPr>
            <p:spPr>
              <a:xfrm>
                <a:off x="1427747" y="3239465"/>
                <a:ext cx="1772653" cy="1213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16" name="그룹 15">
            <a:extLst>
              <a:ext uri="{FF2B5EF4-FFF2-40B4-BE49-F238E27FC236}">
                <a16:creationId xmlns:a16="http://schemas.microsoft.com/office/drawing/2014/main" id="{8DB36C35-152B-475C-9B3C-CCDEB8C089FF}"/>
              </a:ext>
            </a:extLst>
          </p:cNvPr>
          <p:cNvGrpSpPr/>
          <p:nvPr/>
        </p:nvGrpSpPr>
        <p:grpSpPr>
          <a:xfrm>
            <a:off x="1731042" y="4165403"/>
            <a:ext cx="8729912" cy="2047216"/>
            <a:chOff x="1731042" y="4165403"/>
            <a:chExt cx="8729912" cy="2047216"/>
          </a:xfrm>
        </p:grpSpPr>
        <p:pic>
          <p:nvPicPr>
            <p:cNvPr id="12" name="그림 11">
              <a:extLst>
                <a:ext uri="{FF2B5EF4-FFF2-40B4-BE49-F238E27FC236}">
                  <a16:creationId xmlns:a16="http://schemas.microsoft.com/office/drawing/2014/main" id="{68205EDD-2C3A-4E04-8829-2E56A35FE4B0}"/>
                </a:ext>
              </a:extLst>
            </p:cNvPr>
            <p:cNvPicPr>
              <a:picLocks noChangeAspect="1"/>
            </p:cNvPicPr>
            <p:nvPr/>
          </p:nvPicPr>
          <p:blipFill>
            <a:blip r:embed="rId3"/>
            <a:stretch>
              <a:fillRect/>
            </a:stretch>
          </p:blipFill>
          <p:spPr>
            <a:xfrm>
              <a:off x="1731042" y="4165403"/>
              <a:ext cx="8729912" cy="2047216"/>
            </a:xfrm>
            <a:prstGeom prst="rect">
              <a:avLst/>
            </a:prstGeom>
            <a:ln>
              <a:solidFill>
                <a:schemeClr val="bg1">
                  <a:lumMod val="50000"/>
                </a:schemeClr>
              </a:solidFill>
            </a:ln>
          </p:spPr>
        </p:pic>
        <p:sp>
          <p:nvSpPr>
            <p:cNvPr id="15" name="직사각형 14">
              <a:extLst>
                <a:ext uri="{FF2B5EF4-FFF2-40B4-BE49-F238E27FC236}">
                  <a16:creationId xmlns:a16="http://schemas.microsoft.com/office/drawing/2014/main" id="{292A6ED2-5666-43AE-A463-E3A2960B8F4C}"/>
                </a:ext>
              </a:extLst>
            </p:cNvPr>
            <p:cNvSpPr/>
            <p:nvPr/>
          </p:nvSpPr>
          <p:spPr>
            <a:xfrm>
              <a:off x="1876926" y="4705974"/>
              <a:ext cx="1379621" cy="14243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377369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Dashboard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Service :</a:t>
            </a:r>
          </a:p>
          <a:p>
            <a:pPr lvl="1">
              <a:buFont typeface="Wingdings" panose="05000000000000000000" pitchFamily="2" charset="2"/>
              <a:buChar char="§"/>
            </a:pPr>
            <a:r>
              <a:rPr lang="en-US" altLang="ko-KR" sz="1400" b="1" dirty="0"/>
              <a:t>To run the “</a:t>
            </a:r>
            <a:r>
              <a:rPr lang="en-US" altLang="ko-KR" sz="1400" b="1" dirty="0" err="1"/>
              <a:t>kubernetes</a:t>
            </a:r>
            <a:r>
              <a:rPr lang="en-US" altLang="ko-KR" sz="1400" b="1" dirty="0"/>
              <a:t> dashboard”</a:t>
            </a:r>
            <a:r>
              <a:rPr lang="en-US" altLang="ko-KR" sz="1400" dirty="0"/>
              <a:t>, you need to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3F39781-8EFF-4648-923A-E5FC30E26659}"/>
              </a:ext>
            </a:extLst>
          </p:cNvPr>
          <p:cNvGrpSpPr/>
          <p:nvPr/>
        </p:nvGrpSpPr>
        <p:grpSpPr>
          <a:xfrm>
            <a:off x="1532603" y="1586487"/>
            <a:ext cx="9126793" cy="4662881"/>
            <a:chOff x="1532602" y="1467398"/>
            <a:chExt cx="9126793" cy="4662881"/>
          </a:xfrm>
        </p:grpSpPr>
        <p:sp>
          <p:nvSpPr>
            <p:cNvPr id="4" name="직사각형 3">
              <a:extLst>
                <a:ext uri="{FF2B5EF4-FFF2-40B4-BE49-F238E27FC236}">
                  <a16:creationId xmlns:a16="http://schemas.microsoft.com/office/drawing/2014/main" id="{851315DD-AA97-413F-AF6D-A5A25E5532A4}"/>
                </a:ext>
              </a:extLst>
            </p:cNvPr>
            <p:cNvSpPr/>
            <p:nvPr/>
          </p:nvSpPr>
          <p:spPr>
            <a:xfrm>
              <a:off x="2209800" y="1467398"/>
              <a:ext cx="7780421" cy="400110"/>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apply -f </a:t>
              </a:r>
              <a:r>
                <a:rPr lang="en-US" altLang="ko-KR" sz="1000" b="1" dirty="0">
                  <a:hlinkClick r:id="rId2"/>
                </a:rPr>
                <a:t>https://raw.githubusercontent.com/kubernetes/dashboard/v2.4.0/aio/deploy/recommended.yaml</a:t>
              </a:r>
              <a:endParaRPr lang="en-US" altLang="ko-KR" sz="1000" b="1" dirty="0"/>
            </a:p>
            <a:p>
              <a:r>
                <a:rPr lang="en-US" altLang="ko-KR" sz="1000" b="1" dirty="0" err="1"/>
                <a:t>kubectl</a:t>
              </a:r>
              <a:r>
                <a:rPr lang="en-US" altLang="ko-KR" sz="1000" b="1" dirty="0"/>
                <a:t> proxy</a:t>
              </a:r>
            </a:p>
          </p:txBody>
        </p:sp>
        <p:pic>
          <p:nvPicPr>
            <p:cNvPr id="8" name="그림 7">
              <a:extLst>
                <a:ext uri="{FF2B5EF4-FFF2-40B4-BE49-F238E27FC236}">
                  <a16:creationId xmlns:a16="http://schemas.microsoft.com/office/drawing/2014/main" id="{3BB72F38-9D33-4101-AFFB-4ECBE89463CC}"/>
                </a:ext>
              </a:extLst>
            </p:cNvPr>
            <p:cNvPicPr>
              <a:picLocks noChangeAspect="1"/>
            </p:cNvPicPr>
            <p:nvPr/>
          </p:nvPicPr>
          <p:blipFill>
            <a:blip r:embed="rId3"/>
            <a:stretch>
              <a:fillRect/>
            </a:stretch>
          </p:blipFill>
          <p:spPr>
            <a:xfrm>
              <a:off x="1532602" y="2216339"/>
              <a:ext cx="9126793" cy="3913940"/>
            </a:xfrm>
            <a:prstGeom prst="rect">
              <a:avLst/>
            </a:prstGeom>
          </p:spPr>
        </p:pic>
        <p:sp>
          <p:nvSpPr>
            <p:cNvPr id="9" name="화살표: 아래쪽 8">
              <a:extLst>
                <a:ext uri="{FF2B5EF4-FFF2-40B4-BE49-F238E27FC236}">
                  <a16:creationId xmlns:a16="http://schemas.microsoft.com/office/drawing/2014/main" id="{A61527A3-E606-448A-919F-1C230D153928}"/>
                </a:ext>
              </a:extLst>
            </p:cNvPr>
            <p:cNvSpPr/>
            <p:nvPr/>
          </p:nvSpPr>
          <p:spPr>
            <a:xfrm>
              <a:off x="5879431" y="1927061"/>
              <a:ext cx="433137"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649589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Cluster Components(5/5)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UI :</a:t>
            </a:r>
          </a:p>
          <a:p>
            <a:pPr lvl="1">
              <a:buFont typeface="Wingdings" panose="05000000000000000000" pitchFamily="2" charset="2"/>
              <a:buChar char="§"/>
            </a:pPr>
            <a:r>
              <a:rPr lang="en-US" altLang="ko-KR" sz="1400" b="1" dirty="0"/>
              <a:t>The dashboard also has a service that performs load balancing for the dashboard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use “</a:t>
            </a:r>
            <a:r>
              <a:rPr lang="en-US" altLang="ko-KR" sz="1400" b="1" dirty="0" err="1"/>
              <a:t>kubectl</a:t>
            </a:r>
            <a:r>
              <a:rPr lang="en-US" altLang="ko-KR" sz="1400" b="1" dirty="0"/>
              <a:t> proxy</a:t>
            </a:r>
            <a:r>
              <a:rPr lang="en-US" altLang="ko-KR" sz="1400" dirty="0"/>
              <a:t>” </a:t>
            </a:r>
            <a:r>
              <a:rPr lang="en-US" altLang="ko-KR" sz="1400" b="1" dirty="0"/>
              <a:t>command to access the UI</a:t>
            </a:r>
            <a:r>
              <a:rPr lang="en-US" altLang="ko-KR" sz="1400" dirty="0"/>
              <a:t>. This starts up a server running on localhost:8001. If you visit  </a:t>
            </a:r>
            <a:r>
              <a:rPr lang="en-US" altLang="ko-KR" sz="1400" b="1" dirty="0">
                <a:hlinkClick r:id="rId2"/>
              </a:rPr>
              <a:t>http://localhost:8001/api/v1/namespaces/kubernetes-dashboard/services/https:kubernetes-dashboard:/proxy/</a:t>
            </a:r>
            <a:r>
              <a:rPr lang="en-US" altLang="ko-KR" sz="1400" dirty="0"/>
              <a:t> in your web browser, you should see </a:t>
            </a:r>
            <a:r>
              <a:rPr lang="en-US" altLang="ko-KR" sz="1400" b="1" dirty="0"/>
              <a:t>the Kubernetes web UI</a:t>
            </a:r>
            <a:r>
              <a:rPr lang="en-US" altLang="ko-KR" sz="1400" dirty="0"/>
              <a:t>. You can use this interface to explore your cluster, as well as create new containers.</a:t>
            </a:r>
          </a:p>
          <a:p>
            <a:pPr lvl="1">
              <a:buFont typeface="Wingdings" panose="05000000000000000000" pitchFamily="2" charset="2"/>
              <a:buChar char="§"/>
            </a:pPr>
            <a:r>
              <a:rPr lang="en-US" altLang="ko-KR" sz="1400" b="1" dirty="0"/>
              <a:t>Some providers don’t install the Kubernetes Dashboard by default</a:t>
            </a:r>
            <a:r>
              <a:rPr lang="en-US" altLang="ko-KR" sz="1400" dirty="0"/>
              <a:t>, so don’t worry if you don’t see it in your cluster. Documentation on how to install the dashboard for these clusters is available at  </a:t>
            </a:r>
            <a:r>
              <a:rPr lang="en-US" altLang="ko-KR" sz="1400" b="1" dirty="0">
                <a:hlinkClick r:id="rId3"/>
              </a:rPr>
              <a:t>https://kubernetes.io/docs/tasks/access-application-cluster/web-ui-dashboard/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FAF255E-D4EC-49F8-9B28-0F722128DA8A}"/>
              </a:ext>
            </a:extLst>
          </p:cNvPr>
          <p:cNvGrpSpPr/>
          <p:nvPr/>
        </p:nvGrpSpPr>
        <p:grpSpPr>
          <a:xfrm>
            <a:off x="2090737" y="1565794"/>
            <a:ext cx="8010525" cy="2350986"/>
            <a:chOff x="2090737" y="1485583"/>
            <a:chExt cx="8010525" cy="2350986"/>
          </a:xfrm>
        </p:grpSpPr>
        <p:sp>
          <p:nvSpPr>
            <p:cNvPr id="4" name="직사각형 3">
              <a:extLst>
                <a:ext uri="{FF2B5EF4-FFF2-40B4-BE49-F238E27FC236}">
                  <a16:creationId xmlns:a16="http://schemas.microsoft.com/office/drawing/2014/main" id="{5A60CAC9-240B-4F74-A8F3-D718E4B4BDFE}"/>
                </a:ext>
              </a:extLst>
            </p:cNvPr>
            <p:cNvSpPr/>
            <p:nvPr/>
          </p:nvSpPr>
          <p:spPr>
            <a:xfrm>
              <a:off x="3048000" y="1485583"/>
              <a:ext cx="6096000" cy="246221"/>
            </a:xfrm>
            <a:prstGeom prst="rect">
              <a:avLst/>
            </a:prstGeom>
            <a:ln>
              <a:solidFill>
                <a:schemeClr val="bg1">
                  <a:lumMod val="50000"/>
                </a:schemeClr>
              </a:solidFill>
            </a:ln>
          </p:spPr>
          <p:txBody>
            <a:bodyPr>
              <a:spAutoFit/>
            </a:bodyPr>
            <a:lstStyle/>
            <a:p>
              <a:r>
                <a:rPr lang="en-US" altLang="ko-KR" sz="1000" b="1" dirty="0" err="1"/>
                <a:t>kubectl</a:t>
              </a:r>
              <a:r>
                <a:rPr lang="en-US" altLang="ko-KR" sz="1000" b="1" dirty="0"/>
                <a:t> get </a:t>
              </a:r>
              <a:r>
                <a:rPr lang="en-US" altLang="ko-KR" sz="1000" b="1" dirty="0">
                  <a:solidFill>
                    <a:srgbClr val="FF0000"/>
                  </a:solidFill>
                </a:rPr>
                <a:t>services</a:t>
              </a:r>
              <a:r>
                <a:rPr lang="en-US" altLang="ko-KR" sz="1000" b="1" dirty="0"/>
                <a:t> --namespace=</a:t>
              </a:r>
              <a:r>
                <a:rPr lang="en-US" altLang="ko-KR" sz="1000" b="1" dirty="0" err="1"/>
                <a:t>kubernetes</a:t>
              </a:r>
              <a:r>
                <a:rPr lang="en-US" altLang="ko-KR" sz="1000" b="1" dirty="0"/>
                <a:t>-dashboard</a:t>
              </a:r>
              <a:endParaRPr lang="ko-KR" altLang="en-US" sz="1000" b="1" dirty="0"/>
            </a:p>
          </p:txBody>
        </p:sp>
        <p:pic>
          <p:nvPicPr>
            <p:cNvPr id="8" name="그림 7">
              <a:extLst>
                <a:ext uri="{FF2B5EF4-FFF2-40B4-BE49-F238E27FC236}">
                  <a16:creationId xmlns:a16="http://schemas.microsoft.com/office/drawing/2014/main" id="{069D5A9C-66E6-4069-8469-E3838BC177E0}"/>
                </a:ext>
              </a:extLst>
            </p:cNvPr>
            <p:cNvPicPr>
              <a:picLocks noChangeAspect="1"/>
            </p:cNvPicPr>
            <p:nvPr/>
          </p:nvPicPr>
          <p:blipFill>
            <a:blip r:embed="rId4"/>
            <a:stretch>
              <a:fillRect/>
            </a:stretch>
          </p:blipFill>
          <p:spPr>
            <a:xfrm>
              <a:off x="2090737" y="2026819"/>
              <a:ext cx="8010525"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F6CA86DE-6236-4C94-8693-F69726F81665}"/>
                </a:ext>
              </a:extLst>
            </p:cNvPr>
            <p:cNvSpPr/>
            <p:nvPr/>
          </p:nvSpPr>
          <p:spPr>
            <a:xfrm>
              <a:off x="5899483" y="1767731"/>
              <a:ext cx="393031"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270533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Dashboard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Authentication Token :</a:t>
            </a:r>
          </a:p>
          <a:p>
            <a:pPr lvl="1">
              <a:buFont typeface="Wingdings" panose="05000000000000000000" pitchFamily="2" charset="2"/>
              <a:buChar char="§"/>
            </a:pPr>
            <a:r>
              <a:rPr lang="en-US" altLang="ko-KR" sz="1400" dirty="0"/>
              <a:t>When you access the “Kubernetes Dashboard”, you will see the following screen 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the local machine which runs the Kubernetes Dashboard in command line, you need to provides the “</a:t>
            </a:r>
            <a:r>
              <a:rPr lang="en-US" altLang="ko-KR" sz="1400" b="1" dirty="0"/>
              <a:t>Authentication Token</a:t>
            </a:r>
            <a:r>
              <a:rPr lang="en-US" altLang="ko-KR" sz="1400" dirty="0"/>
              <a:t>”. For now, just you check whether the dashboard is working no not.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0AD875E-1C57-4E81-87EC-3A7D19E393C7}"/>
              </a:ext>
            </a:extLst>
          </p:cNvPr>
          <p:cNvPicPr>
            <a:picLocks noChangeAspect="1"/>
          </p:cNvPicPr>
          <p:nvPr/>
        </p:nvPicPr>
        <p:blipFill>
          <a:blip r:embed="rId2"/>
          <a:stretch>
            <a:fillRect/>
          </a:stretch>
        </p:blipFill>
        <p:spPr>
          <a:xfrm>
            <a:off x="1649591" y="1540043"/>
            <a:ext cx="8892818" cy="3098721"/>
          </a:xfrm>
          <a:prstGeom prst="rect">
            <a:avLst/>
          </a:prstGeom>
          <a:ln>
            <a:solidFill>
              <a:schemeClr val="bg1">
                <a:lumMod val="50000"/>
              </a:schemeClr>
            </a:solidFill>
          </a:ln>
        </p:spPr>
      </p:pic>
    </p:spTree>
    <p:extLst>
      <p:ext uri="{BB962C8B-B14F-4D97-AF65-F5344CB8AC3E}">
        <p14:creationId xmlns:p14="http://schemas.microsoft.com/office/powerpoint/2010/main" val="5043024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https://github.com/kubernetes-up-and-running/kuard</a:t>
            </a:r>
            <a:r>
              <a:rPr lang="en-US" altLang="ko-KR" sz="1400" b="1" dirty="0"/>
              <a:t> </a:t>
            </a:r>
          </a:p>
          <a:p>
            <a:pPr marL="0" indent="0">
              <a:buNone/>
            </a:pPr>
            <a:r>
              <a:rPr lang="en-US" altLang="ko-KR" sz="1400" b="1" dirty="0"/>
              <a:t>[3] </a:t>
            </a:r>
            <a:r>
              <a:rPr lang="en-US" altLang="ko-KR" sz="1400" b="1" dirty="0">
                <a:hlinkClick r:id="rId3"/>
              </a:rPr>
              <a:t>https://www.oreilly.com/library/view/kubernetes-up-and/9781492046523/</a:t>
            </a:r>
            <a:endParaRPr lang="en-US" altLang="ko-KR" sz="1400" b="1" dirty="0"/>
          </a:p>
          <a:p>
            <a:pPr marL="0" indent="0">
              <a:buNone/>
            </a:pPr>
            <a:r>
              <a:rPr lang="en-US" altLang="ko-KR" sz="1400" b="1" dirty="0"/>
              <a:t>[4] </a:t>
            </a:r>
            <a:r>
              <a:rPr lang="en-US" altLang="ko-KR" sz="1400" b="1" dirty="0">
                <a:hlinkClick r:id="rId4"/>
              </a:rPr>
              <a:t>https://github.com/surfer190/fixes/blob/master/docs/kubernetes/kubernetes-up-and-running.md</a:t>
            </a:r>
            <a:endParaRPr lang="en-US" altLang="ko-KR" sz="1400" b="1" dirty="0"/>
          </a:p>
          <a:p>
            <a:pPr marL="0" indent="0">
              <a:buNone/>
            </a:pPr>
            <a:r>
              <a:rPr lang="en-US" altLang="ko-KR" sz="1400" b="1" dirty="0"/>
              <a:t>[5] </a:t>
            </a:r>
            <a:r>
              <a:rPr lang="en-US" altLang="ko-KR" sz="1400" b="1" dirty="0">
                <a:hlinkClick r:id="rId5"/>
              </a:rPr>
              <a:t>https://medium.com/finda-tech/overview-8d169b2a54ff</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6"/>
          <a:stretch>
            <a:fillRect/>
          </a:stretch>
        </p:blipFill>
        <p:spPr>
          <a:xfrm>
            <a:off x="4925974" y="3112170"/>
            <a:ext cx="2340052" cy="3064793"/>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97022</TotalTime>
  <Words>13810</Words>
  <Application>Microsoft Office PowerPoint</Application>
  <PresentationFormat>와이드스크린</PresentationFormat>
  <Paragraphs>1093</Paragraphs>
  <Slides>99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99</vt:i4>
      </vt:variant>
    </vt:vector>
  </HeadingPairs>
  <TitlesOfParts>
    <vt:vector size="103" baseType="lpstr">
      <vt:lpstr>맑은 고딕</vt:lpstr>
      <vt:lpstr>Arial</vt:lpstr>
      <vt:lpstr>Wingdings</vt:lpstr>
      <vt:lpstr>Office 테마</vt:lpstr>
      <vt:lpstr>Kubernetes</vt:lpstr>
      <vt:lpstr>Introduction</vt:lpstr>
      <vt:lpstr>Introduction</vt:lpstr>
      <vt:lpstr>Features(1/21)</vt:lpstr>
      <vt:lpstr>Features(2/21)</vt:lpstr>
      <vt:lpstr>Features(3/21)</vt:lpstr>
      <vt:lpstr>Features(4/21)</vt:lpstr>
      <vt:lpstr>Features(5/21)</vt:lpstr>
      <vt:lpstr>Features(6/21)</vt:lpstr>
      <vt:lpstr>Features(7/21)</vt:lpstr>
      <vt:lpstr>Features(8/21)</vt:lpstr>
      <vt:lpstr>Features(9/21)</vt:lpstr>
      <vt:lpstr>Features(10/21)</vt:lpstr>
      <vt:lpstr>Features(11/21)</vt:lpstr>
      <vt:lpstr>Features(12/21)</vt:lpstr>
      <vt:lpstr>Features(13/21)</vt:lpstr>
      <vt:lpstr>Features(14/21)</vt:lpstr>
      <vt:lpstr>Features(15/21)</vt:lpstr>
      <vt:lpstr>Features(16/21)</vt:lpstr>
      <vt:lpstr>Features(17/21)</vt:lpstr>
      <vt:lpstr>Features(18/21)</vt:lpstr>
      <vt:lpstr>Features(19/21)</vt:lpstr>
      <vt:lpstr>Features(20/21)</vt:lpstr>
      <vt:lpstr>Features(21/21)</vt:lpstr>
      <vt:lpstr>NOTE : Virtual Machine VS. Container</vt:lpstr>
      <vt:lpstr>Creating and Running Containers</vt:lpstr>
      <vt:lpstr>Distributed Application(1/2)</vt:lpstr>
      <vt:lpstr>Distributed Application(2/2)</vt:lpstr>
      <vt:lpstr>Container Images(1/5)</vt:lpstr>
      <vt:lpstr>Container Images(2/5)</vt:lpstr>
      <vt:lpstr>Container Images(3/5)</vt:lpstr>
      <vt:lpstr>Container Images(4/5)</vt:lpstr>
      <vt:lpstr>Container Images(5/5)</vt:lpstr>
      <vt:lpstr>Building Application Images with Docker(1/9)</vt:lpstr>
      <vt:lpstr>NOTE : Before You Go Further</vt:lpstr>
      <vt:lpstr>Building Application Images with Docker(2/9)</vt:lpstr>
      <vt:lpstr>Building Application Images with Docker(3/9)</vt:lpstr>
      <vt:lpstr>Building Application Images with Docker(4/9)</vt:lpstr>
      <vt:lpstr>Building Application Images with Docker(5/9)</vt:lpstr>
      <vt:lpstr>NOTE : Removing NPM Notice Message in Container </vt:lpstr>
      <vt:lpstr>Building Application Images with Docker(6/9)</vt:lpstr>
      <vt:lpstr>Building Application Images with Docker(7/9)</vt:lpstr>
      <vt:lpstr>Building Application Images with Docker(8/9)</vt:lpstr>
      <vt:lpstr>Building Application Images with Docker(9/9)</vt:lpstr>
      <vt:lpstr>Multistage Image Builds(1/4)</vt:lpstr>
      <vt:lpstr>Multistage Image Builds(2/4)</vt:lpstr>
      <vt:lpstr>NOTE : Build “kuard” Image</vt:lpstr>
      <vt:lpstr>Multistage Image Builds(3/4)</vt:lpstr>
      <vt:lpstr>Multistage Image Builds(4/4)</vt:lpstr>
      <vt:lpstr>Storing Images in a Remote Registry(1/2)</vt:lpstr>
      <vt:lpstr>Storing Images in a Remote Registry(2/2)</vt:lpstr>
      <vt:lpstr>NOTE : Docker Image Upload</vt:lpstr>
      <vt:lpstr>NOTE : Docker Image Download</vt:lpstr>
      <vt:lpstr>The Docker Container Runtime(1/5)</vt:lpstr>
      <vt:lpstr>The Docker Container Runtime(2/5)</vt:lpstr>
      <vt:lpstr>The Docker Container Runtime(3/5)</vt:lpstr>
      <vt:lpstr>The Docker Container Runtime(4/5)</vt:lpstr>
      <vt:lpstr>The Docker Container Runtime(5/5)</vt:lpstr>
      <vt:lpstr>Cleanup(1/3)</vt:lpstr>
      <vt:lpstr>Cleanup(2/3)</vt:lpstr>
      <vt:lpstr>Cleanup(3/3)</vt:lpstr>
      <vt:lpstr>NOTE : Docker Hub Repository</vt:lpstr>
      <vt:lpstr>Deploying a Kubernetes Cluster</vt:lpstr>
      <vt:lpstr>Kubernetes Cluster</vt:lpstr>
      <vt:lpstr>Installing Kubernetes on a Public Cloud Provider(1/4)</vt:lpstr>
      <vt:lpstr>Installing Kubernetes on a Public Cloud Provider(2/4)</vt:lpstr>
      <vt:lpstr>Installing Kubernetes on a Public Cloud Provider(3/4)</vt:lpstr>
      <vt:lpstr>Installing Kubernetes on a Public Cloud Provider(4/4)</vt:lpstr>
      <vt:lpstr>Installing Kubernetes Locally(1/4)</vt:lpstr>
      <vt:lpstr>Installing Kubernetes Locally(2/4)</vt:lpstr>
      <vt:lpstr>NOTE : Installing Minikube on Linux Ubuntu 20.04(1/6)</vt:lpstr>
      <vt:lpstr>NOTE : Installing Minikube on Linux Ubuntu 20.04(2/6)</vt:lpstr>
      <vt:lpstr>NOTE : Installing Minikube on Linux Ubuntu 20.04(3/6)</vt:lpstr>
      <vt:lpstr>NOTE : Installing Minikube on Linux Ubuntu 20.04(4/6)</vt:lpstr>
      <vt:lpstr>NOTE : Installing Minikube on Linux Ubuntu 20.04(5/6)</vt:lpstr>
      <vt:lpstr>NOTE : Installing Minikube on Linux Ubuntu 20.04(6/6)</vt:lpstr>
      <vt:lpstr>Installing Kubernetes Locally(3/4)</vt:lpstr>
      <vt:lpstr>Installing Kubernetes Locally(4/4)</vt:lpstr>
      <vt:lpstr>NOTE : Disable Swapping in Linux Ubuntu 20.04</vt:lpstr>
      <vt:lpstr>Running Kubernetes in Docker</vt:lpstr>
      <vt:lpstr>The Kubernetes Client(1/10)</vt:lpstr>
      <vt:lpstr>The Kubernetes Client(2/10)</vt:lpstr>
      <vt:lpstr>The Kubernetes Client(3/10)</vt:lpstr>
      <vt:lpstr>The Kubernetes Client(4/10)</vt:lpstr>
      <vt:lpstr>The Kubernetes Client(5/10)</vt:lpstr>
      <vt:lpstr>The Kubernetes Client(6/10)</vt:lpstr>
      <vt:lpstr>The Kubernetes Client(7/10)</vt:lpstr>
      <vt:lpstr>The Kubernetes Client(8/10)</vt:lpstr>
      <vt:lpstr>The Kubernetes Client(9/10)</vt:lpstr>
      <vt:lpstr>The Kubernetes Client(10/10)</vt:lpstr>
      <vt:lpstr>Cluster Components(1/5)</vt:lpstr>
      <vt:lpstr>Cluster Components(2/5)</vt:lpstr>
      <vt:lpstr>Cluster Components(3/5)</vt:lpstr>
      <vt:lpstr>Cluster Components(4/5)</vt:lpstr>
      <vt:lpstr>NOTE : Kubernetes Dashboard</vt:lpstr>
      <vt:lpstr>Cluster Components(5/5)</vt:lpstr>
      <vt:lpstr>NOTE : Kubernetes Dashboard</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4030</cp:revision>
  <dcterms:created xsi:type="dcterms:W3CDTF">2020-11-26T08:00:10Z</dcterms:created>
  <dcterms:modified xsi:type="dcterms:W3CDTF">2026-08-18T02:29:50Z</dcterms:modified>
</cp:coreProperties>
</file>