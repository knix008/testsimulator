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sldIdLst>
    <p:sldId id="256" r:id="rId2"/>
    <p:sldId id="2025" r:id="rId3"/>
    <p:sldId id="1997" r:id="rId4"/>
    <p:sldId id="1998" r:id="rId5"/>
    <p:sldId id="1999" r:id="rId6"/>
    <p:sldId id="2028" r:id="rId7"/>
    <p:sldId id="2029" r:id="rId8"/>
    <p:sldId id="2030" r:id="rId9"/>
    <p:sldId id="2031" r:id="rId10"/>
    <p:sldId id="2032" r:id="rId11"/>
    <p:sldId id="2000" r:id="rId12"/>
    <p:sldId id="2001" r:id="rId13"/>
    <p:sldId id="2002" r:id="rId14"/>
    <p:sldId id="2003" r:id="rId15"/>
    <p:sldId id="2004" r:id="rId16"/>
    <p:sldId id="2005" r:id="rId17"/>
    <p:sldId id="2007" r:id="rId18"/>
    <p:sldId id="2006" r:id="rId19"/>
    <p:sldId id="2008" r:id="rId20"/>
    <p:sldId id="2027" r:id="rId21"/>
    <p:sldId id="2024" r:id="rId22"/>
    <p:sldId id="2026" r:id="rId23"/>
    <p:sldId id="1815" r:id="rId2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50" autoAdjust="0"/>
    <p:restoredTop sz="94660"/>
  </p:normalViewPr>
  <p:slideViewPr>
    <p:cSldViewPr snapToGrid="0">
      <p:cViewPr varScale="1">
        <p:scale>
          <a:sx n="97" d="100"/>
          <a:sy n="97" d="100"/>
        </p:scale>
        <p:origin x="102"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2025-09-18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236F487F-8E7A-43AA-8EB9-2713D7B97DF0}" type="datetime1">
              <a:rPr lang="ko-KR" altLang="en-US" smtClean="0"/>
              <a:t>2025-09-18</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a:xfrm>
            <a:off x="147000" y="6356350"/>
            <a:ext cx="2743200" cy="365125"/>
          </a:xfrm>
        </p:spPr>
        <p:txBody>
          <a:bodyPr/>
          <a:lstStyle>
            <a:lvl1pPr algn="l">
              <a:defRPr/>
            </a:lvl1pPr>
          </a:lstStyle>
          <a:p>
            <a:fld id="{5DE563B6-0D62-4D2D-BF6C-A0849FE2D12D}" type="datetime1">
              <a:rPr lang="ko-KR" altLang="en-US" smtClean="0"/>
              <a:pPr/>
              <a:t>2025-09-18</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a:xfrm>
            <a:off x="2973600" y="6356350"/>
            <a:ext cx="6264000" cy="365125"/>
          </a:xfrm>
        </p:spPr>
        <p:txBody>
          <a:bodyPr/>
          <a:lstStyle/>
          <a:p>
            <a:endParaRPr lang="ko-KR" altLang="en-US" dirty="0"/>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a:xfrm>
            <a:off x="9301800" y="6356350"/>
            <a:ext cx="2743200" cy="365125"/>
          </a:xfrm>
        </p:spPr>
        <p:txBody>
          <a:bodyPr/>
          <a:lstStyle>
            <a:lvl1pPr algn="r">
              <a:defRPr/>
            </a:lvl1pPr>
          </a:lstStyle>
          <a:p>
            <a:fld id="{34C98182-889D-4BA7-ABC9-29B15B402893}" type="slidenum">
              <a:rPr lang="ko-KR" altLang="en-US" smtClean="0"/>
              <a:pPr/>
              <a:t>‹#›</a:t>
            </a:fld>
            <a:endParaRPr lang="ko-KR" altLang="en-US" dirty="0"/>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lvl1pPr algn="l">
              <a:defRPr/>
            </a:lvl1pPr>
          </a:lstStyle>
          <a:p>
            <a:fld id="{313CCCD3-90AA-4995-9D6D-8D16EA040FED}" type="datetime1">
              <a:rPr lang="ko-KR" altLang="en-US" smtClean="0"/>
              <a:pPr/>
              <a:t>2025-09-18</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lvl1pPr algn="r">
              <a:defRPr/>
            </a:lvl1pPr>
          </a:lstStyle>
          <a:p>
            <a:fld id="{34C98182-889D-4BA7-ABC9-29B15B402893}" type="slidenum">
              <a:rPr lang="ko-KR" altLang="en-US" smtClean="0"/>
              <a:pPr/>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2022F9FF-16D5-4E51-AAE1-48F324F2D3E7}" type="datetime1">
              <a:rPr lang="ko-KR" altLang="en-US" smtClean="0"/>
              <a:t>2025-09-18</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C6929AEF-6566-48ED-BA4E-B7D3F2FE4C84}" type="datetime1">
              <a:rPr lang="ko-KR" altLang="en-US" smtClean="0"/>
              <a:t>2025-09-18</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lvl1pPr algn="l">
              <a:defRPr/>
            </a:lvl1pPr>
          </a:lstStyle>
          <a:p>
            <a:fld id="{F0AF6917-3F98-4859-A21A-F5A909F831EC}" type="datetime1">
              <a:rPr lang="ko-KR" altLang="en-US" smtClean="0"/>
              <a:pPr/>
              <a:t>2025-09-18</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lvl1pPr algn="r">
              <a:defRPr/>
            </a:lvl1pPr>
          </a:lstStyle>
          <a:p>
            <a:fld id="{34C98182-889D-4BA7-ABC9-29B15B402893}" type="slidenum">
              <a:rPr lang="ko-KR" altLang="en-US" smtClean="0"/>
              <a:pPr/>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a:xfrm>
            <a:off x="139200" y="6356350"/>
            <a:ext cx="3442200" cy="365125"/>
          </a:xfrm>
        </p:spPr>
        <p:txBody>
          <a:bodyPr/>
          <a:lstStyle>
            <a:lvl1pPr algn="l">
              <a:defRPr/>
            </a:lvl1pPr>
          </a:lstStyle>
          <a:p>
            <a:fld id="{A7D15A0C-D3F3-4F66-B69B-ED89E8745140}" type="datetime1">
              <a:rPr lang="ko-KR" altLang="en-US" smtClean="0"/>
              <a:pPr/>
              <a:t>2025-09-18</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a:xfrm>
            <a:off x="3679200" y="6356350"/>
            <a:ext cx="4852800" cy="365125"/>
          </a:xfrm>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a:xfrm>
            <a:off x="8610600" y="6356350"/>
            <a:ext cx="3442200" cy="365125"/>
          </a:xfrm>
        </p:spPr>
        <p:txBody>
          <a:bodyPr/>
          <a:lstStyle>
            <a:lvl1pPr algn="r">
              <a:defRPr/>
            </a:lvl1pPr>
          </a:lstStyle>
          <a:p>
            <a:fld id="{34C98182-889D-4BA7-ABC9-29B15B402893}" type="slidenum">
              <a:rPr lang="ko-KR" altLang="en-US" smtClean="0"/>
              <a:pPr/>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a:xfrm>
            <a:off x="141402" y="6356350"/>
            <a:ext cx="3439998" cy="365125"/>
          </a:xfrm>
        </p:spPr>
        <p:txBody>
          <a:bodyPr/>
          <a:lstStyle/>
          <a:p>
            <a:fld id="{3F54D4FD-A36B-4383-8AA3-8FD274511116}" type="datetime1">
              <a:rPr lang="ko-KR" altLang="en-US" smtClean="0"/>
              <a:t>2025-09-18</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a:xfrm>
            <a:off x="3714161" y="6356350"/>
            <a:ext cx="4760535" cy="365125"/>
          </a:xfrm>
        </p:spPr>
        <p:txBody>
          <a:bodyPr/>
          <a:lstStyle/>
          <a:p>
            <a:endParaRPr lang="ko-KR" altLang="en-US" dirty="0"/>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a:xfrm>
            <a:off x="8610600" y="6356350"/>
            <a:ext cx="3439998" cy="365125"/>
          </a:xfrm>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3AF82266-1630-41C0-A1CA-82FC75C0E1D4}" type="datetime1">
              <a:rPr lang="ko-KR" altLang="en-US" smtClean="0"/>
              <a:t>2025-09-18</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85DE168B-10F9-462A-A364-60672266047D}" type="datetime1">
              <a:rPr lang="ko-KR" altLang="en-US" smtClean="0"/>
              <a:t>2025-09-18</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CB0F9033-A2F0-49DC-AFD8-5A13BCFD0E1B}" type="datetime1">
              <a:rPr lang="ko-KR" altLang="en-US" smtClean="0"/>
              <a:t>2025-09-18</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141401" y="6356350"/>
            <a:ext cx="37895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9B3909-C279-4AB8-AA6A-CE956489E003}" type="datetime1">
              <a:rPr lang="ko-KR" altLang="en-US" smtClean="0"/>
              <a:t>2025-09-18</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261025" y="6356350"/>
            <a:ext cx="3789574"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dirty="0"/>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suho.kwon@intellivix.ai"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hyperlink" Target="https://blog.naver.com/suresofttech/220973454340"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1493018"/>
          </a:xfrm>
        </p:spPr>
        <p:txBody>
          <a:bodyPr>
            <a:normAutofit/>
          </a:bodyPr>
          <a:lstStyle/>
          <a:p>
            <a:r>
              <a:rPr lang="en-US" altLang="ko-KR" sz="4800" b="1" dirty="0"/>
              <a:t>Making a Good Software with AI</a:t>
            </a:r>
            <a:endParaRPr lang="ko-KR" altLang="en-US" sz="4800"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a:xfrm>
            <a:off x="784800" y="2989009"/>
            <a:ext cx="10620000" cy="2536134"/>
          </a:xfrm>
        </p:spPr>
        <p:txBody>
          <a:bodyPr>
            <a:normAutofit/>
          </a:bodyPr>
          <a:lstStyle/>
          <a:p>
            <a:endParaRPr lang="en-US" altLang="ko-KR" sz="1700" b="1" dirty="0"/>
          </a:p>
          <a:p>
            <a:r>
              <a:rPr lang="en-US" altLang="ko-KR" sz="1700" b="1" dirty="0"/>
              <a:t>2025.09.18</a:t>
            </a:r>
          </a:p>
          <a:p>
            <a:endParaRPr lang="en-US" altLang="ko-KR" sz="1700" b="1" dirty="0"/>
          </a:p>
          <a:p>
            <a:endParaRPr lang="en-US" altLang="ko-KR" sz="1700" b="1" dirty="0"/>
          </a:p>
          <a:p>
            <a:r>
              <a:rPr lang="ko-KR" altLang="en-US" sz="1700" b="1" dirty="0"/>
              <a:t>권수호</a:t>
            </a:r>
            <a:r>
              <a:rPr lang="en-US" altLang="ko-KR" sz="1700" b="1" dirty="0"/>
              <a:t>(</a:t>
            </a:r>
            <a:r>
              <a:rPr lang="en-US" altLang="ko-KR" sz="1700" b="1" dirty="0">
                <a:hlinkClick r:id="rId2"/>
              </a:rPr>
              <a:t>suho.kwon@intellivix.ai</a:t>
            </a:r>
            <a:r>
              <a:rPr lang="en-US" altLang="ko-KR" sz="1700" b="1" dirty="0"/>
              <a:t>) </a:t>
            </a:r>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784800" y="2654557"/>
            <a:ext cx="106200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402EA54-F15A-2E24-B77E-57EC2AB4D872}"/>
              </a:ext>
            </a:extLst>
          </p:cNvPr>
          <p:cNvPicPr>
            <a:picLocks noChangeAspect="1"/>
          </p:cNvPicPr>
          <p:nvPr/>
        </p:nvPicPr>
        <p:blipFill>
          <a:blip r:embed="rId3"/>
          <a:stretch>
            <a:fillRect/>
          </a:stretch>
        </p:blipFill>
        <p:spPr>
          <a:xfrm>
            <a:off x="4380300" y="5525143"/>
            <a:ext cx="3429000" cy="788670"/>
          </a:xfrm>
          <a:prstGeom prst="rect">
            <a:avLst/>
          </a:prstGeom>
        </p:spPr>
      </p:pic>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B9314-AB73-2574-DADE-A8B9DA84A87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0D13C64-CCAE-B746-123D-925C73871693}"/>
              </a:ext>
            </a:extLst>
          </p:cNvPr>
          <p:cNvSpPr>
            <a:spLocks noGrp="1"/>
          </p:cNvSpPr>
          <p:nvPr>
            <p:ph type="title"/>
          </p:nvPr>
        </p:nvSpPr>
        <p:spPr>
          <a:xfrm>
            <a:off x="512400" y="297455"/>
            <a:ext cx="11167200" cy="383582"/>
          </a:xfrm>
        </p:spPr>
        <p:txBody>
          <a:bodyPr>
            <a:normAutofit fontScale="90000"/>
          </a:bodyPr>
          <a:lstStyle/>
          <a:p>
            <a:r>
              <a:rPr lang="en-US" altLang="ko-KR" sz="2800" b="1" dirty="0"/>
              <a:t>The Software Development Team Capability</a:t>
            </a:r>
            <a:endParaRPr lang="ko-KR" altLang="en-US" sz="2800" b="1" dirty="0"/>
          </a:p>
        </p:txBody>
      </p:sp>
      <p:sp>
        <p:nvSpPr>
          <p:cNvPr id="3" name="내용 개체 틀 2">
            <a:extLst>
              <a:ext uri="{FF2B5EF4-FFF2-40B4-BE49-F238E27FC236}">
                <a16:creationId xmlns:a16="http://schemas.microsoft.com/office/drawing/2014/main" id="{3B20E21E-C884-1DBA-3CC4-98A70ADD8DA3}"/>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Software Team :</a:t>
            </a:r>
          </a:p>
          <a:p>
            <a:pPr marL="800100" lvl="1" indent="-342900">
              <a:buFont typeface="+mj-lt"/>
              <a:buAutoNum type="arabicPeriod"/>
              <a:defRPr/>
            </a:pPr>
            <a:r>
              <a:rPr lang="ko-KR" altLang="en-US" sz="1400" b="1" dirty="0"/>
              <a:t>코딩 룰</a:t>
            </a:r>
            <a:r>
              <a:rPr lang="en-US" altLang="ko-KR" sz="1400" b="1" dirty="0"/>
              <a:t>(</a:t>
            </a:r>
            <a:r>
              <a:rPr lang="ko-KR" altLang="en-US" sz="1400" b="1" dirty="0"/>
              <a:t>표준 등등</a:t>
            </a:r>
            <a:r>
              <a:rPr lang="en-US" altLang="ko-KR" sz="1400" b="1" dirty="0"/>
              <a:t>)</a:t>
            </a:r>
            <a:r>
              <a:rPr lang="ko-KR" altLang="en-US" sz="1400" dirty="0"/>
              <a:t>이 있고 그것을 팀이 잘 따르고 있나요</a:t>
            </a:r>
            <a:r>
              <a:rPr lang="en-US" altLang="ko-KR" sz="1400" dirty="0"/>
              <a:t>?</a:t>
            </a:r>
          </a:p>
          <a:p>
            <a:pPr marL="800100" lvl="1" indent="-342900">
              <a:buFont typeface="+mj-lt"/>
              <a:buAutoNum type="arabicPeriod"/>
              <a:defRPr/>
            </a:pPr>
            <a:r>
              <a:rPr lang="ko-KR" altLang="en-US" sz="1400" b="1" dirty="0"/>
              <a:t>코드 리뷰</a:t>
            </a:r>
            <a:r>
              <a:rPr lang="ko-KR" altLang="en-US" sz="1400" dirty="0"/>
              <a:t>를 하고 있나요</a:t>
            </a:r>
            <a:r>
              <a:rPr lang="en-US" altLang="ko-KR" sz="1400" dirty="0"/>
              <a:t>? </a:t>
            </a:r>
            <a:r>
              <a:rPr lang="ko-KR" altLang="en-US" sz="1400" dirty="0"/>
              <a:t>그냥 대충 형식적으로 하는 것은 아닌지</a:t>
            </a:r>
            <a:r>
              <a:rPr lang="en-US" altLang="ko-KR" sz="1400" dirty="0"/>
              <a:t>? </a:t>
            </a:r>
            <a:r>
              <a:rPr lang="ko-KR" altLang="en-US" sz="1400" dirty="0"/>
              <a:t>하고 있다면 관련된 기록이 유지되나요</a:t>
            </a:r>
            <a:r>
              <a:rPr lang="en-US" altLang="ko-KR" sz="1400" dirty="0"/>
              <a:t>?</a:t>
            </a:r>
          </a:p>
          <a:p>
            <a:pPr marL="800100" lvl="1" indent="-342900">
              <a:buFont typeface="+mj-lt"/>
              <a:buAutoNum type="arabicPeriod"/>
              <a:defRPr/>
            </a:pPr>
            <a:r>
              <a:rPr lang="ko-KR" altLang="en-US" sz="1400" dirty="0"/>
              <a:t>명령어 라인에서 실행할 수 있는 </a:t>
            </a:r>
            <a:r>
              <a:rPr lang="ko-KR" altLang="en-US" sz="1400" b="1" dirty="0"/>
              <a:t>테스트 케이스</a:t>
            </a:r>
            <a:r>
              <a:rPr lang="ko-KR" altLang="en-US" sz="1400" dirty="0"/>
              <a:t>는 몇 개나 있나요</a:t>
            </a:r>
            <a:r>
              <a:rPr lang="en-US" altLang="ko-KR" sz="1400" dirty="0"/>
              <a:t>? 100</a:t>
            </a:r>
            <a:r>
              <a:rPr lang="ko-KR" altLang="en-US" sz="1400" dirty="0"/>
              <a:t>개</a:t>
            </a:r>
            <a:r>
              <a:rPr lang="en-US" altLang="ko-KR" sz="1400" dirty="0"/>
              <a:t>? 1,000</a:t>
            </a:r>
            <a:r>
              <a:rPr lang="ko-KR" altLang="en-US" sz="1400" dirty="0"/>
              <a:t>개</a:t>
            </a:r>
            <a:r>
              <a:rPr lang="en-US" altLang="ko-KR" sz="1400" dirty="0"/>
              <a:t>? 10,0000</a:t>
            </a:r>
            <a:r>
              <a:rPr lang="ko-KR" altLang="en-US" sz="1400" dirty="0"/>
              <a:t>개</a:t>
            </a:r>
            <a:r>
              <a:rPr lang="en-US" altLang="ko-KR" sz="1400" dirty="0"/>
              <a:t>?</a:t>
            </a:r>
          </a:p>
          <a:p>
            <a:pPr marL="800100" lvl="1" indent="-342900">
              <a:buFont typeface="+mj-lt"/>
              <a:buAutoNum type="arabicPeriod"/>
              <a:defRPr/>
            </a:pPr>
            <a:r>
              <a:rPr lang="ko-KR" altLang="en-US" sz="1400" dirty="0"/>
              <a:t>사람들이 </a:t>
            </a:r>
            <a:r>
              <a:rPr lang="ko-KR" altLang="en-US" sz="1400" b="1" dirty="0"/>
              <a:t>코드 저장소</a:t>
            </a:r>
            <a:r>
              <a:rPr lang="ko-KR" altLang="en-US" sz="1400" dirty="0"/>
              <a:t>에 얼마나 자주 체크인을 하나요</a:t>
            </a:r>
            <a:r>
              <a:rPr lang="en-US" altLang="ko-KR" sz="1400" dirty="0"/>
              <a:t>? 1</a:t>
            </a:r>
            <a:r>
              <a:rPr lang="ko-KR" altLang="en-US" sz="1400" dirty="0"/>
              <a:t>일</a:t>
            </a:r>
            <a:r>
              <a:rPr lang="en-US" altLang="ko-KR" sz="1400" dirty="0"/>
              <a:t>? </a:t>
            </a:r>
            <a:r>
              <a:rPr lang="ko-KR" altLang="en-US" sz="1400" dirty="0"/>
              <a:t>일주일</a:t>
            </a:r>
            <a:r>
              <a:rPr lang="en-US" altLang="ko-KR" sz="1400" dirty="0"/>
              <a:t>? </a:t>
            </a:r>
            <a:r>
              <a:rPr lang="ko-KR" altLang="en-US" sz="1400" dirty="0"/>
              <a:t>한달</a:t>
            </a:r>
            <a:r>
              <a:rPr lang="en-US" altLang="ko-KR" sz="1400" dirty="0"/>
              <a:t>?</a:t>
            </a:r>
          </a:p>
          <a:p>
            <a:pPr marL="800100" lvl="1" indent="-342900">
              <a:buFont typeface="+mj-lt"/>
              <a:buAutoNum type="arabicPeriod"/>
              <a:defRPr/>
            </a:pPr>
            <a:r>
              <a:rPr lang="ko-KR" altLang="en-US" sz="1400" dirty="0"/>
              <a:t>얼마나 자주 </a:t>
            </a:r>
            <a:r>
              <a:rPr lang="en-US" altLang="ko-KR" sz="1400" b="1" dirty="0"/>
              <a:t>Release</a:t>
            </a:r>
            <a:r>
              <a:rPr lang="ko-KR" altLang="en-US" sz="1400" dirty="0"/>
              <a:t>를 하고 있나요</a:t>
            </a:r>
            <a:r>
              <a:rPr lang="en-US" altLang="ko-KR" sz="1400" dirty="0"/>
              <a:t>? </a:t>
            </a:r>
            <a:r>
              <a:rPr lang="ko-KR" altLang="en-US" sz="1400" dirty="0"/>
              <a:t>내부 </a:t>
            </a:r>
            <a:r>
              <a:rPr lang="en-US" altLang="ko-KR" sz="1400" dirty="0"/>
              <a:t>Release </a:t>
            </a:r>
            <a:r>
              <a:rPr lang="ko-KR" altLang="en-US" sz="1400" dirty="0"/>
              <a:t>포함해서</a:t>
            </a:r>
            <a:r>
              <a:rPr lang="en-US" altLang="ko-KR" sz="1400" dirty="0"/>
              <a:t> 1</a:t>
            </a:r>
            <a:r>
              <a:rPr lang="ko-KR" altLang="en-US" sz="1400" dirty="0"/>
              <a:t>일</a:t>
            </a:r>
            <a:r>
              <a:rPr lang="en-US" altLang="ko-KR" sz="1400" dirty="0"/>
              <a:t>? </a:t>
            </a:r>
            <a:r>
              <a:rPr lang="ko-KR" altLang="en-US" sz="1400" dirty="0"/>
              <a:t>일주일</a:t>
            </a:r>
            <a:r>
              <a:rPr lang="en-US" altLang="ko-KR" sz="1400" dirty="0"/>
              <a:t>? </a:t>
            </a:r>
            <a:r>
              <a:rPr lang="ko-KR" altLang="en-US" sz="1400" dirty="0"/>
              <a:t>한달</a:t>
            </a:r>
            <a:r>
              <a:rPr lang="en-US" altLang="ko-KR" sz="1400" dirty="0"/>
              <a:t>? </a:t>
            </a:r>
            <a:r>
              <a:rPr lang="ko-KR" altLang="en-US" sz="1400" dirty="0"/>
              <a:t>아니면</a:t>
            </a:r>
            <a:r>
              <a:rPr lang="en-US" altLang="ko-KR" sz="1400" dirty="0"/>
              <a:t>…. </a:t>
            </a:r>
            <a:r>
              <a:rPr lang="ko-KR" altLang="en-US" sz="1400" dirty="0"/>
              <a:t>필 받을 때 마다</a:t>
            </a:r>
            <a:r>
              <a:rPr lang="en-US" altLang="ko-KR" sz="1400" dirty="0"/>
              <a:t>???</a:t>
            </a:r>
          </a:p>
          <a:p>
            <a:pPr marL="800100" lvl="1" indent="-342900">
              <a:buFont typeface="+mj-lt"/>
              <a:buAutoNum type="arabicPeriod"/>
              <a:defRPr/>
            </a:pPr>
            <a:r>
              <a:rPr lang="ko-KR" altLang="en-US" sz="1400" dirty="0"/>
              <a:t>코드의 어떤 부분이 </a:t>
            </a:r>
            <a:r>
              <a:rPr lang="ko-KR" altLang="en-US" sz="1400" b="1" dirty="0"/>
              <a:t>테스트</a:t>
            </a:r>
            <a:r>
              <a:rPr lang="ko-KR" altLang="en-US" sz="1400" dirty="0"/>
              <a:t>되고 어떤 부분이 테스트가 되지 않는지 알고 있나요</a:t>
            </a:r>
            <a:r>
              <a:rPr lang="en-US" altLang="ko-KR" sz="1400" dirty="0"/>
              <a:t>?</a:t>
            </a:r>
          </a:p>
          <a:p>
            <a:pPr marL="800100" lvl="1" indent="-342900">
              <a:buFont typeface="+mj-lt"/>
              <a:buAutoNum type="arabicPeriod"/>
              <a:defRPr/>
            </a:pPr>
            <a:r>
              <a:rPr lang="ko-KR" altLang="en-US" sz="1400" b="1" dirty="0"/>
              <a:t>정적 분석</a:t>
            </a:r>
            <a:r>
              <a:rPr lang="ko-KR" altLang="en-US" sz="1400" dirty="0"/>
              <a:t>이나 </a:t>
            </a:r>
            <a:r>
              <a:rPr lang="ko-KR" altLang="en-US" sz="1400" b="1" dirty="0"/>
              <a:t>컴파일 </a:t>
            </a:r>
            <a:r>
              <a:rPr lang="en-US" altLang="ko-KR" sz="1400" b="1" dirty="0"/>
              <a:t>Warning</a:t>
            </a:r>
            <a:r>
              <a:rPr lang="en-US" altLang="ko-KR" sz="1400" dirty="0"/>
              <a:t> </a:t>
            </a:r>
            <a:r>
              <a:rPr lang="ko-KR" altLang="en-US" sz="1400" dirty="0"/>
              <a:t>메시지</a:t>
            </a:r>
            <a:r>
              <a:rPr lang="en-US" altLang="ko-KR" sz="1400" dirty="0"/>
              <a:t>(ex</a:t>
            </a:r>
            <a:r>
              <a:rPr lang="ko-KR" altLang="en-US" sz="1400" dirty="0"/>
              <a:t> </a:t>
            </a:r>
            <a:r>
              <a:rPr lang="en-US" altLang="ko-KR" sz="1400" dirty="0"/>
              <a:t>–Wall)</a:t>
            </a:r>
            <a:r>
              <a:rPr lang="ko-KR" altLang="en-US" sz="1400" dirty="0"/>
              <a:t>는 어떻게 처리하나요</a:t>
            </a:r>
            <a:r>
              <a:rPr lang="en-US" altLang="ko-KR" sz="1400" dirty="0"/>
              <a:t>? </a:t>
            </a:r>
            <a:r>
              <a:rPr lang="ko-KR" altLang="en-US" sz="1400" dirty="0"/>
              <a:t>아니면</a:t>
            </a:r>
            <a:r>
              <a:rPr lang="en-US" altLang="ko-KR" sz="1400" dirty="0"/>
              <a:t>, </a:t>
            </a:r>
            <a:r>
              <a:rPr lang="ko-KR" altLang="en-US" sz="1400" dirty="0"/>
              <a:t>이런 것을 들어본 적도 없나요</a:t>
            </a:r>
            <a:r>
              <a:rPr lang="en-US" altLang="ko-KR" sz="1400" dirty="0"/>
              <a:t>?</a:t>
            </a:r>
          </a:p>
          <a:p>
            <a:pPr marL="800100" lvl="1" indent="-342900">
              <a:buFont typeface="+mj-lt"/>
              <a:buAutoNum type="arabicPeriod"/>
              <a:defRPr/>
            </a:pPr>
            <a:r>
              <a:rPr lang="ko-KR" altLang="en-US" sz="1400" b="1" dirty="0"/>
              <a:t>최적화</a:t>
            </a:r>
            <a:r>
              <a:rPr lang="ko-KR" altLang="en-US" sz="1400" dirty="0"/>
              <a:t>는 어떻게 하고 있나요</a:t>
            </a:r>
            <a:r>
              <a:rPr lang="en-US" altLang="ko-KR" sz="1400" dirty="0"/>
              <a:t>? Profiler</a:t>
            </a:r>
            <a:r>
              <a:rPr lang="ko-KR" altLang="en-US" sz="1400" dirty="0"/>
              <a:t>와 같은 것을 사용해서 최적화가 필요한 지점을 찾나요</a:t>
            </a:r>
            <a:r>
              <a:rPr lang="en-US" altLang="ko-KR" sz="1400" dirty="0"/>
              <a:t>?</a:t>
            </a:r>
          </a:p>
          <a:p>
            <a:pPr marL="800100" lvl="1" indent="-342900">
              <a:buFont typeface="+mj-lt"/>
              <a:buAutoNum type="arabicPeriod"/>
              <a:defRPr/>
            </a:pPr>
            <a:r>
              <a:rPr lang="en-US" altLang="ko-KR" sz="1400" b="1" dirty="0"/>
              <a:t>Refactoring</a:t>
            </a:r>
            <a:r>
              <a:rPr lang="ko-KR" altLang="en-US" sz="1400" dirty="0"/>
              <a:t>에 대한 정확한 정의가 무엇인가요</a:t>
            </a:r>
            <a:r>
              <a:rPr lang="en-US" altLang="ko-KR" sz="1400" dirty="0"/>
              <a:t>?</a:t>
            </a:r>
          </a:p>
          <a:p>
            <a:pPr marL="800100" lvl="1" indent="-342900">
              <a:buFont typeface="+mj-lt"/>
              <a:buAutoNum type="arabicPeriod"/>
              <a:defRPr/>
            </a:pPr>
            <a:r>
              <a:rPr lang="ko-KR" altLang="en-US" sz="1400" b="1" dirty="0"/>
              <a:t>중복된 코드</a:t>
            </a:r>
            <a:r>
              <a:rPr lang="ko-KR" altLang="en-US" sz="1400" dirty="0"/>
              <a:t>가 얼마나 되는지 아나요</a:t>
            </a:r>
            <a:r>
              <a:rPr lang="en-US" altLang="ko-KR" sz="1400" dirty="0"/>
              <a:t>? </a:t>
            </a:r>
            <a:r>
              <a:rPr lang="ko-KR" altLang="en-US" sz="1400" dirty="0"/>
              <a:t>코드 중복의 기준이 있나요</a:t>
            </a:r>
            <a:r>
              <a:rPr lang="en-US" altLang="ko-KR" sz="1400" dirty="0"/>
              <a:t>? 3</a:t>
            </a:r>
            <a:r>
              <a:rPr lang="ko-KR" altLang="en-US" sz="1400" dirty="0"/>
              <a:t>라인</a:t>
            </a:r>
            <a:r>
              <a:rPr lang="en-US" altLang="ko-KR" sz="1400" dirty="0"/>
              <a:t>? 30</a:t>
            </a:r>
            <a:r>
              <a:rPr lang="ko-KR" altLang="en-US" sz="1400" dirty="0"/>
              <a:t>라인</a:t>
            </a:r>
            <a:r>
              <a:rPr lang="en-US" altLang="ko-KR" sz="1400" dirty="0"/>
              <a:t>? 300</a:t>
            </a:r>
            <a:r>
              <a:rPr lang="ko-KR" altLang="en-US" sz="1400" dirty="0"/>
              <a:t>라인</a:t>
            </a:r>
            <a:r>
              <a:rPr lang="en-US" altLang="ko-KR" sz="1400" dirty="0"/>
              <a:t>? </a:t>
            </a:r>
            <a:r>
              <a:rPr lang="ko-KR" altLang="en-US" sz="1400" dirty="0"/>
              <a:t>없다</a:t>
            </a:r>
            <a:r>
              <a:rPr lang="en-US" altLang="ko-KR" sz="1400" dirty="0"/>
              <a:t>?</a:t>
            </a:r>
          </a:p>
          <a:p>
            <a:pPr marL="457200" lvl="1" indent="0">
              <a:buNone/>
              <a:defRPr/>
            </a:pPr>
            <a:r>
              <a:rPr lang="en-US" altLang="ko-KR" sz="1400" dirty="0"/>
              <a:t>….</a:t>
            </a:r>
          </a:p>
          <a:p>
            <a:pPr marL="457200" lvl="1" indent="0">
              <a:buNone/>
              <a:defRPr/>
            </a:pPr>
            <a:endParaRPr lang="en-US" altLang="ko-KR" sz="1400" dirty="0"/>
          </a:p>
          <a:p>
            <a:pPr marL="457200" lvl="1" indent="0">
              <a:buNone/>
              <a:defRPr/>
            </a:pPr>
            <a:endParaRPr lang="en-US" altLang="ko-KR" sz="1400" dirty="0"/>
          </a:p>
          <a:p>
            <a:pPr marL="457200" lvl="1" indent="0">
              <a:buNone/>
              <a:defRPr/>
            </a:pPr>
            <a:endParaRPr lang="en-US" altLang="ko-KR" sz="1400" dirty="0"/>
          </a:p>
          <a:p>
            <a:pPr marL="457200" lvl="1" indent="0">
              <a:buNone/>
              <a:defRPr/>
            </a:pPr>
            <a:endParaRPr lang="en-US" altLang="ko-KR" sz="1400" dirty="0"/>
          </a:p>
          <a:p>
            <a:pPr marL="800100" lvl="1" indent="-342900">
              <a:buFont typeface="+mj-lt"/>
              <a:buAutoNum type="arabicPeriod"/>
              <a:defRPr/>
            </a:pPr>
            <a:endParaRPr lang="en-US" altLang="ko-KR" sz="1400" dirty="0"/>
          </a:p>
        </p:txBody>
      </p:sp>
      <p:cxnSp>
        <p:nvCxnSpPr>
          <p:cNvPr id="4" name="직선 연결선 3">
            <a:extLst>
              <a:ext uri="{FF2B5EF4-FFF2-40B4-BE49-F238E27FC236}">
                <a16:creationId xmlns:a16="http://schemas.microsoft.com/office/drawing/2014/main" id="{4A57C998-EDBA-BDCB-CCE0-92E22ADE12EF}"/>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BAB1613F-7EB2-3C46-4A87-20027B813E24}"/>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86DAFC0A-5927-606B-7A4C-906D56DDB4DB}"/>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2</a:t>
            </a:fld>
            <a:endParaRPr lang="ko-KR" altLang="en-US" dirty="0"/>
          </a:p>
        </p:txBody>
      </p:sp>
      <p:pic>
        <p:nvPicPr>
          <p:cNvPr id="7" name="그림 6">
            <a:extLst>
              <a:ext uri="{FF2B5EF4-FFF2-40B4-BE49-F238E27FC236}">
                <a16:creationId xmlns:a16="http://schemas.microsoft.com/office/drawing/2014/main" id="{75F57D00-DF0D-7D36-5D95-D47016BBCB1B}"/>
              </a:ext>
            </a:extLst>
          </p:cNvPr>
          <p:cNvPicPr>
            <a:picLocks noChangeAspect="1"/>
          </p:cNvPicPr>
          <p:nvPr/>
        </p:nvPicPr>
        <p:blipFill>
          <a:blip r:embed="rId2"/>
          <a:stretch>
            <a:fillRect/>
          </a:stretch>
        </p:blipFill>
        <p:spPr>
          <a:xfrm>
            <a:off x="9982200" y="270493"/>
            <a:ext cx="1697400" cy="390402"/>
          </a:xfrm>
          <a:prstGeom prst="rect">
            <a:avLst/>
          </a:prstGeom>
        </p:spPr>
      </p:pic>
      <p:pic>
        <p:nvPicPr>
          <p:cNvPr id="8" name="그림 7">
            <a:extLst>
              <a:ext uri="{FF2B5EF4-FFF2-40B4-BE49-F238E27FC236}">
                <a16:creationId xmlns:a16="http://schemas.microsoft.com/office/drawing/2014/main" id="{D1FCCD95-8460-79E4-A992-3495823F8783}"/>
              </a:ext>
            </a:extLst>
          </p:cNvPr>
          <p:cNvPicPr>
            <a:picLocks noChangeAspect="1"/>
          </p:cNvPicPr>
          <p:nvPr/>
        </p:nvPicPr>
        <p:blipFill>
          <a:blip r:embed="rId3"/>
          <a:stretch>
            <a:fillRect/>
          </a:stretch>
        </p:blipFill>
        <p:spPr>
          <a:xfrm>
            <a:off x="4074178" y="3705065"/>
            <a:ext cx="4043643" cy="2651284"/>
          </a:xfrm>
          <a:prstGeom prst="rect">
            <a:avLst/>
          </a:prstGeom>
          <a:ln>
            <a:solidFill>
              <a:schemeClr val="accent1"/>
            </a:solidFill>
          </a:ln>
        </p:spPr>
      </p:pic>
    </p:spTree>
    <p:extLst>
      <p:ext uri="{BB962C8B-B14F-4D97-AF65-F5344CB8AC3E}">
        <p14:creationId xmlns:p14="http://schemas.microsoft.com/office/powerpoint/2010/main" val="3643884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23292-3A60-1EC2-284A-1A8F9B4102C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BA76D8B-82DF-218C-56A4-523BB72F5497}"/>
              </a:ext>
            </a:extLst>
          </p:cNvPr>
          <p:cNvSpPr>
            <a:spLocks noGrp="1"/>
          </p:cNvSpPr>
          <p:nvPr>
            <p:ph type="title"/>
          </p:nvPr>
        </p:nvSpPr>
        <p:spPr>
          <a:xfrm>
            <a:off x="512400" y="297455"/>
            <a:ext cx="11167200" cy="383582"/>
          </a:xfrm>
        </p:spPr>
        <p:txBody>
          <a:bodyPr>
            <a:normAutofit fontScale="90000"/>
          </a:bodyPr>
          <a:lstStyle/>
          <a:p>
            <a:r>
              <a:rPr lang="en-US" altLang="ko-KR" sz="2800" b="1" dirty="0"/>
              <a:t>What</a:t>
            </a:r>
            <a:r>
              <a:rPr lang="ko-KR" altLang="en-US" sz="2800" b="1" dirty="0"/>
              <a:t> </a:t>
            </a:r>
            <a:r>
              <a:rPr lang="en-US" altLang="ko-KR" sz="2800" b="1" dirty="0"/>
              <a:t>is</a:t>
            </a:r>
            <a:r>
              <a:rPr lang="ko-KR" altLang="en-US" sz="2800" b="1" dirty="0"/>
              <a:t> </a:t>
            </a:r>
            <a:r>
              <a:rPr lang="en-US" altLang="ko-KR" sz="2800" b="1" dirty="0"/>
              <a:t>a Good Software?(1/3)</a:t>
            </a:r>
            <a:endParaRPr lang="ko-KR" altLang="en-US" sz="2800" b="1" dirty="0"/>
          </a:p>
        </p:txBody>
      </p:sp>
      <p:sp>
        <p:nvSpPr>
          <p:cNvPr id="3" name="내용 개체 틀 2">
            <a:extLst>
              <a:ext uri="{FF2B5EF4-FFF2-40B4-BE49-F238E27FC236}">
                <a16:creationId xmlns:a16="http://schemas.microsoft.com/office/drawing/2014/main" id="{584A0637-5AE6-E35A-A951-8A134E580A72}"/>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Top Characteristics of Good Software :</a:t>
            </a:r>
          </a:p>
          <a:p>
            <a:pPr lvl="1">
              <a:defRPr/>
            </a:pPr>
            <a:r>
              <a:rPr lang="en-US" altLang="ko-KR" sz="1400" b="1" dirty="0"/>
              <a:t>Good software </a:t>
            </a:r>
            <a:r>
              <a:rPr lang="en-US" altLang="ko-KR" sz="1400" dirty="0"/>
              <a:t>effectively addresses </a:t>
            </a:r>
            <a:r>
              <a:rPr lang="en-US" altLang="ko-KR" sz="1400" b="1" dirty="0"/>
              <a:t>user needs</a:t>
            </a:r>
            <a:r>
              <a:rPr lang="en-US" altLang="ko-KR" sz="1400" dirty="0"/>
              <a:t>, operates </a:t>
            </a:r>
            <a:r>
              <a:rPr lang="en-US" altLang="ko-KR" sz="1400" b="1" dirty="0"/>
              <a:t>reliably</a:t>
            </a:r>
            <a:r>
              <a:rPr lang="en-US" altLang="ko-KR" sz="1400" dirty="0"/>
              <a:t> and is easy to </a:t>
            </a:r>
            <a:r>
              <a:rPr lang="en-US" altLang="ko-KR" sz="1400" b="1" dirty="0">
                <a:solidFill>
                  <a:srgbClr val="FF0000"/>
                </a:solidFill>
              </a:rPr>
              <a:t>maintain</a:t>
            </a:r>
            <a:r>
              <a:rPr lang="en-US" altLang="ko-KR" sz="1400" dirty="0"/>
              <a:t>.</a:t>
            </a:r>
          </a:p>
        </p:txBody>
      </p:sp>
      <p:cxnSp>
        <p:nvCxnSpPr>
          <p:cNvPr id="4" name="직선 연결선 3">
            <a:extLst>
              <a:ext uri="{FF2B5EF4-FFF2-40B4-BE49-F238E27FC236}">
                <a16:creationId xmlns:a16="http://schemas.microsoft.com/office/drawing/2014/main" id="{BD68375C-126D-14BF-3E0D-9876D05E4588}"/>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6972E240-3337-9F86-7AB8-34FB2EB0DFE2}"/>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D070ECA3-57C2-7302-31C0-487224B9EA0D}"/>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3</a:t>
            </a:fld>
            <a:endParaRPr lang="ko-KR" altLang="en-US" dirty="0"/>
          </a:p>
        </p:txBody>
      </p:sp>
      <p:pic>
        <p:nvPicPr>
          <p:cNvPr id="11" name="그림 10">
            <a:extLst>
              <a:ext uri="{FF2B5EF4-FFF2-40B4-BE49-F238E27FC236}">
                <a16:creationId xmlns:a16="http://schemas.microsoft.com/office/drawing/2014/main" id="{8B3AA7CC-AE94-BBAE-CD59-0477800AFD54}"/>
              </a:ext>
            </a:extLst>
          </p:cNvPr>
          <p:cNvPicPr>
            <a:picLocks noChangeAspect="1"/>
          </p:cNvPicPr>
          <p:nvPr/>
        </p:nvPicPr>
        <p:blipFill>
          <a:blip r:embed="rId2"/>
          <a:stretch>
            <a:fillRect/>
          </a:stretch>
        </p:blipFill>
        <p:spPr>
          <a:xfrm>
            <a:off x="2560842" y="1716217"/>
            <a:ext cx="7070315" cy="4272054"/>
          </a:xfrm>
          <a:prstGeom prst="rect">
            <a:avLst/>
          </a:prstGeom>
          <a:ln>
            <a:solidFill>
              <a:schemeClr val="accent1"/>
            </a:solidFill>
          </a:ln>
        </p:spPr>
      </p:pic>
      <p:pic>
        <p:nvPicPr>
          <p:cNvPr id="12" name="그림 11">
            <a:extLst>
              <a:ext uri="{FF2B5EF4-FFF2-40B4-BE49-F238E27FC236}">
                <a16:creationId xmlns:a16="http://schemas.microsoft.com/office/drawing/2014/main" id="{5A4A0931-3FA5-6FB9-C9B6-0CD64CBDE042}"/>
              </a:ext>
            </a:extLst>
          </p:cNvPr>
          <p:cNvPicPr>
            <a:picLocks noChangeAspect="1"/>
          </p:cNvPicPr>
          <p:nvPr/>
        </p:nvPicPr>
        <p:blipFill>
          <a:blip r:embed="rId3"/>
          <a:stretch>
            <a:fillRect/>
          </a:stretch>
        </p:blipFill>
        <p:spPr>
          <a:xfrm>
            <a:off x="9982200" y="270493"/>
            <a:ext cx="1697400" cy="390402"/>
          </a:xfrm>
          <a:prstGeom prst="rect">
            <a:avLst/>
          </a:prstGeom>
        </p:spPr>
      </p:pic>
      <p:sp>
        <p:nvSpPr>
          <p:cNvPr id="13" name="직사각형 12">
            <a:extLst>
              <a:ext uri="{FF2B5EF4-FFF2-40B4-BE49-F238E27FC236}">
                <a16:creationId xmlns:a16="http://schemas.microsoft.com/office/drawing/2014/main" id="{4E65F33C-6586-BD61-2D43-AD7EB326EAF0}"/>
              </a:ext>
            </a:extLst>
          </p:cNvPr>
          <p:cNvSpPr/>
          <p:nvPr/>
        </p:nvSpPr>
        <p:spPr>
          <a:xfrm>
            <a:off x="8115300" y="4676775"/>
            <a:ext cx="1515857" cy="361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88539AC3-DF86-7E3D-36AE-AE79CEF8C8C6}"/>
              </a:ext>
            </a:extLst>
          </p:cNvPr>
          <p:cNvSpPr/>
          <p:nvPr/>
        </p:nvSpPr>
        <p:spPr>
          <a:xfrm>
            <a:off x="2560843" y="3699844"/>
            <a:ext cx="1211058" cy="361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C17FE50B-C0AC-6E05-705E-606C49C4587B}"/>
              </a:ext>
            </a:extLst>
          </p:cNvPr>
          <p:cNvSpPr/>
          <p:nvPr/>
        </p:nvSpPr>
        <p:spPr>
          <a:xfrm>
            <a:off x="2560843" y="1763535"/>
            <a:ext cx="1211058" cy="361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7">
            <a:extLst>
              <a:ext uri="{FF2B5EF4-FFF2-40B4-BE49-F238E27FC236}">
                <a16:creationId xmlns:a16="http://schemas.microsoft.com/office/drawing/2014/main" id="{C71AAAF8-5D6D-E507-E1ED-B17A4F249F88}"/>
              </a:ext>
            </a:extLst>
          </p:cNvPr>
          <p:cNvSpPr/>
          <p:nvPr/>
        </p:nvSpPr>
        <p:spPr>
          <a:xfrm>
            <a:off x="8042326" y="1771091"/>
            <a:ext cx="1211058" cy="361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164382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B002E-8B8F-C5AD-4D78-3F35E9CE07E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4187148-00BC-FE87-A0F7-239A614A409E}"/>
              </a:ext>
            </a:extLst>
          </p:cNvPr>
          <p:cNvSpPr>
            <a:spLocks noGrp="1"/>
          </p:cNvSpPr>
          <p:nvPr>
            <p:ph type="title"/>
          </p:nvPr>
        </p:nvSpPr>
        <p:spPr>
          <a:xfrm>
            <a:off x="512400" y="297455"/>
            <a:ext cx="11167200" cy="383582"/>
          </a:xfrm>
        </p:spPr>
        <p:txBody>
          <a:bodyPr>
            <a:normAutofit fontScale="90000"/>
          </a:bodyPr>
          <a:lstStyle/>
          <a:p>
            <a:r>
              <a:rPr lang="en-US" altLang="ko-KR" sz="2800" b="1" dirty="0"/>
              <a:t>What</a:t>
            </a:r>
            <a:r>
              <a:rPr lang="ko-KR" altLang="en-US" sz="2800" b="1" dirty="0"/>
              <a:t> </a:t>
            </a:r>
            <a:r>
              <a:rPr lang="en-US" altLang="ko-KR" sz="2800" b="1" dirty="0"/>
              <a:t>is</a:t>
            </a:r>
            <a:r>
              <a:rPr lang="ko-KR" altLang="en-US" sz="2800" b="1" dirty="0"/>
              <a:t> </a:t>
            </a:r>
            <a:r>
              <a:rPr lang="en-US" altLang="ko-KR" sz="2800" b="1" dirty="0"/>
              <a:t>a Good Software?(2/3)</a:t>
            </a:r>
            <a:endParaRPr lang="ko-KR" altLang="en-US" sz="2800" b="1" dirty="0"/>
          </a:p>
        </p:txBody>
      </p:sp>
      <p:sp>
        <p:nvSpPr>
          <p:cNvPr id="3" name="내용 개체 틀 2">
            <a:extLst>
              <a:ext uri="{FF2B5EF4-FFF2-40B4-BE49-F238E27FC236}">
                <a16:creationId xmlns:a16="http://schemas.microsoft.com/office/drawing/2014/main" id="{034C50CA-D932-2724-6612-8DEBDE7B6FB0}"/>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Good Code :</a:t>
            </a:r>
          </a:p>
          <a:p>
            <a:pPr lvl="1">
              <a:defRPr/>
            </a:pPr>
            <a:r>
              <a:rPr lang="en-US" altLang="ko-KR" sz="1400" b="1" dirty="0"/>
              <a:t>Good code is </a:t>
            </a:r>
            <a:r>
              <a:rPr lang="en-US" altLang="ko-KR" sz="1400" b="1" dirty="0">
                <a:solidFill>
                  <a:srgbClr val="FF0000"/>
                </a:solidFill>
              </a:rPr>
              <a:t>easily read </a:t>
            </a:r>
            <a:r>
              <a:rPr lang="en-US" altLang="ko-KR" sz="1400" b="1" dirty="0"/>
              <a:t>and </a:t>
            </a:r>
            <a:r>
              <a:rPr lang="en-US" altLang="ko-KR" sz="1400" b="1" dirty="0">
                <a:solidFill>
                  <a:srgbClr val="FF0000"/>
                </a:solidFill>
              </a:rPr>
              <a:t>understood</a:t>
            </a:r>
            <a:r>
              <a:rPr lang="en-US" altLang="ko-KR" sz="1400" dirty="0"/>
              <a:t>, in part and in whole, </a:t>
            </a:r>
            <a:r>
              <a:rPr lang="en-US" altLang="ko-KR" sz="1400" b="1" dirty="0"/>
              <a:t>by others </a:t>
            </a:r>
            <a:r>
              <a:rPr lang="en-US" altLang="ko-KR" sz="1400" dirty="0"/>
              <a:t>(as well as by the author in the future, trying to avoid the “Did I really write that?” syndrome). </a:t>
            </a:r>
          </a:p>
        </p:txBody>
      </p:sp>
      <p:cxnSp>
        <p:nvCxnSpPr>
          <p:cNvPr id="4" name="직선 연결선 3">
            <a:extLst>
              <a:ext uri="{FF2B5EF4-FFF2-40B4-BE49-F238E27FC236}">
                <a16:creationId xmlns:a16="http://schemas.microsoft.com/office/drawing/2014/main" id="{21CE5B56-986C-7B1C-9FD5-E6F674DB41F3}"/>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20C98A2E-5C81-706E-036F-0D905330AD37}"/>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7217202B-3D46-C84D-9E7B-9D34A89BAF1A}"/>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4</a:t>
            </a:fld>
            <a:endParaRPr lang="ko-KR" altLang="en-US" dirty="0"/>
          </a:p>
        </p:txBody>
      </p:sp>
      <p:grpSp>
        <p:nvGrpSpPr>
          <p:cNvPr id="11" name="그룹 10">
            <a:extLst>
              <a:ext uri="{FF2B5EF4-FFF2-40B4-BE49-F238E27FC236}">
                <a16:creationId xmlns:a16="http://schemas.microsoft.com/office/drawing/2014/main" id="{6CCD03B9-4B61-091E-0DF3-CA1E4DBDC6BF}"/>
              </a:ext>
            </a:extLst>
          </p:cNvPr>
          <p:cNvGrpSpPr/>
          <p:nvPr/>
        </p:nvGrpSpPr>
        <p:grpSpPr>
          <a:xfrm>
            <a:off x="3013251" y="1927215"/>
            <a:ext cx="6165497" cy="4039285"/>
            <a:chOff x="3013251" y="1927215"/>
            <a:chExt cx="6165497" cy="4039285"/>
          </a:xfrm>
        </p:grpSpPr>
        <p:pic>
          <p:nvPicPr>
            <p:cNvPr id="9" name="그림 8">
              <a:extLst>
                <a:ext uri="{FF2B5EF4-FFF2-40B4-BE49-F238E27FC236}">
                  <a16:creationId xmlns:a16="http://schemas.microsoft.com/office/drawing/2014/main" id="{DA6BDE8A-D759-0AE4-B045-15B728F96314}"/>
                </a:ext>
              </a:extLst>
            </p:cNvPr>
            <p:cNvPicPr>
              <a:picLocks noChangeAspect="1"/>
            </p:cNvPicPr>
            <p:nvPr/>
          </p:nvPicPr>
          <p:blipFill>
            <a:blip r:embed="rId2"/>
            <a:stretch>
              <a:fillRect/>
            </a:stretch>
          </p:blipFill>
          <p:spPr>
            <a:xfrm>
              <a:off x="3013251" y="1927215"/>
              <a:ext cx="6165497" cy="4039285"/>
            </a:xfrm>
            <a:prstGeom prst="rect">
              <a:avLst/>
            </a:prstGeom>
          </p:spPr>
        </p:pic>
        <p:sp>
          <p:nvSpPr>
            <p:cNvPr id="10" name="직사각형 9">
              <a:extLst>
                <a:ext uri="{FF2B5EF4-FFF2-40B4-BE49-F238E27FC236}">
                  <a16:creationId xmlns:a16="http://schemas.microsoft.com/office/drawing/2014/main" id="{E95F4F01-5AC1-884F-5A59-6812E20B20A6}"/>
                </a:ext>
              </a:extLst>
            </p:cNvPr>
            <p:cNvSpPr/>
            <p:nvPr/>
          </p:nvSpPr>
          <p:spPr>
            <a:xfrm>
              <a:off x="3657600" y="2340429"/>
              <a:ext cx="402771" cy="2438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964EEBCE-95DB-BBF8-BA81-928F19E0644F}"/>
              </a:ext>
            </a:extLst>
          </p:cNvPr>
          <p:cNvPicPr>
            <a:picLocks noChangeAspect="1"/>
          </p:cNvPicPr>
          <p:nvPr/>
        </p:nvPicPr>
        <p:blipFill>
          <a:blip r:embed="rId3"/>
          <a:stretch>
            <a:fillRect/>
          </a:stretch>
        </p:blipFill>
        <p:spPr>
          <a:xfrm>
            <a:off x="9982200" y="270493"/>
            <a:ext cx="1697400" cy="390402"/>
          </a:xfrm>
          <a:prstGeom prst="rect">
            <a:avLst/>
          </a:prstGeom>
        </p:spPr>
      </p:pic>
    </p:spTree>
    <p:extLst>
      <p:ext uri="{BB962C8B-B14F-4D97-AF65-F5344CB8AC3E}">
        <p14:creationId xmlns:p14="http://schemas.microsoft.com/office/powerpoint/2010/main" val="1706002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14152-4C35-80DC-9189-F9FF04BA10C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C175265-8445-DEDE-88F9-331DA85B496F}"/>
              </a:ext>
            </a:extLst>
          </p:cNvPr>
          <p:cNvSpPr>
            <a:spLocks noGrp="1"/>
          </p:cNvSpPr>
          <p:nvPr>
            <p:ph type="title"/>
          </p:nvPr>
        </p:nvSpPr>
        <p:spPr>
          <a:xfrm>
            <a:off x="512400" y="297455"/>
            <a:ext cx="11167200" cy="383582"/>
          </a:xfrm>
        </p:spPr>
        <p:txBody>
          <a:bodyPr>
            <a:normAutofit fontScale="90000"/>
          </a:bodyPr>
          <a:lstStyle/>
          <a:p>
            <a:r>
              <a:rPr lang="en-US" altLang="ko-KR" sz="2800" b="1" dirty="0"/>
              <a:t>What</a:t>
            </a:r>
            <a:r>
              <a:rPr lang="ko-KR" altLang="en-US" sz="2800" b="1" dirty="0"/>
              <a:t> </a:t>
            </a:r>
            <a:r>
              <a:rPr lang="en-US" altLang="ko-KR" sz="2800" b="1" dirty="0"/>
              <a:t>is</a:t>
            </a:r>
            <a:r>
              <a:rPr lang="ko-KR" altLang="en-US" sz="2800" b="1" dirty="0"/>
              <a:t> </a:t>
            </a:r>
            <a:r>
              <a:rPr lang="en-US" altLang="ko-KR" sz="2800" b="1" dirty="0"/>
              <a:t>a Good Software?(3/3)</a:t>
            </a:r>
            <a:endParaRPr lang="ko-KR" altLang="en-US" sz="2800" b="1" dirty="0"/>
          </a:p>
        </p:txBody>
      </p:sp>
      <p:sp>
        <p:nvSpPr>
          <p:cNvPr id="3" name="내용 개체 틀 2">
            <a:extLst>
              <a:ext uri="{FF2B5EF4-FFF2-40B4-BE49-F238E27FC236}">
                <a16:creationId xmlns:a16="http://schemas.microsoft.com/office/drawing/2014/main" id="{A201C63F-735F-FBD2-524E-64C81FF2F428}"/>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Good Coding Practices :</a:t>
            </a:r>
          </a:p>
          <a:p>
            <a:pPr lvl="1">
              <a:defRPr/>
            </a:pPr>
            <a:r>
              <a:rPr lang="en-US" altLang="ko-KR" sz="1400" b="1" dirty="0"/>
              <a:t>Simplicity is also the best for AI</a:t>
            </a:r>
            <a:r>
              <a:rPr lang="en-US" altLang="ko-KR" sz="1400" dirty="0"/>
              <a:t>. </a:t>
            </a:r>
          </a:p>
          <a:p>
            <a:pPr lvl="2">
              <a:buFont typeface="Wingdings" panose="05000000000000000000" pitchFamily="2" charset="2"/>
              <a:buChar char="ü"/>
              <a:defRPr/>
            </a:pPr>
            <a:r>
              <a:rPr lang="en-US" altLang="ko-KR" sz="1400" dirty="0"/>
              <a:t>Testing</a:t>
            </a:r>
          </a:p>
          <a:p>
            <a:pPr lvl="2">
              <a:buFont typeface="Wingdings" panose="05000000000000000000" pitchFamily="2" charset="2"/>
              <a:buChar char="ü"/>
              <a:defRPr/>
            </a:pPr>
            <a:r>
              <a:rPr lang="en-US" altLang="ko-KR" sz="1400" dirty="0"/>
              <a:t>Documentation</a:t>
            </a:r>
          </a:p>
          <a:p>
            <a:pPr lvl="2">
              <a:buFont typeface="Wingdings" panose="05000000000000000000" pitchFamily="2" charset="2"/>
              <a:buChar char="ü"/>
              <a:defRPr/>
            </a:pPr>
            <a:r>
              <a:rPr lang="en-US" altLang="ko-KR" sz="1400" dirty="0"/>
              <a:t>Refactoring</a:t>
            </a:r>
          </a:p>
        </p:txBody>
      </p:sp>
      <p:cxnSp>
        <p:nvCxnSpPr>
          <p:cNvPr id="4" name="직선 연결선 3">
            <a:extLst>
              <a:ext uri="{FF2B5EF4-FFF2-40B4-BE49-F238E27FC236}">
                <a16:creationId xmlns:a16="http://schemas.microsoft.com/office/drawing/2014/main" id="{1D6E7558-B3C9-E9D2-3049-78EC2532B3B3}"/>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C953FACE-79F5-6E40-83C4-51252EAE09D4}"/>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BCBA4EC1-FC9F-A5E5-1E78-A0256BE070D6}"/>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5</a:t>
            </a:fld>
            <a:endParaRPr lang="ko-KR" altLang="en-US" dirty="0"/>
          </a:p>
        </p:txBody>
      </p:sp>
      <p:pic>
        <p:nvPicPr>
          <p:cNvPr id="9" name="그림 8">
            <a:extLst>
              <a:ext uri="{FF2B5EF4-FFF2-40B4-BE49-F238E27FC236}">
                <a16:creationId xmlns:a16="http://schemas.microsoft.com/office/drawing/2014/main" id="{807D8A03-D54A-76B3-137E-17D9209035D9}"/>
              </a:ext>
            </a:extLst>
          </p:cNvPr>
          <p:cNvPicPr>
            <a:picLocks noChangeAspect="1"/>
          </p:cNvPicPr>
          <p:nvPr/>
        </p:nvPicPr>
        <p:blipFill>
          <a:blip r:embed="rId2"/>
          <a:stretch>
            <a:fillRect/>
          </a:stretch>
        </p:blipFill>
        <p:spPr>
          <a:xfrm>
            <a:off x="9982200" y="270493"/>
            <a:ext cx="1697400" cy="390402"/>
          </a:xfrm>
          <a:prstGeom prst="rect">
            <a:avLst/>
          </a:prstGeom>
        </p:spPr>
      </p:pic>
      <p:grpSp>
        <p:nvGrpSpPr>
          <p:cNvPr id="13" name="그룹 12">
            <a:extLst>
              <a:ext uri="{FF2B5EF4-FFF2-40B4-BE49-F238E27FC236}">
                <a16:creationId xmlns:a16="http://schemas.microsoft.com/office/drawing/2014/main" id="{8C1F205D-2593-C980-53C8-D59CD21B2003}"/>
              </a:ext>
            </a:extLst>
          </p:cNvPr>
          <p:cNvGrpSpPr/>
          <p:nvPr/>
        </p:nvGrpSpPr>
        <p:grpSpPr>
          <a:xfrm>
            <a:off x="3712028" y="1479549"/>
            <a:ext cx="4767943" cy="4767943"/>
            <a:chOff x="3712028" y="1479549"/>
            <a:chExt cx="4767943" cy="4767943"/>
          </a:xfrm>
        </p:grpSpPr>
        <p:pic>
          <p:nvPicPr>
            <p:cNvPr id="8" name="그림 7">
              <a:extLst>
                <a:ext uri="{FF2B5EF4-FFF2-40B4-BE49-F238E27FC236}">
                  <a16:creationId xmlns:a16="http://schemas.microsoft.com/office/drawing/2014/main" id="{CCFC22E5-2DAD-59E6-24D7-AB9C036ACFA5}"/>
                </a:ext>
              </a:extLst>
            </p:cNvPr>
            <p:cNvPicPr>
              <a:picLocks noChangeAspect="1"/>
            </p:cNvPicPr>
            <p:nvPr/>
          </p:nvPicPr>
          <p:blipFill>
            <a:blip r:embed="rId3"/>
            <a:stretch>
              <a:fillRect/>
            </a:stretch>
          </p:blipFill>
          <p:spPr>
            <a:xfrm>
              <a:off x="3712028" y="1479549"/>
              <a:ext cx="4767943" cy="4767943"/>
            </a:xfrm>
            <a:prstGeom prst="rect">
              <a:avLst/>
            </a:prstGeom>
            <a:ln>
              <a:solidFill>
                <a:schemeClr val="accent1"/>
              </a:solidFill>
            </a:ln>
          </p:spPr>
        </p:pic>
        <p:sp>
          <p:nvSpPr>
            <p:cNvPr id="10" name="사각형: 둥근 모서리 9">
              <a:extLst>
                <a:ext uri="{FF2B5EF4-FFF2-40B4-BE49-F238E27FC236}">
                  <a16:creationId xmlns:a16="http://schemas.microsoft.com/office/drawing/2014/main" id="{EF627F00-0FFE-674B-2AAB-22903D043D7F}"/>
                </a:ext>
              </a:extLst>
            </p:cNvPr>
            <p:cNvSpPr/>
            <p:nvPr/>
          </p:nvSpPr>
          <p:spPr>
            <a:xfrm>
              <a:off x="6912428" y="2076450"/>
              <a:ext cx="1002847" cy="85725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사각형: 둥근 모서리 10">
              <a:extLst>
                <a:ext uri="{FF2B5EF4-FFF2-40B4-BE49-F238E27FC236}">
                  <a16:creationId xmlns:a16="http://schemas.microsoft.com/office/drawing/2014/main" id="{5BBD6FA3-3E6F-FCC6-D315-0AA7BB8C0799}"/>
                </a:ext>
              </a:extLst>
            </p:cNvPr>
            <p:cNvSpPr/>
            <p:nvPr/>
          </p:nvSpPr>
          <p:spPr>
            <a:xfrm>
              <a:off x="3721553" y="3067050"/>
              <a:ext cx="1002847" cy="9525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11">
              <a:extLst>
                <a:ext uri="{FF2B5EF4-FFF2-40B4-BE49-F238E27FC236}">
                  <a16:creationId xmlns:a16="http://schemas.microsoft.com/office/drawing/2014/main" id="{B1C6359F-1C4A-114A-25B2-252A25C3FEA5}"/>
                </a:ext>
              </a:extLst>
            </p:cNvPr>
            <p:cNvSpPr/>
            <p:nvPr/>
          </p:nvSpPr>
          <p:spPr>
            <a:xfrm>
              <a:off x="7160078" y="5174231"/>
              <a:ext cx="1155247" cy="104468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28155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62FC2-5AEA-193F-FD1B-091CDC3F3C1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0F932B9-401C-CE77-8D25-14B1F0C61BB0}"/>
              </a:ext>
            </a:extLst>
          </p:cNvPr>
          <p:cNvSpPr>
            <a:spLocks noGrp="1"/>
          </p:cNvSpPr>
          <p:nvPr>
            <p:ph type="title"/>
          </p:nvPr>
        </p:nvSpPr>
        <p:spPr>
          <a:xfrm>
            <a:off x="512400" y="297455"/>
            <a:ext cx="11167200" cy="383582"/>
          </a:xfrm>
        </p:spPr>
        <p:txBody>
          <a:bodyPr>
            <a:normAutofit fontScale="90000"/>
          </a:bodyPr>
          <a:lstStyle/>
          <a:p>
            <a:r>
              <a:rPr lang="en-US" altLang="ko-KR" sz="2800" b="1" dirty="0"/>
              <a:t>Refactoring</a:t>
            </a:r>
            <a:endParaRPr lang="ko-KR" altLang="en-US" sz="2800" b="1" dirty="0"/>
          </a:p>
        </p:txBody>
      </p:sp>
      <p:sp>
        <p:nvSpPr>
          <p:cNvPr id="3" name="내용 개체 틀 2">
            <a:extLst>
              <a:ext uri="{FF2B5EF4-FFF2-40B4-BE49-F238E27FC236}">
                <a16:creationId xmlns:a16="http://schemas.microsoft.com/office/drawing/2014/main" id="{9BDAB378-7CD2-CFEE-891D-C69674865F5C}"/>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What is Refactoring? :</a:t>
            </a:r>
          </a:p>
          <a:p>
            <a:pPr lvl="1">
              <a:defRPr/>
            </a:pPr>
            <a:r>
              <a:rPr lang="en-US" altLang="ko-KR" sz="1400" b="1" dirty="0"/>
              <a:t>Code refactoring is the process of improving a program's </a:t>
            </a:r>
            <a:r>
              <a:rPr lang="en-US" altLang="ko-KR" sz="1400" b="1" dirty="0">
                <a:solidFill>
                  <a:srgbClr val="FF0000"/>
                </a:solidFill>
              </a:rPr>
              <a:t>internal structure </a:t>
            </a:r>
            <a:r>
              <a:rPr lang="en-US" altLang="ko-KR" sz="1400" b="1" dirty="0"/>
              <a:t>and </a:t>
            </a:r>
            <a:r>
              <a:rPr lang="en-US" altLang="ko-KR" sz="1400" b="1" dirty="0">
                <a:solidFill>
                  <a:srgbClr val="FF0000"/>
                </a:solidFill>
              </a:rPr>
              <a:t>design</a:t>
            </a:r>
            <a:r>
              <a:rPr lang="en-US" altLang="ko-KR" sz="1400" b="1" dirty="0"/>
              <a:t> without altering its external </a:t>
            </a:r>
            <a:r>
              <a:rPr lang="en-US" altLang="ko-KR" sz="1400" b="1" dirty="0">
                <a:solidFill>
                  <a:srgbClr val="FF0000"/>
                </a:solidFill>
              </a:rPr>
              <a:t>behavior(with test cases)</a:t>
            </a:r>
            <a:r>
              <a:rPr lang="en-US" altLang="ko-KR" sz="1400" b="1" dirty="0"/>
              <a:t> or functionality</a:t>
            </a:r>
            <a:r>
              <a:rPr lang="en-US" altLang="ko-KR" sz="1400" dirty="0"/>
              <a:t>. The goal is to </a:t>
            </a:r>
            <a:r>
              <a:rPr lang="en-US" altLang="ko-KR" sz="1400" b="1" dirty="0"/>
              <a:t>enhance code quality </a:t>
            </a:r>
            <a:r>
              <a:rPr lang="en-US" altLang="ko-KR" sz="1400" dirty="0"/>
              <a:t>by making it more </a:t>
            </a:r>
            <a:r>
              <a:rPr lang="en-US" altLang="ko-KR" sz="1400" b="1" dirty="0"/>
              <a:t>readable</a:t>
            </a:r>
            <a:r>
              <a:rPr lang="en-US" altLang="ko-KR" sz="1400" dirty="0"/>
              <a:t>, </a:t>
            </a:r>
            <a:r>
              <a:rPr lang="en-US" altLang="ko-KR" sz="1400" b="1" dirty="0"/>
              <a:t>understandable</a:t>
            </a:r>
            <a:r>
              <a:rPr lang="en-US" altLang="ko-KR" sz="1400" dirty="0"/>
              <a:t>, </a:t>
            </a:r>
            <a:r>
              <a:rPr lang="en-US" altLang="ko-KR" sz="1400" b="1" dirty="0"/>
              <a:t>maintainable</a:t>
            </a:r>
            <a:r>
              <a:rPr lang="en-US" altLang="ko-KR" sz="1400" dirty="0"/>
              <a:t>, and </a:t>
            </a:r>
            <a:r>
              <a:rPr lang="en-US" altLang="ko-KR" sz="1400" b="1" dirty="0"/>
              <a:t>extensible</a:t>
            </a:r>
            <a:r>
              <a:rPr lang="en-US" altLang="ko-KR" sz="1400" dirty="0"/>
              <a:t>, thereby </a:t>
            </a:r>
            <a:r>
              <a:rPr lang="en-US" altLang="ko-KR" sz="1400" b="1" dirty="0"/>
              <a:t>reducing complexity </a:t>
            </a:r>
            <a:r>
              <a:rPr lang="en-US" altLang="ko-KR" sz="1400" dirty="0"/>
              <a:t>and </a:t>
            </a:r>
            <a:r>
              <a:rPr lang="en-US" altLang="ko-KR" sz="1400" b="1" dirty="0"/>
              <a:t>technical debt</a:t>
            </a:r>
            <a:r>
              <a:rPr lang="en-US" altLang="ko-KR" sz="1400" dirty="0"/>
              <a:t>. Refactoring involves applying small, disciplined changes to the code, such as extracting methods or removing redundancies, to </a:t>
            </a:r>
            <a:r>
              <a:rPr lang="en-US" altLang="ko-KR" sz="1400" b="1" dirty="0"/>
              <a:t>achieve a cleaner and more efficient internal architecture</a:t>
            </a:r>
            <a:r>
              <a:rPr lang="en-US" altLang="ko-KR" sz="1400" dirty="0"/>
              <a:t>. </a:t>
            </a:r>
          </a:p>
        </p:txBody>
      </p:sp>
      <p:cxnSp>
        <p:nvCxnSpPr>
          <p:cNvPr id="4" name="직선 연결선 3">
            <a:extLst>
              <a:ext uri="{FF2B5EF4-FFF2-40B4-BE49-F238E27FC236}">
                <a16:creationId xmlns:a16="http://schemas.microsoft.com/office/drawing/2014/main" id="{514ECE3E-3583-D20B-1290-113916D8239A}"/>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12B7AEA7-75E7-566D-E6E7-24BDAE08D033}"/>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23E7D1BC-3EFC-96ED-CBEE-280406409D89}"/>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6</a:t>
            </a:fld>
            <a:endParaRPr lang="ko-KR" altLang="en-US" dirty="0"/>
          </a:p>
        </p:txBody>
      </p:sp>
      <p:pic>
        <p:nvPicPr>
          <p:cNvPr id="9" name="그림 8">
            <a:extLst>
              <a:ext uri="{FF2B5EF4-FFF2-40B4-BE49-F238E27FC236}">
                <a16:creationId xmlns:a16="http://schemas.microsoft.com/office/drawing/2014/main" id="{A286379C-C564-9599-EC56-D180A85AC2A2}"/>
              </a:ext>
            </a:extLst>
          </p:cNvPr>
          <p:cNvPicPr>
            <a:picLocks noChangeAspect="1"/>
          </p:cNvPicPr>
          <p:nvPr/>
        </p:nvPicPr>
        <p:blipFill>
          <a:blip r:embed="rId2"/>
          <a:stretch>
            <a:fillRect/>
          </a:stretch>
        </p:blipFill>
        <p:spPr>
          <a:xfrm>
            <a:off x="9982200" y="270493"/>
            <a:ext cx="1697400" cy="390402"/>
          </a:xfrm>
          <a:prstGeom prst="rect">
            <a:avLst/>
          </a:prstGeom>
        </p:spPr>
      </p:pic>
      <p:pic>
        <p:nvPicPr>
          <p:cNvPr id="7" name="그림 6">
            <a:extLst>
              <a:ext uri="{FF2B5EF4-FFF2-40B4-BE49-F238E27FC236}">
                <a16:creationId xmlns:a16="http://schemas.microsoft.com/office/drawing/2014/main" id="{C26227F3-AA69-4EA6-AA3E-93F53F8B638A}"/>
              </a:ext>
            </a:extLst>
          </p:cNvPr>
          <p:cNvPicPr>
            <a:picLocks noChangeAspect="1"/>
          </p:cNvPicPr>
          <p:nvPr/>
        </p:nvPicPr>
        <p:blipFill>
          <a:blip r:embed="rId3"/>
          <a:stretch>
            <a:fillRect/>
          </a:stretch>
        </p:blipFill>
        <p:spPr>
          <a:xfrm>
            <a:off x="3126658" y="2362979"/>
            <a:ext cx="5938684" cy="3781272"/>
          </a:xfrm>
          <a:prstGeom prst="rect">
            <a:avLst/>
          </a:prstGeom>
          <a:ln>
            <a:solidFill>
              <a:schemeClr val="accent1"/>
            </a:solidFill>
          </a:ln>
        </p:spPr>
      </p:pic>
    </p:spTree>
    <p:extLst>
      <p:ext uri="{BB962C8B-B14F-4D97-AF65-F5344CB8AC3E}">
        <p14:creationId xmlns:p14="http://schemas.microsoft.com/office/powerpoint/2010/main" val="311413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FD8B8-339F-BEDA-A614-754026751B9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71E99DE-FCDB-6AAA-F4FF-989BE8569C6D}"/>
              </a:ext>
            </a:extLst>
          </p:cNvPr>
          <p:cNvSpPr>
            <a:spLocks noGrp="1"/>
          </p:cNvSpPr>
          <p:nvPr>
            <p:ph type="title"/>
          </p:nvPr>
        </p:nvSpPr>
        <p:spPr>
          <a:xfrm>
            <a:off x="512400" y="297455"/>
            <a:ext cx="11167200" cy="383582"/>
          </a:xfrm>
        </p:spPr>
        <p:txBody>
          <a:bodyPr>
            <a:normAutofit fontScale="90000"/>
          </a:bodyPr>
          <a:lstStyle/>
          <a:p>
            <a:r>
              <a:rPr lang="en-US" altLang="ko-KR" sz="2800" b="1" dirty="0"/>
              <a:t>TDD(Test-Driven Development)</a:t>
            </a:r>
            <a:endParaRPr lang="ko-KR" altLang="en-US" sz="2800" b="1" dirty="0"/>
          </a:p>
        </p:txBody>
      </p:sp>
      <p:sp>
        <p:nvSpPr>
          <p:cNvPr id="3" name="내용 개체 틀 2">
            <a:extLst>
              <a:ext uri="{FF2B5EF4-FFF2-40B4-BE49-F238E27FC236}">
                <a16:creationId xmlns:a16="http://schemas.microsoft.com/office/drawing/2014/main" id="{E501130A-4B7E-FDF0-B000-B9E34F65C643}"/>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What is TDD? :</a:t>
            </a:r>
          </a:p>
          <a:p>
            <a:pPr lvl="1">
              <a:defRPr/>
            </a:pPr>
            <a:r>
              <a:rPr lang="en-US" altLang="ko-KR" sz="1400" b="1" dirty="0">
                <a:solidFill>
                  <a:srgbClr val="FF0000"/>
                </a:solidFill>
              </a:rPr>
              <a:t>Test-Driven Development (TDD)</a:t>
            </a:r>
            <a:r>
              <a:rPr lang="en-US" altLang="ko-KR" sz="1400" b="1" dirty="0"/>
              <a:t> is an agile software development method where developers write automated unit tests before writing the actual functional code</a:t>
            </a:r>
            <a:r>
              <a:rPr lang="en-US" altLang="ko-KR" sz="1400" dirty="0"/>
              <a:t>. The process follows a "</a:t>
            </a:r>
            <a:r>
              <a:rPr lang="en-US" altLang="ko-KR" sz="1400" b="1" dirty="0"/>
              <a:t>Red-Green-Refactor</a:t>
            </a:r>
            <a:r>
              <a:rPr lang="en-US" altLang="ko-KR" sz="1400" dirty="0"/>
              <a:t>" cycle: </a:t>
            </a:r>
            <a:r>
              <a:rPr lang="en-US" altLang="ko-KR" sz="1400" b="1" dirty="0"/>
              <a:t>write a test that fails (Red)</a:t>
            </a:r>
            <a:r>
              <a:rPr lang="en-US" altLang="ko-KR" sz="1400" dirty="0"/>
              <a:t>, </a:t>
            </a:r>
            <a:r>
              <a:rPr lang="en-US" altLang="ko-KR" sz="1400" b="1" dirty="0"/>
              <a:t>write the minimum code to make the test pass (Green)</a:t>
            </a:r>
            <a:r>
              <a:rPr lang="en-US" altLang="ko-KR" sz="1400" dirty="0"/>
              <a:t>, and then </a:t>
            </a:r>
            <a:r>
              <a:rPr lang="en-US" altLang="ko-KR" sz="1400" b="1" dirty="0"/>
              <a:t>clean up and improve the code without changing its functionality (Refactor)</a:t>
            </a:r>
            <a:r>
              <a:rPr lang="en-US" altLang="ko-KR" sz="1400" dirty="0"/>
              <a:t>. This iterative approach helps ensure code quality, promotes </a:t>
            </a:r>
            <a:r>
              <a:rPr lang="en-US" altLang="ko-KR" sz="1400" b="1" dirty="0"/>
              <a:t>better design</a:t>
            </a:r>
            <a:r>
              <a:rPr lang="en-US" altLang="ko-KR" sz="1400" dirty="0"/>
              <a:t>, </a:t>
            </a:r>
            <a:r>
              <a:rPr lang="en-US" altLang="ko-KR" sz="1400" b="1" dirty="0"/>
              <a:t>reduces defects</a:t>
            </a:r>
            <a:r>
              <a:rPr lang="en-US" altLang="ko-KR" sz="1400" dirty="0"/>
              <a:t>, and simplifies development by focusing on </a:t>
            </a:r>
            <a:r>
              <a:rPr lang="en-US" altLang="ko-KR" sz="1400" b="1" dirty="0"/>
              <a:t>clear, </a:t>
            </a:r>
            <a:r>
              <a:rPr lang="en-US" altLang="ko-KR" sz="1400" b="1" dirty="0">
                <a:solidFill>
                  <a:srgbClr val="FF0000"/>
                </a:solidFill>
              </a:rPr>
              <a:t>testable</a:t>
            </a:r>
            <a:r>
              <a:rPr lang="en-US" altLang="ko-KR" sz="1400" dirty="0"/>
              <a:t> requirements from the outset(start). </a:t>
            </a:r>
          </a:p>
        </p:txBody>
      </p:sp>
      <p:cxnSp>
        <p:nvCxnSpPr>
          <p:cNvPr id="4" name="직선 연결선 3">
            <a:extLst>
              <a:ext uri="{FF2B5EF4-FFF2-40B4-BE49-F238E27FC236}">
                <a16:creationId xmlns:a16="http://schemas.microsoft.com/office/drawing/2014/main" id="{50ADB62A-3D0C-536D-899D-A8BB7FF7C73F}"/>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8347DCCC-842B-C617-53CA-A9C7A503674B}"/>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6A654D99-130F-62D2-0E31-C6CC0B63002E}"/>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7</a:t>
            </a:fld>
            <a:endParaRPr lang="ko-KR" altLang="en-US" dirty="0"/>
          </a:p>
        </p:txBody>
      </p:sp>
      <p:pic>
        <p:nvPicPr>
          <p:cNvPr id="9" name="그림 8">
            <a:extLst>
              <a:ext uri="{FF2B5EF4-FFF2-40B4-BE49-F238E27FC236}">
                <a16:creationId xmlns:a16="http://schemas.microsoft.com/office/drawing/2014/main" id="{E9FA1032-BF8D-6082-4A6C-F87A678CC77B}"/>
              </a:ext>
            </a:extLst>
          </p:cNvPr>
          <p:cNvPicPr>
            <a:picLocks noChangeAspect="1"/>
          </p:cNvPicPr>
          <p:nvPr/>
        </p:nvPicPr>
        <p:blipFill>
          <a:blip r:embed="rId2"/>
          <a:stretch>
            <a:fillRect/>
          </a:stretch>
        </p:blipFill>
        <p:spPr>
          <a:xfrm>
            <a:off x="9982200" y="270493"/>
            <a:ext cx="1697400" cy="390402"/>
          </a:xfrm>
          <a:prstGeom prst="rect">
            <a:avLst/>
          </a:prstGeom>
        </p:spPr>
      </p:pic>
      <p:pic>
        <p:nvPicPr>
          <p:cNvPr id="8" name="그림 7">
            <a:extLst>
              <a:ext uri="{FF2B5EF4-FFF2-40B4-BE49-F238E27FC236}">
                <a16:creationId xmlns:a16="http://schemas.microsoft.com/office/drawing/2014/main" id="{C981F2F7-0229-E74B-C7EF-A5F168F568FE}"/>
              </a:ext>
            </a:extLst>
          </p:cNvPr>
          <p:cNvPicPr>
            <a:picLocks noChangeAspect="1"/>
          </p:cNvPicPr>
          <p:nvPr/>
        </p:nvPicPr>
        <p:blipFill>
          <a:blip r:embed="rId3"/>
          <a:stretch>
            <a:fillRect/>
          </a:stretch>
        </p:blipFill>
        <p:spPr>
          <a:xfrm>
            <a:off x="4395711" y="2459645"/>
            <a:ext cx="3400578" cy="3553569"/>
          </a:xfrm>
          <a:prstGeom prst="rect">
            <a:avLst/>
          </a:prstGeom>
        </p:spPr>
      </p:pic>
    </p:spTree>
    <p:extLst>
      <p:ext uri="{BB962C8B-B14F-4D97-AF65-F5344CB8AC3E}">
        <p14:creationId xmlns:p14="http://schemas.microsoft.com/office/powerpoint/2010/main" val="4096319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AA5B6-75C8-1C8A-48F0-DC39D4C43C2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7000085E-FA2B-8F3F-748E-9CEC37BF33EB}"/>
              </a:ext>
            </a:extLst>
          </p:cNvPr>
          <p:cNvSpPr>
            <a:spLocks noGrp="1"/>
          </p:cNvSpPr>
          <p:nvPr>
            <p:ph type="title"/>
          </p:nvPr>
        </p:nvSpPr>
        <p:spPr>
          <a:xfrm>
            <a:off x="512400" y="297455"/>
            <a:ext cx="11167200" cy="383582"/>
          </a:xfrm>
        </p:spPr>
        <p:txBody>
          <a:bodyPr>
            <a:normAutofit fontScale="90000"/>
          </a:bodyPr>
          <a:lstStyle/>
          <a:p>
            <a:r>
              <a:rPr lang="en-US" altLang="ko-KR" sz="2800" b="1" dirty="0"/>
              <a:t>Left Shift Test Strategy</a:t>
            </a:r>
            <a:endParaRPr lang="ko-KR" altLang="en-US" sz="2800" b="1" dirty="0"/>
          </a:p>
        </p:txBody>
      </p:sp>
      <p:sp>
        <p:nvSpPr>
          <p:cNvPr id="3" name="내용 개체 틀 2">
            <a:extLst>
              <a:ext uri="{FF2B5EF4-FFF2-40B4-BE49-F238E27FC236}">
                <a16:creationId xmlns:a16="http://schemas.microsoft.com/office/drawing/2014/main" id="{5A9D555C-967D-90D5-CD11-52152BFA2D5A}"/>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Testing :</a:t>
            </a:r>
          </a:p>
          <a:p>
            <a:pPr lvl="1">
              <a:defRPr/>
            </a:pPr>
            <a:r>
              <a:rPr lang="en-US" altLang="ko-KR" sz="1400" b="1" dirty="0"/>
              <a:t>A </a:t>
            </a:r>
            <a:r>
              <a:rPr lang="en-US" altLang="ko-KR" sz="1400" b="1" dirty="0">
                <a:solidFill>
                  <a:srgbClr val="FF0000"/>
                </a:solidFill>
              </a:rPr>
              <a:t>shift-left test strategy </a:t>
            </a:r>
            <a:r>
              <a:rPr lang="en-US" altLang="ko-KR" sz="1400" b="1" dirty="0"/>
              <a:t>involves integrating testing and quality assurance activities earlier and continuously throughout the </a:t>
            </a:r>
            <a:r>
              <a:rPr lang="en-US" altLang="ko-KR" sz="1400" b="1" dirty="0">
                <a:solidFill>
                  <a:srgbClr val="FF0000"/>
                </a:solidFill>
              </a:rPr>
              <a:t>software development lifecycle (SDLC)</a:t>
            </a:r>
            <a:r>
              <a:rPr lang="en-US" altLang="ko-KR" sz="1400" dirty="0"/>
              <a:t>, </a:t>
            </a:r>
            <a:r>
              <a:rPr lang="en-US" altLang="ko-KR" sz="1400" b="1" dirty="0"/>
              <a:t>rather than performing them only at the end of the process</a:t>
            </a:r>
            <a:r>
              <a:rPr lang="en-US" altLang="ko-KR" sz="1400" dirty="0"/>
              <a:t>. The core principle is that catching defects, bugs, and security vulnerabilities at their inception leads to significant savings in time and cost, ultimately improving overall software quality, accelerating delivery, and fostering a more collaborative development culture. </a:t>
            </a:r>
          </a:p>
        </p:txBody>
      </p:sp>
      <p:cxnSp>
        <p:nvCxnSpPr>
          <p:cNvPr id="4" name="직선 연결선 3">
            <a:extLst>
              <a:ext uri="{FF2B5EF4-FFF2-40B4-BE49-F238E27FC236}">
                <a16:creationId xmlns:a16="http://schemas.microsoft.com/office/drawing/2014/main" id="{46CD0EA2-14BC-DE74-DD81-732CB0AA4956}"/>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92153C1A-9E76-1BD4-1CCD-7056B531EA71}"/>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DF159C2E-7525-0EB0-5779-0FE21DCFD8DD}"/>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8</a:t>
            </a:fld>
            <a:endParaRPr lang="ko-KR" altLang="en-US" dirty="0"/>
          </a:p>
        </p:txBody>
      </p:sp>
      <p:pic>
        <p:nvPicPr>
          <p:cNvPr id="9" name="그림 8">
            <a:extLst>
              <a:ext uri="{FF2B5EF4-FFF2-40B4-BE49-F238E27FC236}">
                <a16:creationId xmlns:a16="http://schemas.microsoft.com/office/drawing/2014/main" id="{D604BD9D-8614-F0F1-CA33-B13CA08D1AF0}"/>
              </a:ext>
            </a:extLst>
          </p:cNvPr>
          <p:cNvPicPr>
            <a:picLocks noChangeAspect="1"/>
          </p:cNvPicPr>
          <p:nvPr/>
        </p:nvPicPr>
        <p:blipFill>
          <a:blip r:embed="rId2"/>
          <a:stretch>
            <a:fillRect/>
          </a:stretch>
        </p:blipFill>
        <p:spPr>
          <a:xfrm>
            <a:off x="9982200" y="270493"/>
            <a:ext cx="1697400" cy="390402"/>
          </a:xfrm>
          <a:prstGeom prst="rect">
            <a:avLst/>
          </a:prstGeom>
        </p:spPr>
      </p:pic>
      <p:pic>
        <p:nvPicPr>
          <p:cNvPr id="7" name="그림 6">
            <a:extLst>
              <a:ext uri="{FF2B5EF4-FFF2-40B4-BE49-F238E27FC236}">
                <a16:creationId xmlns:a16="http://schemas.microsoft.com/office/drawing/2014/main" id="{EE2B0434-441D-7C83-9073-7EE59070B2EF}"/>
              </a:ext>
            </a:extLst>
          </p:cNvPr>
          <p:cNvPicPr>
            <a:picLocks noChangeAspect="1"/>
          </p:cNvPicPr>
          <p:nvPr/>
        </p:nvPicPr>
        <p:blipFill>
          <a:blip r:embed="rId3"/>
          <a:stretch>
            <a:fillRect/>
          </a:stretch>
        </p:blipFill>
        <p:spPr>
          <a:xfrm>
            <a:off x="2707189" y="2332939"/>
            <a:ext cx="6777621" cy="3811312"/>
          </a:xfrm>
          <a:prstGeom prst="rect">
            <a:avLst/>
          </a:prstGeom>
          <a:ln>
            <a:solidFill>
              <a:schemeClr val="accent1"/>
            </a:solidFill>
          </a:ln>
        </p:spPr>
      </p:pic>
    </p:spTree>
    <p:extLst>
      <p:ext uri="{BB962C8B-B14F-4D97-AF65-F5344CB8AC3E}">
        <p14:creationId xmlns:p14="http://schemas.microsoft.com/office/powerpoint/2010/main" val="3374987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999A8-C568-50BB-BF5E-EE6FC349E22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3DB3731-311E-8427-AEA8-3CFED550F252}"/>
              </a:ext>
            </a:extLst>
          </p:cNvPr>
          <p:cNvSpPr>
            <a:spLocks noGrp="1"/>
          </p:cNvSpPr>
          <p:nvPr>
            <p:ph type="title"/>
          </p:nvPr>
        </p:nvSpPr>
        <p:spPr>
          <a:xfrm>
            <a:off x="512400" y="297455"/>
            <a:ext cx="11167200" cy="383582"/>
          </a:xfrm>
        </p:spPr>
        <p:txBody>
          <a:bodyPr>
            <a:normAutofit fontScale="90000"/>
          </a:bodyPr>
          <a:lstStyle/>
          <a:p>
            <a:r>
              <a:rPr lang="en-US" altLang="ko-KR" sz="2800" b="1" dirty="0"/>
              <a:t>Technical Debt</a:t>
            </a:r>
            <a:endParaRPr lang="ko-KR" altLang="en-US" sz="2800" b="1" dirty="0"/>
          </a:p>
        </p:txBody>
      </p:sp>
      <p:sp>
        <p:nvSpPr>
          <p:cNvPr id="3" name="내용 개체 틀 2">
            <a:extLst>
              <a:ext uri="{FF2B5EF4-FFF2-40B4-BE49-F238E27FC236}">
                <a16:creationId xmlns:a16="http://schemas.microsoft.com/office/drawing/2014/main" id="{992A3C1C-0190-6E7C-B1D1-B9A06631E63E}"/>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What is Technical Debt? :</a:t>
            </a:r>
          </a:p>
          <a:p>
            <a:pPr lvl="1">
              <a:defRPr/>
            </a:pPr>
            <a:r>
              <a:rPr lang="en-US" altLang="ko-KR" sz="1400" b="1" dirty="0">
                <a:solidFill>
                  <a:srgbClr val="FF0000"/>
                </a:solidFill>
              </a:rPr>
              <a:t>Technical debt</a:t>
            </a:r>
            <a:r>
              <a:rPr lang="en-US" altLang="ko-KR" sz="1400" dirty="0"/>
              <a:t> is </a:t>
            </a:r>
            <a:r>
              <a:rPr lang="en-US" altLang="ko-KR" sz="1400" b="1" dirty="0"/>
              <a:t>the metaphorical cost of taking shortcuts or making suboptimal decisions during software development, resulting in future rework</a:t>
            </a:r>
            <a:r>
              <a:rPr lang="en-US" altLang="ko-KR" sz="1400" dirty="0"/>
              <a:t> that must be "repaid" with time, money, and resources. It's a trade-off, gaining short-term speed or expediency(convenience) now, but accumulating "interest" in the form of </a:t>
            </a:r>
            <a:r>
              <a:rPr lang="en-US" altLang="ko-KR" sz="1400" b="1" dirty="0"/>
              <a:t>increased maintenance</a:t>
            </a:r>
            <a:r>
              <a:rPr lang="en-US" altLang="ko-KR" sz="1400" dirty="0"/>
              <a:t>, </a:t>
            </a:r>
            <a:r>
              <a:rPr lang="en-US" altLang="ko-KR" sz="1400" b="1" dirty="0"/>
              <a:t>slower future development, and reduced software quality</a:t>
            </a:r>
            <a:r>
              <a:rPr lang="en-US" altLang="ko-KR" sz="1400" dirty="0"/>
              <a:t>. While sometimes necessary to meet business needs, excessive technical debt can cripple a project, leading to bugs, security vulnerabilities, and increased costs over time. </a:t>
            </a:r>
          </a:p>
        </p:txBody>
      </p:sp>
      <p:cxnSp>
        <p:nvCxnSpPr>
          <p:cNvPr id="4" name="직선 연결선 3">
            <a:extLst>
              <a:ext uri="{FF2B5EF4-FFF2-40B4-BE49-F238E27FC236}">
                <a16:creationId xmlns:a16="http://schemas.microsoft.com/office/drawing/2014/main" id="{EE95EE36-5634-EBFD-4901-3F00105212DD}"/>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D8611687-9726-308B-9C05-7F4D35A6B590}"/>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64D88D4E-87CA-8596-4190-C32393C6E998}"/>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9</a:t>
            </a:fld>
            <a:endParaRPr lang="ko-KR" altLang="en-US" dirty="0"/>
          </a:p>
        </p:txBody>
      </p:sp>
      <p:pic>
        <p:nvPicPr>
          <p:cNvPr id="9" name="그림 8">
            <a:extLst>
              <a:ext uri="{FF2B5EF4-FFF2-40B4-BE49-F238E27FC236}">
                <a16:creationId xmlns:a16="http://schemas.microsoft.com/office/drawing/2014/main" id="{261B6F26-5C96-18C2-1B61-B8DB852A98D5}"/>
              </a:ext>
            </a:extLst>
          </p:cNvPr>
          <p:cNvPicPr>
            <a:picLocks noChangeAspect="1"/>
          </p:cNvPicPr>
          <p:nvPr/>
        </p:nvPicPr>
        <p:blipFill>
          <a:blip r:embed="rId2"/>
          <a:stretch>
            <a:fillRect/>
          </a:stretch>
        </p:blipFill>
        <p:spPr>
          <a:xfrm>
            <a:off x="9982200" y="270493"/>
            <a:ext cx="1697400" cy="390402"/>
          </a:xfrm>
          <a:prstGeom prst="rect">
            <a:avLst/>
          </a:prstGeom>
        </p:spPr>
      </p:pic>
      <p:grpSp>
        <p:nvGrpSpPr>
          <p:cNvPr id="11" name="그룹 10">
            <a:extLst>
              <a:ext uri="{FF2B5EF4-FFF2-40B4-BE49-F238E27FC236}">
                <a16:creationId xmlns:a16="http://schemas.microsoft.com/office/drawing/2014/main" id="{ACC042DB-B06A-01B8-A392-4F5360E84F96}"/>
              </a:ext>
            </a:extLst>
          </p:cNvPr>
          <p:cNvGrpSpPr/>
          <p:nvPr/>
        </p:nvGrpSpPr>
        <p:grpSpPr>
          <a:xfrm>
            <a:off x="1562355" y="2649333"/>
            <a:ext cx="9067290" cy="3171825"/>
            <a:chOff x="1809750" y="2668997"/>
            <a:chExt cx="9067290" cy="3171825"/>
          </a:xfrm>
        </p:grpSpPr>
        <p:pic>
          <p:nvPicPr>
            <p:cNvPr id="8" name="그림 7">
              <a:extLst>
                <a:ext uri="{FF2B5EF4-FFF2-40B4-BE49-F238E27FC236}">
                  <a16:creationId xmlns:a16="http://schemas.microsoft.com/office/drawing/2014/main" id="{AA94B04A-49A4-6580-22F8-3BB95EAEABC5}"/>
                </a:ext>
              </a:extLst>
            </p:cNvPr>
            <p:cNvPicPr>
              <a:picLocks noChangeAspect="1"/>
            </p:cNvPicPr>
            <p:nvPr/>
          </p:nvPicPr>
          <p:blipFill>
            <a:blip r:embed="rId3"/>
            <a:stretch>
              <a:fillRect/>
            </a:stretch>
          </p:blipFill>
          <p:spPr>
            <a:xfrm>
              <a:off x="1809750" y="2668997"/>
              <a:ext cx="4286250" cy="3171825"/>
            </a:xfrm>
            <a:prstGeom prst="rect">
              <a:avLst/>
            </a:prstGeom>
          </p:spPr>
        </p:pic>
        <p:pic>
          <p:nvPicPr>
            <p:cNvPr id="10" name="그림 9">
              <a:extLst>
                <a:ext uri="{FF2B5EF4-FFF2-40B4-BE49-F238E27FC236}">
                  <a16:creationId xmlns:a16="http://schemas.microsoft.com/office/drawing/2014/main" id="{E7389B75-169D-63E1-A8AE-A432464F55F2}"/>
                </a:ext>
              </a:extLst>
            </p:cNvPr>
            <p:cNvPicPr>
              <a:picLocks noChangeAspect="1"/>
            </p:cNvPicPr>
            <p:nvPr/>
          </p:nvPicPr>
          <p:blipFill>
            <a:blip r:embed="rId4"/>
            <a:stretch>
              <a:fillRect/>
            </a:stretch>
          </p:blipFill>
          <p:spPr>
            <a:xfrm>
              <a:off x="6590790" y="2794204"/>
              <a:ext cx="4286250" cy="2758192"/>
            </a:xfrm>
            <a:prstGeom prst="rect">
              <a:avLst/>
            </a:prstGeom>
          </p:spPr>
        </p:pic>
      </p:grpSp>
    </p:spTree>
    <p:extLst>
      <p:ext uri="{BB962C8B-B14F-4D97-AF65-F5344CB8AC3E}">
        <p14:creationId xmlns:p14="http://schemas.microsoft.com/office/powerpoint/2010/main" val="2831074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35915-7A4F-EA40-98D3-1CE240A52EA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259BCC96-2326-1FD4-3E00-7D3F3DF8BB68}"/>
              </a:ext>
            </a:extLst>
          </p:cNvPr>
          <p:cNvSpPr>
            <a:spLocks noGrp="1"/>
          </p:cNvSpPr>
          <p:nvPr>
            <p:ph type="title"/>
          </p:nvPr>
        </p:nvSpPr>
        <p:spPr>
          <a:xfrm>
            <a:off x="512400" y="297455"/>
            <a:ext cx="11167200" cy="383582"/>
          </a:xfrm>
        </p:spPr>
        <p:txBody>
          <a:bodyPr>
            <a:normAutofit fontScale="90000"/>
          </a:bodyPr>
          <a:lstStyle/>
          <a:p>
            <a:r>
              <a:rPr lang="en-US" altLang="ko-KR" sz="2800" b="1" dirty="0"/>
              <a:t>Software Project Survival Guide</a:t>
            </a:r>
            <a:endParaRPr lang="ko-KR" altLang="en-US" sz="2800" b="1" dirty="0"/>
          </a:p>
        </p:txBody>
      </p:sp>
      <p:sp>
        <p:nvSpPr>
          <p:cNvPr id="3" name="내용 개체 틀 2">
            <a:extLst>
              <a:ext uri="{FF2B5EF4-FFF2-40B4-BE49-F238E27FC236}">
                <a16:creationId xmlns:a16="http://schemas.microsoft.com/office/drawing/2014/main" id="{466791B9-4A6B-7515-6C22-3CB0EAAD5BB0}"/>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Do’s and Don’ts :</a:t>
            </a:r>
            <a:r>
              <a:rPr lang="en-US" altLang="ko-KR" sz="1400" dirty="0"/>
              <a:t> </a:t>
            </a:r>
          </a:p>
        </p:txBody>
      </p:sp>
      <p:cxnSp>
        <p:nvCxnSpPr>
          <p:cNvPr id="4" name="직선 연결선 3">
            <a:extLst>
              <a:ext uri="{FF2B5EF4-FFF2-40B4-BE49-F238E27FC236}">
                <a16:creationId xmlns:a16="http://schemas.microsoft.com/office/drawing/2014/main" id="{E275CC91-E01B-E04D-1C31-B0A1E8A882F4}"/>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B92F3156-93F4-E2F1-9B18-A532521ADB0C}"/>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0FF82DD9-4903-23EF-11BF-85130B48E9C3}"/>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10</a:t>
            </a:fld>
            <a:endParaRPr lang="ko-KR" altLang="en-US" dirty="0"/>
          </a:p>
        </p:txBody>
      </p:sp>
      <p:pic>
        <p:nvPicPr>
          <p:cNvPr id="9" name="그림 8">
            <a:extLst>
              <a:ext uri="{FF2B5EF4-FFF2-40B4-BE49-F238E27FC236}">
                <a16:creationId xmlns:a16="http://schemas.microsoft.com/office/drawing/2014/main" id="{E58BE843-755B-23AC-4229-478941498550}"/>
              </a:ext>
            </a:extLst>
          </p:cNvPr>
          <p:cNvPicPr>
            <a:picLocks noChangeAspect="1"/>
          </p:cNvPicPr>
          <p:nvPr/>
        </p:nvPicPr>
        <p:blipFill>
          <a:blip r:embed="rId2"/>
          <a:stretch>
            <a:fillRect/>
          </a:stretch>
        </p:blipFill>
        <p:spPr>
          <a:xfrm>
            <a:off x="9982200" y="270493"/>
            <a:ext cx="1697400" cy="390402"/>
          </a:xfrm>
          <a:prstGeom prst="rect">
            <a:avLst/>
          </a:prstGeom>
        </p:spPr>
      </p:pic>
      <p:grpSp>
        <p:nvGrpSpPr>
          <p:cNvPr id="19" name="그룹 18">
            <a:extLst>
              <a:ext uri="{FF2B5EF4-FFF2-40B4-BE49-F238E27FC236}">
                <a16:creationId xmlns:a16="http://schemas.microsoft.com/office/drawing/2014/main" id="{48CC0706-F44D-8227-729B-3C7A55F3AE53}"/>
              </a:ext>
            </a:extLst>
          </p:cNvPr>
          <p:cNvGrpSpPr/>
          <p:nvPr/>
        </p:nvGrpSpPr>
        <p:grpSpPr>
          <a:xfrm>
            <a:off x="512399" y="1121140"/>
            <a:ext cx="11167202" cy="5023111"/>
            <a:chOff x="512399" y="1082536"/>
            <a:chExt cx="11167202" cy="5023111"/>
          </a:xfrm>
        </p:grpSpPr>
        <p:sp>
          <p:nvSpPr>
            <p:cNvPr id="12" name="TextBox 11">
              <a:extLst>
                <a:ext uri="{FF2B5EF4-FFF2-40B4-BE49-F238E27FC236}">
                  <a16:creationId xmlns:a16="http://schemas.microsoft.com/office/drawing/2014/main" id="{77474E71-7253-3905-2C7B-21AADDEED0D2}"/>
                </a:ext>
              </a:extLst>
            </p:cNvPr>
            <p:cNvSpPr txBox="1"/>
            <p:nvPr/>
          </p:nvSpPr>
          <p:spPr>
            <a:xfrm>
              <a:off x="512399" y="1396666"/>
              <a:ext cx="5514777" cy="4708981"/>
            </a:xfrm>
            <a:prstGeom prst="rect">
              <a:avLst/>
            </a:prstGeom>
            <a:noFill/>
            <a:ln>
              <a:solidFill>
                <a:schemeClr val="accent1"/>
              </a:solidFill>
            </a:ln>
          </p:spPr>
          <p:txBody>
            <a:bodyPr wrap="square">
              <a:spAutoFit/>
            </a:bodyPr>
            <a:lstStyle/>
            <a:p>
              <a:pPr marL="171450" indent="-171450">
                <a:buFont typeface="Arial" panose="020B0604020202020204" pitchFamily="34" charset="0"/>
                <a:buChar char="•"/>
              </a:pPr>
              <a:r>
                <a:rPr lang="ko-KR" altLang="en-US" sz="1000" b="1" dirty="0">
                  <a:latin typeface="+mn-ea"/>
                </a:rPr>
                <a:t>생존 계획 수립 </a:t>
              </a:r>
              <a:r>
                <a:rPr lang="en-US" altLang="ko-KR" sz="1000" b="1" dirty="0">
                  <a:latin typeface="+mn-ea"/>
                </a:rPr>
                <a:t>(Plan for Survival): </a:t>
              </a:r>
              <a:r>
                <a:rPr lang="ko-KR" altLang="en-US" sz="1000" dirty="0">
                  <a:latin typeface="+mn-ea"/>
                </a:rPr>
                <a:t>프로젝트 초기에 위험을 식별하고</a:t>
              </a:r>
              <a:r>
                <a:rPr lang="en-US" altLang="ko-KR" sz="1000" dirty="0">
                  <a:latin typeface="+mn-ea"/>
                </a:rPr>
                <a:t>, </a:t>
              </a:r>
              <a:r>
                <a:rPr lang="ko-KR" altLang="en-US" sz="1000" dirty="0">
                  <a:latin typeface="+mn-ea"/>
                </a:rPr>
                <a:t>현실적인 계획을 세우는 것이 중요합니다</a:t>
              </a:r>
              <a:r>
                <a:rPr lang="en-US" altLang="ko-KR" sz="1000" dirty="0">
                  <a:latin typeface="+mn-ea"/>
                </a:rPr>
                <a:t>. </a:t>
              </a:r>
              <a:r>
                <a:rPr lang="ko-KR" altLang="en-US" sz="1000" dirty="0">
                  <a:latin typeface="+mn-ea"/>
                </a:rPr>
                <a:t>체계적인 계획은 프로젝트의 나침반과 같습니다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사용자와 적극적으로 소통 </a:t>
              </a:r>
              <a:r>
                <a:rPr lang="en-US" altLang="ko-KR" sz="1000" b="1" dirty="0">
                  <a:latin typeface="+mn-ea"/>
                </a:rPr>
                <a:t>(Engage with Users): </a:t>
              </a:r>
              <a:r>
                <a:rPr lang="ko-KR" altLang="en-US" sz="1000" dirty="0">
                  <a:latin typeface="+mn-ea"/>
                </a:rPr>
                <a:t>프로젝트의 진정한 성공은 최종 사용자의 만족에 있습니다</a:t>
              </a:r>
              <a:r>
                <a:rPr lang="en-US" altLang="ko-KR" sz="1000" dirty="0">
                  <a:latin typeface="+mn-ea"/>
                </a:rPr>
                <a:t>. </a:t>
              </a:r>
              <a:r>
                <a:rPr lang="ko-KR" altLang="en-US" sz="1000" dirty="0">
                  <a:latin typeface="+mn-ea"/>
                </a:rPr>
                <a:t>요구사항을 명확히 하고</a:t>
              </a:r>
              <a:r>
                <a:rPr lang="en-US" altLang="ko-KR" sz="1000" dirty="0">
                  <a:latin typeface="+mn-ea"/>
                </a:rPr>
                <a:t>, </a:t>
              </a:r>
              <a:r>
                <a:rPr lang="ko-KR" altLang="en-US" sz="1000" dirty="0">
                  <a:latin typeface="+mn-ea"/>
                </a:rPr>
                <a:t>지속적으로 피드백을 받으며 사용자 참여를 유도해야 합니다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작고 점진적인 릴리스 </a:t>
              </a:r>
              <a:r>
                <a:rPr lang="en-US" altLang="ko-KR" sz="1000" b="1" dirty="0">
                  <a:latin typeface="+mn-ea"/>
                </a:rPr>
                <a:t>(Use Small, Incremental Releases): </a:t>
              </a:r>
              <a:r>
                <a:rPr lang="ko-KR" altLang="en-US" sz="1000" dirty="0">
                  <a:latin typeface="+mn-ea"/>
                </a:rPr>
                <a:t>전체 시스템을 한 번에 개발하려 하지 말고</a:t>
              </a:r>
              <a:r>
                <a:rPr lang="en-US" altLang="ko-KR" sz="1000" dirty="0">
                  <a:latin typeface="+mn-ea"/>
                </a:rPr>
                <a:t>, </a:t>
              </a:r>
              <a:r>
                <a:rPr lang="ko-KR" altLang="en-US" sz="1000" dirty="0">
                  <a:latin typeface="+mn-ea"/>
                </a:rPr>
                <a:t>핵심 기능을 우선으로 작게 나누어 점진적으로 개발하고 출시해야 합니다</a:t>
              </a:r>
              <a:r>
                <a:rPr lang="en-US" altLang="ko-KR" sz="1000" dirty="0">
                  <a:latin typeface="+mn-ea"/>
                </a:rPr>
                <a:t>. </a:t>
              </a:r>
              <a:r>
                <a:rPr lang="ko-KR" altLang="en-US" sz="1000" dirty="0">
                  <a:latin typeface="+mn-ea"/>
                </a:rPr>
                <a:t>이를 통해 위험을 줄이고 피드백을 조기에 반영할 수 있습니다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위험 관리 </a:t>
              </a:r>
              <a:r>
                <a:rPr lang="en-US" altLang="ko-KR" sz="1000" b="1" dirty="0">
                  <a:latin typeface="+mn-ea"/>
                </a:rPr>
                <a:t>(Manage Risks):</a:t>
              </a:r>
              <a:r>
                <a:rPr lang="en-US" altLang="ko-KR" sz="1000" dirty="0">
                  <a:latin typeface="+mn-ea"/>
                </a:rPr>
                <a:t> </a:t>
              </a:r>
              <a:r>
                <a:rPr lang="ko-KR" altLang="en-US" sz="1000" dirty="0">
                  <a:latin typeface="+mn-ea"/>
                </a:rPr>
                <a:t>프로젝트에 내재된 위험을 초반에 식별하고</a:t>
              </a:r>
              <a:r>
                <a:rPr lang="en-US" altLang="ko-KR" sz="1000" dirty="0">
                  <a:latin typeface="+mn-ea"/>
                </a:rPr>
                <a:t>, </a:t>
              </a:r>
              <a:r>
                <a:rPr lang="ko-KR" altLang="en-US" sz="1000" dirty="0">
                  <a:latin typeface="+mn-ea"/>
                </a:rPr>
                <a:t>이를 해결하기 위한 구체적인 계획을 세워야 합니다</a:t>
              </a:r>
              <a:r>
                <a:rPr lang="en-US" altLang="ko-KR" sz="1000" dirty="0">
                  <a:latin typeface="+mn-ea"/>
                </a:rPr>
                <a:t>. </a:t>
              </a:r>
              <a:r>
                <a:rPr lang="ko-KR" altLang="en-US" sz="1000" dirty="0">
                  <a:latin typeface="+mn-ea"/>
                </a:rPr>
                <a:t>위험을 무시하는 것은 실패를 자초하는 길입니다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체계적인 변경 통제 </a:t>
              </a:r>
              <a:r>
                <a:rPr lang="en-US" altLang="ko-KR" sz="1000" b="1" dirty="0">
                  <a:latin typeface="+mn-ea"/>
                </a:rPr>
                <a:t>(Control Changes Systematically): </a:t>
              </a:r>
              <a:r>
                <a:rPr lang="ko-KR" altLang="en-US" sz="1000" dirty="0">
                  <a:latin typeface="+mn-ea"/>
                </a:rPr>
                <a:t>프로젝트 진행 중 요구사항 변경은 불가피합니다</a:t>
              </a:r>
              <a:r>
                <a:rPr lang="en-US" altLang="ko-KR" sz="1000" dirty="0">
                  <a:latin typeface="+mn-ea"/>
                </a:rPr>
                <a:t>. </a:t>
              </a:r>
              <a:r>
                <a:rPr lang="ko-KR" altLang="en-US" sz="1000" dirty="0">
                  <a:latin typeface="+mn-ea"/>
                </a:rPr>
                <a:t>중요한 것은 변경 요청을 공식적인 절차에 따라 검토하고 승인하여 무분별한 변경으로 인한 혼란을 막는 것입니다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품질 보증 활동 수행 </a:t>
              </a:r>
              <a:r>
                <a:rPr lang="en-US" altLang="ko-KR" sz="1000" b="1" dirty="0">
                  <a:latin typeface="+mn-ea"/>
                </a:rPr>
                <a:t>(Perform Quality Assurance):</a:t>
              </a:r>
              <a:r>
                <a:rPr lang="en-US" altLang="ko-KR" sz="1000" dirty="0">
                  <a:latin typeface="+mn-ea"/>
                </a:rPr>
                <a:t> </a:t>
              </a:r>
              <a:r>
                <a:rPr lang="ko-KR" altLang="en-US" sz="1000" dirty="0">
                  <a:latin typeface="+mn-ea"/>
                </a:rPr>
                <a:t>코드 리뷰</a:t>
              </a:r>
              <a:r>
                <a:rPr lang="en-US" altLang="ko-KR" sz="1000" dirty="0">
                  <a:latin typeface="+mn-ea"/>
                </a:rPr>
                <a:t>, </a:t>
              </a:r>
              <a:r>
                <a:rPr lang="ko-KR" altLang="en-US" sz="1000" dirty="0">
                  <a:latin typeface="+mn-ea"/>
                </a:rPr>
                <a:t>테스트 등 품질 보증 활동을 프로젝트 전반에 걸쳐 꾸준히 수행하여 결함을 조기에 발견하고 수정해야 합니다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정확한 상태 추적 </a:t>
              </a:r>
              <a:r>
                <a:rPr lang="en-US" altLang="ko-KR" sz="1000" b="1" dirty="0">
                  <a:latin typeface="+mn-ea"/>
                </a:rPr>
                <a:t>(Track Progress Accurately):</a:t>
              </a:r>
              <a:r>
                <a:rPr lang="en-US" altLang="ko-KR" sz="1000" dirty="0">
                  <a:latin typeface="+mn-ea"/>
                </a:rPr>
                <a:t> "</a:t>
              </a:r>
              <a:r>
                <a:rPr lang="ko-KR" altLang="en-US" sz="1000" b="1" dirty="0">
                  <a:solidFill>
                    <a:srgbClr val="FF0000"/>
                  </a:solidFill>
                  <a:latin typeface="+mn-ea"/>
                </a:rPr>
                <a:t>거의 다 되었다</a:t>
              </a:r>
              <a:r>
                <a:rPr lang="en-US" altLang="ko-KR" sz="1000" dirty="0">
                  <a:latin typeface="+mn-ea"/>
                </a:rPr>
                <a:t>"</a:t>
              </a:r>
              <a:r>
                <a:rPr lang="ko-KR" altLang="en-US" sz="1000" dirty="0">
                  <a:latin typeface="+mn-ea"/>
                </a:rPr>
                <a:t>와 같은 모호한 보고 대신</a:t>
              </a:r>
              <a:r>
                <a:rPr lang="en-US" altLang="ko-KR" sz="1000" dirty="0">
                  <a:latin typeface="+mn-ea"/>
                </a:rPr>
                <a:t>, </a:t>
              </a:r>
              <a:r>
                <a:rPr lang="ko-KR" altLang="en-US" sz="1000" dirty="0">
                  <a:latin typeface="+mn-ea"/>
                </a:rPr>
                <a:t>완료된 작업</a:t>
              </a:r>
              <a:r>
                <a:rPr lang="en-US" altLang="ko-KR" sz="1000" dirty="0">
                  <a:latin typeface="+mn-ea"/>
                </a:rPr>
                <a:t>, </a:t>
              </a:r>
              <a:r>
                <a:rPr lang="ko-KR" altLang="en-US" sz="1000" dirty="0">
                  <a:latin typeface="+mn-ea"/>
                </a:rPr>
                <a:t>남은 작업 등 객관적인 데이터를 기반으로 프로젝트 상태를 정확하게 추적하고 공유해야 합니다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사후 분석</a:t>
              </a:r>
              <a:r>
                <a:rPr lang="en-US" altLang="ko-KR" sz="1000" b="1" dirty="0">
                  <a:latin typeface="+mn-ea"/>
                </a:rPr>
                <a:t>(Post-Mortem) </a:t>
              </a:r>
              <a:r>
                <a:rPr lang="ko-KR" altLang="en-US" sz="1000" b="1" dirty="0">
                  <a:latin typeface="+mn-ea"/>
                </a:rPr>
                <a:t>실시</a:t>
              </a:r>
              <a:r>
                <a:rPr lang="en-US" altLang="ko-KR" sz="1000" b="1" dirty="0">
                  <a:latin typeface="+mn-ea"/>
                </a:rPr>
                <a:t>: </a:t>
              </a:r>
              <a:r>
                <a:rPr lang="ko-KR" altLang="en-US" sz="1000" dirty="0">
                  <a:latin typeface="+mn-ea"/>
                </a:rPr>
                <a:t>프로젝트가 성공했든 실패했든</a:t>
              </a:r>
              <a:r>
                <a:rPr lang="en-US" altLang="ko-KR" sz="1000" dirty="0">
                  <a:latin typeface="+mn-ea"/>
                </a:rPr>
                <a:t>, </a:t>
              </a:r>
              <a:r>
                <a:rPr lang="ko-KR" altLang="en-US" sz="1000" dirty="0">
                  <a:latin typeface="+mn-ea"/>
                </a:rPr>
                <a:t>프로젝트 종료 후 **회고</a:t>
              </a:r>
              <a:r>
                <a:rPr lang="en-US" altLang="ko-KR" sz="1000" dirty="0">
                  <a:latin typeface="+mn-ea"/>
                </a:rPr>
                <a:t>(retrospective)**</a:t>
              </a:r>
              <a:r>
                <a:rPr lang="ko-KR" altLang="en-US" sz="1000" dirty="0">
                  <a:latin typeface="+mn-ea"/>
                </a:rPr>
                <a:t>를 통해 무엇을 잘했고 무엇을 개선해야 할지 분석하고 기록으로 남겨야 다음 프로젝트의 자산이 됩니다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참고 </a:t>
              </a:r>
              <a:r>
                <a:rPr lang="en-US" altLang="ko-KR" sz="1000" b="1" dirty="0">
                  <a:latin typeface="+mn-ea"/>
                </a:rPr>
                <a:t>: Done Done(</a:t>
              </a:r>
              <a:r>
                <a:rPr lang="ko-KR" altLang="en-US" sz="1000" b="1" dirty="0">
                  <a:latin typeface="+mn-ea"/>
                </a:rPr>
                <a:t>일이</a:t>
              </a:r>
              <a:r>
                <a:rPr lang="en-US" altLang="ko-KR" sz="1000" b="1" dirty="0">
                  <a:latin typeface="+mn-ea"/>
                </a:rPr>
                <a:t> </a:t>
              </a:r>
              <a:r>
                <a:rPr lang="ko-KR" altLang="en-US" sz="1000" b="1" dirty="0">
                  <a:latin typeface="+mn-ea"/>
                </a:rPr>
                <a:t>끝나다는 기준을 만족할 경우에 </a:t>
              </a:r>
              <a:r>
                <a:rPr lang="en-US" altLang="ko-KR" sz="1000" b="1" dirty="0">
                  <a:latin typeface="+mn-ea"/>
                </a:rPr>
                <a:t>Done</a:t>
              </a:r>
              <a:r>
                <a:rPr lang="ko-KR" altLang="en-US" sz="1000" b="1" dirty="0">
                  <a:latin typeface="+mn-ea"/>
                </a:rPr>
                <a:t>이다</a:t>
              </a:r>
              <a:r>
                <a:rPr lang="en-US" altLang="ko-KR" sz="1000" b="1" dirty="0">
                  <a:latin typeface="+mn-ea"/>
                </a:rPr>
                <a:t>.)</a:t>
              </a:r>
            </a:p>
          </p:txBody>
        </p:sp>
        <p:sp>
          <p:nvSpPr>
            <p:cNvPr id="14" name="TextBox 13">
              <a:extLst>
                <a:ext uri="{FF2B5EF4-FFF2-40B4-BE49-F238E27FC236}">
                  <a16:creationId xmlns:a16="http://schemas.microsoft.com/office/drawing/2014/main" id="{1E451445-AFFB-B960-E8F8-BF5C111D8D94}"/>
                </a:ext>
              </a:extLst>
            </p:cNvPr>
            <p:cNvSpPr txBox="1"/>
            <p:nvPr/>
          </p:nvSpPr>
          <p:spPr>
            <a:xfrm>
              <a:off x="6164825" y="1386922"/>
              <a:ext cx="5514776" cy="4708981"/>
            </a:xfrm>
            <a:prstGeom prst="rect">
              <a:avLst/>
            </a:prstGeom>
            <a:noFill/>
            <a:ln>
              <a:solidFill>
                <a:schemeClr val="accent1"/>
              </a:solidFill>
            </a:ln>
          </p:spPr>
          <p:txBody>
            <a:bodyPr wrap="square">
              <a:spAutoFit/>
            </a:bodyPr>
            <a:lstStyle/>
            <a:p>
              <a:pPr marL="171450" indent="-171450">
                <a:buFont typeface="Arial" panose="020B0604020202020204" pitchFamily="34" charset="0"/>
                <a:buChar char="•"/>
              </a:pPr>
              <a:r>
                <a:rPr lang="en-US" altLang="ko-KR" sz="1000" b="1" dirty="0">
                  <a:latin typeface="+mn-ea"/>
                </a:rPr>
                <a:t>'</a:t>
              </a:r>
              <a:r>
                <a:rPr lang="ko-KR" altLang="en-US" sz="1000" b="1" dirty="0">
                  <a:latin typeface="+mn-ea"/>
                </a:rPr>
                <a:t>코드 앤 </a:t>
              </a:r>
              <a:r>
                <a:rPr lang="ko-KR" altLang="en-US" sz="1000" b="1" dirty="0" err="1">
                  <a:latin typeface="+mn-ea"/>
                </a:rPr>
                <a:t>픽스</a:t>
              </a:r>
              <a:r>
                <a:rPr lang="en-US" altLang="ko-KR" sz="1000" b="1" dirty="0">
                  <a:latin typeface="+mn-ea"/>
                </a:rPr>
                <a:t>' </a:t>
              </a:r>
              <a:r>
                <a:rPr lang="ko-KR" altLang="en-US" sz="1000" b="1" dirty="0">
                  <a:latin typeface="+mn-ea"/>
                </a:rPr>
                <a:t>개발 방식 지양 </a:t>
              </a:r>
              <a:r>
                <a:rPr lang="en-US" altLang="ko-KR" sz="1000" b="1" dirty="0">
                  <a:latin typeface="+mn-ea"/>
                </a:rPr>
                <a:t>(Avoid 'Code-and-Fix'): </a:t>
              </a:r>
              <a:r>
                <a:rPr lang="ko-KR" altLang="en-US" sz="1000" dirty="0">
                  <a:latin typeface="+mn-ea"/>
                </a:rPr>
                <a:t>계획 없이 무작정 코딩부터 시작하고</a:t>
              </a:r>
              <a:r>
                <a:rPr lang="en-US" altLang="ko-KR" sz="1000" dirty="0">
                  <a:latin typeface="+mn-ea"/>
                </a:rPr>
                <a:t>, </a:t>
              </a:r>
              <a:r>
                <a:rPr lang="ko-KR" altLang="en-US" sz="1000" dirty="0">
                  <a:latin typeface="+mn-ea"/>
                </a:rPr>
                <a:t>문제가 발생하면 그때그때 수정하는 방식은 결국 더 큰 비용과 시간 낭비를 초래합니다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영웅적인 개발자에 의존 금지 </a:t>
              </a:r>
              <a:r>
                <a:rPr lang="en-US" altLang="ko-KR" sz="1000" b="1" dirty="0">
                  <a:latin typeface="+mn-ea"/>
                </a:rPr>
                <a:t>(Don't Rely on Heroics): </a:t>
              </a:r>
              <a:r>
                <a:rPr lang="ko-KR" altLang="en-US" sz="1000" dirty="0">
                  <a:latin typeface="+mn-ea"/>
                </a:rPr>
                <a:t>특정 개발자의 초인적인 노력이나 야근에 의존하여 프로젝트를 진행해서는 안 됩니다</a:t>
              </a:r>
              <a:r>
                <a:rPr lang="en-US" altLang="ko-KR" sz="1000" dirty="0">
                  <a:latin typeface="+mn-ea"/>
                </a:rPr>
                <a:t>. </a:t>
              </a:r>
              <a:r>
                <a:rPr lang="ko-KR" altLang="en-US" sz="1000" dirty="0">
                  <a:latin typeface="+mn-ea"/>
                </a:rPr>
                <a:t>이는 지속 가능하지 않으며</a:t>
              </a:r>
              <a:r>
                <a:rPr lang="en-US" altLang="ko-KR" sz="1000" dirty="0">
                  <a:latin typeface="+mn-ea"/>
                </a:rPr>
                <a:t>, </a:t>
              </a:r>
              <a:r>
                <a:rPr lang="ko-KR" altLang="en-US" sz="1000" dirty="0">
                  <a:latin typeface="+mn-ea"/>
                </a:rPr>
                <a:t>해당 개발자가 떠나면 프로젝트는 즉시 위기에 빠집니다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비현실적인 약속 금지 </a:t>
              </a:r>
              <a:r>
                <a:rPr lang="en-US" altLang="ko-KR" sz="1000" b="1" dirty="0">
                  <a:latin typeface="+mn-ea"/>
                </a:rPr>
                <a:t>(Don't Make Unrealistic Promises): </a:t>
              </a:r>
              <a:r>
                <a:rPr lang="ko-KR" altLang="en-US" sz="1000" dirty="0">
                  <a:latin typeface="+mn-ea"/>
                </a:rPr>
                <a:t>고객이나 상사에게 지킬 수 없는 일정이나 기능을 약속해서는 안 됩니다</a:t>
              </a:r>
              <a:r>
                <a:rPr lang="en-US" altLang="ko-KR" sz="1000" dirty="0">
                  <a:latin typeface="+mn-ea"/>
                </a:rPr>
                <a:t>. </a:t>
              </a:r>
              <a:r>
                <a:rPr lang="ko-KR" altLang="en-US" sz="1000" dirty="0">
                  <a:latin typeface="+mn-ea"/>
                </a:rPr>
                <a:t>솔직하고 현실적인 기대치를 설정하는 것이 신뢰의 기본입니다</a:t>
              </a:r>
              <a:r>
                <a:rPr lang="en-US" altLang="ko-KR" sz="1000" dirty="0">
                  <a:latin typeface="+mn-ea"/>
                </a:rPr>
                <a:t>.</a:t>
              </a:r>
              <a:r>
                <a:rPr lang="ko-KR" altLang="en-US" sz="1000" dirty="0">
                  <a:latin typeface="+mn-ea"/>
                </a:rPr>
                <a:t>요구사항을 </a:t>
              </a:r>
              <a:endParaRPr lang="en-US" altLang="ko-KR" sz="1000" dirty="0">
                <a:latin typeface="+mn-ea"/>
              </a:endParaRP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가볍게 여기지 않기 </a:t>
              </a:r>
              <a:r>
                <a:rPr lang="en-US" altLang="ko-KR" sz="1000" b="1" dirty="0">
                  <a:latin typeface="+mn-ea"/>
                </a:rPr>
                <a:t>(Don't Treat Requirements Lightly): </a:t>
              </a:r>
              <a:r>
                <a:rPr lang="ko-KR" altLang="en-US" sz="1000" dirty="0">
                  <a:latin typeface="+mn-ea"/>
                </a:rPr>
                <a:t>불명확하거나 불안정한 요구사항은 프로젝트 실패의 가장 큰 원인 중 하나입니다</a:t>
              </a:r>
              <a:r>
                <a:rPr lang="en-US" altLang="ko-KR" sz="1000" dirty="0">
                  <a:latin typeface="+mn-ea"/>
                </a:rPr>
                <a:t>. </a:t>
              </a:r>
              <a:r>
                <a:rPr lang="ko-KR" altLang="en-US" sz="1000" dirty="0">
                  <a:latin typeface="+mn-ea"/>
                </a:rPr>
                <a:t>요구사항을 명확히 정의하고 합의하는 데 충분한 시간을 투자해야 합니다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품질을 희생시키지 않기 </a:t>
              </a:r>
              <a:r>
                <a:rPr lang="en-US" altLang="ko-KR" sz="1000" b="1" dirty="0">
                  <a:latin typeface="+mn-ea"/>
                </a:rPr>
                <a:t>(Don't Sacrifice Quality for Schedule):</a:t>
              </a:r>
              <a:r>
                <a:rPr lang="en-US" altLang="ko-KR" sz="1000" dirty="0">
                  <a:latin typeface="+mn-ea"/>
                </a:rPr>
                <a:t> </a:t>
              </a:r>
              <a:r>
                <a:rPr lang="ko-KR" altLang="en-US" sz="1000" dirty="0">
                  <a:latin typeface="+mn-ea"/>
                </a:rPr>
                <a:t>촉박한 일정을 맞추기 위해 테스트나 코드 리뷰와 같은 품질 활동을 건너뛰는 것은 장기적으로 더 큰 재앙</a:t>
              </a:r>
              <a:r>
                <a:rPr lang="en-US" altLang="ko-KR" sz="1000" dirty="0">
                  <a:latin typeface="+mn-ea"/>
                </a:rPr>
                <a:t>(</a:t>
              </a:r>
              <a:r>
                <a:rPr lang="ko-KR" altLang="en-US" sz="1000" dirty="0">
                  <a:latin typeface="+mn-ea"/>
                </a:rPr>
                <a:t>버그</a:t>
              </a:r>
              <a:r>
                <a:rPr lang="en-US" altLang="ko-KR" sz="1000" dirty="0">
                  <a:latin typeface="+mn-ea"/>
                </a:rPr>
                <a:t>, </a:t>
              </a:r>
              <a:r>
                <a:rPr lang="ko-KR" altLang="en-US" sz="1000" dirty="0">
                  <a:latin typeface="+mn-ea"/>
                </a:rPr>
                <a:t>유지보수 어려움</a:t>
              </a:r>
              <a:r>
                <a:rPr lang="en-US" altLang="ko-KR" sz="1000" dirty="0">
                  <a:latin typeface="+mn-ea"/>
                </a:rPr>
                <a:t>)</a:t>
              </a:r>
              <a:r>
                <a:rPr lang="ko-KR" altLang="en-US" sz="1000" dirty="0">
                  <a:latin typeface="+mn-ea"/>
                </a:rPr>
                <a:t>을 불러옵니다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문제 숨기기 금지 </a:t>
              </a:r>
              <a:r>
                <a:rPr lang="en-US" altLang="ko-KR" sz="1000" b="1" dirty="0">
                  <a:latin typeface="+mn-ea"/>
                </a:rPr>
                <a:t>(Don't Hide Problems): </a:t>
              </a:r>
              <a:r>
                <a:rPr lang="ko-KR" altLang="en-US" sz="1000" dirty="0">
                  <a:latin typeface="+mn-ea"/>
                </a:rPr>
                <a:t>프로젝트에서 발생하는 문제를 숨기거나 축소해서 보고해서는 안 됩니다</a:t>
              </a:r>
              <a:r>
                <a:rPr lang="en-US" altLang="ko-KR" sz="1000" dirty="0">
                  <a:latin typeface="+mn-ea"/>
                </a:rPr>
                <a:t>. </a:t>
              </a:r>
              <a:r>
                <a:rPr lang="ko-KR" altLang="en-US" sz="1000" dirty="0">
                  <a:latin typeface="+mn-ea"/>
                </a:rPr>
                <a:t>문제가 조기에 드러날수록 해결할 수 있는 가능성도 커집니다</a:t>
              </a:r>
              <a:r>
                <a:rPr lang="en-US" altLang="ko-KR" sz="1000" dirty="0">
                  <a:latin typeface="+mn-ea"/>
                </a:rPr>
                <a:t>. </a:t>
              </a:r>
              <a:r>
                <a:rPr lang="ko-KR" altLang="en-US" sz="1000" dirty="0">
                  <a:latin typeface="+mn-ea"/>
                </a:rPr>
                <a:t>투명한 의사소통이 필수적입니다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도구에만 맹신하지 않기 </a:t>
              </a:r>
              <a:r>
                <a:rPr lang="en-US" altLang="ko-KR" sz="1000" b="1" dirty="0">
                  <a:latin typeface="+mn-ea"/>
                </a:rPr>
                <a:t>(Don't Over-rely on Tools): </a:t>
              </a:r>
              <a:r>
                <a:rPr lang="ko-KR" altLang="en-US" sz="1000" dirty="0">
                  <a:latin typeface="+mn-ea"/>
                </a:rPr>
                <a:t>최신 개발 도구나 방법론이 모든 문제를 해결해 줄 것이라고 맹신해서는 안 됩니다</a:t>
              </a:r>
              <a:r>
                <a:rPr lang="en-US" altLang="ko-KR" sz="1000" dirty="0">
                  <a:latin typeface="+mn-ea"/>
                </a:rPr>
                <a:t>. </a:t>
              </a:r>
              <a:r>
                <a:rPr lang="ko-KR" altLang="en-US" sz="1000" dirty="0">
                  <a:latin typeface="+mn-ea"/>
                </a:rPr>
                <a:t>중요한 것은 도구가 아니라 그것을 사용하는 사람과 프로세스입니다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계획 없이 인력 추가 금지 </a:t>
              </a:r>
              <a:r>
                <a:rPr lang="en-US" altLang="ko-KR" sz="1000" b="1" dirty="0">
                  <a:latin typeface="+mn-ea"/>
                </a:rPr>
                <a:t>(Don't Add People to a Late Project): </a:t>
              </a:r>
              <a:r>
                <a:rPr lang="ko-KR" altLang="en-US" sz="1000" dirty="0">
                  <a:latin typeface="+mn-ea"/>
                </a:rPr>
                <a:t>늦어지는 프로젝트에 무작정 개발자를 추가로 투입하는 것은 오히려 의사소통 비용을 증가시켜 프로젝트를 더욱 지연시킬 뿐입니다</a:t>
              </a:r>
              <a:r>
                <a:rPr lang="en-US" altLang="ko-KR" sz="1000" dirty="0">
                  <a:latin typeface="+mn-ea"/>
                </a:rPr>
                <a:t>. (</a:t>
              </a:r>
              <a:r>
                <a:rPr lang="ko-KR" altLang="en-US" sz="1000" dirty="0">
                  <a:latin typeface="+mn-ea"/>
                </a:rPr>
                <a:t>브룩스의 법칙</a:t>
              </a:r>
              <a:r>
                <a:rPr lang="en-US" altLang="ko-KR" sz="1000" dirty="0">
                  <a:latin typeface="+mn-ea"/>
                </a:rPr>
                <a:t>)</a:t>
              </a:r>
              <a:endParaRPr lang="ko-KR" altLang="en-US" sz="1000" dirty="0">
                <a:latin typeface="+mn-ea"/>
              </a:endParaRPr>
            </a:p>
          </p:txBody>
        </p:sp>
        <p:sp>
          <p:nvSpPr>
            <p:cNvPr id="16" name="TextBox 15">
              <a:extLst>
                <a:ext uri="{FF2B5EF4-FFF2-40B4-BE49-F238E27FC236}">
                  <a16:creationId xmlns:a16="http://schemas.microsoft.com/office/drawing/2014/main" id="{A3540795-314C-8500-8622-8FF3CA004DFF}"/>
                </a:ext>
              </a:extLst>
            </p:cNvPr>
            <p:cNvSpPr txBox="1"/>
            <p:nvPr/>
          </p:nvSpPr>
          <p:spPr>
            <a:xfrm>
              <a:off x="1884000" y="1082536"/>
              <a:ext cx="2343871" cy="307777"/>
            </a:xfrm>
            <a:prstGeom prst="rect">
              <a:avLst/>
            </a:prstGeom>
            <a:noFill/>
          </p:spPr>
          <p:txBody>
            <a:bodyPr wrap="square">
              <a:spAutoFit/>
            </a:bodyPr>
            <a:lstStyle/>
            <a:p>
              <a:pPr algn="ctr"/>
              <a:r>
                <a:rPr lang="ko-KR" altLang="en-US" sz="1400" b="1" dirty="0">
                  <a:latin typeface="+mn-ea"/>
                </a:rPr>
                <a:t>해야 할 일 </a:t>
              </a:r>
              <a:r>
                <a:rPr lang="en-US" altLang="ko-KR" sz="1400" b="1" dirty="0">
                  <a:latin typeface="+mn-ea"/>
                </a:rPr>
                <a:t>(Do’s) </a:t>
              </a:r>
              <a:r>
                <a:rPr lang="ko-KR" altLang="en-US" sz="1400" b="1" dirty="0">
                  <a:latin typeface="+mn-ea"/>
                </a:rPr>
                <a:t>👍</a:t>
              </a:r>
              <a:endParaRPr lang="en-US" altLang="ko-KR" sz="1400" b="1" dirty="0">
                <a:latin typeface="+mn-ea"/>
              </a:endParaRPr>
            </a:p>
          </p:txBody>
        </p:sp>
        <p:sp>
          <p:nvSpPr>
            <p:cNvPr id="18" name="TextBox 17">
              <a:extLst>
                <a:ext uri="{FF2B5EF4-FFF2-40B4-BE49-F238E27FC236}">
                  <a16:creationId xmlns:a16="http://schemas.microsoft.com/office/drawing/2014/main" id="{CF754484-F234-CDD6-6938-54C66F3AF028}"/>
                </a:ext>
              </a:extLst>
            </p:cNvPr>
            <p:cNvSpPr txBox="1"/>
            <p:nvPr/>
          </p:nvSpPr>
          <p:spPr>
            <a:xfrm>
              <a:off x="6833419" y="1083649"/>
              <a:ext cx="3401961" cy="307777"/>
            </a:xfrm>
            <a:prstGeom prst="rect">
              <a:avLst/>
            </a:prstGeom>
            <a:noFill/>
          </p:spPr>
          <p:txBody>
            <a:bodyPr wrap="square">
              <a:spAutoFit/>
            </a:bodyPr>
            <a:lstStyle/>
            <a:p>
              <a:pPr algn="ctr"/>
              <a:r>
                <a:rPr lang="ko-KR" altLang="en-US" sz="1400" b="1" dirty="0">
                  <a:latin typeface="+mn-ea"/>
                </a:rPr>
                <a:t>하지 말아야 할 일 </a:t>
              </a:r>
              <a:r>
                <a:rPr lang="en-US" altLang="ko-KR" sz="1400" b="1" dirty="0">
                  <a:latin typeface="+mn-ea"/>
                </a:rPr>
                <a:t>(Don'ts) </a:t>
              </a:r>
              <a:r>
                <a:rPr lang="ko-KR" altLang="en-US" sz="1400" b="1" dirty="0">
                  <a:latin typeface="+mn-ea"/>
                </a:rPr>
                <a:t>👎</a:t>
              </a:r>
            </a:p>
          </p:txBody>
        </p:sp>
      </p:grpSp>
    </p:spTree>
    <p:extLst>
      <p:ext uri="{BB962C8B-B14F-4D97-AF65-F5344CB8AC3E}">
        <p14:creationId xmlns:p14="http://schemas.microsoft.com/office/powerpoint/2010/main" val="3484011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0B981-5AF2-3A32-453A-44EB77CE879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A1209EA-445F-3671-E56D-3F62352C6AF1}"/>
              </a:ext>
            </a:extLst>
          </p:cNvPr>
          <p:cNvSpPr>
            <a:spLocks noGrp="1"/>
          </p:cNvSpPr>
          <p:nvPr>
            <p:ph type="title"/>
          </p:nvPr>
        </p:nvSpPr>
        <p:spPr>
          <a:xfrm>
            <a:off x="512400" y="297455"/>
            <a:ext cx="11167200" cy="383582"/>
          </a:xfrm>
        </p:spPr>
        <p:txBody>
          <a:bodyPr>
            <a:normAutofit fontScale="90000"/>
          </a:bodyPr>
          <a:lstStyle/>
          <a:p>
            <a:r>
              <a:rPr lang="en-US" altLang="ko-KR" sz="2800" b="1" dirty="0"/>
              <a:t>Breaktime</a:t>
            </a:r>
            <a:endParaRPr lang="ko-KR" altLang="en-US" sz="2800" b="1" dirty="0"/>
          </a:p>
        </p:txBody>
      </p:sp>
      <p:sp>
        <p:nvSpPr>
          <p:cNvPr id="3" name="내용 개체 틀 2">
            <a:extLst>
              <a:ext uri="{FF2B5EF4-FFF2-40B4-BE49-F238E27FC236}">
                <a16:creationId xmlns:a16="http://schemas.microsoft.com/office/drawing/2014/main" id="{5B9F8698-5ACB-5CA5-9D56-A4EC72373CA7}"/>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Your Answer? :</a:t>
            </a:r>
          </a:p>
          <a:p>
            <a:pPr lvl="1">
              <a:buFont typeface="Wingdings" panose="05000000000000000000" pitchFamily="2" charset="2"/>
              <a:buChar char="§"/>
            </a:pPr>
            <a:r>
              <a:rPr lang="en-US" altLang="ko-KR" sz="1400" b="1" dirty="0"/>
              <a:t>Ex : </a:t>
            </a:r>
            <a:r>
              <a:rPr lang="en-US" altLang="ko-KR" sz="1400" b="1" i="1" dirty="0"/>
              <a:t>Energy</a:t>
            </a:r>
            <a:r>
              <a:rPr lang="en-US" altLang="ko-KR" sz="1400" b="1" dirty="0"/>
              <a:t> equals </a:t>
            </a:r>
            <a:r>
              <a:rPr lang="en-US" altLang="ko-KR" sz="1400" b="1" i="1" dirty="0"/>
              <a:t>Milk * Coffer * Coffee</a:t>
            </a:r>
          </a:p>
        </p:txBody>
      </p:sp>
      <p:cxnSp>
        <p:nvCxnSpPr>
          <p:cNvPr id="4" name="직선 연결선 3">
            <a:extLst>
              <a:ext uri="{FF2B5EF4-FFF2-40B4-BE49-F238E27FC236}">
                <a16:creationId xmlns:a16="http://schemas.microsoft.com/office/drawing/2014/main" id="{9F33F828-ACE9-7C0F-FC13-829A48A8D60B}"/>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99AA2E4F-FF2A-AC31-F110-7464F56627B8}"/>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D8A82A74-A143-5323-37FD-B7C6C01D8BC9}"/>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11</a:t>
            </a:fld>
            <a:endParaRPr lang="ko-KR" altLang="en-US" dirty="0"/>
          </a:p>
        </p:txBody>
      </p:sp>
      <p:pic>
        <p:nvPicPr>
          <p:cNvPr id="9" name="그림 8">
            <a:extLst>
              <a:ext uri="{FF2B5EF4-FFF2-40B4-BE49-F238E27FC236}">
                <a16:creationId xmlns:a16="http://schemas.microsoft.com/office/drawing/2014/main" id="{25B2A7EF-67FA-8BDE-0A26-95B03271123A}"/>
              </a:ext>
            </a:extLst>
          </p:cNvPr>
          <p:cNvPicPr>
            <a:picLocks noChangeAspect="1"/>
          </p:cNvPicPr>
          <p:nvPr/>
        </p:nvPicPr>
        <p:blipFill>
          <a:blip r:embed="rId2"/>
          <a:stretch>
            <a:fillRect/>
          </a:stretch>
        </p:blipFill>
        <p:spPr>
          <a:xfrm>
            <a:off x="3733470" y="2652604"/>
            <a:ext cx="4725059" cy="1552792"/>
          </a:xfrm>
          <a:prstGeom prst="rect">
            <a:avLst/>
          </a:prstGeom>
        </p:spPr>
      </p:pic>
      <p:pic>
        <p:nvPicPr>
          <p:cNvPr id="10" name="그림 9">
            <a:extLst>
              <a:ext uri="{FF2B5EF4-FFF2-40B4-BE49-F238E27FC236}">
                <a16:creationId xmlns:a16="http://schemas.microsoft.com/office/drawing/2014/main" id="{724455FE-421C-D1A7-5A3D-9682BA05D827}"/>
              </a:ext>
            </a:extLst>
          </p:cNvPr>
          <p:cNvPicPr>
            <a:picLocks noChangeAspect="1"/>
          </p:cNvPicPr>
          <p:nvPr/>
        </p:nvPicPr>
        <p:blipFill>
          <a:blip r:embed="rId3"/>
          <a:stretch>
            <a:fillRect/>
          </a:stretch>
        </p:blipFill>
        <p:spPr>
          <a:xfrm>
            <a:off x="9982200" y="270493"/>
            <a:ext cx="1697400" cy="390402"/>
          </a:xfrm>
          <a:prstGeom prst="rect">
            <a:avLst/>
          </a:prstGeom>
        </p:spPr>
      </p:pic>
    </p:spTree>
    <p:extLst>
      <p:ext uri="{BB962C8B-B14F-4D97-AF65-F5344CB8AC3E}">
        <p14:creationId xmlns:p14="http://schemas.microsoft.com/office/powerpoint/2010/main" val="3066541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F18A7-ACCE-EF09-2F23-90631D36C5D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00E721E-8DBD-BDA2-CBB4-7ABD61198690}"/>
              </a:ext>
            </a:extLst>
          </p:cNvPr>
          <p:cNvSpPr>
            <a:spLocks noGrp="1"/>
          </p:cNvSpPr>
          <p:nvPr>
            <p:ph type="title"/>
          </p:nvPr>
        </p:nvSpPr>
        <p:spPr>
          <a:xfrm>
            <a:off x="512400" y="297455"/>
            <a:ext cx="11167200" cy="383582"/>
          </a:xfrm>
        </p:spPr>
        <p:txBody>
          <a:bodyPr>
            <a:normAutofit fontScale="90000"/>
          </a:bodyPr>
          <a:lstStyle/>
          <a:p>
            <a:r>
              <a:rPr lang="en-US" altLang="ko-KR" sz="2800" b="1" dirty="0"/>
              <a:t>Breaktime</a:t>
            </a:r>
            <a:endParaRPr lang="ko-KR" altLang="en-US" sz="2800" b="1" dirty="0"/>
          </a:p>
        </p:txBody>
      </p:sp>
      <p:sp>
        <p:nvSpPr>
          <p:cNvPr id="3" name="내용 개체 틀 2">
            <a:extLst>
              <a:ext uri="{FF2B5EF4-FFF2-40B4-BE49-F238E27FC236}">
                <a16:creationId xmlns:a16="http://schemas.microsoft.com/office/drawing/2014/main" id="{F2523B5D-1CDE-0D88-AD96-5330647F47E9}"/>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Are you? :</a:t>
            </a:r>
          </a:p>
          <a:p>
            <a:pPr lvl="1">
              <a:defRPr/>
            </a:pPr>
            <a:r>
              <a:rPr lang="en-US" altLang="ko-KR" sz="1400" dirty="0"/>
              <a:t>How’s your code? Is it OK?  </a:t>
            </a:r>
          </a:p>
        </p:txBody>
      </p:sp>
      <p:cxnSp>
        <p:nvCxnSpPr>
          <p:cNvPr id="4" name="직선 연결선 3">
            <a:extLst>
              <a:ext uri="{FF2B5EF4-FFF2-40B4-BE49-F238E27FC236}">
                <a16:creationId xmlns:a16="http://schemas.microsoft.com/office/drawing/2014/main" id="{9C1AA028-8AA0-FF9F-8546-3456188F6AAD}"/>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3B1FE0B6-0A98-89EA-9B27-17F8EFA5C9A4}"/>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970DECAD-AA7E-B8C7-79DA-27345BAF806C}"/>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12</a:t>
            </a:fld>
            <a:endParaRPr lang="ko-KR" altLang="en-US" dirty="0"/>
          </a:p>
        </p:txBody>
      </p:sp>
      <p:pic>
        <p:nvPicPr>
          <p:cNvPr id="7" name="그림 6">
            <a:extLst>
              <a:ext uri="{FF2B5EF4-FFF2-40B4-BE49-F238E27FC236}">
                <a16:creationId xmlns:a16="http://schemas.microsoft.com/office/drawing/2014/main" id="{C98BCF94-0428-83C4-C4F8-E9C9D5290B02}"/>
              </a:ext>
            </a:extLst>
          </p:cNvPr>
          <p:cNvPicPr>
            <a:picLocks noChangeAspect="1"/>
          </p:cNvPicPr>
          <p:nvPr/>
        </p:nvPicPr>
        <p:blipFill>
          <a:blip r:embed="rId2"/>
          <a:stretch>
            <a:fillRect/>
          </a:stretch>
        </p:blipFill>
        <p:spPr>
          <a:xfrm>
            <a:off x="2698184" y="2045042"/>
            <a:ext cx="6795632" cy="3397816"/>
          </a:xfrm>
          <a:prstGeom prst="rect">
            <a:avLst/>
          </a:prstGeom>
        </p:spPr>
      </p:pic>
      <p:pic>
        <p:nvPicPr>
          <p:cNvPr id="8" name="그림 7">
            <a:extLst>
              <a:ext uri="{FF2B5EF4-FFF2-40B4-BE49-F238E27FC236}">
                <a16:creationId xmlns:a16="http://schemas.microsoft.com/office/drawing/2014/main" id="{C5B7975E-6A64-EBA3-AF6A-5E10173BCA9F}"/>
              </a:ext>
            </a:extLst>
          </p:cNvPr>
          <p:cNvPicPr>
            <a:picLocks noChangeAspect="1"/>
          </p:cNvPicPr>
          <p:nvPr/>
        </p:nvPicPr>
        <p:blipFill>
          <a:blip r:embed="rId3"/>
          <a:stretch>
            <a:fillRect/>
          </a:stretch>
        </p:blipFill>
        <p:spPr>
          <a:xfrm>
            <a:off x="9982200" y="270493"/>
            <a:ext cx="1697400" cy="390402"/>
          </a:xfrm>
          <a:prstGeom prst="rect">
            <a:avLst/>
          </a:prstGeom>
        </p:spPr>
      </p:pic>
    </p:spTree>
    <p:extLst>
      <p:ext uri="{BB962C8B-B14F-4D97-AF65-F5344CB8AC3E}">
        <p14:creationId xmlns:p14="http://schemas.microsoft.com/office/powerpoint/2010/main" val="2581670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45C36-8AFE-5838-604B-2CA0F583C89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EB84ED0-DAAD-648E-3438-DF2D1EA46E52}"/>
              </a:ext>
            </a:extLst>
          </p:cNvPr>
          <p:cNvSpPr>
            <a:spLocks noGrp="1"/>
          </p:cNvSpPr>
          <p:nvPr>
            <p:ph type="title"/>
          </p:nvPr>
        </p:nvSpPr>
        <p:spPr>
          <a:xfrm>
            <a:off x="512400" y="297455"/>
            <a:ext cx="11167200" cy="383582"/>
          </a:xfrm>
        </p:spPr>
        <p:txBody>
          <a:bodyPr>
            <a:normAutofit fontScale="90000"/>
          </a:bodyPr>
          <a:lstStyle/>
          <a:p>
            <a:r>
              <a:rPr lang="en-US" altLang="ko-KR" sz="2800" b="1" dirty="0"/>
              <a:t>Coding with AI(1/5)</a:t>
            </a:r>
            <a:endParaRPr lang="ko-KR" altLang="en-US" sz="2800" b="1" dirty="0"/>
          </a:p>
        </p:txBody>
      </p:sp>
      <p:sp>
        <p:nvSpPr>
          <p:cNvPr id="3" name="내용 개체 틀 2">
            <a:extLst>
              <a:ext uri="{FF2B5EF4-FFF2-40B4-BE49-F238E27FC236}">
                <a16:creationId xmlns:a16="http://schemas.microsoft.com/office/drawing/2014/main" id="{C00BB7AB-41E2-8882-B233-93AB5CE6F4C7}"/>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AI Coding Rules :</a:t>
            </a:r>
          </a:p>
          <a:p>
            <a:pPr lvl="1">
              <a:defRPr/>
            </a:pPr>
            <a:r>
              <a:rPr lang="ko-KR" altLang="en-US" sz="1400" b="1" dirty="0"/>
              <a:t>코드를 통합</a:t>
            </a:r>
            <a:r>
              <a:rPr lang="ko-KR" altLang="en-US" sz="1400" dirty="0"/>
              <a:t>하는 일은 </a:t>
            </a:r>
            <a:r>
              <a:rPr lang="en-US" altLang="ko-KR" sz="1400" dirty="0"/>
              <a:t>AI</a:t>
            </a:r>
            <a:r>
              <a:rPr lang="ko-KR" altLang="en-US" sz="1400" dirty="0"/>
              <a:t>에게 맡긴다</a:t>
            </a:r>
            <a:r>
              <a:rPr lang="en-US" altLang="ko-KR" sz="1400" dirty="0"/>
              <a:t>.</a:t>
            </a:r>
          </a:p>
          <a:p>
            <a:pPr lvl="1">
              <a:defRPr/>
            </a:pPr>
            <a:r>
              <a:rPr lang="ko-KR" altLang="en-US" sz="1400" b="1" dirty="0"/>
              <a:t>조금씩 </a:t>
            </a:r>
            <a:r>
              <a:rPr lang="en-US" altLang="ko-KR" sz="1400" b="1" dirty="0"/>
              <a:t>AI</a:t>
            </a:r>
            <a:r>
              <a:rPr lang="ko-KR" altLang="en-US" sz="1400" b="1" dirty="0"/>
              <a:t>가 코딩</a:t>
            </a:r>
            <a:r>
              <a:rPr lang="ko-KR" altLang="en-US" sz="1400" dirty="0"/>
              <a:t>하도록 요청한다</a:t>
            </a:r>
            <a:r>
              <a:rPr lang="en-US" altLang="ko-KR" sz="1400" dirty="0"/>
              <a:t>. </a:t>
            </a:r>
            <a:r>
              <a:rPr lang="ko-KR" altLang="en-US" sz="1400" b="1" dirty="0"/>
              <a:t>변경 범위를 특정 파일이나 함수로 제한</a:t>
            </a:r>
            <a:r>
              <a:rPr lang="ko-KR" altLang="en-US" sz="1400" dirty="0"/>
              <a:t>하고</a:t>
            </a:r>
            <a:r>
              <a:rPr lang="en-US" altLang="ko-KR" sz="1400" dirty="0"/>
              <a:t>, </a:t>
            </a:r>
            <a:r>
              <a:rPr lang="ko-KR" altLang="en-US" sz="1400" dirty="0"/>
              <a:t>다른 부분을 건드리지 못하게 한다</a:t>
            </a:r>
            <a:r>
              <a:rPr lang="en-US" altLang="ko-KR" sz="1400" dirty="0"/>
              <a:t>.</a:t>
            </a:r>
          </a:p>
          <a:p>
            <a:pPr lvl="1">
              <a:defRPr/>
            </a:pPr>
            <a:r>
              <a:rPr lang="ko-KR" altLang="en-US" sz="1400" dirty="0"/>
              <a:t>완료되면 </a:t>
            </a:r>
            <a:r>
              <a:rPr lang="en-US" altLang="ko-KR" sz="1400" b="1" dirty="0"/>
              <a:t>Test Case</a:t>
            </a:r>
            <a:r>
              <a:rPr lang="ko-KR" altLang="en-US" sz="1400" b="1" dirty="0"/>
              <a:t>를 즉각 추가</a:t>
            </a:r>
            <a:r>
              <a:rPr lang="ko-KR" altLang="en-US" sz="1400" dirty="0"/>
              <a:t>해서 </a:t>
            </a:r>
            <a:r>
              <a:rPr lang="ko-KR" altLang="en-US" sz="1400" b="1" dirty="0"/>
              <a:t>자동으로 테스트</a:t>
            </a:r>
            <a:r>
              <a:rPr lang="en-US" altLang="ko-KR" sz="1400" b="1" dirty="0"/>
              <a:t>(</a:t>
            </a:r>
            <a:r>
              <a:rPr lang="ko-KR" altLang="en-US" sz="1400" b="1" dirty="0"/>
              <a:t>자주 테스트할 것</a:t>
            </a:r>
            <a:r>
              <a:rPr lang="en-US" altLang="ko-KR" sz="1400" b="1" dirty="0"/>
              <a:t>)</a:t>
            </a:r>
            <a:r>
              <a:rPr lang="ko-KR" altLang="en-US" sz="1400" dirty="0"/>
              <a:t>가 되도록 만들어 코드 변화에 대응한다</a:t>
            </a:r>
            <a:r>
              <a:rPr lang="en-US" altLang="ko-KR" sz="1400" dirty="0"/>
              <a:t>. </a:t>
            </a:r>
          </a:p>
          <a:p>
            <a:pPr lvl="1">
              <a:defRPr/>
            </a:pPr>
            <a:r>
              <a:rPr lang="en-US" altLang="ko-KR" sz="1400" dirty="0"/>
              <a:t>AI</a:t>
            </a:r>
            <a:r>
              <a:rPr lang="ko-KR" altLang="en-US" sz="1400" dirty="0"/>
              <a:t>가 만든 </a:t>
            </a:r>
            <a:r>
              <a:rPr lang="en-US" altLang="ko-KR" sz="1400" b="1" dirty="0"/>
              <a:t>Test Case</a:t>
            </a:r>
            <a:r>
              <a:rPr lang="ko-KR" altLang="en-US" sz="1400" b="1" dirty="0"/>
              <a:t>는</a:t>
            </a:r>
            <a:r>
              <a:rPr lang="en-US" altLang="ko-KR" sz="1400" b="1" dirty="0"/>
              <a:t> </a:t>
            </a:r>
            <a:r>
              <a:rPr lang="ko-KR" altLang="en-US" sz="1400" b="1" dirty="0"/>
              <a:t>반드시 제대로 테스트를 하는지 확인</a:t>
            </a:r>
            <a:r>
              <a:rPr lang="ko-KR" altLang="en-US" sz="1400" dirty="0"/>
              <a:t>한다</a:t>
            </a:r>
            <a:r>
              <a:rPr lang="en-US" altLang="ko-KR" sz="1400" dirty="0"/>
              <a:t>. </a:t>
            </a:r>
          </a:p>
          <a:p>
            <a:pPr lvl="1">
              <a:defRPr/>
            </a:pPr>
            <a:r>
              <a:rPr lang="ko-KR" altLang="en-US" sz="1400" b="1" dirty="0"/>
              <a:t>코드에 대한 사용법에 대해서 문서</a:t>
            </a:r>
            <a:r>
              <a:rPr lang="ko-KR" altLang="en-US" sz="1400" dirty="0"/>
              <a:t>를 </a:t>
            </a:r>
            <a:r>
              <a:rPr lang="en-US" altLang="ko-KR" sz="1400" dirty="0"/>
              <a:t>AI</a:t>
            </a:r>
            <a:r>
              <a:rPr lang="ko-KR" altLang="en-US" sz="1400" dirty="0"/>
              <a:t>에게 만들라고 한다</a:t>
            </a:r>
            <a:r>
              <a:rPr lang="en-US" altLang="ko-KR" sz="1400" dirty="0"/>
              <a:t>.</a:t>
            </a:r>
          </a:p>
          <a:p>
            <a:pPr lvl="1">
              <a:defRPr/>
            </a:pPr>
            <a:r>
              <a:rPr lang="ko-KR" altLang="en-US" sz="1400" b="1" dirty="0"/>
              <a:t>복잡한 로직을 구현해야 할 경우에는 예제를 제공</a:t>
            </a:r>
            <a:r>
              <a:rPr lang="ko-KR" altLang="en-US" sz="1400" dirty="0"/>
              <a:t>한다</a:t>
            </a:r>
            <a:r>
              <a:rPr lang="en-US" altLang="ko-KR" sz="1400" dirty="0"/>
              <a:t>. </a:t>
            </a:r>
            <a:r>
              <a:rPr lang="ko-KR" altLang="en-US" sz="1400" dirty="0"/>
              <a:t>가능한 많은 예를 정확히 알려주는 것이 좋다</a:t>
            </a:r>
            <a:r>
              <a:rPr lang="en-US" altLang="ko-KR" sz="1400" dirty="0"/>
              <a:t>.</a:t>
            </a:r>
          </a:p>
          <a:p>
            <a:pPr lvl="1">
              <a:defRPr/>
            </a:pPr>
            <a:r>
              <a:rPr lang="ko-KR" altLang="en-US" sz="1400" dirty="0"/>
              <a:t>모호한 말보다는 </a:t>
            </a:r>
            <a:r>
              <a:rPr lang="ko-KR" altLang="en-US" sz="1400" b="1" dirty="0"/>
              <a:t>명확히 해야 할 일을 전달</a:t>
            </a:r>
            <a:r>
              <a:rPr lang="ko-KR" altLang="en-US" sz="1400" dirty="0"/>
              <a:t>한다</a:t>
            </a:r>
            <a:r>
              <a:rPr lang="en-US" altLang="ko-KR" sz="1400" dirty="0"/>
              <a:t>. </a:t>
            </a:r>
            <a:r>
              <a:rPr lang="ko-KR" altLang="en-US" sz="1400" dirty="0"/>
              <a:t>때로는 </a:t>
            </a:r>
            <a:r>
              <a:rPr lang="ko-KR" altLang="en-US" sz="1400" b="1" dirty="0"/>
              <a:t>영어</a:t>
            </a:r>
            <a:r>
              <a:rPr lang="ko-KR" altLang="en-US" sz="1400" dirty="0"/>
              <a:t>를 사용해야 할 때도 있다</a:t>
            </a:r>
            <a:r>
              <a:rPr lang="en-US" altLang="ko-KR" sz="1400" dirty="0"/>
              <a:t>.</a:t>
            </a:r>
          </a:p>
          <a:p>
            <a:pPr lvl="1">
              <a:defRPr/>
            </a:pPr>
            <a:r>
              <a:rPr lang="ko-KR" altLang="en-US" sz="1400" b="1" dirty="0"/>
              <a:t>한번에 너무 많은 일을 시키지 않아야 한다</a:t>
            </a:r>
            <a:r>
              <a:rPr lang="en-US" altLang="ko-KR" sz="1400" dirty="0"/>
              <a:t>.</a:t>
            </a:r>
          </a:p>
          <a:p>
            <a:pPr lvl="1">
              <a:defRPr/>
            </a:pPr>
            <a:r>
              <a:rPr lang="en-US" altLang="ko-KR" sz="1400" b="1" dirty="0"/>
              <a:t>Command line(CLI)</a:t>
            </a:r>
            <a:r>
              <a:rPr lang="ko-KR" altLang="en-US" sz="1400" b="1" dirty="0"/>
              <a:t>에서 작업 </a:t>
            </a:r>
            <a:r>
              <a:rPr lang="en-US" altLang="ko-KR" sz="1400" b="1" dirty="0"/>
              <a:t>Build</a:t>
            </a:r>
            <a:r>
              <a:rPr lang="ko-KR" altLang="en-US" sz="1400" b="1" dirty="0"/>
              <a:t>와 </a:t>
            </a:r>
            <a:r>
              <a:rPr lang="en-US" altLang="ko-KR" sz="1400" b="1" dirty="0"/>
              <a:t>Test</a:t>
            </a:r>
            <a:r>
              <a:rPr lang="ko-KR" altLang="en-US" sz="1400" dirty="0"/>
              <a:t>가 가능하도록 만든다</a:t>
            </a:r>
            <a:r>
              <a:rPr lang="en-US" altLang="ko-KR" sz="1400" dirty="0"/>
              <a:t>. </a:t>
            </a:r>
            <a:r>
              <a:rPr lang="en-US" altLang="ko-KR" sz="1400" dirty="0">
                <a:sym typeface="Wingdings" panose="05000000000000000000" pitchFamily="2" charset="2"/>
              </a:rPr>
              <a:t> CI/CD</a:t>
            </a:r>
            <a:endParaRPr lang="en-US" altLang="ko-KR" sz="1400" dirty="0"/>
          </a:p>
        </p:txBody>
      </p:sp>
      <p:cxnSp>
        <p:nvCxnSpPr>
          <p:cNvPr id="4" name="직선 연결선 3">
            <a:extLst>
              <a:ext uri="{FF2B5EF4-FFF2-40B4-BE49-F238E27FC236}">
                <a16:creationId xmlns:a16="http://schemas.microsoft.com/office/drawing/2014/main" id="{24C0305D-519D-D6CD-D623-424EF5583D7F}"/>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F733804D-935A-414E-DD16-CDBADAAD480F}"/>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3D9F7EC5-F802-59BA-A16D-08D438081452}"/>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13</a:t>
            </a:fld>
            <a:endParaRPr lang="ko-KR" altLang="en-US" dirty="0"/>
          </a:p>
        </p:txBody>
      </p:sp>
      <p:pic>
        <p:nvPicPr>
          <p:cNvPr id="8" name="그림 7">
            <a:extLst>
              <a:ext uri="{FF2B5EF4-FFF2-40B4-BE49-F238E27FC236}">
                <a16:creationId xmlns:a16="http://schemas.microsoft.com/office/drawing/2014/main" id="{59626795-2DDB-3A14-C597-25C98A51452D}"/>
              </a:ext>
            </a:extLst>
          </p:cNvPr>
          <p:cNvPicPr>
            <a:picLocks noChangeAspect="1"/>
          </p:cNvPicPr>
          <p:nvPr/>
        </p:nvPicPr>
        <p:blipFill>
          <a:blip r:embed="rId2"/>
          <a:stretch>
            <a:fillRect/>
          </a:stretch>
        </p:blipFill>
        <p:spPr>
          <a:xfrm>
            <a:off x="4136705" y="3429000"/>
            <a:ext cx="3918590" cy="2927349"/>
          </a:xfrm>
          <a:prstGeom prst="rect">
            <a:avLst/>
          </a:prstGeom>
        </p:spPr>
      </p:pic>
      <p:pic>
        <p:nvPicPr>
          <p:cNvPr id="9" name="그림 8">
            <a:extLst>
              <a:ext uri="{FF2B5EF4-FFF2-40B4-BE49-F238E27FC236}">
                <a16:creationId xmlns:a16="http://schemas.microsoft.com/office/drawing/2014/main" id="{5EA90C30-2250-66DB-6013-4A8934CB4F9A}"/>
              </a:ext>
            </a:extLst>
          </p:cNvPr>
          <p:cNvPicPr>
            <a:picLocks noChangeAspect="1"/>
          </p:cNvPicPr>
          <p:nvPr/>
        </p:nvPicPr>
        <p:blipFill>
          <a:blip r:embed="rId3"/>
          <a:stretch>
            <a:fillRect/>
          </a:stretch>
        </p:blipFill>
        <p:spPr>
          <a:xfrm>
            <a:off x="9982200" y="270493"/>
            <a:ext cx="1697400" cy="390402"/>
          </a:xfrm>
          <a:prstGeom prst="rect">
            <a:avLst/>
          </a:prstGeom>
        </p:spPr>
      </p:pic>
    </p:spTree>
    <p:extLst>
      <p:ext uri="{BB962C8B-B14F-4D97-AF65-F5344CB8AC3E}">
        <p14:creationId xmlns:p14="http://schemas.microsoft.com/office/powerpoint/2010/main" val="1648927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87FBF-CA6E-DA6E-4C84-9150219659F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BA772B0-B0F4-37D3-12D3-22517C8DA772}"/>
              </a:ext>
            </a:extLst>
          </p:cNvPr>
          <p:cNvSpPr>
            <a:spLocks noGrp="1"/>
          </p:cNvSpPr>
          <p:nvPr>
            <p:ph type="title"/>
          </p:nvPr>
        </p:nvSpPr>
        <p:spPr>
          <a:xfrm>
            <a:off x="512400" y="297455"/>
            <a:ext cx="11167200" cy="383582"/>
          </a:xfrm>
        </p:spPr>
        <p:txBody>
          <a:bodyPr>
            <a:normAutofit fontScale="90000"/>
          </a:bodyPr>
          <a:lstStyle/>
          <a:p>
            <a:r>
              <a:rPr lang="en-US" altLang="ko-KR" sz="2800" b="1" dirty="0"/>
              <a:t>Coding with AI(2/5)</a:t>
            </a:r>
            <a:endParaRPr lang="ko-KR" altLang="en-US" sz="2800" b="1" dirty="0"/>
          </a:p>
        </p:txBody>
      </p:sp>
      <p:sp>
        <p:nvSpPr>
          <p:cNvPr id="3" name="내용 개체 틀 2">
            <a:extLst>
              <a:ext uri="{FF2B5EF4-FFF2-40B4-BE49-F238E27FC236}">
                <a16:creationId xmlns:a16="http://schemas.microsoft.com/office/drawing/2014/main" id="{C49673CC-2E30-7010-0097-FFFA266220C8}"/>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AI Coding Rules :</a:t>
            </a:r>
          </a:p>
          <a:p>
            <a:pPr lvl="1">
              <a:defRPr/>
            </a:pPr>
            <a:r>
              <a:rPr lang="ko-KR" altLang="en-US" sz="1400" b="1" dirty="0"/>
              <a:t>해야 할 일을 먼저 파악</a:t>
            </a:r>
            <a:r>
              <a:rPr lang="ko-KR" altLang="en-US" sz="1400" dirty="0"/>
              <a:t>하고</a:t>
            </a:r>
            <a:r>
              <a:rPr lang="en-US" altLang="ko-KR" sz="1400" dirty="0"/>
              <a:t>, </a:t>
            </a:r>
            <a:r>
              <a:rPr lang="ko-KR" altLang="en-US" sz="1400" b="1" dirty="0"/>
              <a:t>큰 그림</a:t>
            </a:r>
            <a:r>
              <a:rPr lang="ko-KR" altLang="en-US" sz="1400" dirty="0"/>
              <a:t>을 그리고</a:t>
            </a:r>
            <a:r>
              <a:rPr lang="en-US" altLang="ko-KR" sz="1400" dirty="0"/>
              <a:t> </a:t>
            </a:r>
            <a:r>
              <a:rPr lang="ko-KR" altLang="en-US" sz="1400" dirty="0"/>
              <a:t>시작해야 한다</a:t>
            </a:r>
            <a:r>
              <a:rPr lang="en-US" altLang="ko-KR" sz="1400" dirty="0"/>
              <a:t>.</a:t>
            </a:r>
          </a:p>
          <a:p>
            <a:pPr lvl="1">
              <a:defRPr/>
            </a:pPr>
            <a:r>
              <a:rPr lang="ko-KR" altLang="en-US" sz="1400" dirty="0"/>
              <a:t>최소한 자신이 하는 일에서 </a:t>
            </a:r>
            <a:r>
              <a:rPr lang="ko-KR" altLang="en-US" sz="1400" b="1" dirty="0"/>
              <a:t>사용하는 용어</a:t>
            </a:r>
            <a:r>
              <a:rPr lang="ko-KR" altLang="en-US" sz="1400" dirty="0"/>
              <a:t>라도 알아야 한다</a:t>
            </a:r>
            <a:r>
              <a:rPr lang="en-US" altLang="ko-KR" sz="1400" dirty="0"/>
              <a:t>.</a:t>
            </a:r>
          </a:p>
          <a:p>
            <a:pPr lvl="1">
              <a:defRPr/>
            </a:pPr>
            <a:r>
              <a:rPr lang="ko-KR" altLang="en-US" sz="1400" b="1" dirty="0"/>
              <a:t>일을 처리하는 절차</a:t>
            </a:r>
            <a:r>
              <a:rPr lang="ko-KR" altLang="en-US" sz="1400" dirty="0"/>
              <a:t>를 구상한다</a:t>
            </a:r>
            <a:r>
              <a:rPr lang="en-US" altLang="ko-KR" sz="1400" dirty="0"/>
              <a:t>. </a:t>
            </a:r>
            <a:r>
              <a:rPr lang="ko-KR" altLang="en-US" sz="1400" b="1" dirty="0"/>
              <a:t>그림</a:t>
            </a:r>
            <a:r>
              <a:rPr lang="ko-KR" altLang="en-US" sz="1400" dirty="0"/>
              <a:t>을 그리거나</a:t>
            </a:r>
            <a:r>
              <a:rPr lang="en-US" altLang="ko-KR" sz="1400" dirty="0"/>
              <a:t>, </a:t>
            </a:r>
            <a:r>
              <a:rPr lang="ko-KR" altLang="en-US" sz="1400" dirty="0"/>
              <a:t>혹은 </a:t>
            </a:r>
            <a:r>
              <a:rPr lang="ko-KR" altLang="en-US" sz="1400" b="1" dirty="0"/>
              <a:t>문서화</a:t>
            </a:r>
            <a:r>
              <a:rPr lang="ko-KR" altLang="en-US" sz="1400" dirty="0"/>
              <a:t>를 시켜도 좋다</a:t>
            </a:r>
            <a:r>
              <a:rPr lang="en-US" altLang="ko-KR" sz="1400" dirty="0"/>
              <a:t>.</a:t>
            </a:r>
          </a:p>
          <a:p>
            <a:pPr lvl="1">
              <a:defRPr/>
            </a:pPr>
            <a:r>
              <a:rPr lang="ko-KR" altLang="en-US" sz="1400" dirty="0"/>
              <a:t>코드를 중간에 </a:t>
            </a:r>
            <a:r>
              <a:rPr lang="ko-KR" altLang="en-US" sz="1400" b="1" dirty="0"/>
              <a:t>자주 정리</a:t>
            </a:r>
            <a:r>
              <a:rPr lang="ko-KR" altLang="en-US" sz="1400" dirty="0"/>
              <a:t>하면서 진행한다</a:t>
            </a:r>
            <a:r>
              <a:rPr lang="en-US" altLang="ko-KR" sz="1400" dirty="0"/>
              <a:t>. </a:t>
            </a:r>
            <a:r>
              <a:rPr lang="ko-KR" altLang="en-US" sz="1400" dirty="0"/>
              <a:t>필요 없는 변수</a:t>
            </a:r>
            <a:r>
              <a:rPr lang="en-US" altLang="ko-KR" sz="1400" dirty="0"/>
              <a:t>, </a:t>
            </a:r>
            <a:r>
              <a:rPr lang="ko-KR" altLang="en-US" sz="1400" dirty="0"/>
              <a:t>파일</a:t>
            </a:r>
            <a:r>
              <a:rPr lang="en-US" altLang="ko-KR" sz="1400" dirty="0"/>
              <a:t>, </a:t>
            </a:r>
            <a:r>
              <a:rPr lang="ko-KR" altLang="en-US" sz="1400" dirty="0"/>
              <a:t>디렉토리 등등 정리하면서 진행한다</a:t>
            </a:r>
            <a:r>
              <a:rPr lang="en-US" altLang="ko-KR" sz="1400" dirty="0"/>
              <a:t>.</a:t>
            </a:r>
          </a:p>
          <a:p>
            <a:pPr lvl="1">
              <a:defRPr/>
            </a:pPr>
            <a:r>
              <a:rPr lang="ko-KR" altLang="en-US" sz="1400" b="1" dirty="0"/>
              <a:t>테스트 되는 코드</a:t>
            </a:r>
            <a:r>
              <a:rPr lang="en-US" altLang="ko-KR" sz="1400" b="1" dirty="0"/>
              <a:t>(</a:t>
            </a:r>
            <a:r>
              <a:rPr lang="ko-KR" altLang="en-US" sz="1400" b="1" dirty="0"/>
              <a:t>실행되는 코드</a:t>
            </a:r>
            <a:r>
              <a:rPr lang="en-US" altLang="ko-KR" sz="1400" b="1" dirty="0"/>
              <a:t>, Test Coverage)</a:t>
            </a:r>
            <a:r>
              <a:rPr lang="ko-KR" altLang="en-US" sz="1400" b="1" dirty="0"/>
              <a:t>가 얼마나 되는지 파악</a:t>
            </a:r>
            <a:r>
              <a:rPr lang="ko-KR" altLang="en-US" sz="1400" dirty="0"/>
              <a:t>한다</a:t>
            </a:r>
            <a:r>
              <a:rPr lang="en-US" altLang="ko-KR" sz="1400" dirty="0"/>
              <a:t>. </a:t>
            </a:r>
          </a:p>
          <a:p>
            <a:pPr lvl="1">
              <a:defRPr/>
            </a:pPr>
            <a:r>
              <a:rPr lang="ko-KR" altLang="en-US" sz="1400" dirty="0"/>
              <a:t>특정 </a:t>
            </a:r>
            <a:r>
              <a:rPr lang="en-US" altLang="ko-KR" sz="1400" dirty="0"/>
              <a:t>Library</a:t>
            </a:r>
            <a:r>
              <a:rPr lang="ko-KR" altLang="en-US" sz="1400" dirty="0"/>
              <a:t>에 대해서 의존성을 가지는 경우에도 </a:t>
            </a:r>
            <a:r>
              <a:rPr lang="ko-KR" altLang="en-US" sz="1400" b="1" dirty="0"/>
              <a:t>계층을 분리</a:t>
            </a:r>
            <a:r>
              <a:rPr lang="ko-KR" altLang="en-US" sz="1400" dirty="0"/>
              <a:t>할 수 있는 방안을 찾는다</a:t>
            </a:r>
            <a:r>
              <a:rPr lang="en-US" altLang="ko-KR" sz="1400" dirty="0"/>
              <a:t>(Wrapper).</a:t>
            </a:r>
          </a:p>
          <a:p>
            <a:pPr lvl="1">
              <a:defRPr/>
            </a:pPr>
            <a:r>
              <a:rPr lang="ko-KR" altLang="en-US" sz="1400" b="1" dirty="0"/>
              <a:t>코드는 양방향 의존성을 가지지 않도록 한다</a:t>
            </a:r>
            <a:r>
              <a:rPr lang="en-US" altLang="ko-KR" sz="1400" dirty="0"/>
              <a:t>(Callback</a:t>
            </a:r>
            <a:r>
              <a:rPr lang="ko-KR" altLang="en-US" sz="1400" dirty="0"/>
              <a:t>은 제외</a:t>
            </a:r>
            <a:r>
              <a:rPr lang="en-US" altLang="ko-KR" sz="1400" dirty="0"/>
              <a:t>).</a:t>
            </a:r>
          </a:p>
          <a:p>
            <a:pPr lvl="1">
              <a:defRPr/>
            </a:pPr>
            <a:endParaRPr lang="en-US" altLang="ko-KR" sz="1400" dirty="0"/>
          </a:p>
        </p:txBody>
      </p:sp>
      <p:cxnSp>
        <p:nvCxnSpPr>
          <p:cNvPr id="4" name="직선 연결선 3">
            <a:extLst>
              <a:ext uri="{FF2B5EF4-FFF2-40B4-BE49-F238E27FC236}">
                <a16:creationId xmlns:a16="http://schemas.microsoft.com/office/drawing/2014/main" id="{C1D27B3F-AC27-9F69-A2F8-DC0D8CE0B255}"/>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78EFBD04-6893-258D-57FA-07D9F791154F}"/>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646AF2C0-0776-ADC9-E2A2-4EA1CCD1B914}"/>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14</a:t>
            </a:fld>
            <a:endParaRPr lang="ko-KR" altLang="en-US" dirty="0"/>
          </a:p>
        </p:txBody>
      </p:sp>
      <p:pic>
        <p:nvPicPr>
          <p:cNvPr id="7" name="그림 6">
            <a:extLst>
              <a:ext uri="{FF2B5EF4-FFF2-40B4-BE49-F238E27FC236}">
                <a16:creationId xmlns:a16="http://schemas.microsoft.com/office/drawing/2014/main" id="{1E391A0D-D2AD-8746-E21A-257257721F06}"/>
              </a:ext>
            </a:extLst>
          </p:cNvPr>
          <p:cNvPicPr>
            <a:picLocks noChangeAspect="1"/>
          </p:cNvPicPr>
          <p:nvPr/>
        </p:nvPicPr>
        <p:blipFill>
          <a:blip r:embed="rId2"/>
          <a:stretch>
            <a:fillRect/>
          </a:stretch>
        </p:blipFill>
        <p:spPr>
          <a:xfrm>
            <a:off x="9982200" y="270493"/>
            <a:ext cx="1697400" cy="390402"/>
          </a:xfrm>
          <a:prstGeom prst="rect">
            <a:avLst/>
          </a:prstGeom>
        </p:spPr>
      </p:pic>
      <p:pic>
        <p:nvPicPr>
          <p:cNvPr id="8" name="그림 7">
            <a:extLst>
              <a:ext uri="{FF2B5EF4-FFF2-40B4-BE49-F238E27FC236}">
                <a16:creationId xmlns:a16="http://schemas.microsoft.com/office/drawing/2014/main" id="{5E56FD31-793D-0915-0C7C-DDAE61A2E3D8}"/>
              </a:ext>
            </a:extLst>
          </p:cNvPr>
          <p:cNvPicPr>
            <a:picLocks noChangeAspect="1"/>
          </p:cNvPicPr>
          <p:nvPr/>
        </p:nvPicPr>
        <p:blipFill>
          <a:blip r:embed="rId3"/>
          <a:stretch>
            <a:fillRect/>
          </a:stretch>
        </p:blipFill>
        <p:spPr>
          <a:xfrm>
            <a:off x="3940969" y="2977312"/>
            <a:ext cx="4310062" cy="3452285"/>
          </a:xfrm>
          <a:prstGeom prst="rect">
            <a:avLst/>
          </a:prstGeom>
        </p:spPr>
      </p:pic>
    </p:spTree>
    <p:extLst>
      <p:ext uri="{BB962C8B-B14F-4D97-AF65-F5344CB8AC3E}">
        <p14:creationId xmlns:p14="http://schemas.microsoft.com/office/powerpoint/2010/main" val="649212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07939-792B-4AAF-BEA5-854EEABE8DB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59D9C6A-F33D-475A-96A5-66265AD80C83}"/>
              </a:ext>
            </a:extLst>
          </p:cNvPr>
          <p:cNvSpPr>
            <a:spLocks noGrp="1"/>
          </p:cNvSpPr>
          <p:nvPr>
            <p:ph type="title"/>
          </p:nvPr>
        </p:nvSpPr>
        <p:spPr>
          <a:xfrm>
            <a:off x="512400" y="297455"/>
            <a:ext cx="11167200" cy="383582"/>
          </a:xfrm>
        </p:spPr>
        <p:txBody>
          <a:bodyPr>
            <a:normAutofit fontScale="90000"/>
          </a:bodyPr>
          <a:lstStyle/>
          <a:p>
            <a:r>
              <a:rPr lang="en-US" altLang="ko-KR" sz="2800" b="1" dirty="0"/>
              <a:t>Coding with AI(3/5)</a:t>
            </a:r>
            <a:endParaRPr lang="ko-KR" altLang="en-US" sz="2800" b="1" dirty="0"/>
          </a:p>
        </p:txBody>
      </p:sp>
      <p:sp>
        <p:nvSpPr>
          <p:cNvPr id="3" name="내용 개체 틀 2">
            <a:extLst>
              <a:ext uri="{FF2B5EF4-FFF2-40B4-BE49-F238E27FC236}">
                <a16:creationId xmlns:a16="http://schemas.microsoft.com/office/drawing/2014/main" id="{15F41F87-E079-44E1-C097-EB8D5685AFB0}"/>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AI Coding Rules :</a:t>
            </a:r>
          </a:p>
          <a:p>
            <a:pPr lvl="1">
              <a:defRPr/>
            </a:pPr>
            <a:r>
              <a:rPr lang="ko-KR" altLang="en-US" sz="1400" b="1" dirty="0"/>
              <a:t>잘 알려진 알고리즘</a:t>
            </a:r>
            <a:r>
              <a:rPr lang="ko-KR" altLang="en-US" sz="1400" dirty="0"/>
              <a:t>은 </a:t>
            </a:r>
            <a:r>
              <a:rPr lang="en-US" altLang="ko-KR" sz="1400" dirty="0"/>
              <a:t>AI</a:t>
            </a:r>
            <a:r>
              <a:rPr lang="ko-KR" altLang="en-US" sz="1400" dirty="0"/>
              <a:t>가 정말 잘 만들어 준다</a:t>
            </a:r>
            <a:r>
              <a:rPr lang="en-US" altLang="ko-KR" sz="1400" dirty="0"/>
              <a:t>.</a:t>
            </a:r>
          </a:p>
          <a:p>
            <a:pPr lvl="1">
              <a:defRPr/>
            </a:pPr>
            <a:r>
              <a:rPr lang="ko-KR" altLang="en-US" sz="1400" dirty="0"/>
              <a:t>테스트 결과를 보면서 </a:t>
            </a:r>
            <a:r>
              <a:rPr lang="ko-KR" altLang="en-US" sz="1400" b="1" dirty="0"/>
              <a:t>실패한 것을 성공하도록 요청</a:t>
            </a:r>
            <a:r>
              <a:rPr lang="ko-KR" altLang="en-US" sz="1400" dirty="0"/>
              <a:t>하는 것도 좋은 방법이다</a:t>
            </a:r>
            <a:r>
              <a:rPr lang="en-US" altLang="ko-KR" sz="1400" dirty="0"/>
              <a:t>.</a:t>
            </a:r>
          </a:p>
          <a:p>
            <a:pPr lvl="1">
              <a:defRPr/>
            </a:pPr>
            <a:r>
              <a:rPr lang="ko-KR" altLang="en-US" sz="1400" b="1" dirty="0" err="1"/>
              <a:t>리팩토링</a:t>
            </a:r>
            <a:r>
              <a:rPr lang="en-US" altLang="ko-KR" sz="1400" b="1" dirty="0"/>
              <a:t>(Refactoring)</a:t>
            </a:r>
            <a:r>
              <a:rPr lang="ko-KR" altLang="en-US" sz="1400" dirty="0"/>
              <a:t>은 </a:t>
            </a:r>
            <a:r>
              <a:rPr lang="ko-KR" altLang="en-US" sz="1400" b="1" dirty="0"/>
              <a:t>반드시 </a:t>
            </a:r>
            <a:r>
              <a:rPr lang="en-US" altLang="ko-KR" sz="1400" b="1" dirty="0"/>
              <a:t>AI</a:t>
            </a:r>
            <a:r>
              <a:rPr lang="ko-KR" altLang="en-US" sz="1400" b="1" dirty="0"/>
              <a:t>가 테스트 케이스를 작성한 후</a:t>
            </a:r>
            <a:r>
              <a:rPr lang="ko-KR" altLang="en-US" sz="1400" dirty="0"/>
              <a:t>에 실행한다</a:t>
            </a:r>
            <a:r>
              <a:rPr lang="en-US" altLang="ko-KR" sz="1400" dirty="0"/>
              <a:t>. </a:t>
            </a:r>
          </a:p>
          <a:p>
            <a:pPr lvl="1">
              <a:defRPr/>
            </a:pPr>
            <a:r>
              <a:rPr lang="ko-KR" altLang="en-US" sz="1400" b="1" dirty="0"/>
              <a:t>가독성</a:t>
            </a:r>
            <a:r>
              <a:rPr lang="en-US" altLang="ko-KR" sz="1400" b="1" dirty="0"/>
              <a:t>(Readability)</a:t>
            </a:r>
            <a:r>
              <a:rPr lang="ko-KR" altLang="en-US" sz="1400" dirty="0"/>
              <a:t>를 꾸준히 높이도록 한다</a:t>
            </a:r>
            <a:r>
              <a:rPr lang="en-US" altLang="ko-KR" sz="1400" dirty="0"/>
              <a:t>. (</a:t>
            </a:r>
            <a:r>
              <a:rPr lang="ko-KR" altLang="en-US" sz="1400" dirty="0"/>
              <a:t>짧은 함수들을 많이 사용</a:t>
            </a:r>
            <a:r>
              <a:rPr lang="en-US" altLang="ko-KR" sz="1400" dirty="0"/>
              <a:t>, </a:t>
            </a:r>
            <a:r>
              <a:rPr lang="ko-KR" altLang="en-US" sz="1400" dirty="0"/>
              <a:t>변수</a:t>
            </a:r>
            <a:r>
              <a:rPr lang="en-US" altLang="ko-KR" sz="1400" dirty="0"/>
              <a:t>, </a:t>
            </a:r>
            <a:r>
              <a:rPr lang="ko-KR" altLang="en-US" sz="1400" dirty="0"/>
              <a:t>파일</a:t>
            </a:r>
            <a:r>
              <a:rPr lang="en-US" altLang="ko-KR" sz="1400" dirty="0"/>
              <a:t>, </a:t>
            </a:r>
            <a:r>
              <a:rPr lang="ko-KR" altLang="en-US" sz="1400" dirty="0"/>
              <a:t>디렉토리 이름 등등 수정</a:t>
            </a:r>
            <a:r>
              <a:rPr lang="en-US" altLang="ko-KR" sz="1400" dirty="0"/>
              <a:t>)</a:t>
            </a:r>
          </a:p>
          <a:p>
            <a:pPr lvl="1">
              <a:defRPr/>
            </a:pPr>
            <a:r>
              <a:rPr lang="ko-KR" altLang="en-US" sz="1400" dirty="0"/>
              <a:t>코드의 </a:t>
            </a:r>
            <a:r>
              <a:rPr lang="ko-KR" altLang="en-US" sz="1400" b="1" dirty="0"/>
              <a:t>의존성</a:t>
            </a:r>
            <a:r>
              <a:rPr lang="en-US" altLang="ko-KR" sz="1400" b="1" dirty="0"/>
              <a:t>(</a:t>
            </a:r>
            <a:r>
              <a:rPr lang="ko-KR" altLang="en-US" sz="1400" b="1" dirty="0"/>
              <a:t>다른 코드에 대한 지나친 밀착</a:t>
            </a:r>
            <a:r>
              <a:rPr lang="en-US" altLang="ko-KR" sz="1400" b="1" dirty="0"/>
              <a:t>)</a:t>
            </a:r>
            <a:r>
              <a:rPr lang="ko-KR" altLang="en-US" sz="1400" dirty="0"/>
              <a:t>을 항상 고민하면서 코드를 작성하도록 요청한다</a:t>
            </a:r>
            <a:r>
              <a:rPr lang="en-US" altLang="ko-KR" sz="1400" dirty="0"/>
              <a:t>.</a:t>
            </a:r>
          </a:p>
          <a:p>
            <a:pPr lvl="1">
              <a:defRPr/>
            </a:pPr>
            <a:r>
              <a:rPr lang="en-US" altLang="ko-KR" sz="1400" b="1" dirty="0"/>
              <a:t>GUI</a:t>
            </a:r>
            <a:r>
              <a:rPr lang="ko-KR" altLang="en-US" sz="1400" b="1" dirty="0"/>
              <a:t>는 </a:t>
            </a:r>
            <a:r>
              <a:rPr lang="en-US" altLang="ko-KR" sz="1400" b="1" dirty="0"/>
              <a:t>AI</a:t>
            </a:r>
            <a:r>
              <a:rPr lang="ko-KR" altLang="en-US" sz="1400" dirty="0"/>
              <a:t>가 잘 만들지만</a:t>
            </a:r>
            <a:r>
              <a:rPr lang="en-US" altLang="ko-KR" sz="1400" dirty="0"/>
              <a:t>, </a:t>
            </a:r>
            <a:r>
              <a:rPr lang="ko-KR" altLang="en-US" sz="1400" b="1" dirty="0"/>
              <a:t>기능 로직과 분리</a:t>
            </a:r>
            <a:r>
              <a:rPr lang="en-US" altLang="ko-KR" sz="1400" b="1" dirty="0"/>
              <a:t>(Decoupling)</a:t>
            </a:r>
            <a:r>
              <a:rPr lang="ko-KR" altLang="en-US" sz="1400" dirty="0"/>
              <a:t>해서 만들어야 한다</a:t>
            </a:r>
            <a:r>
              <a:rPr lang="en-US" altLang="ko-KR" sz="1400" dirty="0"/>
              <a:t>. (</a:t>
            </a:r>
            <a:r>
              <a:rPr lang="ko-KR" altLang="en-US" sz="1400" dirty="0"/>
              <a:t>예</a:t>
            </a:r>
            <a:r>
              <a:rPr lang="en-US" altLang="ko-KR" sz="1400" dirty="0"/>
              <a:t>, Graphic Library + Business Logic[DB, OpenCV, etc.])</a:t>
            </a:r>
          </a:p>
          <a:p>
            <a:pPr lvl="1">
              <a:defRPr/>
            </a:pPr>
            <a:endParaRPr lang="en-US" altLang="ko-KR" sz="1400" dirty="0"/>
          </a:p>
        </p:txBody>
      </p:sp>
      <p:cxnSp>
        <p:nvCxnSpPr>
          <p:cNvPr id="4" name="직선 연결선 3">
            <a:extLst>
              <a:ext uri="{FF2B5EF4-FFF2-40B4-BE49-F238E27FC236}">
                <a16:creationId xmlns:a16="http://schemas.microsoft.com/office/drawing/2014/main" id="{4BC43801-0361-5273-97B0-261F43397203}"/>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0F90B0F2-8141-6521-6C3B-C3223CBA9568}"/>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44ECF386-F156-D8D1-1D5B-5754987DB1B5}"/>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15</a:t>
            </a:fld>
            <a:endParaRPr lang="ko-KR" altLang="en-US" dirty="0"/>
          </a:p>
        </p:txBody>
      </p:sp>
      <p:pic>
        <p:nvPicPr>
          <p:cNvPr id="7" name="그림 6">
            <a:extLst>
              <a:ext uri="{FF2B5EF4-FFF2-40B4-BE49-F238E27FC236}">
                <a16:creationId xmlns:a16="http://schemas.microsoft.com/office/drawing/2014/main" id="{8DA3C630-6715-84ED-421B-C0BD1858605A}"/>
              </a:ext>
            </a:extLst>
          </p:cNvPr>
          <p:cNvPicPr>
            <a:picLocks noChangeAspect="1"/>
          </p:cNvPicPr>
          <p:nvPr/>
        </p:nvPicPr>
        <p:blipFill>
          <a:blip r:embed="rId2"/>
          <a:stretch>
            <a:fillRect/>
          </a:stretch>
        </p:blipFill>
        <p:spPr>
          <a:xfrm>
            <a:off x="9982200" y="270493"/>
            <a:ext cx="1697400" cy="390402"/>
          </a:xfrm>
          <a:prstGeom prst="rect">
            <a:avLst/>
          </a:prstGeom>
        </p:spPr>
      </p:pic>
      <p:pic>
        <p:nvPicPr>
          <p:cNvPr id="8" name="그림 7">
            <a:extLst>
              <a:ext uri="{FF2B5EF4-FFF2-40B4-BE49-F238E27FC236}">
                <a16:creationId xmlns:a16="http://schemas.microsoft.com/office/drawing/2014/main" id="{C6D8C8B6-D83B-4CE8-59FF-0BA483897220}"/>
              </a:ext>
            </a:extLst>
          </p:cNvPr>
          <p:cNvPicPr>
            <a:picLocks noChangeAspect="1"/>
          </p:cNvPicPr>
          <p:nvPr/>
        </p:nvPicPr>
        <p:blipFill>
          <a:blip r:embed="rId3"/>
          <a:stretch>
            <a:fillRect/>
          </a:stretch>
        </p:blipFill>
        <p:spPr>
          <a:xfrm>
            <a:off x="3058601" y="3080760"/>
            <a:ext cx="6074797" cy="2897987"/>
          </a:xfrm>
          <a:prstGeom prst="rect">
            <a:avLst/>
          </a:prstGeom>
        </p:spPr>
      </p:pic>
    </p:spTree>
    <p:extLst>
      <p:ext uri="{BB962C8B-B14F-4D97-AF65-F5344CB8AC3E}">
        <p14:creationId xmlns:p14="http://schemas.microsoft.com/office/powerpoint/2010/main" val="1530384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9CB66-9E32-990D-849B-1C66E25AD24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10049F6-B876-61F9-1FF8-2AB211B116B7}"/>
              </a:ext>
            </a:extLst>
          </p:cNvPr>
          <p:cNvSpPr>
            <a:spLocks noGrp="1"/>
          </p:cNvSpPr>
          <p:nvPr>
            <p:ph type="title"/>
          </p:nvPr>
        </p:nvSpPr>
        <p:spPr>
          <a:xfrm>
            <a:off x="512400" y="297455"/>
            <a:ext cx="11167200" cy="383582"/>
          </a:xfrm>
        </p:spPr>
        <p:txBody>
          <a:bodyPr>
            <a:normAutofit fontScale="90000"/>
          </a:bodyPr>
          <a:lstStyle/>
          <a:p>
            <a:r>
              <a:rPr lang="en-US" altLang="ko-KR" sz="2800" b="1" dirty="0"/>
              <a:t>Coding with AI(4/5)</a:t>
            </a:r>
            <a:endParaRPr lang="ko-KR" altLang="en-US" sz="2800" b="1" dirty="0"/>
          </a:p>
        </p:txBody>
      </p:sp>
      <p:sp>
        <p:nvSpPr>
          <p:cNvPr id="3" name="내용 개체 틀 2">
            <a:extLst>
              <a:ext uri="{FF2B5EF4-FFF2-40B4-BE49-F238E27FC236}">
                <a16:creationId xmlns:a16="http://schemas.microsoft.com/office/drawing/2014/main" id="{464AB7E5-B150-D835-7DBB-CD7E7972E754}"/>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AI Coding Rules :</a:t>
            </a:r>
          </a:p>
          <a:p>
            <a:pPr lvl="1">
              <a:defRPr/>
            </a:pPr>
            <a:r>
              <a:rPr lang="ko-KR" altLang="en-US" sz="1400" dirty="0"/>
              <a:t>가능한 외부에서 볼 수 있는 </a:t>
            </a:r>
            <a:r>
              <a:rPr lang="en-US" altLang="ko-KR" sz="1400" b="1" dirty="0"/>
              <a:t>Interface</a:t>
            </a:r>
            <a:r>
              <a:rPr lang="ko-KR" altLang="en-US" sz="1400" b="1" dirty="0"/>
              <a:t>를 간결</a:t>
            </a:r>
            <a:r>
              <a:rPr lang="en-US" altLang="ko-KR" sz="1400" b="1" dirty="0"/>
              <a:t>(</a:t>
            </a:r>
            <a:r>
              <a:rPr lang="ko-KR" altLang="en-US" sz="1400" b="1" dirty="0"/>
              <a:t>몇 개 안되게</a:t>
            </a:r>
            <a:r>
              <a:rPr lang="en-US" altLang="ko-KR" sz="1400" b="1" dirty="0"/>
              <a:t>)</a:t>
            </a:r>
            <a:r>
              <a:rPr lang="ko-KR" altLang="en-US" sz="1400" b="1" dirty="0"/>
              <a:t>하게 유지</a:t>
            </a:r>
            <a:r>
              <a:rPr lang="ko-KR" altLang="en-US" sz="1400" dirty="0"/>
              <a:t>한다</a:t>
            </a:r>
            <a:r>
              <a:rPr lang="en-US" altLang="ko-KR" sz="1400" dirty="0"/>
              <a:t>. </a:t>
            </a:r>
          </a:p>
          <a:p>
            <a:pPr lvl="1">
              <a:defRPr/>
            </a:pPr>
            <a:r>
              <a:rPr lang="ko-KR" altLang="en-US" sz="1400" b="1" dirty="0"/>
              <a:t>초기화나 종료 시 해야 할 일은 묶어서</a:t>
            </a:r>
            <a:r>
              <a:rPr lang="ko-KR" altLang="en-US" sz="1400" dirty="0"/>
              <a:t> 하나의 함수로 제공한다</a:t>
            </a:r>
            <a:r>
              <a:rPr lang="en-US" altLang="ko-KR" sz="1400" dirty="0"/>
              <a:t>.</a:t>
            </a:r>
          </a:p>
          <a:p>
            <a:pPr lvl="1">
              <a:defRPr/>
            </a:pPr>
            <a:r>
              <a:rPr lang="ko-KR" altLang="en-US" sz="1400" dirty="0"/>
              <a:t>될 수 있으면 </a:t>
            </a:r>
            <a:r>
              <a:rPr lang="ko-KR" altLang="en-US" sz="1400" b="1" dirty="0"/>
              <a:t>외부에서 메모리를 할당해서 전달 받도록 코드</a:t>
            </a:r>
            <a:r>
              <a:rPr lang="ko-KR" altLang="en-US" sz="1400" dirty="0"/>
              <a:t>를 만든다</a:t>
            </a:r>
            <a:r>
              <a:rPr lang="en-US" altLang="ko-KR" sz="1400" dirty="0"/>
              <a:t>.(Embedded System</a:t>
            </a:r>
            <a:r>
              <a:rPr lang="ko-KR" altLang="en-US" sz="1400" dirty="0"/>
              <a:t>관련</a:t>
            </a:r>
            <a:r>
              <a:rPr lang="en-US" altLang="ko-KR" sz="1400" dirty="0"/>
              <a:t>)</a:t>
            </a:r>
          </a:p>
          <a:p>
            <a:pPr lvl="1">
              <a:defRPr/>
            </a:pPr>
            <a:r>
              <a:rPr lang="ko-KR" altLang="en-US" sz="1400" dirty="0"/>
              <a:t>가능한 호출되는 </a:t>
            </a:r>
            <a:r>
              <a:rPr lang="ko-KR" altLang="en-US" sz="1400" b="1" dirty="0"/>
              <a:t>함수가 </a:t>
            </a:r>
            <a:r>
              <a:rPr lang="en-US" altLang="ko-KR" sz="1400" b="1" dirty="0"/>
              <a:t>Return</a:t>
            </a:r>
            <a:r>
              <a:rPr lang="ko-KR" altLang="en-US" sz="1400" b="1" dirty="0"/>
              <a:t>값을 전달해 성공과 실패 여부</a:t>
            </a:r>
            <a:r>
              <a:rPr lang="ko-KR" altLang="en-US" sz="1400" dirty="0"/>
              <a:t>를 호출하는 코드에서 알도록 만든다</a:t>
            </a:r>
            <a:r>
              <a:rPr lang="en-US" altLang="ko-KR" sz="1400" dirty="0"/>
              <a:t>.(</a:t>
            </a:r>
            <a:r>
              <a:rPr lang="ko-KR" altLang="en-US" sz="1400" dirty="0"/>
              <a:t>확인하도록</a:t>
            </a:r>
            <a:r>
              <a:rPr lang="en-US" altLang="ko-KR" sz="1400" dirty="0"/>
              <a:t>)</a:t>
            </a:r>
          </a:p>
          <a:p>
            <a:pPr lvl="1">
              <a:defRPr/>
            </a:pPr>
            <a:r>
              <a:rPr lang="ko-KR" altLang="en-US" sz="1400" b="1" dirty="0"/>
              <a:t>파라미터의 개수는 가능한 최소화</a:t>
            </a:r>
            <a:r>
              <a:rPr lang="ko-KR" altLang="en-US" sz="1400" dirty="0"/>
              <a:t> 한다</a:t>
            </a:r>
            <a:r>
              <a:rPr lang="en-US" altLang="ko-KR" sz="1400" dirty="0"/>
              <a:t>.(4</a:t>
            </a:r>
            <a:r>
              <a:rPr lang="ko-KR" altLang="en-US" sz="1400" dirty="0"/>
              <a:t>개 이하</a:t>
            </a:r>
            <a:r>
              <a:rPr lang="en-US" altLang="ko-KR" sz="1400" dirty="0"/>
              <a:t>)</a:t>
            </a:r>
          </a:p>
          <a:p>
            <a:pPr lvl="1">
              <a:defRPr/>
            </a:pPr>
            <a:r>
              <a:rPr lang="ko-KR" altLang="en-US" sz="1400" dirty="0"/>
              <a:t>테스트를 위해서만 </a:t>
            </a:r>
            <a:r>
              <a:rPr lang="ko-KR" altLang="en-US" sz="1400" b="1" dirty="0"/>
              <a:t>외부로 </a:t>
            </a:r>
            <a:r>
              <a:rPr lang="en-US" altLang="ko-KR" sz="1400" b="1" dirty="0"/>
              <a:t>Export</a:t>
            </a:r>
            <a:r>
              <a:rPr lang="ko-KR" altLang="en-US" sz="1400" b="1" dirty="0"/>
              <a:t>되어야 하는 함수는 별도로 </a:t>
            </a:r>
            <a:r>
              <a:rPr lang="en-US" altLang="ko-KR" sz="1400" b="1" dirty="0"/>
              <a:t>Compiler Directive</a:t>
            </a:r>
            <a:r>
              <a:rPr lang="ko-KR" altLang="en-US" sz="1400" b="1" dirty="0"/>
              <a:t>로 관리</a:t>
            </a:r>
            <a:r>
              <a:rPr lang="ko-KR" altLang="en-US" sz="1400" dirty="0"/>
              <a:t>하도록 한다</a:t>
            </a:r>
            <a:r>
              <a:rPr lang="en-US" altLang="ko-KR" sz="1400" dirty="0"/>
              <a:t>.(</a:t>
            </a:r>
            <a:r>
              <a:rPr lang="ko-KR" altLang="en-US" sz="1400" dirty="0"/>
              <a:t>접근 제어</a:t>
            </a:r>
            <a:r>
              <a:rPr lang="en-US" altLang="ko-KR" sz="1400" dirty="0"/>
              <a:t>)</a:t>
            </a:r>
          </a:p>
        </p:txBody>
      </p:sp>
      <p:cxnSp>
        <p:nvCxnSpPr>
          <p:cNvPr id="4" name="직선 연결선 3">
            <a:extLst>
              <a:ext uri="{FF2B5EF4-FFF2-40B4-BE49-F238E27FC236}">
                <a16:creationId xmlns:a16="http://schemas.microsoft.com/office/drawing/2014/main" id="{0B842DB1-942B-B8BE-9D23-A0251EC42F4D}"/>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81B74619-AD41-6E09-E904-8602977F2B55}"/>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02B3E39C-E7AD-385F-BE90-DBA604DEE0EB}"/>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16</a:t>
            </a:fld>
            <a:endParaRPr lang="ko-KR" altLang="en-US" dirty="0"/>
          </a:p>
        </p:txBody>
      </p:sp>
      <p:pic>
        <p:nvPicPr>
          <p:cNvPr id="7" name="그림 6">
            <a:extLst>
              <a:ext uri="{FF2B5EF4-FFF2-40B4-BE49-F238E27FC236}">
                <a16:creationId xmlns:a16="http://schemas.microsoft.com/office/drawing/2014/main" id="{CB0DDB14-4463-2593-1005-1460FE9948EF}"/>
              </a:ext>
            </a:extLst>
          </p:cNvPr>
          <p:cNvPicPr>
            <a:picLocks noChangeAspect="1"/>
          </p:cNvPicPr>
          <p:nvPr/>
        </p:nvPicPr>
        <p:blipFill>
          <a:blip r:embed="rId2"/>
          <a:stretch>
            <a:fillRect/>
          </a:stretch>
        </p:blipFill>
        <p:spPr>
          <a:xfrm>
            <a:off x="9982200" y="270493"/>
            <a:ext cx="1697400" cy="390402"/>
          </a:xfrm>
          <a:prstGeom prst="rect">
            <a:avLst/>
          </a:prstGeom>
        </p:spPr>
      </p:pic>
      <p:pic>
        <p:nvPicPr>
          <p:cNvPr id="8" name="그림 7">
            <a:extLst>
              <a:ext uri="{FF2B5EF4-FFF2-40B4-BE49-F238E27FC236}">
                <a16:creationId xmlns:a16="http://schemas.microsoft.com/office/drawing/2014/main" id="{743778C6-116E-3B09-D14F-2C6645F20B50}"/>
              </a:ext>
            </a:extLst>
          </p:cNvPr>
          <p:cNvPicPr>
            <a:picLocks noChangeAspect="1"/>
          </p:cNvPicPr>
          <p:nvPr/>
        </p:nvPicPr>
        <p:blipFill>
          <a:blip r:embed="rId3"/>
          <a:stretch>
            <a:fillRect/>
          </a:stretch>
        </p:blipFill>
        <p:spPr>
          <a:xfrm>
            <a:off x="3200400" y="2886701"/>
            <a:ext cx="5791200" cy="3257550"/>
          </a:xfrm>
          <a:prstGeom prst="rect">
            <a:avLst/>
          </a:prstGeom>
          <a:ln>
            <a:solidFill>
              <a:schemeClr val="accent1"/>
            </a:solidFill>
          </a:ln>
        </p:spPr>
      </p:pic>
    </p:spTree>
    <p:extLst>
      <p:ext uri="{BB962C8B-B14F-4D97-AF65-F5344CB8AC3E}">
        <p14:creationId xmlns:p14="http://schemas.microsoft.com/office/powerpoint/2010/main" val="2559111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1417D-2177-4431-54F9-144A378CA82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E8F28C8-472F-70F8-506E-9DA324A74513}"/>
              </a:ext>
            </a:extLst>
          </p:cNvPr>
          <p:cNvSpPr>
            <a:spLocks noGrp="1"/>
          </p:cNvSpPr>
          <p:nvPr>
            <p:ph type="title"/>
          </p:nvPr>
        </p:nvSpPr>
        <p:spPr>
          <a:xfrm>
            <a:off x="512400" y="297455"/>
            <a:ext cx="11167200" cy="383582"/>
          </a:xfrm>
        </p:spPr>
        <p:txBody>
          <a:bodyPr>
            <a:normAutofit fontScale="90000"/>
          </a:bodyPr>
          <a:lstStyle/>
          <a:p>
            <a:r>
              <a:rPr lang="en-US" altLang="ko-KR" sz="2800" b="1" dirty="0"/>
              <a:t>Coding with AI(5/5)</a:t>
            </a:r>
            <a:endParaRPr lang="ko-KR" altLang="en-US" sz="2800" b="1" dirty="0"/>
          </a:p>
        </p:txBody>
      </p:sp>
      <p:sp>
        <p:nvSpPr>
          <p:cNvPr id="3" name="내용 개체 틀 2">
            <a:extLst>
              <a:ext uri="{FF2B5EF4-FFF2-40B4-BE49-F238E27FC236}">
                <a16:creationId xmlns:a16="http://schemas.microsoft.com/office/drawing/2014/main" id="{CB51CBE0-9062-CDF1-B66F-CAFD10ABE764}"/>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Tips :</a:t>
            </a:r>
          </a:p>
          <a:p>
            <a:pPr lvl="1">
              <a:defRPr/>
            </a:pPr>
            <a:r>
              <a:rPr lang="en-US" altLang="ko-KR" sz="1400" b="1" dirty="0"/>
              <a:t>AI</a:t>
            </a:r>
            <a:r>
              <a:rPr lang="ko-KR" altLang="en-US" sz="1400" b="1" dirty="0"/>
              <a:t>에게도 충분히 필요한 정보를 제공</a:t>
            </a:r>
            <a:r>
              <a:rPr lang="ko-KR" altLang="en-US" sz="1400" dirty="0"/>
              <a:t>해야 한다</a:t>
            </a:r>
            <a:r>
              <a:rPr lang="en-US" altLang="ko-KR" sz="1400" dirty="0"/>
              <a:t>. </a:t>
            </a:r>
            <a:r>
              <a:rPr lang="ko-KR" altLang="en-US" sz="1400" dirty="0"/>
              <a:t>만약 이상하게 헛발질하고 있다고 생각되면</a:t>
            </a:r>
            <a:r>
              <a:rPr lang="en-US" altLang="ko-KR" sz="1400" dirty="0"/>
              <a:t>, </a:t>
            </a:r>
            <a:r>
              <a:rPr lang="ko-KR" altLang="en-US" sz="1400" b="1" dirty="0"/>
              <a:t>관련된 </a:t>
            </a:r>
            <a:r>
              <a:rPr lang="en-US" altLang="ko-KR" sz="1400" b="1" dirty="0"/>
              <a:t>Web Site</a:t>
            </a:r>
            <a:r>
              <a:rPr lang="ko-KR" altLang="en-US" sz="1400" b="1" dirty="0"/>
              <a:t>와 같은 것을 알려주어 다른 사람이 한 것을 공부</a:t>
            </a:r>
            <a:r>
              <a:rPr lang="ko-KR" altLang="en-US" sz="1400" dirty="0"/>
              <a:t>시키도록 한다</a:t>
            </a:r>
            <a:r>
              <a:rPr lang="en-US" altLang="ko-KR" sz="1400" dirty="0"/>
              <a:t>.</a:t>
            </a:r>
          </a:p>
          <a:p>
            <a:pPr lvl="1">
              <a:defRPr/>
            </a:pPr>
            <a:r>
              <a:rPr lang="ko-KR" altLang="en-US" sz="1400" dirty="0"/>
              <a:t>될 수 있으면 </a:t>
            </a:r>
            <a:r>
              <a:rPr lang="ko-KR" altLang="en-US" sz="1400" b="1" dirty="0"/>
              <a:t>최신 버전 정보를 제공</a:t>
            </a:r>
            <a:r>
              <a:rPr lang="ko-KR" altLang="en-US" sz="1400" dirty="0"/>
              <a:t>해서</a:t>
            </a:r>
            <a:r>
              <a:rPr lang="en-US" altLang="ko-KR" sz="1400" dirty="0"/>
              <a:t>(</a:t>
            </a:r>
            <a:r>
              <a:rPr lang="ko-KR" altLang="en-US" sz="1400" dirty="0"/>
              <a:t>물론 당연히 최신의 안정적인 버전이 좋음</a:t>
            </a:r>
            <a:r>
              <a:rPr lang="en-US" altLang="ko-KR" sz="1400" dirty="0"/>
              <a:t>) AI</a:t>
            </a:r>
            <a:r>
              <a:rPr lang="ko-KR" altLang="en-US" sz="1400" dirty="0"/>
              <a:t>가 충분히 이해하도록 만든 후 명확하고 구체적인 지시를 내린다</a:t>
            </a:r>
            <a:r>
              <a:rPr lang="en-US" altLang="ko-KR" sz="1400" dirty="0"/>
              <a:t>. </a:t>
            </a:r>
          </a:p>
          <a:p>
            <a:pPr lvl="1">
              <a:defRPr/>
            </a:pPr>
            <a:r>
              <a:rPr lang="ko-KR" altLang="en-US" sz="1400" b="1" dirty="0"/>
              <a:t>항상 구현 후에는 그것을 테스트할 수 있는 방법도 같이 포함</a:t>
            </a:r>
            <a:r>
              <a:rPr lang="ko-KR" altLang="en-US" sz="1400" dirty="0"/>
              <a:t>하도록 한다</a:t>
            </a:r>
            <a:r>
              <a:rPr lang="en-US" altLang="ko-KR" sz="1400" dirty="0"/>
              <a:t>. </a:t>
            </a:r>
            <a:r>
              <a:rPr lang="ko-KR" altLang="en-US" sz="1400" dirty="0"/>
              <a:t>그래야 정말 되는지 확인할 수 있으며</a:t>
            </a:r>
            <a:r>
              <a:rPr lang="en-US" altLang="ko-KR" sz="1400" dirty="0"/>
              <a:t>, </a:t>
            </a:r>
            <a:r>
              <a:rPr lang="ko-KR" altLang="en-US" sz="1400" dirty="0"/>
              <a:t>사람도 이해하고 넘어갈 필요가 있기 때문이다</a:t>
            </a:r>
            <a:r>
              <a:rPr lang="en-US" altLang="ko-KR" sz="1400" dirty="0"/>
              <a:t>. </a:t>
            </a:r>
          </a:p>
          <a:p>
            <a:pPr lvl="1">
              <a:defRPr/>
            </a:pPr>
            <a:r>
              <a:rPr lang="en-US" altLang="ko-KR" sz="1400" b="1" dirty="0"/>
              <a:t>AI</a:t>
            </a:r>
            <a:r>
              <a:rPr lang="ko-KR" altLang="en-US" sz="1400" b="1" dirty="0"/>
              <a:t>가 엉뚱한 함정에 빠져 허우적거릴 때는 멈추라고 해야 한다</a:t>
            </a:r>
            <a:r>
              <a:rPr lang="en-US" altLang="ko-KR" sz="1400" dirty="0"/>
              <a:t>. </a:t>
            </a:r>
            <a:r>
              <a:rPr lang="ko-KR" altLang="en-US" sz="1400" dirty="0"/>
              <a:t>증상은 반복적으로 같은 문장을 계속 뱉아내는 경우다</a:t>
            </a:r>
            <a:r>
              <a:rPr lang="en-US" altLang="ko-KR" sz="1400" dirty="0"/>
              <a:t>. </a:t>
            </a:r>
            <a:r>
              <a:rPr lang="ko-KR" altLang="en-US" sz="1400" dirty="0"/>
              <a:t>이런 쓸데없는 것으로 시간 낭비하지 말자</a:t>
            </a:r>
            <a:r>
              <a:rPr lang="en-US" altLang="ko-KR" sz="1400" dirty="0"/>
              <a:t>.</a:t>
            </a:r>
          </a:p>
          <a:p>
            <a:pPr lvl="1">
              <a:defRPr/>
            </a:pPr>
            <a:r>
              <a:rPr lang="ko-KR" altLang="en-US" sz="1400" b="1" dirty="0"/>
              <a:t>반복되는 오류가 발생할 때는 새로운 정보를 제공해야 할 때</a:t>
            </a:r>
            <a:r>
              <a:rPr lang="ko-KR" altLang="en-US" sz="1400" dirty="0"/>
              <a:t>라고 생각하도록 하자</a:t>
            </a:r>
            <a:r>
              <a:rPr lang="en-US" altLang="ko-KR" sz="1400" dirty="0"/>
              <a:t>. </a:t>
            </a:r>
            <a:r>
              <a:rPr lang="ko-KR" altLang="en-US" sz="1400" b="1" dirty="0"/>
              <a:t>다른 언어로 된 코드라도 제공</a:t>
            </a:r>
            <a:r>
              <a:rPr lang="ko-KR" altLang="en-US" sz="1400" dirty="0"/>
              <a:t>해서 </a:t>
            </a:r>
            <a:r>
              <a:rPr lang="en-US" altLang="ko-KR" sz="1400" dirty="0"/>
              <a:t>AI</a:t>
            </a:r>
            <a:r>
              <a:rPr lang="ko-KR" altLang="en-US" sz="1400" dirty="0"/>
              <a:t>를 충분히 이해시킬 필요는 있다</a:t>
            </a:r>
            <a:r>
              <a:rPr lang="en-US" altLang="ko-KR" sz="1400" dirty="0"/>
              <a:t>.</a:t>
            </a:r>
          </a:p>
        </p:txBody>
      </p:sp>
      <p:cxnSp>
        <p:nvCxnSpPr>
          <p:cNvPr id="4" name="직선 연결선 3">
            <a:extLst>
              <a:ext uri="{FF2B5EF4-FFF2-40B4-BE49-F238E27FC236}">
                <a16:creationId xmlns:a16="http://schemas.microsoft.com/office/drawing/2014/main" id="{BDC29C6B-D55C-7A49-9D67-8B86DE234253}"/>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6E24F690-B328-4E99-6097-8B3E6BEE3D70}"/>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0FE70470-1B82-F0D0-EE3A-6115E22F160F}"/>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17</a:t>
            </a:fld>
            <a:endParaRPr lang="ko-KR" altLang="en-US" dirty="0"/>
          </a:p>
        </p:txBody>
      </p:sp>
      <p:pic>
        <p:nvPicPr>
          <p:cNvPr id="7" name="그림 6">
            <a:extLst>
              <a:ext uri="{FF2B5EF4-FFF2-40B4-BE49-F238E27FC236}">
                <a16:creationId xmlns:a16="http://schemas.microsoft.com/office/drawing/2014/main" id="{1BE1DFBB-3FDD-0AA5-DFF0-0565C53D8095}"/>
              </a:ext>
            </a:extLst>
          </p:cNvPr>
          <p:cNvPicPr>
            <a:picLocks noChangeAspect="1"/>
          </p:cNvPicPr>
          <p:nvPr/>
        </p:nvPicPr>
        <p:blipFill>
          <a:blip r:embed="rId2"/>
          <a:stretch>
            <a:fillRect/>
          </a:stretch>
        </p:blipFill>
        <p:spPr>
          <a:xfrm>
            <a:off x="9982200" y="270493"/>
            <a:ext cx="1697400" cy="390402"/>
          </a:xfrm>
          <a:prstGeom prst="rect">
            <a:avLst/>
          </a:prstGeom>
        </p:spPr>
      </p:pic>
      <p:pic>
        <p:nvPicPr>
          <p:cNvPr id="8" name="그림 7">
            <a:extLst>
              <a:ext uri="{FF2B5EF4-FFF2-40B4-BE49-F238E27FC236}">
                <a16:creationId xmlns:a16="http://schemas.microsoft.com/office/drawing/2014/main" id="{8B0CD751-0C15-7F87-F413-A82354F6C5B5}"/>
              </a:ext>
            </a:extLst>
          </p:cNvPr>
          <p:cNvPicPr>
            <a:picLocks noChangeAspect="1"/>
          </p:cNvPicPr>
          <p:nvPr/>
        </p:nvPicPr>
        <p:blipFill>
          <a:blip r:embed="rId3"/>
          <a:stretch>
            <a:fillRect/>
          </a:stretch>
        </p:blipFill>
        <p:spPr>
          <a:xfrm>
            <a:off x="3090862" y="3588030"/>
            <a:ext cx="6010275" cy="2610713"/>
          </a:xfrm>
          <a:prstGeom prst="rect">
            <a:avLst/>
          </a:prstGeom>
          <a:ln>
            <a:solidFill>
              <a:schemeClr val="accent1"/>
            </a:solidFill>
          </a:ln>
        </p:spPr>
      </p:pic>
    </p:spTree>
    <p:extLst>
      <p:ext uri="{BB962C8B-B14F-4D97-AF65-F5344CB8AC3E}">
        <p14:creationId xmlns:p14="http://schemas.microsoft.com/office/powerpoint/2010/main" val="3791603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55844-0D75-BB96-3B5B-C7DC291666A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A0C5B14-E70E-5070-76F4-A82766D84E81}"/>
              </a:ext>
            </a:extLst>
          </p:cNvPr>
          <p:cNvSpPr>
            <a:spLocks noGrp="1"/>
          </p:cNvSpPr>
          <p:nvPr>
            <p:ph type="title"/>
          </p:nvPr>
        </p:nvSpPr>
        <p:spPr>
          <a:xfrm>
            <a:off x="512400" y="297455"/>
            <a:ext cx="11167200" cy="383582"/>
          </a:xfrm>
        </p:spPr>
        <p:txBody>
          <a:bodyPr>
            <a:normAutofit fontScale="90000"/>
          </a:bodyPr>
          <a:lstStyle/>
          <a:p>
            <a:r>
              <a:rPr lang="en-US" altLang="ko-KR" sz="2800" b="1" dirty="0"/>
              <a:t>Coding Habit</a:t>
            </a:r>
            <a:endParaRPr lang="ko-KR" altLang="en-US" sz="2800" b="1" dirty="0"/>
          </a:p>
        </p:txBody>
      </p:sp>
      <p:sp>
        <p:nvSpPr>
          <p:cNvPr id="3" name="내용 개체 틀 2">
            <a:extLst>
              <a:ext uri="{FF2B5EF4-FFF2-40B4-BE49-F238E27FC236}">
                <a16:creationId xmlns:a16="http://schemas.microsoft.com/office/drawing/2014/main" id="{62AC288F-3ADB-9E62-70D6-00960CD431C1}"/>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Clean Code :</a:t>
            </a:r>
          </a:p>
          <a:p>
            <a:pPr lvl="1">
              <a:defRPr/>
            </a:pPr>
            <a:r>
              <a:rPr lang="ko-KR" altLang="en-US" sz="1400" dirty="0"/>
              <a:t>코드는 저장소에 넣기 전에 </a:t>
            </a:r>
            <a:r>
              <a:rPr lang="ko-KR" altLang="en-US" sz="1400" b="1" dirty="0"/>
              <a:t>항상 정리된 상태로 유지</a:t>
            </a:r>
            <a:r>
              <a:rPr lang="ko-KR" altLang="en-US" sz="1400" dirty="0"/>
              <a:t>되어야 한다</a:t>
            </a:r>
            <a:r>
              <a:rPr lang="en-US" altLang="ko-KR" sz="1400" dirty="0"/>
              <a:t>.</a:t>
            </a:r>
          </a:p>
          <a:p>
            <a:pPr lvl="1">
              <a:defRPr/>
            </a:pPr>
            <a:r>
              <a:rPr lang="ko-KR" altLang="en-US" sz="1400" b="1" dirty="0"/>
              <a:t>역할과 책임에 맞는 이름</a:t>
            </a:r>
            <a:r>
              <a:rPr lang="ko-KR" altLang="en-US" sz="1400" dirty="0"/>
              <a:t>을 주어야 한다</a:t>
            </a:r>
            <a:r>
              <a:rPr lang="en-US" altLang="ko-KR" sz="1400" dirty="0"/>
              <a:t>. (</a:t>
            </a:r>
            <a:r>
              <a:rPr lang="ko-KR" altLang="en-US" sz="1400" dirty="0"/>
              <a:t>변수</a:t>
            </a:r>
            <a:r>
              <a:rPr lang="en-US" altLang="ko-KR" sz="1400" dirty="0"/>
              <a:t>, </a:t>
            </a:r>
            <a:r>
              <a:rPr lang="ko-KR" altLang="en-US" sz="1400" dirty="0"/>
              <a:t>함수</a:t>
            </a:r>
            <a:r>
              <a:rPr lang="en-US" altLang="ko-KR" sz="1400" dirty="0"/>
              <a:t>, </a:t>
            </a:r>
            <a:r>
              <a:rPr lang="ko-KR" altLang="en-US" sz="1400" dirty="0"/>
              <a:t>파일명</a:t>
            </a:r>
            <a:r>
              <a:rPr lang="en-US" altLang="ko-KR" sz="1400" dirty="0"/>
              <a:t>, </a:t>
            </a:r>
            <a:r>
              <a:rPr lang="ko-KR" altLang="en-US" sz="1400" dirty="0"/>
              <a:t>디렉토리 명 등등</a:t>
            </a:r>
            <a:r>
              <a:rPr lang="en-US" altLang="ko-KR" sz="1400" dirty="0"/>
              <a:t> </a:t>
            </a:r>
            <a:r>
              <a:rPr lang="ko-KR" altLang="en-US" sz="1400" dirty="0"/>
              <a:t>이름으로 역할과 책임 범위를 알 수 있도록 함</a:t>
            </a:r>
            <a:r>
              <a:rPr lang="en-US" altLang="ko-KR" sz="1400" dirty="0"/>
              <a:t>)</a:t>
            </a:r>
          </a:p>
          <a:p>
            <a:pPr lvl="1">
              <a:defRPr/>
            </a:pPr>
            <a:r>
              <a:rPr lang="ko-KR" altLang="en-US" sz="1400" b="1" dirty="0"/>
              <a:t>저장소의 코드는 항상 </a:t>
            </a:r>
            <a:r>
              <a:rPr lang="en-US" altLang="ko-KR" sz="1400" b="1" dirty="0"/>
              <a:t>Build</a:t>
            </a:r>
            <a:r>
              <a:rPr lang="ko-KR" altLang="en-US" sz="1400" dirty="0"/>
              <a:t>가 되어야 한다</a:t>
            </a:r>
            <a:r>
              <a:rPr lang="en-US" altLang="ko-KR" sz="1400" dirty="0"/>
              <a:t>.</a:t>
            </a:r>
          </a:p>
          <a:p>
            <a:pPr lvl="1">
              <a:defRPr/>
            </a:pPr>
            <a:r>
              <a:rPr lang="en-US" altLang="ko-KR" sz="1400" b="1" dirty="0"/>
              <a:t>Build</a:t>
            </a:r>
            <a:r>
              <a:rPr lang="ko-KR" altLang="en-US" sz="1400" b="1" dirty="0"/>
              <a:t>시 그 때까지 추가된 모든 테스트 케이스를 실행</a:t>
            </a:r>
            <a:r>
              <a:rPr lang="ko-KR" altLang="en-US" sz="1400" dirty="0"/>
              <a:t>해 문제 발생 여부를 점검해야 한다</a:t>
            </a:r>
            <a:r>
              <a:rPr lang="en-US" altLang="ko-KR" sz="1400" dirty="0"/>
              <a:t>.</a:t>
            </a:r>
          </a:p>
          <a:p>
            <a:pPr lvl="1">
              <a:defRPr/>
            </a:pPr>
            <a:r>
              <a:rPr lang="ko-KR" altLang="en-US" sz="1400" b="1" dirty="0"/>
              <a:t>관련 문서</a:t>
            </a:r>
            <a:r>
              <a:rPr lang="en-US" altLang="ko-KR" sz="1400" b="1" dirty="0"/>
              <a:t>(Readme.md)</a:t>
            </a:r>
            <a:r>
              <a:rPr lang="ko-KR" altLang="en-US" sz="1400" b="1" dirty="0"/>
              <a:t>도 항상 업데이트 </a:t>
            </a:r>
            <a:r>
              <a:rPr lang="ko-KR" altLang="en-US" sz="1400" dirty="0"/>
              <a:t>된 상태를 유지하도록 한다</a:t>
            </a:r>
            <a:r>
              <a:rPr lang="en-US" altLang="ko-KR" sz="1400" dirty="0"/>
              <a:t>.</a:t>
            </a:r>
          </a:p>
          <a:p>
            <a:pPr lvl="1">
              <a:defRPr/>
            </a:pPr>
            <a:r>
              <a:rPr lang="ko-KR" altLang="en-US" sz="1400" b="1" dirty="0"/>
              <a:t>불필요한 주석은 전부 삭제</a:t>
            </a:r>
            <a:r>
              <a:rPr lang="ko-KR" altLang="en-US" sz="1400" dirty="0"/>
              <a:t>한다</a:t>
            </a:r>
            <a:r>
              <a:rPr lang="en-US" altLang="ko-KR" sz="1400" dirty="0"/>
              <a:t>. </a:t>
            </a:r>
          </a:p>
          <a:p>
            <a:pPr lvl="1">
              <a:defRPr/>
            </a:pPr>
            <a:r>
              <a:rPr lang="ko-KR" altLang="en-US" sz="1400" b="1" dirty="0"/>
              <a:t>필요 없는 파일들은 전부 삭제</a:t>
            </a:r>
            <a:r>
              <a:rPr lang="ko-KR" altLang="en-US" sz="1400" dirty="0"/>
              <a:t>한다</a:t>
            </a:r>
            <a:r>
              <a:rPr lang="en-US" altLang="ko-KR" sz="1400" dirty="0"/>
              <a:t>. </a:t>
            </a:r>
          </a:p>
          <a:p>
            <a:pPr lvl="1">
              <a:defRPr/>
            </a:pPr>
            <a:r>
              <a:rPr lang="en-US" altLang="ko-KR" sz="1400" b="1" dirty="0"/>
              <a:t>CI/CD(Continuous Integration/Continuous Deployment)</a:t>
            </a:r>
            <a:r>
              <a:rPr lang="ko-KR" altLang="en-US" sz="1400" dirty="0"/>
              <a:t>가 가능하도록 회사내 인프라를 관리한다</a:t>
            </a:r>
            <a:r>
              <a:rPr lang="en-US" altLang="ko-KR" sz="1400" dirty="0"/>
              <a:t>.</a:t>
            </a:r>
          </a:p>
        </p:txBody>
      </p:sp>
      <p:cxnSp>
        <p:nvCxnSpPr>
          <p:cNvPr id="4" name="직선 연결선 3">
            <a:extLst>
              <a:ext uri="{FF2B5EF4-FFF2-40B4-BE49-F238E27FC236}">
                <a16:creationId xmlns:a16="http://schemas.microsoft.com/office/drawing/2014/main" id="{9893181A-4E59-F594-F62E-F1811CAF0327}"/>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A26259F6-7B38-EA4F-0E62-A75D58FDD6E8}"/>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D0DDC6F6-B744-6E28-63AA-C8BA55B51DC8}"/>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18</a:t>
            </a:fld>
            <a:endParaRPr lang="ko-KR" altLang="en-US" dirty="0"/>
          </a:p>
        </p:txBody>
      </p:sp>
      <p:pic>
        <p:nvPicPr>
          <p:cNvPr id="7" name="그림 6">
            <a:extLst>
              <a:ext uri="{FF2B5EF4-FFF2-40B4-BE49-F238E27FC236}">
                <a16:creationId xmlns:a16="http://schemas.microsoft.com/office/drawing/2014/main" id="{1EEE574B-EC6E-24E3-BEE9-00AE0478192F}"/>
              </a:ext>
            </a:extLst>
          </p:cNvPr>
          <p:cNvPicPr>
            <a:picLocks noChangeAspect="1"/>
          </p:cNvPicPr>
          <p:nvPr/>
        </p:nvPicPr>
        <p:blipFill>
          <a:blip r:embed="rId2"/>
          <a:stretch>
            <a:fillRect/>
          </a:stretch>
        </p:blipFill>
        <p:spPr>
          <a:xfrm>
            <a:off x="9982200" y="270493"/>
            <a:ext cx="1697400" cy="390402"/>
          </a:xfrm>
          <a:prstGeom prst="rect">
            <a:avLst/>
          </a:prstGeom>
        </p:spPr>
      </p:pic>
      <p:grpSp>
        <p:nvGrpSpPr>
          <p:cNvPr id="12" name="그룹 11">
            <a:extLst>
              <a:ext uri="{FF2B5EF4-FFF2-40B4-BE49-F238E27FC236}">
                <a16:creationId xmlns:a16="http://schemas.microsoft.com/office/drawing/2014/main" id="{A4FD4F92-5B27-A97F-5788-D88BF9614CB3}"/>
              </a:ext>
            </a:extLst>
          </p:cNvPr>
          <p:cNvGrpSpPr/>
          <p:nvPr/>
        </p:nvGrpSpPr>
        <p:grpSpPr>
          <a:xfrm>
            <a:off x="1706123" y="3588030"/>
            <a:ext cx="8779754" cy="2380396"/>
            <a:chOff x="1257068" y="3588030"/>
            <a:chExt cx="8779754" cy="2380396"/>
          </a:xfrm>
        </p:grpSpPr>
        <p:pic>
          <p:nvPicPr>
            <p:cNvPr id="10" name="그림 9">
              <a:extLst>
                <a:ext uri="{FF2B5EF4-FFF2-40B4-BE49-F238E27FC236}">
                  <a16:creationId xmlns:a16="http://schemas.microsoft.com/office/drawing/2014/main" id="{BDC91939-5277-F85A-5DFA-ED7E65C96AB9}"/>
                </a:ext>
              </a:extLst>
            </p:cNvPr>
            <p:cNvPicPr>
              <a:picLocks noChangeAspect="1"/>
            </p:cNvPicPr>
            <p:nvPr/>
          </p:nvPicPr>
          <p:blipFill>
            <a:blip r:embed="rId3"/>
            <a:stretch>
              <a:fillRect/>
            </a:stretch>
          </p:blipFill>
          <p:spPr>
            <a:xfrm>
              <a:off x="6924676" y="3588031"/>
              <a:ext cx="3112146" cy="2380395"/>
            </a:xfrm>
            <a:prstGeom prst="rect">
              <a:avLst/>
            </a:prstGeom>
            <a:ln>
              <a:solidFill>
                <a:schemeClr val="accent1"/>
              </a:solidFill>
            </a:ln>
          </p:spPr>
        </p:pic>
        <p:pic>
          <p:nvPicPr>
            <p:cNvPr id="11" name="그림 10">
              <a:extLst>
                <a:ext uri="{FF2B5EF4-FFF2-40B4-BE49-F238E27FC236}">
                  <a16:creationId xmlns:a16="http://schemas.microsoft.com/office/drawing/2014/main" id="{5D2C6B57-F9FD-2759-D1BE-5768708285BD}"/>
                </a:ext>
              </a:extLst>
            </p:cNvPr>
            <p:cNvPicPr>
              <a:picLocks noChangeAspect="1"/>
            </p:cNvPicPr>
            <p:nvPr/>
          </p:nvPicPr>
          <p:blipFill>
            <a:blip r:embed="rId4"/>
            <a:stretch>
              <a:fillRect/>
            </a:stretch>
          </p:blipFill>
          <p:spPr>
            <a:xfrm>
              <a:off x="1257068" y="3588030"/>
              <a:ext cx="5667608" cy="2380396"/>
            </a:xfrm>
            <a:prstGeom prst="rect">
              <a:avLst/>
            </a:prstGeom>
            <a:ln>
              <a:solidFill>
                <a:schemeClr val="accent1"/>
              </a:solidFill>
            </a:ln>
          </p:spPr>
        </p:pic>
      </p:grpSp>
    </p:spTree>
    <p:extLst>
      <p:ext uri="{BB962C8B-B14F-4D97-AF65-F5344CB8AC3E}">
        <p14:creationId xmlns:p14="http://schemas.microsoft.com/office/powerpoint/2010/main" val="2899790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11098-943E-462E-F6F7-F6A4374D468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9E8F826-6CB3-9D29-5521-531DDFCD7761}"/>
              </a:ext>
            </a:extLst>
          </p:cNvPr>
          <p:cNvSpPr>
            <a:spLocks noGrp="1"/>
          </p:cNvSpPr>
          <p:nvPr>
            <p:ph type="title"/>
          </p:nvPr>
        </p:nvSpPr>
        <p:spPr>
          <a:xfrm>
            <a:off x="512400" y="297455"/>
            <a:ext cx="11167200" cy="383582"/>
          </a:xfrm>
        </p:spPr>
        <p:txBody>
          <a:bodyPr>
            <a:normAutofit fontScale="90000"/>
          </a:bodyPr>
          <a:lstStyle/>
          <a:p>
            <a:r>
              <a:rPr lang="en-US" altLang="ko-KR" sz="2800" b="1" dirty="0"/>
              <a:t>Coding Principles</a:t>
            </a:r>
            <a:endParaRPr lang="ko-KR" altLang="en-US" sz="2800" b="1" dirty="0"/>
          </a:p>
        </p:txBody>
      </p:sp>
      <p:sp>
        <p:nvSpPr>
          <p:cNvPr id="3" name="내용 개체 틀 2">
            <a:extLst>
              <a:ext uri="{FF2B5EF4-FFF2-40B4-BE49-F238E27FC236}">
                <a16:creationId xmlns:a16="http://schemas.microsoft.com/office/drawing/2014/main" id="{AA4F92E8-3397-79D1-8E6E-65D373C6B7D5}"/>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How to make a great code : </a:t>
            </a:r>
          </a:p>
          <a:p>
            <a:pPr lvl="1">
              <a:defRPr/>
            </a:pPr>
            <a:r>
              <a:rPr lang="en-US" altLang="ko-KR" sz="1400" dirty="0"/>
              <a:t>All you need to know is already known to a lot of programmers.</a:t>
            </a:r>
          </a:p>
          <a:p>
            <a:pPr lvl="1">
              <a:defRPr/>
            </a:pPr>
            <a:r>
              <a:rPr lang="en-US" altLang="ko-KR" sz="1400" dirty="0"/>
              <a:t>But some programmers are not following the rules. </a:t>
            </a:r>
          </a:p>
        </p:txBody>
      </p:sp>
      <p:cxnSp>
        <p:nvCxnSpPr>
          <p:cNvPr id="4" name="직선 연결선 3">
            <a:extLst>
              <a:ext uri="{FF2B5EF4-FFF2-40B4-BE49-F238E27FC236}">
                <a16:creationId xmlns:a16="http://schemas.microsoft.com/office/drawing/2014/main" id="{233C0D2E-1CC3-C26B-8B62-50CA08099CA2}"/>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55F25349-CBAA-F74D-F867-01DCDA8389DB}"/>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1D25358C-2642-43BA-38AB-5C2B9E745C15}"/>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19</a:t>
            </a:fld>
            <a:endParaRPr lang="ko-KR" altLang="en-US" dirty="0"/>
          </a:p>
        </p:txBody>
      </p:sp>
      <p:pic>
        <p:nvPicPr>
          <p:cNvPr id="17" name="그림 16">
            <a:extLst>
              <a:ext uri="{FF2B5EF4-FFF2-40B4-BE49-F238E27FC236}">
                <a16:creationId xmlns:a16="http://schemas.microsoft.com/office/drawing/2014/main" id="{1245C0C8-231E-E0B0-F8E3-86664CC26630}"/>
              </a:ext>
            </a:extLst>
          </p:cNvPr>
          <p:cNvPicPr>
            <a:picLocks noChangeAspect="1"/>
          </p:cNvPicPr>
          <p:nvPr/>
        </p:nvPicPr>
        <p:blipFill>
          <a:blip r:embed="rId2"/>
          <a:stretch>
            <a:fillRect/>
          </a:stretch>
        </p:blipFill>
        <p:spPr>
          <a:xfrm>
            <a:off x="9982200" y="270493"/>
            <a:ext cx="1697400" cy="390402"/>
          </a:xfrm>
          <a:prstGeom prst="rect">
            <a:avLst/>
          </a:prstGeom>
        </p:spPr>
      </p:pic>
      <p:grpSp>
        <p:nvGrpSpPr>
          <p:cNvPr id="21" name="그룹 20">
            <a:extLst>
              <a:ext uri="{FF2B5EF4-FFF2-40B4-BE49-F238E27FC236}">
                <a16:creationId xmlns:a16="http://schemas.microsoft.com/office/drawing/2014/main" id="{15E323D5-4C4B-BE59-1217-3F275760E8CC}"/>
              </a:ext>
            </a:extLst>
          </p:cNvPr>
          <p:cNvGrpSpPr/>
          <p:nvPr/>
        </p:nvGrpSpPr>
        <p:grpSpPr>
          <a:xfrm>
            <a:off x="732064" y="1709000"/>
            <a:ext cx="10727872" cy="4720597"/>
            <a:chOff x="732064" y="1709000"/>
            <a:chExt cx="10727872" cy="4720597"/>
          </a:xfrm>
        </p:grpSpPr>
        <p:grpSp>
          <p:nvGrpSpPr>
            <p:cNvPr id="16" name="그룹 15">
              <a:extLst>
                <a:ext uri="{FF2B5EF4-FFF2-40B4-BE49-F238E27FC236}">
                  <a16:creationId xmlns:a16="http://schemas.microsoft.com/office/drawing/2014/main" id="{DF258BA7-152E-45D0-C189-F1BDC0F5BD04}"/>
                </a:ext>
              </a:extLst>
            </p:cNvPr>
            <p:cNvGrpSpPr/>
            <p:nvPr/>
          </p:nvGrpSpPr>
          <p:grpSpPr>
            <a:xfrm>
              <a:off x="732064" y="1709000"/>
              <a:ext cx="10727872" cy="3419892"/>
              <a:chOff x="763178" y="2052888"/>
              <a:chExt cx="10727872" cy="3419892"/>
            </a:xfrm>
          </p:grpSpPr>
          <p:grpSp>
            <p:nvGrpSpPr>
              <p:cNvPr id="15" name="그룹 14">
                <a:extLst>
                  <a:ext uri="{FF2B5EF4-FFF2-40B4-BE49-F238E27FC236}">
                    <a16:creationId xmlns:a16="http://schemas.microsoft.com/office/drawing/2014/main" id="{0D0D7B20-D8BC-E398-6B2F-BC1DECC5C8D3}"/>
                  </a:ext>
                </a:extLst>
              </p:cNvPr>
              <p:cNvGrpSpPr/>
              <p:nvPr/>
            </p:nvGrpSpPr>
            <p:grpSpPr>
              <a:xfrm>
                <a:off x="3005033" y="2314568"/>
                <a:ext cx="8486017" cy="2896532"/>
                <a:chOff x="3005033" y="2314568"/>
                <a:chExt cx="8486017" cy="2896532"/>
              </a:xfrm>
            </p:grpSpPr>
            <p:pic>
              <p:nvPicPr>
                <p:cNvPr id="8" name="그림 7">
                  <a:extLst>
                    <a:ext uri="{FF2B5EF4-FFF2-40B4-BE49-F238E27FC236}">
                      <a16:creationId xmlns:a16="http://schemas.microsoft.com/office/drawing/2014/main" id="{0987F68A-2683-3FD1-CBE9-D5BD2F59644B}"/>
                    </a:ext>
                  </a:extLst>
                </p:cNvPr>
                <p:cNvPicPr>
                  <a:picLocks noChangeAspect="1"/>
                </p:cNvPicPr>
                <p:nvPr/>
              </p:nvPicPr>
              <p:blipFill>
                <a:blip r:embed="rId3"/>
                <a:stretch>
                  <a:fillRect/>
                </a:stretch>
              </p:blipFill>
              <p:spPr>
                <a:xfrm>
                  <a:off x="3005033" y="2314568"/>
                  <a:ext cx="6244162" cy="2896532"/>
                </a:xfrm>
                <a:prstGeom prst="rect">
                  <a:avLst/>
                </a:prstGeom>
              </p:spPr>
            </p:pic>
            <p:sp>
              <p:nvSpPr>
                <p:cNvPr id="10" name="TextBox 9">
                  <a:extLst>
                    <a:ext uri="{FF2B5EF4-FFF2-40B4-BE49-F238E27FC236}">
                      <a16:creationId xmlns:a16="http://schemas.microsoft.com/office/drawing/2014/main" id="{ADBA2470-D48C-6968-D8EB-0A4877C07B9A}"/>
                    </a:ext>
                  </a:extLst>
                </p:cNvPr>
                <p:cNvSpPr txBox="1"/>
                <p:nvPr/>
              </p:nvSpPr>
              <p:spPr>
                <a:xfrm>
                  <a:off x="8936400" y="2618534"/>
                  <a:ext cx="2554650" cy="1938992"/>
                </a:xfrm>
                <a:prstGeom prst="rect">
                  <a:avLst/>
                </a:prstGeom>
                <a:noFill/>
                <a:ln>
                  <a:solidFill>
                    <a:schemeClr val="accent1"/>
                  </a:solidFill>
                </a:ln>
              </p:spPr>
              <p:txBody>
                <a:bodyPr wrap="square">
                  <a:spAutoFit/>
                </a:bodyPr>
                <a:lstStyle/>
                <a:p>
                  <a:r>
                    <a:rPr lang="en-US" altLang="ko-KR" sz="1000" b="1" dirty="0">
                      <a:solidFill>
                        <a:srgbClr val="FF0000"/>
                      </a:solidFill>
                    </a:rPr>
                    <a:t>The Law of Demeter (</a:t>
                  </a:r>
                  <a:r>
                    <a:rPr lang="en-US" altLang="ko-KR" sz="1000" b="1" dirty="0" err="1">
                      <a:solidFill>
                        <a:srgbClr val="FF0000"/>
                      </a:solidFill>
                    </a:rPr>
                    <a:t>LoD</a:t>
                  </a:r>
                  <a:r>
                    <a:rPr lang="en-US" altLang="ko-KR" sz="1000" b="1" dirty="0">
                      <a:solidFill>
                        <a:srgbClr val="FF0000"/>
                      </a:solidFill>
                    </a:rPr>
                    <a:t>)</a:t>
                  </a:r>
                  <a:r>
                    <a:rPr lang="en-US" altLang="ko-KR" sz="1000" b="1" dirty="0"/>
                    <a:t>, also known as the "Principle of Least Knowledge," is a software design principle that restricts how objects interact. It aims to reduce coupling between modules and classes, making code more maintainable, understandable, and extensible. In essence, an object should only interact with its "immediate friends" and not delve into the internal structure of other objects. </a:t>
                  </a:r>
                  <a:endParaRPr lang="ko-KR" altLang="en-US" sz="1000" b="1" dirty="0"/>
                </a:p>
              </p:txBody>
            </p:sp>
          </p:grpSp>
          <p:pic>
            <p:nvPicPr>
              <p:cNvPr id="14" name="그림 13">
                <a:extLst>
                  <a:ext uri="{FF2B5EF4-FFF2-40B4-BE49-F238E27FC236}">
                    <a16:creationId xmlns:a16="http://schemas.microsoft.com/office/drawing/2014/main" id="{C23339DE-D687-7D50-58F4-7EE04DBAD77A}"/>
                  </a:ext>
                </a:extLst>
              </p:cNvPr>
              <p:cNvPicPr>
                <a:picLocks noChangeAspect="1"/>
              </p:cNvPicPr>
              <p:nvPr/>
            </p:nvPicPr>
            <p:blipFill>
              <a:blip r:embed="rId4"/>
              <a:stretch>
                <a:fillRect/>
              </a:stretch>
            </p:blipFill>
            <p:spPr>
              <a:xfrm>
                <a:off x="763178" y="2052888"/>
                <a:ext cx="2597593" cy="3419892"/>
              </a:xfrm>
              <a:prstGeom prst="rect">
                <a:avLst/>
              </a:prstGeom>
              <a:ln>
                <a:solidFill>
                  <a:schemeClr val="accent1"/>
                </a:solidFill>
              </a:ln>
            </p:spPr>
          </p:pic>
        </p:grpSp>
        <p:pic>
          <p:nvPicPr>
            <p:cNvPr id="20" name="그림 19">
              <a:extLst>
                <a:ext uri="{FF2B5EF4-FFF2-40B4-BE49-F238E27FC236}">
                  <a16:creationId xmlns:a16="http://schemas.microsoft.com/office/drawing/2014/main" id="{DEA80C41-AFB8-D82C-4FDF-BA3B22543874}"/>
                </a:ext>
              </a:extLst>
            </p:cNvPr>
            <p:cNvPicPr>
              <a:picLocks noChangeAspect="1"/>
            </p:cNvPicPr>
            <p:nvPr/>
          </p:nvPicPr>
          <p:blipFill>
            <a:blip r:embed="rId5"/>
            <a:stretch>
              <a:fillRect/>
            </a:stretch>
          </p:blipFill>
          <p:spPr>
            <a:xfrm>
              <a:off x="4393208" y="5027553"/>
              <a:ext cx="3300412" cy="1402044"/>
            </a:xfrm>
            <a:prstGeom prst="rect">
              <a:avLst/>
            </a:prstGeom>
            <a:ln>
              <a:solidFill>
                <a:schemeClr val="accent1"/>
              </a:solidFill>
            </a:ln>
          </p:spPr>
        </p:pic>
      </p:grpSp>
    </p:spTree>
    <p:extLst>
      <p:ext uri="{BB962C8B-B14F-4D97-AF65-F5344CB8AC3E}">
        <p14:creationId xmlns:p14="http://schemas.microsoft.com/office/powerpoint/2010/main" val="1931043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09861-1D25-37B7-5824-4CAA17FAE50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C0BF6C2-F6A1-4C8E-83A0-5EEA3CCDEB51}"/>
              </a:ext>
            </a:extLst>
          </p:cNvPr>
          <p:cNvSpPr>
            <a:spLocks noGrp="1"/>
          </p:cNvSpPr>
          <p:nvPr>
            <p:ph type="title"/>
          </p:nvPr>
        </p:nvSpPr>
        <p:spPr>
          <a:xfrm>
            <a:off x="512400" y="297455"/>
            <a:ext cx="11167200" cy="383582"/>
          </a:xfrm>
        </p:spPr>
        <p:txBody>
          <a:bodyPr>
            <a:normAutofit fontScale="90000"/>
          </a:bodyPr>
          <a:lstStyle/>
          <a:p>
            <a:r>
              <a:rPr lang="en-US" altLang="ko-KR" sz="2800" b="1" dirty="0"/>
              <a:t>Code Metrics </a:t>
            </a:r>
            <a:endParaRPr lang="ko-KR" altLang="en-US" sz="2800" b="1" dirty="0"/>
          </a:p>
        </p:txBody>
      </p:sp>
      <p:sp>
        <p:nvSpPr>
          <p:cNvPr id="3" name="내용 개체 틀 2">
            <a:extLst>
              <a:ext uri="{FF2B5EF4-FFF2-40B4-BE49-F238E27FC236}">
                <a16:creationId xmlns:a16="http://schemas.microsoft.com/office/drawing/2014/main" id="{6847C347-4438-302A-CA04-0DAA2A06303C}"/>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Maintainability :</a:t>
            </a:r>
          </a:p>
          <a:p>
            <a:pPr lvl="1">
              <a:defRPr/>
            </a:pPr>
            <a:r>
              <a:rPr lang="ko-KR" altLang="en-US" sz="1400" b="1" dirty="0"/>
              <a:t>참고 </a:t>
            </a:r>
            <a:r>
              <a:rPr lang="en-US" altLang="ko-KR" sz="1400" b="1" dirty="0"/>
              <a:t>: Visual Studio Code Metric </a:t>
            </a:r>
            <a:r>
              <a:rPr lang="ko-KR" altLang="en-US" sz="1400" b="1" dirty="0"/>
              <a:t>에서</a:t>
            </a:r>
            <a:endParaRPr lang="en-US" altLang="ko-KR" sz="1400" b="1" dirty="0"/>
          </a:p>
          <a:p>
            <a:pPr lvl="2">
              <a:buFont typeface="Wingdings" panose="05000000000000000000" pitchFamily="2" charset="2"/>
              <a:buChar char="ü"/>
              <a:defRPr/>
            </a:pPr>
            <a:r>
              <a:rPr lang="en-US" altLang="ko-KR" sz="1400" b="1" dirty="0">
                <a:solidFill>
                  <a:srgbClr val="FF0000"/>
                </a:solidFill>
              </a:rPr>
              <a:t>Maintainability</a:t>
            </a:r>
            <a:r>
              <a:rPr lang="en-US" altLang="ko-KR" sz="1400" b="1" dirty="0"/>
              <a:t> Index </a:t>
            </a:r>
            <a:r>
              <a:rPr lang="ko-KR" altLang="en-US" sz="1400" b="1" dirty="0"/>
              <a:t>유지 관리 인덱스 </a:t>
            </a:r>
            <a:r>
              <a:rPr lang="en-US" altLang="ko-KR" sz="1400" dirty="0"/>
              <a:t>- </a:t>
            </a:r>
            <a:r>
              <a:rPr lang="ko-KR" altLang="en-US" sz="1400" b="1" dirty="0"/>
              <a:t>코드 유지 관리의 상대적 용이성을 나타내는 </a:t>
            </a:r>
            <a:r>
              <a:rPr lang="en-US" altLang="ko-KR" sz="1400" b="1" dirty="0"/>
              <a:t>0</a:t>
            </a:r>
            <a:r>
              <a:rPr lang="ko-KR" altLang="en-US" sz="1400" b="1" dirty="0"/>
              <a:t>에서 </a:t>
            </a:r>
            <a:r>
              <a:rPr lang="en-US" altLang="ko-KR" sz="1400" b="1" dirty="0"/>
              <a:t>100 </a:t>
            </a:r>
            <a:r>
              <a:rPr lang="ko-KR" altLang="en-US" sz="1400" b="1" dirty="0"/>
              <a:t>사이의 인덱스 값</a:t>
            </a:r>
            <a:r>
              <a:rPr lang="en-US" altLang="ko-KR" sz="1400" dirty="0"/>
              <a:t>. </a:t>
            </a:r>
            <a:r>
              <a:rPr lang="ko-KR" altLang="en-US" sz="1400" dirty="0"/>
              <a:t>값이 높을수록 유지 관리성이 향상됩니다</a:t>
            </a:r>
            <a:r>
              <a:rPr lang="en-US" altLang="ko-KR" sz="1400" dirty="0"/>
              <a:t>. </a:t>
            </a:r>
          </a:p>
          <a:p>
            <a:pPr lvl="2">
              <a:buFont typeface="Wingdings" panose="05000000000000000000" pitchFamily="2" charset="2"/>
              <a:buChar char="ü"/>
              <a:defRPr/>
            </a:pPr>
            <a:r>
              <a:rPr lang="en-US" altLang="ko-KR" sz="1400" b="1" dirty="0"/>
              <a:t>Cyclomatic </a:t>
            </a:r>
            <a:r>
              <a:rPr lang="en-US" altLang="ko-KR" sz="1400" b="1" dirty="0">
                <a:solidFill>
                  <a:srgbClr val="FF0000"/>
                </a:solidFill>
              </a:rPr>
              <a:t>Complexity</a:t>
            </a:r>
            <a:r>
              <a:rPr lang="en-US" altLang="ko-KR" sz="1400" b="1" dirty="0"/>
              <a:t> </a:t>
            </a:r>
            <a:r>
              <a:rPr lang="ko-KR" altLang="en-US" sz="1400" b="1" dirty="0"/>
              <a:t>순환 복잡도 </a:t>
            </a:r>
            <a:r>
              <a:rPr lang="en-US" altLang="ko-KR" sz="1400" dirty="0"/>
              <a:t>- </a:t>
            </a:r>
            <a:r>
              <a:rPr lang="ko-KR" altLang="en-US" sz="1400" b="1" dirty="0"/>
              <a:t>코드의 구조적 복잡성을 측정</a:t>
            </a:r>
            <a:r>
              <a:rPr lang="en-US" altLang="ko-KR" sz="1400" dirty="0"/>
              <a:t>. </a:t>
            </a:r>
            <a:r>
              <a:rPr lang="ko-KR" altLang="en-US" sz="1400" dirty="0"/>
              <a:t>프로그램 흐름에서 서로 다른 코드 경로의 수를 계산하여 생성</a:t>
            </a:r>
            <a:r>
              <a:rPr lang="en-US" altLang="ko-KR" sz="1400" dirty="0"/>
              <a:t>. </a:t>
            </a:r>
            <a:r>
              <a:rPr lang="ko-KR" altLang="en-US" sz="1400" dirty="0"/>
              <a:t>제어 흐름이 복잡한 프로그램은 좋은 코드 검사를 얻기 위해 더 많은 테스트가 필요하고 유지 관리가 어려움</a:t>
            </a:r>
            <a:r>
              <a:rPr lang="en-US" altLang="ko-KR" sz="1400" dirty="0"/>
              <a:t>.</a:t>
            </a:r>
          </a:p>
          <a:p>
            <a:pPr lvl="2">
              <a:buFont typeface="Wingdings" panose="05000000000000000000" pitchFamily="2" charset="2"/>
              <a:buChar char="ü"/>
              <a:defRPr/>
            </a:pPr>
            <a:r>
              <a:rPr lang="en-US" altLang="ko-KR" sz="1400" b="1" dirty="0"/>
              <a:t>Depth of Inheritance </a:t>
            </a:r>
            <a:r>
              <a:rPr lang="ko-KR" altLang="en-US" sz="1400" b="1" dirty="0"/>
              <a:t>상속 깊이 </a:t>
            </a:r>
            <a:r>
              <a:rPr lang="en-US" altLang="ko-KR" sz="1400" dirty="0"/>
              <a:t>- </a:t>
            </a:r>
            <a:r>
              <a:rPr lang="ko-KR" altLang="en-US" sz="1400" dirty="0"/>
              <a:t>기본 클래스까지 서로 상속되는 서로 다른 클래스의 수</a:t>
            </a:r>
            <a:r>
              <a:rPr lang="en-US" altLang="ko-KR" sz="1400" dirty="0"/>
              <a:t>. </a:t>
            </a:r>
            <a:r>
              <a:rPr lang="en-US" altLang="ko-KR" sz="1400" b="1" dirty="0"/>
              <a:t>Depth of Inheritance</a:t>
            </a:r>
            <a:r>
              <a:rPr lang="ko-KR" altLang="en-US" sz="1400" b="1" dirty="0"/>
              <a:t>는 기본 클래스의 변경이 상속된 클래스에 영향을 줄 수 있다는 점에서 클래스 결합과 유사</a:t>
            </a:r>
            <a:r>
              <a:rPr lang="en-US" altLang="ko-KR" sz="1400" dirty="0"/>
              <a:t>. </a:t>
            </a:r>
            <a:r>
              <a:rPr lang="ko-KR" altLang="en-US" sz="1400" dirty="0"/>
              <a:t>이 숫자가 높을수록 상속이 깊어지고 기본 클래스 수정으로 인해 호환성이 손상되는 변경이 발생할 가능성이 높아짐</a:t>
            </a:r>
            <a:r>
              <a:rPr lang="en-US" altLang="ko-KR" sz="1400" dirty="0"/>
              <a:t>. </a:t>
            </a:r>
          </a:p>
          <a:p>
            <a:pPr lvl="2">
              <a:buFont typeface="Wingdings" panose="05000000000000000000" pitchFamily="2" charset="2"/>
              <a:buChar char="ü"/>
              <a:defRPr/>
            </a:pPr>
            <a:r>
              <a:rPr lang="ko-KR" altLang="en-US" sz="1400" b="1" dirty="0"/>
              <a:t>클래스 </a:t>
            </a:r>
            <a:r>
              <a:rPr lang="ko-KR" altLang="en-US" sz="1400" b="1" dirty="0">
                <a:solidFill>
                  <a:srgbClr val="FF0000"/>
                </a:solidFill>
              </a:rPr>
              <a:t>커플링</a:t>
            </a:r>
            <a:r>
              <a:rPr lang="en-US" altLang="ko-KR" sz="1400" b="1" dirty="0">
                <a:solidFill>
                  <a:srgbClr val="FF0000"/>
                </a:solidFill>
              </a:rPr>
              <a:t>(Coupling)</a:t>
            </a:r>
            <a:r>
              <a:rPr lang="ko-KR" altLang="en-US" sz="1400" b="1" dirty="0"/>
              <a:t> </a:t>
            </a:r>
            <a:r>
              <a:rPr lang="en-US" altLang="ko-KR" sz="1400" dirty="0"/>
              <a:t>- </a:t>
            </a:r>
            <a:r>
              <a:rPr lang="ko-KR" altLang="en-US" sz="1400" dirty="0"/>
              <a:t>매개 변수</a:t>
            </a:r>
            <a:r>
              <a:rPr lang="en-US" altLang="ko-KR" sz="1400" dirty="0"/>
              <a:t>, </a:t>
            </a:r>
            <a:r>
              <a:rPr lang="ko-KR" altLang="en-US" sz="1400" dirty="0"/>
              <a:t>로컬 변수</a:t>
            </a:r>
            <a:r>
              <a:rPr lang="en-US" altLang="ko-KR" sz="1400" dirty="0"/>
              <a:t>, </a:t>
            </a:r>
            <a:r>
              <a:rPr lang="ko-KR" altLang="en-US" sz="1400" dirty="0"/>
              <a:t>반환 형식</a:t>
            </a:r>
            <a:r>
              <a:rPr lang="en-US" altLang="ko-KR" sz="1400" dirty="0"/>
              <a:t>, </a:t>
            </a:r>
            <a:r>
              <a:rPr lang="ko-KR" altLang="en-US" sz="1400" dirty="0"/>
              <a:t>메서드 호출</a:t>
            </a:r>
            <a:r>
              <a:rPr lang="en-US" altLang="ko-KR" sz="1400" dirty="0"/>
              <a:t>, </a:t>
            </a:r>
            <a:r>
              <a:rPr lang="ko-KR" altLang="en-US" sz="1400" dirty="0"/>
              <a:t>제네릭 또는 템플릿 인스턴스화</a:t>
            </a:r>
            <a:r>
              <a:rPr lang="en-US" altLang="ko-KR" sz="1400" dirty="0"/>
              <a:t>, </a:t>
            </a:r>
            <a:r>
              <a:rPr lang="ko-KR" altLang="en-US" sz="1400" dirty="0"/>
              <a:t>기본 클래스</a:t>
            </a:r>
            <a:r>
              <a:rPr lang="en-US" altLang="ko-KR" sz="1400" dirty="0"/>
              <a:t>, </a:t>
            </a:r>
            <a:r>
              <a:rPr lang="ko-KR" altLang="en-US" sz="1400" dirty="0"/>
              <a:t>인터페이스 구현</a:t>
            </a:r>
            <a:r>
              <a:rPr lang="en-US" altLang="ko-KR" sz="1400" dirty="0"/>
              <a:t>, </a:t>
            </a:r>
            <a:r>
              <a:rPr lang="ko-KR" altLang="en-US" sz="1400" dirty="0"/>
              <a:t>외부 형식에 정의된 필드 및 속성 </a:t>
            </a:r>
            <a:r>
              <a:rPr lang="ko-KR" altLang="en-US" sz="1400" dirty="0" err="1"/>
              <a:t>데코레이션을</a:t>
            </a:r>
            <a:r>
              <a:rPr lang="ko-KR" altLang="en-US" sz="1400" dirty="0"/>
              <a:t> 통해 고유한 클래스에 대한 커플링을 측정</a:t>
            </a:r>
            <a:r>
              <a:rPr lang="en-US" altLang="ko-KR" sz="1400" dirty="0"/>
              <a:t>. </a:t>
            </a:r>
            <a:r>
              <a:rPr lang="ko-KR" altLang="en-US" sz="1400" dirty="0"/>
              <a:t>좋은 소프트웨어 설계는 유형과 방법이 </a:t>
            </a:r>
            <a:r>
              <a:rPr lang="ko-KR" altLang="en-US" sz="1400" b="1" dirty="0"/>
              <a:t>높은 응집력과 낮은 결합</a:t>
            </a:r>
            <a:r>
              <a:rPr lang="ko-KR" altLang="en-US" sz="1400" dirty="0"/>
              <a:t>을 가짐</a:t>
            </a:r>
            <a:r>
              <a:rPr lang="en-US" altLang="ko-KR" sz="1400" dirty="0"/>
              <a:t>. </a:t>
            </a:r>
            <a:r>
              <a:rPr lang="ko-KR" altLang="en-US" sz="1400" dirty="0"/>
              <a:t>높은 결합은 다른 유형에 대한 많은 </a:t>
            </a:r>
            <a:r>
              <a:rPr lang="ko-KR" altLang="en-US" sz="1400" b="1" dirty="0"/>
              <a:t>상호 의존성으로 인해 재사용 및 유지 관리가 어려운 설계</a:t>
            </a:r>
            <a:r>
              <a:rPr lang="ko-KR" altLang="en-US" sz="1400" dirty="0"/>
              <a:t>를 나타냄</a:t>
            </a:r>
            <a:r>
              <a:rPr lang="en-US" altLang="ko-KR" sz="1400" dirty="0"/>
              <a:t>.</a:t>
            </a:r>
          </a:p>
        </p:txBody>
      </p:sp>
      <p:cxnSp>
        <p:nvCxnSpPr>
          <p:cNvPr id="4" name="직선 연결선 3">
            <a:extLst>
              <a:ext uri="{FF2B5EF4-FFF2-40B4-BE49-F238E27FC236}">
                <a16:creationId xmlns:a16="http://schemas.microsoft.com/office/drawing/2014/main" id="{525D0FC8-CE32-95E2-7978-3696CA940037}"/>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4CEF9788-E721-7E6A-C4E0-1CD8D78C5C9E}"/>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6FBA19E3-4DF1-B6F0-7574-EC203C59E2AB}"/>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20</a:t>
            </a:fld>
            <a:endParaRPr lang="ko-KR" altLang="en-US" dirty="0"/>
          </a:p>
        </p:txBody>
      </p:sp>
      <p:pic>
        <p:nvPicPr>
          <p:cNvPr id="7" name="그림 6">
            <a:extLst>
              <a:ext uri="{FF2B5EF4-FFF2-40B4-BE49-F238E27FC236}">
                <a16:creationId xmlns:a16="http://schemas.microsoft.com/office/drawing/2014/main" id="{D0108E0D-CA70-8648-8D05-E307978069B7}"/>
              </a:ext>
            </a:extLst>
          </p:cNvPr>
          <p:cNvPicPr>
            <a:picLocks noChangeAspect="1"/>
          </p:cNvPicPr>
          <p:nvPr/>
        </p:nvPicPr>
        <p:blipFill>
          <a:blip r:embed="rId2"/>
          <a:stretch>
            <a:fillRect/>
          </a:stretch>
        </p:blipFill>
        <p:spPr>
          <a:xfrm>
            <a:off x="9982200" y="270493"/>
            <a:ext cx="1697400" cy="390402"/>
          </a:xfrm>
          <a:prstGeom prst="rect">
            <a:avLst/>
          </a:prstGeom>
        </p:spPr>
      </p:pic>
      <p:grpSp>
        <p:nvGrpSpPr>
          <p:cNvPr id="19" name="그룹 18">
            <a:extLst>
              <a:ext uri="{FF2B5EF4-FFF2-40B4-BE49-F238E27FC236}">
                <a16:creationId xmlns:a16="http://schemas.microsoft.com/office/drawing/2014/main" id="{9106F4EB-27C6-D0D1-B9A3-DDA62126D911}"/>
              </a:ext>
            </a:extLst>
          </p:cNvPr>
          <p:cNvGrpSpPr/>
          <p:nvPr/>
        </p:nvGrpSpPr>
        <p:grpSpPr>
          <a:xfrm>
            <a:off x="2364094" y="3690382"/>
            <a:ext cx="7463812" cy="2739215"/>
            <a:chOff x="3048000" y="3195587"/>
            <a:chExt cx="8717325" cy="3160762"/>
          </a:xfrm>
        </p:grpSpPr>
        <p:grpSp>
          <p:nvGrpSpPr>
            <p:cNvPr id="20" name="그룹 19">
              <a:extLst>
                <a:ext uri="{FF2B5EF4-FFF2-40B4-BE49-F238E27FC236}">
                  <a16:creationId xmlns:a16="http://schemas.microsoft.com/office/drawing/2014/main" id="{EC0596ED-83B3-B146-8173-94628AA97917}"/>
                </a:ext>
              </a:extLst>
            </p:cNvPr>
            <p:cNvGrpSpPr/>
            <p:nvPr/>
          </p:nvGrpSpPr>
          <p:grpSpPr>
            <a:xfrm>
              <a:off x="3048000" y="3195587"/>
              <a:ext cx="6096000" cy="3160762"/>
              <a:chOff x="3048000" y="3149930"/>
              <a:chExt cx="6096000" cy="3160762"/>
            </a:xfrm>
          </p:grpSpPr>
          <p:grpSp>
            <p:nvGrpSpPr>
              <p:cNvPr id="22" name="그룹 21">
                <a:extLst>
                  <a:ext uri="{FF2B5EF4-FFF2-40B4-BE49-F238E27FC236}">
                    <a16:creationId xmlns:a16="http://schemas.microsoft.com/office/drawing/2014/main" id="{A3267636-EE88-2A2D-9CF9-3A609C8AA268}"/>
                  </a:ext>
                </a:extLst>
              </p:cNvPr>
              <p:cNvGrpSpPr/>
              <p:nvPr/>
            </p:nvGrpSpPr>
            <p:grpSpPr>
              <a:xfrm>
                <a:off x="3048000" y="3396151"/>
                <a:ext cx="6096000" cy="2914541"/>
                <a:chOff x="3048000" y="3396151"/>
                <a:chExt cx="6096000" cy="2914541"/>
              </a:xfrm>
            </p:grpSpPr>
            <p:pic>
              <p:nvPicPr>
                <p:cNvPr id="24" name="그림 23">
                  <a:extLst>
                    <a:ext uri="{FF2B5EF4-FFF2-40B4-BE49-F238E27FC236}">
                      <a16:creationId xmlns:a16="http://schemas.microsoft.com/office/drawing/2014/main" id="{21ABDECD-580C-FDC6-8580-516DC3B82DC4}"/>
                    </a:ext>
                  </a:extLst>
                </p:cNvPr>
                <p:cNvPicPr>
                  <a:picLocks noChangeAspect="1"/>
                </p:cNvPicPr>
                <p:nvPr/>
              </p:nvPicPr>
              <p:blipFill>
                <a:blip r:embed="rId3"/>
                <a:stretch>
                  <a:fillRect/>
                </a:stretch>
              </p:blipFill>
              <p:spPr>
                <a:xfrm>
                  <a:off x="3219450" y="3396151"/>
                  <a:ext cx="5753100" cy="2702443"/>
                </a:xfrm>
                <a:prstGeom prst="rect">
                  <a:avLst/>
                </a:prstGeom>
              </p:spPr>
            </p:pic>
            <p:sp>
              <p:nvSpPr>
                <p:cNvPr id="25" name="TextBox 24">
                  <a:extLst>
                    <a:ext uri="{FF2B5EF4-FFF2-40B4-BE49-F238E27FC236}">
                      <a16:creationId xmlns:a16="http://schemas.microsoft.com/office/drawing/2014/main" id="{539CC73E-DB35-FA21-D011-1CD3717876DF}"/>
                    </a:ext>
                  </a:extLst>
                </p:cNvPr>
                <p:cNvSpPr txBox="1"/>
                <p:nvPr/>
              </p:nvSpPr>
              <p:spPr>
                <a:xfrm>
                  <a:off x="3048000" y="6064471"/>
                  <a:ext cx="6096000" cy="246221"/>
                </a:xfrm>
                <a:prstGeom prst="rect">
                  <a:avLst/>
                </a:prstGeom>
                <a:noFill/>
              </p:spPr>
              <p:txBody>
                <a:bodyPr wrap="square">
                  <a:spAutoFit/>
                </a:bodyPr>
                <a:lstStyle/>
                <a:p>
                  <a:pPr algn="ctr"/>
                  <a:r>
                    <a:rPr lang="en-US" altLang="ko-KR" sz="1000" dirty="0">
                      <a:hlinkClick r:id="rId4"/>
                    </a:rPr>
                    <a:t>https://blog.naver.com/suresofttech/220973454340</a:t>
                  </a:r>
                  <a:r>
                    <a:rPr lang="en-US" altLang="ko-KR" sz="1000" dirty="0"/>
                    <a:t> </a:t>
                  </a:r>
                  <a:endParaRPr lang="ko-KR" altLang="en-US" sz="1000" dirty="0"/>
                </a:p>
              </p:txBody>
            </p:sp>
          </p:grpSp>
          <p:sp>
            <p:nvSpPr>
              <p:cNvPr id="23" name="TextBox 22">
                <a:extLst>
                  <a:ext uri="{FF2B5EF4-FFF2-40B4-BE49-F238E27FC236}">
                    <a16:creationId xmlns:a16="http://schemas.microsoft.com/office/drawing/2014/main" id="{4F279218-471F-3090-2760-6EB4283A4827}"/>
                  </a:ext>
                </a:extLst>
              </p:cNvPr>
              <p:cNvSpPr txBox="1"/>
              <p:nvPr/>
            </p:nvSpPr>
            <p:spPr>
              <a:xfrm>
                <a:off x="5351244" y="3149930"/>
                <a:ext cx="1489510" cy="246221"/>
              </a:xfrm>
              <a:prstGeom prst="rect">
                <a:avLst/>
              </a:prstGeom>
              <a:noFill/>
            </p:spPr>
            <p:txBody>
              <a:bodyPr wrap="none" rtlCol="0">
                <a:spAutoFit/>
              </a:bodyPr>
              <a:lstStyle/>
              <a:p>
                <a:pPr algn="ctr"/>
                <a:r>
                  <a:rPr lang="en-US" altLang="ko-KR" sz="1000" b="1" dirty="0"/>
                  <a:t>Code Metric Example</a:t>
                </a:r>
                <a:endParaRPr lang="ko-KR" altLang="en-US" sz="1000" b="1" dirty="0"/>
              </a:p>
            </p:txBody>
          </p:sp>
        </p:grpSp>
        <p:pic>
          <p:nvPicPr>
            <p:cNvPr id="21" name="그림 20">
              <a:extLst>
                <a:ext uri="{FF2B5EF4-FFF2-40B4-BE49-F238E27FC236}">
                  <a16:creationId xmlns:a16="http://schemas.microsoft.com/office/drawing/2014/main" id="{6F2A1743-6862-5800-6201-12D07D59D6DF}"/>
                </a:ext>
              </a:extLst>
            </p:cNvPr>
            <p:cNvPicPr>
              <a:picLocks noChangeAspect="1"/>
            </p:cNvPicPr>
            <p:nvPr/>
          </p:nvPicPr>
          <p:blipFill>
            <a:blip r:embed="rId5"/>
            <a:stretch>
              <a:fillRect/>
            </a:stretch>
          </p:blipFill>
          <p:spPr>
            <a:xfrm>
              <a:off x="9022125" y="3495580"/>
              <a:ext cx="2743200" cy="2581835"/>
            </a:xfrm>
            <a:prstGeom prst="rect">
              <a:avLst/>
            </a:prstGeom>
          </p:spPr>
        </p:pic>
      </p:grpSp>
    </p:spTree>
    <p:extLst>
      <p:ext uri="{BB962C8B-B14F-4D97-AF65-F5344CB8AC3E}">
        <p14:creationId xmlns:p14="http://schemas.microsoft.com/office/powerpoint/2010/main" val="323019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DE41A-B3AA-142D-7936-C3C9DE17ED5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0D9AF80-B55A-F065-EC75-69E32BDCD39B}"/>
              </a:ext>
            </a:extLst>
          </p:cNvPr>
          <p:cNvSpPr>
            <a:spLocks noGrp="1"/>
          </p:cNvSpPr>
          <p:nvPr>
            <p:ph type="title"/>
          </p:nvPr>
        </p:nvSpPr>
        <p:spPr>
          <a:xfrm>
            <a:off x="512400" y="297455"/>
            <a:ext cx="11167200" cy="383582"/>
          </a:xfrm>
        </p:spPr>
        <p:txBody>
          <a:bodyPr>
            <a:normAutofit fontScale="90000"/>
          </a:bodyPr>
          <a:lstStyle/>
          <a:p>
            <a:r>
              <a:rPr lang="en-US" altLang="ko-KR" sz="2800" b="1" dirty="0"/>
              <a:t>Appendix</a:t>
            </a:r>
            <a:endParaRPr lang="ko-KR" altLang="en-US" sz="2800" b="1" dirty="0"/>
          </a:p>
        </p:txBody>
      </p:sp>
      <p:sp>
        <p:nvSpPr>
          <p:cNvPr id="3" name="내용 개체 틀 2">
            <a:extLst>
              <a:ext uri="{FF2B5EF4-FFF2-40B4-BE49-F238E27FC236}">
                <a16:creationId xmlns:a16="http://schemas.microsoft.com/office/drawing/2014/main" id="{20BC4187-4381-E355-87E9-30F8A8848E7C}"/>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What is Coding? :</a:t>
            </a:r>
          </a:p>
          <a:p>
            <a:pPr lvl="1">
              <a:defRPr/>
            </a:pPr>
            <a:r>
              <a:rPr lang="en-US" altLang="ko-KR" sz="1400" b="1" dirty="0"/>
              <a:t>Coding is Testing - Test!!! Test!!! Test!!!</a:t>
            </a:r>
          </a:p>
        </p:txBody>
      </p:sp>
      <p:cxnSp>
        <p:nvCxnSpPr>
          <p:cNvPr id="4" name="직선 연결선 3">
            <a:extLst>
              <a:ext uri="{FF2B5EF4-FFF2-40B4-BE49-F238E27FC236}">
                <a16:creationId xmlns:a16="http://schemas.microsoft.com/office/drawing/2014/main" id="{582A8D07-A034-D76E-7A30-89378E7748FA}"/>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42FFBCB3-43F9-4C90-312B-27049FCEC6A7}"/>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0C29A84B-1622-5417-6444-8FB833266ED6}"/>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21</a:t>
            </a:fld>
            <a:endParaRPr lang="ko-KR" altLang="en-US" dirty="0"/>
          </a:p>
        </p:txBody>
      </p:sp>
      <p:sp>
        <p:nvSpPr>
          <p:cNvPr id="9" name="TextBox 8">
            <a:extLst>
              <a:ext uri="{FF2B5EF4-FFF2-40B4-BE49-F238E27FC236}">
                <a16:creationId xmlns:a16="http://schemas.microsoft.com/office/drawing/2014/main" id="{89B6ADF8-3FCB-6327-D080-A51861236BCB}"/>
              </a:ext>
            </a:extLst>
          </p:cNvPr>
          <p:cNvSpPr txBox="1"/>
          <p:nvPr/>
        </p:nvSpPr>
        <p:spPr>
          <a:xfrm>
            <a:off x="947738" y="5276722"/>
            <a:ext cx="10296524" cy="369332"/>
          </a:xfrm>
          <a:prstGeom prst="rect">
            <a:avLst/>
          </a:prstGeom>
          <a:noFill/>
        </p:spPr>
        <p:txBody>
          <a:bodyPr wrap="square">
            <a:spAutoFit/>
          </a:bodyPr>
          <a:lstStyle/>
          <a:p>
            <a:pPr algn="ctr"/>
            <a:r>
              <a:rPr lang="en-US" altLang="ko-KR" b="1" dirty="0"/>
              <a:t>- </a:t>
            </a:r>
            <a:r>
              <a:rPr lang="ko-KR" altLang="en-US" b="1" dirty="0"/>
              <a:t>천지 자연의 법칙은 광대하여 엉성한 듯 보이지만</a:t>
            </a:r>
            <a:r>
              <a:rPr lang="en-US" altLang="ko-KR" b="1" dirty="0"/>
              <a:t>, </a:t>
            </a:r>
            <a:r>
              <a:rPr lang="ko-KR" altLang="en-US" b="1" dirty="0"/>
              <a:t>악인에게 벌을 주는 일을 빠뜨리지 않는다</a:t>
            </a:r>
            <a:r>
              <a:rPr lang="en-US" altLang="ko-KR" b="1" dirty="0"/>
              <a:t>.-</a:t>
            </a:r>
            <a:endParaRPr lang="ko-KR" altLang="en-US" b="1" dirty="0"/>
          </a:p>
        </p:txBody>
      </p:sp>
      <p:grpSp>
        <p:nvGrpSpPr>
          <p:cNvPr id="12" name="그룹 11">
            <a:extLst>
              <a:ext uri="{FF2B5EF4-FFF2-40B4-BE49-F238E27FC236}">
                <a16:creationId xmlns:a16="http://schemas.microsoft.com/office/drawing/2014/main" id="{70E3406D-1E86-A251-D33B-50EB305184C9}"/>
              </a:ext>
            </a:extLst>
          </p:cNvPr>
          <p:cNvGrpSpPr/>
          <p:nvPr/>
        </p:nvGrpSpPr>
        <p:grpSpPr>
          <a:xfrm>
            <a:off x="3657600" y="1843087"/>
            <a:ext cx="4876800" cy="2867025"/>
            <a:chOff x="3657600" y="1995487"/>
            <a:chExt cx="4876800" cy="2867025"/>
          </a:xfrm>
        </p:grpSpPr>
        <p:pic>
          <p:nvPicPr>
            <p:cNvPr id="7" name="그림 6">
              <a:extLst>
                <a:ext uri="{FF2B5EF4-FFF2-40B4-BE49-F238E27FC236}">
                  <a16:creationId xmlns:a16="http://schemas.microsoft.com/office/drawing/2014/main" id="{D23023E4-3CCA-8B62-84B4-73CD4D319CD9}"/>
                </a:ext>
              </a:extLst>
            </p:cNvPr>
            <p:cNvPicPr>
              <a:picLocks noChangeAspect="1"/>
            </p:cNvPicPr>
            <p:nvPr/>
          </p:nvPicPr>
          <p:blipFill>
            <a:blip r:embed="rId2"/>
            <a:stretch>
              <a:fillRect/>
            </a:stretch>
          </p:blipFill>
          <p:spPr>
            <a:xfrm>
              <a:off x="3657600" y="1995487"/>
              <a:ext cx="4876800" cy="2867025"/>
            </a:xfrm>
            <a:prstGeom prst="rect">
              <a:avLst/>
            </a:prstGeom>
          </p:spPr>
        </p:pic>
        <p:sp>
          <p:nvSpPr>
            <p:cNvPr id="10" name="TextBox 9">
              <a:extLst>
                <a:ext uri="{FF2B5EF4-FFF2-40B4-BE49-F238E27FC236}">
                  <a16:creationId xmlns:a16="http://schemas.microsoft.com/office/drawing/2014/main" id="{C0063760-D2E5-878F-65E0-2B85067632CF}"/>
                </a:ext>
              </a:extLst>
            </p:cNvPr>
            <p:cNvSpPr txBox="1"/>
            <p:nvPr/>
          </p:nvSpPr>
          <p:spPr>
            <a:xfrm>
              <a:off x="4508987" y="3190686"/>
              <a:ext cx="3478837" cy="369332"/>
            </a:xfrm>
            <a:prstGeom prst="rect">
              <a:avLst/>
            </a:prstGeom>
            <a:noFill/>
          </p:spPr>
          <p:txBody>
            <a:bodyPr wrap="none" rtlCol="0">
              <a:spAutoFit/>
            </a:bodyPr>
            <a:lstStyle/>
            <a:p>
              <a:pPr algn="ctr"/>
              <a:r>
                <a:rPr lang="ko-KR" altLang="en-US" dirty="0"/>
                <a:t>천         망          회          </a:t>
              </a:r>
              <a:r>
                <a:rPr lang="ko-KR" altLang="en-US" dirty="0" err="1"/>
                <a:t>회</a:t>
              </a:r>
              <a:endParaRPr lang="en-US" altLang="ko-KR" dirty="0"/>
            </a:p>
          </p:txBody>
        </p:sp>
        <p:sp>
          <p:nvSpPr>
            <p:cNvPr id="11" name="TextBox 10">
              <a:extLst>
                <a:ext uri="{FF2B5EF4-FFF2-40B4-BE49-F238E27FC236}">
                  <a16:creationId xmlns:a16="http://schemas.microsoft.com/office/drawing/2014/main" id="{BB36653D-01BE-4A2A-4D4A-DD545DE2BED2}"/>
                </a:ext>
              </a:extLst>
            </p:cNvPr>
            <p:cNvSpPr txBox="1"/>
            <p:nvPr/>
          </p:nvSpPr>
          <p:spPr>
            <a:xfrm>
              <a:off x="4549862" y="4454453"/>
              <a:ext cx="3397084" cy="369332"/>
            </a:xfrm>
            <a:prstGeom prst="rect">
              <a:avLst/>
            </a:prstGeom>
            <a:noFill/>
          </p:spPr>
          <p:txBody>
            <a:bodyPr wrap="none" rtlCol="0">
              <a:spAutoFit/>
            </a:bodyPr>
            <a:lstStyle/>
            <a:p>
              <a:pPr algn="ctr"/>
              <a:r>
                <a:rPr lang="ko-KR" altLang="en-US" dirty="0"/>
                <a:t>소         이          불         실</a:t>
              </a:r>
              <a:endParaRPr lang="en-US" altLang="ko-KR" dirty="0"/>
            </a:p>
          </p:txBody>
        </p:sp>
      </p:grpSp>
      <p:pic>
        <p:nvPicPr>
          <p:cNvPr id="13" name="그림 12">
            <a:extLst>
              <a:ext uri="{FF2B5EF4-FFF2-40B4-BE49-F238E27FC236}">
                <a16:creationId xmlns:a16="http://schemas.microsoft.com/office/drawing/2014/main" id="{60813795-890F-ECE0-0BD0-56DF414A5895}"/>
              </a:ext>
            </a:extLst>
          </p:cNvPr>
          <p:cNvPicPr>
            <a:picLocks noChangeAspect="1"/>
          </p:cNvPicPr>
          <p:nvPr/>
        </p:nvPicPr>
        <p:blipFill>
          <a:blip r:embed="rId3"/>
          <a:stretch>
            <a:fillRect/>
          </a:stretch>
        </p:blipFill>
        <p:spPr>
          <a:xfrm>
            <a:off x="9982200" y="270493"/>
            <a:ext cx="1697400" cy="390402"/>
          </a:xfrm>
          <a:prstGeom prst="rect">
            <a:avLst/>
          </a:prstGeom>
        </p:spPr>
      </p:pic>
    </p:spTree>
    <p:extLst>
      <p:ext uri="{BB962C8B-B14F-4D97-AF65-F5344CB8AC3E}">
        <p14:creationId xmlns:p14="http://schemas.microsoft.com/office/powerpoint/2010/main" val="3430533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B894-1861-9175-0807-6EF3A35984C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F9830B5-881C-9C96-3955-2D8CB232268A}"/>
              </a:ext>
            </a:extLst>
          </p:cNvPr>
          <p:cNvSpPr>
            <a:spLocks noGrp="1"/>
          </p:cNvSpPr>
          <p:nvPr>
            <p:ph type="title"/>
          </p:nvPr>
        </p:nvSpPr>
        <p:spPr>
          <a:xfrm>
            <a:off x="512400" y="297455"/>
            <a:ext cx="111672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EC5616D7-45EA-1525-9DEA-4C788FA8F62E}"/>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Books :</a:t>
            </a:r>
          </a:p>
        </p:txBody>
      </p:sp>
      <p:cxnSp>
        <p:nvCxnSpPr>
          <p:cNvPr id="4" name="직선 연결선 3">
            <a:extLst>
              <a:ext uri="{FF2B5EF4-FFF2-40B4-BE49-F238E27FC236}">
                <a16:creationId xmlns:a16="http://schemas.microsoft.com/office/drawing/2014/main" id="{7E15B57F-16CB-4E50-2320-BC8A09B7D887}"/>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1F5A9D60-2A2A-9668-9729-9F61518A374E}"/>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2025-09-18</a:t>
            </a:fld>
            <a:endParaRPr lang="ko-KR" altLang="en-US" dirty="0"/>
          </a:p>
        </p:txBody>
      </p:sp>
      <p:sp>
        <p:nvSpPr>
          <p:cNvPr id="6" name="슬라이드 번호 개체 틀 5">
            <a:extLst>
              <a:ext uri="{FF2B5EF4-FFF2-40B4-BE49-F238E27FC236}">
                <a16:creationId xmlns:a16="http://schemas.microsoft.com/office/drawing/2014/main" id="{15E15C7F-F599-BEBC-0BBD-C8DA7C5E16DC}"/>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22</a:t>
            </a:fld>
            <a:endParaRPr lang="ko-KR" altLang="en-US" dirty="0"/>
          </a:p>
        </p:txBody>
      </p:sp>
      <p:pic>
        <p:nvPicPr>
          <p:cNvPr id="7" name="그림 6">
            <a:extLst>
              <a:ext uri="{FF2B5EF4-FFF2-40B4-BE49-F238E27FC236}">
                <a16:creationId xmlns:a16="http://schemas.microsoft.com/office/drawing/2014/main" id="{4D3AABA4-9D58-841F-F995-33BC23DAA2AC}"/>
              </a:ext>
            </a:extLst>
          </p:cNvPr>
          <p:cNvPicPr>
            <a:picLocks noChangeAspect="1"/>
          </p:cNvPicPr>
          <p:nvPr/>
        </p:nvPicPr>
        <p:blipFill>
          <a:blip r:embed="rId2"/>
          <a:stretch>
            <a:fillRect/>
          </a:stretch>
        </p:blipFill>
        <p:spPr>
          <a:xfrm>
            <a:off x="9982200" y="270493"/>
            <a:ext cx="1697400" cy="390402"/>
          </a:xfrm>
          <a:prstGeom prst="rect">
            <a:avLst/>
          </a:prstGeom>
        </p:spPr>
      </p:pic>
      <p:grpSp>
        <p:nvGrpSpPr>
          <p:cNvPr id="17" name="그룹 16">
            <a:extLst>
              <a:ext uri="{FF2B5EF4-FFF2-40B4-BE49-F238E27FC236}">
                <a16:creationId xmlns:a16="http://schemas.microsoft.com/office/drawing/2014/main" id="{AF641373-E5CE-1316-A98E-501BEE462F72}"/>
              </a:ext>
            </a:extLst>
          </p:cNvPr>
          <p:cNvGrpSpPr/>
          <p:nvPr/>
        </p:nvGrpSpPr>
        <p:grpSpPr>
          <a:xfrm>
            <a:off x="2685075" y="1621444"/>
            <a:ext cx="6821850" cy="4142722"/>
            <a:chOff x="1122000" y="1426306"/>
            <a:chExt cx="6821850" cy="4142722"/>
          </a:xfrm>
        </p:grpSpPr>
        <p:grpSp>
          <p:nvGrpSpPr>
            <p:cNvPr id="15" name="그룹 14">
              <a:extLst>
                <a:ext uri="{FF2B5EF4-FFF2-40B4-BE49-F238E27FC236}">
                  <a16:creationId xmlns:a16="http://schemas.microsoft.com/office/drawing/2014/main" id="{CB862A5C-C328-9585-1288-8881AF11EAE9}"/>
                </a:ext>
              </a:extLst>
            </p:cNvPr>
            <p:cNvGrpSpPr/>
            <p:nvPr/>
          </p:nvGrpSpPr>
          <p:grpSpPr>
            <a:xfrm>
              <a:off x="1122000" y="1426306"/>
              <a:ext cx="6821850" cy="2002694"/>
              <a:chOff x="1122000" y="1426306"/>
              <a:chExt cx="9804712" cy="2761346"/>
            </a:xfrm>
          </p:grpSpPr>
          <p:pic>
            <p:nvPicPr>
              <p:cNvPr id="8" name="그림 7">
                <a:extLst>
                  <a:ext uri="{FF2B5EF4-FFF2-40B4-BE49-F238E27FC236}">
                    <a16:creationId xmlns:a16="http://schemas.microsoft.com/office/drawing/2014/main" id="{FC23FD9F-7053-12A3-6D77-AC44EADC7E19}"/>
                  </a:ext>
                </a:extLst>
              </p:cNvPr>
              <p:cNvPicPr>
                <a:picLocks noChangeAspect="1"/>
              </p:cNvPicPr>
              <p:nvPr/>
            </p:nvPicPr>
            <p:blipFill>
              <a:blip r:embed="rId3"/>
              <a:stretch>
                <a:fillRect/>
              </a:stretch>
            </p:blipFill>
            <p:spPr>
              <a:xfrm>
                <a:off x="1122000" y="1426307"/>
                <a:ext cx="2200275" cy="2761345"/>
              </a:xfrm>
              <a:prstGeom prst="rect">
                <a:avLst/>
              </a:prstGeom>
              <a:ln>
                <a:solidFill>
                  <a:schemeClr val="accent1"/>
                </a:solidFill>
              </a:ln>
            </p:spPr>
          </p:pic>
          <p:pic>
            <p:nvPicPr>
              <p:cNvPr id="9" name="그림 8">
                <a:extLst>
                  <a:ext uri="{FF2B5EF4-FFF2-40B4-BE49-F238E27FC236}">
                    <a16:creationId xmlns:a16="http://schemas.microsoft.com/office/drawing/2014/main" id="{DB1FE1E2-B856-474E-8A94-C1166CDB6236}"/>
                  </a:ext>
                </a:extLst>
              </p:cNvPr>
              <p:cNvPicPr>
                <a:picLocks noChangeAspect="1"/>
              </p:cNvPicPr>
              <p:nvPr/>
            </p:nvPicPr>
            <p:blipFill>
              <a:blip r:embed="rId4"/>
              <a:stretch>
                <a:fillRect/>
              </a:stretch>
            </p:blipFill>
            <p:spPr>
              <a:xfrm>
                <a:off x="3780120" y="1426306"/>
                <a:ext cx="2026757" cy="2761345"/>
              </a:xfrm>
              <a:prstGeom prst="rect">
                <a:avLst/>
              </a:prstGeom>
              <a:ln>
                <a:solidFill>
                  <a:schemeClr val="accent1"/>
                </a:solidFill>
              </a:ln>
            </p:spPr>
          </p:pic>
          <p:pic>
            <p:nvPicPr>
              <p:cNvPr id="10" name="그림 9">
                <a:extLst>
                  <a:ext uri="{FF2B5EF4-FFF2-40B4-BE49-F238E27FC236}">
                    <a16:creationId xmlns:a16="http://schemas.microsoft.com/office/drawing/2014/main" id="{139B5E77-7079-05F6-9266-D3F759756CD7}"/>
                  </a:ext>
                </a:extLst>
              </p:cNvPr>
              <p:cNvPicPr>
                <a:picLocks noChangeAspect="1"/>
              </p:cNvPicPr>
              <p:nvPr/>
            </p:nvPicPr>
            <p:blipFill>
              <a:blip r:embed="rId5"/>
              <a:stretch>
                <a:fillRect/>
              </a:stretch>
            </p:blipFill>
            <p:spPr>
              <a:xfrm>
                <a:off x="6264721" y="1426306"/>
                <a:ext cx="2133139" cy="2761345"/>
              </a:xfrm>
              <a:prstGeom prst="rect">
                <a:avLst/>
              </a:prstGeom>
              <a:ln>
                <a:solidFill>
                  <a:schemeClr val="accent1"/>
                </a:solidFill>
              </a:ln>
            </p:spPr>
          </p:pic>
          <p:pic>
            <p:nvPicPr>
              <p:cNvPr id="11" name="그림 10">
                <a:extLst>
                  <a:ext uri="{FF2B5EF4-FFF2-40B4-BE49-F238E27FC236}">
                    <a16:creationId xmlns:a16="http://schemas.microsoft.com/office/drawing/2014/main" id="{FA5636F9-9BB3-A237-B2E4-68F21AFBB965}"/>
                  </a:ext>
                </a:extLst>
              </p:cNvPr>
              <p:cNvPicPr>
                <a:picLocks noChangeAspect="1"/>
              </p:cNvPicPr>
              <p:nvPr/>
            </p:nvPicPr>
            <p:blipFill>
              <a:blip r:embed="rId6"/>
              <a:stretch>
                <a:fillRect/>
              </a:stretch>
            </p:blipFill>
            <p:spPr>
              <a:xfrm>
                <a:off x="8855704" y="1426306"/>
                <a:ext cx="2071008" cy="2761344"/>
              </a:xfrm>
              <a:prstGeom prst="rect">
                <a:avLst/>
              </a:prstGeom>
              <a:ln>
                <a:solidFill>
                  <a:schemeClr val="accent1"/>
                </a:solidFill>
              </a:ln>
            </p:spPr>
          </p:pic>
        </p:grpSp>
        <p:pic>
          <p:nvPicPr>
            <p:cNvPr id="12" name="그림 11">
              <a:extLst>
                <a:ext uri="{FF2B5EF4-FFF2-40B4-BE49-F238E27FC236}">
                  <a16:creationId xmlns:a16="http://schemas.microsoft.com/office/drawing/2014/main" id="{147978EB-BEDF-450E-CD06-499D952C7782}"/>
                </a:ext>
              </a:extLst>
            </p:cNvPr>
            <p:cNvPicPr>
              <a:picLocks noChangeAspect="1"/>
            </p:cNvPicPr>
            <p:nvPr/>
          </p:nvPicPr>
          <p:blipFill>
            <a:blip r:embed="rId7"/>
            <a:stretch>
              <a:fillRect/>
            </a:stretch>
          </p:blipFill>
          <p:spPr>
            <a:xfrm>
              <a:off x="6502899" y="3653743"/>
              <a:ext cx="1440951" cy="1915285"/>
            </a:xfrm>
            <a:prstGeom prst="rect">
              <a:avLst/>
            </a:prstGeom>
            <a:ln>
              <a:solidFill>
                <a:schemeClr val="accent1"/>
              </a:solidFill>
            </a:ln>
          </p:spPr>
        </p:pic>
        <p:pic>
          <p:nvPicPr>
            <p:cNvPr id="13" name="그림 12">
              <a:extLst>
                <a:ext uri="{FF2B5EF4-FFF2-40B4-BE49-F238E27FC236}">
                  <a16:creationId xmlns:a16="http://schemas.microsoft.com/office/drawing/2014/main" id="{FA365954-3483-8279-4052-019B9D3E2C1A}"/>
                </a:ext>
              </a:extLst>
            </p:cNvPr>
            <p:cNvPicPr>
              <a:picLocks noChangeAspect="1"/>
            </p:cNvPicPr>
            <p:nvPr/>
          </p:nvPicPr>
          <p:blipFill>
            <a:blip r:embed="rId8"/>
            <a:stretch>
              <a:fillRect/>
            </a:stretch>
          </p:blipFill>
          <p:spPr>
            <a:xfrm>
              <a:off x="1122000" y="3653742"/>
              <a:ext cx="1530891" cy="1915286"/>
            </a:xfrm>
            <a:prstGeom prst="rect">
              <a:avLst/>
            </a:prstGeom>
            <a:ln>
              <a:solidFill>
                <a:schemeClr val="accent1"/>
              </a:solidFill>
            </a:ln>
          </p:spPr>
        </p:pic>
        <p:pic>
          <p:nvPicPr>
            <p:cNvPr id="14" name="그림 13">
              <a:extLst>
                <a:ext uri="{FF2B5EF4-FFF2-40B4-BE49-F238E27FC236}">
                  <a16:creationId xmlns:a16="http://schemas.microsoft.com/office/drawing/2014/main" id="{A0837FB2-FAAC-E2CF-B1BE-AEB30C125620}"/>
                </a:ext>
              </a:extLst>
            </p:cNvPr>
            <p:cNvPicPr>
              <a:picLocks noChangeAspect="1"/>
            </p:cNvPicPr>
            <p:nvPr/>
          </p:nvPicPr>
          <p:blipFill>
            <a:blip r:embed="rId9"/>
            <a:stretch>
              <a:fillRect/>
            </a:stretch>
          </p:blipFill>
          <p:spPr>
            <a:xfrm>
              <a:off x="2971448" y="3653743"/>
              <a:ext cx="1410161" cy="1915285"/>
            </a:xfrm>
            <a:prstGeom prst="rect">
              <a:avLst/>
            </a:prstGeom>
            <a:ln>
              <a:solidFill>
                <a:schemeClr val="accent1"/>
              </a:solidFill>
            </a:ln>
          </p:spPr>
        </p:pic>
        <p:pic>
          <p:nvPicPr>
            <p:cNvPr id="16" name="그림 15">
              <a:extLst>
                <a:ext uri="{FF2B5EF4-FFF2-40B4-BE49-F238E27FC236}">
                  <a16:creationId xmlns:a16="http://schemas.microsoft.com/office/drawing/2014/main" id="{50F477AE-0F8A-DDFE-265F-EDA9D42A507A}"/>
                </a:ext>
              </a:extLst>
            </p:cNvPr>
            <p:cNvPicPr>
              <a:picLocks noChangeAspect="1"/>
            </p:cNvPicPr>
            <p:nvPr/>
          </p:nvPicPr>
          <p:blipFill>
            <a:blip r:embed="rId10"/>
            <a:stretch>
              <a:fillRect/>
            </a:stretch>
          </p:blipFill>
          <p:spPr>
            <a:xfrm>
              <a:off x="4700164" y="3653743"/>
              <a:ext cx="1484180" cy="1915285"/>
            </a:xfrm>
            <a:prstGeom prst="rect">
              <a:avLst/>
            </a:prstGeom>
            <a:ln>
              <a:solidFill>
                <a:schemeClr val="accent1"/>
              </a:solidFill>
            </a:ln>
          </p:spPr>
        </p:pic>
      </p:grpSp>
    </p:spTree>
    <p:extLst>
      <p:ext uri="{BB962C8B-B14F-4D97-AF65-F5344CB8AC3E}">
        <p14:creationId xmlns:p14="http://schemas.microsoft.com/office/powerpoint/2010/main" val="8220497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28BC8-6962-DA91-61E9-06C5021C807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E138C59-FEA5-372A-B7AB-E97F54ED559F}"/>
              </a:ext>
            </a:extLst>
          </p:cNvPr>
          <p:cNvSpPr>
            <a:spLocks noGrp="1"/>
          </p:cNvSpPr>
          <p:nvPr>
            <p:ph type="title"/>
          </p:nvPr>
        </p:nvSpPr>
        <p:spPr>
          <a:xfrm>
            <a:off x="576000" y="286837"/>
            <a:ext cx="11116800" cy="383582"/>
          </a:xfrm>
        </p:spPr>
        <p:txBody>
          <a:bodyPr>
            <a:normAutofit fontScale="90000"/>
          </a:bodyPr>
          <a:lstStyle/>
          <a:p>
            <a:r>
              <a:rPr lang="en-US" altLang="ko-KR" sz="2800" b="1" dirty="0"/>
              <a:t>? &amp; !</a:t>
            </a:r>
            <a:endParaRPr lang="ko-KR" altLang="en-US" sz="2800" b="1" dirty="0"/>
          </a:p>
        </p:txBody>
      </p:sp>
      <p:cxnSp>
        <p:nvCxnSpPr>
          <p:cNvPr id="4" name="직선 연결선 3">
            <a:extLst>
              <a:ext uri="{FF2B5EF4-FFF2-40B4-BE49-F238E27FC236}">
                <a16:creationId xmlns:a16="http://schemas.microsoft.com/office/drawing/2014/main" id="{134243DC-9192-CCC5-EE57-C7F491882479}"/>
              </a:ext>
            </a:extLst>
          </p:cNvPr>
          <p:cNvCxnSpPr>
            <a:cxnSpLocks/>
          </p:cNvCxnSpPr>
          <p:nvPr/>
        </p:nvCxnSpPr>
        <p:spPr>
          <a:xfrm>
            <a:off x="576000" y="681037"/>
            <a:ext cx="11116800" cy="0"/>
          </a:xfrm>
          <a:prstGeom prst="line">
            <a:avLst/>
          </a:prstGeom>
          <a:ln w="57150" cmpd="thickThin">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8EF9C826-2E3D-2BA0-5F61-6912FA1E8D19}"/>
              </a:ext>
            </a:extLst>
          </p:cNvPr>
          <p:cNvSpPr>
            <a:spLocks noGrp="1"/>
          </p:cNvSpPr>
          <p:nvPr>
            <p:ph type="dt" sz="half" idx="10"/>
          </p:nvPr>
        </p:nvSpPr>
        <p:spPr/>
        <p:txBody>
          <a:bodyPr/>
          <a:lstStyle/>
          <a:p>
            <a:fld id="{E12F61BD-E8E0-4F20-AF0D-9650D3B62EAC}" type="datetime1">
              <a:rPr lang="ko-KR" altLang="en-US" smtClean="0"/>
              <a:t>2025-09-18</a:t>
            </a:fld>
            <a:endParaRPr lang="ko-KR" altLang="en-US"/>
          </a:p>
        </p:txBody>
      </p:sp>
      <p:sp>
        <p:nvSpPr>
          <p:cNvPr id="6" name="슬라이드 번호 개체 틀 5">
            <a:extLst>
              <a:ext uri="{FF2B5EF4-FFF2-40B4-BE49-F238E27FC236}">
                <a16:creationId xmlns:a16="http://schemas.microsoft.com/office/drawing/2014/main" id="{BF401F11-6CB8-B59D-0121-35F455120D12}"/>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grpSp>
        <p:nvGrpSpPr>
          <p:cNvPr id="8" name="그룹 7">
            <a:extLst>
              <a:ext uri="{FF2B5EF4-FFF2-40B4-BE49-F238E27FC236}">
                <a16:creationId xmlns:a16="http://schemas.microsoft.com/office/drawing/2014/main" id="{6BC0B383-5CF2-6B87-BB95-3A411A16DE48}"/>
              </a:ext>
            </a:extLst>
          </p:cNvPr>
          <p:cNvGrpSpPr/>
          <p:nvPr/>
        </p:nvGrpSpPr>
        <p:grpSpPr>
          <a:xfrm>
            <a:off x="4191000" y="1524000"/>
            <a:ext cx="3810000" cy="4218870"/>
            <a:chOff x="4191000" y="1524000"/>
            <a:chExt cx="3810000" cy="4218870"/>
          </a:xfrm>
        </p:grpSpPr>
        <p:pic>
          <p:nvPicPr>
            <p:cNvPr id="3" name="그림 2">
              <a:extLst>
                <a:ext uri="{FF2B5EF4-FFF2-40B4-BE49-F238E27FC236}">
                  <a16:creationId xmlns:a16="http://schemas.microsoft.com/office/drawing/2014/main" id="{2550AED2-D6B5-BC88-1A9C-E1CA9BA34672}"/>
                </a:ext>
              </a:extLst>
            </p:cNvPr>
            <p:cNvPicPr>
              <a:picLocks noChangeAspect="1"/>
            </p:cNvPicPr>
            <p:nvPr/>
          </p:nvPicPr>
          <p:blipFill>
            <a:blip r:embed="rId2"/>
            <a:stretch>
              <a:fillRect/>
            </a:stretch>
          </p:blipFill>
          <p:spPr>
            <a:xfrm>
              <a:off x="4191000" y="1524000"/>
              <a:ext cx="3810000" cy="3810000"/>
            </a:xfrm>
            <a:prstGeom prst="rect">
              <a:avLst/>
            </a:prstGeom>
          </p:spPr>
        </p:pic>
        <p:sp>
          <p:nvSpPr>
            <p:cNvPr id="7" name="TextBox 6">
              <a:extLst>
                <a:ext uri="{FF2B5EF4-FFF2-40B4-BE49-F238E27FC236}">
                  <a16:creationId xmlns:a16="http://schemas.microsoft.com/office/drawing/2014/main" id="{34E51426-F7E4-F0BD-7358-B2BE3FE9308D}"/>
                </a:ext>
              </a:extLst>
            </p:cNvPr>
            <p:cNvSpPr txBox="1"/>
            <p:nvPr/>
          </p:nvSpPr>
          <p:spPr>
            <a:xfrm>
              <a:off x="5004995" y="5096539"/>
              <a:ext cx="2182009" cy="646331"/>
            </a:xfrm>
            <a:prstGeom prst="rect">
              <a:avLst/>
            </a:prstGeom>
            <a:noFill/>
          </p:spPr>
          <p:txBody>
            <a:bodyPr wrap="none" rtlCol="0">
              <a:spAutoFit/>
            </a:bodyPr>
            <a:lstStyle/>
            <a:p>
              <a:pPr algn="ctr"/>
              <a:r>
                <a:rPr lang="en-US" altLang="ko-KR" sz="3600" b="1" dirty="0"/>
                <a:t>Thanks!!!</a:t>
              </a:r>
              <a:endParaRPr lang="ko-KR" altLang="en-US" sz="3600" b="1" dirty="0"/>
            </a:p>
          </p:txBody>
        </p:sp>
      </p:grpSp>
    </p:spTree>
    <p:extLst>
      <p:ext uri="{BB962C8B-B14F-4D97-AF65-F5344CB8AC3E}">
        <p14:creationId xmlns:p14="http://schemas.microsoft.com/office/powerpoint/2010/main" val="4015953913"/>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a:spAutoFit/>
      </a:bodyPr>
      <a:lstStyle>
        <a:defPPr algn="ct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68481</TotalTime>
  <Words>2345</Words>
  <Application>Microsoft Office PowerPoint</Application>
  <PresentationFormat>와이드스크린</PresentationFormat>
  <Paragraphs>209</Paragraphs>
  <Slides>23</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23</vt:i4>
      </vt:variant>
    </vt:vector>
  </HeadingPairs>
  <TitlesOfParts>
    <vt:vector size="27" baseType="lpstr">
      <vt:lpstr>맑은 고딕</vt:lpstr>
      <vt:lpstr>Arial</vt:lpstr>
      <vt:lpstr>Wingdings</vt:lpstr>
      <vt:lpstr>Office 테마</vt:lpstr>
      <vt:lpstr>Making a Good Software with AI</vt:lpstr>
      <vt:lpstr>The Software Development Team Capability</vt:lpstr>
      <vt:lpstr>What is a Good Software?(1/3)</vt:lpstr>
      <vt:lpstr>What is a Good Software?(2/3)</vt:lpstr>
      <vt:lpstr>What is a Good Software?(3/3)</vt:lpstr>
      <vt:lpstr>Refactoring</vt:lpstr>
      <vt:lpstr>TDD(Test-Driven Development)</vt:lpstr>
      <vt:lpstr>Left Shift Test Strategy</vt:lpstr>
      <vt:lpstr>Technical Debt</vt:lpstr>
      <vt:lpstr>Software Project Survival Guide</vt:lpstr>
      <vt:lpstr>Breaktime</vt:lpstr>
      <vt:lpstr>Breaktime</vt:lpstr>
      <vt:lpstr>Coding with AI(1/5)</vt:lpstr>
      <vt:lpstr>Coding with AI(2/5)</vt:lpstr>
      <vt:lpstr>Coding with AI(3/5)</vt:lpstr>
      <vt:lpstr>Coding with AI(4/5)</vt:lpstr>
      <vt:lpstr>Coding with AI(5/5)</vt:lpstr>
      <vt:lpstr>Coding Habit</vt:lpstr>
      <vt:lpstr>Coding Principles</vt:lpstr>
      <vt:lpstr>Code Metrics </vt:lpstr>
      <vt:lpstr>Appendix</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권수호</cp:lastModifiedBy>
  <cp:revision>9230</cp:revision>
  <dcterms:created xsi:type="dcterms:W3CDTF">2020-11-26T08:00:10Z</dcterms:created>
  <dcterms:modified xsi:type="dcterms:W3CDTF">2025-09-18T03:39:53Z</dcterms:modified>
</cp:coreProperties>
</file>